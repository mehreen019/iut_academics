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9" r:id="rId3"/>
  </p:sldMasterIdLst>
  <p:notesMasterIdLst>
    <p:notesMasterId r:id="rId115"/>
  </p:notesMasterIdLst>
  <p:sldIdLst>
    <p:sldId id="693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67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8" r:id="rId26"/>
    <p:sldId id="691" r:id="rId27"/>
    <p:sldId id="692" r:id="rId28"/>
    <p:sldId id="279" r:id="rId29"/>
    <p:sldId id="280" r:id="rId30"/>
    <p:sldId id="277" r:id="rId31"/>
    <p:sldId id="683" r:id="rId32"/>
    <p:sldId id="665" r:id="rId33"/>
    <p:sldId id="281" r:id="rId34"/>
    <p:sldId id="694" r:id="rId35"/>
    <p:sldId id="695" r:id="rId36"/>
    <p:sldId id="282" r:id="rId37"/>
    <p:sldId id="284" r:id="rId38"/>
    <p:sldId id="696" r:id="rId39"/>
    <p:sldId id="283" r:id="rId40"/>
    <p:sldId id="697" r:id="rId41"/>
    <p:sldId id="698" r:id="rId42"/>
    <p:sldId id="285" r:id="rId43"/>
    <p:sldId id="286" r:id="rId44"/>
    <p:sldId id="287" r:id="rId45"/>
    <p:sldId id="288" r:id="rId46"/>
    <p:sldId id="673" r:id="rId47"/>
    <p:sldId id="674" r:id="rId48"/>
    <p:sldId id="289" r:id="rId49"/>
    <p:sldId id="699" r:id="rId50"/>
    <p:sldId id="700" r:id="rId51"/>
    <p:sldId id="701" r:id="rId52"/>
    <p:sldId id="290" r:id="rId53"/>
    <p:sldId id="702" r:id="rId54"/>
    <p:sldId id="291" r:id="rId55"/>
    <p:sldId id="667" r:id="rId56"/>
    <p:sldId id="668" r:id="rId57"/>
    <p:sldId id="669" r:id="rId58"/>
    <p:sldId id="670" r:id="rId59"/>
    <p:sldId id="671" r:id="rId60"/>
    <p:sldId id="666" r:id="rId61"/>
    <p:sldId id="672" r:id="rId62"/>
    <p:sldId id="682" r:id="rId63"/>
    <p:sldId id="686" r:id="rId64"/>
    <p:sldId id="687" r:id="rId65"/>
    <p:sldId id="705" r:id="rId66"/>
    <p:sldId id="292" r:id="rId67"/>
    <p:sldId id="293" r:id="rId68"/>
    <p:sldId id="294" r:id="rId69"/>
    <p:sldId id="295" r:id="rId70"/>
    <p:sldId id="296" r:id="rId71"/>
    <p:sldId id="297" r:id="rId72"/>
    <p:sldId id="298" r:id="rId73"/>
    <p:sldId id="299" r:id="rId74"/>
    <p:sldId id="300" r:id="rId75"/>
    <p:sldId id="301" r:id="rId76"/>
    <p:sldId id="704" r:id="rId77"/>
    <p:sldId id="302" r:id="rId78"/>
    <p:sldId id="303" r:id="rId79"/>
    <p:sldId id="304" r:id="rId80"/>
    <p:sldId id="305" r:id="rId81"/>
    <p:sldId id="680" r:id="rId82"/>
    <p:sldId id="681" r:id="rId83"/>
    <p:sldId id="703" r:id="rId84"/>
    <p:sldId id="306" r:id="rId85"/>
    <p:sldId id="307" r:id="rId86"/>
    <p:sldId id="308" r:id="rId87"/>
    <p:sldId id="684" r:id="rId88"/>
    <p:sldId id="309" r:id="rId89"/>
    <p:sldId id="310" r:id="rId90"/>
    <p:sldId id="311" r:id="rId91"/>
    <p:sldId id="312" r:id="rId92"/>
    <p:sldId id="313" r:id="rId93"/>
    <p:sldId id="314" r:id="rId94"/>
    <p:sldId id="690" r:id="rId95"/>
    <p:sldId id="315" r:id="rId96"/>
    <p:sldId id="316" r:id="rId97"/>
    <p:sldId id="317" r:id="rId98"/>
    <p:sldId id="318" r:id="rId99"/>
    <p:sldId id="319" r:id="rId100"/>
    <p:sldId id="320" r:id="rId101"/>
    <p:sldId id="321" r:id="rId102"/>
    <p:sldId id="322" r:id="rId103"/>
    <p:sldId id="323" r:id="rId104"/>
    <p:sldId id="324" r:id="rId105"/>
    <p:sldId id="325" r:id="rId106"/>
    <p:sldId id="326" r:id="rId107"/>
    <p:sldId id="689" r:id="rId108"/>
    <p:sldId id="685" r:id="rId109"/>
    <p:sldId id="327" r:id="rId110"/>
    <p:sldId id="679" r:id="rId111"/>
    <p:sldId id="471" r:id="rId112"/>
    <p:sldId id="472" r:id="rId113"/>
    <p:sldId id="348" r:id="rId114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3" d="100"/>
          <a:sy n="73" d="100"/>
        </p:scale>
        <p:origin x="141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viewProps" Target="viewProps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theme" Target="theme/theme1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A7F2B-177D-4941-B1BA-ECE3A27ED5CE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3543C-A88D-4325-ABEA-3002AEB33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29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DA685E0C-E929-B37A-BB3D-934E3A927A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347D12-296E-48FE-8362-1F3142D85AA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348B4417-0F41-E718-2A38-439135BF5A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23FEF2B2-0CA3-97FE-3FF6-1349D017A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8420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62F73EAC-424A-B003-335C-0D084ADAB3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16823F-A7E1-4049-854F-3A88CCF9D2F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5EE2A03E-35E8-91AB-DB0F-8C7FA8336F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403EAF58-7C5F-B44B-BD39-1FD298BF4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6514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94E918A-3701-E620-7F9C-808DB7FCCC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3EE830-F333-42C0-A416-ACF2E922E9E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BD582D2-AFD5-3B7E-B2FA-F421901A00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E6B45AFE-A9DF-7D71-DD90-346C48185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331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A706132-DF70-1880-CCDD-E80BC30CF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F59793-F524-458E-88F0-A211E0C8943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BEF30379-8CFD-A9DF-6021-3156B2703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84EF0CF4-68BA-8101-9DA7-ABC43475F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Does it always avoid collisions? How to do rate adaptation? </a:t>
            </a:r>
          </a:p>
        </p:txBody>
      </p:sp>
    </p:spTree>
    <p:extLst>
      <p:ext uri="{BB962C8B-B14F-4D97-AF65-F5344CB8AC3E}">
        <p14:creationId xmlns:p14="http://schemas.microsoft.com/office/powerpoint/2010/main" val="3874886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55572CB2-8FE3-C21C-3218-43C5ACE731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3E2120-B406-41E2-AD79-4B23D30E4173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DC4B5BE0-CE51-D4ED-9466-3BD27CD336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B3C56F8-A2F6-1C71-25B4-387280E62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2CEDBA6-0DF3-8C2E-08F5-17EC495B6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AE4B1-CB8F-4B06-A669-D02532EA52F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BDC899B-1681-1239-1A4B-7B6C87ED64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AB3B858B-22BC-E4C7-687A-739DC1847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1C69B976-2B39-CF12-A32B-9C5312F3D6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6AE11B-1B36-4FCB-8D59-F690B304D2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FCFD3D8-DE5C-C43C-1842-0E6FDDBF3B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33D566E-D4BA-DCA9-CCBE-7F243AFD0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1102-7D49-63A2-CB86-E70B0ECE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8E100BC8-02CE-7949-5B6B-C223A68313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6AE11B-1B36-4FCB-8D59-F690B304D2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B6B6CBD3-2709-C085-5B53-D8C247942B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1B1CDF02-2515-4DA2-117D-BAE66DE83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3651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DECFE258-4EE8-F1B6-5162-A29921751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1A0B08-F7C9-4A9B-9E21-19ACB763AD1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848930D5-15CF-6A9A-C3EC-14105DD1A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7648AB6-440B-93AF-AA21-B2AEB2FCC6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91130" y="679957"/>
            <a:ext cx="6311138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F9F5B-0796-4B5E-8E6B-3FDBD574C220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F6D3C-06E7-4C49-855A-7D24992EC24E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BA7D1-7554-48F1-BD23-0F274DF82F8E}" type="datetime1">
              <a:rPr lang="en-US" smtClean="0"/>
              <a:t>6/29/2025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1B63A-D253-4CFC-AA4F-ECEA227AE728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EB4F1-76EC-43AA-B4FD-A919DDC747D2}" type="datetime1">
              <a:rPr lang="en-US" smtClean="0"/>
              <a:t>6/29/2025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2349387"/>
            <a:ext cx="9089390" cy="16211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010" y="4285615"/>
            <a:ext cx="7485380" cy="1932728"/>
          </a:xfrm>
        </p:spPr>
        <p:txBody>
          <a:bodyPr/>
          <a:lstStyle>
            <a:lvl1pPr marL="0" indent="0" algn="ctr">
              <a:buNone/>
              <a:defRPr/>
            </a:lvl1pPr>
            <a:lvl2pPr marL="401010" indent="0" algn="ctr">
              <a:buNone/>
              <a:defRPr/>
            </a:lvl2pPr>
            <a:lvl3pPr marL="802020" indent="0" algn="ctr">
              <a:buNone/>
              <a:defRPr/>
            </a:lvl3pPr>
            <a:lvl4pPr marL="1203030" indent="0" algn="ctr">
              <a:buNone/>
              <a:defRPr/>
            </a:lvl4pPr>
            <a:lvl5pPr marL="1604040" indent="0" algn="ctr">
              <a:buNone/>
              <a:defRPr/>
            </a:lvl5pPr>
            <a:lvl6pPr marL="2005051" indent="0" algn="ctr">
              <a:buNone/>
              <a:defRPr/>
            </a:lvl6pPr>
            <a:lvl7pPr marL="2406061" indent="0" algn="ctr">
              <a:buNone/>
              <a:defRPr/>
            </a:lvl7pPr>
            <a:lvl8pPr marL="2807071" indent="0" algn="ctr">
              <a:buNone/>
              <a:defRPr/>
            </a:lvl8pPr>
            <a:lvl9pPr marL="3208081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76D1FC-6CEE-F9CA-25D4-3B7FA46EEE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CE149B-4912-470F-9A8C-B83F5AAAEC13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7AECBD-B8BC-326D-AF2D-C7641F3D0D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E3384D-8F49-C4BD-74C8-F23C353094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CF36213B-AD6D-4DCD-A8B4-F3AC0D08EE6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88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8D7053-3850-91F4-F79E-941DF0C5C9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0722F-68D5-4C9F-A65F-95870A2EC4EC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610870-91BD-DA12-CEA6-872B74E9B1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70171C-2DE2-EDD1-DBD4-EC0D5514A3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207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05" y="4859833"/>
            <a:ext cx="9089390" cy="1502066"/>
          </a:xfrm>
        </p:spPr>
        <p:txBody>
          <a:bodyPr anchor="t"/>
          <a:lstStyle>
            <a:lvl1pPr algn="l">
              <a:defRPr sz="350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705" y="3205459"/>
            <a:ext cx="9089390" cy="1654373"/>
          </a:xfrm>
        </p:spPr>
        <p:txBody>
          <a:bodyPr anchor="b"/>
          <a:lstStyle>
            <a:lvl1pPr marL="0" indent="0">
              <a:buNone/>
              <a:defRPr sz="1754"/>
            </a:lvl1pPr>
            <a:lvl2pPr marL="401010" indent="0">
              <a:buNone/>
              <a:defRPr sz="1579"/>
            </a:lvl2pPr>
            <a:lvl3pPr marL="802020" indent="0">
              <a:buNone/>
              <a:defRPr sz="1403"/>
            </a:lvl3pPr>
            <a:lvl4pPr marL="1203030" indent="0">
              <a:buNone/>
              <a:defRPr sz="1228"/>
            </a:lvl4pPr>
            <a:lvl5pPr marL="1604040" indent="0">
              <a:buNone/>
              <a:defRPr sz="1228"/>
            </a:lvl5pPr>
            <a:lvl6pPr marL="2005051" indent="0">
              <a:buNone/>
              <a:defRPr sz="1228"/>
            </a:lvl6pPr>
            <a:lvl7pPr marL="2406061" indent="0">
              <a:buNone/>
              <a:defRPr sz="1228"/>
            </a:lvl7pPr>
            <a:lvl8pPr marL="2807071" indent="0">
              <a:buNone/>
              <a:defRPr sz="1228"/>
            </a:lvl8pPr>
            <a:lvl9pPr marL="3208081" indent="0">
              <a:buNone/>
              <a:defRPr sz="12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3F6A20-37EB-5CD9-04F2-C38C04EEF9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0DD07-A624-4BBD-B820-78E4E4980993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E51CF5-745F-0AB1-B0C3-DCAB942F37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E95B07-501B-53F5-9999-C1BA82CF34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F47F2D3C-643C-4CEA-B0D4-4AE5673ED9D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62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782" y="1764665"/>
            <a:ext cx="4455583" cy="5125932"/>
          </a:xfrm>
        </p:spPr>
        <p:txBody>
          <a:bodyPr/>
          <a:lstStyle>
            <a:lvl1pPr>
              <a:defRPr sz="2456"/>
            </a:lvl1pPr>
            <a:lvl2pPr>
              <a:defRPr sz="2105"/>
            </a:lvl2pPr>
            <a:lvl3pPr>
              <a:defRPr sz="1754"/>
            </a:lvl3pPr>
            <a:lvl4pPr>
              <a:defRPr sz="1579"/>
            </a:lvl4pPr>
            <a:lvl5pPr>
              <a:defRPr sz="1579"/>
            </a:lvl5pPr>
            <a:lvl6pPr>
              <a:defRPr sz="1579"/>
            </a:lvl6pPr>
            <a:lvl7pPr>
              <a:defRPr sz="1579"/>
            </a:lvl7pPr>
            <a:lvl8pPr>
              <a:defRPr sz="1579"/>
            </a:lvl8pPr>
            <a:lvl9pPr>
              <a:defRPr sz="15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588" y="1764665"/>
            <a:ext cx="4455583" cy="5125932"/>
          </a:xfrm>
        </p:spPr>
        <p:txBody>
          <a:bodyPr/>
          <a:lstStyle>
            <a:lvl1pPr>
              <a:defRPr sz="2456"/>
            </a:lvl1pPr>
            <a:lvl2pPr>
              <a:defRPr sz="2105"/>
            </a:lvl2pPr>
            <a:lvl3pPr>
              <a:defRPr sz="1754"/>
            </a:lvl3pPr>
            <a:lvl4pPr>
              <a:defRPr sz="1579"/>
            </a:lvl4pPr>
            <a:lvl5pPr>
              <a:defRPr sz="1579"/>
            </a:lvl5pPr>
            <a:lvl6pPr>
              <a:defRPr sz="1579"/>
            </a:lvl6pPr>
            <a:lvl7pPr>
              <a:defRPr sz="1579"/>
            </a:lvl7pPr>
            <a:lvl8pPr>
              <a:defRPr sz="1579"/>
            </a:lvl8pPr>
            <a:lvl9pPr>
              <a:defRPr sz="15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8FFB4-4331-1398-1380-22D136A429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A27F7-2AD9-411F-B93A-4772139D3657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F1C4B-E1ED-155B-C5BF-731039BE3C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210668-C8C2-467D-B988-E5E28A849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933F369E-E3DC-4170-B274-3AA92E9371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477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0" y="302865"/>
            <a:ext cx="9624060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692889"/>
            <a:ext cx="4724775" cy="705515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670" y="2398404"/>
            <a:ext cx="4724775" cy="4357393"/>
          </a:xfrm>
        </p:spPr>
        <p:txBody>
          <a:bodyPr/>
          <a:lstStyle>
            <a:lvl1pPr>
              <a:defRPr sz="2105"/>
            </a:lvl1pPr>
            <a:lvl2pPr>
              <a:defRPr sz="1754"/>
            </a:lvl2pPr>
            <a:lvl3pPr>
              <a:defRPr sz="1579"/>
            </a:lvl3pPr>
            <a:lvl4pPr>
              <a:defRPr sz="1403"/>
            </a:lvl4pPr>
            <a:lvl5pPr>
              <a:defRPr sz="1403"/>
            </a:lvl5pPr>
            <a:lvl6pPr>
              <a:defRPr sz="1403"/>
            </a:lvl6pPr>
            <a:lvl7pPr>
              <a:defRPr sz="1403"/>
            </a:lvl7pPr>
            <a:lvl8pPr>
              <a:defRPr sz="1403"/>
            </a:lvl8pPr>
            <a:lvl9pPr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100" y="1692889"/>
            <a:ext cx="4726631" cy="705515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100" y="2398404"/>
            <a:ext cx="4726631" cy="4357393"/>
          </a:xfrm>
        </p:spPr>
        <p:txBody>
          <a:bodyPr/>
          <a:lstStyle>
            <a:lvl1pPr>
              <a:defRPr sz="2105"/>
            </a:lvl1pPr>
            <a:lvl2pPr>
              <a:defRPr sz="1754"/>
            </a:lvl2pPr>
            <a:lvl3pPr>
              <a:defRPr sz="1579"/>
            </a:lvl3pPr>
            <a:lvl4pPr>
              <a:defRPr sz="1403"/>
            </a:lvl4pPr>
            <a:lvl5pPr>
              <a:defRPr sz="1403"/>
            </a:lvl5pPr>
            <a:lvl6pPr>
              <a:defRPr sz="1403"/>
            </a:lvl6pPr>
            <a:lvl7pPr>
              <a:defRPr sz="1403"/>
            </a:lvl7pPr>
            <a:lvl8pPr>
              <a:defRPr sz="1403"/>
            </a:lvl8pPr>
            <a:lvl9pPr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3B590AD-D527-8301-209F-8FF4BA6770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FCBCC-AADC-4936-8F04-494BEC793FB1}" type="datetime1">
              <a:rPr lang="en-US" smtClean="0"/>
              <a:t>6/29/2025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9A6D574-6BAF-4BE3-1417-2B0AE14CF8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A4AC094-7E06-2795-BB5D-F19D248EE5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682D32B5-FEB0-439B-A774-4A23BCB8819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658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996E135-4106-7098-B5B2-417BECD01E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EE458D-3582-4D19-9D0E-B8088B035F8F}" type="datetime1">
              <a:rPr lang="en-US" smtClean="0"/>
              <a:t>6/29/2025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5A3438-A19E-EEF5-EAB0-BECBCFA424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5E32B7-BCE4-A559-01FC-4B835EE58D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842532EC-7B16-4533-A211-C3FE1DFDFE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496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439D204-4033-01EF-F959-2C657955A6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09A3C-A1EB-473B-AA20-FC79324413AF}" type="datetime1">
              <a:rPr lang="en-US" smtClean="0"/>
              <a:t>6/29/2025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69572D-22F5-E06F-1FEB-4C4E35D697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0EB24BC-C315-5E71-AC85-3B846ABAF1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AD0C8F83-25E6-4F11-BD89-106CF1E63B1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311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1" y="301113"/>
            <a:ext cx="3518055" cy="1281483"/>
          </a:xfrm>
        </p:spPr>
        <p:txBody>
          <a:bodyPr anchor="b"/>
          <a:lstStyle>
            <a:lvl1pPr algn="l">
              <a:defRPr sz="175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0822" y="301115"/>
            <a:ext cx="5977908" cy="6454683"/>
          </a:xfrm>
        </p:spPr>
        <p:txBody>
          <a:bodyPr/>
          <a:lstStyle>
            <a:lvl1pPr>
              <a:defRPr sz="2807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671" y="1582598"/>
            <a:ext cx="3518055" cy="5173200"/>
          </a:xfrm>
        </p:spPr>
        <p:txBody>
          <a:bodyPr/>
          <a:lstStyle>
            <a:lvl1pPr marL="0" indent="0">
              <a:buNone/>
              <a:defRPr sz="1228"/>
            </a:lvl1pPr>
            <a:lvl2pPr marL="401010" indent="0">
              <a:buNone/>
              <a:defRPr sz="1053"/>
            </a:lvl2pPr>
            <a:lvl3pPr marL="802020" indent="0">
              <a:buNone/>
              <a:defRPr sz="877"/>
            </a:lvl3pPr>
            <a:lvl4pPr marL="1203030" indent="0">
              <a:buNone/>
              <a:defRPr sz="789"/>
            </a:lvl4pPr>
            <a:lvl5pPr marL="1604040" indent="0">
              <a:buNone/>
              <a:defRPr sz="789"/>
            </a:lvl5pPr>
            <a:lvl6pPr marL="2005051" indent="0">
              <a:buNone/>
              <a:defRPr sz="789"/>
            </a:lvl6pPr>
            <a:lvl7pPr marL="2406061" indent="0">
              <a:buNone/>
              <a:defRPr sz="789"/>
            </a:lvl7pPr>
            <a:lvl8pPr marL="2807071" indent="0">
              <a:buNone/>
              <a:defRPr sz="789"/>
            </a:lvl8pPr>
            <a:lvl9pPr marL="3208081" indent="0">
              <a:buNone/>
              <a:defRPr sz="7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F938E-16EC-1977-7526-8773EB748C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201FA-AD97-4B14-B3A8-FDBD0E16493A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E7AAC-462C-B9E7-88A7-BDB0CF3916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8A19D8-63BF-E5BF-1D1B-CA86417FD1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3E45B365-3992-4548-8DAA-57A2CF7078B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1595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981" y="5293995"/>
            <a:ext cx="6416040" cy="624986"/>
          </a:xfrm>
        </p:spPr>
        <p:txBody>
          <a:bodyPr anchor="b"/>
          <a:lstStyle>
            <a:lvl1pPr algn="l">
              <a:defRPr sz="175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981" y="675755"/>
            <a:ext cx="6416040" cy="4537710"/>
          </a:xfrm>
        </p:spPr>
        <p:txBody>
          <a:bodyPr/>
          <a:lstStyle>
            <a:lvl1pPr marL="0" indent="0">
              <a:buNone/>
              <a:defRPr sz="2807"/>
            </a:lvl1pPr>
            <a:lvl2pPr marL="401010" indent="0">
              <a:buNone/>
              <a:defRPr sz="2456"/>
            </a:lvl2pPr>
            <a:lvl3pPr marL="802020" indent="0">
              <a:buNone/>
              <a:defRPr sz="2105"/>
            </a:lvl3pPr>
            <a:lvl4pPr marL="1203030" indent="0">
              <a:buNone/>
              <a:defRPr sz="1754"/>
            </a:lvl4pPr>
            <a:lvl5pPr marL="1604040" indent="0">
              <a:buNone/>
              <a:defRPr sz="1754"/>
            </a:lvl5pPr>
            <a:lvl6pPr marL="2005051" indent="0">
              <a:buNone/>
              <a:defRPr sz="1754"/>
            </a:lvl6pPr>
            <a:lvl7pPr marL="2406061" indent="0">
              <a:buNone/>
              <a:defRPr sz="1754"/>
            </a:lvl7pPr>
            <a:lvl8pPr marL="2807071" indent="0">
              <a:buNone/>
              <a:defRPr sz="1754"/>
            </a:lvl8pPr>
            <a:lvl9pPr marL="3208081" indent="0">
              <a:buNone/>
              <a:defRPr sz="175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981" y="5918981"/>
            <a:ext cx="6416040" cy="887584"/>
          </a:xfrm>
        </p:spPr>
        <p:txBody>
          <a:bodyPr/>
          <a:lstStyle>
            <a:lvl1pPr marL="0" indent="0">
              <a:buNone/>
              <a:defRPr sz="1228"/>
            </a:lvl1pPr>
            <a:lvl2pPr marL="401010" indent="0">
              <a:buNone/>
              <a:defRPr sz="1053"/>
            </a:lvl2pPr>
            <a:lvl3pPr marL="802020" indent="0">
              <a:buNone/>
              <a:defRPr sz="877"/>
            </a:lvl3pPr>
            <a:lvl4pPr marL="1203030" indent="0">
              <a:buNone/>
              <a:defRPr sz="789"/>
            </a:lvl4pPr>
            <a:lvl5pPr marL="1604040" indent="0">
              <a:buNone/>
              <a:defRPr sz="789"/>
            </a:lvl5pPr>
            <a:lvl6pPr marL="2005051" indent="0">
              <a:buNone/>
              <a:defRPr sz="789"/>
            </a:lvl6pPr>
            <a:lvl7pPr marL="2406061" indent="0">
              <a:buNone/>
              <a:defRPr sz="789"/>
            </a:lvl7pPr>
            <a:lvl8pPr marL="2807071" indent="0">
              <a:buNone/>
              <a:defRPr sz="789"/>
            </a:lvl8pPr>
            <a:lvl9pPr marL="3208081" indent="0">
              <a:buNone/>
              <a:defRPr sz="7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E05539-5677-2E48-92EE-8F9D89936B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45B4D-D1A1-4814-837D-E98889162AAA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F9A86-B47C-A69A-9493-9D1E79FE03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A40806-C5D6-AAAB-4A84-0520FB4B01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D361632D-3200-4CDC-8839-F2C3C2C4539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640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CD4505-C6AA-0CA8-7DDD-A9458E3169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5110-90D0-42D7-BC3D-B73A6488D610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456B45-82C6-367B-ED4A-338ADA50F5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150721-C1FB-69EE-0D57-A1F8E7FD20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4892C3BA-B033-4FFD-977E-A393A203151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9926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40824" y="252095"/>
            <a:ext cx="2272348" cy="66385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782" y="252095"/>
            <a:ext cx="6638819" cy="66385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BF8432-E304-ED64-97CA-C056F2317D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17AFD-6AED-4F1E-B173-A37E38D42E2A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F37A0C-883D-8A88-EE75-69C6084A9D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7CD87F-9BB1-C964-3C29-1232C9E77A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19AD97DB-16F1-4321-B45B-654D3B51BCB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020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782" y="252095"/>
            <a:ext cx="9089390" cy="1260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3782" y="1764665"/>
            <a:ext cx="4455583" cy="51259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588" y="1764665"/>
            <a:ext cx="4455583" cy="51259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3ADFC8-4399-DB25-FB43-B3D9F976D6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EB133-E6CA-4EF2-83F4-A230644BD98E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85EF2-22A1-AE62-9417-C87F34D9B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14FCD8-6713-5758-6567-183F4B1D9A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C34342CB-436F-44B3-A46C-5D13124736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1309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610936"/>
          </a:xfrm>
          <a:prstGeom prst="rect">
            <a:avLst/>
          </a:prstGeom>
        </p:spPr>
        <p:txBody>
          <a:bodyPr/>
          <a:lstStyle>
            <a:lvl1pPr>
              <a:defRPr sz="397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543097"/>
          </a:xfrm>
          <a:prstGeom prst="rect">
            <a:avLst/>
          </a:prstGeom>
        </p:spPr>
        <p:txBody>
          <a:bodyPr/>
          <a:lstStyle>
            <a:lvl1pPr>
              <a:defRPr sz="3529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A2AB577-772B-36F7-3417-E2DEC5A5CE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EB528E08-B11C-5846-9D51-62E24E9CC55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5A0D6-D0AB-4D8D-8E8E-28ED83B2DBC7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E1EA896D-513B-6E70-886E-ACB6D3EB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CE2C8-49E3-4FD7-95AB-161E527B309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4302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751" y="654747"/>
            <a:ext cx="9189641" cy="610936"/>
          </a:xfrm>
        </p:spPr>
        <p:txBody>
          <a:bodyPr/>
          <a:lstStyle>
            <a:lvl1pPr>
              <a:defRPr sz="397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072" y="1496814"/>
            <a:ext cx="9967511" cy="543097"/>
          </a:xfrm>
        </p:spPr>
        <p:txBody>
          <a:bodyPr/>
          <a:lstStyle>
            <a:lvl1pPr>
              <a:defRPr sz="3529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78AD411-607A-7A4A-2504-4A90C5019C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BE3C340C-2862-74F7-EB2D-E5DCCBECC19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68749-381C-4D75-8300-49AFDD7FF427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871B598D-3772-9C02-F41C-685667B6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F45C3-4FE8-4BE9-ACE9-7C71073E8B1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3273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751" y="654747"/>
            <a:ext cx="9189641" cy="610936"/>
          </a:xfrm>
        </p:spPr>
        <p:txBody>
          <a:bodyPr/>
          <a:lstStyle>
            <a:lvl1pPr>
              <a:defRPr sz="397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6"/>
            <a:ext cx="4651629" cy="276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6"/>
            <a:ext cx="4651629" cy="276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61A90443-C571-6018-D625-03FE00B54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BC90FF07-09A4-2BD9-094E-E876405BB2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A0FCD-CBF8-4BF4-A35E-80020EEF8BD7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826BFD9E-B7F9-5882-1A63-8E3DB98C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4F50A-5AFB-4E30-B6A5-26B93A7FCDE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9656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751" y="654747"/>
            <a:ext cx="9189641" cy="610936"/>
          </a:xfrm>
        </p:spPr>
        <p:txBody>
          <a:bodyPr/>
          <a:lstStyle>
            <a:lvl1pPr>
              <a:defRPr sz="397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216F87DA-B062-2F81-B302-A1837A3B12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E676D66A-5D3E-6F3D-D0DA-C7EF73CC820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BBCE6-548B-4873-B632-600059417DAD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D1F0A08F-F516-99BB-6D3A-953E33A6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8B3EBE-0CD2-4249-AC74-E8B7FD47F12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0147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54B0AF35-7D17-B956-C644-CC8B78BF71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BA645AE4-BC3C-9E4A-16E3-D83AD1124F1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BD113-D92E-49C5-B107-51D93473B5AA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0D71943D-4F5C-E129-3104-E5DDB79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0E15B-9737-4D41-8B50-FBB3AA2A3FF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254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44089" y="375157"/>
            <a:ext cx="5205221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1610" y="1859533"/>
            <a:ext cx="8090179" cy="3354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971DD-3322-4E27-93C7-CCDB8383E5A3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56710C-1254-09B4-FE05-AF4F460EB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3782" y="252095"/>
            <a:ext cx="908939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DD5C14-A852-21AF-48DA-FF00E9DD64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3782" y="1764665"/>
            <a:ext cx="9089390" cy="5125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6DE71D-FEB1-FA91-065D-B0C8EBDE0C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2005" y="6890597"/>
            <a:ext cx="2227792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28">
                <a:latin typeface="Times New Roman" pitchFamily="18" charset="0"/>
              </a:defRPr>
            </a:lvl1pPr>
          </a:lstStyle>
          <a:p>
            <a:pPr>
              <a:defRPr/>
            </a:pPr>
            <a:fld id="{79113037-F03B-48E8-9A24-3CC9F4766E33}" type="datetime1">
              <a:rPr lang="en-US" smtClean="0"/>
              <a:t>6/29/2025</a:t>
            </a:fld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AE01051-9692-AD01-4A59-FFEA687F41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96326" y="7058660"/>
            <a:ext cx="4516847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28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36252F4-0B4F-EF7C-B6C3-D43A0041EB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28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6-</a:t>
            </a:r>
            <a:fld id="{7855140A-3541-4D8C-99F9-DA668DAA40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910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5pPr>
      <a:lvl6pPr marL="401010"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6pPr>
      <a:lvl7pPr marL="802020"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7pPr>
      <a:lvl8pPr marL="1203030"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8pPr>
      <a:lvl9pPr marL="1604040" algn="l" rtl="0" eaLnBrk="0" fontAlgn="base" hangingPunct="0">
        <a:spcBef>
          <a:spcPct val="0"/>
        </a:spcBef>
        <a:spcAft>
          <a:spcPct val="0"/>
        </a:spcAft>
        <a:defRPr sz="3508" u="sng">
          <a:solidFill>
            <a:schemeClr val="accent2"/>
          </a:solidFill>
          <a:latin typeface="Comic Sans MS" pitchFamily="66" charset="0"/>
        </a:defRPr>
      </a:lvl9pPr>
    </p:titleStyle>
    <p:bodyStyle>
      <a:lvl1pPr marL="300758" indent="-30075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456">
          <a:solidFill>
            <a:schemeClr val="tx1"/>
          </a:solidFill>
          <a:latin typeface="+mn-lt"/>
          <a:ea typeface="+mn-ea"/>
          <a:cs typeface="+mn-cs"/>
        </a:defRPr>
      </a:lvl1pPr>
      <a:lvl2pPr marL="651641" indent="-250631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105">
          <a:solidFill>
            <a:schemeClr val="tx1"/>
          </a:solidFill>
          <a:latin typeface="+mn-lt"/>
        </a:defRPr>
      </a:lvl2pPr>
      <a:lvl3pPr marL="1002525" indent="-200505" algn="l" rtl="0" eaLnBrk="0" fontAlgn="base" hangingPunct="0">
        <a:spcBef>
          <a:spcPct val="20000"/>
        </a:spcBef>
        <a:spcAft>
          <a:spcPct val="0"/>
        </a:spcAft>
        <a:buChar char="•"/>
        <a:defRPr sz="1754">
          <a:solidFill>
            <a:schemeClr val="tx1"/>
          </a:solidFill>
          <a:latin typeface="+mn-lt"/>
        </a:defRPr>
      </a:lvl3pPr>
      <a:lvl4pPr marL="1403535" indent="-200505" algn="l" rtl="0" eaLnBrk="0" fontAlgn="base" hangingPunct="0">
        <a:spcBef>
          <a:spcPct val="20000"/>
        </a:spcBef>
        <a:spcAft>
          <a:spcPct val="0"/>
        </a:spcAft>
        <a:buChar char="–"/>
        <a:defRPr sz="1754">
          <a:solidFill>
            <a:schemeClr val="tx1"/>
          </a:solidFill>
          <a:latin typeface="Times New Roman" pitchFamily="18" charset="0"/>
        </a:defRPr>
      </a:lvl4pPr>
      <a:lvl5pPr marL="180454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5pPr>
      <a:lvl6pPr marL="220555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6pPr>
      <a:lvl7pPr marL="260656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7pPr>
      <a:lvl8pPr marL="300757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8pPr>
      <a:lvl9pPr marL="3408586" indent="-200505" algn="l" rtl="0" eaLnBrk="0" fontAlgn="base" hangingPunct="0">
        <a:spcBef>
          <a:spcPct val="20000"/>
        </a:spcBef>
        <a:spcAft>
          <a:spcPct val="0"/>
        </a:spcAft>
        <a:buChar char="»"/>
        <a:defRPr sz="1754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101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202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303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404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505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606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707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808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bg object 16">
            <a:extLst>
              <a:ext uri="{FF2B5EF4-FFF2-40B4-BE49-F238E27FC236}">
                <a16:creationId xmlns:a16="http://schemas.microsoft.com/office/drawing/2014/main" id="{C468E36D-AE11-5B98-DABD-45936C8F2FB5}"/>
              </a:ext>
            </a:extLst>
          </p:cNvPr>
          <p:cNvSpPr>
            <a:spLocks/>
          </p:cNvSpPr>
          <p:nvPr/>
        </p:nvSpPr>
        <p:spPr bwMode="auto">
          <a:xfrm>
            <a:off x="178223" y="1428538"/>
            <a:ext cx="10247842" cy="0"/>
          </a:xfrm>
          <a:custGeom>
            <a:avLst/>
            <a:gdLst>
              <a:gd name="T0" fmla="*/ 0 w 8763000"/>
              <a:gd name="T1" fmla="*/ 8763000 w 87630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8763000">
                <a:moveTo>
                  <a:pt x="0" y="0"/>
                </a:moveTo>
                <a:lnTo>
                  <a:pt x="8763000" y="1"/>
                </a:ln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985"/>
          </a:p>
        </p:txBody>
      </p:sp>
      <p:sp>
        <p:nvSpPr>
          <p:cNvPr id="2051" name="Holder 2">
            <a:extLst>
              <a:ext uri="{FF2B5EF4-FFF2-40B4-BE49-F238E27FC236}">
                <a16:creationId xmlns:a16="http://schemas.microsoft.com/office/drawing/2014/main" id="{611CF27E-A7F7-1B84-1DE7-A0A9BF23C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14751" y="654747"/>
            <a:ext cx="91896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2052" name="Holder 3">
            <a:extLst>
              <a:ext uri="{FF2B5EF4-FFF2-40B4-BE49-F238E27FC236}">
                <a16:creationId xmlns:a16="http://schemas.microsoft.com/office/drawing/2014/main" id="{CD08A89E-97E7-4FC2-A364-867334430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072" y="1496814"/>
            <a:ext cx="99675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30B7510-4905-8C80-4C41-F244C4B8F3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635014" y="7034151"/>
            <a:ext cx="342337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436B0F66-997C-ADCD-6F72-47DAC3BD4F89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534670" y="7034151"/>
            <a:ext cx="245985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A27D451-31D0-4E23-B2E0-167E045602C1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07D6F2B1-4B8B-E412-6EC6-B95FA872E3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108605" y="7230224"/>
            <a:ext cx="33416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50560">
              <a:lnSpc>
                <a:spcPts val="1814"/>
              </a:lnSpc>
              <a:defRPr sz="1544" b="1" i="0" spc="-55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08772598-18F0-407A-957D-67E11B7B0EC1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494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504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1008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512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2016801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04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008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512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2016801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521001">
        <a:defRPr>
          <a:latin typeface="+mn-lt"/>
          <a:ea typeface="+mn-ea"/>
          <a:cs typeface="+mn-cs"/>
        </a:defRPr>
      </a:lvl6pPr>
      <a:lvl7pPr marL="3025201">
        <a:defRPr>
          <a:latin typeface="+mn-lt"/>
          <a:ea typeface="+mn-ea"/>
          <a:cs typeface="+mn-cs"/>
        </a:defRPr>
      </a:lvl7pPr>
      <a:lvl8pPr marL="3529401">
        <a:defRPr>
          <a:latin typeface="+mn-lt"/>
          <a:ea typeface="+mn-ea"/>
          <a:cs typeface="+mn-cs"/>
        </a:defRPr>
      </a:lvl8pPr>
      <a:lvl9pPr marL="403360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04200">
        <a:defRPr>
          <a:latin typeface="+mn-lt"/>
          <a:ea typeface="+mn-ea"/>
          <a:cs typeface="+mn-cs"/>
        </a:defRPr>
      </a:lvl2pPr>
      <a:lvl3pPr marL="1008400">
        <a:defRPr>
          <a:latin typeface="+mn-lt"/>
          <a:ea typeface="+mn-ea"/>
          <a:cs typeface="+mn-cs"/>
        </a:defRPr>
      </a:lvl3pPr>
      <a:lvl4pPr marL="1512600">
        <a:defRPr>
          <a:latin typeface="+mn-lt"/>
          <a:ea typeface="+mn-ea"/>
          <a:cs typeface="+mn-cs"/>
        </a:defRPr>
      </a:lvl4pPr>
      <a:lvl5pPr marL="2016801">
        <a:defRPr>
          <a:latin typeface="+mn-lt"/>
          <a:ea typeface="+mn-ea"/>
          <a:cs typeface="+mn-cs"/>
        </a:defRPr>
      </a:lvl5pPr>
      <a:lvl6pPr marL="2521001">
        <a:defRPr>
          <a:latin typeface="+mn-lt"/>
          <a:ea typeface="+mn-ea"/>
          <a:cs typeface="+mn-cs"/>
        </a:defRPr>
      </a:lvl6pPr>
      <a:lvl7pPr marL="3025201">
        <a:defRPr>
          <a:latin typeface="+mn-lt"/>
          <a:ea typeface="+mn-ea"/>
          <a:cs typeface="+mn-cs"/>
        </a:defRPr>
      </a:lvl7pPr>
      <a:lvl8pPr marL="3529401">
        <a:defRPr>
          <a:latin typeface="+mn-lt"/>
          <a:ea typeface="+mn-ea"/>
          <a:cs typeface="+mn-cs"/>
        </a:defRPr>
      </a:lvl8pPr>
      <a:lvl9pPr marL="403360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png"/><Relationship Id="rId18" Type="http://schemas.openxmlformats.org/officeDocument/2006/relationships/image" Target="../media/image24.jp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jpg"/><Relationship Id="rId2" Type="http://schemas.openxmlformats.org/officeDocument/2006/relationships/image" Target="../media/image8.png"/><Relationship Id="rId16" Type="http://schemas.openxmlformats.org/officeDocument/2006/relationships/image" Target="../media/image2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jp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jpg"/><Relationship Id="rId19" Type="http://schemas.openxmlformats.org/officeDocument/2006/relationships/image" Target="../media/image25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3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.bin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1E6652F-FF96-CE61-CCD4-E2F4164594FA}"/>
              </a:ext>
            </a:extLst>
          </p:cNvPr>
          <p:cNvSpPr/>
          <p:nvPr/>
        </p:nvSpPr>
        <p:spPr>
          <a:xfrm>
            <a:off x="472863" y="4789805"/>
            <a:ext cx="9663642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1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lIns="0" tIns="0" rIns="0" bIns="0"/>
          <a:lstStyle/>
          <a:p>
            <a:pPr defTabSz="1008400">
              <a:defRPr/>
            </a:pPr>
            <a:endParaRPr sz="1985" kern="0">
              <a:solidFill>
                <a:sysClr val="windowText" lastClr="0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object 4">
            <a:extLst>
              <a:ext uri="{FF2B5EF4-FFF2-40B4-BE49-F238E27FC236}">
                <a16:creationId xmlns:a16="http://schemas.microsoft.com/office/drawing/2014/main" id="{DE35F216-38CB-6A9B-C7D1-6DD7FE79A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2914" y="756285"/>
            <a:ext cx="7781683" cy="577093"/>
          </a:xfrm>
        </p:spPr>
        <p:txBody>
          <a:bodyPr vert="horz" wrap="square" lIns="0" tIns="30111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4006" indent="1190473" algn="l" eaLnBrk="1" hangingPunct="1">
              <a:lnSpc>
                <a:spcPts val="4742"/>
              </a:lnSpc>
              <a:spcBef>
                <a:spcPts val="235"/>
              </a:spcBef>
            </a:pPr>
            <a:r>
              <a:rPr lang="en-US" altLang="en-US" sz="3088">
                <a:solidFill>
                  <a:srgbClr val="7030A0"/>
                </a:solidFill>
                <a:latin typeface="Amasis MT Pro Medium" panose="02040604050005020304" pitchFamily="18" charset="0"/>
                <a:cs typeface="ADLaM Display" panose="02010000000000000000" pitchFamily="2" charset="0"/>
              </a:rPr>
              <a:t>CSE 4615:: Wireless Networks</a:t>
            </a:r>
            <a:endParaRPr lang="en-US" altLang="en-US" sz="3088" b="0">
              <a:latin typeface="Amasis MT Pro Medium" panose="02040604050005020304" pitchFamily="18" charset="0"/>
              <a:cs typeface="ADLaM Display" panose="02010000000000000000" pitchFamily="2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2EDAAF6-A143-D81D-BCC2-82A54A6A81D3}"/>
              </a:ext>
            </a:extLst>
          </p:cNvPr>
          <p:cNvSpPr txBox="1"/>
          <p:nvPr/>
        </p:nvSpPr>
        <p:spPr>
          <a:xfrm>
            <a:off x="2724212" y="3945989"/>
            <a:ext cx="5160945" cy="557239"/>
          </a:xfrm>
          <a:prstGeom prst="rect">
            <a:avLst/>
          </a:prstGeom>
        </p:spPr>
        <p:txBody>
          <a:bodyPr lIns="0" tIns="14005" rIns="0" bIns="0">
            <a:spAutoFit/>
          </a:bodyPr>
          <a:lstStyle/>
          <a:p>
            <a:pPr algn="ctr" defTabSz="1008400">
              <a:spcBef>
                <a:spcPts val="110"/>
              </a:spcBef>
              <a:defRPr/>
            </a:pPr>
            <a:r>
              <a:rPr sz="2647" kern="0" spc="-61" dirty="0">
                <a:solidFill>
                  <a:sysClr val="windowText" lastClr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Lecture</a:t>
            </a:r>
            <a:r>
              <a:rPr sz="2647" kern="0" spc="-143" dirty="0">
                <a:solidFill>
                  <a:sysClr val="windowText" lastClr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3529" kern="0" spc="-28" dirty="0">
                <a:solidFill>
                  <a:sysClr val="windowText" lastClr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6.1</a:t>
            </a:r>
            <a:endParaRPr sz="1985" kern="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1B4DBDD-E4AD-4282-BFCC-B2EC286410A8}"/>
              </a:ext>
            </a:extLst>
          </p:cNvPr>
          <p:cNvSpPr txBox="1"/>
          <p:nvPr/>
        </p:nvSpPr>
        <p:spPr>
          <a:xfrm>
            <a:off x="4086225" y="4807312"/>
            <a:ext cx="6302375" cy="2299896"/>
          </a:xfrm>
          <a:prstGeom prst="rect">
            <a:avLst/>
          </a:prstGeom>
        </p:spPr>
        <p:txBody>
          <a:bodyPr lIns="0" tIns="14005" rIns="0" bIns="0">
            <a:spAutoFit/>
          </a:bodyPr>
          <a:lstStyle/>
          <a:p>
            <a:pPr defTabSz="1008400">
              <a:spcBef>
                <a:spcPts val="126"/>
              </a:spcBef>
              <a:defRPr/>
            </a:pPr>
            <a:r>
              <a:rPr lang="en-US" sz="1985" kern="0" dirty="0">
                <a:solidFill>
                  <a:srgbClr val="7030A0"/>
                </a:solidFill>
                <a:latin typeface="Arial MT"/>
                <a:cs typeface="Arial MT"/>
              </a:rPr>
              <a:t>Content Contributors:</a:t>
            </a:r>
          </a:p>
          <a:p>
            <a:r>
              <a:rPr lang="en-US" b="1" dirty="0"/>
              <a:t>Bernhard H. Walke</a:t>
            </a:r>
          </a:p>
          <a:p>
            <a:r>
              <a:rPr lang="en-US" i="1" dirty="0" err="1"/>
              <a:t>ComNets</a:t>
            </a:r>
            <a:r>
              <a:rPr lang="en-US" i="1" dirty="0"/>
              <a:t>, RWTH Aachen University, Germany</a:t>
            </a:r>
          </a:p>
          <a:p>
            <a:r>
              <a:rPr lang="en-US" b="1" dirty="0"/>
              <a:t>Stefan Mangold</a:t>
            </a:r>
          </a:p>
          <a:p>
            <a:r>
              <a:rPr lang="en-US" i="1" dirty="0"/>
              <a:t>Swisscom Innovations, Switzerland</a:t>
            </a:r>
          </a:p>
          <a:p>
            <a:r>
              <a:rPr lang="en-US" b="1" dirty="0"/>
              <a:t>Lars </a:t>
            </a:r>
            <a:r>
              <a:rPr lang="en-US" b="1" dirty="0" err="1"/>
              <a:t>Berlemann</a:t>
            </a:r>
            <a:endParaRPr lang="en-US" b="1" dirty="0"/>
          </a:p>
          <a:p>
            <a:r>
              <a:rPr lang="en-US" i="1" dirty="0" err="1"/>
              <a:t>ComNets</a:t>
            </a:r>
            <a:r>
              <a:rPr lang="en-US" i="1" dirty="0"/>
              <a:t>, RWTH Aachen University, Germany</a:t>
            </a:r>
            <a:endParaRPr lang="en-US" sz="1985" kern="0" dirty="0">
              <a:solidFill>
                <a:srgbClr val="7030A0"/>
              </a:solidFill>
              <a:latin typeface="Arial MT"/>
              <a:cs typeface="Arial MT"/>
            </a:endParaRPr>
          </a:p>
          <a:p>
            <a:pPr defTabSz="1008400">
              <a:spcBef>
                <a:spcPts val="126"/>
              </a:spcBef>
              <a:defRPr/>
            </a:pPr>
            <a:endParaRPr sz="1985" kern="0" dirty="0">
              <a:solidFill>
                <a:srgbClr val="7030A0"/>
              </a:solidFill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04417-5885-B135-88B8-F3BEE72404CE}"/>
              </a:ext>
            </a:extLst>
          </p:cNvPr>
          <p:cNvSpPr txBox="1"/>
          <p:nvPr/>
        </p:nvSpPr>
        <p:spPr>
          <a:xfrm>
            <a:off x="472864" y="4789805"/>
            <a:ext cx="3445298" cy="9748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008400">
              <a:defRPr/>
            </a:pPr>
            <a:r>
              <a:rPr lang="en-US" sz="2206" kern="0" dirty="0">
                <a:solidFill>
                  <a:srgbClr val="7030A0"/>
                </a:solidFill>
                <a:latin typeface="Arial MT"/>
                <a:cs typeface="Arial" panose="020B0604020202020204" pitchFamily="34" charset="0"/>
              </a:rPr>
              <a:t>Course Teacher:</a:t>
            </a:r>
          </a:p>
          <a:p>
            <a:pPr defTabSz="1008400">
              <a:defRPr/>
            </a:pPr>
            <a:r>
              <a:rPr lang="en-US" sz="1985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Ashraful Alam Khan</a:t>
            </a:r>
          </a:p>
          <a:p>
            <a:pPr defTabSz="1008400">
              <a:defRPr/>
            </a:pPr>
            <a:r>
              <a:rPr lang="en-US" sz="1544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Assistant Professor, CSE, IUT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8735C7-6BF5-78B4-A9C0-4032D0902677}"/>
              </a:ext>
            </a:extLst>
          </p:cNvPr>
          <p:cNvSpPr txBox="1"/>
          <p:nvPr/>
        </p:nvSpPr>
        <p:spPr>
          <a:xfrm>
            <a:off x="682943" y="1576498"/>
            <a:ext cx="9243483" cy="567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08400"/>
            <a:r>
              <a:rPr lang="en-US" sz="3088" b="1" dirty="0">
                <a:solidFill>
                  <a:srgbClr val="E46C0A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IEEE 802.11 Wireless Local Area Networks</a:t>
            </a:r>
            <a:endParaRPr lang="en-US" sz="3088" b="1" dirty="0">
              <a:solidFill>
                <a:srgbClr val="0070C0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3083560" cy="857250"/>
            <a:chOff x="774839" y="348995"/>
            <a:chExt cx="3083560" cy="857250"/>
          </a:xfrm>
        </p:grpSpPr>
        <p:sp>
          <p:nvSpPr>
            <p:cNvPr id="3" name="object 3"/>
            <p:cNvSpPr/>
            <p:nvPr/>
          </p:nvSpPr>
          <p:spPr>
            <a:xfrm>
              <a:off x="2548775" y="348995"/>
              <a:ext cx="1309370" cy="857250"/>
            </a:xfrm>
            <a:custGeom>
              <a:avLst/>
              <a:gdLst/>
              <a:ahLst/>
              <a:cxnLst/>
              <a:rect l="l" t="t" r="r" b="b"/>
              <a:pathLst>
                <a:path w="1309370" h="857250">
                  <a:moveTo>
                    <a:pt x="1309116" y="645414"/>
                  </a:moveTo>
                  <a:lnTo>
                    <a:pt x="1220724" y="0"/>
                  </a:lnTo>
                  <a:lnTo>
                    <a:pt x="0" y="0"/>
                  </a:lnTo>
                  <a:lnTo>
                    <a:pt x="333537" y="857250"/>
                  </a:lnTo>
                  <a:lnTo>
                    <a:pt x="915608" y="857250"/>
                  </a:lnTo>
                  <a:lnTo>
                    <a:pt x="1309116" y="645414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8995"/>
              <a:ext cx="2014220" cy="857250"/>
            </a:xfrm>
            <a:custGeom>
              <a:avLst/>
              <a:gdLst/>
              <a:ahLst/>
              <a:cxnLst/>
              <a:rect l="l" t="t" r="r" b="b"/>
              <a:pathLst>
                <a:path w="2014220" h="857250">
                  <a:moveTo>
                    <a:pt x="2013966" y="794765"/>
                  </a:moveTo>
                  <a:lnTo>
                    <a:pt x="1687068" y="0"/>
                  </a:lnTo>
                  <a:lnTo>
                    <a:pt x="0" y="2285"/>
                  </a:lnTo>
                  <a:lnTo>
                    <a:pt x="0" y="857250"/>
                  </a:lnTo>
                  <a:lnTo>
                    <a:pt x="1822247" y="857249"/>
                  </a:lnTo>
                  <a:lnTo>
                    <a:pt x="2013966" y="79476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336165" y="605775"/>
            <a:ext cx="339851" cy="338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93365" y="605775"/>
            <a:ext cx="339851" cy="338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50565" y="605775"/>
            <a:ext cx="339851" cy="338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82313" y="1206246"/>
            <a:ext cx="582295" cy="259079"/>
          </a:xfrm>
          <a:custGeom>
            <a:avLst/>
            <a:gdLst/>
            <a:ahLst/>
            <a:cxnLst/>
            <a:rect l="l" t="t" r="r" b="b"/>
            <a:pathLst>
              <a:path w="582295" h="259080">
                <a:moveTo>
                  <a:pt x="582070" y="0"/>
                </a:moveTo>
                <a:lnTo>
                  <a:pt x="0" y="0"/>
                </a:lnTo>
                <a:lnTo>
                  <a:pt x="100802" y="259079"/>
                </a:lnTo>
                <a:lnTo>
                  <a:pt x="582070" y="0"/>
                </a:lnTo>
                <a:close/>
              </a:path>
            </a:pathLst>
          </a:custGeom>
          <a:solidFill>
            <a:srgbClr val="F0A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74839" y="1206246"/>
            <a:ext cx="2153920" cy="1436370"/>
            <a:chOff x="774839" y="1206246"/>
            <a:chExt cx="2153920" cy="1436370"/>
          </a:xfrm>
        </p:grpSpPr>
        <p:sp>
          <p:nvSpPr>
            <p:cNvPr id="10" name="object 10"/>
            <p:cNvSpPr/>
            <p:nvPr/>
          </p:nvSpPr>
          <p:spPr>
            <a:xfrm>
              <a:off x="774839" y="1206246"/>
              <a:ext cx="1822450" cy="594360"/>
            </a:xfrm>
            <a:custGeom>
              <a:avLst/>
              <a:gdLst/>
              <a:ahLst/>
              <a:cxnLst/>
              <a:rect l="l" t="t" r="r" b="b"/>
              <a:pathLst>
                <a:path w="1822450" h="594360">
                  <a:moveTo>
                    <a:pt x="1822247" y="0"/>
                  </a:moveTo>
                  <a:lnTo>
                    <a:pt x="0" y="0"/>
                  </a:lnTo>
                  <a:lnTo>
                    <a:pt x="0" y="593897"/>
                  </a:lnTo>
                  <a:lnTo>
                    <a:pt x="1822247" y="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4839" y="1244358"/>
              <a:ext cx="2153920" cy="1398270"/>
            </a:xfrm>
            <a:custGeom>
              <a:avLst/>
              <a:gdLst/>
              <a:ahLst/>
              <a:cxnLst/>
              <a:rect l="l" t="t" r="r" b="b"/>
              <a:pathLst>
                <a:path w="2153920" h="1398270">
                  <a:moveTo>
                    <a:pt x="2153412" y="247650"/>
                  </a:moveTo>
                  <a:lnTo>
                    <a:pt x="2057400" y="0"/>
                  </a:lnTo>
                  <a:lnTo>
                    <a:pt x="0" y="675652"/>
                  </a:lnTo>
                  <a:lnTo>
                    <a:pt x="0" y="819150"/>
                  </a:lnTo>
                  <a:lnTo>
                    <a:pt x="0" y="1398155"/>
                  </a:lnTo>
                  <a:lnTo>
                    <a:pt x="1083729" y="819150"/>
                  </a:lnTo>
                  <a:lnTo>
                    <a:pt x="2153412" y="24765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222500" y="1710822"/>
            <a:ext cx="8305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rebuchet MS"/>
                <a:cs typeface="Trebuchet MS"/>
              </a:rPr>
              <a:t>IEEE</a:t>
            </a:r>
            <a:r>
              <a:rPr b="1" spc="-360" dirty="0">
                <a:latin typeface="Trebuchet MS"/>
                <a:cs typeface="Trebuchet MS"/>
              </a:rPr>
              <a:t> </a:t>
            </a:r>
            <a:r>
              <a:rPr b="1" spc="-285" dirty="0">
                <a:latin typeface="Trebuchet MS"/>
                <a:cs typeface="Trebuchet MS"/>
              </a:rPr>
              <a:t>802.11</a:t>
            </a:r>
            <a:r>
              <a:rPr b="1" spc="-560" dirty="0">
                <a:latin typeface="Trebuchet MS"/>
                <a:cs typeface="Trebuchet MS"/>
              </a:rPr>
              <a:t> </a:t>
            </a:r>
            <a:r>
              <a:rPr b="1" spc="-135" dirty="0">
                <a:latin typeface="Trebuchet MS"/>
                <a:cs typeface="Trebuchet MS"/>
              </a:rPr>
              <a:t>Wireless</a:t>
            </a:r>
            <a:r>
              <a:rPr b="1" spc="-340" dirty="0">
                <a:latin typeface="Trebuchet MS"/>
                <a:cs typeface="Trebuchet MS"/>
              </a:rPr>
              <a:t> </a:t>
            </a:r>
            <a:r>
              <a:rPr b="1" spc="-114" dirty="0">
                <a:latin typeface="Trebuchet MS"/>
                <a:cs typeface="Trebuchet MS"/>
              </a:rPr>
              <a:t>Local</a:t>
            </a:r>
            <a:r>
              <a:rPr b="1" spc="-530" dirty="0">
                <a:latin typeface="Trebuchet MS"/>
                <a:cs typeface="Trebuchet MS"/>
              </a:rPr>
              <a:t> </a:t>
            </a:r>
            <a:r>
              <a:rPr b="1" spc="-125" dirty="0">
                <a:latin typeface="Trebuchet MS"/>
                <a:cs typeface="Trebuchet MS"/>
              </a:rPr>
              <a:t>Area</a:t>
            </a:r>
            <a:r>
              <a:rPr lang="en-US" b="1" spc="-125" dirty="0">
                <a:latin typeface="Trebuchet MS"/>
                <a:cs typeface="Trebuchet MS"/>
              </a:rPr>
              <a:t> Networks</a:t>
            </a:r>
            <a:endParaRPr b="1" spc="-125" dirty="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14" name="object 14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80767" y="3027425"/>
              <a:ext cx="1338580" cy="750570"/>
            </a:xfrm>
            <a:custGeom>
              <a:avLst/>
              <a:gdLst/>
              <a:ahLst/>
              <a:cxnLst/>
              <a:rect l="l" t="t" r="r" b="b"/>
              <a:pathLst>
                <a:path w="1338579" h="750570">
                  <a:moveTo>
                    <a:pt x="1338059" y="0"/>
                  </a:moveTo>
                  <a:lnTo>
                    <a:pt x="0" y="207264"/>
                  </a:lnTo>
                  <a:lnTo>
                    <a:pt x="126150" y="750570"/>
                  </a:lnTo>
                  <a:lnTo>
                    <a:pt x="1336984" y="750570"/>
                  </a:lnTo>
                  <a:lnTo>
                    <a:pt x="1336984" y="559068"/>
                  </a:lnTo>
                  <a:lnTo>
                    <a:pt x="1338059" y="0"/>
                  </a:lnTo>
                  <a:close/>
                </a:path>
                <a:path w="1338579" h="750570">
                  <a:moveTo>
                    <a:pt x="1336985" y="750570"/>
                  </a:moveTo>
                  <a:lnTo>
                    <a:pt x="1336984" y="559068"/>
                  </a:lnTo>
                  <a:lnTo>
                    <a:pt x="1336984" y="75057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25296" y="3267455"/>
              <a:ext cx="3356317" cy="5105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10275" y="2432940"/>
            <a:ext cx="700672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spc="-114" dirty="0">
                <a:solidFill>
                  <a:srgbClr val="0070C0"/>
                </a:solidFill>
                <a:latin typeface="Trebuchet MS"/>
                <a:ea typeface="+mj-ea"/>
              </a:rPr>
              <a:t>Chapter 5, IEEE 802 Wireless Systems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774839" y="3777996"/>
            <a:ext cx="9144000" cy="3429000"/>
            <a:chOff x="774839" y="3777996"/>
            <a:chExt cx="9144000" cy="3429000"/>
          </a:xfrm>
        </p:grpSpPr>
        <p:sp>
          <p:nvSpPr>
            <p:cNvPr id="19" name="object 19"/>
            <p:cNvSpPr/>
            <p:nvPr/>
          </p:nvSpPr>
          <p:spPr>
            <a:xfrm>
              <a:off x="8706917" y="3778008"/>
              <a:ext cx="1212215" cy="1714500"/>
            </a:xfrm>
            <a:custGeom>
              <a:avLst/>
              <a:gdLst/>
              <a:ahLst/>
              <a:cxnLst/>
              <a:rect l="l" t="t" r="r" b="b"/>
              <a:pathLst>
                <a:path w="1212215" h="1714500">
                  <a:moveTo>
                    <a:pt x="1211922" y="800290"/>
                  </a:moveTo>
                  <a:lnTo>
                    <a:pt x="1210830" y="0"/>
                  </a:lnTo>
                  <a:lnTo>
                    <a:pt x="0" y="0"/>
                  </a:lnTo>
                  <a:lnTo>
                    <a:pt x="199047" y="857250"/>
                  </a:lnTo>
                  <a:lnTo>
                    <a:pt x="398081" y="1714500"/>
                  </a:lnTo>
                  <a:lnTo>
                    <a:pt x="1211922" y="1714500"/>
                  </a:lnTo>
                  <a:lnTo>
                    <a:pt x="1211922" y="857250"/>
                  </a:lnTo>
                  <a:lnTo>
                    <a:pt x="1211922" y="80029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519297" y="6223254"/>
              <a:ext cx="398145" cy="127000"/>
            </a:xfrm>
            <a:custGeom>
              <a:avLst/>
              <a:gdLst/>
              <a:ahLst/>
              <a:cxnLst/>
              <a:rect l="l" t="t" r="r" b="b"/>
              <a:pathLst>
                <a:path w="398145" h="127000">
                  <a:moveTo>
                    <a:pt x="397584" y="126492"/>
                  </a:moveTo>
                  <a:lnTo>
                    <a:pt x="397256" y="0"/>
                  </a:lnTo>
                  <a:lnTo>
                    <a:pt x="0" y="126492"/>
                  </a:lnTo>
                  <a:lnTo>
                    <a:pt x="397584" y="126492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05010" y="5492496"/>
              <a:ext cx="814069" cy="833755"/>
            </a:xfrm>
            <a:custGeom>
              <a:avLst/>
              <a:gdLst/>
              <a:ahLst/>
              <a:cxnLst/>
              <a:rect l="l" t="t" r="r" b="b"/>
              <a:pathLst>
                <a:path w="814070" h="833754">
                  <a:moveTo>
                    <a:pt x="813829" y="629611"/>
                  </a:moveTo>
                  <a:lnTo>
                    <a:pt x="813829" y="0"/>
                  </a:lnTo>
                  <a:lnTo>
                    <a:pt x="0" y="0"/>
                  </a:lnTo>
                  <a:lnTo>
                    <a:pt x="193561" y="833627"/>
                  </a:lnTo>
                  <a:lnTo>
                    <a:pt x="813816" y="633221"/>
                  </a:lnTo>
                  <a:lnTo>
                    <a:pt x="813829" y="629611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4839" y="3777996"/>
              <a:ext cx="8620493" cy="34290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20670" y="6349746"/>
              <a:ext cx="598170" cy="857250"/>
            </a:xfrm>
            <a:custGeom>
              <a:avLst/>
              <a:gdLst/>
              <a:ahLst/>
              <a:cxnLst/>
              <a:rect l="l" t="t" r="r" b="b"/>
              <a:pathLst>
                <a:path w="598170" h="857250">
                  <a:moveTo>
                    <a:pt x="598170" y="857250"/>
                  </a:moveTo>
                  <a:lnTo>
                    <a:pt x="598170" y="591411"/>
                  </a:lnTo>
                  <a:lnTo>
                    <a:pt x="596212" y="0"/>
                  </a:lnTo>
                  <a:lnTo>
                    <a:pt x="198627" y="0"/>
                  </a:lnTo>
                  <a:lnTo>
                    <a:pt x="0" y="63245"/>
                  </a:lnTo>
                  <a:lnTo>
                    <a:pt x="179144" y="857250"/>
                  </a:lnTo>
                  <a:lnTo>
                    <a:pt x="598170" y="857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6859ED8-53D5-4740-B520-EE62A0A2EE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0280" y="646430"/>
            <a:ext cx="21316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14" dirty="0"/>
              <a:t>Contents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74839" y="1407922"/>
            <a:ext cx="9144000" cy="4941836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0" y="3429000"/>
                </a:lnTo>
                <a:lnTo>
                  <a:pt x="0" y="428625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09242"/>
            <a:ext cx="7699375" cy="4080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" dirty="0">
                <a:latin typeface="Trebuchet MS"/>
                <a:cs typeface="Trebuchet MS"/>
              </a:rPr>
              <a:t>Scope of</a:t>
            </a:r>
            <a:r>
              <a:rPr sz="2800" spc="-480" dirty="0">
                <a:latin typeface="Trebuchet MS"/>
                <a:cs typeface="Trebuchet MS"/>
              </a:rPr>
              <a:t> </a:t>
            </a:r>
            <a:r>
              <a:rPr sz="2800" spc="-225" dirty="0">
                <a:latin typeface="Trebuchet MS"/>
                <a:cs typeface="Trebuchet MS"/>
              </a:rPr>
              <a:t>802.11</a:t>
            </a:r>
            <a:endParaRPr sz="2800" dirty="0">
              <a:latin typeface="Trebuchet MS"/>
              <a:cs typeface="Trebuchet MS"/>
            </a:endParaRPr>
          </a:p>
          <a:p>
            <a:pPr marL="354965" marR="201295" indent="-342900">
              <a:lnSpc>
                <a:spcPts val="2690"/>
              </a:lnSpc>
              <a:spcBef>
                <a:spcPts val="65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70" dirty="0">
                <a:latin typeface="Trebuchet MS"/>
                <a:cs typeface="Trebuchet MS"/>
              </a:rPr>
              <a:t>Reference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Model,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Architecture,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Services,</a:t>
            </a:r>
            <a:r>
              <a:rPr sz="2800" spc="-25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9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Frame  </a:t>
            </a:r>
            <a:r>
              <a:rPr sz="2800" spc="-5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Formats</a:t>
            </a:r>
            <a:endParaRPr sz="28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8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Physical</a:t>
            </a:r>
            <a:r>
              <a:rPr sz="2800" spc="-26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8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Layer</a:t>
            </a:r>
            <a:endParaRPr sz="28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5" dirty="0">
                <a:latin typeface="Trebuchet MS"/>
                <a:cs typeface="Trebuchet MS"/>
              </a:rPr>
              <a:t>Medium</a:t>
            </a:r>
            <a:r>
              <a:rPr sz="2800" spc="-66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Access </a:t>
            </a:r>
            <a:r>
              <a:rPr sz="2800" spc="-65" dirty="0">
                <a:latin typeface="Trebuchet MS"/>
                <a:cs typeface="Trebuchet MS"/>
              </a:rPr>
              <a:t>Control </a:t>
            </a:r>
            <a:r>
              <a:rPr sz="2800" spc="-45" dirty="0">
                <a:latin typeface="Trebuchet MS"/>
                <a:cs typeface="Trebuchet MS"/>
              </a:rPr>
              <a:t>Protocol</a:t>
            </a:r>
            <a:endParaRPr sz="2800" dirty="0">
              <a:latin typeface="Trebuchet MS"/>
              <a:cs typeface="Trebuchet MS"/>
            </a:endParaRPr>
          </a:p>
          <a:p>
            <a:pPr marL="355600" marR="5080" indent="-343535">
              <a:lnSpc>
                <a:spcPct val="8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5" dirty="0">
                <a:latin typeface="Trebuchet MS"/>
                <a:cs typeface="Trebuchet MS"/>
              </a:rPr>
              <a:t>Medium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Access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Control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with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Support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for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Quality‐  </a:t>
            </a:r>
            <a:r>
              <a:rPr sz="2800" spc="-90" dirty="0">
                <a:latin typeface="Trebuchet MS"/>
                <a:cs typeface="Trebuchet MS"/>
              </a:rPr>
              <a:t>of‐Service</a:t>
            </a:r>
            <a:endParaRPr sz="28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4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Radio </a:t>
            </a:r>
            <a:r>
              <a:rPr sz="2800" spc="-5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Spectrum</a:t>
            </a:r>
            <a:r>
              <a:rPr sz="2800" spc="-44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Management</a:t>
            </a:r>
            <a:endParaRPr sz="28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  <a:p>
            <a:pPr marL="354965" marR="1334135" indent="-342900">
              <a:lnSpc>
                <a:spcPts val="2690"/>
              </a:lnSpc>
              <a:spcBef>
                <a:spcPts val="65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5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History</a:t>
            </a:r>
            <a:r>
              <a:rPr sz="2800" spc="-24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4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and</a:t>
            </a:r>
            <a:r>
              <a:rPr sz="2800" spc="-26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8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Selected</a:t>
            </a:r>
            <a:r>
              <a:rPr sz="2800" spc="-254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7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Sub‐standards,</a:t>
            </a:r>
            <a:r>
              <a:rPr sz="2800" spc="-24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800" spc="-254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i.e.,  </a:t>
            </a:r>
            <a:r>
              <a:rPr sz="2800" spc="-3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Amendments</a:t>
            </a:r>
            <a:endParaRPr sz="28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35AEF0F-F23E-47F8-8B3A-9B8D605848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88155"/>
            <a:ext cx="3850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65" dirty="0">
                <a:latin typeface="Trebuchet MS"/>
                <a:cs typeface="Trebuchet MS"/>
              </a:rPr>
              <a:t>SCOPE</a:t>
            </a:r>
            <a:r>
              <a:rPr sz="4000" b="1" spc="-940" dirty="0">
                <a:latin typeface="Trebuchet MS"/>
                <a:cs typeface="Trebuchet MS"/>
              </a:rPr>
              <a:t> </a:t>
            </a:r>
            <a:r>
              <a:rPr sz="4000" b="1" spc="-65" dirty="0">
                <a:latin typeface="Trebuchet MS"/>
                <a:cs typeface="Trebuchet MS"/>
              </a:rPr>
              <a:t>OF </a:t>
            </a:r>
            <a:r>
              <a:rPr sz="4000" b="1" spc="-310" dirty="0">
                <a:latin typeface="Trebuchet MS"/>
                <a:cs typeface="Trebuchet MS"/>
              </a:rPr>
              <a:t>802.11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D049811-075B-4F7C-A89F-CFDE1782AB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2853" y="646430"/>
            <a:ext cx="36480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65" dirty="0"/>
              <a:t>Scope </a:t>
            </a:r>
            <a:r>
              <a:rPr sz="4400" spc="-125" dirty="0"/>
              <a:t>of</a:t>
            </a:r>
            <a:r>
              <a:rPr sz="4400" spc="-885" dirty="0"/>
              <a:t> </a:t>
            </a:r>
            <a:r>
              <a:rPr sz="4400" spc="-229" dirty="0"/>
              <a:t>802.11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86204"/>
            <a:ext cx="8097520" cy="4061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29" dirty="0">
                <a:latin typeface="Trebuchet MS"/>
                <a:cs typeface="Trebuchet MS"/>
              </a:rPr>
              <a:t>802.11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standard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focuses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25" dirty="0">
                <a:latin typeface="Trebuchet MS"/>
                <a:cs typeface="Trebuchet MS"/>
              </a:rPr>
              <a:t>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2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lower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layers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65" dirty="0">
                <a:latin typeface="Trebuchet MS"/>
                <a:cs typeface="Trebuchet MS"/>
              </a:rPr>
              <a:t>(1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&amp;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2) 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OSI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reference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model.</a:t>
            </a:r>
            <a:endParaRPr sz="2800">
              <a:latin typeface="Trebuchet MS"/>
              <a:cs typeface="Trebuchet MS"/>
            </a:endParaRPr>
          </a:p>
          <a:p>
            <a:pPr marL="354965" marR="177165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" dirty="0">
                <a:latin typeface="Trebuchet MS"/>
                <a:cs typeface="Trebuchet MS"/>
              </a:rPr>
              <a:t>In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reference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model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45" dirty="0">
                <a:latin typeface="Trebuchet MS"/>
                <a:cs typeface="Trebuchet MS"/>
              </a:rPr>
              <a:t>802.11,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Data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Link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Control  </a:t>
            </a:r>
            <a:r>
              <a:rPr sz="2800" spc="-40" dirty="0">
                <a:latin typeface="Trebuchet MS"/>
                <a:cs typeface="Trebuchet MS"/>
              </a:rPr>
              <a:t>(DLC)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layer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divided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into</a:t>
            </a:r>
            <a:endParaRPr sz="280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600"/>
              </a:spcBef>
              <a:buClr>
                <a:srgbClr val="F0A73C"/>
              </a:buClr>
              <a:buSzPct val="89583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400" spc="-60" dirty="0">
                <a:latin typeface="Trebuchet MS"/>
                <a:cs typeface="Trebuchet MS"/>
              </a:rPr>
              <a:t>Logical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Link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Control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(LLC)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endParaRPr sz="240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575"/>
              </a:spcBef>
              <a:buClr>
                <a:srgbClr val="F0A73C"/>
              </a:buClr>
              <a:buSzPct val="89583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400" dirty="0">
                <a:latin typeface="Trebuchet MS"/>
                <a:cs typeface="Trebuchet MS"/>
              </a:rPr>
              <a:t>Medium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Access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Control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(MAC)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sublayers.</a:t>
            </a:r>
            <a:endParaRPr sz="2400">
              <a:latin typeface="Trebuchet MS"/>
              <a:cs typeface="Trebuchet MS"/>
            </a:endParaRPr>
          </a:p>
          <a:p>
            <a:pPr marL="354965" marR="646430" indent="-342900">
              <a:lnSpc>
                <a:spcPct val="100000"/>
              </a:lnSpc>
              <a:spcBef>
                <a:spcPts val="65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29" dirty="0">
                <a:latin typeface="Trebuchet MS"/>
                <a:cs typeface="Trebuchet MS"/>
              </a:rPr>
              <a:t>802.11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defines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Physical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layer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(PHY)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transmission  </a:t>
            </a:r>
            <a:r>
              <a:rPr sz="2800" spc="-40" dirty="0">
                <a:latin typeface="Trebuchet MS"/>
                <a:cs typeface="Trebuchet MS"/>
              </a:rPr>
              <a:t>schemes </a:t>
            </a:r>
            <a:r>
              <a:rPr sz="2800" spc="-45" dirty="0">
                <a:latin typeface="Trebuchet MS"/>
                <a:cs typeface="Trebuchet MS"/>
              </a:rPr>
              <a:t>and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110" dirty="0">
                <a:latin typeface="Trebuchet MS"/>
                <a:cs typeface="Trebuchet MS"/>
              </a:rPr>
              <a:t>MAC </a:t>
            </a:r>
            <a:r>
              <a:rPr sz="2800" spc="-75" dirty="0">
                <a:latin typeface="Trebuchet MS"/>
                <a:cs typeface="Trebuchet MS"/>
              </a:rPr>
              <a:t>protocol, </a:t>
            </a:r>
            <a:r>
              <a:rPr sz="2800" spc="-50" dirty="0">
                <a:latin typeface="Trebuchet MS"/>
                <a:cs typeface="Trebuchet MS"/>
              </a:rPr>
              <a:t>but </a:t>
            </a:r>
            <a:r>
              <a:rPr sz="2800" spc="25" dirty="0">
                <a:latin typeface="Trebuchet MS"/>
                <a:cs typeface="Trebuchet MS"/>
              </a:rPr>
              <a:t>no </a:t>
            </a:r>
            <a:r>
              <a:rPr sz="2800" spc="-80" dirty="0">
                <a:latin typeface="Trebuchet MS"/>
                <a:cs typeface="Trebuchet MS"/>
              </a:rPr>
              <a:t>LLC  </a:t>
            </a:r>
            <a:r>
              <a:rPr sz="2800" spc="-110" dirty="0">
                <a:latin typeface="Trebuchet MS"/>
                <a:cs typeface="Trebuchet MS"/>
              </a:rPr>
              <a:t>functionality.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D60CDE-800C-4C59-8C2B-F689429E0F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91965"/>
            <a:ext cx="718756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REFERENCE </a:t>
            </a:r>
            <a:r>
              <a:rPr b="1" spc="80" dirty="0">
                <a:latin typeface="Trebuchet MS"/>
                <a:cs typeface="Trebuchet MS"/>
              </a:rPr>
              <a:t>MODELS,  </a:t>
            </a:r>
            <a:r>
              <a:rPr b="1" spc="-35" dirty="0">
                <a:latin typeface="Trebuchet MS"/>
                <a:cs typeface="Trebuchet MS"/>
              </a:rPr>
              <a:t>ARCHITECTURE, </a:t>
            </a:r>
            <a:r>
              <a:rPr b="1" spc="30" dirty="0">
                <a:latin typeface="Trebuchet MS"/>
                <a:cs typeface="Trebuchet MS"/>
              </a:rPr>
              <a:t>SERVICES,</a:t>
            </a:r>
            <a:r>
              <a:rPr b="1" spc="-775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FRAME  </a:t>
            </a:r>
            <a:r>
              <a:rPr b="1" spc="30" dirty="0">
                <a:latin typeface="Trebuchet MS"/>
                <a:cs typeface="Trebuchet MS"/>
              </a:rPr>
              <a:t>FORMATS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0E14BEB-5CDF-4D7C-8BF9-2868854FEB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8834" y="646430"/>
            <a:ext cx="39363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90" dirty="0"/>
              <a:t>Reference</a:t>
            </a:r>
            <a:r>
              <a:rPr sz="4400" spc="-530" dirty="0"/>
              <a:t> </a:t>
            </a:r>
            <a:r>
              <a:rPr sz="4400" spc="-25" dirty="0"/>
              <a:t>Model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310779" y="1883156"/>
            <a:ext cx="7748905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</a:pPr>
            <a:r>
              <a:rPr sz="3200" spc="-70" dirty="0">
                <a:latin typeface="Trebuchet MS"/>
                <a:cs typeface="Trebuchet MS"/>
              </a:rPr>
              <a:t>It</a:t>
            </a:r>
            <a:r>
              <a:rPr sz="3200" spc="-270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is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65" dirty="0">
                <a:latin typeface="Trebuchet MS"/>
                <a:cs typeface="Trebuchet MS"/>
              </a:rPr>
              <a:t>an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abstraction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of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the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real‐life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hardware  </a:t>
            </a:r>
            <a:r>
              <a:rPr sz="3200" spc="-55" dirty="0">
                <a:latin typeface="Trebuchet MS"/>
                <a:cs typeface="Trebuchet MS"/>
              </a:rPr>
              <a:t>and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software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45" dirty="0">
                <a:latin typeface="Trebuchet MS"/>
                <a:cs typeface="Trebuchet MS"/>
              </a:rPr>
              <a:t>modules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of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a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radio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standard,  </a:t>
            </a:r>
            <a:r>
              <a:rPr sz="3200" spc="-65" dirty="0">
                <a:latin typeface="Trebuchet MS"/>
                <a:cs typeface="Trebuchet MS"/>
              </a:rPr>
              <a:t>helping developers </a:t>
            </a:r>
            <a:r>
              <a:rPr sz="3200" spc="-30" dirty="0">
                <a:latin typeface="Trebuchet MS"/>
                <a:cs typeface="Trebuchet MS"/>
              </a:rPr>
              <a:t>to </a:t>
            </a:r>
            <a:r>
              <a:rPr sz="3200" spc="-45" dirty="0">
                <a:latin typeface="Trebuchet MS"/>
                <a:cs typeface="Trebuchet MS"/>
              </a:rPr>
              <a:t>discuss </a:t>
            </a:r>
            <a:r>
              <a:rPr sz="3200" spc="-55" dirty="0">
                <a:latin typeface="Trebuchet MS"/>
                <a:cs typeface="Trebuchet MS"/>
              </a:rPr>
              <a:t>and  understand </a:t>
            </a:r>
            <a:r>
              <a:rPr sz="3200" spc="-85" dirty="0">
                <a:latin typeface="Trebuchet MS"/>
                <a:cs typeface="Trebuchet MS"/>
              </a:rPr>
              <a:t>the</a:t>
            </a:r>
            <a:r>
              <a:rPr sz="3200" spc="-484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technology.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E0F87D-63D2-4F20-A966-37D35984E7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78834" y="646430"/>
            <a:ext cx="39363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90" dirty="0"/>
              <a:t>Reference</a:t>
            </a:r>
            <a:r>
              <a:rPr sz="4400" spc="-530" dirty="0"/>
              <a:t> </a:t>
            </a:r>
            <a:r>
              <a:rPr sz="4400" spc="-25" dirty="0"/>
              <a:t>Model</a:t>
            </a:r>
            <a:endParaRPr sz="4400"/>
          </a:p>
        </p:txBody>
      </p:sp>
      <p:grpSp>
        <p:nvGrpSpPr>
          <p:cNvPr id="7" name="object 7"/>
          <p:cNvGrpSpPr/>
          <p:nvPr/>
        </p:nvGrpSpPr>
        <p:grpSpPr>
          <a:xfrm>
            <a:off x="774839" y="1303440"/>
            <a:ext cx="9144000" cy="5038685"/>
            <a:chOff x="774839" y="1206246"/>
            <a:chExt cx="9144000" cy="5135880"/>
          </a:xfrm>
        </p:grpSpPr>
        <p:sp>
          <p:nvSpPr>
            <p:cNvPr id="8" name="object 8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03589" y="1706880"/>
              <a:ext cx="6072378" cy="46352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B10898-F2AE-46C3-B786-C7500380F9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4709" y="646430"/>
            <a:ext cx="29025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80" dirty="0"/>
              <a:t>Architecture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1417967" y="2618244"/>
            <a:ext cx="4349115" cy="302895"/>
          </a:xfrm>
          <a:custGeom>
            <a:avLst/>
            <a:gdLst/>
            <a:ahLst/>
            <a:cxnLst/>
            <a:rect l="l" t="t" r="r" b="b"/>
            <a:pathLst>
              <a:path w="4349115" h="302894">
                <a:moveTo>
                  <a:pt x="4348734" y="286512"/>
                </a:moveTo>
                <a:lnTo>
                  <a:pt x="4342638" y="286512"/>
                </a:lnTo>
                <a:lnTo>
                  <a:pt x="4342638" y="280416"/>
                </a:lnTo>
                <a:lnTo>
                  <a:pt x="3944162" y="280416"/>
                </a:lnTo>
                <a:lnTo>
                  <a:pt x="3914952" y="267474"/>
                </a:lnTo>
                <a:lnTo>
                  <a:pt x="3914952" y="280416"/>
                </a:lnTo>
                <a:lnTo>
                  <a:pt x="1049642" y="280416"/>
                </a:lnTo>
                <a:lnTo>
                  <a:pt x="1044562" y="280416"/>
                </a:lnTo>
                <a:lnTo>
                  <a:pt x="1038212" y="280416"/>
                </a:lnTo>
                <a:lnTo>
                  <a:pt x="909942" y="280416"/>
                </a:lnTo>
                <a:lnTo>
                  <a:pt x="917879" y="276898"/>
                </a:lnTo>
                <a:lnTo>
                  <a:pt x="963777" y="257810"/>
                </a:lnTo>
                <a:lnTo>
                  <a:pt x="1010132" y="239725"/>
                </a:lnTo>
                <a:lnTo>
                  <a:pt x="1056830" y="222580"/>
                </a:lnTo>
                <a:lnTo>
                  <a:pt x="1103769" y="206311"/>
                </a:lnTo>
                <a:lnTo>
                  <a:pt x="1150861" y="190881"/>
                </a:lnTo>
                <a:lnTo>
                  <a:pt x="1198003" y="176225"/>
                </a:lnTo>
                <a:lnTo>
                  <a:pt x="1245108" y="162306"/>
                </a:lnTo>
                <a:lnTo>
                  <a:pt x="1294257" y="148856"/>
                </a:lnTo>
                <a:lnTo>
                  <a:pt x="1343685" y="136105"/>
                </a:lnTo>
                <a:lnTo>
                  <a:pt x="1393380" y="124053"/>
                </a:lnTo>
                <a:lnTo>
                  <a:pt x="1443316" y="112661"/>
                </a:lnTo>
                <a:lnTo>
                  <a:pt x="1493469" y="101955"/>
                </a:lnTo>
                <a:lnTo>
                  <a:pt x="1543824" y="91897"/>
                </a:lnTo>
                <a:lnTo>
                  <a:pt x="1594370" y="82499"/>
                </a:lnTo>
                <a:lnTo>
                  <a:pt x="1645081" y="73736"/>
                </a:lnTo>
                <a:lnTo>
                  <a:pt x="1695932" y="65608"/>
                </a:lnTo>
                <a:lnTo>
                  <a:pt x="1746910" y="58102"/>
                </a:lnTo>
                <a:lnTo>
                  <a:pt x="1798002" y="51206"/>
                </a:lnTo>
                <a:lnTo>
                  <a:pt x="1849170" y="44919"/>
                </a:lnTo>
                <a:lnTo>
                  <a:pt x="1900415" y="39217"/>
                </a:lnTo>
                <a:lnTo>
                  <a:pt x="1951710" y="34112"/>
                </a:lnTo>
                <a:lnTo>
                  <a:pt x="2003031" y="29578"/>
                </a:lnTo>
                <a:lnTo>
                  <a:pt x="2054377" y="25615"/>
                </a:lnTo>
                <a:lnTo>
                  <a:pt x="2105710" y="22199"/>
                </a:lnTo>
                <a:lnTo>
                  <a:pt x="2157006" y="19342"/>
                </a:lnTo>
                <a:lnTo>
                  <a:pt x="2208276" y="17018"/>
                </a:lnTo>
                <a:lnTo>
                  <a:pt x="2259469" y="15227"/>
                </a:lnTo>
                <a:lnTo>
                  <a:pt x="2311539" y="13944"/>
                </a:lnTo>
                <a:lnTo>
                  <a:pt x="2362060" y="13208"/>
                </a:lnTo>
                <a:lnTo>
                  <a:pt x="2412492" y="12954"/>
                </a:lnTo>
                <a:lnTo>
                  <a:pt x="2462606" y="13208"/>
                </a:lnTo>
                <a:lnTo>
                  <a:pt x="2512860" y="13944"/>
                </a:lnTo>
                <a:lnTo>
                  <a:pt x="2563241" y="15176"/>
                </a:lnTo>
                <a:lnTo>
                  <a:pt x="2613723" y="16916"/>
                </a:lnTo>
                <a:lnTo>
                  <a:pt x="2664269" y="19164"/>
                </a:lnTo>
                <a:lnTo>
                  <a:pt x="2714879" y="21932"/>
                </a:lnTo>
                <a:lnTo>
                  <a:pt x="2765539" y="25247"/>
                </a:lnTo>
                <a:lnTo>
                  <a:pt x="2816212" y="29095"/>
                </a:lnTo>
                <a:lnTo>
                  <a:pt x="2866885" y="33489"/>
                </a:lnTo>
                <a:lnTo>
                  <a:pt x="2917901" y="38493"/>
                </a:lnTo>
                <a:lnTo>
                  <a:pt x="2968942" y="44081"/>
                </a:lnTo>
                <a:lnTo>
                  <a:pt x="3018739" y="50101"/>
                </a:lnTo>
                <a:lnTo>
                  <a:pt x="3069221" y="56807"/>
                </a:lnTo>
                <a:lnTo>
                  <a:pt x="3119628" y="64096"/>
                </a:lnTo>
                <a:lnTo>
                  <a:pt x="3169907" y="72009"/>
                </a:lnTo>
                <a:lnTo>
                  <a:pt x="3220047" y="80543"/>
                </a:lnTo>
                <a:lnTo>
                  <a:pt x="3270046" y="89700"/>
                </a:lnTo>
                <a:lnTo>
                  <a:pt x="3319869" y="99491"/>
                </a:lnTo>
                <a:lnTo>
                  <a:pt x="3369500" y="109931"/>
                </a:lnTo>
                <a:lnTo>
                  <a:pt x="3418916" y="121031"/>
                </a:lnTo>
                <a:lnTo>
                  <a:pt x="3468103" y="132791"/>
                </a:lnTo>
                <a:lnTo>
                  <a:pt x="3517036" y="145224"/>
                </a:lnTo>
                <a:lnTo>
                  <a:pt x="3565715" y="158343"/>
                </a:lnTo>
                <a:lnTo>
                  <a:pt x="3614089" y="172161"/>
                </a:lnTo>
                <a:lnTo>
                  <a:pt x="3662172" y="186690"/>
                </a:lnTo>
                <a:lnTo>
                  <a:pt x="3708958" y="201955"/>
                </a:lnTo>
                <a:lnTo>
                  <a:pt x="3755606" y="217995"/>
                </a:lnTo>
                <a:lnTo>
                  <a:pt x="3802037" y="234848"/>
                </a:lnTo>
                <a:lnTo>
                  <a:pt x="3848176" y="252590"/>
                </a:lnTo>
                <a:lnTo>
                  <a:pt x="3893947" y="271284"/>
                </a:lnTo>
                <a:lnTo>
                  <a:pt x="3914952" y="280416"/>
                </a:lnTo>
                <a:lnTo>
                  <a:pt x="3914952" y="267474"/>
                </a:lnTo>
                <a:lnTo>
                  <a:pt x="3862628" y="245402"/>
                </a:lnTo>
                <a:lnTo>
                  <a:pt x="3815473" y="226758"/>
                </a:lnTo>
                <a:lnTo>
                  <a:pt x="3767899" y="209003"/>
                </a:lnTo>
                <a:lnTo>
                  <a:pt x="3719919" y="192138"/>
                </a:lnTo>
                <a:lnTo>
                  <a:pt x="3671557" y="176123"/>
                </a:lnTo>
                <a:lnTo>
                  <a:pt x="3622852" y="160959"/>
                </a:lnTo>
                <a:lnTo>
                  <a:pt x="3573830" y="146608"/>
                </a:lnTo>
                <a:lnTo>
                  <a:pt x="3524491" y="133070"/>
                </a:lnTo>
                <a:lnTo>
                  <a:pt x="3474885" y="120307"/>
                </a:lnTo>
                <a:lnTo>
                  <a:pt x="3425025" y="108318"/>
                </a:lnTo>
                <a:lnTo>
                  <a:pt x="3374936" y="97078"/>
                </a:lnTo>
                <a:lnTo>
                  <a:pt x="3324644" y="86563"/>
                </a:lnTo>
                <a:lnTo>
                  <a:pt x="3274161" y="76746"/>
                </a:lnTo>
                <a:lnTo>
                  <a:pt x="3223539" y="67627"/>
                </a:lnTo>
                <a:lnTo>
                  <a:pt x="3172777" y="59182"/>
                </a:lnTo>
                <a:lnTo>
                  <a:pt x="3121914" y="51384"/>
                </a:lnTo>
                <a:lnTo>
                  <a:pt x="3070974" y="44221"/>
                </a:lnTo>
                <a:lnTo>
                  <a:pt x="3019971" y="37668"/>
                </a:lnTo>
                <a:lnTo>
                  <a:pt x="2968167" y="31635"/>
                </a:lnTo>
                <a:lnTo>
                  <a:pt x="2917545" y="26301"/>
                </a:lnTo>
                <a:lnTo>
                  <a:pt x="2866872" y="21513"/>
                </a:lnTo>
                <a:lnTo>
                  <a:pt x="2815894" y="17221"/>
                </a:lnTo>
                <a:lnTo>
                  <a:pt x="2764980" y="13462"/>
                </a:lnTo>
                <a:lnTo>
                  <a:pt x="2714155" y="10185"/>
                </a:lnTo>
                <a:lnTo>
                  <a:pt x="2663444" y="7404"/>
                </a:lnTo>
                <a:lnTo>
                  <a:pt x="2612872" y="5067"/>
                </a:lnTo>
                <a:lnTo>
                  <a:pt x="2562466" y="3187"/>
                </a:lnTo>
                <a:lnTo>
                  <a:pt x="2512250" y="1727"/>
                </a:lnTo>
                <a:lnTo>
                  <a:pt x="2462250" y="660"/>
                </a:lnTo>
                <a:lnTo>
                  <a:pt x="2412492" y="0"/>
                </a:lnTo>
                <a:lnTo>
                  <a:pt x="2361590" y="342"/>
                </a:lnTo>
                <a:lnTo>
                  <a:pt x="2310587" y="1168"/>
                </a:lnTo>
                <a:lnTo>
                  <a:pt x="2260943" y="2438"/>
                </a:lnTo>
                <a:lnTo>
                  <a:pt x="2210282" y="4216"/>
                </a:lnTo>
                <a:lnTo>
                  <a:pt x="2159584" y="6515"/>
                </a:lnTo>
                <a:lnTo>
                  <a:pt x="2108847" y="9321"/>
                </a:lnTo>
                <a:lnTo>
                  <a:pt x="2058111" y="12661"/>
                </a:lnTo>
                <a:lnTo>
                  <a:pt x="2007362" y="16522"/>
                </a:lnTo>
                <a:lnTo>
                  <a:pt x="1956625" y="20942"/>
                </a:lnTo>
                <a:lnTo>
                  <a:pt x="1905939" y="25920"/>
                </a:lnTo>
                <a:lnTo>
                  <a:pt x="1855279" y="31457"/>
                </a:lnTo>
                <a:lnTo>
                  <a:pt x="1804695" y="37579"/>
                </a:lnTo>
                <a:lnTo>
                  <a:pt x="1754187" y="44284"/>
                </a:lnTo>
                <a:lnTo>
                  <a:pt x="1703768" y="51600"/>
                </a:lnTo>
                <a:lnTo>
                  <a:pt x="1653463" y="59512"/>
                </a:lnTo>
                <a:lnTo>
                  <a:pt x="1603273" y="68046"/>
                </a:lnTo>
                <a:lnTo>
                  <a:pt x="1553235" y="77216"/>
                </a:lnTo>
                <a:lnTo>
                  <a:pt x="1503349" y="87020"/>
                </a:lnTo>
                <a:lnTo>
                  <a:pt x="1453629" y="97485"/>
                </a:lnTo>
                <a:lnTo>
                  <a:pt x="1404099" y="108597"/>
                </a:lnTo>
                <a:lnTo>
                  <a:pt x="1354759" y="120396"/>
                </a:lnTo>
                <a:lnTo>
                  <a:pt x="1305648" y="132867"/>
                </a:lnTo>
                <a:lnTo>
                  <a:pt x="1256766" y="146037"/>
                </a:lnTo>
                <a:lnTo>
                  <a:pt x="1208125" y="159905"/>
                </a:lnTo>
                <a:lnTo>
                  <a:pt x="1159764" y="174498"/>
                </a:lnTo>
                <a:lnTo>
                  <a:pt x="1112799" y="189712"/>
                </a:lnTo>
                <a:lnTo>
                  <a:pt x="1065872" y="205790"/>
                </a:lnTo>
                <a:lnTo>
                  <a:pt x="1019086" y="222770"/>
                </a:lnTo>
                <a:lnTo>
                  <a:pt x="972527" y="240690"/>
                </a:lnTo>
                <a:lnTo>
                  <a:pt x="926312" y="259588"/>
                </a:lnTo>
                <a:lnTo>
                  <a:pt x="880554" y="279514"/>
                </a:lnTo>
                <a:lnTo>
                  <a:pt x="878611" y="280416"/>
                </a:lnTo>
                <a:lnTo>
                  <a:pt x="622" y="280416"/>
                </a:lnTo>
                <a:lnTo>
                  <a:pt x="0" y="280416"/>
                </a:lnTo>
                <a:lnTo>
                  <a:pt x="0" y="293370"/>
                </a:lnTo>
                <a:lnTo>
                  <a:pt x="622" y="293370"/>
                </a:lnTo>
                <a:lnTo>
                  <a:pt x="850709" y="293370"/>
                </a:lnTo>
                <a:lnTo>
                  <a:pt x="835342" y="300507"/>
                </a:lnTo>
                <a:lnTo>
                  <a:pt x="831303" y="302514"/>
                </a:lnTo>
                <a:lnTo>
                  <a:pt x="860971" y="302514"/>
                </a:lnTo>
                <a:lnTo>
                  <a:pt x="872515" y="297027"/>
                </a:lnTo>
                <a:lnTo>
                  <a:pt x="880757" y="293370"/>
                </a:lnTo>
                <a:lnTo>
                  <a:pt x="1037844" y="293370"/>
                </a:lnTo>
                <a:lnTo>
                  <a:pt x="1037844" y="302514"/>
                </a:lnTo>
                <a:lnTo>
                  <a:pt x="1043940" y="302514"/>
                </a:lnTo>
                <a:lnTo>
                  <a:pt x="1043940" y="293370"/>
                </a:lnTo>
                <a:lnTo>
                  <a:pt x="1044562" y="293370"/>
                </a:lnTo>
                <a:lnTo>
                  <a:pt x="1044562" y="302514"/>
                </a:lnTo>
                <a:lnTo>
                  <a:pt x="1049642" y="302514"/>
                </a:lnTo>
                <a:lnTo>
                  <a:pt x="1049642" y="293370"/>
                </a:lnTo>
                <a:lnTo>
                  <a:pt x="3210306" y="293370"/>
                </a:lnTo>
                <a:lnTo>
                  <a:pt x="3210306" y="302514"/>
                </a:lnTo>
                <a:lnTo>
                  <a:pt x="3217164" y="302514"/>
                </a:lnTo>
                <a:lnTo>
                  <a:pt x="3223260" y="302514"/>
                </a:lnTo>
                <a:lnTo>
                  <a:pt x="3223260" y="300228"/>
                </a:lnTo>
                <a:lnTo>
                  <a:pt x="3959225" y="300228"/>
                </a:lnTo>
                <a:lnTo>
                  <a:pt x="3964165" y="302514"/>
                </a:lnTo>
                <a:lnTo>
                  <a:pt x="3991864" y="302514"/>
                </a:lnTo>
                <a:lnTo>
                  <a:pt x="3986987" y="300228"/>
                </a:lnTo>
                <a:lnTo>
                  <a:pt x="4336542" y="300228"/>
                </a:lnTo>
                <a:lnTo>
                  <a:pt x="4342638" y="300228"/>
                </a:lnTo>
                <a:lnTo>
                  <a:pt x="4348734" y="300228"/>
                </a:lnTo>
                <a:lnTo>
                  <a:pt x="4348734" y="2865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15639" y="2601722"/>
            <a:ext cx="2311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40" dirty="0">
                <a:latin typeface="Trebuchet MS"/>
                <a:cs typeface="Trebuchet MS"/>
              </a:rPr>
              <a:t>DS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33435" y="2920745"/>
            <a:ext cx="4255770" cy="857250"/>
            <a:chOff x="1733435" y="2920745"/>
            <a:chExt cx="4255770" cy="857250"/>
          </a:xfrm>
        </p:grpSpPr>
        <p:sp>
          <p:nvSpPr>
            <p:cNvPr id="7" name="object 7"/>
            <p:cNvSpPr/>
            <p:nvPr/>
          </p:nvSpPr>
          <p:spPr>
            <a:xfrm>
              <a:off x="1733435" y="2920758"/>
              <a:ext cx="4194175" cy="857250"/>
            </a:xfrm>
            <a:custGeom>
              <a:avLst/>
              <a:gdLst/>
              <a:ahLst/>
              <a:cxnLst/>
              <a:rect l="l" t="t" r="r" b="b"/>
              <a:pathLst>
                <a:path w="4194175" h="857250">
                  <a:moveTo>
                    <a:pt x="545503" y="0"/>
                  </a:moveTo>
                  <a:lnTo>
                    <a:pt x="515835" y="0"/>
                  </a:lnTo>
                  <a:lnTo>
                    <a:pt x="475322" y="20104"/>
                  </a:lnTo>
                  <a:lnTo>
                    <a:pt x="431533" y="43357"/>
                  </a:lnTo>
                  <a:lnTo>
                    <a:pt x="388620" y="67818"/>
                  </a:lnTo>
                  <a:lnTo>
                    <a:pt x="349211" y="91770"/>
                  </a:lnTo>
                  <a:lnTo>
                    <a:pt x="309626" y="117767"/>
                  </a:lnTo>
                  <a:lnTo>
                    <a:pt x="270344" y="145783"/>
                  </a:lnTo>
                  <a:lnTo>
                    <a:pt x="231863" y="175780"/>
                  </a:lnTo>
                  <a:lnTo>
                    <a:pt x="194678" y="207759"/>
                  </a:lnTo>
                  <a:lnTo>
                    <a:pt x="159283" y="241668"/>
                  </a:lnTo>
                  <a:lnTo>
                    <a:pt x="126174" y="277495"/>
                  </a:lnTo>
                  <a:lnTo>
                    <a:pt x="95846" y="315226"/>
                  </a:lnTo>
                  <a:lnTo>
                    <a:pt x="68795" y="354812"/>
                  </a:lnTo>
                  <a:lnTo>
                    <a:pt x="45504" y="396240"/>
                  </a:lnTo>
                  <a:lnTo>
                    <a:pt x="26492" y="439483"/>
                  </a:lnTo>
                  <a:lnTo>
                    <a:pt x="12242" y="484517"/>
                  </a:lnTo>
                  <a:lnTo>
                    <a:pt x="3238" y="531329"/>
                  </a:lnTo>
                  <a:lnTo>
                    <a:pt x="0" y="579882"/>
                  </a:lnTo>
                  <a:lnTo>
                    <a:pt x="0" y="580644"/>
                  </a:lnTo>
                  <a:lnTo>
                    <a:pt x="3149" y="628243"/>
                  </a:lnTo>
                  <a:lnTo>
                    <a:pt x="11811" y="674179"/>
                  </a:lnTo>
                  <a:lnTo>
                    <a:pt x="12954" y="677837"/>
                  </a:lnTo>
                  <a:lnTo>
                    <a:pt x="25539" y="718426"/>
                  </a:lnTo>
                  <a:lnTo>
                    <a:pt x="43865" y="760958"/>
                  </a:lnTo>
                  <a:lnTo>
                    <a:pt x="66344" y="801763"/>
                  </a:lnTo>
                  <a:lnTo>
                    <a:pt x="92506" y="840816"/>
                  </a:lnTo>
                  <a:lnTo>
                    <a:pt x="105460" y="857250"/>
                  </a:lnTo>
                  <a:lnTo>
                    <a:pt x="121627" y="857250"/>
                  </a:lnTo>
                  <a:lnTo>
                    <a:pt x="107327" y="839584"/>
                  </a:lnTo>
                  <a:lnTo>
                    <a:pt x="80645" y="800811"/>
                  </a:lnTo>
                  <a:lnTo>
                    <a:pt x="57683" y="760209"/>
                  </a:lnTo>
                  <a:lnTo>
                    <a:pt x="38938" y="717791"/>
                  </a:lnTo>
                  <a:lnTo>
                    <a:pt x="24904" y="673582"/>
                  </a:lnTo>
                  <a:lnTo>
                    <a:pt x="16078" y="627608"/>
                  </a:lnTo>
                  <a:lnTo>
                    <a:pt x="12954" y="579882"/>
                  </a:lnTo>
                  <a:lnTo>
                    <a:pt x="15989" y="533247"/>
                  </a:lnTo>
                  <a:lnTo>
                    <a:pt x="24498" y="488264"/>
                  </a:lnTo>
                  <a:lnTo>
                    <a:pt x="38023" y="444944"/>
                  </a:lnTo>
                  <a:lnTo>
                    <a:pt x="56108" y="403313"/>
                  </a:lnTo>
                  <a:lnTo>
                    <a:pt x="78295" y="363385"/>
                  </a:lnTo>
                  <a:lnTo>
                    <a:pt x="104114" y="325170"/>
                  </a:lnTo>
                  <a:lnTo>
                    <a:pt x="133134" y="288709"/>
                  </a:lnTo>
                  <a:lnTo>
                    <a:pt x="164884" y="253987"/>
                  </a:lnTo>
                  <a:lnTo>
                    <a:pt x="198894" y="221056"/>
                  </a:lnTo>
                  <a:lnTo>
                    <a:pt x="234734" y="189915"/>
                  </a:lnTo>
                  <a:lnTo>
                    <a:pt x="271932" y="160578"/>
                  </a:lnTo>
                  <a:lnTo>
                    <a:pt x="310032" y="133070"/>
                  </a:lnTo>
                  <a:lnTo>
                    <a:pt x="348576" y="107416"/>
                  </a:lnTo>
                  <a:lnTo>
                    <a:pt x="387121" y="83629"/>
                  </a:lnTo>
                  <a:lnTo>
                    <a:pt x="425196" y="61722"/>
                  </a:lnTo>
                  <a:lnTo>
                    <a:pt x="468337" y="38125"/>
                  </a:lnTo>
                  <a:lnTo>
                    <a:pt x="512330" y="15748"/>
                  </a:lnTo>
                  <a:lnTo>
                    <a:pt x="545503" y="0"/>
                  </a:lnTo>
                  <a:close/>
                </a:path>
                <a:path w="4194175" h="857250">
                  <a:moveTo>
                    <a:pt x="4032224" y="857250"/>
                  </a:moveTo>
                  <a:lnTo>
                    <a:pt x="4022483" y="792822"/>
                  </a:lnTo>
                  <a:lnTo>
                    <a:pt x="4004259" y="750531"/>
                  </a:lnTo>
                  <a:lnTo>
                    <a:pt x="3978414" y="710704"/>
                  </a:lnTo>
                  <a:lnTo>
                    <a:pt x="3945852" y="673747"/>
                  </a:lnTo>
                  <a:lnTo>
                    <a:pt x="3907536" y="640080"/>
                  </a:lnTo>
                  <a:lnTo>
                    <a:pt x="3871366" y="614286"/>
                  </a:lnTo>
                  <a:lnTo>
                    <a:pt x="3832885" y="590727"/>
                  </a:lnTo>
                  <a:lnTo>
                    <a:pt x="3792270" y="569366"/>
                  </a:lnTo>
                  <a:lnTo>
                    <a:pt x="3749751" y="550151"/>
                  </a:lnTo>
                  <a:lnTo>
                    <a:pt x="3705529" y="533069"/>
                  </a:lnTo>
                  <a:lnTo>
                    <a:pt x="3659809" y="518071"/>
                  </a:lnTo>
                  <a:lnTo>
                    <a:pt x="3612807" y="505142"/>
                  </a:lnTo>
                  <a:lnTo>
                    <a:pt x="3564725" y="494233"/>
                  </a:lnTo>
                  <a:lnTo>
                    <a:pt x="3515791" y="485305"/>
                  </a:lnTo>
                  <a:lnTo>
                    <a:pt x="3466198" y="478332"/>
                  </a:lnTo>
                  <a:lnTo>
                    <a:pt x="3416160" y="473290"/>
                  </a:lnTo>
                  <a:lnTo>
                    <a:pt x="3365881" y="470128"/>
                  </a:lnTo>
                  <a:lnTo>
                    <a:pt x="3315589" y="468833"/>
                  </a:lnTo>
                  <a:lnTo>
                    <a:pt x="3265474" y="469341"/>
                  </a:lnTo>
                  <a:lnTo>
                    <a:pt x="3215754" y="471639"/>
                  </a:lnTo>
                  <a:lnTo>
                    <a:pt x="3166643" y="475703"/>
                  </a:lnTo>
                  <a:lnTo>
                    <a:pt x="3118332" y="481469"/>
                  </a:lnTo>
                  <a:lnTo>
                    <a:pt x="3071050" y="488924"/>
                  </a:lnTo>
                  <a:lnTo>
                    <a:pt x="3025013" y="498030"/>
                  </a:lnTo>
                  <a:lnTo>
                    <a:pt x="2980398" y="508762"/>
                  </a:lnTo>
                  <a:lnTo>
                    <a:pt x="2937446" y="521068"/>
                  </a:lnTo>
                  <a:lnTo>
                    <a:pt x="2896362" y="534924"/>
                  </a:lnTo>
                  <a:lnTo>
                    <a:pt x="2853753" y="551357"/>
                  </a:lnTo>
                  <a:lnTo>
                    <a:pt x="2809811" y="571411"/>
                  </a:lnTo>
                  <a:lnTo>
                    <a:pt x="2765869" y="595096"/>
                  </a:lnTo>
                  <a:lnTo>
                    <a:pt x="2723324" y="622363"/>
                  </a:lnTo>
                  <a:lnTo>
                    <a:pt x="2683510" y="653199"/>
                  </a:lnTo>
                  <a:lnTo>
                    <a:pt x="2647797" y="687603"/>
                  </a:lnTo>
                  <a:lnTo>
                    <a:pt x="2617559" y="725525"/>
                  </a:lnTo>
                  <a:lnTo>
                    <a:pt x="2594140" y="766965"/>
                  </a:lnTo>
                  <a:lnTo>
                    <a:pt x="2578925" y="811885"/>
                  </a:lnTo>
                  <a:lnTo>
                    <a:pt x="2573629" y="857250"/>
                  </a:lnTo>
                  <a:lnTo>
                    <a:pt x="2574036" y="857250"/>
                  </a:lnTo>
                  <a:lnTo>
                    <a:pt x="2576652" y="857250"/>
                  </a:lnTo>
                  <a:lnTo>
                    <a:pt x="2579370" y="857250"/>
                  </a:lnTo>
                  <a:lnTo>
                    <a:pt x="2586571" y="857250"/>
                  </a:lnTo>
                  <a:lnTo>
                    <a:pt x="2591473" y="813879"/>
                  </a:lnTo>
                  <a:lnTo>
                    <a:pt x="2606306" y="770661"/>
                  </a:lnTo>
                  <a:lnTo>
                    <a:pt x="2629319" y="730694"/>
                  </a:lnTo>
                  <a:lnTo>
                    <a:pt x="2659100" y="694055"/>
                  </a:lnTo>
                  <a:lnTo>
                    <a:pt x="2694228" y="660793"/>
                  </a:lnTo>
                  <a:lnTo>
                    <a:pt x="2733306" y="630961"/>
                  </a:lnTo>
                  <a:lnTo>
                    <a:pt x="2774924" y="604608"/>
                  </a:lnTo>
                  <a:lnTo>
                    <a:pt x="2817672" y="581825"/>
                  </a:lnTo>
                  <a:lnTo>
                    <a:pt x="2860141" y="562635"/>
                  </a:lnTo>
                  <a:lnTo>
                    <a:pt x="2900934" y="547116"/>
                  </a:lnTo>
                  <a:lnTo>
                    <a:pt x="2943199" y="532676"/>
                  </a:lnTo>
                  <a:lnTo>
                    <a:pt x="2987560" y="519950"/>
                  </a:lnTo>
                  <a:lnTo>
                    <a:pt x="3033763" y="508977"/>
                  </a:lnTo>
                  <a:lnTo>
                    <a:pt x="3081553" y="499783"/>
                  </a:lnTo>
                  <a:lnTo>
                    <a:pt x="3130702" y="492404"/>
                  </a:lnTo>
                  <a:lnTo>
                    <a:pt x="3180943" y="486892"/>
                  </a:lnTo>
                  <a:lnTo>
                    <a:pt x="3232048" y="483260"/>
                  </a:lnTo>
                  <a:lnTo>
                    <a:pt x="3283762" y="481545"/>
                  </a:lnTo>
                  <a:lnTo>
                    <a:pt x="3335845" y="481787"/>
                  </a:lnTo>
                  <a:lnTo>
                    <a:pt x="3388042" y="484022"/>
                  </a:lnTo>
                  <a:lnTo>
                    <a:pt x="3440112" y="488289"/>
                  </a:lnTo>
                  <a:lnTo>
                    <a:pt x="3491814" y="494614"/>
                  </a:lnTo>
                  <a:lnTo>
                    <a:pt x="3542893" y="503034"/>
                  </a:lnTo>
                  <a:lnTo>
                    <a:pt x="3593122" y="513588"/>
                  </a:lnTo>
                  <a:lnTo>
                    <a:pt x="3642233" y="526300"/>
                  </a:lnTo>
                  <a:lnTo>
                    <a:pt x="3689997" y="541210"/>
                  </a:lnTo>
                  <a:lnTo>
                    <a:pt x="3736162" y="558355"/>
                  </a:lnTo>
                  <a:lnTo>
                    <a:pt x="3780485" y="577773"/>
                  </a:lnTo>
                  <a:lnTo>
                    <a:pt x="3822712" y="599490"/>
                  </a:lnTo>
                  <a:lnTo>
                    <a:pt x="3862603" y="623544"/>
                  </a:lnTo>
                  <a:lnTo>
                    <a:pt x="3899916" y="649986"/>
                  </a:lnTo>
                  <a:lnTo>
                    <a:pt x="3937419" y="682955"/>
                  </a:lnTo>
                  <a:lnTo>
                    <a:pt x="3969181" y="719328"/>
                  </a:lnTo>
                  <a:lnTo>
                    <a:pt x="3994200" y="758583"/>
                  </a:lnTo>
                  <a:lnTo>
                    <a:pt x="4011498" y="800227"/>
                  </a:lnTo>
                  <a:lnTo>
                    <a:pt x="4020096" y="843749"/>
                  </a:lnTo>
                  <a:lnTo>
                    <a:pt x="4019766" y="857250"/>
                  </a:lnTo>
                  <a:lnTo>
                    <a:pt x="4020096" y="857250"/>
                  </a:lnTo>
                  <a:lnTo>
                    <a:pt x="4032224" y="857250"/>
                  </a:lnTo>
                  <a:close/>
                </a:path>
                <a:path w="4194175" h="857250">
                  <a:moveTo>
                    <a:pt x="4194048" y="579882"/>
                  </a:moveTo>
                  <a:lnTo>
                    <a:pt x="4191241" y="532447"/>
                  </a:lnTo>
                  <a:lnTo>
                    <a:pt x="4182808" y="486638"/>
                  </a:lnTo>
                  <a:lnTo>
                    <a:pt x="4169219" y="442468"/>
                  </a:lnTo>
                  <a:lnTo>
                    <a:pt x="4150944" y="399973"/>
                  </a:lnTo>
                  <a:lnTo>
                    <a:pt x="4128439" y="359168"/>
                  </a:lnTo>
                  <a:lnTo>
                    <a:pt x="4102201" y="320078"/>
                  </a:lnTo>
                  <a:lnTo>
                    <a:pt x="4072699" y="282752"/>
                  </a:lnTo>
                  <a:lnTo>
                    <a:pt x="4040390" y="247192"/>
                  </a:lnTo>
                  <a:lnTo>
                    <a:pt x="4005770" y="213436"/>
                  </a:lnTo>
                  <a:lnTo>
                    <a:pt x="3969296" y="181508"/>
                  </a:lnTo>
                  <a:lnTo>
                    <a:pt x="3931437" y="151447"/>
                  </a:lnTo>
                  <a:lnTo>
                    <a:pt x="3892677" y="123266"/>
                  </a:lnTo>
                  <a:lnTo>
                    <a:pt x="3853484" y="96989"/>
                  </a:lnTo>
                  <a:lnTo>
                    <a:pt x="3814343" y="72656"/>
                  </a:lnTo>
                  <a:lnTo>
                    <a:pt x="3775710" y="50292"/>
                  </a:lnTo>
                  <a:lnTo>
                    <a:pt x="3731044" y="26860"/>
                  </a:lnTo>
                  <a:lnTo>
                    <a:pt x="3685832" y="4419"/>
                  </a:lnTo>
                  <a:lnTo>
                    <a:pt x="3676396" y="0"/>
                  </a:lnTo>
                  <a:lnTo>
                    <a:pt x="3648697" y="0"/>
                  </a:lnTo>
                  <a:lnTo>
                    <a:pt x="3668623" y="9220"/>
                  </a:lnTo>
                  <a:lnTo>
                    <a:pt x="3712870" y="31102"/>
                  </a:lnTo>
                  <a:lnTo>
                    <a:pt x="3756456" y="54165"/>
                  </a:lnTo>
                  <a:lnTo>
                    <a:pt x="3799332" y="78486"/>
                  </a:lnTo>
                  <a:lnTo>
                    <a:pt x="3837940" y="102108"/>
                  </a:lnTo>
                  <a:lnTo>
                    <a:pt x="3876789" y="127685"/>
                  </a:lnTo>
                  <a:lnTo>
                    <a:pt x="3915372" y="155181"/>
                  </a:lnTo>
                  <a:lnTo>
                    <a:pt x="3953218" y="184581"/>
                  </a:lnTo>
                  <a:lnTo>
                    <a:pt x="3989819" y="215887"/>
                  </a:lnTo>
                  <a:lnTo>
                    <a:pt x="4024680" y="249072"/>
                  </a:lnTo>
                  <a:lnTo>
                    <a:pt x="4057307" y="284124"/>
                  </a:lnTo>
                  <a:lnTo>
                    <a:pt x="4087215" y="321043"/>
                  </a:lnTo>
                  <a:lnTo>
                    <a:pt x="4113911" y="359791"/>
                  </a:lnTo>
                  <a:lnTo>
                    <a:pt x="4136898" y="400354"/>
                  </a:lnTo>
                  <a:lnTo>
                    <a:pt x="4155668" y="442747"/>
                  </a:lnTo>
                  <a:lnTo>
                    <a:pt x="4169753" y="486930"/>
                  </a:lnTo>
                  <a:lnTo>
                    <a:pt x="4178643" y="532904"/>
                  </a:lnTo>
                  <a:lnTo>
                    <a:pt x="4181856" y="580644"/>
                  </a:lnTo>
                  <a:lnTo>
                    <a:pt x="4178262" y="630466"/>
                  </a:lnTo>
                  <a:lnTo>
                    <a:pt x="4168470" y="678421"/>
                  </a:lnTo>
                  <a:lnTo>
                    <a:pt x="4153027" y="724484"/>
                  </a:lnTo>
                  <a:lnTo>
                    <a:pt x="4132478" y="768629"/>
                  </a:lnTo>
                  <a:lnTo>
                    <a:pt x="4107408" y="810831"/>
                  </a:lnTo>
                  <a:lnTo>
                    <a:pt x="4078351" y="851065"/>
                  </a:lnTo>
                  <a:lnTo>
                    <a:pt x="4073106" y="857250"/>
                  </a:lnTo>
                  <a:lnTo>
                    <a:pt x="4089019" y="857250"/>
                  </a:lnTo>
                  <a:lnTo>
                    <a:pt x="4122686" y="810336"/>
                  </a:lnTo>
                  <a:lnTo>
                    <a:pt x="4147032" y="768045"/>
                  </a:lnTo>
                  <a:lnTo>
                    <a:pt x="4166908" y="723823"/>
                  </a:lnTo>
                  <a:lnTo>
                    <a:pt x="4181741" y="677697"/>
                  </a:lnTo>
                  <a:lnTo>
                    <a:pt x="4190974" y="629704"/>
                  </a:lnTo>
                  <a:lnTo>
                    <a:pt x="4194048" y="5798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39041" y="3736085"/>
              <a:ext cx="550163" cy="419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72013" y="3495293"/>
              <a:ext cx="620268" cy="2827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75923" y="3115055"/>
              <a:ext cx="563118" cy="44729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5295" y="3597401"/>
              <a:ext cx="207263" cy="18059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8185" y="3594353"/>
              <a:ext cx="127674" cy="18364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93983" y="3483863"/>
              <a:ext cx="306070" cy="212090"/>
            </a:xfrm>
            <a:custGeom>
              <a:avLst/>
              <a:gdLst/>
              <a:ahLst/>
              <a:cxnLst/>
              <a:rect l="l" t="t" r="r" b="b"/>
              <a:pathLst>
                <a:path w="306070" h="212089">
                  <a:moveTo>
                    <a:pt x="305562" y="80010"/>
                  </a:moveTo>
                  <a:lnTo>
                    <a:pt x="234696" y="0"/>
                  </a:lnTo>
                  <a:lnTo>
                    <a:pt x="160782" y="57150"/>
                  </a:lnTo>
                  <a:lnTo>
                    <a:pt x="176784" y="72389"/>
                  </a:lnTo>
                  <a:lnTo>
                    <a:pt x="95250" y="114300"/>
                  </a:lnTo>
                  <a:lnTo>
                    <a:pt x="110489" y="131825"/>
                  </a:lnTo>
                  <a:lnTo>
                    <a:pt x="0" y="211836"/>
                  </a:lnTo>
                  <a:lnTo>
                    <a:pt x="150875" y="175260"/>
                  </a:lnTo>
                  <a:lnTo>
                    <a:pt x="131825" y="155448"/>
                  </a:lnTo>
                  <a:lnTo>
                    <a:pt x="227075" y="131063"/>
                  </a:lnTo>
                  <a:lnTo>
                    <a:pt x="205739" y="105156"/>
                  </a:lnTo>
                  <a:lnTo>
                    <a:pt x="305562" y="8001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63503" y="3474719"/>
              <a:ext cx="347980" cy="234950"/>
            </a:xfrm>
            <a:custGeom>
              <a:avLst/>
              <a:gdLst/>
              <a:ahLst/>
              <a:cxnLst/>
              <a:rect l="l" t="t" r="r" b="b"/>
              <a:pathLst>
                <a:path w="347979" h="234950">
                  <a:moveTo>
                    <a:pt x="137159" y="151807"/>
                  </a:moveTo>
                  <a:lnTo>
                    <a:pt x="137159" y="136397"/>
                  </a:lnTo>
                  <a:lnTo>
                    <a:pt x="136398" y="145541"/>
                  </a:lnTo>
                  <a:lnTo>
                    <a:pt x="131787" y="140248"/>
                  </a:lnTo>
                  <a:lnTo>
                    <a:pt x="0" y="234695"/>
                  </a:lnTo>
                  <a:lnTo>
                    <a:pt x="28955" y="227741"/>
                  </a:lnTo>
                  <a:lnTo>
                    <a:pt x="28955" y="214883"/>
                  </a:lnTo>
                  <a:lnTo>
                    <a:pt x="59839" y="207397"/>
                  </a:lnTo>
                  <a:lnTo>
                    <a:pt x="137159" y="151807"/>
                  </a:lnTo>
                  <a:close/>
                </a:path>
                <a:path w="347979" h="234950">
                  <a:moveTo>
                    <a:pt x="59839" y="207397"/>
                  </a:moveTo>
                  <a:lnTo>
                    <a:pt x="28955" y="214883"/>
                  </a:lnTo>
                  <a:lnTo>
                    <a:pt x="33527" y="226313"/>
                  </a:lnTo>
                  <a:lnTo>
                    <a:pt x="59839" y="207397"/>
                  </a:lnTo>
                  <a:close/>
                </a:path>
                <a:path w="347979" h="234950">
                  <a:moveTo>
                    <a:pt x="179831" y="191508"/>
                  </a:moveTo>
                  <a:lnTo>
                    <a:pt x="179831" y="178307"/>
                  </a:lnTo>
                  <a:lnTo>
                    <a:pt x="176783" y="188975"/>
                  </a:lnTo>
                  <a:lnTo>
                    <a:pt x="169153" y="180896"/>
                  </a:lnTo>
                  <a:lnTo>
                    <a:pt x="59839" y="207397"/>
                  </a:lnTo>
                  <a:lnTo>
                    <a:pt x="33527" y="226313"/>
                  </a:lnTo>
                  <a:lnTo>
                    <a:pt x="28955" y="214883"/>
                  </a:lnTo>
                  <a:lnTo>
                    <a:pt x="28955" y="227741"/>
                  </a:lnTo>
                  <a:lnTo>
                    <a:pt x="179831" y="191508"/>
                  </a:lnTo>
                  <a:close/>
                </a:path>
                <a:path w="347979" h="234950">
                  <a:moveTo>
                    <a:pt x="204215" y="90209"/>
                  </a:moveTo>
                  <a:lnTo>
                    <a:pt x="204215" y="76200"/>
                  </a:lnTo>
                  <a:lnTo>
                    <a:pt x="202691" y="86105"/>
                  </a:lnTo>
                  <a:lnTo>
                    <a:pt x="196682" y="80096"/>
                  </a:lnTo>
                  <a:lnTo>
                    <a:pt x="115824" y="121919"/>
                  </a:lnTo>
                  <a:lnTo>
                    <a:pt x="128777" y="136793"/>
                  </a:lnTo>
                  <a:lnTo>
                    <a:pt x="128777" y="129539"/>
                  </a:lnTo>
                  <a:lnTo>
                    <a:pt x="131063" y="119633"/>
                  </a:lnTo>
                  <a:lnTo>
                    <a:pt x="136126" y="125708"/>
                  </a:lnTo>
                  <a:lnTo>
                    <a:pt x="204215" y="90209"/>
                  </a:lnTo>
                  <a:close/>
                </a:path>
                <a:path w="347979" h="234950">
                  <a:moveTo>
                    <a:pt x="136126" y="125708"/>
                  </a:moveTo>
                  <a:lnTo>
                    <a:pt x="131063" y="119633"/>
                  </a:lnTo>
                  <a:lnTo>
                    <a:pt x="128777" y="129539"/>
                  </a:lnTo>
                  <a:lnTo>
                    <a:pt x="136126" y="125708"/>
                  </a:lnTo>
                  <a:close/>
                </a:path>
                <a:path w="347979" h="234950">
                  <a:moveTo>
                    <a:pt x="150113" y="142493"/>
                  </a:moveTo>
                  <a:lnTo>
                    <a:pt x="136126" y="125708"/>
                  </a:lnTo>
                  <a:lnTo>
                    <a:pt x="128777" y="129539"/>
                  </a:lnTo>
                  <a:lnTo>
                    <a:pt x="128777" y="136793"/>
                  </a:lnTo>
                  <a:lnTo>
                    <a:pt x="131787" y="140248"/>
                  </a:lnTo>
                  <a:lnTo>
                    <a:pt x="137159" y="136397"/>
                  </a:lnTo>
                  <a:lnTo>
                    <a:pt x="137159" y="151807"/>
                  </a:lnTo>
                  <a:lnTo>
                    <a:pt x="150113" y="142493"/>
                  </a:lnTo>
                  <a:close/>
                </a:path>
                <a:path w="347979" h="234950">
                  <a:moveTo>
                    <a:pt x="137159" y="136397"/>
                  </a:moveTo>
                  <a:lnTo>
                    <a:pt x="131787" y="140248"/>
                  </a:lnTo>
                  <a:lnTo>
                    <a:pt x="136398" y="145541"/>
                  </a:lnTo>
                  <a:lnTo>
                    <a:pt x="137159" y="136397"/>
                  </a:lnTo>
                  <a:close/>
                </a:path>
                <a:path w="347979" h="234950">
                  <a:moveTo>
                    <a:pt x="256031" y="147155"/>
                  </a:moveTo>
                  <a:lnTo>
                    <a:pt x="256031" y="134112"/>
                  </a:lnTo>
                  <a:lnTo>
                    <a:pt x="252221" y="144779"/>
                  </a:lnTo>
                  <a:lnTo>
                    <a:pt x="245819" y="136776"/>
                  </a:lnTo>
                  <a:lnTo>
                    <a:pt x="150875" y="161543"/>
                  </a:lnTo>
                  <a:lnTo>
                    <a:pt x="164591" y="176066"/>
                  </a:lnTo>
                  <a:lnTo>
                    <a:pt x="164591" y="170687"/>
                  </a:lnTo>
                  <a:lnTo>
                    <a:pt x="166877" y="160019"/>
                  </a:lnTo>
                  <a:lnTo>
                    <a:pt x="174546" y="168126"/>
                  </a:lnTo>
                  <a:lnTo>
                    <a:pt x="256031" y="147155"/>
                  </a:lnTo>
                  <a:close/>
                </a:path>
                <a:path w="347979" h="234950">
                  <a:moveTo>
                    <a:pt x="174546" y="168126"/>
                  </a:moveTo>
                  <a:lnTo>
                    <a:pt x="166877" y="160019"/>
                  </a:lnTo>
                  <a:lnTo>
                    <a:pt x="164591" y="170687"/>
                  </a:lnTo>
                  <a:lnTo>
                    <a:pt x="174546" y="168126"/>
                  </a:lnTo>
                  <a:close/>
                </a:path>
                <a:path w="347979" h="234950">
                  <a:moveTo>
                    <a:pt x="193548" y="188213"/>
                  </a:moveTo>
                  <a:lnTo>
                    <a:pt x="174546" y="168126"/>
                  </a:lnTo>
                  <a:lnTo>
                    <a:pt x="164591" y="170687"/>
                  </a:lnTo>
                  <a:lnTo>
                    <a:pt x="164591" y="176066"/>
                  </a:lnTo>
                  <a:lnTo>
                    <a:pt x="169153" y="180896"/>
                  </a:lnTo>
                  <a:lnTo>
                    <a:pt x="179831" y="178307"/>
                  </a:lnTo>
                  <a:lnTo>
                    <a:pt x="179831" y="191508"/>
                  </a:lnTo>
                  <a:lnTo>
                    <a:pt x="193548" y="188213"/>
                  </a:lnTo>
                  <a:close/>
                </a:path>
                <a:path w="347979" h="234950">
                  <a:moveTo>
                    <a:pt x="179831" y="178307"/>
                  </a:moveTo>
                  <a:lnTo>
                    <a:pt x="169153" y="180896"/>
                  </a:lnTo>
                  <a:lnTo>
                    <a:pt x="176783" y="188975"/>
                  </a:lnTo>
                  <a:lnTo>
                    <a:pt x="179831" y="178307"/>
                  </a:lnTo>
                  <a:close/>
                </a:path>
                <a:path w="347979" h="234950">
                  <a:moveTo>
                    <a:pt x="347471" y="92963"/>
                  </a:moveTo>
                  <a:lnTo>
                    <a:pt x="265938" y="0"/>
                  </a:lnTo>
                  <a:lnTo>
                    <a:pt x="182117" y="65531"/>
                  </a:lnTo>
                  <a:lnTo>
                    <a:pt x="195833" y="79247"/>
                  </a:lnTo>
                  <a:lnTo>
                    <a:pt x="195833" y="61721"/>
                  </a:lnTo>
                  <a:lnTo>
                    <a:pt x="201068" y="66776"/>
                  </a:lnTo>
                  <a:lnTo>
                    <a:pt x="259841" y="20859"/>
                  </a:lnTo>
                  <a:lnTo>
                    <a:pt x="259841" y="12953"/>
                  </a:lnTo>
                  <a:lnTo>
                    <a:pt x="268986" y="13715"/>
                  </a:lnTo>
                  <a:lnTo>
                    <a:pt x="268986" y="23265"/>
                  </a:lnTo>
                  <a:lnTo>
                    <a:pt x="324279" y="85617"/>
                  </a:lnTo>
                  <a:lnTo>
                    <a:pt x="334517" y="83057"/>
                  </a:lnTo>
                  <a:lnTo>
                    <a:pt x="334517" y="96202"/>
                  </a:lnTo>
                  <a:lnTo>
                    <a:pt x="347471" y="92963"/>
                  </a:lnTo>
                  <a:close/>
                </a:path>
                <a:path w="347979" h="234950">
                  <a:moveTo>
                    <a:pt x="201068" y="66776"/>
                  </a:moveTo>
                  <a:lnTo>
                    <a:pt x="195833" y="61721"/>
                  </a:lnTo>
                  <a:lnTo>
                    <a:pt x="195833" y="70865"/>
                  </a:lnTo>
                  <a:lnTo>
                    <a:pt x="201068" y="66776"/>
                  </a:lnTo>
                  <a:close/>
                </a:path>
                <a:path w="347979" h="234950">
                  <a:moveTo>
                    <a:pt x="217931" y="83057"/>
                  </a:moveTo>
                  <a:lnTo>
                    <a:pt x="201068" y="66776"/>
                  </a:lnTo>
                  <a:lnTo>
                    <a:pt x="195833" y="70865"/>
                  </a:lnTo>
                  <a:lnTo>
                    <a:pt x="195833" y="79247"/>
                  </a:lnTo>
                  <a:lnTo>
                    <a:pt x="196682" y="80096"/>
                  </a:lnTo>
                  <a:lnTo>
                    <a:pt x="204215" y="76200"/>
                  </a:lnTo>
                  <a:lnTo>
                    <a:pt x="204215" y="90209"/>
                  </a:lnTo>
                  <a:lnTo>
                    <a:pt x="217931" y="83057"/>
                  </a:lnTo>
                  <a:close/>
                </a:path>
                <a:path w="347979" h="234950">
                  <a:moveTo>
                    <a:pt x="204215" y="76200"/>
                  </a:moveTo>
                  <a:lnTo>
                    <a:pt x="196682" y="80096"/>
                  </a:lnTo>
                  <a:lnTo>
                    <a:pt x="202691" y="86105"/>
                  </a:lnTo>
                  <a:lnTo>
                    <a:pt x="204215" y="76200"/>
                  </a:lnTo>
                  <a:close/>
                </a:path>
                <a:path w="347979" h="234950">
                  <a:moveTo>
                    <a:pt x="334517" y="96202"/>
                  </a:moveTo>
                  <a:lnTo>
                    <a:pt x="334517" y="83057"/>
                  </a:lnTo>
                  <a:lnTo>
                    <a:pt x="331469" y="93725"/>
                  </a:lnTo>
                  <a:lnTo>
                    <a:pt x="324279" y="85617"/>
                  </a:lnTo>
                  <a:lnTo>
                    <a:pt x="224789" y="110489"/>
                  </a:lnTo>
                  <a:lnTo>
                    <a:pt x="237743" y="126682"/>
                  </a:lnTo>
                  <a:lnTo>
                    <a:pt x="237743" y="120395"/>
                  </a:lnTo>
                  <a:lnTo>
                    <a:pt x="241553" y="110489"/>
                  </a:lnTo>
                  <a:lnTo>
                    <a:pt x="247494" y="117958"/>
                  </a:lnTo>
                  <a:lnTo>
                    <a:pt x="334517" y="96202"/>
                  </a:lnTo>
                  <a:close/>
                </a:path>
                <a:path w="347979" h="234950">
                  <a:moveTo>
                    <a:pt x="247494" y="117958"/>
                  </a:moveTo>
                  <a:lnTo>
                    <a:pt x="241553" y="110489"/>
                  </a:lnTo>
                  <a:lnTo>
                    <a:pt x="237743" y="120395"/>
                  </a:lnTo>
                  <a:lnTo>
                    <a:pt x="247494" y="117958"/>
                  </a:lnTo>
                  <a:close/>
                </a:path>
                <a:path w="347979" h="234950">
                  <a:moveTo>
                    <a:pt x="268224" y="144017"/>
                  </a:moveTo>
                  <a:lnTo>
                    <a:pt x="247494" y="117958"/>
                  </a:lnTo>
                  <a:lnTo>
                    <a:pt x="237743" y="120395"/>
                  </a:lnTo>
                  <a:lnTo>
                    <a:pt x="237743" y="126682"/>
                  </a:lnTo>
                  <a:lnTo>
                    <a:pt x="245819" y="136776"/>
                  </a:lnTo>
                  <a:lnTo>
                    <a:pt x="256031" y="134112"/>
                  </a:lnTo>
                  <a:lnTo>
                    <a:pt x="256031" y="147155"/>
                  </a:lnTo>
                  <a:lnTo>
                    <a:pt x="268224" y="144017"/>
                  </a:lnTo>
                  <a:close/>
                </a:path>
                <a:path w="347979" h="234950">
                  <a:moveTo>
                    <a:pt x="256031" y="134112"/>
                  </a:moveTo>
                  <a:lnTo>
                    <a:pt x="245819" y="136776"/>
                  </a:lnTo>
                  <a:lnTo>
                    <a:pt x="252221" y="144779"/>
                  </a:lnTo>
                  <a:lnTo>
                    <a:pt x="256031" y="134112"/>
                  </a:lnTo>
                  <a:close/>
                </a:path>
                <a:path w="347979" h="234950">
                  <a:moveTo>
                    <a:pt x="268986" y="13715"/>
                  </a:moveTo>
                  <a:lnTo>
                    <a:pt x="259841" y="12953"/>
                  </a:lnTo>
                  <a:lnTo>
                    <a:pt x="263983" y="17624"/>
                  </a:lnTo>
                  <a:lnTo>
                    <a:pt x="268986" y="13715"/>
                  </a:lnTo>
                  <a:close/>
                </a:path>
                <a:path w="347979" h="234950">
                  <a:moveTo>
                    <a:pt x="263983" y="17624"/>
                  </a:moveTo>
                  <a:lnTo>
                    <a:pt x="259841" y="12953"/>
                  </a:lnTo>
                  <a:lnTo>
                    <a:pt x="259841" y="20859"/>
                  </a:lnTo>
                  <a:lnTo>
                    <a:pt x="263983" y="17624"/>
                  </a:lnTo>
                  <a:close/>
                </a:path>
                <a:path w="347979" h="234950">
                  <a:moveTo>
                    <a:pt x="268986" y="23265"/>
                  </a:moveTo>
                  <a:lnTo>
                    <a:pt x="268986" y="13715"/>
                  </a:lnTo>
                  <a:lnTo>
                    <a:pt x="263983" y="17624"/>
                  </a:lnTo>
                  <a:lnTo>
                    <a:pt x="268986" y="23265"/>
                  </a:lnTo>
                  <a:close/>
                </a:path>
                <a:path w="347979" h="234950">
                  <a:moveTo>
                    <a:pt x="334517" y="83057"/>
                  </a:moveTo>
                  <a:lnTo>
                    <a:pt x="324279" y="85617"/>
                  </a:lnTo>
                  <a:lnTo>
                    <a:pt x="331469" y="93725"/>
                  </a:lnTo>
                  <a:lnTo>
                    <a:pt x="334517" y="83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23103" y="3231133"/>
            <a:ext cx="3117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35" dirty="0">
                <a:latin typeface="Trebuchet MS"/>
                <a:cs typeface="Trebuchet MS"/>
              </a:rPr>
              <a:t>BSS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51723" y="3115055"/>
            <a:ext cx="1917700" cy="662940"/>
            <a:chOff x="1751723" y="3115055"/>
            <a:chExt cx="1917700" cy="662940"/>
          </a:xfrm>
        </p:grpSpPr>
        <p:sp>
          <p:nvSpPr>
            <p:cNvPr id="17" name="object 17"/>
            <p:cNvSpPr/>
            <p:nvPr/>
          </p:nvSpPr>
          <p:spPr>
            <a:xfrm>
              <a:off x="1986777" y="3389569"/>
              <a:ext cx="1458595" cy="388620"/>
            </a:xfrm>
            <a:custGeom>
              <a:avLst/>
              <a:gdLst/>
              <a:ahLst/>
              <a:cxnLst/>
              <a:rect l="l" t="t" r="r" b="b"/>
              <a:pathLst>
                <a:path w="1458595" h="388620">
                  <a:moveTo>
                    <a:pt x="1458470" y="388426"/>
                  </a:moveTo>
                  <a:lnTo>
                    <a:pt x="1448814" y="323899"/>
                  </a:lnTo>
                  <a:lnTo>
                    <a:pt x="1430666" y="281773"/>
                  </a:lnTo>
                  <a:lnTo>
                    <a:pt x="1404865" y="242060"/>
                  </a:lnTo>
                  <a:lnTo>
                    <a:pt x="1372311" y="205105"/>
                  </a:lnTo>
                  <a:lnTo>
                    <a:pt x="1333904" y="171256"/>
                  </a:lnTo>
                  <a:lnTo>
                    <a:pt x="1297740" y="145470"/>
                  </a:lnTo>
                  <a:lnTo>
                    <a:pt x="1259246" y="121910"/>
                  </a:lnTo>
                  <a:lnTo>
                    <a:pt x="1218632" y="100542"/>
                  </a:lnTo>
                  <a:lnTo>
                    <a:pt x="1176106" y="81333"/>
                  </a:lnTo>
                  <a:lnTo>
                    <a:pt x="1131879" y="64248"/>
                  </a:lnTo>
                  <a:lnTo>
                    <a:pt x="1086160" y="49254"/>
                  </a:lnTo>
                  <a:lnTo>
                    <a:pt x="1039158" y="36317"/>
                  </a:lnTo>
                  <a:lnTo>
                    <a:pt x="991084" y="25404"/>
                  </a:lnTo>
                  <a:lnTo>
                    <a:pt x="942146" y="16480"/>
                  </a:lnTo>
                  <a:lnTo>
                    <a:pt x="892555" y="9511"/>
                  </a:lnTo>
                  <a:lnTo>
                    <a:pt x="842519" y="4464"/>
                  </a:lnTo>
                  <a:lnTo>
                    <a:pt x="792248" y="1305"/>
                  </a:lnTo>
                  <a:lnTo>
                    <a:pt x="741953" y="0"/>
                  </a:lnTo>
                  <a:lnTo>
                    <a:pt x="691841" y="514"/>
                  </a:lnTo>
                  <a:lnTo>
                    <a:pt x="642124" y="2816"/>
                  </a:lnTo>
                  <a:lnTo>
                    <a:pt x="593010" y="6870"/>
                  </a:lnTo>
                  <a:lnTo>
                    <a:pt x="544708" y="12642"/>
                  </a:lnTo>
                  <a:lnTo>
                    <a:pt x="497430" y="20099"/>
                  </a:lnTo>
                  <a:lnTo>
                    <a:pt x="451383" y="29208"/>
                  </a:lnTo>
                  <a:lnTo>
                    <a:pt x="406778" y="39933"/>
                  </a:lnTo>
                  <a:lnTo>
                    <a:pt x="363824" y="52242"/>
                  </a:lnTo>
                  <a:lnTo>
                    <a:pt x="322730" y="66100"/>
                  </a:lnTo>
                  <a:lnTo>
                    <a:pt x="280084" y="82539"/>
                  </a:lnTo>
                  <a:lnTo>
                    <a:pt x="236115" y="102592"/>
                  </a:lnTo>
                  <a:lnTo>
                    <a:pt x="192180" y="126246"/>
                  </a:lnTo>
                  <a:lnTo>
                    <a:pt x="149639" y="153487"/>
                  </a:lnTo>
                  <a:lnTo>
                    <a:pt x="109846" y="184301"/>
                  </a:lnTo>
                  <a:lnTo>
                    <a:pt x="74162" y="218673"/>
                  </a:lnTo>
                  <a:lnTo>
                    <a:pt x="43941" y="256591"/>
                  </a:lnTo>
                  <a:lnTo>
                    <a:pt x="20543" y="298040"/>
                  </a:lnTo>
                  <a:lnTo>
                    <a:pt x="5324" y="343005"/>
                  </a:lnTo>
                  <a:lnTo>
                    <a:pt x="0" y="388426"/>
                  </a:lnTo>
                  <a:lnTo>
                    <a:pt x="12932" y="388426"/>
                  </a:lnTo>
                  <a:lnTo>
                    <a:pt x="17701" y="345172"/>
                  </a:lnTo>
                  <a:lnTo>
                    <a:pt x="32481" y="301992"/>
                  </a:lnTo>
                  <a:lnTo>
                    <a:pt x="55506" y="262014"/>
                  </a:lnTo>
                  <a:lnTo>
                    <a:pt x="85343" y="225313"/>
                  </a:lnTo>
                  <a:lnTo>
                    <a:pt x="120562" y="191968"/>
                  </a:lnTo>
                  <a:lnTo>
                    <a:pt x="159732" y="162057"/>
                  </a:lnTo>
                  <a:lnTo>
                    <a:pt x="201422" y="135656"/>
                  </a:lnTo>
                  <a:lnTo>
                    <a:pt x="244202" y="112843"/>
                  </a:lnTo>
                  <a:lnTo>
                    <a:pt x="286638" y="93696"/>
                  </a:lnTo>
                  <a:lnTo>
                    <a:pt x="327302" y="78292"/>
                  </a:lnTo>
                  <a:lnTo>
                    <a:pt x="369578" y="63854"/>
                  </a:lnTo>
                  <a:lnTo>
                    <a:pt x="413939" y="51130"/>
                  </a:lnTo>
                  <a:lnTo>
                    <a:pt x="460139" y="40155"/>
                  </a:lnTo>
                  <a:lnTo>
                    <a:pt x="507934" y="30964"/>
                  </a:lnTo>
                  <a:lnTo>
                    <a:pt x="557076" y="23590"/>
                  </a:lnTo>
                  <a:lnTo>
                    <a:pt x="607321" y="18070"/>
                  </a:lnTo>
                  <a:lnTo>
                    <a:pt x="658422" y="14437"/>
                  </a:lnTo>
                  <a:lnTo>
                    <a:pt x="710135" y="12726"/>
                  </a:lnTo>
                  <a:lnTo>
                    <a:pt x="762214" y="12971"/>
                  </a:lnTo>
                  <a:lnTo>
                    <a:pt x="814413" y="15208"/>
                  </a:lnTo>
                  <a:lnTo>
                    <a:pt x="866486" y="19472"/>
                  </a:lnTo>
                  <a:lnTo>
                    <a:pt x="918189" y="25795"/>
                  </a:lnTo>
                  <a:lnTo>
                    <a:pt x="969274" y="34215"/>
                  </a:lnTo>
                  <a:lnTo>
                    <a:pt x="1019497" y="44764"/>
                  </a:lnTo>
                  <a:lnTo>
                    <a:pt x="1068613" y="57478"/>
                  </a:lnTo>
                  <a:lnTo>
                    <a:pt x="1116374" y="72392"/>
                  </a:lnTo>
                  <a:lnTo>
                    <a:pt x="1162537" y="89539"/>
                  </a:lnTo>
                  <a:lnTo>
                    <a:pt x="1206855" y="108955"/>
                  </a:lnTo>
                  <a:lnTo>
                    <a:pt x="1249083" y="130675"/>
                  </a:lnTo>
                  <a:lnTo>
                    <a:pt x="1288974" y="154732"/>
                  </a:lnTo>
                  <a:lnTo>
                    <a:pt x="1326284" y="181162"/>
                  </a:lnTo>
                  <a:lnTo>
                    <a:pt x="1363738" y="214078"/>
                  </a:lnTo>
                  <a:lnTo>
                    <a:pt x="1395467" y="250441"/>
                  </a:lnTo>
                  <a:lnTo>
                    <a:pt x="1420479" y="289732"/>
                  </a:lnTo>
                  <a:lnTo>
                    <a:pt x="1437784" y="331429"/>
                  </a:lnTo>
                  <a:lnTo>
                    <a:pt x="1446390" y="375012"/>
                  </a:lnTo>
                  <a:lnTo>
                    <a:pt x="1446390" y="388426"/>
                  </a:lnTo>
                  <a:lnTo>
                    <a:pt x="1458470" y="388426"/>
                  </a:lnTo>
                  <a:close/>
                </a:path>
                <a:path w="1458595" h="388620">
                  <a:moveTo>
                    <a:pt x="1446390" y="388426"/>
                  </a:moveTo>
                  <a:lnTo>
                    <a:pt x="1446390" y="375012"/>
                  </a:lnTo>
                  <a:lnTo>
                    <a:pt x="1446067" y="388426"/>
                  </a:lnTo>
                  <a:lnTo>
                    <a:pt x="1446390" y="388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18751" y="3736086"/>
              <a:ext cx="550163" cy="419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51723" y="3495293"/>
              <a:ext cx="620268" cy="2827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55633" y="3115055"/>
              <a:ext cx="563118" cy="44729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65005" y="3597401"/>
              <a:ext cx="207263" cy="18059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77895" y="3594354"/>
              <a:ext cx="127674" cy="18364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72931" y="3483863"/>
              <a:ext cx="306705" cy="212090"/>
            </a:xfrm>
            <a:custGeom>
              <a:avLst/>
              <a:gdLst/>
              <a:ahLst/>
              <a:cxnLst/>
              <a:rect l="l" t="t" r="r" b="b"/>
              <a:pathLst>
                <a:path w="306705" h="212089">
                  <a:moveTo>
                    <a:pt x="306324" y="80010"/>
                  </a:moveTo>
                  <a:lnTo>
                    <a:pt x="235457" y="0"/>
                  </a:lnTo>
                  <a:lnTo>
                    <a:pt x="161544" y="57150"/>
                  </a:lnTo>
                  <a:lnTo>
                    <a:pt x="177545" y="72389"/>
                  </a:lnTo>
                  <a:lnTo>
                    <a:pt x="96012" y="114300"/>
                  </a:lnTo>
                  <a:lnTo>
                    <a:pt x="111251" y="131825"/>
                  </a:lnTo>
                  <a:lnTo>
                    <a:pt x="0" y="211836"/>
                  </a:lnTo>
                  <a:lnTo>
                    <a:pt x="151637" y="175260"/>
                  </a:lnTo>
                  <a:lnTo>
                    <a:pt x="132587" y="155448"/>
                  </a:lnTo>
                  <a:lnTo>
                    <a:pt x="227837" y="131063"/>
                  </a:lnTo>
                  <a:lnTo>
                    <a:pt x="206501" y="105156"/>
                  </a:lnTo>
                  <a:lnTo>
                    <a:pt x="306324" y="8001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43213" y="3474720"/>
              <a:ext cx="347980" cy="234950"/>
            </a:xfrm>
            <a:custGeom>
              <a:avLst/>
              <a:gdLst/>
              <a:ahLst/>
              <a:cxnLst/>
              <a:rect l="l" t="t" r="r" b="b"/>
              <a:pathLst>
                <a:path w="347980" h="234950">
                  <a:moveTo>
                    <a:pt x="137160" y="151807"/>
                  </a:moveTo>
                  <a:lnTo>
                    <a:pt x="137160" y="136397"/>
                  </a:lnTo>
                  <a:lnTo>
                    <a:pt x="136398" y="145541"/>
                  </a:lnTo>
                  <a:lnTo>
                    <a:pt x="131787" y="140248"/>
                  </a:lnTo>
                  <a:lnTo>
                    <a:pt x="0" y="234695"/>
                  </a:lnTo>
                  <a:lnTo>
                    <a:pt x="28956" y="227741"/>
                  </a:lnTo>
                  <a:lnTo>
                    <a:pt x="28956" y="214883"/>
                  </a:lnTo>
                  <a:lnTo>
                    <a:pt x="59839" y="207397"/>
                  </a:lnTo>
                  <a:lnTo>
                    <a:pt x="137160" y="151807"/>
                  </a:lnTo>
                  <a:close/>
                </a:path>
                <a:path w="347980" h="234950">
                  <a:moveTo>
                    <a:pt x="59839" y="207397"/>
                  </a:moveTo>
                  <a:lnTo>
                    <a:pt x="28956" y="214883"/>
                  </a:lnTo>
                  <a:lnTo>
                    <a:pt x="33527" y="226313"/>
                  </a:lnTo>
                  <a:lnTo>
                    <a:pt x="59839" y="207397"/>
                  </a:lnTo>
                  <a:close/>
                </a:path>
                <a:path w="347980" h="234950">
                  <a:moveTo>
                    <a:pt x="179831" y="191508"/>
                  </a:moveTo>
                  <a:lnTo>
                    <a:pt x="179831" y="178307"/>
                  </a:lnTo>
                  <a:lnTo>
                    <a:pt x="176783" y="188975"/>
                  </a:lnTo>
                  <a:lnTo>
                    <a:pt x="169153" y="180896"/>
                  </a:lnTo>
                  <a:lnTo>
                    <a:pt x="59839" y="207397"/>
                  </a:lnTo>
                  <a:lnTo>
                    <a:pt x="33527" y="226313"/>
                  </a:lnTo>
                  <a:lnTo>
                    <a:pt x="28956" y="214883"/>
                  </a:lnTo>
                  <a:lnTo>
                    <a:pt x="28956" y="227741"/>
                  </a:lnTo>
                  <a:lnTo>
                    <a:pt x="179831" y="191508"/>
                  </a:lnTo>
                  <a:close/>
                </a:path>
                <a:path w="347980" h="234950">
                  <a:moveTo>
                    <a:pt x="204216" y="90209"/>
                  </a:moveTo>
                  <a:lnTo>
                    <a:pt x="204216" y="76200"/>
                  </a:lnTo>
                  <a:lnTo>
                    <a:pt x="202692" y="86105"/>
                  </a:lnTo>
                  <a:lnTo>
                    <a:pt x="196682" y="80096"/>
                  </a:lnTo>
                  <a:lnTo>
                    <a:pt x="115824" y="121919"/>
                  </a:lnTo>
                  <a:lnTo>
                    <a:pt x="128777" y="136793"/>
                  </a:lnTo>
                  <a:lnTo>
                    <a:pt x="128777" y="129539"/>
                  </a:lnTo>
                  <a:lnTo>
                    <a:pt x="131063" y="119633"/>
                  </a:lnTo>
                  <a:lnTo>
                    <a:pt x="136126" y="125708"/>
                  </a:lnTo>
                  <a:lnTo>
                    <a:pt x="204216" y="90209"/>
                  </a:lnTo>
                  <a:close/>
                </a:path>
                <a:path w="347980" h="234950">
                  <a:moveTo>
                    <a:pt x="136126" y="125708"/>
                  </a:moveTo>
                  <a:lnTo>
                    <a:pt x="131063" y="119633"/>
                  </a:lnTo>
                  <a:lnTo>
                    <a:pt x="128777" y="129539"/>
                  </a:lnTo>
                  <a:lnTo>
                    <a:pt x="136126" y="125708"/>
                  </a:lnTo>
                  <a:close/>
                </a:path>
                <a:path w="347980" h="234950">
                  <a:moveTo>
                    <a:pt x="150113" y="142493"/>
                  </a:moveTo>
                  <a:lnTo>
                    <a:pt x="136126" y="125708"/>
                  </a:lnTo>
                  <a:lnTo>
                    <a:pt x="128777" y="129539"/>
                  </a:lnTo>
                  <a:lnTo>
                    <a:pt x="128777" y="136793"/>
                  </a:lnTo>
                  <a:lnTo>
                    <a:pt x="131787" y="140248"/>
                  </a:lnTo>
                  <a:lnTo>
                    <a:pt x="137160" y="136397"/>
                  </a:lnTo>
                  <a:lnTo>
                    <a:pt x="137160" y="151807"/>
                  </a:lnTo>
                  <a:lnTo>
                    <a:pt x="150113" y="142493"/>
                  </a:lnTo>
                  <a:close/>
                </a:path>
                <a:path w="347980" h="234950">
                  <a:moveTo>
                    <a:pt x="137160" y="136397"/>
                  </a:moveTo>
                  <a:lnTo>
                    <a:pt x="131787" y="140248"/>
                  </a:lnTo>
                  <a:lnTo>
                    <a:pt x="136398" y="145541"/>
                  </a:lnTo>
                  <a:lnTo>
                    <a:pt x="137160" y="136397"/>
                  </a:lnTo>
                  <a:close/>
                </a:path>
                <a:path w="347980" h="234950">
                  <a:moveTo>
                    <a:pt x="256031" y="147132"/>
                  </a:moveTo>
                  <a:lnTo>
                    <a:pt x="256031" y="134112"/>
                  </a:lnTo>
                  <a:lnTo>
                    <a:pt x="252222" y="144779"/>
                  </a:lnTo>
                  <a:lnTo>
                    <a:pt x="245819" y="136776"/>
                  </a:lnTo>
                  <a:lnTo>
                    <a:pt x="150875" y="161543"/>
                  </a:lnTo>
                  <a:lnTo>
                    <a:pt x="163830" y="175260"/>
                  </a:lnTo>
                  <a:lnTo>
                    <a:pt x="163830" y="170687"/>
                  </a:lnTo>
                  <a:lnTo>
                    <a:pt x="166877" y="160019"/>
                  </a:lnTo>
                  <a:lnTo>
                    <a:pt x="174412" y="167984"/>
                  </a:lnTo>
                  <a:lnTo>
                    <a:pt x="256031" y="147132"/>
                  </a:lnTo>
                  <a:close/>
                </a:path>
                <a:path w="347980" h="234950">
                  <a:moveTo>
                    <a:pt x="174412" y="167984"/>
                  </a:moveTo>
                  <a:lnTo>
                    <a:pt x="166877" y="160019"/>
                  </a:lnTo>
                  <a:lnTo>
                    <a:pt x="163830" y="170687"/>
                  </a:lnTo>
                  <a:lnTo>
                    <a:pt x="174412" y="167984"/>
                  </a:lnTo>
                  <a:close/>
                </a:path>
                <a:path w="347980" h="234950">
                  <a:moveTo>
                    <a:pt x="193548" y="188213"/>
                  </a:moveTo>
                  <a:lnTo>
                    <a:pt x="174412" y="167984"/>
                  </a:lnTo>
                  <a:lnTo>
                    <a:pt x="163830" y="170687"/>
                  </a:lnTo>
                  <a:lnTo>
                    <a:pt x="163830" y="175260"/>
                  </a:lnTo>
                  <a:lnTo>
                    <a:pt x="169153" y="180896"/>
                  </a:lnTo>
                  <a:lnTo>
                    <a:pt x="179831" y="178307"/>
                  </a:lnTo>
                  <a:lnTo>
                    <a:pt x="179831" y="191508"/>
                  </a:lnTo>
                  <a:lnTo>
                    <a:pt x="193548" y="188213"/>
                  </a:lnTo>
                  <a:close/>
                </a:path>
                <a:path w="347980" h="234950">
                  <a:moveTo>
                    <a:pt x="179831" y="178307"/>
                  </a:moveTo>
                  <a:lnTo>
                    <a:pt x="169153" y="180896"/>
                  </a:lnTo>
                  <a:lnTo>
                    <a:pt x="176783" y="188975"/>
                  </a:lnTo>
                  <a:lnTo>
                    <a:pt x="179831" y="178307"/>
                  </a:lnTo>
                  <a:close/>
                </a:path>
                <a:path w="347980" h="234950">
                  <a:moveTo>
                    <a:pt x="347472" y="92963"/>
                  </a:moveTo>
                  <a:lnTo>
                    <a:pt x="265938" y="0"/>
                  </a:lnTo>
                  <a:lnTo>
                    <a:pt x="182118" y="65531"/>
                  </a:lnTo>
                  <a:lnTo>
                    <a:pt x="195072" y="78486"/>
                  </a:lnTo>
                  <a:lnTo>
                    <a:pt x="195072" y="70865"/>
                  </a:lnTo>
                  <a:lnTo>
                    <a:pt x="195833" y="61721"/>
                  </a:lnTo>
                  <a:lnTo>
                    <a:pt x="200754" y="66472"/>
                  </a:lnTo>
                  <a:lnTo>
                    <a:pt x="259842" y="20786"/>
                  </a:lnTo>
                  <a:lnTo>
                    <a:pt x="259842" y="12953"/>
                  </a:lnTo>
                  <a:lnTo>
                    <a:pt x="268986" y="13715"/>
                  </a:lnTo>
                  <a:lnTo>
                    <a:pt x="268986" y="23265"/>
                  </a:lnTo>
                  <a:lnTo>
                    <a:pt x="324279" y="85617"/>
                  </a:lnTo>
                  <a:lnTo>
                    <a:pt x="334518" y="83057"/>
                  </a:lnTo>
                  <a:lnTo>
                    <a:pt x="334518" y="96202"/>
                  </a:lnTo>
                  <a:lnTo>
                    <a:pt x="347472" y="92963"/>
                  </a:lnTo>
                  <a:close/>
                </a:path>
                <a:path w="347980" h="234950">
                  <a:moveTo>
                    <a:pt x="200754" y="66472"/>
                  </a:moveTo>
                  <a:lnTo>
                    <a:pt x="195833" y="61721"/>
                  </a:lnTo>
                  <a:lnTo>
                    <a:pt x="195072" y="70865"/>
                  </a:lnTo>
                  <a:lnTo>
                    <a:pt x="200754" y="66472"/>
                  </a:lnTo>
                  <a:close/>
                </a:path>
                <a:path w="347980" h="234950">
                  <a:moveTo>
                    <a:pt x="217931" y="83057"/>
                  </a:moveTo>
                  <a:lnTo>
                    <a:pt x="200754" y="66472"/>
                  </a:lnTo>
                  <a:lnTo>
                    <a:pt x="195072" y="70865"/>
                  </a:lnTo>
                  <a:lnTo>
                    <a:pt x="195072" y="78486"/>
                  </a:lnTo>
                  <a:lnTo>
                    <a:pt x="196682" y="80096"/>
                  </a:lnTo>
                  <a:lnTo>
                    <a:pt x="204216" y="76200"/>
                  </a:lnTo>
                  <a:lnTo>
                    <a:pt x="204216" y="90209"/>
                  </a:lnTo>
                  <a:lnTo>
                    <a:pt x="217931" y="83057"/>
                  </a:lnTo>
                  <a:close/>
                </a:path>
                <a:path w="347980" h="234950">
                  <a:moveTo>
                    <a:pt x="204216" y="76200"/>
                  </a:moveTo>
                  <a:lnTo>
                    <a:pt x="196682" y="80096"/>
                  </a:lnTo>
                  <a:lnTo>
                    <a:pt x="202692" y="86105"/>
                  </a:lnTo>
                  <a:lnTo>
                    <a:pt x="204216" y="76200"/>
                  </a:lnTo>
                  <a:close/>
                </a:path>
                <a:path w="347980" h="234950">
                  <a:moveTo>
                    <a:pt x="334518" y="96202"/>
                  </a:moveTo>
                  <a:lnTo>
                    <a:pt x="334518" y="83057"/>
                  </a:lnTo>
                  <a:lnTo>
                    <a:pt x="331469" y="93725"/>
                  </a:lnTo>
                  <a:lnTo>
                    <a:pt x="324279" y="85617"/>
                  </a:lnTo>
                  <a:lnTo>
                    <a:pt x="224789" y="110489"/>
                  </a:lnTo>
                  <a:lnTo>
                    <a:pt x="237744" y="126682"/>
                  </a:lnTo>
                  <a:lnTo>
                    <a:pt x="237744" y="120395"/>
                  </a:lnTo>
                  <a:lnTo>
                    <a:pt x="241554" y="110489"/>
                  </a:lnTo>
                  <a:lnTo>
                    <a:pt x="247494" y="117958"/>
                  </a:lnTo>
                  <a:lnTo>
                    <a:pt x="334518" y="96202"/>
                  </a:lnTo>
                  <a:close/>
                </a:path>
                <a:path w="347980" h="234950">
                  <a:moveTo>
                    <a:pt x="247494" y="117958"/>
                  </a:moveTo>
                  <a:lnTo>
                    <a:pt x="241554" y="110489"/>
                  </a:lnTo>
                  <a:lnTo>
                    <a:pt x="237744" y="120395"/>
                  </a:lnTo>
                  <a:lnTo>
                    <a:pt x="247494" y="117958"/>
                  </a:lnTo>
                  <a:close/>
                </a:path>
                <a:path w="347980" h="234950">
                  <a:moveTo>
                    <a:pt x="268224" y="144017"/>
                  </a:moveTo>
                  <a:lnTo>
                    <a:pt x="247494" y="117958"/>
                  </a:lnTo>
                  <a:lnTo>
                    <a:pt x="237744" y="120395"/>
                  </a:lnTo>
                  <a:lnTo>
                    <a:pt x="237744" y="126682"/>
                  </a:lnTo>
                  <a:lnTo>
                    <a:pt x="245819" y="136776"/>
                  </a:lnTo>
                  <a:lnTo>
                    <a:pt x="256031" y="134112"/>
                  </a:lnTo>
                  <a:lnTo>
                    <a:pt x="256031" y="147132"/>
                  </a:lnTo>
                  <a:lnTo>
                    <a:pt x="268224" y="144017"/>
                  </a:lnTo>
                  <a:close/>
                </a:path>
                <a:path w="347980" h="234950">
                  <a:moveTo>
                    <a:pt x="256031" y="134112"/>
                  </a:moveTo>
                  <a:lnTo>
                    <a:pt x="245819" y="136776"/>
                  </a:lnTo>
                  <a:lnTo>
                    <a:pt x="252222" y="144779"/>
                  </a:lnTo>
                  <a:lnTo>
                    <a:pt x="256031" y="134112"/>
                  </a:lnTo>
                  <a:close/>
                </a:path>
                <a:path w="347980" h="234950">
                  <a:moveTo>
                    <a:pt x="268986" y="13715"/>
                  </a:moveTo>
                  <a:lnTo>
                    <a:pt x="259842" y="12953"/>
                  </a:lnTo>
                  <a:lnTo>
                    <a:pt x="263962" y="17600"/>
                  </a:lnTo>
                  <a:lnTo>
                    <a:pt x="268986" y="13715"/>
                  </a:lnTo>
                  <a:close/>
                </a:path>
                <a:path w="347980" h="234950">
                  <a:moveTo>
                    <a:pt x="263962" y="17600"/>
                  </a:moveTo>
                  <a:lnTo>
                    <a:pt x="259842" y="12953"/>
                  </a:lnTo>
                  <a:lnTo>
                    <a:pt x="259842" y="20786"/>
                  </a:lnTo>
                  <a:lnTo>
                    <a:pt x="263962" y="17600"/>
                  </a:lnTo>
                  <a:close/>
                </a:path>
                <a:path w="347980" h="234950">
                  <a:moveTo>
                    <a:pt x="268986" y="23265"/>
                  </a:moveTo>
                  <a:lnTo>
                    <a:pt x="268986" y="13715"/>
                  </a:lnTo>
                  <a:lnTo>
                    <a:pt x="263962" y="17600"/>
                  </a:lnTo>
                  <a:lnTo>
                    <a:pt x="268986" y="23265"/>
                  </a:lnTo>
                  <a:close/>
                </a:path>
                <a:path w="347980" h="234950">
                  <a:moveTo>
                    <a:pt x="334518" y="83057"/>
                  </a:moveTo>
                  <a:lnTo>
                    <a:pt x="324279" y="85617"/>
                  </a:lnTo>
                  <a:lnTo>
                    <a:pt x="331469" y="93725"/>
                  </a:lnTo>
                  <a:lnTo>
                    <a:pt x="334518" y="83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05830" y="2039362"/>
            <a:ext cx="3440429" cy="1430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95" dirty="0">
                <a:latin typeface="Trebuchet MS"/>
                <a:cs typeface="Trebuchet MS"/>
              </a:rPr>
              <a:t>802.11 </a:t>
            </a:r>
            <a:r>
              <a:rPr sz="1400" b="1" spc="-70" dirty="0">
                <a:latin typeface="Trebuchet MS"/>
                <a:cs typeface="Trebuchet MS"/>
              </a:rPr>
              <a:t>Architecture </a:t>
            </a:r>
            <a:r>
              <a:rPr sz="1400" b="1" spc="-40" dirty="0">
                <a:latin typeface="Trebuchet MS"/>
                <a:cs typeface="Trebuchet MS"/>
              </a:rPr>
              <a:t>&amp; </a:t>
            </a:r>
            <a:r>
              <a:rPr sz="1400" b="1" spc="-50" dirty="0">
                <a:latin typeface="Trebuchet MS"/>
                <a:cs typeface="Trebuchet MS"/>
              </a:rPr>
              <a:t>Coordination</a:t>
            </a:r>
            <a:r>
              <a:rPr sz="1400" b="1" spc="-145" dirty="0">
                <a:latin typeface="Trebuchet MS"/>
                <a:cs typeface="Trebuchet MS"/>
              </a:rPr>
              <a:t> </a:t>
            </a:r>
            <a:r>
              <a:rPr sz="1400" b="1" spc="-65" dirty="0">
                <a:latin typeface="Trebuchet MS"/>
                <a:cs typeface="Trebuchet MS"/>
              </a:rPr>
              <a:t>Functions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rebuchet MS"/>
              <a:cs typeface="Trebuchet MS"/>
            </a:endParaRPr>
          </a:p>
          <a:p>
            <a:pPr marL="62865" marR="2592070">
              <a:lnSpc>
                <a:spcPct val="100000"/>
              </a:lnSpc>
              <a:spcBef>
                <a:spcPts val="5"/>
              </a:spcBef>
            </a:pPr>
            <a:r>
              <a:rPr sz="1400" spc="-40" dirty="0">
                <a:latin typeface="Trebuchet MS"/>
                <a:cs typeface="Trebuchet MS"/>
              </a:rPr>
              <a:t>802.X</a:t>
            </a:r>
            <a:r>
              <a:rPr sz="1400" spc="-19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LAN  </a:t>
            </a:r>
            <a:r>
              <a:rPr sz="1400" spc="-55" dirty="0">
                <a:latin typeface="Trebuchet MS"/>
                <a:cs typeface="Trebuchet MS"/>
              </a:rPr>
              <a:t>via</a:t>
            </a:r>
            <a:r>
              <a:rPr sz="1400" spc="-155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portal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264795" algn="ctr">
              <a:lnSpc>
                <a:spcPct val="100000"/>
              </a:lnSpc>
              <a:spcBef>
                <a:spcPts val="1085"/>
              </a:spcBef>
            </a:pPr>
            <a:r>
              <a:rPr sz="1400" spc="35" dirty="0">
                <a:latin typeface="Trebuchet MS"/>
                <a:cs typeface="Trebuchet MS"/>
              </a:rPr>
              <a:t>BSS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74839" y="2920746"/>
            <a:ext cx="9144000" cy="2571750"/>
            <a:chOff x="774839" y="2920745"/>
            <a:chExt cx="9144000" cy="2571750"/>
          </a:xfrm>
        </p:grpSpPr>
        <p:sp>
          <p:nvSpPr>
            <p:cNvPr id="27" name="object 27"/>
            <p:cNvSpPr/>
            <p:nvPr/>
          </p:nvSpPr>
          <p:spPr>
            <a:xfrm>
              <a:off x="2455811" y="2920758"/>
              <a:ext cx="2420620" cy="424815"/>
            </a:xfrm>
            <a:custGeom>
              <a:avLst/>
              <a:gdLst/>
              <a:ahLst/>
              <a:cxnLst/>
              <a:rect l="l" t="t" r="r" b="b"/>
              <a:pathLst>
                <a:path w="2420620" h="424814">
                  <a:moveTo>
                    <a:pt x="99822" y="411480"/>
                  </a:moveTo>
                  <a:lnTo>
                    <a:pt x="12192" y="411480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424434"/>
                  </a:lnTo>
                  <a:lnTo>
                    <a:pt x="6096" y="424434"/>
                  </a:lnTo>
                  <a:lnTo>
                    <a:pt x="12192" y="424434"/>
                  </a:lnTo>
                  <a:lnTo>
                    <a:pt x="99822" y="424434"/>
                  </a:lnTo>
                  <a:lnTo>
                    <a:pt x="99822" y="411480"/>
                  </a:lnTo>
                  <a:close/>
                </a:path>
                <a:path w="2420620" h="424814">
                  <a:moveTo>
                    <a:pt x="2420112" y="411480"/>
                  </a:moveTo>
                  <a:lnTo>
                    <a:pt x="2185416" y="411480"/>
                  </a:lnTo>
                  <a:lnTo>
                    <a:pt x="2185416" y="0"/>
                  </a:lnTo>
                  <a:lnTo>
                    <a:pt x="2172462" y="0"/>
                  </a:lnTo>
                  <a:lnTo>
                    <a:pt x="2172462" y="424434"/>
                  </a:lnTo>
                  <a:lnTo>
                    <a:pt x="2179320" y="424434"/>
                  </a:lnTo>
                  <a:lnTo>
                    <a:pt x="2185416" y="424434"/>
                  </a:lnTo>
                  <a:lnTo>
                    <a:pt x="2420112" y="424434"/>
                  </a:lnTo>
                  <a:lnTo>
                    <a:pt x="2420112" y="4114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9091" y="3361181"/>
              <a:ext cx="329565" cy="417195"/>
            </a:xfrm>
            <a:custGeom>
              <a:avLst/>
              <a:gdLst/>
              <a:ahLst/>
              <a:cxnLst/>
              <a:rect l="l" t="t" r="r" b="b"/>
              <a:pathLst>
                <a:path w="329564" h="417195">
                  <a:moveTo>
                    <a:pt x="96774" y="41909"/>
                  </a:moveTo>
                  <a:lnTo>
                    <a:pt x="95250" y="38099"/>
                  </a:lnTo>
                  <a:lnTo>
                    <a:pt x="92201" y="37337"/>
                  </a:lnTo>
                  <a:lnTo>
                    <a:pt x="0" y="0"/>
                  </a:lnTo>
                  <a:lnTo>
                    <a:pt x="3048" y="23128"/>
                  </a:lnTo>
                  <a:lnTo>
                    <a:pt x="3048" y="13715"/>
                  </a:lnTo>
                  <a:lnTo>
                    <a:pt x="12953" y="6095"/>
                  </a:lnTo>
                  <a:lnTo>
                    <a:pt x="26771" y="24055"/>
                  </a:lnTo>
                  <a:lnTo>
                    <a:pt x="86867" y="48767"/>
                  </a:lnTo>
                  <a:lnTo>
                    <a:pt x="90677" y="50291"/>
                  </a:lnTo>
                  <a:lnTo>
                    <a:pt x="94487" y="48767"/>
                  </a:lnTo>
                  <a:lnTo>
                    <a:pt x="95250" y="44957"/>
                  </a:lnTo>
                  <a:lnTo>
                    <a:pt x="96774" y="41909"/>
                  </a:lnTo>
                  <a:close/>
                </a:path>
                <a:path w="329564" h="417195">
                  <a:moveTo>
                    <a:pt x="26771" y="24055"/>
                  </a:moveTo>
                  <a:lnTo>
                    <a:pt x="12953" y="6095"/>
                  </a:lnTo>
                  <a:lnTo>
                    <a:pt x="3048" y="13715"/>
                  </a:lnTo>
                  <a:lnTo>
                    <a:pt x="5333" y="16687"/>
                  </a:lnTo>
                  <a:lnTo>
                    <a:pt x="5333" y="15239"/>
                  </a:lnTo>
                  <a:lnTo>
                    <a:pt x="14477" y="9143"/>
                  </a:lnTo>
                  <a:lnTo>
                    <a:pt x="15752" y="19524"/>
                  </a:lnTo>
                  <a:lnTo>
                    <a:pt x="26771" y="24055"/>
                  </a:lnTo>
                  <a:close/>
                </a:path>
                <a:path w="329564" h="417195">
                  <a:moveTo>
                    <a:pt x="25907" y="99821"/>
                  </a:moveTo>
                  <a:lnTo>
                    <a:pt x="25145" y="96012"/>
                  </a:lnTo>
                  <a:lnTo>
                    <a:pt x="17317" y="32262"/>
                  </a:lnTo>
                  <a:lnTo>
                    <a:pt x="3048" y="13715"/>
                  </a:lnTo>
                  <a:lnTo>
                    <a:pt x="3048" y="23128"/>
                  </a:lnTo>
                  <a:lnTo>
                    <a:pt x="12953" y="98297"/>
                  </a:lnTo>
                  <a:lnTo>
                    <a:pt x="12953" y="101345"/>
                  </a:lnTo>
                  <a:lnTo>
                    <a:pt x="16763" y="103631"/>
                  </a:lnTo>
                  <a:lnTo>
                    <a:pt x="19812" y="103631"/>
                  </a:lnTo>
                  <a:lnTo>
                    <a:pt x="23621" y="102869"/>
                  </a:lnTo>
                  <a:lnTo>
                    <a:pt x="25907" y="99821"/>
                  </a:lnTo>
                  <a:close/>
                </a:path>
                <a:path w="329564" h="417195">
                  <a:moveTo>
                    <a:pt x="15752" y="19524"/>
                  </a:moveTo>
                  <a:lnTo>
                    <a:pt x="14477" y="9143"/>
                  </a:lnTo>
                  <a:lnTo>
                    <a:pt x="5333" y="15239"/>
                  </a:lnTo>
                  <a:lnTo>
                    <a:pt x="15752" y="19524"/>
                  </a:lnTo>
                  <a:close/>
                </a:path>
                <a:path w="329564" h="417195">
                  <a:moveTo>
                    <a:pt x="17317" y="32262"/>
                  </a:moveTo>
                  <a:lnTo>
                    <a:pt x="15752" y="19524"/>
                  </a:lnTo>
                  <a:lnTo>
                    <a:pt x="5333" y="15239"/>
                  </a:lnTo>
                  <a:lnTo>
                    <a:pt x="5333" y="16687"/>
                  </a:lnTo>
                  <a:lnTo>
                    <a:pt x="17317" y="32262"/>
                  </a:lnTo>
                  <a:close/>
                </a:path>
                <a:path w="329564" h="417195">
                  <a:moveTo>
                    <a:pt x="328948" y="416813"/>
                  </a:moveTo>
                  <a:lnTo>
                    <a:pt x="26771" y="24055"/>
                  </a:lnTo>
                  <a:lnTo>
                    <a:pt x="15752" y="19524"/>
                  </a:lnTo>
                  <a:lnTo>
                    <a:pt x="17317" y="32262"/>
                  </a:lnTo>
                  <a:lnTo>
                    <a:pt x="313179" y="416813"/>
                  </a:lnTo>
                  <a:lnTo>
                    <a:pt x="328948" y="416813"/>
                  </a:lnTo>
                  <a:close/>
                </a:path>
              </a:pathLst>
            </a:custGeom>
            <a:solidFill>
              <a:srgbClr val="B8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38896" y="3778008"/>
              <a:ext cx="3983990" cy="857250"/>
            </a:xfrm>
            <a:custGeom>
              <a:avLst/>
              <a:gdLst/>
              <a:ahLst/>
              <a:cxnLst/>
              <a:rect l="l" t="t" r="r" b="b"/>
              <a:pathLst>
                <a:path w="3983990" h="857250">
                  <a:moveTo>
                    <a:pt x="1877072" y="857250"/>
                  </a:moveTo>
                  <a:lnTo>
                    <a:pt x="1810372" y="849172"/>
                  </a:lnTo>
                  <a:lnTo>
                    <a:pt x="1759292" y="845286"/>
                  </a:lnTo>
                  <a:lnTo>
                    <a:pt x="1708048" y="843178"/>
                  </a:lnTo>
                  <a:lnTo>
                    <a:pt x="1656854" y="842797"/>
                  </a:lnTo>
                  <a:lnTo>
                    <a:pt x="1605940" y="844130"/>
                  </a:lnTo>
                  <a:lnTo>
                    <a:pt x="1555508" y="847140"/>
                  </a:lnTo>
                  <a:lnTo>
                    <a:pt x="1505800" y="851801"/>
                  </a:lnTo>
                  <a:lnTo>
                    <a:pt x="1463535" y="857250"/>
                  </a:lnTo>
                  <a:lnTo>
                    <a:pt x="1599552" y="857250"/>
                  </a:lnTo>
                  <a:lnTo>
                    <a:pt x="1648460" y="855700"/>
                  </a:lnTo>
                  <a:lnTo>
                    <a:pt x="1700542" y="855827"/>
                  </a:lnTo>
                  <a:lnTo>
                    <a:pt x="1738769" y="857250"/>
                  </a:lnTo>
                  <a:lnTo>
                    <a:pt x="1877072" y="857250"/>
                  </a:lnTo>
                  <a:close/>
                </a:path>
                <a:path w="3983990" h="857250">
                  <a:moveTo>
                    <a:pt x="3983558" y="0"/>
                  </a:moveTo>
                  <a:lnTo>
                    <a:pt x="3967645" y="0"/>
                  </a:lnTo>
                  <a:lnTo>
                    <a:pt x="3940403" y="32054"/>
                  </a:lnTo>
                  <a:lnTo>
                    <a:pt x="3905072" y="68262"/>
                  </a:lnTo>
                  <a:lnTo>
                    <a:pt x="3867429" y="102425"/>
                  </a:lnTo>
                  <a:lnTo>
                    <a:pt x="3828034" y="134505"/>
                  </a:lnTo>
                  <a:lnTo>
                    <a:pt x="3787444" y="164490"/>
                  </a:lnTo>
                  <a:lnTo>
                    <a:pt x="3746233" y="192341"/>
                  </a:lnTo>
                  <a:lnTo>
                    <a:pt x="3704945" y="218033"/>
                  </a:lnTo>
                  <a:lnTo>
                    <a:pt x="3664153" y="241554"/>
                  </a:lnTo>
                  <a:lnTo>
                    <a:pt x="3621036" y="264985"/>
                  </a:lnTo>
                  <a:lnTo>
                    <a:pt x="3577018" y="287312"/>
                  </a:lnTo>
                  <a:lnTo>
                    <a:pt x="3532213" y="308546"/>
                  </a:lnTo>
                  <a:lnTo>
                    <a:pt x="3486721" y="328726"/>
                  </a:lnTo>
                  <a:lnTo>
                    <a:pt x="3440671" y="347891"/>
                  </a:lnTo>
                  <a:lnTo>
                    <a:pt x="3394164" y="366064"/>
                  </a:lnTo>
                  <a:lnTo>
                    <a:pt x="3347326" y="383298"/>
                  </a:lnTo>
                  <a:lnTo>
                    <a:pt x="3300272" y="399618"/>
                  </a:lnTo>
                  <a:lnTo>
                    <a:pt x="3253105" y="415074"/>
                  </a:lnTo>
                  <a:lnTo>
                    <a:pt x="3205962" y="429679"/>
                  </a:lnTo>
                  <a:lnTo>
                    <a:pt x="3158947" y="443484"/>
                  </a:lnTo>
                  <a:lnTo>
                    <a:pt x="3109849" y="456933"/>
                  </a:lnTo>
                  <a:lnTo>
                    <a:pt x="3060458" y="469684"/>
                  </a:lnTo>
                  <a:lnTo>
                    <a:pt x="3010789" y="481749"/>
                  </a:lnTo>
                  <a:lnTo>
                    <a:pt x="2960878" y="493141"/>
                  </a:lnTo>
                  <a:lnTo>
                    <a:pt x="2910725" y="503847"/>
                  </a:lnTo>
                  <a:lnTo>
                    <a:pt x="2860357" y="513905"/>
                  </a:lnTo>
                  <a:lnTo>
                    <a:pt x="2809798" y="523303"/>
                  </a:lnTo>
                  <a:lnTo>
                    <a:pt x="2759075" y="532066"/>
                  </a:lnTo>
                  <a:lnTo>
                    <a:pt x="2708198" y="540194"/>
                  </a:lnTo>
                  <a:lnTo>
                    <a:pt x="2657183" y="547700"/>
                  </a:lnTo>
                  <a:lnTo>
                    <a:pt x="2606065" y="554583"/>
                  </a:lnTo>
                  <a:lnTo>
                    <a:pt x="2554859" y="560870"/>
                  </a:lnTo>
                  <a:lnTo>
                    <a:pt x="2503576" y="566559"/>
                  </a:lnTo>
                  <a:lnTo>
                    <a:pt x="2452255" y="571665"/>
                  </a:lnTo>
                  <a:lnTo>
                    <a:pt x="2400909" y="576199"/>
                  </a:lnTo>
                  <a:lnTo>
                    <a:pt x="2349538" y="580161"/>
                  </a:lnTo>
                  <a:lnTo>
                    <a:pt x="2298192" y="583565"/>
                  </a:lnTo>
                  <a:lnTo>
                    <a:pt x="2246884" y="586422"/>
                  </a:lnTo>
                  <a:lnTo>
                    <a:pt x="2195626" y="588746"/>
                  </a:lnTo>
                  <a:lnTo>
                    <a:pt x="2144445" y="590537"/>
                  </a:lnTo>
                  <a:lnTo>
                    <a:pt x="2093353" y="591807"/>
                  </a:lnTo>
                  <a:lnTo>
                    <a:pt x="2042388" y="592569"/>
                  </a:lnTo>
                  <a:lnTo>
                    <a:pt x="1991563" y="592836"/>
                  </a:lnTo>
                  <a:lnTo>
                    <a:pt x="1941563" y="592569"/>
                  </a:lnTo>
                  <a:lnTo>
                    <a:pt x="1891411" y="591820"/>
                  </a:lnTo>
                  <a:lnTo>
                    <a:pt x="1841119" y="590575"/>
                  </a:lnTo>
                  <a:lnTo>
                    <a:pt x="1790700" y="588835"/>
                  </a:lnTo>
                  <a:lnTo>
                    <a:pt x="1740192" y="586587"/>
                  </a:lnTo>
                  <a:lnTo>
                    <a:pt x="1689595" y="583819"/>
                  </a:lnTo>
                  <a:lnTo>
                    <a:pt x="1638947" y="580517"/>
                  </a:lnTo>
                  <a:lnTo>
                    <a:pt x="1588274" y="576681"/>
                  </a:lnTo>
                  <a:lnTo>
                    <a:pt x="1537589" y="572287"/>
                  </a:lnTo>
                  <a:lnTo>
                    <a:pt x="1486903" y="567334"/>
                  </a:lnTo>
                  <a:lnTo>
                    <a:pt x="1436255" y="561809"/>
                  </a:lnTo>
                  <a:lnTo>
                    <a:pt x="1385671" y="555701"/>
                  </a:lnTo>
                  <a:lnTo>
                    <a:pt x="1335151" y="549008"/>
                  </a:lnTo>
                  <a:lnTo>
                    <a:pt x="1284732" y="541718"/>
                  </a:lnTo>
                  <a:lnTo>
                    <a:pt x="1234427" y="533819"/>
                  </a:lnTo>
                  <a:lnTo>
                    <a:pt x="1184262" y="525284"/>
                  </a:lnTo>
                  <a:lnTo>
                    <a:pt x="1134262" y="516140"/>
                  </a:lnTo>
                  <a:lnTo>
                    <a:pt x="1084440" y="506349"/>
                  </a:lnTo>
                  <a:lnTo>
                    <a:pt x="1034821" y="495909"/>
                  </a:lnTo>
                  <a:lnTo>
                    <a:pt x="985431" y="484809"/>
                  </a:lnTo>
                  <a:lnTo>
                    <a:pt x="936294" y="473049"/>
                  </a:lnTo>
                  <a:lnTo>
                    <a:pt x="887425" y="460603"/>
                  </a:lnTo>
                  <a:lnTo>
                    <a:pt x="838835" y="447471"/>
                  </a:lnTo>
                  <a:lnTo>
                    <a:pt x="790575" y="433628"/>
                  </a:lnTo>
                  <a:lnTo>
                    <a:pt x="742645" y="419100"/>
                  </a:lnTo>
                  <a:lnTo>
                    <a:pt x="695706" y="403860"/>
                  </a:lnTo>
                  <a:lnTo>
                    <a:pt x="648995" y="387883"/>
                  </a:lnTo>
                  <a:lnTo>
                    <a:pt x="602564" y="371081"/>
                  </a:lnTo>
                  <a:lnTo>
                    <a:pt x="556463" y="353377"/>
                  </a:lnTo>
                  <a:lnTo>
                    <a:pt x="510743" y="334733"/>
                  </a:lnTo>
                  <a:lnTo>
                    <a:pt x="465480" y="315061"/>
                  </a:lnTo>
                  <a:lnTo>
                    <a:pt x="420712" y="294297"/>
                  </a:lnTo>
                  <a:lnTo>
                    <a:pt x="376516" y="272376"/>
                  </a:lnTo>
                  <a:lnTo>
                    <a:pt x="332930" y="249224"/>
                  </a:lnTo>
                  <a:lnTo>
                    <a:pt x="290017" y="224790"/>
                  </a:lnTo>
                  <a:lnTo>
                    <a:pt x="251345" y="201231"/>
                  </a:lnTo>
                  <a:lnTo>
                    <a:pt x="212458" y="175717"/>
                  </a:lnTo>
                  <a:lnTo>
                    <a:pt x="173824" y="148247"/>
                  </a:lnTo>
                  <a:lnTo>
                    <a:pt x="135940" y="118859"/>
                  </a:lnTo>
                  <a:lnTo>
                    <a:pt x="99314" y="87553"/>
                  </a:lnTo>
                  <a:lnTo>
                    <a:pt x="64427" y="54356"/>
                  </a:lnTo>
                  <a:lnTo>
                    <a:pt x="31788" y="19278"/>
                  </a:lnTo>
                  <a:lnTo>
                    <a:pt x="16167" y="0"/>
                  </a:lnTo>
                  <a:lnTo>
                    <a:pt x="0" y="0"/>
                  </a:lnTo>
                  <a:lnTo>
                    <a:pt x="48628" y="56349"/>
                  </a:lnTo>
                  <a:lnTo>
                    <a:pt x="83146" y="90030"/>
                  </a:lnTo>
                  <a:lnTo>
                    <a:pt x="119532" y="121881"/>
                  </a:lnTo>
                  <a:lnTo>
                    <a:pt x="157340" y="151879"/>
                  </a:lnTo>
                  <a:lnTo>
                    <a:pt x="196100" y="180009"/>
                  </a:lnTo>
                  <a:lnTo>
                    <a:pt x="235381" y="206248"/>
                  </a:lnTo>
                  <a:lnTo>
                    <a:pt x="274713" y="230581"/>
                  </a:lnTo>
                  <a:lnTo>
                    <a:pt x="313639" y="252984"/>
                  </a:lnTo>
                  <a:lnTo>
                    <a:pt x="356857" y="275691"/>
                  </a:lnTo>
                  <a:lnTo>
                    <a:pt x="400646" y="297484"/>
                  </a:lnTo>
                  <a:lnTo>
                    <a:pt x="444995" y="318376"/>
                  </a:lnTo>
                  <a:lnTo>
                    <a:pt x="489851" y="338391"/>
                  </a:lnTo>
                  <a:lnTo>
                    <a:pt x="535216" y="357530"/>
                  </a:lnTo>
                  <a:lnTo>
                    <a:pt x="581050" y="375818"/>
                  </a:lnTo>
                  <a:lnTo>
                    <a:pt x="627329" y="393280"/>
                  </a:lnTo>
                  <a:lnTo>
                    <a:pt x="674027" y="409905"/>
                  </a:lnTo>
                  <a:lnTo>
                    <a:pt x="721118" y="425729"/>
                  </a:lnTo>
                  <a:lnTo>
                    <a:pt x="768591" y="440766"/>
                  </a:lnTo>
                  <a:lnTo>
                    <a:pt x="816406" y="455015"/>
                  </a:lnTo>
                  <a:lnTo>
                    <a:pt x="864552" y="468515"/>
                  </a:lnTo>
                  <a:lnTo>
                    <a:pt x="912977" y="481266"/>
                  </a:lnTo>
                  <a:lnTo>
                    <a:pt x="961694" y="493293"/>
                  </a:lnTo>
                  <a:lnTo>
                    <a:pt x="1010640" y="504596"/>
                  </a:lnTo>
                  <a:lnTo>
                    <a:pt x="1059827" y="515213"/>
                  </a:lnTo>
                  <a:lnTo>
                    <a:pt x="1109192" y="525145"/>
                  </a:lnTo>
                  <a:lnTo>
                    <a:pt x="1158748" y="534403"/>
                  </a:lnTo>
                  <a:lnTo>
                    <a:pt x="1208443" y="543013"/>
                  </a:lnTo>
                  <a:lnTo>
                    <a:pt x="1258252" y="550989"/>
                  </a:lnTo>
                  <a:lnTo>
                    <a:pt x="1308176" y="558342"/>
                  </a:lnTo>
                  <a:lnTo>
                    <a:pt x="1358163" y="565086"/>
                  </a:lnTo>
                  <a:lnTo>
                    <a:pt x="1408201" y="571246"/>
                  </a:lnTo>
                  <a:lnTo>
                    <a:pt x="1458252" y="576834"/>
                  </a:lnTo>
                  <a:lnTo>
                    <a:pt x="1508315" y="581863"/>
                  </a:lnTo>
                  <a:lnTo>
                    <a:pt x="1558340" y="586346"/>
                  </a:lnTo>
                  <a:lnTo>
                    <a:pt x="1608315" y="590308"/>
                  </a:lnTo>
                  <a:lnTo>
                    <a:pt x="1658226" y="593750"/>
                  </a:lnTo>
                  <a:lnTo>
                    <a:pt x="1708023" y="596696"/>
                  </a:lnTo>
                  <a:lnTo>
                    <a:pt x="1757692" y="599160"/>
                  </a:lnTo>
                  <a:lnTo>
                    <a:pt x="1807210" y="601167"/>
                  </a:lnTo>
                  <a:lnTo>
                    <a:pt x="1856562" y="602716"/>
                  </a:lnTo>
                  <a:lnTo>
                    <a:pt x="1905698" y="603834"/>
                  </a:lnTo>
                  <a:lnTo>
                    <a:pt x="1954618" y="604532"/>
                  </a:lnTo>
                  <a:lnTo>
                    <a:pt x="1991563" y="604748"/>
                  </a:lnTo>
                  <a:lnTo>
                    <a:pt x="2051672" y="604723"/>
                  </a:lnTo>
                  <a:lnTo>
                    <a:pt x="2099767" y="604266"/>
                  </a:lnTo>
                  <a:lnTo>
                    <a:pt x="2147595" y="602729"/>
                  </a:lnTo>
                  <a:lnTo>
                    <a:pt x="2195779" y="600798"/>
                  </a:lnTo>
                  <a:lnTo>
                    <a:pt x="2244293" y="598462"/>
                  </a:lnTo>
                  <a:lnTo>
                    <a:pt x="2293112" y="595680"/>
                  </a:lnTo>
                  <a:lnTo>
                    <a:pt x="2342172" y="592455"/>
                  </a:lnTo>
                  <a:lnTo>
                    <a:pt x="2391460" y="588759"/>
                  </a:lnTo>
                  <a:lnTo>
                    <a:pt x="2440952" y="584568"/>
                  </a:lnTo>
                  <a:lnTo>
                    <a:pt x="2490597" y="579869"/>
                  </a:lnTo>
                  <a:lnTo>
                    <a:pt x="2540368" y="574649"/>
                  </a:lnTo>
                  <a:lnTo>
                    <a:pt x="2590241" y="568883"/>
                  </a:lnTo>
                  <a:lnTo>
                    <a:pt x="2640165" y="562546"/>
                  </a:lnTo>
                  <a:lnTo>
                    <a:pt x="2690114" y="555637"/>
                  </a:lnTo>
                  <a:lnTo>
                    <a:pt x="2740063" y="548119"/>
                  </a:lnTo>
                  <a:lnTo>
                    <a:pt x="2789974" y="539991"/>
                  </a:lnTo>
                  <a:lnTo>
                    <a:pt x="2839809" y="531215"/>
                  </a:lnTo>
                  <a:lnTo>
                    <a:pt x="2889529" y="521792"/>
                  </a:lnTo>
                  <a:lnTo>
                    <a:pt x="2939123" y="511683"/>
                  </a:lnTo>
                  <a:lnTo>
                    <a:pt x="2988551" y="500888"/>
                  </a:lnTo>
                  <a:lnTo>
                    <a:pt x="3037763" y="489381"/>
                  </a:lnTo>
                  <a:lnTo>
                    <a:pt x="3086747" y="477139"/>
                  </a:lnTo>
                  <a:lnTo>
                    <a:pt x="3135452" y="464159"/>
                  </a:lnTo>
                  <a:lnTo>
                    <a:pt x="3183852" y="450405"/>
                  </a:lnTo>
                  <a:lnTo>
                    <a:pt x="3231921" y="435864"/>
                  </a:lnTo>
                  <a:lnTo>
                    <a:pt x="3279610" y="420509"/>
                  </a:lnTo>
                  <a:lnTo>
                    <a:pt x="3326904" y="404342"/>
                  </a:lnTo>
                  <a:lnTo>
                    <a:pt x="3373767" y="387324"/>
                  </a:lnTo>
                  <a:lnTo>
                    <a:pt x="3420148" y="369455"/>
                  </a:lnTo>
                  <a:lnTo>
                    <a:pt x="3466033" y="350697"/>
                  </a:lnTo>
                  <a:lnTo>
                    <a:pt x="3511372" y="331050"/>
                  </a:lnTo>
                  <a:lnTo>
                    <a:pt x="3556152" y="310489"/>
                  </a:lnTo>
                  <a:lnTo>
                    <a:pt x="3600335" y="288988"/>
                  </a:lnTo>
                  <a:lnTo>
                    <a:pt x="3643871" y="266534"/>
                  </a:lnTo>
                  <a:lnTo>
                    <a:pt x="3686746" y="243103"/>
                  </a:lnTo>
                  <a:lnTo>
                    <a:pt x="3728923" y="218694"/>
                  </a:lnTo>
                  <a:lnTo>
                    <a:pt x="3768788" y="192824"/>
                  </a:lnTo>
                  <a:lnTo>
                    <a:pt x="3808704" y="164807"/>
                  </a:lnTo>
                  <a:lnTo>
                    <a:pt x="3848074" y="134670"/>
                  </a:lnTo>
                  <a:lnTo>
                    <a:pt x="3886352" y="102438"/>
                  </a:lnTo>
                  <a:lnTo>
                    <a:pt x="3922966" y="68122"/>
                  </a:lnTo>
                  <a:lnTo>
                    <a:pt x="3957358" y="31775"/>
                  </a:lnTo>
                  <a:lnTo>
                    <a:pt x="39835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65767" y="4416551"/>
              <a:ext cx="701040" cy="21869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06709" y="3777995"/>
              <a:ext cx="1459230" cy="395605"/>
            </a:xfrm>
            <a:custGeom>
              <a:avLst/>
              <a:gdLst/>
              <a:ahLst/>
              <a:cxnLst/>
              <a:rect l="l" t="t" r="r" b="b"/>
              <a:pathLst>
                <a:path w="1459229" h="395604">
                  <a:moveTo>
                    <a:pt x="232" y="1058"/>
                  </a:moveTo>
                  <a:lnTo>
                    <a:pt x="0" y="1524"/>
                  </a:lnTo>
                  <a:lnTo>
                    <a:pt x="0" y="3048"/>
                  </a:lnTo>
                  <a:lnTo>
                    <a:pt x="232" y="1058"/>
                  </a:lnTo>
                  <a:close/>
                </a:path>
                <a:path w="1459229" h="395604">
                  <a:moveTo>
                    <a:pt x="3386" y="0"/>
                  </a:moveTo>
                  <a:lnTo>
                    <a:pt x="762" y="0"/>
                  </a:lnTo>
                  <a:lnTo>
                    <a:pt x="232" y="1058"/>
                  </a:lnTo>
                  <a:lnTo>
                    <a:pt x="0" y="3048"/>
                  </a:lnTo>
                  <a:lnTo>
                    <a:pt x="0" y="3809"/>
                  </a:lnTo>
                  <a:lnTo>
                    <a:pt x="3386" y="0"/>
                  </a:lnTo>
                  <a:close/>
                </a:path>
                <a:path w="1459229" h="395604">
                  <a:moveTo>
                    <a:pt x="13298" y="0"/>
                  </a:moveTo>
                  <a:lnTo>
                    <a:pt x="3386" y="0"/>
                  </a:lnTo>
                  <a:lnTo>
                    <a:pt x="0" y="3809"/>
                  </a:lnTo>
                  <a:lnTo>
                    <a:pt x="4884" y="49672"/>
                  </a:lnTo>
                  <a:lnTo>
                    <a:pt x="6096" y="53386"/>
                  </a:lnTo>
                  <a:lnTo>
                    <a:pt x="6096" y="9905"/>
                  </a:lnTo>
                  <a:lnTo>
                    <a:pt x="12953" y="3048"/>
                  </a:lnTo>
                  <a:lnTo>
                    <a:pt x="13298" y="0"/>
                  </a:lnTo>
                  <a:close/>
                </a:path>
                <a:path w="1459229" h="395604">
                  <a:moveTo>
                    <a:pt x="762" y="0"/>
                  </a:moveTo>
                  <a:lnTo>
                    <a:pt x="356" y="0"/>
                  </a:lnTo>
                  <a:lnTo>
                    <a:pt x="232" y="1058"/>
                  </a:lnTo>
                  <a:lnTo>
                    <a:pt x="762" y="0"/>
                  </a:lnTo>
                  <a:close/>
                </a:path>
                <a:path w="1459229" h="395604">
                  <a:moveTo>
                    <a:pt x="729996" y="382524"/>
                  </a:moveTo>
                  <a:lnTo>
                    <a:pt x="683988" y="381916"/>
                  </a:lnTo>
                  <a:lnTo>
                    <a:pt x="636745" y="379551"/>
                  </a:lnTo>
                  <a:lnTo>
                    <a:pt x="588612" y="375348"/>
                  </a:lnTo>
                  <a:lnTo>
                    <a:pt x="539932" y="369224"/>
                  </a:lnTo>
                  <a:lnTo>
                    <a:pt x="491050" y="361097"/>
                  </a:lnTo>
                  <a:lnTo>
                    <a:pt x="442312" y="350885"/>
                  </a:lnTo>
                  <a:lnTo>
                    <a:pt x="394062" y="338505"/>
                  </a:lnTo>
                  <a:lnTo>
                    <a:pt x="346644" y="323877"/>
                  </a:lnTo>
                  <a:lnTo>
                    <a:pt x="300404" y="306917"/>
                  </a:lnTo>
                  <a:lnTo>
                    <a:pt x="255686" y="287544"/>
                  </a:lnTo>
                  <a:lnTo>
                    <a:pt x="212834" y="265675"/>
                  </a:lnTo>
                  <a:lnTo>
                    <a:pt x="172195" y="241228"/>
                  </a:lnTo>
                  <a:lnTo>
                    <a:pt x="134112" y="214121"/>
                  </a:lnTo>
                  <a:lnTo>
                    <a:pt x="96675" y="181235"/>
                  </a:lnTo>
                  <a:lnTo>
                    <a:pt x="63169" y="142845"/>
                  </a:lnTo>
                  <a:lnTo>
                    <a:pt x="36265" y="99790"/>
                  </a:lnTo>
                  <a:lnTo>
                    <a:pt x="18636" y="52912"/>
                  </a:lnTo>
                  <a:lnTo>
                    <a:pt x="12953" y="3048"/>
                  </a:lnTo>
                  <a:lnTo>
                    <a:pt x="6096" y="9905"/>
                  </a:lnTo>
                  <a:lnTo>
                    <a:pt x="9906" y="9905"/>
                  </a:lnTo>
                  <a:lnTo>
                    <a:pt x="12953" y="6857"/>
                  </a:lnTo>
                  <a:lnTo>
                    <a:pt x="12953" y="74404"/>
                  </a:lnTo>
                  <a:lnTo>
                    <a:pt x="40757" y="133111"/>
                  </a:lnTo>
                  <a:lnTo>
                    <a:pt x="68622" y="169900"/>
                  </a:lnTo>
                  <a:lnTo>
                    <a:pt x="101023" y="202877"/>
                  </a:lnTo>
                  <a:lnTo>
                    <a:pt x="136398" y="231648"/>
                  </a:lnTo>
                  <a:lnTo>
                    <a:pt x="174805" y="258026"/>
                  </a:lnTo>
                  <a:lnTo>
                    <a:pt x="215586" y="281779"/>
                  </a:lnTo>
                  <a:lnTo>
                    <a:pt x="258423" y="302995"/>
                  </a:lnTo>
                  <a:lnTo>
                    <a:pt x="302998" y="321764"/>
                  </a:lnTo>
                  <a:lnTo>
                    <a:pt x="348994" y="338178"/>
                  </a:lnTo>
                  <a:lnTo>
                    <a:pt x="396093" y="352326"/>
                  </a:lnTo>
                  <a:lnTo>
                    <a:pt x="443977" y="364297"/>
                  </a:lnTo>
                  <a:lnTo>
                    <a:pt x="492330" y="374183"/>
                  </a:lnTo>
                  <a:lnTo>
                    <a:pt x="540832" y="382073"/>
                  </a:lnTo>
                  <a:lnTo>
                    <a:pt x="589168" y="388057"/>
                  </a:lnTo>
                  <a:lnTo>
                    <a:pt x="637018" y="392226"/>
                  </a:lnTo>
                  <a:lnTo>
                    <a:pt x="684067" y="394669"/>
                  </a:lnTo>
                  <a:lnTo>
                    <a:pt x="723138" y="395357"/>
                  </a:lnTo>
                  <a:lnTo>
                    <a:pt x="723138" y="388619"/>
                  </a:lnTo>
                  <a:lnTo>
                    <a:pt x="723900" y="386333"/>
                  </a:lnTo>
                  <a:lnTo>
                    <a:pt x="725424" y="384048"/>
                  </a:lnTo>
                  <a:lnTo>
                    <a:pt x="727710" y="382524"/>
                  </a:lnTo>
                  <a:lnTo>
                    <a:pt x="729996" y="382524"/>
                  </a:lnTo>
                  <a:close/>
                </a:path>
                <a:path w="1459229" h="395604">
                  <a:moveTo>
                    <a:pt x="12953" y="74404"/>
                  </a:moveTo>
                  <a:lnTo>
                    <a:pt x="12953" y="6857"/>
                  </a:lnTo>
                  <a:lnTo>
                    <a:pt x="9906" y="9905"/>
                  </a:lnTo>
                  <a:lnTo>
                    <a:pt x="6096" y="9905"/>
                  </a:lnTo>
                  <a:lnTo>
                    <a:pt x="6096" y="53386"/>
                  </a:lnTo>
                  <a:lnTo>
                    <a:pt x="12953" y="74404"/>
                  </a:lnTo>
                  <a:close/>
                </a:path>
                <a:path w="1459229" h="395604">
                  <a:moveTo>
                    <a:pt x="729996" y="382524"/>
                  </a:moveTo>
                  <a:lnTo>
                    <a:pt x="727710" y="382524"/>
                  </a:lnTo>
                  <a:lnTo>
                    <a:pt x="725424" y="384048"/>
                  </a:lnTo>
                  <a:lnTo>
                    <a:pt x="723900" y="386333"/>
                  </a:lnTo>
                  <a:lnTo>
                    <a:pt x="723138" y="388619"/>
                  </a:lnTo>
                  <a:lnTo>
                    <a:pt x="723138" y="390905"/>
                  </a:lnTo>
                  <a:lnTo>
                    <a:pt x="725424" y="393191"/>
                  </a:lnTo>
                  <a:lnTo>
                    <a:pt x="729996" y="382524"/>
                  </a:lnTo>
                  <a:close/>
                </a:path>
                <a:path w="1459229" h="395604">
                  <a:moveTo>
                    <a:pt x="1459056" y="25892"/>
                  </a:moveTo>
                  <a:lnTo>
                    <a:pt x="1458957" y="0"/>
                  </a:lnTo>
                  <a:lnTo>
                    <a:pt x="1446495" y="0"/>
                  </a:lnTo>
                  <a:lnTo>
                    <a:pt x="1445721" y="31431"/>
                  </a:lnTo>
                  <a:lnTo>
                    <a:pt x="1433928" y="77242"/>
                  </a:lnTo>
                  <a:lnTo>
                    <a:pt x="1410462" y="123443"/>
                  </a:lnTo>
                  <a:lnTo>
                    <a:pt x="1383128" y="159201"/>
                  </a:lnTo>
                  <a:lnTo>
                    <a:pt x="1351698" y="191799"/>
                  </a:lnTo>
                  <a:lnTo>
                    <a:pt x="1316615" y="221356"/>
                  </a:lnTo>
                  <a:lnTo>
                    <a:pt x="1278321" y="247991"/>
                  </a:lnTo>
                  <a:lnTo>
                    <a:pt x="1237262" y="271820"/>
                  </a:lnTo>
                  <a:lnTo>
                    <a:pt x="1193881" y="292961"/>
                  </a:lnTo>
                  <a:lnTo>
                    <a:pt x="1148621" y="311534"/>
                  </a:lnTo>
                  <a:lnTo>
                    <a:pt x="1101928" y="327655"/>
                  </a:lnTo>
                  <a:lnTo>
                    <a:pt x="1054243" y="341442"/>
                  </a:lnTo>
                  <a:lnTo>
                    <a:pt x="1006012" y="353014"/>
                  </a:lnTo>
                  <a:lnTo>
                    <a:pt x="957678" y="362489"/>
                  </a:lnTo>
                  <a:lnTo>
                    <a:pt x="909685" y="369983"/>
                  </a:lnTo>
                  <a:lnTo>
                    <a:pt x="862476" y="375616"/>
                  </a:lnTo>
                  <a:lnTo>
                    <a:pt x="816496" y="379505"/>
                  </a:lnTo>
                  <a:lnTo>
                    <a:pt x="772188" y="381768"/>
                  </a:lnTo>
                  <a:lnTo>
                    <a:pt x="729996" y="382524"/>
                  </a:lnTo>
                  <a:lnTo>
                    <a:pt x="725424" y="393191"/>
                  </a:lnTo>
                  <a:lnTo>
                    <a:pt x="723138" y="390905"/>
                  </a:lnTo>
                  <a:lnTo>
                    <a:pt x="723138" y="395357"/>
                  </a:lnTo>
                  <a:lnTo>
                    <a:pt x="729996" y="395477"/>
                  </a:lnTo>
                  <a:lnTo>
                    <a:pt x="734568" y="384809"/>
                  </a:lnTo>
                  <a:lnTo>
                    <a:pt x="735330" y="384809"/>
                  </a:lnTo>
                  <a:lnTo>
                    <a:pt x="736853" y="387095"/>
                  </a:lnTo>
                  <a:lnTo>
                    <a:pt x="736853" y="395407"/>
                  </a:lnTo>
                  <a:lnTo>
                    <a:pt x="772596" y="395037"/>
                  </a:lnTo>
                  <a:lnTo>
                    <a:pt x="817740" y="392847"/>
                  </a:lnTo>
                  <a:lnTo>
                    <a:pt x="864913" y="388806"/>
                  </a:lnTo>
                  <a:lnTo>
                    <a:pt x="913595" y="382810"/>
                  </a:lnTo>
                  <a:lnTo>
                    <a:pt x="963270" y="374758"/>
                  </a:lnTo>
                  <a:lnTo>
                    <a:pt x="1013420" y="364546"/>
                  </a:lnTo>
                  <a:lnTo>
                    <a:pt x="1063528" y="352073"/>
                  </a:lnTo>
                  <a:lnTo>
                    <a:pt x="1113077" y="337237"/>
                  </a:lnTo>
                  <a:lnTo>
                    <a:pt x="1161548" y="319934"/>
                  </a:lnTo>
                  <a:lnTo>
                    <a:pt x="1208425" y="300063"/>
                  </a:lnTo>
                  <a:lnTo>
                    <a:pt x="1253190" y="277520"/>
                  </a:lnTo>
                  <a:lnTo>
                    <a:pt x="1295325" y="252204"/>
                  </a:lnTo>
                  <a:lnTo>
                    <a:pt x="1334314" y="224012"/>
                  </a:lnTo>
                  <a:lnTo>
                    <a:pt x="1369638" y="192842"/>
                  </a:lnTo>
                  <a:lnTo>
                    <a:pt x="1400781" y="158591"/>
                  </a:lnTo>
                  <a:lnTo>
                    <a:pt x="1427226" y="121157"/>
                  </a:lnTo>
                  <a:lnTo>
                    <a:pt x="1448813" y="73111"/>
                  </a:lnTo>
                  <a:lnTo>
                    <a:pt x="1459056" y="25892"/>
                  </a:lnTo>
                  <a:close/>
                </a:path>
                <a:path w="1459229" h="395604">
                  <a:moveTo>
                    <a:pt x="736853" y="389381"/>
                  </a:moveTo>
                  <a:lnTo>
                    <a:pt x="736853" y="387095"/>
                  </a:lnTo>
                  <a:lnTo>
                    <a:pt x="735330" y="384809"/>
                  </a:lnTo>
                  <a:lnTo>
                    <a:pt x="734568" y="384809"/>
                  </a:lnTo>
                  <a:lnTo>
                    <a:pt x="729996" y="395477"/>
                  </a:lnTo>
                  <a:lnTo>
                    <a:pt x="732318" y="395453"/>
                  </a:lnTo>
                  <a:lnTo>
                    <a:pt x="734568" y="393953"/>
                  </a:lnTo>
                  <a:lnTo>
                    <a:pt x="736092" y="391667"/>
                  </a:lnTo>
                  <a:lnTo>
                    <a:pt x="736853" y="389381"/>
                  </a:lnTo>
                  <a:close/>
                </a:path>
                <a:path w="1459229" h="395604">
                  <a:moveTo>
                    <a:pt x="736853" y="395407"/>
                  </a:moveTo>
                  <a:lnTo>
                    <a:pt x="736853" y="389381"/>
                  </a:lnTo>
                  <a:lnTo>
                    <a:pt x="736092" y="391667"/>
                  </a:lnTo>
                  <a:lnTo>
                    <a:pt x="734568" y="393953"/>
                  </a:lnTo>
                  <a:lnTo>
                    <a:pt x="732318" y="395453"/>
                  </a:lnTo>
                  <a:lnTo>
                    <a:pt x="736853" y="3954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35131" y="3886200"/>
              <a:ext cx="562355" cy="41833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39041" y="3777995"/>
              <a:ext cx="550163" cy="36880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72013" y="3777995"/>
              <a:ext cx="620268" cy="17830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96547" y="3777995"/>
              <a:ext cx="166115" cy="13182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37645" y="3777995"/>
              <a:ext cx="139565" cy="21259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86419" y="3777995"/>
              <a:ext cx="1459230" cy="395605"/>
            </a:xfrm>
            <a:custGeom>
              <a:avLst/>
              <a:gdLst/>
              <a:ahLst/>
              <a:cxnLst/>
              <a:rect l="l" t="t" r="r" b="b"/>
              <a:pathLst>
                <a:path w="1459229" h="395604">
                  <a:moveTo>
                    <a:pt x="13290" y="0"/>
                  </a:moveTo>
                  <a:lnTo>
                    <a:pt x="357" y="0"/>
                  </a:lnTo>
                  <a:lnTo>
                    <a:pt x="0" y="3048"/>
                  </a:lnTo>
                  <a:lnTo>
                    <a:pt x="0" y="3809"/>
                  </a:lnTo>
                  <a:lnTo>
                    <a:pt x="4785" y="49370"/>
                  </a:lnTo>
                  <a:lnTo>
                    <a:pt x="12954" y="74375"/>
                  </a:lnTo>
                  <a:lnTo>
                    <a:pt x="12954" y="3048"/>
                  </a:lnTo>
                  <a:lnTo>
                    <a:pt x="13290" y="0"/>
                  </a:lnTo>
                  <a:close/>
                </a:path>
                <a:path w="1459229" h="395604">
                  <a:moveTo>
                    <a:pt x="729995" y="382524"/>
                  </a:moveTo>
                  <a:lnTo>
                    <a:pt x="683961" y="381914"/>
                  </a:lnTo>
                  <a:lnTo>
                    <a:pt x="636745" y="379551"/>
                  </a:lnTo>
                  <a:lnTo>
                    <a:pt x="588612" y="375348"/>
                  </a:lnTo>
                  <a:lnTo>
                    <a:pt x="539932" y="369224"/>
                  </a:lnTo>
                  <a:lnTo>
                    <a:pt x="491050" y="361097"/>
                  </a:lnTo>
                  <a:lnTo>
                    <a:pt x="442312" y="350885"/>
                  </a:lnTo>
                  <a:lnTo>
                    <a:pt x="394062" y="338505"/>
                  </a:lnTo>
                  <a:lnTo>
                    <a:pt x="346644" y="323877"/>
                  </a:lnTo>
                  <a:lnTo>
                    <a:pt x="300404" y="306917"/>
                  </a:lnTo>
                  <a:lnTo>
                    <a:pt x="255686" y="287544"/>
                  </a:lnTo>
                  <a:lnTo>
                    <a:pt x="212834" y="265675"/>
                  </a:lnTo>
                  <a:lnTo>
                    <a:pt x="172195" y="241228"/>
                  </a:lnTo>
                  <a:lnTo>
                    <a:pt x="134112" y="214121"/>
                  </a:lnTo>
                  <a:lnTo>
                    <a:pt x="96450" y="181136"/>
                  </a:lnTo>
                  <a:lnTo>
                    <a:pt x="62999" y="142850"/>
                  </a:lnTo>
                  <a:lnTo>
                    <a:pt x="36262" y="99950"/>
                  </a:lnTo>
                  <a:lnTo>
                    <a:pt x="18745" y="53120"/>
                  </a:lnTo>
                  <a:lnTo>
                    <a:pt x="12954" y="3048"/>
                  </a:lnTo>
                  <a:lnTo>
                    <a:pt x="12954" y="74375"/>
                  </a:lnTo>
                  <a:lnTo>
                    <a:pt x="40795" y="133116"/>
                  </a:lnTo>
                  <a:lnTo>
                    <a:pt x="68752" y="170148"/>
                  </a:lnTo>
                  <a:lnTo>
                    <a:pt x="101164" y="203185"/>
                  </a:lnTo>
                  <a:lnTo>
                    <a:pt x="136398" y="231648"/>
                  </a:lnTo>
                  <a:lnTo>
                    <a:pt x="174898" y="258077"/>
                  </a:lnTo>
                  <a:lnTo>
                    <a:pt x="215723" y="281862"/>
                  </a:lnTo>
                  <a:lnTo>
                    <a:pt x="258565" y="303093"/>
                  </a:lnTo>
                  <a:lnTo>
                    <a:pt x="303114" y="321865"/>
                  </a:lnTo>
                  <a:lnTo>
                    <a:pt x="349062" y="338270"/>
                  </a:lnTo>
                  <a:lnTo>
                    <a:pt x="396101" y="352402"/>
                  </a:lnTo>
                  <a:lnTo>
                    <a:pt x="443922" y="364353"/>
                  </a:lnTo>
                  <a:lnTo>
                    <a:pt x="492216" y="374217"/>
                  </a:lnTo>
                  <a:lnTo>
                    <a:pt x="540676" y="382086"/>
                  </a:lnTo>
                  <a:lnTo>
                    <a:pt x="588992" y="388053"/>
                  </a:lnTo>
                  <a:lnTo>
                    <a:pt x="636857" y="392213"/>
                  </a:lnTo>
                  <a:lnTo>
                    <a:pt x="683988" y="394657"/>
                  </a:lnTo>
                  <a:lnTo>
                    <a:pt x="723138" y="395355"/>
                  </a:lnTo>
                  <a:lnTo>
                    <a:pt x="723138" y="388619"/>
                  </a:lnTo>
                  <a:lnTo>
                    <a:pt x="723900" y="386333"/>
                  </a:lnTo>
                  <a:lnTo>
                    <a:pt x="725424" y="384048"/>
                  </a:lnTo>
                  <a:lnTo>
                    <a:pt x="727710" y="382524"/>
                  </a:lnTo>
                  <a:lnTo>
                    <a:pt x="729995" y="382524"/>
                  </a:lnTo>
                  <a:close/>
                </a:path>
                <a:path w="1459229" h="395604">
                  <a:moveTo>
                    <a:pt x="729995" y="382524"/>
                  </a:moveTo>
                  <a:lnTo>
                    <a:pt x="727710" y="382524"/>
                  </a:lnTo>
                  <a:lnTo>
                    <a:pt x="725424" y="384048"/>
                  </a:lnTo>
                  <a:lnTo>
                    <a:pt x="723900" y="386333"/>
                  </a:lnTo>
                  <a:lnTo>
                    <a:pt x="723138" y="388619"/>
                  </a:lnTo>
                  <a:lnTo>
                    <a:pt x="723138" y="390905"/>
                  </a:lnTo>
                  <a:lnTo>
                    <a:pt x="725424" y="393191"/>
                  </a:lnTo>
                  <a:lnTo>
                    <a:pt x="729995" y="382524"/>
                  </a:lnTo>
                  <a:close/>
                </a:path>
                <a:path w="1459229" h="395604">
                  <a:moveTo>
                    <a:pt x="1458906" y="25572"/>
                  </a:moveTo>
                  <a:lnTo>
                    <a:pt x="1458827" y="0"/>
                  </a:lnTo>
                  <a:lnTo>
                    <a:pt x="1446424" y="0"/>
                  </a:lnTo>
                  <a:lnTo>
                    <a:pt x="1445664" y="31533"/>
                  </a:lnTo>
                  <a:lnTo>
                    <a:pt x="1433899" y="77326"/>
                  </a:lnTo>
                  <a:lnTo>
                    <a:pt x="1410461" y="123443"/>
                  </a:lnTo>
                  <a:lnTo>
                    <a:pt x="1383151" y="159161"/>
                  </a:lnTo>
                  <a:lnTo>
                    <a:pt x="1351733" y="191734"/>
                  </a:lnTo>
                  <a:lnTo>
                    <a:pt x="1316652" y="221277"/>
                  </a:lnTo>
                  <a:lnTo>
                    <a:pt x="1278353" y="247908"/>
                  </a:lnTo>
                  <a:lnTo>
                    <a:pt x="1237284" y="271743"/>
                  </a:lnTo>
                  <a:lnTo>
                    <a:pt x="1193888" y="292897"/>
                  </a:lnTo>
                  <a:lnTo>
                    <a:pt x="1148611" y="311486"/>
                  </a:lnTo>
                  <a:lnTo>
                    <a:pt x="1101899" y="327626"/>
                  </a:lnTo>
                  <a:lnTo>
                    <a:pt x="1054198" y="341434"/>
                  </a:lnTo>
                  <a:lnTo>
                    <a:pt x="1005952" y="353025"/>
                  </a:lnTo>
                  <a:lnTo>
                    <a:pt x="957607" y="362516"/>
                  </a:lnTo>
                  <a:lnTo>
                    <a:pt x="909610" y="370023"/>
                  </a:lnTo>
                  <a:lnTo>
                    <a:pt x="862404" y="375660"/>
                  </a:lnTo>
                  <a:lnTo>
                    <a:pt x="816436" y="379546"/>
                  </a:lnTo>
                  <a:lnTo>
                    <a:pt x="772152" y="381795"/>
                  </a:lnTo>
                  <a:lnTo>
                    <a:pt x="729995" y="382524"/>
                  </a:lnTo>
                  <a:lnTo>
                    <a:pt x="725424" y="393191"/>
                  </a:lnTo>
                  <a:lnTo>
                    <a:pt x="723138" y="390905"/>
                  </a:lnTo>
                  <a:lnTo>
                    <a:pt x="723138" y="395355"/>
                  </a:lnTo>
                  <a:lnTo>
                    <a:pt x="729995" y="395477"/>
                  </a:lnTo>
                  <a:lnTo>
                    <a:pt x="734568" y="384809"/>
                  </a:lnTo>
                  <a:lnTo>
                    <a:pt x="735330" y="384809"/>
                  </a:lnTo>
                  <a:lnTo>
                    <a:pt x="736854" y="387095"/>
                  </a:lnTo>
                  <a:lnTo>
                    <a:pt x="736854" y="395405"/>
                  </a:lnTo>
                  <a:lnTo>
                    <a:pt x="772641" y="395029"/>
                  </a:lnTo>
                  <a:lnTo>
                    <a:pt x="817814" y="392835"/>
                  </a:lnTo>
                  <a:lnTo>
                    <a:pt x="865000" y="388792"/>
                  </a:lnTo>
                  <a:lnTo>
                    <a:pt x="913683" y="382797"/>
                  </a:lnTo>
                  <a:lnTo>
                    <a:pt x="963349" y="374748"/>
                  </a:lnTo>
                  <a:lnTo>
                    <a:pt x="1013482" y="364541"/>
                  </a:lnTo>
                  <a:lnTo>
                    <a:pt x="1063568" y="352073"/>
                  </a:lnTo>
                  <a:lnTo>
                    <a:pt x="1113091" y="337242"/>
                  </a:lnTo>
                  <a:lnTo>
                    <a:pt x="1161537" y="319944"/>
                  </a:lnTo>
                  <a:lnTo>
                    <a:pt x="1208390" y="300077"/>
                  </a:lnTo>
                  <a:lnTo>
                    <a:pt x="1253136" y="277538"/>
                  </a:lnTo>
                  <a:lnTo>
                    <a:pt x="1295259" y="252224"/>
                  </a:lnTo>
                  <a:lnTo>
                    <a:pt x="1334245" y="224032"/>
                  </a:lnTo>
                  <a:lnTo>
                    <a:pt x="1369578" y="192858"/>
                  </a:lnTo>
                  <a:lnTo>
                    <a:pt x="1400743" y="158601"/>
                  </a:lnTo>
                  <a:lnTo>
                    <a:pt x="1427225" y="121157"/>
                  </a:lnTo>
                  <a:lnTo>
                    <a:pt x="1448692" y="72853"/>
                  </a:lnTo>
                  <a:lnTo>
                    <a:pt x="1458906" y="25572"/>
                  </a:lnTo>
                  <a:close/>
                </a:path>
                <a:path w="1459229" h="395604">
                  <a:moveTo>
                    <a:pt x="736854" y="389381"/>
                  </a:moveTo>
                  <a:lnTo>
                    <a:pt x="736854" y="387095"/>
                  </a:lnTo>
                  <a:lnTo>
                    <a:pt x="735330" y="384809"/>
                  </a:lnTo>
                  <a:lnTo>
                    <a:pt x="734568" y="384809"/>
                  </a:lnTo>
                  <a:lnTo>
                    <a:pt x="729995" y="395477"/>
                  </a:lnTo>
                  <a:lnTo>
                    <a:pt x="732318" y="395453"/>
                  </a:lnTo>
                  <a:lnTo>
                    <a:pt x="734568" y="393953"/>
                  </a:lnTo>
                  <a:lnTo>
                    <a:pt x="736092" y="391667"/>
                  </a:lnTo>
                  <a:lnTo>
                    <a:pt x="736854" y="389381"/>
                  </a:lnTo>
                  <a:close/>
                </a:path>
                <a:path w="1459229" h="395604">
                  <a:moveTo>
                    <a:pt x="736854" y="395405"/>
                  </a:moveTo>
                  <a:lnTo>
                    <a:pt x="736854" y="389381"/>
                  </a:lnTo>
                  <a:lnTo>
                    <a:pt x="736092" y="391667"/>
                  </a:lnTo>
                  <a:lnTo>
                    <a:pt x="734568" y="393953"/>
                  </a:lnTo>
                  <a:lnTo>
                    <a:pt x="732318" y="395453"/>
                  </a:lnTo>
                  <a:lnTo>
                    <a:pt x="736854" y="395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4079" y="3886200"/>
              <a:ext cx="563118" cy="41833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18751" y="3777995"/>
              <a:ext cx="550163" cy="36880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51723" y="3777995"/>
              <a:ext cx="620268" cy="17830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76257" y="3777995"/>
              <a:ext cx="165354" cy="13182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17355" y="3777995"/>
              <a:ext cx="138953" cy="21259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52271" y="3777995"/>
              <a:ext cx="342900" cy="433070"/>
            </a:xfrm>
            <a:custGeom>
              <a:avLst/>
              <a:gdLst/>
              <a:ahLst/>
              <a:cxnLst/>
              <a:rect l="l" t="t" r="r" b="b"/>
              <a:pathLst>
                <a:path w="342900" h="433070">
                  <a:moveTo>
                    <a:pt x="342902" y="425195"/>
                  </a:moveTo>
                  <a:lnTo>
                    <a:pt x="15768" y="0"/>
                  </a:lnTo>
                  <a:lnTo>
                    <a:pt x="0" y="0"/>
                  </a:lnTo>
                  <a:lnTo>
                    <a:pt x="332996" y="432815"/>
                  </a:lnTo>
                  <a:lnTo>
                    <a:pt x="342902" y="425195"/>
                  </a:lnTo>
                  <a:close/>
                </a:path>
              </a:pathLst>
            </a:custGeom>
            <a:solidFill>
              <a:srgbClr val="B8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4839" y="46352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78899" y="4635245"/>
              <a:ext cx="1459865" cy="699770"/>
            </a:xfrm>
            <a:custGeom>
              <a:avLst/>
              <a:gdLst/>
              <a:ahLst/>
              <a:cxnLst/>
              <a:rect l="l" t="t" r="r" b="b"/>
              <a:pathLst>
                <a:path w="1459864" h="699770">
                  <a:moveTo>
                    <a:pt x="659550" y="0"/>
                  </a:moveTo>
                  <a:lnTo>
                    <a:pt x="523544" y="0"/>
                  </a:lnTo>
                  <a:lnTo>
                    <a:pt x="517034" y="838"/>
                  </a:lnTo>
                  <a:lnTo>
                    <a:pt x="469415" y="8719"/>
                  </a:lnTo>
                  <a:lnTo>
                    <a:pt x="423171" y="18167"/>
                  </a:lnTo>
                  <a:lnTo>
                    <a:pt x="378523" y="29153"/>
                  </a:lnTo>
                  <a:lnTo>
                    <a:pt x="335690" y="41648"/>
                  </a:lnTo>
                  <a:lnTo>
                    <a:pt x="294894" y="55625"/>
                  </a:lnTo>
                  <a:lnTo>
                    <a:pt x="252965" y="71798"/>
                  </a:lnTo>
                  <a:lnTo>
                    <a:pt x="209034" y="91906"/>
                  </a:lnTo>
                  <a:lnTo>
                    <a:pt x="164941" y="115939"/>
                  </a:lnTo>
                  <a:lnTo>
                    <a:pt x="122526" y="143891"/>
                  </a:lnTo>
                  <a:lnTo>
                    <a:pt x="83627" y="175753"/>
                  </a:lnTo>
                  <a:lnTo>
                    <a:pt x="50085" y="211517"/>
                  </a:lnTo>
                  <a:lnTo>
                    <a:pt x="23740" y="251174"/>
                  </a:lnTo>
                  <a:lnTo>
                    <a:pt x="6432" y="294717"/>
                  </a:lnTo>
                  <a:lnTo>
                    <a:pt x="0" y="342138"/>
                  </a:lnTo>
                  <a:lnTo>
                    <a:pt x="7262" y="393597"/>
                  </a:lnTo>
                  <a:lnTo>
                    <a:pt x="12953" y="406739"/>
                  </a:lnTo>
                  <a:lnTo>
                    <a:pt x="12953" y="342138"/>
                  </a:lnTo>
                  <a:lnTo>
                    <a:pt x="18522" y="298890"/>
                  </a:lnTo>
                  <a:lnTo>
                    <a:pt x="34127" y="258769"/>
                  </a:lnTo>
                  <a:lnTo>
                    <a:pt x="58164" y="221837"/>
                  </a:lnTo>
                  <a:lnTo>
                    <a:pt x="89027" y="188159"/>
                  </a:lnTo>
                  <a:lnTo>
                    <a:pt x="125110" y="157795"/>
                  </a:lnTo>
                  <a:lnTo>
                    <a:pt x="164941" y="130736"/>
                  </a:lnTo>
                  <a:lnTo>
                    <a:pt x="206520" y="107267"/>
                  </a:lnTo>
                  <a:lnTo>
                    <a:pt x="248635" y="87227"/>
                  </a:lnTo>
                  <a:lnTo>
                    <a:pt x="289550" y="70754"/>
                  </a:lnTo>
                  <a:lnTo>
                    <a:pt x="327659" y="57912"/>
                  </a:lnTo>
                  <a:lnTo>
                    <a:pt x="369438" y="44944"/>
                  </a:lnTo>
                  <a:lnTo>
                    <a:pt x="413379" y="33483"/>
                  </a:lnTo>
                  <a:lnTo>
                    <a:pt x="459234" y="23566"/>
                  </a:lnTo>
                  <a:lnTo>
                    <a:pt x="506753" y="15231"/>
                  </a:lnTo>
                  <a:lnTo>
                    <a:pt x="555685" y="8514"/>
                  </a:lnTo>
                  <a:lnTo>
                    <a:pt x="605780" y="3454"/>
                  </a:lnTo>
                  <a:lnTo>
                    <a:pt x="656787" y="87"/>
                  </a:lnTo>
                  <a:lnTo>
                    <a:pt x="659550" y="0"/>
                  </a:lnTo>
                  <a:close/>
                </a:path>
                <a:path w="1459864" h="699770">
                  <a:moveTo>
                    <a:pt x="729995" y="686562"/>
                  </a:moveTo>
                  <a:lnTo>
                    <a:pt x="684099" y="685796"/>
                  </a:lnTo>
                  <a:lnTo>
                    <a:pt x="637095" y="683575"/>
                  </a:lnTo>
                  <a:lnTo>
                    <a:pt x="589287" y="679797"/>
                  </a:lnTo>
                  <a:lnTo>
                    <a:pt x="540975" y="674355"/>
                  </a:lnTo>
                  <a:lnTo>
                    <a:pt x="492462" y="667147"/>
                  </a:lnTo>
                  <a:lnTo>
                    <a:pt x="444050" y="658069"/>
                  </a:lnTo>
                  <a:lnTo>
                    <a:pt x="396040" y="647015"/>
                  </a:lnTo>
                  <a:lnTo>
                    <a:pt x="348735" y="633883"/>
                  </a:lnTo>
                  <a:lnTo>
                    <a:pt x="302437" y="618568"/>
                  </a:lnTo>
                  <a:lnTo>
                    <a:pt x="257447" y="600967"/>
                  </a:lnTo>
                  <a:lnTo>
                    <a:pt x="214068" y="580974"/>
                  </a:lnTo>
                  <a:lnTo>
                    <a:pt x="172602" y="558486"/>
                  </a:lnTo>
                  <a:lnTo>
                    <a:pt x="133350" y="533400"/>
                  </a:lnTo>
                  <a:lnTo>
                    <a:pt x="97061" y="504090"/>
                  </a:lnTo>
                  <a:lnTo>
                    <a:pt x="64008" y="470053"/>
                  </a:lnTo>
                  <a:lnTo>
                    <a:pt x="37060" y="431544"/>
                  </a:lnTo>
                  <a:lnTo>
                    <a:pt x="19085" y="388821"/>
                  </a:lnTo>
                  <a:lnTo>
                    <a:pt x="12953" y="342138"/>
                  </a:lnTo>
                  <a:lnTo>
                    <a:pt x="12953" y="406739"/>
                  </a:lnTo>
                  <a:lnTo>
                    <a:pt x="57929" y="482551"/>
                  </a:lnTo>
                  <a:lnTo>
                    <a:pt x="95217" y="519229"/>
                  </a:lnTo>
                  <a:lnTo>
                    <a:pt x="136397" y="550163"/>
                  </a:lnTo>
                  <a:lnTo>
                    <a:pt x="178957" y="576569"/>
                  </a:lnTo>
                  <a:lnTo>
                    <a:pt x="224035" y="599962"/>
                  </a:lnTo>
                  <a:lnTo>
                    <a:pt x="271254" y="620486"/>
                  </a:lnTo>
                  <a:lnTo>
                    <a:pt x="320234" y="638282"/>
                  </a:lnTo>
                  <a:lnTo>
                    <a:pt x="370596" y="653492"/>
                  </a:lnTo>
                  <a:lnTo>
                    <a:pt x="421962" y="666259"/>
                  </a:lnTo>
                  <a:lnTo>
                    <a:pt x="473951" y="676725"/>
                  </a:lnTo>
                  <a:lnTo>
                    <a:pt x="526186" y="685032"/>
                  </a:lnTo>
                  <a:lnTo>
                    <a:pt x="578287" y="691322"/>
                  </a:lnTo>
                  <a:lnTo>
                    <a:pt x="629875" y="695738"/>
                  </a:lnTo>
                  <a:lnTo>
                    <a:pt x="680570" y="698422"/>
                  </a:lnTo>
                  <a:lnTo>
                    <a:pt x="723137" y="699364"/>
                  </a:lnTo>
                  <a:lnTo>
                    <a:pt x="723137" y="689609"/>
                  </a:lnTo>
                  <a:lnTo>
                    <a:pt x="726121" y="686626"/>
                  </a:lnTo>
                  <a:lnTo>
                    <a:pt x="729995" y="686562"/>
                  </a:lnTo>
                  <a:close/>
                </a:path>
                <a:path w="1459864" h="699770">
                  <a:moveTo>
                    <a:pt x="736091" y="696467"/>
                  </a:moveTo>
                  <a:lnTo>
                    <a:pt x="736091" y="689609"/>
                  </a:lnTo>
                  <a:lnTo>
                    <a:pt x="733827" y="686590"/>
                  </a:lnTo>
                  <a:lnTo>
                    <a:pt x="726121" y="686626"/>
                  </a:lnTo>
                  <a:lnTo>
                    <a:pt x="723137" y="689609"/>
                  </a:lnTo>
                  <a:lnTo>
                    <a:pt x="723899" y="692657"/>
                  </a:lnTo>
                  <a:lnTo>
                    <a:pt x="723899" y="696467"/>
                  </a:lnTo>
                  <a:lnTo>
                    <a:pt x="726121" y="699430"/>
                  </a:lnTo>
                  <a:lnTo>
                    <a:pt x="733827" y="699487"/>
                  </a:lnTo>
                  <a:lnTo>
                    <a:pt x="736091" y="696467"/>
                  </a:lnTo>
                  <a:close/>
                </a:path>
                <a:path w="1459864" h="699770">
                  <a:moveTo>
                    <a:pt x="726121" y="699430"/>
                  </a:moveTo>
                  <a:lnTo>
                    <a:pt x="723899" y="696467"/>
                  </a:lnTo>
                  <a:lnTo>
                    <a:pt x="723899" y="692657"/>
                  </a:lnTo>
                  <a:lnTo>
                    <a:pt x="723137" y="689609"/>
                  </a:lnTo>
                  <a:lnTo>
                    <a:pt x="723137" y="699364"/>
                  </a:lnTo>
                  <a:lnTo>
                    <a:pt x="726121" y="699430"/>
                  </a:lnTo>
                  <a:close/>
                </a:path>
                <a:path w="1459864" h="699770">
                  <a:moveTo>
                    <a:pt x="1446578" y="408945"/>
                  </a:moveTo>
                  <a:lnTo>
                    <a:pt x="1446578" y="324840"/>
                  </a:lnTo>
                  <a:lnTo>
                    <a:pt x="1445871" y="365839"/>
                  </a:lnTo>
                  <a:lnTo>
                    <a:pt x="1434220" y="408056"/>
                  </a:lnTo>
                  <a:lnTo>
                    <a:pt x="1410461" y="451103"/>
                  </a:lnTo>
                  <a:lnTo>
                    <a:pt x="1381597" y="485682"/>
                  </a:lnTo>
                  <a:lnTo>
                    <a:pt x="1347533" y="517081"/>
                  </a:lnTo>
                  <a:lnTo>
                    <a:pt x="1308924" y="545411"/>
                  </a:lnTo>
                  <a:lnTo>
                    <a:pt x="1266427" y="570785"/>
                  </a:lnTo>
                  <a:lnTo>
                    <a:pt x="1220698" y="593312"/>
                  </a:lnTo>
                  <a:lnTo>
                    <a:pt x="1172393" y="613106"/>
                  </a:lnTo>
                  <a:lnTo>
                    <a:pt x="1122169" y="630276"/>
                  </a:lnTo>
                  <a:lnTo>
                    <a:pt x="1070680" y="644935"/>
                  </a:lnTo>
                  <a:lnTo>
                    <a:pt x="1018384" y="657231"/>
                  </a:lnTo>
                  <a:lnTo>
                    <a:pt x="966537" y="667162"/>
                  </a:lnTo>
                  <a:lnTo>
                    <a:pt x="915195" y="674952"/>
                  </a:lnTo>
                  <a:lnTo>
                    <a:pt x="864942" y="680698"/>
                  </a:lnTo>
                  <a:lnTo>
                    <a:pt x="817249" y="684445"/>
                  </a:lnTo>
                  <a:lnTo>
                    <a:pt x="771958" y="686370"/>
                  </a:lnTo>
                  <a:lnTo>
                    <a:pt x="729995" y="686562"/>
                  </a:lnTo>
                  <a:lnTo>
                    <a:pt x="733827" y="686590"/>
                  </a:lnTo>
                  <a:lnTo>
                    <a:pt x="736091" y="689609"/>
                  </a:lnTo>
                  <a:lnTo>
                    <a:pt x="736091" y="699470"/>
                  </a:lnTo>
                  <a:lnTo>
                    <a:pt x="770355" y="699216"/>
                  </a:lnTo>
                  <a:lnTo>
                    <a:pt x="813820" y="697369"/>
                  </a:lnTo>
                  <a:lnTo>
                    <a:pt x="859816" y="693869"/>
                  </a:lnTo>
                  <a:lnTo>
                    <a:pt x="907768" y="688609"/>
                  </a:lnTo>
                  <a:lnTo>
                    <a:pt x="957102" y="681484"/>
                  </a:lnTo>
                  <a:lnTo>
                    <a:pt x="1007241" y="672387"/>
                  </a:lnTo>
                  <a:lnTo>
                    <a:pt x="1057612" y="661212"/>
                  </a:lnTo>
                  <a:lnTo>
                    <a:pt x="1107638" y="647852"/>
                  </a:lnTo>
                  <a:lnTo>
                    <a:pt x="1156745" y="632201"/>
                  </a:lnTo>
                  <a:lnTo>
                    <a:pt x="1204359" y="614154"/>
                  </a:lnTo>
                  <a:lnTo>
                    <a:pt x="1249903" y="593603"/>
                  </a:lnTo>
                  <a:lnTo>
                    <a:pt x="1292803" y="570442"/>
                  </a:lnTo>
                  <a:lnTo>
                    <a:pt x="1332485" y="544566"/>
                  </a:lnTo>
                  <a:lnTo>
                    <a:pt x="1368372" y="515868"/>
                  </a:lnTo>
                  <a:lnTo>
                    <a:pt x="1399890" y="484241"/>
                  </a:lnTo>
                  <a:lnTo>
                    <a:pt x="1426463" y="449579"/>
                  </a:lnTo>
                  <a:lnTo>
                    <a:pt x="1446578" y="408945"/>
                  </a:lnTo>
                  <a:close/>
                </a:path>
                <a:path w="1459864" h="699770">
                  <a:moveTo>
                    <a:pt x="736091" y="699470"/>
                  </a:moveTo>
                  <a:lnTo>
                    <a:pt x="736091" y="696467"/>
                  </a:lnTo>
                  <a:lnTo>
                    <a:pt x="733827" y="699487"/>
                  </a:lnTo>
                  <a:lnTo>
                    <a:pt x="736091" y="699470"/>
                  </a:lnTo>
                  <a:close/>
                </a:path>
                <a:path w="1459864" h="699770">
                  <a:moveTo>
                    <a:pt x="1459543" y="357764"/>
                  </a:moveTo>
                  <a:lnTo>
                    <a:pt x="1457988" y="314078"/>
                  </a:lnTo>
                  <a:lnTo>
                    <a:pt x="1446180" y="272414"/>
                  </a:lnTo>
                  <a:lnTo>
                    <a:pt x="1425479" y="233180"/>
                  </a:lnTo>
                  <a:lnTo>
                    <a:pt x="1397242" y="196780"/>
                  </a:lnTo>
                  <a:lnTo>
                    <a:pt x="1362827" y="163622"/>
                  </a:lnTo>
                  <a:lnTo>
                    <a:pt x="1323593" y="134112"/>
                  </a:lnTo>
                  <a:lnTo>
                    <a:pt x="1286286" y="111010"/>
                  </a:lnTo>
                  <a:lnTo>
                    <a:pt x="1246611" y="89958"/>
                  </a:lnTo>
                  <a:lnTo>
                    <a:pt x="1204788" y="70927"/>
                  </a:lnTo>
                  <a:lnTo>
                    <a:pt x="1161037" y="53890"/>
                  </a:lnTo>
                  <a:lnTo>
                    <a:pt x="1115578" y="38817"/>
                  </a:lnTo>
                  <a:lnTo>
                    <a:pt x="1068632" y="25680"/>
                  </a:lnTo>
                  <a:lnTo>
                    <a:pt x="1020418" y="14451"/>
                  </a:lnTo>
                  <a:lnTo>
                    <a:pt x="971158" y="5102"/>
                  </a:lnTo>
                  <a:lnTo>
                    <a:pt x="937075" y="0"/>
                  </a:lnTo>
                  <a:lnTo>
                    <a:pt x="798773" y="0"/>
                  </a:lnTo>
                  <a:lnTo>
                    <a:pt x="812785" y="519"/>
                  </a:lnTo>
                  <a:lnTo>
                    <a:pt x="865213" y="4328"/>
                  </a:lnTo>
                  <a:lnTo>
                    <a:pt x="916761" y="9957"/>
                  </a:lnTo>
                  <a:lnTo>
                    <a:pt x="967992" y="17534"/>
                  </a:lnTo>
                  <a:lnTo>
                    <a:pt x="1018584" y="27111"/>
                  </a:lnTo>
                  <a:lnTo>
                    <a:pt x="1067688" y="38587"/>
                  </a:lnTo>
                  <a:lnTo>
                    <a:pt x="1115653" y="52139"/>
                  </a:lnTo>
                  <a:lnTo>
                    <a:pt x="1162029" y="67757"/>
                  </a:lnTo>
                  <a:lnTo>
                    <a:pt x="1206567" y="85478"/>
                  </a:lnTo>
                  <a:lnTo>
                    <a:pt x="1249014" y="105341"/>
                  </a:lnTo>
                  <a:lnTo>
                    <a:pt x="1289123" y="127381"/>
                  </a:lnTo>
                  <a:lnTo>
                    <a:pt x="1326641" y="151637"/>
                  </a:lnTo>
                  <a:lnTo>
                    <a:pt x="1363216" y="180750"/>
                  </a:lnTo>
                  <a:lnTo>
                    <a:pt x="1394660" y="213013"/>
                  </a:lnTo>
                  <a:lnTo>
                    <a:pt x="1419809" y="248040"/>
                  </a:lnTo>
                  <a:lnTo>
                    <a:pt x="1437503" y="285445"/>
                  </a:lnTo>
                  <a:lnTo>
                    <a:pt x="1446578" y="324840"/>
                  </a:lnTo>
                  <a:lnTo>
                    <a:pt x="1446578" y="408945"/>
                  </a:lnTo>
                  <a:lnTo>
                    <a:pt x="1449487" y="403067"/>
                  </a:lnTo>
                  <a:lnTo>
                    <a:pt x="1459543" y="357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911231" y="4696967"/>
              <a:ext cx="701801" cy="52120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26549" y="5047488"/>
              <a:ext cx="701040" cy="44500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865767" y="4635245"/>
              <a:ext cx="701040" cy="30251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89667" y="4696967"/>
              <a:ext cx="321945" cy="210820"/>
            </a:xfrm>
            <a:custGeom>
              <a:avLst/>
              <a:gdLst/>
              <a:ahLst/>
              <a:cxnLst/>
              <a:rect l="l" t="t" r="r" b="b"/>
              <a:pathLst>
                <a:path w="321945" h="210820">
                  <a:moveTo>
                    <a:pt x="321563" y="210312"/>
                  </a:moveTo>
                  <a:lnTo>
                    <a:pt x="219455" y="125730"/>
                  </a:lnTo>
                  <a:lnTo>
                    <a:pt x="246887" y="117348"/>
                  </a:lnTo>
                  <a:lnTo>
                    <a:pt x="164591" y="66294"/>
                  </a:lnTo>
                  <a:lnTo>
                    <a:pt x="191262" y="59436"/>
                  </a:lnTo>
                  <a:lnTo>
                    <a:pt x="125729" y="0"/>
                  </a:lnTo>
                  <a:lnTo>
                    <a:pt x="0" y="38100"/>
                  </a:lnTo>
                  <a:lnTo>
                    <a:pt x="112775" y="81534"/>
                  </a:lnTo>
                  <a:lnTo>
                    <a:pt x="74675" y="94487"/>
                  </a:lnTo>
                  <a:lnTo>
                    <a:pt x="181355" y="136398"/>
                  </a:lnTo>
                  <a:lnTo>
                    <a:pt x="148589" y="145542"/>
                  </a:lnTo>
                  <a:lnTo>
                    <a:pt x="321563" y="210312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69855" y="4690110"/>
              <a:ext cx="374650" cy="236220"/>
            </a:xfrm>
            <a:custGeom>
              <a:avLst/>
              <a:gdLst/>
              <a:ahLst/>
              <a:cxnLst/>
              <a:rect l="l" t="t" r="r" b="b"/>
              <a:pathLst>
                <a:path w="374650" h="236220">
                  <a:moveTo>
                    <a:pt x="224027" y="69341"/>
                  </a:moveTo>
                  <a:lnTo>
                    <a:pt x="147065" y="0"/>
                  </a:lnTo>
                  <a:lnTo>
                    <a:pt x="0" y="44195"/>
                  </a:lnTo>
                  <a:lnTo>
                    <a:pt x="21336" y="52430"/>
                  </a:lnTo>
                  <a:lnTo>
                    <a:pt x="21336" y="51053"/>
                  </a:lnTo>
                  <a:lnTo>
                    <a:pt x="22098" y="38862"/>
                  </a:lnTo>
                  <a:lnTo>
                    <a:pt x="39449" y="45598"/>
                  </a:lnTo>
                  <a:lnTo>
                    <a:pt x="141731" y="14790"/>
                  </a:lnTo>
                  <a:lnTo>
                    <a:pt x="141731" y="11429"/>
                  </a:lnTo>
                  <a:lnTo>
                    <a:pt x="147827" y="12953"/>
                  </a:lnTo>
                  <a:lnTo>
                    <a:pt x="147827" y="17023"/>
                  </a:lnTo>
                  <a:lnTo>
                    <a:pt x="198108" y="63164"/>
                  </a:lnTo>
                  <a:lnTo>
                    <a:pt x="209550" y="60198"/>
                  </a:lnTo>
                  <a:lnTo>
                    <a:pt x="209550" y="73106"/>
                  </a:lnTo>
                  <a:lnTo>
                    <a:pt x="224027" y="69341"/>
                  </a:lnTo>
                  <a:close/>
                </a:path>
                <a:path w="374650" h="236220">
                  <a:moveTo>
                    <a:pt x="39449" y="45598"/>
                  </a:moveTo>
                  <a:lnTo>
                    <a:pt x="22098" y="38862"/>
                  </a:lnTo>
                  <a:lnTo>
                    <a:pt x="21336" y="51053"/>
                  </a:lnTo>
                  <a:lnTo>
                    <a:pt x="39449" y="45598"/>
                  </a:lnTo>
                  <a:close/>
                </a:path>
                <a:path w="374650" h="236220">
                  <a:moveTo>
                    <a:pt x="151637" y="89153"/>
                  </a:moveTo>
                  <a:lnTo>
                    <a:pt x="39449" y="45598"/>
                  </a:lnTo>
                  <a:lnTo>
                    <a:pt x="21336" y="51053"/>
                  </a:lnTo>
                  <a:lnTo>
                    <a:pt x="21336" y="52430"/>
                  </a:lnTo>
                  <a:lnTo>
                    <a:pt x="113922" y="88166"/>
                  </a:lnTo>
                  <a:lnTo>
                    <a:pt x="131063" y="82295"/>
                  </a:lnTo>
                  <a:lnTo>
                    <a:pt x="131063" y="95918"/>
                  </a:lnTo>
                  <a:lnTo>
                    <a:pt x="151637" y="89153"/>
                  </a:lnTo>
                  <a:close/>
                </a:path>
                <a:path w="374650" h="236220">
                  <a:moveTo>
                    <a:pt x="131063" y="95918"/>
                  </a:moveTo>
                  <a:lnTo>
                    <a:pt x="131063" y="82295"/>
                  </a:lnTo>
                  <a:lnTo>
                    <a:pt x="130301" y="94487"/>
                  </a:lnTo>
                  <a:lnTo>
                    <a:pt x="113922" y="88166"/>
                  </a:lnTo>
                  <a:lnTo>
                    <a:pt x="75437" y="101345"/>
                  </a:lnTo>
                  <a:lnTo>
                    <a:pt x="96012" y="109346"/>
                  </a:lnTo>
                  <a:lnTo>
                    <a:pt x="96012" y="107441"/>
                  </a:lnTo>
                  <a:lnTo>
                    <a:pt x="96774" y="95250"/>
                  </a:lnTo>
                  <a:lnTo>
                    <a:pt x="113382" y="101731"/>
                  </a:lnTo>
                  <a:lnTo>
                    <a:pt x="131063" y="95918"/>
                  </a:lnTo>
                  <a:close/>
                </a:path>
                <a:path w="374650" h="236220">
                  <a:moveTo>
                    <a:pt x="113382" y="101731"/>
                  </a:moveTo>
                  <a:lnTo>
                    <a:pt x="96774" y="95250"/>
                  </a:lnTo>
                  <a:lnTo>
                    <a:pt x="96012" y="107441"/>
                  </a:lnTo>
                  <a:lnTo>
                    <a:pt x="113382" y="101731"/>
                  </a:lnTo>
                  <a:close/>
                </a:path>
                <a:path w="374650" h="236220">
                  <a:moveTo>
                    <a:pt x="221741" y="144017"/>
                  </a:moveTo>
                  <a:lnTo>
                    <a:pt x="113382" y="101731"/>
                  </a:lnTo>
                  <a:lnTo>
                    <a:pt x="96012" y="107441"/>
                  </a:lnTo>
                  <a:lnTo>
                    <a:pt x="96012" y="109346"/>
                  </a:lnTo>
                  <a:lnTo>
                    <a:pt x="180957" y="142381"/>
                  </a:lnTo>
                  <a:lnTo>
                    <a:pt x="199643" y="137160"/>
                  </a:lnTo>
                  <a:lnTo>
                    <a:pt x="199643" y="150192"/>
                  </a:lnTo>
                  <a:lnTo>
                    <a:pt x="221741" y="144017"/>
                  </a:lnTo>
                  <a:close/>
                </a:path>
                <a:path w="374650" h="236220">
                  <a:moveTo>
                    <a:pt x="131063" y="82295"/>
                  </a:moveTo>
                  <a:lnTo>
                    <a:pt x="113922" y="88166"/>
                  </a:lnTo>
                  <a:lnTo>
                    <a:pt x="130301" y="94487"/>
                  </a:lnTo>
                  <a:lnTo>
                    <a:pt x="131063" y="82295"/>
                  </a:lnTo>
                  <a:close/>
                </a:path>
                <a:path w="374650" h="236220">
                  <a:moveTo>
                    <a:pt x="147827" y="12953"/>
                  </a:moveTo>
                  <a:lnTo>
                    <a:pt x="141731" y="11429"/>
                  </a:lnTo>
                  <a:lnTo>
                    <a:pt x="144488" y="13959"/>
                  </a:lnTo>
                  <a:lnTo>
                    <a:pt x="147827" y="12953"/>
                  </a:lnTo>
                  <a:close/>
                </a:path>
                <a:path w="374650" h="236220">
                  <a:moveTo>
                    <a:pt x="144488" y="13959"/>
                  </a:moveTo>
                  <a:lnTo>
                    <a:pt x="141731" y="11429"/>
                  </a:lnTo>
                  <a:lnTo>
                    <a:pt x="141731" y="14790"/>
                  </a:lnTo>
                  <a:lnTo>
                    <a:pt x="144488" y="13959"/>
                  </a:lnTo>
                  <a:close/>
                </a:path>
                <a:path w="374650" h="236220">
                  <a:moveTo>
                    <a:pt x="147827" y="17023"/>
                  </a:moveTo>
                  <a:lnTo>
                    <a:pt x="147827" y="12953"/>
                  </a:lnTo>
                  <a:lnTo>
                    <a:pt x="144488" y="13959"/>
                  </a:lnTo>
                  <a:lnTo>
                    <a:pt x="147827" y="17023"/>
                  </a:lnTo>
                  <a:close/>
                </a:path>
                <a:path w="374650" h="236220">
                  <a:moveTo>
                    <a:pt x="199643" y="150192"/>
                  </a:moveTo>
                  <a:lnTo>
                    <a:pt x="199643" y="137160"/>
                  </a:lnTo>
                  <a:lnTo>
                    <a:pt x="198881" y="149351"/>
                  </a:lnTo>
                  <a:lnTo>
                    <a:pt x="180957" y="142381"/>
                  </a:lnTo>
                  <a:lnTo>
                    <a:pt x="147827" y="151637"/>
                  </a:lnTo>
                  <a:lnTo>
                    <a:pt x="169925" y="159896"/>
                  </a:lnTo>
                  <a:lnTo>
                    <a:pt x="169925" y="158495"/>
                  </a:lnTo>
                  <a:lnTo>
                    <a:pt x="170687" y="146303"/>
                  </a:lnTo>
                  <a:lnTo>
                    <a:pt x="189008" y="153164"/>
                  </a:lnTo>
                  <a:lnTo>
                    <a:pt x="199643" y="150192"/>
                  </a:lnTo>
                  <a:close/>
                </a:path>
                <a:path w="374650" h="236220">
                  <a:moveTo>
                    <a:pt x="209550" y="73106"/>
                  </a:moveTo>
                  <a:lnTo>
                    <a:pt x="209550" y="60198"/>
                  </a:lnTo>
                  <a:lnTo>
                    <a:pt x="206501" y="70865"/>
                  </a:lnTo>
                  <a:lnTo>
                    <a:pt x="198108" y="63164"/>
                  </a:lnTo>
                  <a:lnTo>
                    <a:pt x="168401" y="70865"/>
                  </a:lnTo>
                  <a:lnTo>
                    <a:pt x="185927" y="81749"/>
                  </a:lnTo>
                  <a:lnTo>
                    <a:pt x="185927" y="79248"/>
                  </a:lnTo>
                  <a:lnTo>
                    <a:pt x="187451" y="67817"/>
                  </a:lnTo>
                  <a:lnTo>
                    <a:pt x="200020" y="75583"/>
                  </a:lnTo>
                  <a:lnTo>
                    <a:pt x="209550" y="73106"/>
                  </a:lnTo>
                  <a:close/>
                </a:path>
                <a:path w="374650" h="236220">
                  <a:moveTo>
                    <a:pt x="189008" y="153164"/>
                  </a:moveTo>
                  <a:lnTo>
                    <a:pt x="170687" y="146303"/>
                  </a:lnTo>
                  <a:lnTo>
                    <a:pt x="169925" y="158495"/>
                  </a:lnTo>
                  <a:lnTo>
                    <a:pt x="189008" y="153164"/>
                  </a:lnTo>
                  <a:close/>
                </a:path>
                <a:path w="374650" h="236220">
                  <a:moveTo>
                    <a:pt x="336293" y="222074"/>
                  </a:moveTo>
                  <a:lnTo>
                    <a:pt x="306825" y="197280"/>
                  </a:lnTo>
                  <a:lnTo>
                    <a:pt x="189008" y="153164"/>
                  </a:lnTo>
                  <a:lnTo>
                    <a:pt x="169925" y="158495"/>
                  </a:lnTo>
                  <a:lnTo>
                    <a:pt x="169925" y="159896"/>
                  </a:lnTo>
                  <a:lnTo>
                    <a:pt x="336293" y="222074"/>
                  </a:lnTo>
                  <a:close/>
                </a:path>
                <a:path w="374650" h="236220">
                  <a:moveTo>
                    <a:pt x="199643" y="137160"/>
                  </a:moveTo>
                  <a:lnTo>
                    <a:pt x="180957" y="142381"/>
                  </a:lnTo>
                  <a:lnTo>
                    <a:pt x="198881" y="149351"/>
                  </a:lnTo>
                  <a:lnTo>
                    <a:pt x="199643" y="137160"/>
                  </a:lnTo>
                  <a:close/>
                </a:path>
                <a:path w="374650" h="236220">
                  <a:moveTo>
                    <a:pt x="200020" y="75583"/>
                  </a:moveTo>
                  <a:lnTo>
                    <a:pt x="187451" y="67817"/>
                  </a:lnTo>
                  <a:lnTo>
                    <a:pt x="185927" y="79248"/>
                  </a:lnTo>
                  <a:lnTo>
                    <a:pt x="200020" y="75583"/>
                  </a:lnTo>
                  <a:close/>
                </a:path>
                <a:path w="374650" h="236220">
                  <a:moveTo>
                    <a:pt x="281177" y="125729"/>
                  </a:moveTo>
                  <a:lnTo>
                    <a:pt x="200020" y="75583"/>
                  </a:lnTo>
                  <a:lnTo>
                    <a:pt x="185927" y="79248"/>
                  </a:lnTo>
                  <a:lnTo>
                    <a:pt x="185927" y="81749"/>
                  </a:lnTo>
                  <a:lnTo>
                    <a:pt x="250975" y="122141"/>
                  </a:lnTo>
                  <a:lnTo>
                    <a:pt x="264413" y="118110"/>
                  </a:lnTo>
                  <a:lnTo>
                    <a:pt x="264413" y="131210"/>
                  </a:lnTo>
                  <a:lnTo>
                    <a:pt x="281177" y="125729"/>
                  </a:lnTo>
                  <a:close/>
                </a:path>
                <a:path w="374650" h="236220">
                  <a:moveTo>
                    <a:pt x="209550" y="60198"/>
                  </a:moveTo>
                  <a:lnTo>
                    <a:pt x="198108" y="63164"/>
                  </a:lnTo>
                  <a:lnTo>
                    <a:pt x="206501" y="70865"/>
                  </a:lnTo>
                  <a:lnTo>
                    <a:pt x="209550" y="60198"/>
                  </a:lnTo>
                  <a:close/>
                </a:path>
                <a:path w="374650" h="236220">
                  <a:moveTo>
                    <a:pt x="264413" y="131210"/>
                  </a:moveTo>
                  <a:lnTo>
                    <a:pt x="264413" y="118110"/>
                  </a:lnTo>
                  <a:lnTo>
                    <a:pt x="262889" y="129539"/>
                  </a:lnTo>
                  <a:lnTo>
                    <a:pt x="250975" y="122141"/>
                  </a:lnTo>
                  <a:lnTo>
                    <a:pt x="226313" y="129539"/>
                  </a:lnTo>
                  <a:lnTo>
                    <a:pt x="241553" y="142362"/>
                  </a:lnTo>
                  <a:lnTo>
                    <a:pt x="241553" y="138684"/>
                  </a:lnTo>
                  <a:lnTo>
                    <a:pt x="243839" y="127253"/>
                  </a:lnTo>
                  <a:lnTo>
                    <a:pt x="253024" y="134934"/>
                  </a:lnTo>
                  <a:lnTo>
                    <a:pt x="264413" y="131210"/>
                  </a:lnTo>
                  <a:close/>
                </a:path>
                <a:path w="374650" h="236220">
                  <a:moveTo>
                    <a:pt x="253024" y="134934"/>
                  </a:moveTo>
                  <a:lnTo>
                    <a:pt x="243839" y="127253"/>
                  </a:lnTo>
                  <a:lnTo>
                    <a:pt x="241553" y="138684"/>
                  </a:lnTo>
                  <a:lnTo>
                    <a:pt x="253024" y="134934"/>
                  </a:lnTo>
                  <a:close/>
                </a:path>
                <a:path w="374650" h="236220">
                  <a:moveTo>
                    <a:pt x="374141" y="236219"/>
                  </a:moveTo>
                  <a:lnTo>
                    <a:pt x="253024" y="134934"/>
                  </a:lnTo>
                  <a:lnTo>
                    <a:pt x="241553" y="138684"/>
                  </a:lnTo>
                  <a:lnTo>
                    <a:pt x="241553" y="142362"/>
                  </a:lnTo>
                  <a:lnTo>
                    <a:pt x="306825" y="197280"/>
                  </a:lnTo>
                  <a:lnTo>
                    <a:pt x="343662" y="211074"/>
                  </a:lnTo>
                  <a:lnTo>
                    <a:pt x="343662" y="224828"/>
                  </a:lnTo>
                  <a:lnTo>
                    <a:pt x="374141" y="236219"/>
                  </a:lnTo>
                  <a:close/>
                </a:path>
                <a:path w="374650" h="236220">
                  <a:moveTo>
                    <a:pt x="264413" y="118110"/>
                  </a:moveTo>
                  <a:lnTo>
                    <a:pt x="250975" y="122141"/>
                  </a:lnTo>
                  <a:lnTo>
                    <a:pt x="262889" y="129539"/>
                  </a:lnTo>
                  <a:lnTo>
                    <a:pt x="264413" y="118110"/>
                  </a:lnTo>
                  <a:close/>
                </a:path>
                <a:path w="374650" h="236220">
                  <a:moveTo>
                    <a:pt x="343662" y="211074"/>
                  </a:moveTo>
                  <a:lnTo>
                    <a:pt x="306825" y="197280"/>
                  </a:lnTo>
                  <a:lnTo>
                    <a:pt x="336293" y="222074"/>
                  </a:lnTo>
                  <a:lnTo>
                    <a:pt x="336920" y="222309"/>
                  </a:lnTo>
                  <a:lnTo>
                    <a:pt x="343662" y="211074"/>
                  </a:lnTo>
                  <a:close/>
                </a:path>
                <a:path w="374650" h="236220">
                  <a:moveTo>
                    <a:pt x="336920" y="222309"/>
                  </a:moveTo>
                  <a:lnTo>
                    <a:pt x="336293" y="222074"/>
                  </a:lnTo>
                  <a:lnTo>
                    <a:pt x="336803" y="222503"/>
                  </a:lnTo>
                  <a:lnTo>
                    <a:pt x="336920" y="222309"/>
                  </a:lnTo>
                  <a:close/>
                </a:path>
                <a:path w="374650" h="236220">
                  <a:moveTo>
                    <a:pt x="343662" y="224828"/>
                  </a:moveTo>
                  <a:lnTo>
                    <a:pt x="343662" y="211074"/>
                  </a:lnTo>
                  <a:lnTo>
                    <a:pt x="336920" y="222309"/>
                  </a:lnTo>
                  <a:lnTo>
                    <a:pt x="343662" y="224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65767" y="4837175"/>
              <a:ext cx="321945" cy="210820"/>
            </a:xfrm>
            <a:custGeom>
              <a:avLst/>
              <a:gdLst/>
              <a:ahLst/>
              <a:cxnLst/>
              <a:rect l="l" t="t" r="r" b="b"/>
              <a:pathLst>
                <a:path w="321944" h="210820">
                  <a:moveTo>
                    <a:pt x="321563" y="210312"/>
                  </a:moveTo>
                  <a:lnTo>
                    <a:pt x="219456" y="125729"/>
                  </a:lnTo>
                  <a:lnTo>
                    <a:pt x="246887" y="117348"/>
                  </a:lnTo>
                  <a:lnTo>
                    <a:pt x="164591" y="66294"/>
                  </a:lnTo>
                  <a:lnTo>
                    <a:pt x="191262" y="59436"/>
                  </a:lnTo>
                  <a:lnTo>
                    <a:pt x="125729" y="0"/>
                  </a:lnTo>
                  <a:lnTo>
                    <a:pt x="0" y="38100"/>
                  </a:lnTo>
                  <a:lnTo>
                    <a:pt x="112775" y="81534"/>
                  </a:lnTo>
                  <a:lnTo>
                    <a:pt x="74675" y="94487"/>
                  </a:lnTo>
                  <a:lnTo>
                    <a:pt x="182118" y="136398"/>
                  </a:lnTo>
                  <a:lnTo>
                    <a:pt x="148589" y="145541"/>
                  </a:lnTo>
                  <a:lnTo>
                    <a:pt x="321563" y="210312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45955" y="4830317"/>
              <a:ext cx="374650" cy="236220"/>
            </a:xfrm>
            <a:custGeom>
              <a:avLst/>
              <a:gdLst/>
              <a:ahLst/>
              <a:cxnLst/>
              <a:rect l="l" t="t" r="r" b="b"/>
              <a:pathLst>
                <a:path w="374650" h="236220">
                  <a:moveTo>
                    <a:pt x="224027" y="69342"/>
                  </a:moveTo>
                  <a:lnTo>
                    <a:pt x="147065" y="0"/>
                  </a:lnTo>
                  <a:lnTo>
                    <a:pt x="0" y="44196"/>
                  </a:lnTo>
                  <a:lnTo>
                    <a:pt x="21335" y="52430"/>
                  </a:lnTo>
                  <a:lnTo>
                    <a:pt x="21335" y="51054"/>
                  </a:lnTo>
                  <a:lnTo>
                    <a:pt x="22097" y="38862"/>
                  </a:lnTo>
                  <a:lnTo>
                    <a:pt x="39449" y="45598"/>
                  </a:lnTo>
                  <a:lnTo>
                    <a:pt x="141731" y="14790"/>
                  </a:lnTo>
                  <a:lnTo>
                    <a:pt x="141731" y="11430"/>
                  </a:lnTo>
                  <a:lnTo>
                    <a:pt x="147827" y="12954"/>
                  </a:lnTo>
                  <a:lnTo>
                    <a:pt x="147827" y="16958"/>
                  </a:lnTo>
                  <a:lnTo>
                    <a:pt x="198624" y="63030"/>
                  </a:lnTo>
                  <a:lnTo>
                    <a:pt x="209550" y="60198"/>
                  </a:lnTo>
                  <a:lnTo>
                    <a:pt x="209550" y="73106"/>
                  </a:lnTo>
                  <a:lnTo>
                    <a:pt x="224027" y="69342"/>
                  </a:lnTo>
                  <a:close/>
                </a:path>
                <a:path w="374650" h="236220">
                  <a:moveTo>
                    <a:pt x="39449" y="45598"/>
                  </a:moveTo>
                  <a:lnTo>
                    <a:pt x="22097" y="38862"/>
                  </a:lnTo>
                  <a:lnTo>
                    <a:pt x="21335" y="51054"/>
                  </a:lnTo>
                  <a:lnTo>
                    <a:pt x="39449" y="45598"/>
                  </a:lnTo>
                  <a:close/>
                </a:path>
                <a:path w="374650" h="236220">
                  <a:moveTo>
                    <a:pt x="151637" y="89154"/>
                  </a:moveTo>
                  <a:lnTo>
                    <a:pt x="39449" y="45598"/>
                  </a:lnTo>
                  <a:lnTo>
                    <a:pt x="21335" y="51054"/>
                  </a:lnTo>
                  <a:lnTo>
                    <a:pt x="21335" y="52430"/>
                  </a:lnTo>
                  <a:lnTo>
                    <a:pt x="113922" y="88166"/>
                  </a:lnTo>
                  <a:lnTo>
                    <a:pt x="131063" y="82296"/>
                  </a:lnTo>
                  <a:lnTo>
                    <a:pt x="131063" y="96012"/>
                  </a:lnTo>
                  <a:lnTo>
                    <a:pt x="151637" y="89154"/>
                  </a:lnTo>
                  <a:close/>
                </a:path>
                <a:path w="374650" h="236220">
                  <a:moveTo>
                    <a:pt x="131063" y="96012"/>
                  </a:moveTo>
                  <a:lnTo>
                    <a:pt x="131063" y="82296"/>
                  </a:lnTo>
                  <a:lnTo>
                    <a:pt x="130301" y="94487"/>
                  </a:lnTo>
                  <a:lnTo>
                    <a:pt x="113922" y="88166"/>
                  </a:lnTo>
                  <a:lnTo>
                    <a:pt x="75437" y="101346"/>
                  </a:lnTo>
                  <a:lnTo>
                    <a:pt x="96774" y="109592"/>
                  </a:lnTo>
                  <a:lnTo>
                    <a:pt x="96774" y="95250"/>
                  </a:lnTo>
                  <a:lnTo>
                    <a:pt x="113623" y="101825"/>
                  </a:lnTo>
                  <a:lnTo>
                    <a:pt x="131063" y="96012"/>
                  </a:lnTo>
                  <a:close/>
                </a:path>
                <a:path w="374650" h="236220">
                  <a:moveTo>
                    <a:pt x="113623" y="101825"/>
                  </a:moveTo>
                  <a:lnTo>
                    <a:pt x="96774" y="95250"/>
                  </a:lnTo>
                  <a:lnTo>
                    <a:pt x="96774" y="107442"/>
                  </a:lnTo>
                  <a:lnTo>
                    <a:pt x="113623" y="101825"/>
                  </a:lnTo>
                  <a:close/>
                </a:path>
                <a:path w="374650" h="236220">
                  <a:moveTo>
                    <a:pt x="221741" y="144018"/>
                  </a:moveTo>
                  <a:lnTo>
                    <a:pt x="113623" y="101825"/>
                  </a:lnTo>
                  <a:lnTo>
                    <a:pt x="96774" y="107442"/>
                  </a:lnTo>
                  <a:lnTo>
                    <a:pt x="96774" y="109592"/>
                  </a:lnTo>
                  <a:lnTo>
                    <a:pt x="181449" y="142319"/>
                  </a:lnTo>
                  <a:lnTo>
                    <a:pt x="199644" y="137160"/>
                  </a:lnTo>
                  <a:lnTo>
                    <a:pt x="199644" y="150284"/>
                  </a:lnTo>
                  <a:lnTo>
                    <a:pt x="221741" y="144018"/>
                  </a:lnTo>
                  <a:close/>
                </a:path>
                <a:path w="374650" h="236220">
                  <a:moveTo>
                    <a:pt x="131063" y="82296"/>
                  </a:moveTo>
                  <a:lnTo>
                    <a:pt x="113922" y="88166"/>
                  </a:lnTo>
                  <a:lnTo>
                    <a:pt x="130301" y="94487"/>
                  </a:lnTo>
                  <a:lnTo>
                    <a:pt x="131063" y="82296"/>
                  </a:lnTo>
                  <a:close/>
                </a:path>
                <a:path w="374650" h="236220">
                  <a:moveTo>
                    <a:pt x="147827" y="12954"/>
                  </a:moveTo>
                  <a:lnTo>
                    <a:pt x="141731" y="11430"/>
                  </a:lnTo>
                  <a:lnTo>
                    <a:pt x="144513" y="13952"/>
                  </a:lnTo>
                  <a:lnTo>
                    <a:pt x="147827" y="12954"/>
                  </a:lnTo>
                  <a:close/>
                </a:path>
                <a:path w="374650" h="236220">
                  <a:moveTo>
                    <a:pt x="144513" y="13952"/>
                  </a:moveTo>
                  <a:lnTo>
                    <a:pt x="141731" y="11430"/>
                  </a:lnTo>
                  <a:lnTo>
                    <a:pt x="141731" y="14790"/>
                  </a:lnTo>
                  <a:lnTo>
                    <a:pt x="144513" y="13952"/>
                  </a:lnTo>
                  <a:close/>
                </a:path>
                <a:path w="374650" h="236220">
                  <a:moveTo>
                    <a:pt x="147827" y="16958"/>
                  </a:moveTo>
                  <a:lnTo>
                    <a:pt x="147827" y="12954"/>
                  </a:lnTo>
                  <a:lnTo>
                    <a:pt x="144513" y="13952"/>
                  </a:lnTo>
                  <a:lnTo>
                    <a:pt x="147827" y="16958"/>
                  </a:lnTo>
                  <a:close/>
                </a:path>
                <a:path w="374650" h="236220">
                  <a:moveTo>
                    <a:pt x="199644" y="150284"/>
                  </a:moveTo>
                  <a:lnTo>
                    <a:pt x="199644" y="149352"/>
                  </a:lnTo>
                  <a:lnTo>
                    <a:pt x="181449" y="142319"/>
                  </a:lnTo>
                  <a:lnTo>
                    <a:pt x="148589" y="151637"/>
                  </a:lnTo>
                  <a:lnTo>
                    <a:pt x="170687" y="159924"/>
                  </a:lnTo>
                  <a:lnTo>
                    <a:pt x="170687" y="146304"/>
                  </a:lnTo>
                  <a:lnTo>
                    <a:pt x="189215" y="153241"/>
                  </a:lnTo>
                  <a:lnTo>
                    <a:pt x="199644" y="150284"/>
                  </a:lnTo>
                  <a:close/>
                </a:path>
                <a:path w="374650" h="236220">
                  <a:moveTo>
                    <a:pt x="209550" y="73106"/>
                  </a:moveTo>
                  <a:lnTo>
                    <a:pt x="209550" y="60198"/>
                  </a:lnTo>
                  <a:lnTo>
                    <a:pt x="207263" y="70866"/>
                  </a:lnTo>
                  <a:lnTo>
                    <a:pt x="198624" y="63030"/>
                  </a:lnTo>
                  <a:lnTo>
                    <a:pt x="168401" y="70866"/>
                  </a:lnTo>
                  <a:lnTo>
                    <a:pt x="185927" y="81749"/>
                  </a:lnTo>
                  <a:lnTo>
                    <a:pt x="185927" y="79248"/>
                  </a:lnTo>
                  <a:lnTo>
                    <a:pt x="187451" y="67818"/>
                  </a:lnTo>
                  <a:lnTo>
                    <a:pt x="200092" y="75565"/>
                  </a:lnTo>
                  <a:lnTo>
                    <a:pt x="209550" y="73106"/>
                  </a:lnTo>
                  <a:close/>
                </a:path>
                <a:path w="374650" h="236220">
                  <a:moveTo>
                    <a:pt x="189215" y="153241"/>
                  </a:moveTo>
                  <a:lnTo>
                    <a:pt x="170687" y="146304"/>
                  </a:lnTo>
                  <a:lnTo>
                    <a:pt x="170687" y="158496"/>
                  </a:lnTo>
                  <a:lnTo>
                    <a:pt x="189215" y="153241"/>
                  </a:lnTo>
                  <a:close/>
                </a:path>
                <a:path w="374650" h="236220">
                  <a:moveTo>
                    <a:pt x="337565" y="222503"/>
                  </a:moveTo>
                  <a:lnTo>
                    <a:pt x="307831" y="197657"/>
                  </a:lnTo>
                  <a:lnTo>
                    <a:pt x="189215" y="153241"/>
                  </a:lnTo>
                  <a:lnTo>
                    <a:pt x="170687" y="158496"/>
                  </a:lnTo>
                  <a:lnTo>
                    <a:pt x="170687" y="159924"/>
                  </a:lnTo>
                  <a:lnTo>
                    <a:pt x="337565" y="222503"/>
                  </a:lnTo>
                  <a:close/>
                </a:path>
                <a:path w="374650" h="236220">
                  <a:moveTo>
                    <a:pt x="199644" y="149352"/>
                  </a:moveTo>
                  <a:lnTo>
                    <a:pt x="199644" y="137160"/>
                  </a:lnTo>
                  <a:lnTo>
                    <a:pt x="181449" y="142319"/>
                  </a:lnTo>
                  <a:lnTo>
                    <a:pt x="199644" y="149352"/>
                  </a:lnTo>
                  <a:close/>
                </a:path>
                <a:path w="374650" h="236220">
                  <a:moveTo>
                    <a:pt x="200092" y="75565"/>
                  </a:moveTo>
                  <a:lnTo>
                    <a:pt x="187451" y="67818"/>
                  </a:lnTo>
                  <a:lnTo>
                    <a:pt x="185927" y="79248"/>
                  </a:lnTo>
                  <a:lnTo>
                    <a:pt x="200092" y="75565"/>
                  </a:lnTo>
                  <a:close/>
                </a:path>
                <a:path w="374650" h="236220">
                  <a:moveTo>
                    <a:pt x="281939" y="125730"/>
                  </a:moveTo>
                  <a:lnTo>
                    <a:pt x="200092" y="75565"/>
                  </a:lnTo>
                  <a:lnTo>
                    <a:pt x="185927" y="79248"/>
                  </a:lnTo>
                  <a:lnTo>
                    <a:pt x="185927" y="81749"/>
                  </a:lnTo>
                  <a:lnTo>
                    <a:pt x="250975" y="122141"/>
                  </a:lnTo>
                  <a:lnTo>
                    <a:pt x="264413" y="118110"/>
                  </a:lnTo>
                  <a:lnTo>
                    <a:pt x="264413" y="131351"/>
                  </a:lnTo>
                  <a:lnTo>
                    <a:pt x="281939" y="125730"/>
                  </a:lnTo>
                  <a:close/>
                </a:path>
                <a:path w="374650" h="236220">
                  <a:moveTo>
                    <a:pt x="209550" y="60198"/>
                  </a:moveTo>
                  <a:lnTo>
                    <a:pt x="198624" y="63030"/>
                  </a:lnTo>
                  <a:lnTo>
                    <a:pt x="207263" y="70866"/>
                  </a:lnTo>
                  <a:lnTo>
                    <a:pt x="209550" y="60198"/>
                  </a:lnTo>
                  <a:close/>
                </a:path>
                <a:path w="374650" h="236220">
                  <a:moveTo>
                    <a:pt x="264413" y="131351"/>
                  </a:moveTo>
                  <a:lnTo>
                    <a:pt x="264413" y="118110"/>
                  </a:lnTo>
                  <a:lnTo>
                    <a:pt x="262889" y="129540"/>
                  </a:lnTo>
                  <a:lnTo>
                    <a:pt x="250975" y="122141"/>
                  </a:lnTo>
                  <a:lnTo>
                    <a:pt x="226313" y="129540"/>
                  </a:lnTo>
                  <a:lnTo>
                    <a:pt x="241553" y="142274"/>
                  </a:lnTo>
                  <a:lnTo>
                    <a:pt x="241553" y="138684"/>
                  </a:lnTo>
                  <a:lnTo>
                    <a:pt x="243839" y="127254"/>
                  </a:lnTo>
                  <a:lnTo>
                    <a:pt x="253085" y="134985"/>
                  </a:lnTo>
                  <a:lnTo>
                    <a:pt x="264413" y="131351"/>
                  </a:lnTo>
                  <a:close/>
                </a:path>
                <a:path w="374650" h="236220">
                  <a:moveTo>
                    <a:pt x="253085" y="134985"/>
                  </a:moveTo>
                  <a:lnTo>
                    <a:pt x="243839" y="127254"/>
                  </a:lnTo>
                  <a:lnTo>
                    <a:pt x="241553" y="138684"/>
                  </a:lnTo>
                  <a:lnTo>
                    <a:pt x="253085" y="134985"/>
                  </a:lnTo>
                  <a:close/>
                </a:path>
                <a:path w="374650" h="236220">
                  <a:moveTo>
                    <a:pt x="374141" y="236220"/>
                  </a:moveTo>
                  <a:lnTo>
                    <a:pt x="253085" y="134985"/>
                  </a:lnTo>
                  <a:lnTo>
                    <a:pt x="241553" y="138684"/>
                  </a:lnTo>
                  <a:lnTo>
                    <a:pt x="241553" y="142274"/>
                  </a:lnTo>
                  <a:lnTo>
                    <a:pt x="307831" y="197657"/>
                  </a:lnTo>
                  <a:lnTo>
                    <a:pt x="343662" y="211074"/>
                  </a:lnTo>
                  <a:lnTo>
                    <a:pt x="343662" y="224789"/>
                  </a:lnTo>
                  <a:lnTo>
                    <a:pt x="374141" y="236220"/>
                  </a:lnTo>
                  <a:close/>
                </a:path>
                <a:path w="374650" h="236220">
                  <a:moveTo>
                    <a:pt x="264413" y="118110"/>
                  </a:moveTo>
                  <a:lnTo>
                    <a:pt x="250975" y="122141"/>
                  </a:lnTo>
                  <a:lnTo>
                    <a:pt x="262889" y="129540"/>
                  </a:lnTo>
                  <a:lnTo>
                    <a:pt x="264413" y="118110"/>
                  </a:lnTo>
                  <a:close/>
                </a:path>
                <a:path w="374650" h="236220">
                  <a:moveTo>
                    <a:pt x="343662" y="211074"/>
                  </a:moveTo>
                  <a:lnTo>
                    <a:pt x="307831" y="197657"/>
                  </a:lnTo>
                  <a:lnTo>
                    <a:pt x="337565" y="222504"/>
                  </a:lnTo>
                  <a:lnTo>
                    <a:pt x="343662" y="211074"/>
                  </a:lnTo>
                  <a:close/>
                </a:path>
                <a:path w="374650" h="236220">
                  <a:moveTo>
                    <a:pt x="343662" y="224789"/>
                  </a:moveTo>
                  <a:lnTo>
                    <a:pt x="343662" y="211074"/>
                  </a:lnTo>
                  <a:lnTo>
                    <a:pt x="337565" y="222504"/>
                  </a:lnTo>
                  <a:lnTo>
                    <a:pt x="343662" y="2247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07193" y="5077205"/>
              <a:ext cx="294640" cy="226060"/>
            </a:xfrm>
            <a:custGeom>
              <a:avLst/>
              <a:gdLst/>
              <a:ahLst/>
              <a:cxnLst/>
              <a:rect l="l" t="t" r="r" b="b"/>
              <a:pathLst>
                <a:path w="294639" h="226060">
                  <a:moveTo>
                    <a:pt x="294131" y="0"/>
                  </a:moveTo>
                  <a:lnTo>
                    <a:pt x="200405" y="86106"/>
                  </a:lnTo>
                  <a:lnTo>
                    <a:pt x="216408" y="46482"/>
                  </a:lnTo>
                  <a:lnTo>
                    <a:pt x="127253" y="127254"/>
                  </a:lnTo>
                  <a:lnTo>
                    <a:pt x="141731" y="94488"/>
                  </a:lnTo>
                  <a:lnTo>
                    <a:pt x="0" y="225552"/>
                  </a:lnTo>
                  <a:lnTo>
                    <a:pt x="110489" y="166116"/>
                  </a:lnTo>
                  <a:lnTo>
                    <a:pt x="99060" y="193548"/>
                  </a:lnTo>
                  <a:lnTo>
                    <a:pt x="178308" y="138684"/>
                  </a:lnTo>
                  <a:lnTo>
                    <a:pt x="166115" y="165354"/>
                  </a:lnTo>
                  <a:lnTo>
                    <a:pt x="240029" y="128778"/>
                  </a:lnTo>
                  <a:lnTo>
                    <a:pt x="294131" y="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66807" y="5052822"/>
              <a:ext cx="351790" cy="279400"/>
            </a:xfrm>
            <a:custGeom>
              <a:avLst/>
              <a:gdLst/>
              <a:ahLst/>
              <a:cxnLst/>
              <a:rect l="l" t="t" r="r" b="b"/>
              <a:pathLst>
                <a:path w="351789" h="279400">
                  <a:moveTo>
                    <a:pt x="200405" y="92963"/>
                  </a:moveTo>
                  <a:lnTo>
                    <a:pt x="0" y="278891"/>
                  </a:lnTo>
                  <a:lnTo>
                    <a:pt x="37337" y="258744"/>
                  </a:lnTo>
                  <a:lnTo>
                    <a:pt x="37337" y="244601"/>
                  </a:lnTo>
                  <a:lnTo>
                    <a:pt x="81650" y="220576"/>
                  </a:lnTo>
                  <a:lnTo>
                    <a:pt x="164454" y="144005"/>
                  </a:lnTo>
                  <a:lnTo>
                    <a:pt x="176784" y="115824"/>
                  </a:lnTo>
                  <a:lnTo>
                    <a:pt x="186689" y="123443"/>
                  </a:lnTo>
                  <a:lnTo>
                    <a:pt x="186689" y="124706"/>
                  </a:lnTo>
                  <a:lnTo>
                    <a:pt x="200405" y="92963"/>
                  </a:lnTo>
                  <a:close/>
                </a:path>
                <a:path w="351789" h="279400">
                  <a:moveTo>
                    <a:pt x="81650" y="220576"/>
                  </a:moveTo>
                  <a:lnTo>
                    <a:pt x="37337" y="244601"/>
                  </a:lnTo>
                  <a:lnTo>
                    <a:pt x="44958" y="254507"/>
                  </a:lnTo>
                  <a:lnTo>
                    <a:pt x="81650" y="220576"/>
                  </a:lnTo>
                  <a:close/>
                </a:path>
                <a:path w="351789" h="279400">
                  <a:moveTo>
                    <a:pt x="163829" y="176022"/>
                  </a:moveTo>
                  <a:lnTo>
                    <a:pt x="81650" y="220576"/>
                  </a:lnTo>
                  <a:lnTo>
                    <a:pt x="44958" y="254507"/>
                  </a:lnTo>
                  <a:lnTo>
                    <a:pt x="37337" y="244601"/>
                  </a:lnTo>
                  <a:lnTo>
                    <a:pt x="37337" y="258744"/>
                  </a:lnTo>
                  <a:lnTo>
                    <a:pt x="138960" y="203908"/>
                  </a:lnTo>
                  <a:lnTo>
                    <a:pt x="145541" y="188213"/>
                  </a:lnTo>
                  <a:lnTo>
                    <a:pt x="153924" y="195833"/>
                  </a:lnTo>
                  <a:lnTo>
                    <a:pt x="153924" y="199961"/>
                  </a:lnTo>
                  <a:lnTo>
                    <a:pt x="163829" y="176022"/>
                  </a:lnTo>
                  <a:close/>
                </a:path>
                <a:path w="351789" h="279400">
                  <a:moveTo>
                    <a:pt x="153924" y="199961"/>
                  </a:moveTo>
                  <a:lnTo>
                    <a:pt x="153924" y="195833"/>
                  </a:lnTo>
                  <a:lnTo>
                    <a:pt x="138960" y="203908"/>
                  </a:lnTo>
                  <a:lnTo>
                    <a:pt x="125729" y="235457"/>
                  </a:lnTo>
                  <a:lnTo>
                    <a:pt x="136398" y="228065"/>
                  </a:lnTo>
                  <a:lnTo>
                    <a:pt x="136398" y="212598"/>
                  </a:lnTo>
                  <a:lnTo>
                    <a:pt x="153662" y="200593"/>
                  </a:lnTo>
                  <a:lnTo>
                    <a:pt x="153924" y="199961"/>
                  </a:lnTo>
                  <a:close/>
                </a:path>
                <a:path w="351789" h="279400">
                  <a:moveTo>
                    <a:pt x="153662" y="200593"/>
                  </a:moveTo>
                  <a:lnTo>
                    <a:pt x="136398" y="212598"/>
                  </a:lnTo>
                  <a:lnTo>
                    <a:pt x="145541" y="220217"/>
                  </a:lnTo>
                  <a:lnTo>
                    <a:pt x="153662" y="200593"/>
                  </a:lnTo>
                  <a:close/>
                </a:path>
                <a:path w="351789" h="279400">
                  <a:moveTo>
                    <a:pt x="233934" y="144779"/>
                  </a:moveTo>
                  <a:lnTo>
                    <a:pt x="153662" y="200593"/>
                  </a:lnTo>
                  <a:lnTo>
                    <a:pt x="145541" y="220217"/>
                  </a:lnTo>
                  <a:lnTo>
                    <a:pt x="136398" y="212598"/>
                  </a:lnTo>
                  <a:lnTo>
                    <a:pt x="136398" y="228065"/>
                  </a:lnTo>
                  <a:lnTo>
                    <a:pt x="202991" y="181922"/>
                  </a:lnTo>
                  <a:lnTo>
                    <a:pt x="212598" y="160019"/>
                  </a:lnTo>
                  <a:lnTo>
                    <a:pt x="222503" y="168401"/>
                  </a:lnTo>
                  <a:lnTo>
                    <a:pt x="222503" y="170497"/>
                  </a:lnTo>
                  <a:lnTo>
                    <a:pt x="233934" y="144779"/>
                  </a:lnTo>
                  <a:close/>
                </a:path>
                <a:path w="351789" h="279400">
                  <a:moveTo>
                    <a:pt x="153924" y="195833"/>
                  </a:moveTo>
                  <a:lnTo>
                    <a:pt x="145541" y="188213"/>
                  </a:lnTo>
                  <a:lnTo>
                    <a:pt x="138960" y="203908"/>
                  </a:lnTo>
                  <a:lnTo>
                    <a:pt x="153924" y="195833"/>
                  </a:lnTo>
                  <a:close/>
                </a:path>
                <a:path w="351789" h="279400">
                  <a:moveTo>
                    <a:pt x="186689" y="124706"/>
                  </a:moveTo>
                  <a:lnTo>
                    <a:pt x="186689" y="123443"/>
                  </a:lnTo>
                  <a:lnTo>
                    <a:pt x="164454" y="144005"/>
                  </a:lnTo>
                  <a:lnTo>
                    <a:pt x="150113" y="176783"/>
                  </a:lnTo>
                  <a:lnTo>
                    <a:pt x="163829" y="164203"/>
                  </a:lnTo>
                  <a:lnTo>
                    <a:pt x="163829" y="147065"/>
                  </a:lnTo>
                  <a:lnTo>
                    <a:pt x="185676" y="127053"/>
                  </a:lnTo>
                  <a:lnTo>
                    <a:pt x="186689" y="124706"/>
                  </a:lnTo>
                  <a:close/>
                </a:path>
                <a:path w="351789" h="279400">
                  <a:moveTo>
                    <a:pt x="185676" y="127053"/>
                  </a:moveTo>
                  <a:lnTo>
                    <a:pt x="163829" y="147065"/>
                  </a:lnTo>
                  <a:lnTo>
                    <a:pt x="173736" y="154686"/>
                  </a:lnTo>
                  <a:lnTo>
                    <a:pt x="185676" y="127053"/>
                  </a:lnTo>
                  <a:close/>
                </a:path>
                <a:path w="351789" h="279400">
                  <a:moveTo>
                    <a:pt x="272796" y="47243"/>
                  </a:moveTo>
                  <a:lnTo>
                    <a:pt x="185676" y="127053"/>
                  </a:lnTo>
                  <a:lnTo>
                    <a:pt x="173736" y="154686"/>
                  </a:lnTo>
                  <a:lnTo>
                    <a:pt x="163829" y="147065"/>
                  </a:lnTo>
                  <a:lnTo>
                    <a:pt x="163829" y="164203"/>
                  </a:lnTo>
                  <a:lnTo>
                    <a:pt x="240808" y="93595"/>
                  </a:lnTo>
                  <a:lnTo>
                    <a:pt x="250698" y="68579"/>
                  </a:lnTo>
                  <a:lnTo>
                    <a:pt x="260603" y="75437"/>
                  </a:lnTo>
                  <a:lnTo>
                    <a:pt x="260603" y="78082"/>
                  </a:lnTo>
                  <a:lnTo>
                    <a:pt x="272796" y="47243"/>
                  </a:lnTo>
                  <a:close/>
                </a:path>
                <a:path w="351789" h="279400">
                  <a:moveTo>
                    <a:pt x="186689" y="123443"/>
                  </a:moveTo>
                  <a:lnTo>
                    <a:pt x="176784" y="115824"/>
                  </a:lnTo>
                  <a:lnTo>
                    <a:pt x="164454" y="144005"/>
                  </a:lnTo>
                  <a:lnTo>
                    <a:pt x="186689" y="123443"/>
                  </a:lnTo>
                  <a:close/>
                </a:path>
                <a:path w="351789" h="279400">
                  <a:moveTo>
                    <a:pt x="222503" y="170497"/>
                  </a:moveTo>
                  <a:lnTo>
                    <a:pt x="222503" y="168401"/>
                  </a:lnTo>
                  <a:lnTo>
                    <a:pt x="202991" y="181922"/>
                  </a:lnTo>
                  <a:lnTo>
                    <a:pt x="193548" y="203453"/>
                  </a:lnTo>
                  <a:lnTo>
                    <a:pt x="203453" y="198583"/>
                  </a:lnTo>
                  <a:lnTo>
                    <a:pt x="203453" y="184403"/>
                  </a:lnTo>
                  <a:lnTo>
                    <a:pt x="219951" y="176240"/>
                  </a:lnTo>
                  <a:lnTo>
                    <a:pt x="222503" y="170497"/>
                  </a:lnTo>
                  <a:close/>
                </a:path>
                <a:path w="351789" h="279400">
                  <a:moveTo>
                    <a:pt x="222503" y="168401"/>
                  </a:moveTo>
                  <a:lnTo>
                    <a:pt x="212598" y="160019"/>
                  </a:lnTo>
                  <a:lnTo>
                    <a:pt x="202991" y="181922"/>
                  </a:lnTo>
                  <a:lnTo>
                    <a:pt x="222503" y="168401"/>
                  </a:lnTo>
                  <a:close/>
                </a:path>
                <a:path w="351789" h="279400">
                  <a:moveTo>
                    <a:pt x="219951" y="176240"/>
                  </a:moveTo>
                  <a:lnTo>
                    <a:pt x="203453" y="184403"/>
                  </a:lnTo>
                  <a:lnTo>
                    <a:pt x="212598" y="192786"/>
                  </a:lnTo>
                  <a:lnTo>
                    <a:pt x="219951" y="176240"/>
                  </a:lnTo>
                  <a:close/>
                </a:path>
                <a:path w="351789" h="279400">
                  <a:moveTo>
                    <a:pt x="275136" y="148932"/>
                  </a:moveTo>
                  <a:lnTo>
                    <a:pt x="219951" y="176240"/>
                  </a:lnTo>
                  <a:lnTo>
                    <a:pt x="212598" y="192786"/>
                  </a:lnTo>
                  <a:lnTo>
                    <a:pt x="203453" y="184403"/>
                  </a:lnTo>
                  <a:lnTo>
                    <a:pt x="203453" y="198583"/>
                  </a:lnTo>
                  <a:lnTo>
                    <a:pt x="274320" y="163741"/>
                  </a:lnTo>
                  <a:lnTo>
                    <a:pt x="274320" y="150875"/>
                  </a:lnTo>
                  <a:lnTo>
                    <a:pt x="275136" y="148932"/>
                  </a:lnTo>
                  <a:close/>
                </a:path>
                <a:path w="351789" h="279400">
                  <a:moveTo>
                    <a:pt x="260603" y="78082"/>
                  </a:moveTo>
                  <a:lnTo>
                    <a:pt x="260603" y="75437"/>
                  </a:lnTo>
                  <a:lnTo>
                    <a:pt x="240808" y="93595"/>
                  </a:lnTo>
                  <a:lnTo>
                    <a:pt x="224789" y="134112"/>
                  </a:lnTo>
                  <a:lnTo>
                    <a:pt x="236220" y="123596"/>
                  </a:lnTo>
                  <a:lnTo>
                    <a:pt x="236220" y="105917"/>
                  </a:lnTo>
                  <a:lnTo>
                    <a:pt x="257254" y="86555"/>
                  </a:lnTo>
                  <a:lnTo>
                    <a:pt x="260603" y="78082"/>
                  </a:lnTo>
                  <a:close/>
                </a:path>
                <a:path w="351789" h="279400">
                  <a:moveTo>
                    <a:pt x="257254" y="86555"/>
                  </a:moveTo>
                  <a:lnTo>
                    <a:pt x="236220" y="105917"/>
                  </a:lnTo>
                  <a:lnTo>
                    <a:pt x="246887" y="112775"/>
                  </a:lnTo>
                  <a:lnTo>
                    <a:pt x="257254" y="86555"/>
                  </a:lnTo>
                  <a:close/>
                </a:path>
                <a:path w="351789" h="279400">
                  <a:moveTo>
                    <a:pt x="351282" y="0"/>
                  </a:moveTo>
                  <a:lnTo>
                    <a:pt x="257254" y="86555"/>
                  </a:lnTo>
                  <a:lnTo>
                    <a:pt x="246887" y="112775"/>
                  </a:lnTo>
                  <a:lnTo>
                    <a:pt x="236220" y="105917"/>
                  </a:lnTo>
                  <a:lnTo>
                    <a:pt x="236220" y="123596"/>
                  </a:lnTo>
                  <a:lnTo>
                    <a:pt x="317004" y="49274"/>
                  </a:lnTo>
                  <a:lnTo>
                    <a:pt x="328422" y="22098"/>
                  </a:lnTo>
                  <a:lnTo>
                    <a:pt x="339089" y="28955"/>
                  </a:lnTo>
                  <a:lnTo>
                    <a:pt x="339089" y="29148"/>
                  </a:lnTo>
                  <a:lnTo>
                    <a:pt x="351282" y="0"/>
                  </a:lnTo>
                  <a:close/>
                </a:path>
                <a:path w="351789" h="279400">
                  <a:moveTo>
                    <a:pt x="260603" y="75437"/>
                  </a:moveTo>
                  <a:lnTo>
                    <a:pt x="250698" y="68579"/>
                  </a:lnTo>
                  <a:lnTo>
                    <a:pt x="240808" y="93595"/>
                  </a:lnTo>
                  <a:lnTo>
                    <a:pt x="260603" y="75437"/>
                  </a:lnTo>
                  <a:close/>
                </a:path>
                <a:path w="351789" h="279400">
                  <a:moveTo>
                    <a:pt x="277367" y="147827"/>
                  </a:moveTo>
                  <a:lnTo>
                    <a:pt x="275136" y="148932"/>
                  </a:lnTo>
                  <a:lnTo>
                    <a:pt x="274320" y="150875"/>
                  </a:lnTo>
                  <a:lnTo>
                    <a:pt x="277367" y="147827"/>
                  </a:lnTo>
                  <a:close/>
                </a:path>
                <a:path w="351789" h="279400">
                  <a:moveTo>
                    <a:pt x="277367" y="162242"/>
                  </a:moveTo>
                  <a:lnTo>
                    <a:pt x="277367" y="147827"/>
                  </a:lnTo>
                  <a:lnTo>
                    <a:pt x="274320" y="150875"/>
                  </a:lnTo>
                  <a:lnTo>
                    <a:pt x="274320" y="163741"/>
                  </a:lnTo>
                  <a:lnTo>
                    <a:pt x="277367" y="162242"/>
                  </a:lnTo>
                  <a:close/>
                </a:path>
                <a:path w="351789" h="279400">
                  <a:moveTo>
                    <a:pt x="339089" y="29148"/>
                  </a:moveTo>
                  <a:lnTo>
                    <a:pt x="339089" y="28955"/>
                  </a:lnTo>
                  <a:lnTo>
                    <a:pt x="317004" y="49274"/>
                  </a:lnTo>
                  <a:lnTo>
                    <a:pt x="275136" y="148932"/>
                  </a:lnTo>
                  <a:lnTo>
                    <a:pt x="277367" y="147827"/>
                  </a:lnTo>
                  <a:lnTo>
                    <a:pt x="277367" y="162242"/>
                  </a:lnTo>
                  <a:lnTo>
                    <a:pt x="284988" y="158495"/>
                  </a:lnTo>
                  <a:lnTo>
                    <a:pt x="339089" y="29148"/>
                  </a:lnTo>
                  <a:close/>
                </a:path>
                <a:path w="351789" h="279400">
                  <a:moveTo>
                    <a:pt x="339089" y="28955"/>
                  </a:moveTo>
                  <a:lnTo>
                    <a:pt x="328422" y="22098"/>
                  </a:lnTo>
                  <a:lnTo>
                    <a:pt x="317004" y="49274"/>
                  </a:lnTo>
                  <a:lnTo>
                    <a:pt x="339089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691510" y="5232146"/>
            <a:ext cx="3600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20" dirty="0">
                <a:latin typeface="Trebuchet MS"/>
                <a:cs typeface="Trebuchet MS"/>
              </a:rPr>
              <a:t>IBSS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026549" y="5492496"/>
            <a:ext cx="701040" cy="762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774839" y="6349746"/>
            <a:ext cx="9144000" cy="857250"/>
            <a:chOff x="774839" y="6349746"/>
            <a:chExt cx="9144000" cy="857250"/>
          </a:xfrm>
        </p:grpSpPr>
        <p:sp>
          <p:nvSpPr>
            <p:cNvPr id="58" name="object 58"/>
            <p:cNvSpPr/>
            <p:nvPr/>
          </p:nvSpPr>
          <p:spPr>
            <a:xfrm>
              <a:off x="774839" y="63497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5601" y="6818376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589534" y="3857194"/>
            <a:ext cx="4190365" cy="25827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solidFill>
                  <a:srgbClr val="C00000"/>
                </a:solidFill>
                <a:latin typeface="Trebuchet MS"/>
                <a:cs typeface="Trebuchet MS"/>
              </a:rPr>
              <a:t>Basic </a:t>
            </a:r>
            <a:r>
              <a:rPr sz="1800" b="1" spc="-80" dirty="0">
                <a:solidFill>
                  <a:srgbClr val="C00000"/>
                </a:solidFill>
                <a:latin typeface="Trebuchet MS"/>
                <a:cs typeface="Trebuchet MS"/>
              </a:rPr>
              <a:t>Service </a:t>
            </a:r>
            <a:r>
              <a:rPr sz="1800" b="1" spc="-55" dirty="0">
                <a:solidFill>
                  <a:srgbClr val="C00000"/>
                </a:solidFill>
                <a:latin typeface="Trebuchet MS"/>
                <a:cs typeface="Trebuchet MS"/>
              </a:rPr>
              <a:t>Set</a:t>
            </a:r>
            <a:r>
              <a:rPr sz="1800" b="1" spc="-3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C00000"/>
                </a:solidFill>
                <a:latin typeface="Trebuchet MS"/>
                <a:cs typeface="Trebuchet MS"/>
              </a:rPr>
              <a:t>(BSS):</a:t>
            </a:r>
            <a:endParaRPr sz="180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marL="12700" marR="1215390">
              <a:lnSpc>
                <a:spcPct val="100000"/>
              </a:lnSpc>
            </a:pPr>
            <a:r>
              <a:rPr sz="1800" spc="-210" dirty="0">
                <a:latin typeface="Trebuchet MS"/>
                <a:cs typeface="Trebuchet MS"/>
              </a:rPr>
              <a:t>‐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basic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element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of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IEEE</a:t>
            </a:r>
            <a:r>
              <a:rPr sz="1800" spc="-145" dirty="0">
                <a:latin typeface="Trebuchet MS"/>
                <a:cs typeface="Trebuchet MS"/>
              </a:rPr>
              <a:t> 802.11  </a:t>
            </a:r>
            <a:r>
              <a:rPr sz="1800" spc="-15" dirty="0">
                <a:latin typeface="Trebuchet MS"/>
                <a:cs typeface="Trebuchet MS"/>
              </a:rPr>
              <a:t>Networks</a:t>
            </a:r>
            <a:endParaRPr sz="1800" dirty="0">
              <a:latin typeface="Trebuchet MS"/>
              <a:cs typeface="Trebuchet MS"/>
            </a:endParaRPr>
          </a:p>
          <a:p>
            <a:pPr marL="12700" marR="242570">
              <a:lnSpc>
                <a:spcPct val="100000"/>
              </a:lnSpc>
            </a:pPr>
            <a:r>
              <a:rPr sz="1800" b="1" spc="-210" dirty="0">
                <a:solidFill>
                  <a:srgbClr val="7030A0"/>
                </a:solidFill>
                <a:latin typeface="Trebuchet MS"/>
                <a:cs typeface="Trebuchet MS"/>
              </a:rPr>
              <a:t>‐</a:t>
            </a:r>
            <a:r>
              <a:rPr sz="1800" b="1" spc="-170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45" dirty="0">
                <a:solidFill>
                  <a:srgbClr val="7030A0"/>
                </a:solidFill>
                <a:latin typeface="Trebuchet MS"/>
                <a:cs typeface="Trebuchet MS"/>
              </a:rPr>
              <a:t>A</a:t>
            </a:r>
            <a:r>
              <a:rPr sz="1800" b="1" spc="-15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rebuchet MS"/>
                <a:cs typeface="Trebuchet MS"/>
              </a:rPr>
              <a:t>group</a:t>
            </a:r>
            <a:r>
              <a:rPr sz="1800" b="1" spc="-17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7030A0"/>
                </a:solidFill>
                <a:latin typeface="Trebuchet MS"/>
                <a:cs typeface="Trebuchet MS"/>
              </a:rPr>
              <a:t>of</a:t>
            </a:r>
            <a:r>
              <a:rPr sz="1800" b="1" spc="-16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30" dirty="0">
                <a:solidFill>
                  <a:srgbClr val="7030A0"/>
                </a:solidFill>
                <a:latin typeface="Trebuchet MS"/>
                <a:cs typeface="Trebuchet MS"/>
              </a:rPr>
              <a:t>stations</a:t>
            </a:r>
            <a:r>
              <a:rPr sz="1800" b="1" spc="-16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7030A0"/>
                </a:solidFill>
                <a:latin typeface="Trebuchet MS"/>
                <a:cs typeface="Trebuchet MS"/>
              </a:rPr>
              <a:t>controlled</a:t>
            </a:r>
            <a:r>
              <a:rPr sz="1800" b="1" spc="-18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30" dirty="0">
                <a:solidFill>
                  <a:srgbClr val="7030A0"/>
                </a:solidFill>
                <a:latin typeface="Trebuchet MS"/>
                <a:cs typeface="Trebuchet MS"/>
              </a:rPr>
              <a:t>by</a:t>
            </a:r>
            <a:r>
              <a:rPr sz="1800" b="1" spc="-16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7030A0"/>
                </a:solidFill>
                <a:latin typeface="Trebuchet MS"/>
                <a:cs typeface="Trebuchet MS"/>
              </a:rPr>
              <a:t>so‐called  </a:t>
            </a:r>
            <a:r>
              <a:rPr sz="1800" b="1" spc="-40" dirty="0">
                <a:solidFill>
                  <a:srgbClr val="7030A0"/>
                </a:solidFill>
                <a:latin typeface="Trebuchet MS"/>
                <a:cs typeface="Trebuchet MS"/>
              </a:rPr>
              <a:t>Coordination </a:t>
            </a:r>
            <a:r>
              <a:rPr sz="1800" b="1" spc="-45" dirty="0">
                <a:solidFill>
                  <a:srgbClr val="7030A0"/>
                </a:solidFill>
                <a:latin typeface="Trebuchet MS"/>
                <a:cs typeface="Trebuchet MS"/>
              </a:rPr>
              <a:t>Function</a:t>
            </a:r>
            <a:r>
              <a:rPr sz="1800" b="1" spc="-32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7030A0"/>
                </a:solidFill>
                <a:latin typeface="Trebuchet MS"/>
                <a:cs typeface="Trebuchet MS"/>
              </a:rPr>
              <a:t>(CF)</a:t>
            </a:r>
            <a:endParaRPr sz="1800" b="1" dirty="0">
              <a:solidFill>
                <a:srgbClr val="7030A0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 dirty="0">
              <a:latin typeface="Trebuchet MS"/>
              <a:cs typeface="Trebuchet MS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sz="1800" b="1" spc="-70" dirty="0">
                <a:solidFill>
                  <a:srgbClr val="C00000"/>
                </a:solidFill>
                <a:latin typeface="Trebuchet MS"/>
                <a:cs typeface="Trebuchet MS"/>
              </a:rPr>
              <a:t>Coordination </a:t>
            </a:r>
            <a:r>
              <a:rPr sz="1800" b="1" spc="-90" dirty="0">
                <a:solidFill>
                  <a:srgbClr val="C00000"/>
                </a:solidFill>
                <a:latin typeface="Trebuchet MS"/>
                <a:cs typeface="Trebuchet MS"/>
              </a:rPr>
              <a:t>Function</a:t>
            </a:r>
            <a:r>
              <a:rPr sz="1800" b="1" spc="-2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C00000"/>
                </a:solidFill>
                <a:latin typeface="Trebuchet MS"/>
                <a:cs typeface="Trebuchet MS"/>
              </a:rPr>
              <a:t>(CF):</a:t>
            </a:r>
            <a:endParaRPr sz="1800" b="1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marL="79375">
              <a:lnSpc>
                <a:spcPct val="100000"/>
              </a:lnSpc>
            </a:pPr>
            <a:r>
              <a:rPr sz="1800" b="1" spc="-210" dirty="0">
                <a:solidFill>
                  <a:srgbClr val="C00000"/>
                </a:solidFill>
                <a:latin typeface="Trebuchet MS"/>
                <a:cs typeface="Trebuchet MS"/>
              </a:rPr>
              <a:t>‐</a:t>
            </a:r>
            <a:r>
              <a:rPr sz="1800" b="1" spc="-1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20" dirty="0">
                <a:solidFill>
                  <a:srgbClr val="C00000"/>
                </a:solidFill>
                <a:latin typeface="Trebuchet MS"/>
                <a:cs typeface="Trebuchet MS"/>
              </a:rPr>
              <a:t>Manages</a:t>
            </a:r>
            <a:r>
              <a:rPr sz="1800" b="1" spc="-1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1800" b="1" spc="-1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C00000"/>
                </a:solidFill>
                <a:latin typeface="Trebuchet MS"/>
                <a:cs typeface="Trebuchet MS"/>
              </a:rPr>
              <a:t>access</a:t>
            </a:r>
            <a:r>
              <a:rPr sz="1800" b="1" spc="-1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Trebuchet MS"/>
                <a:cs typeface="Trebuchet MS"/>
              </a:rPr>
              <a:t>to</a:t>
            </a:r>
            <a:r>
              <a:rPr sz="1800" b="1" spc="-1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1800" b="1" spc="-1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C00000"/>
                </a:solidFill>
                <a:latin typeface="Trebuchet MS"/>
                <a:cs typeface="Trebuchet MS"/>
              </a:rPr>
              <a:t>wireless</a:t>
            </a:r>
            <a:r>
              <a:rPr sz="1800" b="1" spc="-1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C00000"/>
                </a:solidFill>
                <a:latin typeface="Trebuchet MS"/>
                <a:cs typeface="Trebuchet MS"/>
              </a:rPr>
              <a:t>medium</a:t>
            </a:r>
            <a:endParaRPr sz="1800" b="1" dirty="0">
              <a:solidFill>
                <a:srgbClr val="C00000"/>
              </a:solidFill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91E0C6-7DBC-46B6-80C2-A568F967B1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sp>
        <p:nvSpPr>
          <p:cNvPr id="70" name="object 2">
            <a:extLst>
              <a:ext uri="{FF2B5EF4-FFF2-40B4-BE49-F238E27FC236}">
                <a16:creationId xmlns:a16="http://schemas.microsoft.com/office/drawing/2014/main" id="{40ABD595-96FF-0BC4-911B-4D17A5FF230C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4709" y="646430"/>
            <a:ext cx="29025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80" dirty="0"/>
              <a:t>Architecture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20113" y="1445673"/>
            <a:ext cx="8048625" cy="5249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ts val="3445"/>
              </a:lnSpc>
              <a:spcBef>
                <a:spcPts val="10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spc="-65" dirty="0">
                <a:latin typeface="Trebuchet MS"/>
                <a:cs typeface="Trebuchet MS"/>
              </a:rPr>
              <a:t>Coordination </a:t>
            </a:r>
            <a:r>
              <a:rPr sz="3000" spc="-75" dirty="0">
                <a:latin typeface="Trebuchet MS"/>
                <a:cs typeface="Trebuchet MS"/>
              </a:rPr>
              <a:t>Function</a:t>
            </a:r>
            <a:r>
              <a:rPr sz="3000" spc="-450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(CF)</a:t>
            </a:r>
            <a:endParaRPr sz="3000" dirty="0">
              <a:latin typeface="Trebuchet MS"/>
              <a:cs typeface="Trebuchet MS"/>
            </a:endParaRPr>
          </a:p>
          <a:p>
            <a:pPr marL="983615" marR="5080" lvl="1" indent="-514350">
              <a:lnSpc>
                <a:spcPct val="70000"/>
              </a:lnSpc>
              <a:spcBef>
                <a:spcPts val="780"/>
              </a:spcBef>
              <a:buClr>
                <a:srgbClr val="F0A73C"/>
              </a:buClr>
              <a:buSzPct val="88461"/>
              <a:buFont typeface="+mj-lt"/>
              <a:buAutoNum type="arabicPeriod"/>
              <a:tabLst>
                <a:tab pos="755015" algn="l"/>
                <a:tab pos="755650" algn="l"/>
              </a:tabLst>
            </a:pPr>
            <a:r>
              <a:rPr sz="2600" spc="-100" dirty="0">
                <a:solidFill>
                  <a:srgbClr val="0070C0"/>
                </a:solidFill>
                <a:latin typeface="Trebuchet MS"/>
                <a:cs typeface="Trebuchet MS"/>
              </a:rPr>
              <a:t>The</a:t>
            </a:r>
            <a:r>
              <a:rPr sz="2600" spc="-21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65" dirty="0">
                <a:solidFill>
                  <a:srgbClr val="0070C0"/>
                </a:solidFill>
                <a:latin typeface="Trebuchet MS"/>
                <a:cs typeface="Trebuchet MS"/>
              </a:rPr>
              <a:t>Distributed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0070C0"/>
                </a:solidFill>
                <a:latin typeface="Trebuchet MS"/>
                <a:cs typeface="Trebuchet MS"/>
              </a:rPr>
              <a:t>CF</a:t>
            </a:r>
            <a:r>
              <a:rPr sz="2600" spc="-22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45" dirty="0">
                <a:solidFill>
                  <a:srgbClr val="0070C0"/>
                </a:solidFill>
                <a:latin typeface="Trebuchet MS"/>
                <a:cs typeface="Trebuchet MS"/>
              </a:rPr>
              <a:t>(DCF)</a:t>
            </a:r>
            <a:r>
              <a:rPr sz="2600" spc="-21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75" dirty="0">
                <a:solidFill>
                  <a:srgbClr val="0070C0"/>
                </a:solidFill>
                <a:latin typeface="Trebuchet MS"/>
                <a:cs typeface="Trebuchet MS"/>
              </a:rPr>
              <a:t>is</a:t>
            </a:r>
            <a:r>
              <a:rPr sz="2600" spc="-229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30" dirty="0">
                <a:solidFill>
                  <a:srgbClr val="0070C0"/>
                </a:solidFill>
                <a:latin typeface="Trebuchet MS"/>
                <a:cs typeface="Trebuchet MS"/>
              </a:rPr>
              <a:t>used</a:t>
            </a:r>
            <a:r>
              <a:rPr sz="2600" spc="-22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40" dirty="0">
                <a:solidFill>
                  <a:srgbClr val="0070C0"/>
                </a:solidFill>
                <a:latin typeface="Trebuchet MS"/>
                <a:cs typeface="Trebuchet MS"/>
              </a:rPr>
              <a:t>by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150" dirty="0">
                <a:solidFill>
                  <a:srgbClr val="0070C0"/>
                </a:solidFill>
                <a:latin typeface="Trebuchet MS"/>
                <a:cs typeface="Trebuchet MS"/>
              </a:rPr>
              <a:t>all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0070C0"/>
                </a:solidFill>
                <a:latin typeface="Trebuchet MS"/>
                <a:cs typeface="Trebuchet MS"/>
              </a:rPr>
              <a:t>stations</a:t>
            </a:r>
            <a:r>
              <a:rPr sz="2600" spc="-19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solidFill>
                  <a:srgbClr val="0070C0"/>
                </a:solidFill>
                <a:latin typeface="Trebuchet MS"/>
                <a:cs typeface="Trebuchet MS"/>
              </a:rPr>
              <a:t>in</a:t>
            </a:r>
            <a:r>
              <a:rPr sz="2600" spc="-22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75" dirty="0">
                <a:solidFill>
                  <a:srgbClr val="0070C0"/>
                </a:solidFill>
                <a:latin typeface="Trebuchet MS"/>
                <a:cs typeface="Trebuchet MS"/>
              </a:rPr>
              <a:t>the  </a:t>
            </a:r>
            <a:r>
              <a:rPr sz="2600" spc="-30" dirty="0">
                <a:solidFill>
                  <a:srgbClr val="0070C0"/>
                </a:solidFill>
                <a:latin typeface="Trebuchet MS"/>
                <a:cs typeface="Trebuchet MS"/>
              </a:rPr>
              <a:t>BSS, </a:t>
            </a:r>
            <a:endParaRPr lang="en-US" sz="2600" spc="-30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983615" marR="5080" lvl="1" indent="-514350">
              <a:lnSpc>
                <a:spcPct val="70000"/>
              </a:lnSpc>
              <a:spcBef>
                <a:spcPts val="780"/>
              </a:spcBef>
              <a:buClr>
                <a:srgbClr val="F0A73C"/>
              </a:buClr>
              <a:buSzPct val="88461"/>
              <a:buFont typeface="+mj-lt"/>
              <a:buAutoNum type="arabicPeriod"/>
              <a:tabLst>
                <a:tab pos="755015" algn="l"/>
                <a:tab pos="755650" algn="l"/>
              </a:tabLst>
            </a:pPr>
            <a:r>
              <a:rPr sz="2600" spc="-45" dirty="0">
                <a:solidFill>
                  <a:srgbClr val="0070C0"/>
                </a:solidFill>
                <a:latin typeface="Trebuchet MS"/>
                <a:cs typeface="Trebuchet MS"/>
              </a:rPr>
              <a:t>whereas </a:t>
            </a:r>
            <a:r>
              <a:rPr sz="2600" spc="-70" dirty="0">
                <a:solidFill>
                  <a:srgbClr val="0070C0"/>
                </a:solidFill>
                <a:latin typeface="Trebuchet MS"/>
                <a:cs typeface="Trebuchet MS"/>
              </a:rPr>
              <a:t>the </a:t>
            </a:r>
            <a:r>
              <a:rPr sz="2600" spc="-55" dirty="0">
                <a:solidFill>
                  <a:srgbClr val="0070C0"/>
                </a:solidFill>
                <a:latin typeface="Trebuchet MS"/>
                <a:cs typeface="Trebuchet MS"/>
              </a:rPr>
              <a:t>Point </a:t>
            </a:r>
            <a:r>
              <a:rPr sz="2600" spc="-114" dirty="0">
                <a:solidFill>
                  <a:srgbClr val="0070C0"/>
                </a:solidFill>
                <a:latin typeface="Trebuchet MS"/>
                <a:cs typeface="Trebuchet MS"/>
              </a:rPr>
              <a:t>CF </a:t>
            </a:r>
            <a:r>
              <a:rPr sz="2600" spc="-65" dirty="0">
                <a:solidFill>
                  <a:srgbClr val="0070C0"/>
                </a:solidFill>
                <a:latin typeface="Trebuchet MS"/>
                <a:cs typeface="Trebuchet MS"/>
              </a:rPr>
              <a:t>(PCF) </a:t>
            </a:r>
            <a:r>
              <a:rPr sz="2600" spc="-75" dirty="0">
                <a:solidFill>
                  <a:srgbClr val="0070C0"/>
                </a:solidFill>
                <a:latin typeface="Trebuchet MS"/>
                <a:cs typeface="Trebuchet MS"/>
              </a:rPr>
              <a:t>is </a:t>
            </a:r>
            <a:r>
              <a:rPr sz="2600" spc="-55" dirty="0">
                <a:solidFill>
                  <a:srgbClr val="0070C0"/>
                </a:solidFill>
                <a:latin typeface="Trebuchet MS"/>
                <a:cs typeface="Trebuchet MS"/>
              </a:rPr>
              <a:t>an </a:t>
            </a:r>
            <a:r>
              <a:rPr sz="2600" spc="-60" dirty="0">
                <a:solidFill>
                  <a:srgbClr val="0070C0"/>
                </a:solidFill>
                <a:latin typeface="Trebuchet MS"/>
                <a:cs typeface="Trebuchet MS"/>
              </a:rPr>
              <a:t>optional  </a:t>
            </a:r>
            <a:r>
              <a:rPr sz="2600" spc="-45" dirty="0">
                <a:solidFill>
                  <a:srgbClr val="0070C0"/>
                </a:solidFill>
                <a:latin typeface="Trebuchet MS"/>
                <a:cs typeface="Trebuchet MS"/>
              </a:rPr>
              <a:t>extension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40" dirty="0">
                <a:solidFill>
                  <a:srgbClr val="0070C0"/>
                </a:solidFill>
                <a:latin typeface="Trebuchet MS"/>
                <a:cs typeface="Trebuchet MS"/>
              </a:rPr>
              <a:t>for</a:t>
            </a:r>
            <a:r>
              <a:rPr sz="2600" spc="-22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0070C0"/>
                </a:solidFill>
                <a:latin typeface="Trebuchet MS"/>
                <a:cs typeface="Trebuchet MS"/>
              </a:rPr>
              <a:t>the</a:t>
            </a:r>
            <a:r>
              <a:rPr sz="26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20" dirty="0">
                <a:solidFill>
                  <a:srgbClr val="0070C0"/>
                </a:solidFill>
                <a:latin typeface="Trebuchet MS"/>
                <a:cs typeface="Trebuchet MS"/>
              </a:rPr>
              <a:t>support</a:t>
            </a:r>
            <a:r>
              <a:rPr sz="2600" spc="-21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15" dirty="0">
                <a:solidFill>
                  <a:srgbClr val="0070C0"/>
                </a:solidFill>
                <a:latin typeface="Trebuchet MS"/>
                <a:cs typeface="Trebuchet MS"/>
              </a:rPr>
              <a:t>of</a:t>
            </a:r>
            <a:r>
              <a:rPr sz="2600" spc="-229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35" dirty="0">
                <a:solidFill>
                  <a:srgbClr val="0070C0"/>
                </a:solidFill>
                <a:latin typeface="Trebuchet MS"/>
                <a:cs typeface="Trebuchet MS"/>
              </a:rPr>
              <a:t>QoS.</a:t>
            </a:r>
            <a:endParaRPr lang="en-US" sz="2600" spc="-35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469265" marR="5080" lvl="1">
              <a:lnSpc>
                <a:spcPct val="70000"/>
              </a:lnSpc>
              <a:spcBef>
                <a:spcPts val="780"/>
              </a:spcBef>
              <a:buClr>
                <a:srgbClr val="F0A73C"/>
              </a:buClr>
              <a:buSzPct val="88461"/>
              <a:tabLst>
                <a:tab pos="755015" algn="l"/>
                <a:tab pos="755650" algn="l"/>
              </a:tabLst>
            </a:pPr>
            <a:endParaRPr sz="2600" dirty="0">
              <a:latin typeface="Trebuchet MS"/>
              <a:cs typeface="Trebuchet MS"/>
            </a:endParaRPr>
          </a:p>
          <a:p>
            <a:pPr marL="755015" marR="1792605" lvl="1" indent="-285750">
              <a:lnSpc>
                <a:spcPct val="70000"/>
              </a:lnSpc>
              <a:spcBef>
                <a:spcPts val="625"/>
              </a:spcBef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600" spc="-45" dirty="0">
                <a:solidFill>
                  <a:srgbClr val="FF0000"/>
                </a:solidFill>
                <a:latin typeface="Trebuchet MS"/>
                <a:cs typeface="Trebuchet MS"/>
              </a:rPr>
              <a:t>DCF</a:t>
            </a:r>
            <a:r>
              <a:rPr sz="2600" spc="-229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45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26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85" dirty="0">
                <a:solidFill>
                  <a:srgbClr val="FF0000"/>
                </a:solidFill>
                <a:latin typeface="Trebuchet MS"/>
                <a:cs typeface="Trebuchet MS"/>
              </a:rPr>
              <a:t>PCF</a:t>
            </a:r>
            <a:r>
              <a:rPr sz="26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90" dirty="0">
                <a:solidFill>
                  <a:srgbClr val="FF0000"/>
                </a:solidFill>
                <a:latin typeface="Trebuchet MS"/>
                <a:cs typeface="Trebuchet MS"/>
              </a:rPr>
              <a:t>are</a:t>
            </a:r>
            <a:r>
              <a:rPr sz="26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45" dirty="0">
                <a:solidFill>
                  <a:srgbClr val="FF0000"/>
                </a:solidFill>
                <a:latin typeface="Trebuchet MS"/>
                <a:cs typeface="Trebuchet MS"/>
              </a:rPr>
              <a:t>concepts</a:t>
            </a:r>
            <a:r>
              <a:rPr sz="26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40" dirty="0">
                <a:solidFill>
                  <a:srgbClr val="FF0000"/>
                </a:solidFill>
                <a:latin typeface="Trebuchet MS"/>
                <a:cs typeface="Trebuchet MS"/>
              </a:rPr>
              <a:t>for</a:t>
            </a:r>
            <a:r>
              <a:rPr sz="2600" spc="-2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55" dirty="0">
                <a:solidFill>
                  <a:srgbClr val="FF0000"/>
                </a:solidFill>
                <a:latin typeface="Trebuchet MS"/>
                <a:cs typeface="Trebuchet MS"/>
              </a:rPr>
              <a:t>spectrum  </a:t>
            </a:r>
            <a:r>
              <a:rPr sz="2600" spc="-50" dirty="0">
                <a:solidFill>
                  <a:srgbClr val="FF0000"/>
                </a:solidFill>
                <a:latin typeface="Trebuchet MS"/>
                <a:cs typeface="Trebuchet MS"/>
              </a:rPr>
              <a:t>management </a:t>
            </a:r>
            <a:r>
              <a:rPr sz="2600" spc="-45" dirty="0">
                <a:solidFill>
                  <a:srgbClr val="FF0000"/>
                </a:solidFill>
                <a:latin typeface="Trebuchet MS"/>
                <a:cs typeface="Trebuchet MS"/>
              </a:rPr>
              <a:t>and </a:t>
            </a:r>
            <a:r>
              <a:rPr sz="2600" spc="-65" dirty="0">
                <a:solidFill>
                  <a:srgbClr val="FF0000"/>
                </a:solidFill>
                <a:latin typeface="Trebuchet MS"/>
                <a:cs typeface="Trebuchet MS"/>
              </a:rPr>
              <a:t>medium</a:t>
            </a:r>
            <a:r>
              <a:rPr sz="2600" spc="-5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solidFill>
                  <a:srgbClr val="FF0000"/>
                </a:solidFill>
                <a:latin typeface="Trebuchet MS"/>
                <a:cs typeface="Trebuchet MS"/>
              </a:rPr>
              <a:t>access.</a:t>
            </a:r>
            <a:endParaRPr lang="en-US" sz="2600" spc="-1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755015" marR="1792605" lvl="1" indent="-285750">
              <a:lnSpc>
                <a:spcPct val="70000"/>
              </a:lnSpc>
              <a:spcBef>
                <a:spcPts val="625"/>
              </a:spcBef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endParaRPr sz="2450" dirty="0">
              <a:highlight>
                <a:srgbClr val="FFFF00"/>
              </a:highlight>
              <a:latin typeface="Trebuchet MS"/>
              <a:cs typeface="Trebuchet MS"/>
            </a:endParaRPr>
          </a:p>
          <a:p>
            <a:pPr marL="354965" indent="-342900">
              <a:lnSpc>
                <a:spcPts val="3445"/>
              </a:lnSpc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spc="-50" dirty="0">
                <a:latin typeface="Trebuchet MS"/>
                <a:cs typeface="Trebuchet MS"/>
              </a:rPr>
              <a:t>Independent</a:t>
            </a:r>
            <a:r>
              <a:rPr sz="3000" spc="-280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Basic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Service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40" dirty="0">
                <a:latin typeface="Trebuchet MS"/>
                <a:cs typeface="Trebuchet MS"/>
              </a:rPr>
              <a:t>Set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25" dirty="0">
                <a:latin typeface="Trebuchet MS"/>
                <a:cs typeface="Trebuchet MS"/>
              </a:rPr>
              <a:t>(IBSS)</a:t>
            </a:r>
            <a:endParaRPr sz="3000" dirty="0">
              <a:latin typeface="Trebuchet MS"/>
              <a:cs typeface="Trebuchet MS"/>
            </a:endParaRPr>
          </a:p>
          <a:p>
            <a:pPr marL="755015" marR="772160" lvl="1" indent="-285750">
              <a:lnSpc>
                <a:spcPct val="70000"/>
              </a:lnSpc>
              <a:spcBef>
                <a:spcPts val="785"/>
              </a:spcBef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600" spc="-100" dirty="0">
                <a:latin typeface="Trebuchet MS"/>
                <a:cs typeface="Trebuchet MS"/>
              </a:rPr>
              <a:t>The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simplest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215" dirty="0">
                <a:latin typeface="Trebuchet MS"/>
                <a:cs typeface="Trebuchet MS"/>
              </a:rPr>
              <a:t>802.11 </a:t>
            </a:r>
            <a:r>
              <a:rPr sz="2600" spc="-35" dirty="0">
                <a:latin typeface="Trebuchet MS"/>
                <a:cs typeface="Trebuchet MS"/>
              </a:rPr>
              <a:t>network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type.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Consists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15" dirty="0">
                <a:latin typeface="Trebuchet MS"/>
                <a:cs typeface="Trebuchet MS"/>
              </a:rPr>
              <a:t>of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a  </a:t>
            </a:r>
            <a:r>
              <a:rPr sz="2600" spc="-70" dirty="0">
                <a:latin typeface="Trebuchet MS"/>
                <a:cs typeface="Trebuchet MS"/>
              </a:rPr>
              <a:t>minimum </a:t>
            </a:r>
            <a:r>
              <a:rPr sz="2600" spc="-15" dirty="0">
                <a:latin typeface="Trebuchet MS"/>
                <a:cs typeface="Trebuchet MS"/>
              </a:rPr>
              <a:t>of </a:t>
            </a:r>
            <a:r>
              <a:rPr sz="2600" dirty="0">
                <a:latin typeface="Trebuchet MS"/>
                <a:cs typeface="Trebuchet MS"/>
              </a:rPr>
              <a:t>two</a:t>
            </a:r>
            <a:r>
              <a:rPr sz="2600" spc="-61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stations</a:t>
            </a:r>
            <a:endParaRPr sz="2600" dirty="0">
              <a:latin typeface="Trebuchet MS"/>
              <a:cs typeface="Trebuchet MS"/>
            </a:endParaRPr>
          </a:p>
          <a:p>
            <a:pPr marL="755015" lvl="1" indent="-286385">
              <a:lnSpc>
                <a:spcPts val="2650"/>
              </a:lnSpc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600" spc="70" dirty="0">
                <a:latin typeface="Trebuchet MS"/>
                <a:cs typeface="Trebuchet MS"/>
              </a:rPr>
              <a:t>No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station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has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priority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over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another.</a:t>
            </a:r>
            <a:endParaRPr sz="2600" dirty="0">
              <a:latin typeface="Trebuchet MS"/>
              <a:cs typeface="Trebuchet MS"/>
            </a:endParaRPr>
          </a:p>
          <a:p>
            <a:pPr marL="755650" marR="871855" lvl="1" indent="-286385">
              <a:lnSpc>
                <a:spcPct val="70000"/>
              </a:lnSpc>
              <a:spcBef>
                <a:spcPts val="780"/>
              </a:spcBef>
              <a:buClr>
                <a:srgbClr val="F0A73C"/>
              </a:buClr>
              <a:buSzPct val="88461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600" spc="-10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responsibility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15" dirty="0">
                <a:latin typeface="Trebuchet MS"/>
                <a:cs typeface="Trebuchet MS"/>
              </a:rPr>
              <a:t>of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coordinating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the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medium  </a:t>
            </a:r>
            <a:r>
              <a:rPr sz="2600" spc="-60" dirty="0">
                <a:latin typeface="Trebuchet MS"/>
                <a:cs typeface="Trebuchet MS"/>
              </a:rPr>
              <a:t>access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distributed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among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all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stations</a:t>
            </a:r>
            <a:endParaRPr sz="26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5EAC30-CCEC-496F-89F5-32735A511F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DDE0BBFA-8644-6150-276F-0B0641CDD6D8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4709" y="646430"/>
            <a:ext cx="29025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80" dirty="0"/>
              <a:t>Architecture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74839" y="1652270"/>
            <a:ext cx="9144000" cy="2125738"/>
          </a:xfrm>
          <a:custGeom>
            <a:avLst/>
            <a:gdLst/>
            <a:ahLst/>
            <a:cxnLst/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09242"/>
            <a:ext cx="8065134" cy="15621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marR="24765" indent="-342900">
              <a:lnSpc>
                <a:spcPct val="80000"/>
              </a:lnSpc>
              <a:spcBef>
                <a:spcPts val="7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30" dirty="0">
                <a:latin typeface="Trebuchet MS"/>
                <a:cs typeface="Trebuchet MS"/>
              </a:rPr>
              <a:t>An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infrastructure‐based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BSS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includes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90" dirty="0">
                <a:latin typeface="Trebuchet MS"/>
                <a:cs typeface="Trebuchet MS"/>
              </a:rPr>
              <a:t>1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station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that  </a:t>
            </a:r>
            <a:r>
              <a:rPr sz="2800" spc="-25" dirty="0">
                <a:latin typeface="Trebuchet MS"/>
                <a:cs typeface="Trebuchet MS"/>
              </a:rPr>
              <a:t>has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access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wired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network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(Access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Point‐AP).</a:t>
            </a:r>
            <a:endParaRPr sz="28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ts val="2690"/>
              </a:lnSpc>
              <a:spcBef>
                <a:spcPts val="64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30" dirty="0">
                <a:latin typeface="Trebuchet MS"/>
                <a:cs typeface="Trebuchet MS"/>
              </a:rPr>
              <a:t>An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40" dirty="0">
                <a:latin typeface="Trebuchet MS"/>
                <a:cs typeface="Trebuchet MS"/>
              </a:rPr>
              <a:t>ESS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(Extended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Service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Set)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consists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90" dirty="0">
                <a:latin typeface="Trebuchet MS"/>
                <a:cs typeface="Trebuchet MS"/>
              </a:rPr>
              <a:t>1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or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more  </a:t>
            </a:r>
            <a:r>
              <a:rPr sz="2800" spc="65" dirty="0">
                <a:latin typeface="Trebuchet MS"/>
                <a:cs typeface="Trebuchet MS"/>
              </a:rPr>
              <a:t>BSSs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connected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over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Distribution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System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(DS).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B05C3E2-D515-4673-A9A1-50F9F24738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853DB4DA-D2A1-9651-2251-A4F21DF22972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9340" y="646430"/>
            <a:ext cx="1936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5" dirty="0"/>
              <a:t>Services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7639684" cy="31730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303530" indent="-342900" algn="just">
              <a:lnSpc>
                <a:spcPct val="80000"/>
              </a:lnSpc>
              <a:spcBef>
                <a:spcPts val="6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70" dirty="0">
                <a:latin typeface="Trebuchet MS"/>
                <a:cs typeface="Trebuchet MS"/>
              </a:rPr>
              <a:t>DS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provides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service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transport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MAC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Service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Data  </a:t>
            </a:r>
            <a:r>
              <a:rPr sz="2400" spc="-30" dirty="0">
                <a:latin typeface="Trebuchet MS"/>
                <a:cs typeface="Trebuchet MS"/>
              </a:rPr>
              <a:t>Units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(MSDUs)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between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stations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that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direct  </a:t>
            </a:r>
            <a:r>
              <a:rPr sz="2400" spc="-55" dirty="0">
                <a:latin typeface="Trebuchet MS"/>
                <a:cs typeface="Trebuchet MS"/>
              </a:rPr>
              <a:t>communication</a:t>
            </a:r>
            <a:endParaRPr sz="2400">
              <a:latin typeface="Trebuchet MS"/>
              <a:cs typeface="Trebuchet MS"/>
            </a:endParaRPr>
          </a:p>
          <a:p>
            <a:pPr marL="354965" indent="-342900" algn="just">
              <a:lnSpc>
                <a:spcPct val="100000"/>
              </a:lnSpc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20" dirty="0">
                <a:latin typeface="Trebuchet MS"/>
                <a:cs typeface="Trebuchet MS"/>
              </a:rPr>
              <a:t>An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20" dirty="0">
                <a:latin typeface="Trebuchet MS"/>
                <a:cs typeface="Trebuchet MS"/>
              </a:rPr>
              <a:t>AP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provides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Distribution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System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Service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(DSS).</a:t>
            </a:r>
            <a:endParaRPr sz="2400">
              <a:latin typeface="Trebuchet MS"/>
              <a:cs typeface="Trebuchet MS"/>
            </a:endParaRPr>
          </a:p>
          <a:p>
            <a:pPr marL="755015" marR="5080" lvl="1" indent="-285750">
              <a:lnSpc>
                <a:spcPts val="1920"/>
              </a:lnSpc>
              <a:spcBef>
                <a:spcPts val="48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80" dirty="0">
                <a:latin typeface="Trebuchet MS"/>
                <a:cs typeface="Trebuchet MS"/>
              </a:rPr>
              <a:t>The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DSSs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enable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MAC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transport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95" dirty="0">
                <a:latin typeface="Trebuchet MS"/>
                <a:cs typeface="Trebuchet MS"/>
              </a:rPr>
              <a:t>MSDUs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between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stations  </a:t>
            </a:r>
            <a:r>
              <a:rPr sz="2000" spc="-65" dirty="0">
                <a:latin typeface="Trebuchet MS"/>
                <a:cs typeface="Trebuchet MS"/>
              </a:rPr>
              <a:t>that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5" dirty="0">
                <a:latin typeface="Trebuchet MS"/>
                <a:cs typeface="Trebuchet MS"/>
              </a:rPr>
              <a:t>not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direct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communication.</a:t>
            </a:r>
            <a:endParaRPr sz="2000">
              <a:latin typeface="Trebuchet MS"/>
              <a:cs typeface="Trebuchet MS"/>
            </a:endParaRPr>
          </a:p>
          <a:p>
            <a:pPr marL="755015" lvl="1" indent="-286385">
              <a:lnSpc>
                <a:spcPts val="2390"/>
              </a:lnSpc>
              <a:spcBef>
                <a:spcPts val="1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45" dirty="0">
                <a:latin typeface="Trebuchet MS"/>
                <a:cs typeface="Trebuchet MS"/>
              </a:rPr>
              <a:t>So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DSSs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5" dirty="0">
                <a:latin typeface="Trebuchet MS"/>
                <a:cs typeface="Trebuchet MS"/>
              </a:rPr>
              <a:t>not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available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IBSS.</a:t>
            </a:r>
            <a:endParaRPr sz="2000">
              <a:latin typeface="Trebuchet MS"/>
              <a:cs typeface="Trebuchet MS"/>
            </a:endParaRPr>
          </a:p>
          <a:p>
            <a:pPr marL="354965" indent="-342900" algn="just">
              <a:lnSpc>
                <a:spcPts val="2870"/>
              </a:lnSpc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-85" dirty="0">
                <a:latin typeface="Trebuchet MS"/>
                <a:cs typeface="Trebuchet MS"/>
              </a:rPr>
              <a:t>There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2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categories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services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4" dirty="0">
                <a:latin typeface="Trebuchet MS"/>
                <a:cs typeface="Trebuchet MS"/>
              </a:rPr>
              <a:t>802.11:</a:t>
            </a:r>
            <a:endParaRPr sz="240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1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Service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10" dirty="0">
                <a:latin typeface="Trebuchet MS"/>
                <a:cs typeface="Trebuchet MS"/>
              </a:rPr>
              <a:t>(SS)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endParaRPr sz="200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Distribution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System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Service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(DSS).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9F519-2CC3-4A1C-A4EE-3D29BFD372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9340" y="646430"/>
            <a:ext cx="1936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5" dirty="0"/>
              <a:t>Services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3778008"/>
            <a:ext cx="9144000" cy="2571750"/>
          </a:xfrm>
          <a:custGeom>
            <a:avLst/>
            <a:gdLst/>
            <a:ahLst/>
            <a:cxnLst/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795525"/>
            <a:ext cx="7909559" cy="4075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</a:pPr>
            <a:r>
              <a:rPr sz="3200" spc="-120" dirty="0">
                <a:latin typeface="Trebuchet MS"/>
                <a:cs typeface="Trebuchet MS"/>
              </a:rPr>
              <a:t>The</a:t>
            </a:r>
            <a:r>
              <a:rPr sz="3200" spc="-275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main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SS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of</a:t>
            </a:r>
            <a:r>
              <a:rPr sz="3200" spc="-27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a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BSS</a:t>
            </a:r>
            <a:r>
              <a:rPr sz="3200" spc="-254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is</a:t>
            </a:r>
            <a:endParaRPr sz="3200" dirty="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MAC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Service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Data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Unit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95" dirty="0">
                <a:latin typeface="Trebuchet MS"/>
                <a:cs typeface="Trebuchet MS"/>
              </a:rPr>
              <a:t>(MSDU)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delivery.</a:t>
            </a:r>
            <a:endParaRPr sz="2800" dirty="0">
              <a:latin typeface="Trebuchet MS"/>
              <a:cs typeface="Trebuchet MS"/>
            </a:endParaRPr>
          </a:p>
          <a:p>
            <a:pPr marL="755015" marR="891540" lvl="1" indent="-285750">
              <a:lnSpc>
                <a:spcPts val="2690"/>
              </a:lnSpc>
              <a:spcBef>
                <a:spcPts val="645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50" dirty="0">
                <a:latin typeface="Trebuchet MS"/>
                <a:cs typeface="Trebuchet MS"/>
              </a:rPr>
              <a:t>Other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SSs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include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(de)‐authentication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  </a:t>
            </a:r>
            <a:r>
              <a:rPr sz="2800" spc="-120" dirty="0">
                <a:latin typeface="Trebuchet MS"/>
                <a:cs typeface="Trebuchet MS"/>
              </a:rPr>
              <a:t>privacy.</a:t>
            </a:r>
            <a:endParaRPr sz="28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</a:pPr>
            <a:r>
              <a:rPr sz="3200" spc="75" dirty="0">
                <a:latin typeface="Trebuchet MS"/>
                <a:cs typeface="Trebuchet MS"/>
              </a:rPr>
              <a:t>DSSs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include</a:t>
            </a:r>
            <a:endParaRPr sz="3200" dirty="0">
              <a:latin typeface="Trebuchet MS"/>
              <a:cs typeface="Trebuchet MS"/>
            </a:endParaRPr>
          </a:p>
          <a:p>
            <a:pPr marL="755015" marR="1478915" lvl="1" indent="-285750">
              <a:lnSpc>
                <a:spcPts val="2690"/>
              </a:lnSpc>
              <a:spcBef>
                <a:spcPts val="665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95" dirty="0">
                <a:latin typeface="Trebuchet MS"/>
                <a:cs typeface="Trebuchet MS"/>
              </a:rPr>
              <a:t>(re‐)association, </a:t>
            </a:r>
            <a:r>
              <a:rPr sz="2800" spc="-90" dirty="0">
                <a:latin typeface="Trebuchet MS"/>
                <a:cs typeface="Trebuchet MS"/>
              </a:rPr>
              <a:t>(dis)‐association,</a:t>
            </a:r>
            <a:r>
              <a:rPr sz="2800" spc="-38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  </a:t>
            </a:r>
            <a:r>
              <a:rPr sz="2800" spc="-95" dirty="0">
                <a:latin typeface="Trebuchet MS"/>
                <a:cs typeface="Trebuchet MS"/>
              </a:rPr>
              <a:t>integration.</a:t>
            </a:r>
            <a:endParaRPr sz="2800" dirty="0">
              <a:latin typeface="Trebuchet MS"/>
              <a:cs typeface="Trebuchet MS"/>
            </a:endParaRPr>
          </a:p>
          <a:p>
            <a:pPr marL="755015" marR="5080" lvl="1" indent="-285750">
              <a:lnSpc>
                <a:spcPct val="80000"/>
              </a:lnSpc>
              <a:spcBef>
                <a:spcPts val="69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105" dirty="0">
                <a:latin typeface="Trebuchet MS"/>
                <a:cs typeface="Trebuchet MS"/>
              </a:rPr>
              <a:t>The </a:t>
            </a:r>
            <a:r>
              <a:rPr sz="2800" spc="-70" dirty="0">
                <a:latin typeface="Trebuchet MS"/>
                <a:cs typeface="Trebuchet MS"/>
              </a:rPr>
              <a:t>integration enables the </a:t>
            </a:r>
            <a:r>
              <a:rPr sz="2800" spc="-100" dirty="0">
                <a:latin typeface="Trebuchet MS"/>
                <a:cs typeface="Trebuchet MS"/>
              </a:rPr>
              <a:t>delivery </a:t>
            </a:r>
            <a:r>
              <a:rPr sz="2800" spc="-15" dirty="0">
                <a:latin typeface="Trebuchet MS"/>
                <a:cs typeface="Trebuchet MS"/>
              </a:rPr>
              <a:t>of </a:t>
            </a:r>
            <a:r>
              <a:rPr sz="2800" spc="140" dirty="0">
                <a:latin typeface="Trebuchet MS"/>
                <a:cs typeface="Trebuchet MS"/>
              </a:rPr>
              <a:t>MSDUs  </a:t>
            </a:r>
            <a:r>
              <a:rPr sz="2800" spc="-50" dirty="0">
                <a:latin typeface="Trebuchet MS"/>
                <a:cs typeface="Trebuchet MS"/>
              </a:rPr>
              <a:t>between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non‐802.11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40" dirty="0">
                <a:latin typeface="Trebuchet MS"/>
                <a:cs typeface="Trebuchet MS"/>
              </a:rPr>
              <a:t>LANs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DS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via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so‐  </a:t>
            </a:r>
            <a:r>
              <a:rPr sz="2800" spc="-120" dirty="0">
                <a:latin typeface="Trebuchet MS"/>
                <a:cs typeface="Trebuchet MS"/>
              </a:rPr>
              <a:t>called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portal.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B7CFF1-1967-4531-B1AE-83EA625580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39CEBB17-56F0-F915-09F0-64A3E1A16E90}"/>
              </a:ext>
            </a:extLst>
          </p:cNvPr>
          <p:cNvSpPr txBox="1">
            <a:spLocks noChangeArrowheads="1"/>
          </p:cNvSpPr>
          <p:nvPr/>
        </p:nvSpPr>
        <p:spPr>
          <a:xfrm>
            <a:off x="1850460" y="772514"/>
            <a:ext cx="6817043" cy="1002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altLang="en-US" kern="0">
                <a:latin typeface="Gill Sans MT" panose="020B0502020104020203" pitchFamily="34" charset="0"/>
                <a:ea typeface="MS PGothic" panose="020B0600070205080204" pitchFamily="34" charset="-128"/>
              </a:rPr>
              <a:t>IEEE 802.11 Wireless LANs</a:t>
            </a:r>
            <a:endParaRPr lang="en-US" altLang="en-US" kern="0" dirty="0">
              <a:latin typeface="Gill Sans MT" panose="020B0502020104020203" pitchFamily="34" charset="0"/>
              <a:ea typeface="MS PGothic" panose="020B0600070205080204" pitchFamily="34" charset="-128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933E97C2-68FD-08A8-AC76-B48CC1CF9D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74561" y="1799913"/>
            <a:ext cx="4376930" cy="225677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105" dirty="0">
                <a:solidFill>
                  <a:srgbClr val="C00000"/>
                </a:solidFill>
              </a:rPr>
              <a:t>802.11b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sz="1800" dirty="0"/>
              <a:t>2.4-2.5 GHz unlicensed spectrum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sz="1800" dirty="0"/>
              <a:t>up to 11 Mbps</a:t>
            </a:r>
          </a:p>
          <a:p>
            <a:pPr marL="0" indent="0">
              <a:buNone/>
              <a:defRPr/>
            </a:pPr>
            <a:r>
              <a:rPr lang="en-US" sz="2105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802.11a</a:t>
            </a:r>
            <a:r>
              <a:rPr lang="en-US" sz="2105" dirty="0">
                <a:latin typeface="Gill Sans MT" charset="0"/>
                <a:ea typeface="ＭＳ Ｐゴシック" charset="0"/>
              </a:rPr>
              <a:t> </a:t>
            </a:r>
          </a:p>
          <a:p>
            <a:pPr marL="342900" indent="-342900">
              <a:lnSpc>
                <a:spcPts val="193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latin typeface="Gill Sans MT" charset="0"/>
                <a:ea typeface="ＭＳ Ｐゴシック" charset="0"/>
              </a:rPr>
              <a:t>5-6 GHz range</a:t>
            </a:r>
          </a:p>
          <a:p>
            <a:pPr marL="342900" indent="-342900">
              <a:lnSpc>
                <a:spcPts val="193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latin typeface="Gill Sans MT" charset="0"/>
                <a:ea typeface="ＭＳ Ｐゴシック" charset="0"/>
              </a:rPr>
              <a:t>up to 54 Mbps</a:t>
            </a:r>
          </a:p>
          <a:p>
            <a:pPr marL="342900" indent="-342900">
              <a:lnSpc>
                <a:spcPts val="193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latin typeface="Gill Sans MT" charset="0"/>
                <a:ea typeface="ＭＳ Ｐゴシック" charset="0"/>
              </a:rPr>
              <a:t>OFDM</a:t>
            </a:r>
          </a:p>
          <a:p>
            <a:pPr>
              <a:defRPr/>
            </a:pPr>
            <a:endParaRPr lang="en-US" sz="2105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5DAA2B8F-387F-4C5D-660A-C268BE5E7217}"/>
              </a:ext>
            </a:extLst>
          </p:cNvPr>
          <p:cNvSpPr txBox="1">
            <a:spLocks noChangeArrowheads="1"/>
          </p:cNvSpPr>
          <p:nvPr/>
        </p:nvSpPr>
        <p:spPr>
          <a:xfrm>
            <a:off x="5541631" y="1775021"/>
            <a:ext cx="4376929" cy="3085491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105" kern="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802.11g</a:t>
            </a:r>
            <a:r>
              <a:rPr lang="en-US" sz="2105" kern="0" dirty="0">
                <a:solidFill>
                  <a:srgbClr val="FF0000"/>
                </a:solidFill>
                <a:latin typeface="Gill Sans MT" charset="0"/>
                <a:ea typeface="ＭＳ Ｐゴシック" charset="0"/>
              </a:rPr>
              <a:t> 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2.4-2.5 GHz range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up to 54 Mbps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sz="1800" dirty="0">
                <a:latin typeface="Gill Sans MT" charset="0"/>
                <a:ea typeface="ＭＳ Ｐゴシック" charset="0"/>
              </a:rPr>
              <a:t>OFDM</a:t>
            </a:r>
          </a:p>
          <a:p>
            <a:pPr lvl="1">
              <a:lnSpc>
                <a:spcPts val="1930"/>
              </a:lnSpc>
              <a:defRPr/>
            </a:pPr>
            <a:endParaRPr lang="en-US" kern="0" dirty="0">
              <a:solidFill>
                <a:sysClr val="windowText" lastClr="000000"/>
              </a:solidFill>
              <a:latin typeface="Gill Sans MT" charset="0"/>
              <a:ea typeface="ＭＳ Ｐゴシック" charset="0"/>
            </a:endParaRPr>
          </a:p>
          <a:p>
            <a:pPr>
              <a:defRPr/>
            </a:pPr>
            <a:r>
              <a:rPr lang="en-US" sz="2105" kern="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802.11n: </a:t>
            </a:r>
            <a:r>
              <a:rPr lang="en-US" sz="2105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multiple antennae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2.4-2.5 and 5-6 GHz range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up to 600 Mbps</a:t>
            </a:r>
          </a:p>
          <a:p>
            <a:pPr lvl="2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MIMO</a:t>
            </a:r>
          </a:p>
          <a:p>
            <a:pPr lvl="2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Frame aggregation</a:t>
            </a:r>
          </a:p>
          <a:p>
            <a:pPr lvl="2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Channel bonding</a:t>
            </a:r>
          </a:p>
          <a:p>
            <a:pPr>
              <a:defRPr/>
            </a:pPr>
            <a:r>
              <a:rPr lang="en-US" sz="2105" kern="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802.11ac</a:t>
            </a:r>
            <a:r>
              <a:rPr lang="en-US" sz="2105" kern="0" dirty="0">
                <a:solidFill>
                  <a:srgbClr val="FF0000"/>
                </a:solidFill>
                <a:latin typeface="Gill Sans MT" charset="0"/>
                <a:ea typeface="ＭＳ Ｐゴシック" charset="0"/>
              </a:rPr>
              <a:t> 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5-6 GHz range</a:t>
            </a:r>
          </a:p>
          <a:p>
            <a:pPr lvl="1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up to 3.4 Gbps</a:t>
            </a:r>
          </a:p>
          <a:p>
            <a:pPr lvl="2">
              <a:lnSpc>
                <a:spcPts val="1930"/>
              </a:lnSpc>
              <a:buFont typeface="Wingdings" charset="0"/>
              <a:buChar char="§"/>
              <a:defRPr/>
            </a:pPr>
            <a:r>
              <a:rPr lang="en-US" kern="0" dirty="0">
                <a:solidFill>
                  <a:sysClr val="windowText" lastClr="000000"/>
                </a:solidFill>
                <a:latin typeface="Gill Sans MT" charset="0"/>
                <a:ea typeface="ＭＳ Ｐゴシック" charset="0"/>
              </a:rPr>
              <a:t>MU-MIMO</a:t>
            </a:r>
          </a:p>
          <a:p>
            <a:pPr marL="401010" lvl="1">
              <a:lnSpc>
                <a:spcPts val="1930"/>
              </a:lnSpc>
              <a:defRPr/>
            </a:pPr>
            <a:endParaRPr lang="en-US" kern="0" dirty="0">
              <a:solidFill>
                <a:sysClr val="windowText" lastClr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A9B98F8F-40CE-3B8C-718E-20B062F0B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767" y="5762937"/>
            <a:ext cx="6475912" cy="36758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00758" indent="-300758" defTabSz="80202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Char char="v"/>
              <a:defRPr/>
            </a:pPr>
            <a:r>
              <a:rPr lang="en-US" sz="2105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all use CSMA/CA for multiple access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53B764-5E96-4C84-B618-C47C25DEBE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40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9997" y="646430"/>
            <a:ext cx="51517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29" dirty="0">
                <a:solidFill>
                  <a:schemeClr val="bg1">
                    <a:lumMod val="50000"/>
                  </a:schemeClr>
                </a:solidFill>
              </a:rPr>
              <a:t>802.11 </a:t>
            </a:r>
            <a:r>
              <a:rPr sz="4400" spc="-150" dirty="0">
                <a:solidFill>
                  <a:schemeClr val="bg1">
                    <a:lumMod val="50000"/>
                  </a:schemeClr>
                </a:solidFill>
              </a:rPr>
              <a:t>Frame</a:t>
            </a:r>
            <a:r>
              <a:rPr sz="4400" spc="-71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4400" spc="-110" dirty="0">
                <a:solidFill>
                  <a:schemeClr val="bg1">
                    <a:lumMod val="50000"/>
                  </a:schemeClr>
                </a:solidFill>
              </a:rPr>
              <a:t>Formats</a:t>
            </a:r>
            <a:endParaRPr sz="4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1206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57248"/>
            <a:ext cx="7869555" cy="42843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4965" marR="5080" indent="-342900">
              <a:lnSpc>
                <a:spcPts val="2380"/>
              </a:lnSpc>
              <a:spcBef>
                <a:spcPts val="39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(in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these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slides)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u="heavy" spc="-1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OFDM‐based</a:t>
            </a:r>
            <a:r>
              <a:rPr sz="2200" u="heavy" spc="-21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heavy" spc="-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5GHz</a:t>
            </a:r>
            <a:r>
              <a:rPr sz="2200" u="heavy" spc="-204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heavy" spc="-2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PHY</a:t>
            </a:r>
            <a:r>
              <a:rPr sz="2200" u="heavy" spc="-19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heavy" spc="-9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layer</a:t>
            </a:r>
            <a:r>
              <a:rPr sz="2200" u="heavy" spc="-21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heavy" spc="-1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802.11a</a:t>
            </a:r>
            <a:r>
              <a:rPr sz="2200" spc="-1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is</a:t>
            </a:r>
            <a:r>
              <a:rPr sz="2200" spc="-1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used 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for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description.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1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alternative</a:t>
            </a:r>
            <a:r>
              <a:rPr sz="2200" spc="-2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PHYs</a:t>
            </a:r>
            <a:r>
              <a:rPr sz="2200" spc="-1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use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similar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frame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formats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2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common,</a:t>
            </a:r>
            <a:r>
              <a:rPr sz="2200" spc="-2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all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PHYs</a:t>
            </a:r>
            <a:r>
              <a:rPr sz="2200" spc="-19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consists</a:t>
            </a:r>
            <a:r>
              <a:rPr sz="2200" spc="-2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of</a:t>
            </a:r>
            <a:r>
              <a:rPr sz="2200" spc="-1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2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sublayers: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45"/>
              </a:spcBef>
              <a:buClr>
                <a:srgbClr val="F0A73C"/>
              </a:buClr>
              <a:buSzPct val="89473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1900" spc="-4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PLCP</a:t>
            </a:r>
            <a:endParaRPr sz="19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29"/>
              </a:spcBef>
              <a:buClr>
                <a:srgbClr val="F0A73C"/>
              </a:buClr>
              <a:buSzPct val="89473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1900" spc="10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PMD</a:t>
            </a:r>
            <a:endParaRPr sz="19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354965" marR="165100" indent="-342900">
              <a:lnSpc>
                <a:spcPts val="2380"/>
              </a:lnSpc>
              <a:spcBef>
                <a:spcPts val="54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PLCP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maps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802.11</a:t>
            </a:r>
            <a:r>
              <a:rPr sz="2200" spc="-1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MPDUs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into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PSDUs,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</a:t>
            </a:r>
            <a:r>
              <a:rPr sz="2200" spc="-19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frame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suitable 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for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transmitting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and </a:t>
            </a:r>
            <a:r>
              <a:rPr sz="2200" spc="-7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receiving </a:t>
            </a:r>
            <a:r>
              <a:rPr sz="2200" spc="-10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data, </a:t>
            </a:r>
            <a:r>
              <a:rPr sz="2200" spc="-5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control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and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management 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information</a:t>
            </a:r>
            <a:r>
              <a:rPr sz="2200" spc="-229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between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associated</a:t>
            </a:r>
            <a:r>
              <a:rPr sz="2200" spc="-2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1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PMD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1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entities.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354965" marR="292735" indent="-342900">
              <a:lnSpc>
                <a:spcPts val="2380"/>
              </a:lnSpc>
              <a:spcBef>
                <a:spcPts val="51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12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PMD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determines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actual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transmission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scheme,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i.e.,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 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way </a:t>
            </a:r>
            <a:r>
              <a:rPr sz="22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of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transmitting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and </a:t>
            </a:r>
            <a:r>
              <a:rPr sz="2200" spc="-7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receiving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data </a:t>
            </a:r>
            <a:r>
              <a:rPr sz="22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through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 wireless  </a:t>
            </a: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medium.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354965" marR="236854" indent="-342900">
              <a:lnSpc>
                <a:spcPts val="2380"/>
              </a:lnSpc>
              <a:spcBef>
                <a:spcPts val="52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frame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that</a:t>
            </a:r>
            <a:r>
              <a:rPr sz="2200" spc="-20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is</a:t>
            </a:r>
            <a:r>
              <a:rPr sz="2200" spc="-19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finally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transmitted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over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2200" spc="-2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channel</a:t>
            </a:r>
            <a:r>
              <a:rPr sz="2200" spc="-2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is</a:t>
            </a:r>
            <a:r>
              <a:rPr sz="2200" spc="-19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8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OFDM  </a:t>
            </a:r>
            <a:r>
              <a:rPr sz="2200" spc="-4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PLCP</a:t>
            </a:r>
            <a:r>
              <a:rPr sz="2200" spc="-2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frame</a:t>
            </a:r>
            <a:endParaRPr sz="22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27A283D-ECB3-4A3B-943A-FC16AFB3B2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9997" y="646430"/>
            <a:ext cx="51517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29" dirty="0">
                <a:solidFill>
                  <a:schemeClr val="bg1">
                    <a:lumMod val="50000"/>
                  </a:schemeClr>
                </a:solidFill>
              </a:rPr>
              <a:t>802.11 </a:t>
            </a:r>
            <a:r>
              <a:rPr sz="4400" spc="-150" dirty="0">
                <a:solidFill>
                  <a:schemeClr val="bg1">
                    <a:lumMod val="50000"/>
                  </a:schemeClr>
                </a:solidFill>
              </a:rPr>
              <a:t>Frame</a:t>
            </a:r>
            <a:r>
              <a:rPr sz="4400" spc="-71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4400" spc="-110" dirty="0">
                <a:solidFill>
                  <a:schemeClr val="bg1">
                    <a:lumMod val="50000"/>
                  </a:schemeClr>
                </a:solidFill>
              </a:rPr>
              <a:t>Formats</a:t>
            </a:r>
            <a:endParaRPr sz="4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4572000"/>
            <a:chOff x="774839" y="1206246"/>
            <a:chExt cx="9144000" cy="4572000"/>
          </a:xfrm>
        </p:grpSpPr>
        <p:sp>
          <p:nvSpPr>
            <p:cNvPr id="4" name="object 4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94039" y="1949196"/>
              <a:ext cx="6934200" cy="38290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34767" y="5930138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Frame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mapping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from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MAC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down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to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PLCP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04B3C5C-E531-4156-8869-AE34114C1D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2757" y="841501"/>
            <a:ext cx="65563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29" dirty="0">
                <a:solidFill>
                  <a:schemeClr val="bg1">
                    <a:lumMod val="50000"/>
                  </a:schemeClr>
                </a:solidFill>
              </a:rPr>
              <a:t>802.11 </a:t>
            </a:r>
            <a:r>
              <a:rPr sz="4400" spc="200" dirty="0">
                <a:solidFill>
                  <a:schemeClr val="bg1">
                    <a:lumMod val="50000"/>
                  </a:schemeClr>
                </a:solidFill>
              </a:rPr>
              <a:t>MAC</a:t>
            </a:r>
            <a:r>
              <a:rPr sz="4400" spc="-1045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4400" spc="-125" dirty="0">
                <a:solidFill>
                  <a:schemeClr val="bg1">
                    <a:lumMod val="50000"/>
                  </a:schemeClr>
                </a:solidFill>
              </a:rPr>
              <a:t>Frames </a:t>
            </a:r>
            <a:r>
              <a:rPr sz="4400" spc="90" dirty="0">
                <a:solidFill>
                  <a:schemeClr val="bg1">
                    <a:lumMod val="50000"/>
                  </a:schemeClr>
                </a:solidFill>
              </a:rPr>
              <a:t>(MSDU)</a:t>
            </a:r>
            <a:endParaRPr sz="4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56039" y="2032254"/>
            <a:ext cx="5029200" cy="2965450"/>
            <a:chOff x="2756039" y="2032254"/>
            <a:chExt cx="5029200" cy="2965450"/>
          </a:xfrm>
        </p:grpSpPr>
        <p:sp>
          <p:nvSpPr>
            <p:cNvPr id="4" name="object 4"/>
            <p:cNvSpPr/>
            <p:nvPr/>
          </p:nvSpPr>
          <p:spPr>
            <a:xfrm>
              <a:off x="2756039" y="2032254"/>
              <a:ext cx="5029200" cy="17457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96219" y="3127577"/>
              <a:ext cx="2301240" cy="516890"/>
            </a:xfrm>
            <a:custGeom>
              <a:avLst/>
              <a:gdLst/>
              <a:ahLst/>
              <a:cxnLst/>
              <a:rect l="l" t="t" r="r" b="b"/>
              <a:pathLst>
                <a:path w="2301240" h="516889">
                  <a:moveTo>
                    <a:pt x="1228839" y="276047"/>
                  </a:moveTo>
                  <a:lnTo>
                    <a:pt x="1227213" y="231038"/>
                  </a:lnTo>
                  <a:lnTo>
                    <a:pt x="1212621" y="197866"/>
                  </a:lnTo>
                  <a:lnTo>
                    <a:pt x="1212621" y="277799"/>
                  </a:lnTo>
                  <a:lnTo>
                    <a:pt x="1192530" y="322008"/>
                  </a:lnTo>
                  <a:lnTo>
                    <a:pt x="1165517" y="352564"/>
                  </a:lnTo>
                  <a:lnTo>
                    <a:pt x="1131735" y="379780"/>
                  </a:lnTo>
                  <a:lnTo>
                    <a:pt x="1092263" y="403796"/>
                  </a:lnTo>
                  <a:lnTo>
                    <a:pt x="1048118" y="424764"/>
                  </a:lnTo>
                  <a:lnTo>
                    <a:pt x="1000379" y="442810"/>
                  </a:lnTo>
                  <a:lnTo>
                    <a:pt x="950087" y="458101"/>
                  </a:lnTo>
                  <a:lnTo>
                    <a:pt x="898296" y="470750"/>
                  </a:lnTo>
                  <a:lnTo>
                    <a:pt x="846048" y="480923"/>
                  </a:lnTo>
                  <a:lnTo>
                    <a:pt x="794410" y="488759"/>
                  </a:lnTo>
                  <a:lnTo>
                    <a:pt x="744435" y="494398"/>
                  </a:lnTo>
                  <a:lnTo>
                    <a:pt x="697153" y="497979"/>
                  </a:lnTo>
                  <a:lnTo>
                    <a:pt x="654850" y="499605"/>
                  </a:lnTo>
                  <a:lnTo>
                    <a:pt x="612648" y="499554"/>
                  </a:lnTo>
                  <a:lnTo>
                    <a:pt x="611403" y="500380"/>
                  </a:lnTo>
                  <a:lnTo>
                    <a:pt x="546468" y="499643"/>
                  </a:lnTo>
                  <a:lnTo>
                    <a:pt x="502793" y="496468"/>
                  </a:lnTo>
                  <a:lnTo>
                    <a:pt x="454621" y="491236"/>
                  </a:lnTo>
                  <a:lnTo>
                    <a:pt x="403313" y="483793"/>
                  </a:lnTo>
                  <a:lnTo>
                    <a:pt x="350227" y="474002"/>
                  </a:lnTo>
                  <a:lnTo>
                    <a:pt x="296722" y="461733"/>
                  </a:lnTo>
                  <a:lnTo>
                    <a:pt x="244144" y="446849"/>
                  </a:lnTo>
                  <a:lnTo>
                    <a:pt x="193852" y="429221"/>
                  </a:lnTo>
                  <a:lnTo>
                    <a:pt x="147193" y="408698"/>
                  </a:lnTo>
                  <a:lnTo>
                    <a:pt x="105537" y="385152"/>
                  </a:lnTo>
                  <a:lnTo>
                    <a:pt x="70243" y="358444"/>
                  </a:lnTo>
                  <a:lnTo>
                    <a:pt x="42646" y="328434"/>
                  </a:lnTo>
                  <a:lnTo>
                    <a:pt x="24104" y="294995"/>
                  </a:lnTo>
                  <a:lnTo>
                    <a:pt x="16002" y="258000"/>
                  </a:lnTo>
                  <a:lnTo>
                    <a:pt x="25184" y="215988"/>
                  </a:lnTo>
                  <a:lnTo>
                    <a:pt x="49250" y="178714"/>
                  </a:lnTo>
                  <a:lnTo>
                    <a:pt x="84569" y="146100"/>
                  </a:lnTo>
                  <a:lnTo>
                    <a:pt x="127482" y="118122"/>
                  </a:lnTo>
                  <a:lnTo>
                    <a:pt x="174371" y="94716"/>
                  </a:lnTo>
                  <a:lnTo>
                    <a:pt x="221589" y="75844"/>
                  </a:lnTo>
                  <a:lnTo>
                    <a:pt x="265518" y="61442"/>
                  </a:lnTo>
                  <a:lnTo>
                    <a:pt x="302514" y="51498"/>
                  </a:lnTo>
                  <a:lnTo>
                    <a:pt x="345795" y="41706"/>
                  </a:lnTo>
                  <a:lnTo>
                    <a:pt x="391629" y="33375"/>
                  </a:lnTo>
                  <a:lnTo>
                    <a:pt x="439635" y="26581"/>
                  </a:lnTo>
                  <a:lnTo>
                    <a:pt x="489445" y="21386"/>
                  </a:lnTo>
                  <a:lnTo>
                    <a:pt x="540664" y="17868"/>
                  </a:lnTo>
                  <a:lnTo>
                    <a:pt x="592937" y="16116"/>
                  </a:lnTo>
                  <a:lnTo>
                    <a:pt x="645883" y="16205"/>
                  </a:lnTo>
                  <a:lnTo>
                    <a:pt x="699122" y="18199"/>
                  </a:lnTo>
                  <a:lnTo>
                    <a:pt x="752297" y="22174"/>
                  </a:lnTo>
                  <a:lnTo>
                    <a:pt x="805014" y="28206"/>
                  </a:lnTo>
                  <a:lnTo>
                    <a:pt x="856907" y="36385"/>
                  </a:lnTo>
                  <a:lnTo>
                    <a:pt x="907605" y="46774"/>
                  </a:lnTo>
                  <a:lnTo>
                    <a:pt x="956729" y="59448"/>
                  </a:lnTo>
                  <a:lnTo>
                    <a:pt x="1003909" y="74485"/>
                  </a:lnTo>
                  <a:lnTo>
                    <a:pt x="1048778" y="91973"/>
                  </a:lnTo>
                  <a:lnTo>
                    <a:pt x="1090942" y="111963"/>
                  </a:lnTo>
                  <a:lnTo>
                    <a:pt x="1130046" y="134556"/>
                  </a:lnTo>
                  <a:lnTo>
                    <a:pt x="1166596" y="163918"/>
                  </a:lnTo>
                  <a:lnTo>
                    <a:pt x="1195400" y="198056"/>
                  </a:lnTo>
                  <a:lnTo>
                    <a:pt x="1212164" y="236258"/>
                  </a:lnTo>
                  <a:lnTo>
                    <a:pt x="1212621" y="277799"/>
                  </a:lnTo>
                  <a:lnTo>
                    <a:pt x="1212621" y="197866"/>
                  </a:lnTo>
                  <a:lnTo>
                    <a:pt x="1178458" y="153200"/>
                  </a:lnTo>
                  <a:lnTo>
                    <a:pt x="1139190" y="121602"/>
                  </a:lnTo>
                  <a:lnTo>
                    <a:pt x="1101915" y="99707"/>
                  </a:lnTo>
                  <a:lnTo>
                    <a:pt x="1061796" y="80175"/>
                  </a:lnTo>
                  <a:lnTo>
                    <a:pt x="1019136" y="62941"/>
                  </a:lnTo>
                  <a:lnTo>
                    <a:pt x="974280" y="47942"/>
                  </a:lnTo>
                  <a:lnTo>
                    <a:pt x="927544" y="35102"/>
                  </a:lnTo>
                  <a:lnTo>
                    <a:pt x="879259" y="24371"/>
                  </a:lnTo>
                  <a:lnTo>
                    <a:pt x="829754" y="15671"/>
                  </a:lnTo>
                  <a:lnTo>
                    <a:pt x="779348" y="8953"/>
                  </a:lnTo>
                  <a:lnTo>
                    <a:pt x="728383" y="4152"/>
                  </a:lnTo>
                  <a:lnTo>
                    <a:pt x="677164" y="1181"/>
                  </a:lnTo>
                  <a:lnTo>
                    <a:pt x="626033" y="0"/>
                  </a:lnTo>
                  <a:lnTo>
                    <a:pt x="575322" y="546"/>
                  </a:lnTo>
                  <a:lnTo>
                    <a:pt x="525335" y="2730"/>
                  </a:lnTo>
                  <a:lnTo>
                    <a:pt x="476415" y="6515"/>
                  </a:lnTo>
                  <a:lnTo>
                    <a:pt x="428891" y="11823"/>
                  </a:lnTo>
                  <a:lnTo>
                    <a:pt x="383082" y="18592"/>
                  </a:lnTo>
                  <a:lnTo>
                    <a:pt x="339331" y="26758"/>
                  </a:lnTo>
                  <a:lnTo>
                    <a:pt x="297942" y="36258"/>
                  </a:lnTo>
                  <a:lnTo>
                    <a:pt x="221818" y="59029"/>
                  </a:lnTo>
                  <a:lnTo>
                    <a:pt x="178435" y="75730"/>
                  </a:lnTo>
                  <a:lnTo>
                    <a:pt x="134785" y="96139"/>
                  </a:lnTo>
                  <a:lnTo>
                    <a:pt x="93395" y="120357"/>
                  </a:lnTo>
                  <a:lnTo>
                    <a:pt x="56730" y="148539"/>
                  </a:lnTo>
                  <a:lnTo>
                    <a:pt x="27279" y="180784"/>
                  </a:lnTo>
                  <a:lnTo>
                    <a:pt x="7543" y="217233"/>
                  </a:lnTo>
                  <a:lnTo>
                    <a:pt x="660" y="254368"/>
                  </a:lnTo>
                  <a:lnTo>
                    <a:pt x="0" y="255714"/>
                  </a:lnTo>
                  <a:lnTo>
                    <a:pt x="0" y="258000"/>
                  </a:lnTo>
                  <a:lnTo>
                    <a:pt x="7035" y="295275"/>
                  </a:lnTo>
                  <a:lnTo>
                    <a:pt x="16002" y="313664"/>
                  </a:lnTo>
                  <a:lnTo>
                    <a:pt x="23545" y="329158"/>
                  </a:lnTo>
                  <a:lnTo>
                    <a:pt x="48387" y="359765"/>
                  </a:lnTo>
                  <a:lnTo>
                    <a:pt x="80429" y="387210"/>
                  </a:lnTo>
                  <a:lnTo>
                    <a:pt x="118529" y="411632"/>
                  </a:lnTo>
                  <a:lnTo>
                    <a:pt x="161582" y="433146"/>
                  </a:lnTo>
                  <a:lnTo>
                    <a:pt x="208432" y="451878"/>
                  </a:lnTo>
                  <a:lnTo>
                    <a:pt x="257975" y="467944"/>
                  </a:lnTo>
                  <a:lnTo>
                    <a:pt x="309041" y="481482"/>
                  </a:lnTo>
                  <a:lnTo>
                    <a:pt x="360540" y="492594"/>
                  </a:lnTo>
                  <a:lnTo>
                    <a:pt x="411327" y="501421"/>
                  </a:lnTo>
                  <a:lnTo>
                    <a:pt x="460260" y="508088"/>
                  </a:lnTo>
                  <a:lnTo>
                    <a:pt x="506222" y="512711"/>
                  </a:lnTo>
                  <a:lnTo>
                    <a:pt x="548068" y="515416"/>
                  </a:lnTo>
                  <a:lnTo>
                    <a:pt x="584682" y="516318"/>
                  </a:lnTo>
                  <a:lnTo>
                    <a:pt x="606552" y="515759"/>
                  </a:lnTo>
                  <a:lnTo>
                    <a:pt x="614934" y="515556"/>
                  </a:lnTo>
                  <a:lnTo>
                    <a:pt x="617220" y="515543"/>
                  </a:lnTo>
                  <a:lnTo>
                    <a:pt x="623316" y="515531"/>
                  </a:lnTo>
                  <a:lnTo>
                    <a:pt x="654850" y="515493"/>
                  </a:lnTo>
                  <a:lnTo>
                    <a:pt x="699922" y="513600"/>
                  </a:lnTo>
                  <a:lnTo>
                    <a:pt x="749020" y="509727"/>
                  </a:lnTo>
                  <a:lnTo>
                    <a:pt x="801001" y="503682"/>
                  </a:lnTo>
                  <a:lnTo>
                    <a:pt x="854722" y="495325"/>
                  </a:lnTo>
                  <a:lnTo>
                    <a:pt x="909027" y="484454"/>
                  </a:lnTo>
                  <a:lnTo>
                    <a:pt x="962799" y="470928"/>
                  </a:lnTo>
                  <a:lnTo>
                    <a:pt x="1014882" y="454558"/>
                  </a:lnTo>
                  <a:lnTo>
                    <a:pt x="1064133" y="435190"/>
                  </a:lnTo>
                  <a:lnTo>
                    <a:pt x="1109421" y="412648"/>
                  </a:lnTo>
                  <a:lnTo>
                    <a:pt x="1149591" y="386765"/>
                  </a:lnTo>
                  <a:lnTo>
                    <a:pt x="1183513" y="357365"/>
                  </a:lnTo>
                  <a:lnTo>
                    <a:pt x="1210056" y="324294"/>
                  </a:lnTo>
                  <a:lnTo>
                    <a:pt x="1212621" y="317677"/>
                  </a:lnTo>
                  <a:lnTo>
                    <a:pt x="1228839" y="276047"/>
                  </a:lnTo>
                  <a:close/>
                </a:path>
                <a:path w="2301240" h="516889">
                  <a:moveTo>
                    <a:pt x="2301240" y="244284"/>
                  </a:moveTo>
                  <a:lnTo>
                    <a:pt x="2294191" y="199821"/>
                  </a:lnTo>
                  <a:lnTo>
                    <a:pt x="2285987" y="177101"/>
                  </a:lnTo>
                  <a:lnTo>
                    <a:pt x="2285987" y="258000"/>
                  </a:lnTo>
                  <a:lnTo>
                    <a:pt x="2280831" y="304812"/>
                  </a:lnTo>
                  <a:lnTo>
                    <a:pt x="2266467" y="347649"/>
                  </a:lnTo>
                  <a:lnTo>
                    <a:pt x="2244102" y="386041"/>
                  </a:lnTo>
                  <a:lnTo>
                    <a:pt x="2214892" y="419620"/>
                  </a:lnTo>
                  <a:lnTo>
                    <a:pt x="2180044" y="447941"/>
                  </a:lnTo>
                  <a:lnTo>
                    <a:pt x="2140724" y="470598"/>
                  </a:lnTo>
                  <a:lnTo>
                    <a:pt x="2098141" y="487159"/>
                  </a:lnTo>
                  <a:lnTo>
                    <a:pt x="2053450" y="497205"/>
                  </a:lnTo>
                  <a:lnTo>
                    <a:pt x="2007870" y="500316"/>
                  </a:lnTo>
                  <a:lnTo>
                    <a:pt x="1963496" y="496963"/>
                  </a:lnTo>
                  <a:lnTo>
                    <a:pt x="1920125" y="487387"/>
                  </a:lnTo>
                  <a:lnTo>
                    <a:pt x="1878799" y="471868"/>
                  </a:lnTo>
                  <a:lnTo>
                    <a:pt x="1840509" y="450697"/>
                  </a:lnTo>
                  <a:lnTo>
                    <a:pt x="1806295" y="424154"/>
                  </a:lnTo>
                  <a:lnTo>
                    <a:pt x="1777161" y="392544"/>
                  </a:lnTo>
                  <a:lnTo>
                    <a:pt x="1754149" y="356146"/>
                  </a:lnTo>
                  <a:lnTo>
                    <a:pt x="1738249" y="315264"/>
                  </a:lnTo>
                  <a:lnTo>
                    <a:pt x="1730502" y="270192"/>
                  </a:lnTo>
                  <a:lnTo>
                    <a:pt x="1730502" y="258000"/>
                  </a:lnTo>
                  <a:lnTo>
                    <a:pt x="1735645" y="211162"/>
                  </a:lnTo>
                  <a:lnTo>
                    <a:pt x="1749907" y="168338"/>
                  </a:lnTo>
                  <a:lnTo>
                    <a:pt x="1772158" y="129921"/>
                  </a:lnTo>
                  <a:lnTo>
                    <a:pt x="1801215" y="96342"/>
                  </a:lnTo>
                  <a:lnTo>
                    <a:pt x="1835950" y="68033"/>
                  </a:lnTo>
                  <a:lnTo>
                    <a:pt x="1875218" y="45389"/>
                  </a:lnTo>
                  <a:lnTo>
                    <a:pt x="1917852" y="28829"/>
                  </a:lnTo>
                  <a:lnTo>
                    <a:pt x="1962696" y="18796"/>
                  </a:lnTo>
                  <a:lnTo>
                    <a:pt x="2008632" y="15684"/>
                  </a:lnTo>
                  <a:lnTo>
                    <a:pt x="2054466" y="19088"/>
                  </a:lnTo>
                  <a:lnTo>
                    <a:pt x="2099183" y="29260"/>
                  </a:lnTo>
                  <a:lnTo>
                    <a:pt x="2141651" y="45808"/>
                  </a:lnTo>
                  <a:lnTo>
                    <a:pt x="2180755" y="68364"/>
                  </a:lnTo>
                  <a:lnTo>
                    <a:pt x="2215337" y="96532"/>
                  </a:lnTo>
                  <a:lnTo>
                    <a:pt x="2244293" y="129959"/>
                  </a:lnTo>
                  <a:lnTo>
                    <a:pt x="2266467" y="168287"/>
                  </a:lnTo>
                  <a:lnTo>
                    <a:pt x="2280742" y="211074"/>
                  </a:lnTo>
                  <a:lnTo>
                    <a:pt x="2285987" y="258000"/>
                  </a:lnTo>
                  <a:lnTo>
                    <a:pt x="2285987" y="177101"/>
                  </a:lnTo>
                  <a:lnTo>
                    <a:pt x="2257907" y="122047"/>
                  </a:lnTo>
                  <a:lnTo>
                    <a:pt x="2230475" y="89369"/>
                  </a:lnTo>
                  <a:lnTo>
                    <a:pt x="2198052" y="61264"/>
                  </a:lnTo>
                  <a:lnTo>
                    <a:pt x="2161540" y="38049"/>
                  </a:lnTo>
                  <a:lnTo>
                    <a:pt x="2121839" y="20040"/>
                  </a:lnTo>
                  <a:lnTo>
                    <a:pt x="2079840" y="7556"/>
                  </a:lnTo>
                  <a:lnTo>
                    <a:pt x="2036470" y="914"/>
                  </a:lnTo>
                  <a:lnTo>
                    <a:pt x="1992630" y="444"/>
                  </a:lnTo>
                  <a:lnTo>
                    <a:pt x="1946033" y="5600"/>
                  </a:lnTo>
                  <a:lnTo>
                    <a:pt x="1900796" y="17678"/>
                  </a:lnTo>
                  <a:lnTo>
                    <a:pt x="1858035" y="36220"/>
                  </a:lnTo>
                  <a:lnTo>
                    <a:pt x="1818817" y="60769"/>
                  </a:lnTo>
                  <a:lnTo>
                    <a:pt x="1784261" y="90893"/>
                  </a:lnTo>
                  <a:lnTo>
                    <a:pt x="1755457" y="126123"/>
                  </a:lnTo>
                  <a:lnTo>
                    <a:pt x="1733486" y="166027"/>
                  </a:lnTo>
                  <a:lnTo>
                    <a:pt x="1719478" y="210134"/>
                  </a:lnTo>
                  <a:lnTo>
                    <a:pt x="1714500" y="258000"/>
                  </a:lnTo>
                  <a:lnTo>
                    <a:pt x="1715262" y="271716"/>
                  </a:lnTo>
                  <a:lnTo>
                    <a:pt x="1723580" y="320941"/>
                  </a:lnTo>
                  <a:lnTo>
                    <a:pt x="1730502" y="338442"/>
                  </a:lnTo>
                  <a:lnTo>
                    <a:pt x="1741220" y="365594"/>
                  </a:lnTo>
                  <a:lnTo>
                    <a:pt x="1766963" y="405257"/>
                  </a:lnTo>
                  <a:lnTo>
                    <a:pt x="1799564" y="439521"/>
                  </a:lnTo>
                  <a:lnTo>
                    <a:pt x="1837842" y="467982"/>
                  </a:lnTo>
                  <a:lnTo>
                    <a:pt x="1880539" y="490220"/>
                  </a:lnTo>
                  <a:lnTo>
                    <a:pt x="1926475" y="505828"/>
                  </a:lnTo>
                  <a:lnTo>
                    <a:pt x="1974392" y="514413"/>
                  </a:lnTo>
                  <a:lnTo>
                    <a:pt x="2023110" y="515556"/>
                  </a:lnTo>
                  <a:lnTo>
                    <a:pt x="2071636" y="509968"/>
                  </a:lnTo>
                  <a:lnTo>
                    <a:pt x="2118461" y="497116"/>
                  </a:lnTo>
                  <a:lnTo>
                    <a:pt x="2162403" y="477481"/>
                  </a:lnTo>
                  <a:lnTo>
                    <a:pt x="2202332" y="451548"/>
                  </a:lnTo>
                  <a:lnTo>
                    <a:pt x="2237067" y="419798"/>
                  </a:lnTo>
                  <a:lnTo>
                    <a:pt x="2265489" y="382714"/>
                  </a:lnTo>
                  <a:lnTo>
                    <a:pt x="2285987" y="341668"/>
                  </a:lnTo>
                  <a:lnTo>
                    <a:pt x="2298725" y="294474"/>
                  </a:lnTo>
                  <a:lnTo>
                    <a:pt x="2301240" y="244284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56039" y="3777996"/>
              <a:ext cx="5029199" cy="1219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91767" y="5187950"/>
            <a:ext cx="7451090" cy="8788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marR="607060" indent="-342900">
              <a:lnSpc>
                <a:spcPct val="80000"/>
              </a:lnSpc>
              <a:spcBef>
                <a:spcPts val="575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75" dirty="0">
                <a:latin typeface="Trebuchet MS"/>
                <a:cs typeface="Trebuchet MS"/>
              </a:rPr>
              <a:t>There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3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types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30" dirty="0">
                <a:latin typeface="Trebuchet MS"/>
                <a:cs typeface="Trebuchet MS"/>
              </a:rPr>
              <a:t>MPDUs: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management,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data,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control  </a:t>
            </a:r>
            <a:r>
              <a:rPr sz="2000" spc="-75" dirty="0">
                <a:latin typeface="Trebuchet MS"/>
                <a:cs typeface="Trebuchet MS"/>
              </a:rPr>
              <a:t>frames.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80" dirty="0">
                <a:latin typeface="Trebuchet MS"/>
                <a:cs typeface="Trebuchet MS"/>
              </a:rPr>
              <a:t>The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frame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5" dirty="0">
                <a:latin typeface="Trebuchet MS"/>
                <a:cs typeface="Trebuchet MS"/>
              </a:rPr>
              <a:t>body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size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data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management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frames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variable.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0" name="object 10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A9AAEE-A9F7-4532-BC5C-3164994D7B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88155"/>
            <a:ext cx="39554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45" dirty="0">
                <a:latin typeface="Trebuchet MS"/>
                <a:cs typeface="Trebuchet MS"/>
              </a:rPr>
              <a:t>PHYSICAL</a:t>
            </a:r>
            <a:r>
              <a:rPr sz="4000" b="1" spc="-475" dirty="0">
                <a:latin typeface="Trebuchet MS"/>
                <a:cs typeface="Trebuchet MS"/>
              </a:rPr>
              <a:t> </a:t>
            </a:r>
            <a:r>
              <a:rPr sz="4000" b="1" spc="-10" dirty="0">
                <a:latin typeface="Trebuchet MS"/>
                <a:cs typeface="Trebuchet MS"/>
              </a:rPr>
              <a:t>LAYER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1C0B25E-B8DF-44A6-81F6-AFFB7FEDE2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9721" y="841501"/>
            <a:ext cx="33223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30" dirty="0">
                <a:solidFill>
                  <a:schemeClr val="bg1">
                    <a:lumMod val="50000"/>
                  </a:schemeClr>
                </a:solidFill>
              </a:rPr>
              <a:t>Physical</a:t>
            </a:r>
            <a:r>
              <a:rPr sz="4400" spc="-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4400" spc="-125" dirty="0">
                <a:solidFill>
                  <a:schemeClr val="bg1">
                    <a:lumMod val="50000"/>
                  </a:schemeClr>
                </a:solidFill>
              </a:rPr>
              <a:t>Layer</a:t>
            </a:r>
            <a:endParaRPr sz="4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46439" y="2025395"/>
            <a:ext cx="6552565" cy="2261235"/>
            <a:chOff x="2146439" y="2025395"/>
            <a:chExt cx="6552565" cy="2261235"/>
          </a:xfrm>
        </p:grpSpPr>
        <p:sp>
          <p:nvSpPr>
            <p:cNvPr id="4" name="object 4"/>
            <p:cNvSpPr/>
            <p:nvPr/>
          </p:nvSpPr>
          <p:spPr>
            <a:xfrm>
              <a:off x="2146439" y="2025395"/>
              <a:ext cx="6552438" cy="1752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33081" y="3770375"/>
              <a:ext cx="675640" cy="7620"/>
            </a:xfrm>
            <a:custGeom>
              <a:avLst/>
              <a:gdLst/>
              <a:ahLst/>
              <a:cxnLst/>
              <a:rect l="l" t="t" r="r" b="b"/>
              <a:pathLst>
                <a:path w="675639" h="7620">
                  <a:moveTo>
                    <a:pt x="342633" y="7620"/>
                  </a:moveTo>
                  <a:lnTo>
                    <a:pt x="335705" y="0"/>
                  </a:lnTo>
                  <a:lnTo>
                    <a:pt x="286464" y="471"/>
                  </a:lnTo>
                  <a:lnTo>
                    <a:pt x="236816" y="1129"/>
                  </a:lnTo>
                  <a:lnTo>
                    <a:pt x="186806" y="2003"/>
                  </a:lnTo>
                  <a:lnTo>
                    <a:pt x="136477" y="3124"/>
                  </a:lnTo>
                  <a:lnTo>
                    <a:pt x="85873" y="4520"/>
                  </a:lnTo>
                  <a:lnTo>
                    <a:pt x="35039" y="6221"/>
                  </a:lnTo>
                  <a:lnTo>
                    <a:pt x="0" y="7620"/>
                  </a:lnTo>
                  <a:lnTo>
                    <a:pt x="342633" y="7620"/>
                  </a:lnTo>
                  <a:close/>
                </a:path>
                <a:path w="675639" h="7620">
                  <a:moveTo>
                    <a:pt x="675350" y="7620"/>
                  </a:moveTo>
                  <a:lnTo>
                    <a:pt x="632152" y="5836"/>
                  </a:lnTo>
                  <a:lnTo>
                    <a:pt x="582754" y="4130"/>
                  </a:lnTo>
                  <a:lnTo>
                    <a:pt x="533346" y="2740"/>
                  </a:lnTo>
                  <a:lnTo>
                    <a:pt x="483934" y="1649"/>
                  </a:lnTo>
                  <a:lnTo>
                    <a:pt x="434520" y="840"/>
                  </a:lnTo>
                  <a:lnTo>
                    <a:pt x="385109" y="296"/>
                  </a:lnTo>
                  <a:lnTo>
                    <a:pt x="337257" y="9"/>
                  </a:lnTo>
                  <a:lnTo>
                    <a:pt x="339515" y="762"/>
                  </a:lnTo>
                  <a:lnTo>
                    <a:pt x="342563" y="3810"/>
                  </a:lnTo>
                  <a:lnTo>
                    <a:pt x="343325" y="6096"/>
                  </a:lnTo>
                  <a:lnTo>
                    <a:pt x="343325" y="7620"/>
                  </a:lnTo>
                  <a:lnTo>
                    <a:pt x="675350" y="7620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80120" y="3777995"/>
              <a:ext cx="5843947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67469" y="3777995"/>
              <a:ext cx="2801620" cy="508634"/>
            </a:xfrm>
            <a:custGeom>
              <a:avLst/>
              <a:gdLst/>
              <a:ahLst/>
              <a:cxnLst/>
              <a:rect l="l" t="t" r="r" b="b"/>
              <a:pathLst>
                <a:path w="2801620" h="508635">
                  <a:moveTo>
                    <a:pt x="1401317" y="8381"/>
                  </a:moveTo>
                  <a:lnTo>
                    <a:pt x="1392935" y="0"/>
                  </a:lnTo>
                  <a:lnTo>
                    <a:pt x="1065612" y="0"/>
                  </a:lnTo>
                  <a:lnTo>
                    <a:pt x="998466" y="3038"/>
                  </a:lnTo>
                  <a:lnTo>
                    <a:pt x="947204" y="5832"/>
                  </a:lnTo>
                  <a:lnTo>
                    <a:pt x="895887" y="9049"/>
                  </a:lnTo>
                  <a:lnTo>
                    <a:pt x="844560" y="12720"/>
                  </a:lnTo>
                  <a:lnTo>
                    <a:pt x="793267" y="16874"/>
                  </a:lnTo>
                  <a:lnTo>
                    <a:pt x="742051" y="21539"/>
                  </a:lnTo>
                  <a:lnTo>
                    <a:pt x="690956" y="26746"/>
                  </a:lnTo>
                  <a:lnTo>
                    <a:pt x="640027" y="32525"/>
                  </a:lnTo>
                  <a:lnTo>
                    <a:pt x="589308" y="38904"/>
                  </a:lnTo>
                  <a:lnTo>
                    <a:pt x="538842" y="45914"/>
                  </a:lnTo>
                  <a:lnTo>
                    <a:pt x="488674" y="53584"/>
                  </a:lnTo>
                  <a:lnTo>
                    <a:pt x="438848" y="61944"/>
                  </a:lnTo>
                  <a:lnTo>
                    <a:pt x="389407" y="71022"/>
                  </a:lnTo>
                  <a:lnTo>
                    <a:pt x="340396" y="80850"/>
                  </a:lnTo>
                  <a:lnTo>
                    <a:pt x="291859" y="91456"/>
                  </a:lnTo>
                  <a:lnTo>
                    <a:pt x="243839" y="102869"/>
                  </a:lnTo>
                  <a:lnTo>
                    <a:pt x="172404" y="124210"/>
                  </a:lnTo>
                  <a:lnTo>
                    <a:pt x="125766" y="140956"/>
                  </a:lnTo>
                  <a:lnTo>
                    <a:pt x="79482" y="161881"/>
                  </a:lnTo>
                  <a:lnTo>
                    <a:pt x="39276" y="187082"/>
                  </a:lnTo>
                  <a:lnTo>
                    <a:pt x="10873" y="216655"/>
                  </a:lnTo>
                  <a:lnTo>
                    <a:pt x="0" y="250698"/>
                  </a:lnTo>
                  <a:lnTo>
                    <a:pt x="6081" y="275394"/>
                  </a:lnTo>
                  <a:lnTo>
                    <a:pt x="16001" y="289336"/>
                  </a:lnTo>
                  <a:lnTo>
                    <a:pt x="16001" y="249936"/>
                  </a:lnTo>
                  <a:lnTo>
                    <a:pt x="16137" y="250364"/>
                  </a:lnTo>
                  <a:lnTo>
                    <a:pt x="62117" y="190504"/>
                  </a:lnTo>
                  <a:lnTo>
                    <a:pt x="108685" y="165564"/>
                  </a:lnTo>
                  <a:lnTo>
                    <a:pt x="161488" y="144520"/>
                  </a:lnTo>
                  <a:lnTo>
                    <a:pt x="213670" y="127654"/>
                  </a:lnTo>
                  <a:lnTo>
                    <a:pt x="257480" y="115496"/>
                  </a:lnTo>
                  <a:lnTo>
                    <a:pt x="335679" y="97637"/>
                  </a:lnTo>
                  <a:lnTo>
                    <a:pt x="385179" y="87828"/>
                  </a:lnTo>
                  <a:lnTo>
                    <a:pt x="434984" y="78747"/>
                  </a:lnTo>
                  <a:lnTo>
                    <a:pt x="485064" y="70369"/>
                  </a:lnTo>
                  <a:lnTo>
                    <a:pt x="535393" y="62665"/>
                  </a:lnTo>
                  <a:lnTo>
                    <a:pt x="585940" y="55608"/>
                  </a:lnTo>
                  <a:lnTo>
                    <a:pt x="636679" y="49171"/>
                  </a:lnTo>
                  <a:lnTo>
                    <a:pt x="687579" y="43327"/>
                  </a:lnTo>
                  <a:lnTo>
                    <a:pt x="738614" y="38048"/>
                  </a:lnTo>
                  <a:lnTo>
                    <a:pt x="789754" y="33306"/>
                  </a:lnTo>
                  <a:lnTo>
                    <a:pt x="840971" y="29075"/>
                  </a:lnTo>
                  <a:lnTo>
                    <a:pt x="892237" y="25326"/>
                  </a:lnTo>
                  <a:lnTo>
                    <a:pt x="943523" y="22033"/>
                  </a:lnTo>
                  <a:lnTo>
                    <a:pt x="994801" y="19169"/>
                  </a:lnTo>
                  <a:lnTo>
                    <a:pt x="1046042" y="16705"/>
                  </a:lnTo>
                  <a:lnTo>
                    <a:pt x="1097218" y="14614"/>
                  </a:lnTo>
                  <a:lnTo>
                    <a:pt x="1148301" y="12870"/>
                  </a:lnTo>
                  <a:lnTo>
                    <a:pt x="1199262" y="11444"/>
                  </a:lnTo>
                  <a:lnTo>
                    <a:pt x="1250072" y="10310"/>
                  </a:lnTo>
                  <a:lnTo>
                    <a:pt x="1300704" y="9440"/>
                  </a:lnTo>
                  <a:lnTo>
                    <a:pt x="1351129" y="8806"/>
                  </a:lnTo>
                  <a:lnTo>
                    <a:pt x="1392935" y="8452"/>
                  </a:lnTo>
                  <a:lnTo>
                    <a:pt x="1392935" y="4571"/>
                  </a:lnTo>
                  <a:lnTo>
                    <a:pt x="1396745" y="8381"/>
                  </a:lnTo>
                  <a:lnTo>
                    <a:pt x="1401317" y="8381"/>
                  </a:lnTo>
                  <a:close/>
                </a:path>
                <a:path w="2801620" h="508635">
                  <a:moveTo>
                    <a:pt x="16137" y="250364"/>
                  </a:moveTo>
                  <a:lnTo>
                    <a:pt x="16001" y="249936"/>
                  </a:lnTo>
                  <a:lnTo>
                    <a:pt x="16001" y="250698"/>
                  </a:lnTo>
                  <a:lnTo>
                    <a:pt x="16137" y="250364"/>
                  </a:lnTo>
                  <a:close/>
                </a:path>
                <a:path w="2801620" h="508635">
                  <a:moveTo>
                    <a:pt x="2785762" y="290659"/>
                  </a:moveTo>
                  <a:lnTo>
                    <a:pt x="2785762" y="254430"/>
                  </a:lnTo>
                  <a:lnTo>
                    <a:pt x="2775521" y="278974"/>
                  </a:lnTo>
                  <a:lnTo>
                    <a:pt x="2752368" y="301634"/>
                  </a:lnTo>
                  <a:lnTo>
                    <a:pt x="2719716" y="322230"/>
                  </a:lnTo>
                  <a:lnTo>
                    <a:pt x="2680977" y="340583"/>
                  </a:lnTo>
                  <a:lnTo>
                    <a:pt x="2639560" y="356514"/>
                  </a:lnTo>
                  <a:lnTo>
                    <a:pt x="2598879" y="369844"/>
                  </a:lnTo>
                  <a:lnTo>
                    <a:pt x="2533368" y="387981"/>
                  </a:lnTo>
                  <a:lnTo>
                    <a:pt x="2467410" y="402927"/>
                  </a:lnTo>
                  <a:lnTo>
                    <a:pt x="2419179" y="412628"/>
                  </a:lnTo>
                  <a:lnTo>
                    <a:pt x="2370697" y="421570"/>
                  </a:lnTo>
                  <a:lnTo>
                    <a:pt x="2321993" y="429789"/>
                  </a:lnTo>
                  <a:lnTo>
                    <a:pt x="2273095" y="437322"/>
                  </a:lnTo>
                  <a:lnTo>
                    <a:pt x="2224033" y="444207"/>
                  </a:lnTo>
                  <a:lnTo>
                    <a:pt x="2174836" y="450480"/>
                  </a:lnTo>
                  <a:lnTo>
                    <a:pt x="2125531" y="456178"/>
                  </a:lnTo>
                  <a:lnTo>
                    <a:pt x="2076149" y="461339"/>
                  </a:lnTo>
                  <a:lnTo>
                    <a:pt x="2026431" y="466022"/>
                  </a:lnTo>
                  <a:lnTo>
                    <a:pt x="1977264" y="470193"/>
                  </a:lnTo>
                  <a:lnTo>
                    <a:pt x="1927820" y="473960"/>
                  </a:lnTo>
                  <a:lnTo>
                    <a:pt x="1878414" y="477337"/>
                  </a:lnTo>
                  <a:lnTo>
                    <a:pt x="1829073" y="480361"/>
                  </a:lnTo>
                  <a:lnTo>
                    <a:pt x="1779826" y="483068"/>
                  </a:lnTo>
                  <a:lnTo>
                    <a:pt x="1730704" y="485495"/>
                  </a:lnTo>
                  <a:lnTo>
                    <a:pt x="1681733" y="487679"/>
                  </a:lnTo>
                  <a:lnTo>
                    <a:pt x="1632020" y="489236"/>
                  </a:lnTo>
                  <a:lnTo>
                    <a:pt x="1582296" y="490507"/>
                  </a:lnTo>
                  <a:lnTo>
                    <a:pt x="1532562" y="491486"/>
                  </a:lnTo>
                  <a:lnTo>
                    <a:pt x="1482821" y="492169"/>
                  </a:lnTo>
                  <a:lnTo>
                    <a:pt x="1433076" y="492548"/>
                  </a:lnTo>
                  <a:lnTo>
                    <a:pt x="1383330" y="492617"/>
                  </a:lnTo>
                  <a:lnTo>
                    <a:pt x="1333585" y="492371"/>
                  </a:lnTo>
                  <a:lnTo>
                    <a:pt x="1283843" y="491802"/>
                  </a:lnTo>
                  <a:lnTo>
                    <a:pt x="1234106" y="490906"/>
                  </a:lnTo>
                  <a:lnTo>
                    <a:pt x="1184378" y="489675"/>
                  </a:lnTo>
                  <a:lnTo>
                    <a:pt x="1134661" y="488103"/>
                  </a:lnTo>
                  <a:lnTo>
                    <a:pt x="1084958" y="486185"/>
                  </a:lnTo>
                  <a:lnTo>
                    <a:pt x="1035270" y="483914"/>
                  </a:lnTo>
                  <a:lnTo>
                    <a:pt x="985600" y="481284"/>
                  </a:lnTo>
                  <a:lnTo>
                    <a:pt x="935952" y="478289"/>
                  </a:lnTo>
                  <a:lnTo>
                    <a:pt x="886326" y="474922"/>
                  </a:lnTo>
                  <a:lnTo>
                    <a:pt x="836727" y="471178"/>
                  </a:lnTo>
                  <a:lnTo>
                    <a:pt x="787156" y="467051"/>
                  </a:lnTo>
                  <a:lnTo>
                    <a:pt x="737615" y="462533"/>
                  </a:lnTo>
                  <a:lnTo>
                    <a:pt x="716853" y="460669"/>
                  </a:lnTo>
                  <a:lnTo>
                    <a:pt x="647369" y="453125"/>
                  </a:lnTo>
                  <a:lnTo>
                    <a:pt x="601479" y="447420"/>
                  </a:lnTo>
                  <a:lnTo>
                    <a:pt x="550047" y="440410"/>
                  </a:lnTo>
                  <a:lnTo>
                    <a:pt x="494488" y="432083"/>
                  </a:lnTo>
                  <a:lnTo>
                    <a:pt x="436218" y="422425"/>
                  </a:lnTo>
                  <a:lnTo>
                    <a:pt x="376654" y="411424"/>
                  </a:lnTo>
                  <a:lnTo>
                    <a:pt x="317211" y="399069"/>
                  </a:lnTo>
                  <a:lnTo>
                    <a:pt x="259306" y="385346"/>
                  </a:lnTo>
                  <a:lnTo>
                    <a:pt x="204356" y="370242"/>
                  </a:lnTo>
                  <a:lnTo>
                    <a:pt x="153776" y="353746"/>
                  </a:lnTo>
                  <a:lnTo>
                    <a:pt x="108983" y="335844"/>
                  </a:lnTo>
                  <a:lnTo>
                    <a:pt x="71393" y="316525"/>
                  </a:lnTo>
                  <a:lnTo>
                    <a:pt x="23486" y="273583"/>
                  </a:lnTo>
                  <a:lnTo>
                    <a:pt x="16137" y="250364"/>
                  </a:lnTo>
                  <a:lnTo>
                    <a:pt x="16001" y="250698"/>
                  </a:lnTo>
                  <a:lnTo>
                    <a:pt x="16001" y="289336"/>
                  </a:lnTo>
                  <a:lnTo>
                    <a:pt x="22532" y="298514"/>
                  </a:lnTo>
                  <a:lnTo>
                    <a:pt x="82033" y="340161"/>
                  </a:lnTo>
                  <a:lnTo>
                    <a:pt x="122828" y="358757"/>
                  </a:lnTo>
                  <a:lnTo>
                    <a:pt x="169483" y="375915"/>
                  </a:lnTo>
                  <a:lnTo>
                    <a:pt x="220870" y="391670"/>
                  </a:lnTo>
                  <a:lnTo>
                    <a:pt x="275863" y="406056"/>
                  </a:lnTo>
                  <a:lnTo>
                    <a:pt x="333333" y="419107"/>
                  </a:lnTo>
                  <a:lnTo>
                    <a:pt x="392153" y="430859"/>
                  </a:lnTo>
                  <a:lnTo>
                    <a:pt x="451197" y="441346"/>
                  </a:lnTo>
                  <a:lnTo>
                    <a:pt x="509336" y="450602"/>
                  </a:lnTo>
                  <a:lnTo>
                    <a:pt x="565444" y="458664"/>
                  </a:lnTo>
                  <a:lnTo>
                    <a:pt x="618392" y="465564"/>
                  </a:lnTo>
                  <a:lnTo>
                    <a:pt x="667054" y="471339"/>
                  </a:lnTo>
                  <a:lnTo>
                    <a:pt x="710302" y="476022"/>
                  </a:lnTo>
                  <a:lnTo>
                    <a:pt x="776047" y="482252"/>
                  </a:lnTo>
                  <a:lnTo>
                    <a:pt x="847055" y="487848"/>
                  </a:lnTo>
                  <a:lnTo>
                    <a:pt x="897879" y="491483"/>
                  </a:lnTo>
                  <a:lnTo>
                    <a:pt x="948755" y="494772"/>
                  </a:lnTo>
                  <a:lnTo>
                    <a:pt x="999678" y="497714"/>
                  </a:lnTo>
                  <a:lnTo>
                    <a:pt x="1050641" y="500308"/>
                  </a:lnTo>
                  <a:lnTo>
                    <a:pt x="1101639" y="502554"/>
                  </a:lnTo>
                  <a:lnTo>
                    <a:pt x="1152665" y="504450"/>
                  </a:lnTo>
                  <a:lnTo>
                    <a:pt x="1203713" y="505995"/>
                  </a:lnTo>
                  <a:lnTo>
                    <a:pt x="1254778" y="507189"/>
                  </a:lnTo>
                  <a:lnTo>
                    <a:pt x="1305853" y="508030"/>
                  </a:lnTo>
                  <a:lnTo>
                    <a:pt x="1351129" y="508462"/>
                  </a:lnTo>
                  <a:lnTo>
                    <a:pt x="1383330" y="508586"/>
                  </a:lnTo>
                  <a:lnTo>
                    <a:pt x="1433076" y="508540"/>
                  </a:lnTo>
                  <a:lnTo>
                    <a:pt x="1510136" y="507847"/>
                  </a:lnTo>
                  <a:lnTo>
                    <a:pt x="1561173" y="506910"/>
                  </a:lnTo>
                  <a:lnTo>
                    <a:pt x="1612183" y="505614"/>
                  </a:lnTo>
                  <a:lnTo>
                    <a:pt x="1663162" y="503958"/>
                  </a:lnTo>
                  <a:lnTo>
                    <a:pt x="1714102" y="501942"/>
                  </a:lnTo>
                  <a:lnTo>
                    <a:pt x="1765742" y="499524"/>
                  </a:lnTo>
                  <a:lnTo>
                    <a:pt x="1817945" y="496697"/>
                  </a:lnTo>
                  <a:lnTo>
                    <a:pt x="1865243" y="493859"/>
                  </a:lnTo>
                  <a:lnTo>
                    <a:pt x="1914854" y="490586"/>
                  </a:lnTo>
                  <a:lnTo>
                    <a:pt x="1964632" y="486957"/>
                  </a:lnTo>
                  <a:lnTo>
                    <a:pt x="2014529" y="482921"/>
                  </a:lnTo>
                  <a:lnTo>
                    <a:pt x="2064500" y="478431"/>
                  </a:lnTo>
                  <a:lnTo>
                    <a:pt x="2114498" y="473437"/>
                  </a:lnTo>
                  <a:lnTo>
                    <a:pt x="2164477" y="467891"/>
                  </a:lnTo>
                  <a:lnTo>
                    <a:pt x="2214390" y="461744"/>
                  </a:lnTo>
                  <a:lnTo>
                    <a:pt x="2264190" y="454946"/>
                  </a:lnTo>
                  <a:lnTo>
                    <a:pt x="2313832" y="447449"/>
                  </a:lnTo>
                  <a:lnTo>
                    <a:pt x="2363269" y="439204"/>
                  </a:lnTo>
                  <a:lnTo>
                    <a:pt x="2412454" y="430161"/>
                  </a:lnTo>
                  <a:lnTo>
                    <a:pt x="2461340" y="420273"/>
                  </a:lnTo>
                  <a:lnTo>
                    <a:pt x="2509883" y="409490"/>
                  </a:lnTo>
                  <a:lnTo>
                    <a:pt x="2558034" y="397763"/>
                  </a:lnTo>
                  <a:lnTo>
                    <a:pt x="2615420" y="381980"/>
                  </a:lnTo>
                  <a:lnTo>
                    <a:pt x="2652082" y="369535"/>
                  </a:lnTo>
                  <a:lnTo>
                    <a:pt x="2690198" y="354263"/>
                  </a:lnTo>
                  <a:lnTo>
                    <a:pt x="2726873" y="336321"/>
                  </a:lnTo>
                  <a:lnTo>
                    <a:pt x="2759214" y="315865"/>
                  </a:lnTo>
                  <a:lnTo>
                    <a:pt x="2784328" y="293052"/>
                  </a:lnTo>
                  <a:lnTo>
                    <a:pt x="2785762" y="290659"/>
                  </a:lnTo>
                  <a:close/>
                </a:path>
                <a:path w="2801620" h="508635">
                  <a:moveTo>
                    <a:pt x="2801297" y="240980"/>
                  </a:moveTo>
                  <a:lnTo>
                    <a:pt x="2754629" y="181355"/>
                  </a:lnTo>
                  <a:lnTo>
                    <a:pt x="2716798" y="159648"/>
                  </a:lnTo>
                  <a:lnTo>
                    <a:pt x="2674237" y="140360"/>
                  </a:lnTo>
                  <a:lnTo>
                    <a:pt x="2627986" y="123293"/>
                  </a:lnTo>
                  <a:lnTo>
                    <a:pt x="2579087" y="108252"/>
                  </a:lnTo>
                  <a:lnTo>
                    <a:pt x="2528577" y="95040"/>
                  </a:lnTo>
                  <a:lnTo>
                    <a:pt x="2477499" y="83460"/>
                  </a:lnTo>
                  <a:lnTo>
                    <a:pt x="2426350" y="73217"/>
                  </a:lnTo>
                  <a:lnTo>
                    <a:pt x="2377792" y="64410"/>
                  </a:lnTo>
                  <a:lnTo>
                    <a:pt x="2331244" y="56547"/>
                  </a:lnTo>
                  <a:lnTo>
                    <a:pt x="2288285" y="49529"/>
                  </a:lnTo>
                  <a:lnTo>
                    <a:pt x="2239326" y="42704"/>
                  </a:lnTo>
                  <a:lnTo>
                    <a:pt x="2190306" y="36399"/>
                  </a:lnTo>
                  <a:lnTo>
                    <a:pt x="2141232" y="30598"/>
                  </a:lnTo>
                  <a:lnTo>
                    <a:pt x="2092106" y="25282"/>
                  </a:lnTo>
                  <a:lnTo>
                    <a:pt x="2042934" y="20435"/>
                  </a:lnTo>
                  <a:lnTo>
                    <a:pt x="1993719" y="16041"/>
                  </a:lnTo>
                  <a:lnTo>
                    <a:pt x="1944465" y="12082"/>
                  </a:lnTo>
                  <a:lnTo>
                    <a:pt x="1895177" y="8540"/>
                  </a:lnTo>
                  <a:lnTo>
                    <a:pt x="1845859" y="5400"/>
                  </a:lnTo>
                  <a:lnTo>
                    <a:pt x="1796514" y="2644"/>
                  </a:lnTo>
                  <a:lnTo>
                    <a:pt x="1747148" y="255"/>
                  </a:lnTo>
                  <a:lnTo>
                    <a:pt x="1740962" y="0"/>
                  </a:lnTo>
                  <a:lnTo>
                    <a:pt x="1408937" y="0"/>
                  </a:lnTo>
                  <a:lnTo>
                    <a:pt x="1408937" y="762"/>
                  </a:lnTo>
                  <a:lnTo>
                    <a:pt x="1408245" y="0"/>
                  </a:lnTo>
                  <a:lnTo>
                    <a:pt x="1392935" y="0"/>
                  </a:lnTo>
                  <a:lnTo>
                    <a:pt x="1401317" y="8381"/>
                  </a:lnTo>
                  <a:lnTo>
                    <a:pt x="1453151" y="8707"/>
                  </a:lnTo>
                  <a:lnTo>
                    <a:pt x="1505089" y="9301"/>
                  </a:lnTo>
                  <a:lnTo>
                    <a:pt x="1557114" y="10184"/>
                  </a:lnTo>
                  <a:lnTo>
                    <a:pt x="1609209" y="11380"/>
                  </a:lnTo>
                  <a:lnTo>
                    <a:pt x="1663162" y="12974"/>
                  </a:lnTo>
                  <a:lnTo>
                    <a:pt x="1714102" y="14818"/>
                  </a:lnTo>
                  <a:lnTo>
                    <a:pt x="1765742" y="17056"/>
                  </a:lnTo>
                  <a:lnTo>
                    <a:pt x="1817945" y="19718"/>
                  </a:lnTo>
                  <a:lnTo>
                    <a:pt x="1870133" y="22802"/>
                  </a:lnTo>
                  <a:lnTo>
                    <a:pt x="1922288" y="26330"/>
                  </a:lnTo>
                  <a:lnTo>
                    <a:pt x="1974393" y="30323"/>
                  </a:lnTo>
                  <a:lnTo>
                    <a:pt x="2026717" y="34831"/>
                  </a:lnTo>
                  <a:lnTo>
                    <a:pt x="2078385" y="39793"/>
                  </a:lnTo>
                  <a:lnTo>
                    <a:pt x="2130238" y="45314"/>
                  </a:lnTo>
                  <a:lnTo>
                    <a:pt x="2181972" y="51389"/>
                  </a:lnTo>
                  <a:lnTo>
                    <a:pt x="2233570" y="58038"/>
                  </a:lnTo>
                  <a:lnTo>
                    <a:pt x="2285016" y="65285"/>
                  </a:lnTo>
                  <a:lnTo>
                    <a:pt x="2336291" y="73151"/>
                  </a:lnTo>
                  <a:lnTo>
                    <a:pt x="2379384" y="80782"/>
                  </a:lnTo>
                  <a:lnTo>
                    <a:pt x="2426890" y="89551"/>
                  </a:lnTo>
                  <a:lnTo>
                    <a:pt x="2475884" y="99390"/>
                  </a:lnTo>
                  <a:lnTo>
                    <a:pt x="2526680" y="110878"/>
                  </a:lnTo>
                  <a:lnTo>
                    <a:pt x="2577431" y="124165"/>
                  </a:lnTo>
                  <a:lnTo>
                    <a:pt x="2626831" y="139505"/>
                  </a:lnTo>
                  <a:lnTo>
                    <a:pt x="2673574" y="157154"/>
                  </a:lnTo>
                  <a:lnTo>
                    <a:pt x="2716355" y="177369"/>
                  </a:lnTo>
                  <a:lnTo>
                    <a:pt x="2753867" y="200405"/>
                  </a:lnTo>
                  <a:lnTo>
                    <a:pt x="2785762" y="254430"/>
                  </a:lnTo>
                  <a:lnTo>
                    <a:pt x="2785762" y="290659"/>
                  </a:lnTo>
                  <a:lnTo>
                    <a:pt x="2799320" y="268038"/>
                  </a:lnTo>
                  <a:lnTo>
                    <a:pt x="2801297" y="240980"/>
                  </a:lnTo>
                  <a:close/>
                </a:path>
                <a:path w="2801620" h="508635">
                  <a:moveTo>
                    <a:pt x="1401317" y="8381"/>
                  </a:moveTo>
                  <a:lnTo>
                    <a:pt x="1396745" y="8381"/>
                  </a:lnTo>
                  <a:lnTo>
                    <a:pt x="1392935" y="4571"/>
                  </a:lnTo>
                  <a:lnTo>
                    <a:pt x="1392935" y="8452"/>
                  </a:lnTo>
                  <a:lnTo>
                    <a:pt x="1401317" y="8381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91767" y="4335271"/>
            <a:ext cx="728281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20" dirty="0">
                <a:latin typeface="Trebuchet MS"/>
                <a:cs typeface="Trebuchet MS"/>
              </a:rPr>
              <a:t>At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first,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there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was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3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different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types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PHYs:</a:t>
            </a:r>
            <a:endParaRPr sz="24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114" dirty="0">
                <a:latin typeface="Trebuchet MS"/>
                <a:cs typeface="Trebuchet MS"/>
              </a:rPr>
              <a:t>2.4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GHz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Frequency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Hopping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Spread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Spectrum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(FHSS),</a:t>
            </a:r>
            <a:endParaRPr sz="20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5" dirty="0">
                <a:latin typeface="Trebuchet MS"/>
                <a:cs typeface="Trebuchet MS"/>
              </a:rPr>
              <a:t>Direct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Sequence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Spread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Spectrum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25" dirty="0">
                <a:latin typeface="Trebuchet MS"/>
                <a:cs typeface="Trebuchet MS"/>
              </a:rPr>
              <a:t>(DSSS)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endParaRPr sz="2000">
              <a:latin typeface="Trebuchet MS"/>
              <a:cs typeface="Trebuchet MS"/>
            </a:endParaRPr>
          </a:p>
          <a:p>
            <a:pPr marL="755650" lvl="1" indent="-285750">
              <a:lnSpc>
                <a:spcPts val="239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55" dirty="0">
                <a:latin typeface="Trebuchet MS"/>
                <a:cs typeface="Trebuchet MS"/>
              </a:rPr>
              <a:t>Infrared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(IR).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ts val="2870"/>
              </a:lnSpc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0" dirty="0">
                <a:latin typeface="Trebuchet MS"/>
                <a:cs typeface="Trebuchet MS"/>
              </a:rPr>
              <a:t>Four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PHYs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defined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supplement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standards.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A6BF95F-DF05-4DB8-8E6D-0417C13CA7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3100" y="646430"/>
            <a:ext cx="46482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400" spc="-130" dirty="0">
                <a:solidFill>
                  <a:schemeClr val="bg1">
                    <a:lumMod val="50000"/>
                  </a:schemeClr>
                </a:solidFill>
              </a:rPr>
              <a:t>Physical Layer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1655762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768094"/>
            <a:ext cx="7729855" cy="144272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marR="5080" indent="-342900">
              <a:lnSpc>
                <a:spcPct val="70000"/>
              </a:lnSpc>
              <a:spcBef>
                <a:spcPts val="11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b="1" spc="-80" dirty="0">
                <a:solidFill>
                  <a:srgbClr val="0070C0"/>
                </a:solidFill>
                <a:latin typeface="Trebuchet MS"/>
                <a:cs typeface="Trebuchet MS"/>
              </a:rPr>
              <a:t>FHSS</a:t>
            </a:r>
            <a:r>
              <a:rPr sz="3000" b="1" spc="-24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is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a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40" dirty="0">
                <a:latin typeface="Trebuchet MS"/>
                <a:cs typeface="Trebuchet MS"/>
              </a:rPr>
              <a:t>method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of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transmitting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radio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50" dirty="0">
                <a:latin typeface="Trebuchet MS"/>
                <a:cs typeface="Trebuchet MS"/>
              </a:rPr>
              <a:t>signals  </a:t>
            </a:r>
            <a:r>
              <a:rPr sz="3000" spc="-45" dirty="0">
                <a:latin typeface="Trebuchet MS"/>
                <a:cs typeface="Trebuchet MS"/>
              </a:rPr>
              <a:t>by </a:t>
            </a:r>
            <a:r>
              <a:rPr sz="3000" spc="-110" dirty="0">
                <a:latin typeface="Trebuchet MS"/>
                <a:cs typeface="Trebuchet MS"/>
              </a:rPr>
              <a:t>rapidly </a:t>
            </a:r>
            <a:r>
              <a:rPr sz="3000" spc="-55" dirty="0">
                <a:latin typeface="Trebuchet MS"/>
                <a:cs typeface="Trebuchet MS"/>
              </a:rPr>
              <a:t>switching </a:t>
            </a:r>
            <a:r>
              <a:rPr sz="3000" spc="-105" dirty="0">
                <a:latin typeface="Trebuchet MS"/>
                <a:cs typeface="Trebuchet MS"/>
              </a:rPr>
              <a:t>a </a:t>
            </a:r>
            <a:r>
              <a:rPr sz="3000" spc="-125" dirty="0">
                <a:latin typeface="Trebuchet MS"/>
                <a:cs typeface="Trebuchet MS"/>
              </a:rPr>
              <a:t>carrier </a:t>
            </a:r>
            <a:r>
              <a:rPr sz="3000" dirty="0">
                <a:latin typeface="Trebuchet MS"/>
                <a:cs typeface="Trebuchet MS"/>
              </a:rPr>
              <a:t>among </a:t>
            </a:r>
            <a:r>
              <a:rPr sz="3000" spc="-60" dirty="0">
                <a:latin typeface="Trebuchet MS"/>
                <a:cs typeface="Trebuchet MS"/>
              </a:rPr>
              <a:t>many  </a:t>
            </a:r>
            <a:r>
              <a:rPr sz="3000" spc="-75" dirty="0">
                <a:latin typeface="Trebuchet MS"/>
                <a:cs typeface="Trebuchet MS"/>
              </a:rPr>
              <a:t>frequency </a:t>
            </a:r>
            <a:r>
              <a:rPr sz="3000" spc="-100" dirty="0">
                <a:latin typeface="Trebuchet MS"/>
                <a:cs typeface="Trebuchet MS"/>
              </a:rPr>
              <a:t>channels, </a:t>
            </a:r>
            <a:r>
              <a:rPr sz="3000" spc="-20" dirty="0">
                <a:latin typeface="Trebuchet MS"/>
                <a:cs typeface="Trebuchet MS"/>
              </a:rPr>
              <a:t>using </a:t>
            </a:r>
            <a:r>
              <a:rPr sz="3000" spc="-105" dirty="0">
                <a:latin typeface="Trebuchet MS"/>
                <a:cs typeface="Trebuchet MS"/>
              </a:rPr>
              <a:t>a </a:t>
            </a:r>
            <a:r>
              <a:rPr sz="3000" spc="-25" dirty="0">
                <a:latin typeface="Trebuchet MS"/>
                <a:cs typeface="Trebuchet MS"/>
              </a:rPr>
              <a:t>pseudorandom  </a:t>
            </a:r>
            <a:r>
              <a:rPr sz="3000" spc="-55" dirty="0">
                <a:latin typeface="Trebuchet MS"/>
                <a:cs typeface="Trebuchet MS"/>
              </a:rPr>
              <a:t>sequence</a:t>
            </a:r>
            <a:r>
              <a:rPr sz="3000" spc="-275" dirty="0">
                <a:latin typeface="Trebuchet MS"/>
                <a:cs typeface="Trebuchet MS"/>
              </a:rPr>
              <a:t> </a:t>
            </a:r>
            <a:r>
              <a:rPr sz="3000" spc="5" dirty="0">
                <a:latin typeface="Trebuchet MS"/>
                <a:cs typeface="Trebuchet MS"/>
              </a:rPr>
              <a:t>known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to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both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95" dirty="0">
                <a:latin typeface="Trebuchet MS"/>
                <a:cs typeface="Trebuchet MS"/>
              </a:rPr>
              <a:t>transmitter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50" dirty="0">
                <a:latin typeface="Trebuchet MS"/>
                <a:cs typeface="Trebuchet MS"/>
              </a:rPr>
              <a:t>and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0779" y="3048253"/>
            <a:ext cx="795909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>
              <a:lnSpc>
                <a:spcPts val="3420"/>
              </a:lnSpc>
              <a:spcBef>
                <a:spcPts val="100"/>
              </a:spcBef>
            </a:pPr>
            <a:r>
              <a:rPr sz="3000" spc="-140" dirty="0">
                <a:latin typeface="Trebuchet MS"/>
                <a:cs typeface="Trebuchet MS"/>
              </a:rPr>
              <a:t>receiver.</a:t>
            </a:r>
            <a:endParaRPr sz="3000" dirty="0">
              <a:latin typeface="Trebuchet MS"/>
              <a:cs typeface="Trebuchet MS"/>
            </a:endParaRPr>
          </a:p>
          <a:p>
            <a:pPr marL="354965" indent="-342900">
              <a:lnSpc>
                <a:spcPts val="3420"/>
              </a:lnSpc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spc="-15" dirty="0">
                <a:latin typeface="Trebuchet MS"/>
                <a:cs typeface="Trebuchet MS"/>
              </a:rPr>
              <a:t>In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b="1" spc="-55" dirty="0">
                <a:solidFill>
                  <a:srgbClr val="0070C0"/>
                </a:solidFill>
                <a:latin typeface="Trebuchet MS"/>
                <a:cs typeface="Trebuchet MS"/>
              </a:rPr>
              <a:t>DSSS</a:t>
            </a:r>
            <a:r>
              <a:rPr sz="3000" spc="-55" dirty="0">
                <a:latin typeface="Trebuchet MS"/>
                <a:cs typeface="Trebuchet MS"/>
              </a:rPr>
              <a:t>,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all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stations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65" dirty="0">
                <a:latin typeface="Trebuchet MS"/>
                <a:cs typeface="Trebuchet MS"/>
              </a:rPr>
              <a:t>operate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at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the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same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95" dirty="0">
                <a:latin typeface="Trebuchet MS"/>
                <a:cs typeface="Trebuchet MS"/>
              </a:rPr>
              <a:t>center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3667" y="3779773"/>
            <a:ext cx="6972934" cy="112268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 algn="just">
              <a:lnSpc>
                <a:spcPct val="70000"/>
              </a:lnSpc>
              <a:spcBef>
                <a:spcPts val="1180"/>
              </a:spcBef>
            </a:pPr>
            <a:r>
              <a:rPr sz="3000" spc="-100" dirty="0">
                <a:latin typeface="Trebuchet MS"/>
                <a:cs typeface="Trebuchet MS"/>
              </a:rPr>
              <a:t>frequency.</a:t>
            </a:r>
            <a:r>
              <a:rPr sz="3000" spc="-285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Different</a:t>
            </a:r>
            <a:r>
              <a:rPr sz="3000" spc="-295" dirty="0">
                <a:latin typeface="Trebuchet MS"/>
                <a:cs typeface="Trebuchet MS"/>
              </a:rPr>
              <a:t> </a:t>
            </a:r>
            <a:r>
              <a:rPr sz="3000" spc="-50" dirty="0">
                <a:latin typeface="Trebuchet MS"/>
                <a:cs typeface="Trebuchet MS"/>
              </a:rPr>
              <a:t>spreading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codes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allow  </a:t>
            </a:r>
            <a:r>
              <a:rPr sz="3000" spc="-100" dirty="0">
                <a:latin typeface="Trebuchet MS"/>
                <a:cs typeface="Trebuchet MS"/>
              </a:rPr>
              <a:t>different</a:t>
            </a:r>
            <a:r>
              <a:rPr sz="3000" spc="-280" dirty="0">
                <a:latin typeface="Trebuchet MS"/>
                <a:cs typeface="Trebuchet MS"/>
              </a:rPr>
              <a:t> </a:t>
            </a:r>
            <a:r>
              <a:rPr sz="3000" spc="-35" dirty="0">
                <a:latin typeface="Trebuchet MS"/>
                <a:cs typeface="Trebuchet MS"/>
              </a:rPr>
              <a:t>sets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of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-65" dirty="0">
                <a:latin typeface="Trebuchet MS"/>
                <a:cs typeface="Trebuchet MS"/>
              </a:rPr>
              <a:t>communicating</a:t>
            </a:r>
            <a:r>
              <a:rPr sz="3000" spc="-275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stations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to  </a:t>
            </a:r>
            <a:r>
              <a:rPr sz="3000" spc="-85" dirty="0">
                <a:latin typeface="Trebuchet MS"/>
                <a:cs typeface="Trebuchet MS"/>
              </a:rPr>
              <a:t>reduce </a:t>
            </a:r>
            <a:r>
              <a:rPr sz="3000" spc="-80" dirty="0">
                <a:latin typeface="Trebuchet MS"/>
                <a:cs typeface="Trebuchet MS"/>
              </a:rPr>
              <a:t>the </a:t>
            </a:r>
            <a:r>
              <a:rPr sz="3000" spc="-90" dirty="0">
                <a:latin typeface="Trebuchet MS"/>
                <a:cs typeface="Trebuchet MS"/>
              </a:rPr>
              <a:t>mutual</a:t>
            </a:r>
            <a:r>
              <a:rPr sz="3000" spc="-60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interference.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779" y="4831333"/>
            <a:ext cx="6090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3000" b="1" spc="-25" dirty="0">
                <a:solidFill>
                  <a:srgbClr val="0070C0"/>
                </a:solidFill>
                <a:latin typeface="Trebuchet MS"/>
                <a:cs typeface="Trebuchet MS"/>
              </a:rPr>
              <a:t>IR</a:t>
            </a:r>
            <a:r>
              <a:rPr sz="3000" b="1" spc="-26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physical</a:t>
            </a:r>
            <a:r>
              <a:rPr sz="3000" spc="-254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layer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50" dirty="0">
                <a:latin typeface="Trebuchet MS"/>
                <a:cs typeface="Trebuchet MS"/>
              </a:rPr>
              <a:t>so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far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30" dirty="0">
                <a:latin typeface="Trebuchet MS"/>
                <a:cs typeface="Trebuchet MS"/>
              </a:rPr>
              <a:t>has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not</a:t>
            </a:r>
            <a:r>
              <a:rPr sz="3000" spc="-265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been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53667" y="5151373"/>
            <a:ext cx="749998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5" dirty="0">
                <a:latin typeface="Trebuchet MS"/>
                <a:cs typeface="Trebuchet MS"/>
              </a:rPr>
              <a:t>commercially</a:t>
            </a:r>
            <a:r>
              <a:rPr sz="3000" spc="-280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successful,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50" dirty="0">
                <a:latin typeface="Trebuchet MS"/>
                <a:cs typeface="Trebuchet MS"/>
              </a:rPr>
              <a:t>but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may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55" dirty="0">
                <a:latin typeface="Trebuchet MS"/>
                <a:cs typeface="Trebuchet MS"/>
              </a:rPr>
              <a:t>be</a:t>
            </a:r>
            <a:r>
              <a:rPr sz="3000" spc="-27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attractive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53667" y="5471414"/>
            <a:ext cx="69132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Trebuchet MS"/>
                <a:cs typeface="Trebuchet MS"/>
              </a:rPr>
              <a:t>for</a:t>
            </a:r>
            <a:r>
              <a:rPr sz="3000" spc="-260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future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residential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in‐house</a:t>
            </a:r>
            <a:r>
              <a:rPr sz="3000" spc="-250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applications.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3" name="object 13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00E8CE9-A2FB-4398-873A-E8A5FD2425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5920" y="646430"/>
            <a:ext cx="432777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30" dirty="0">
                <a:solidFill>
                  <a:schemeClr val="bg1">
                    <a:lumMod val="50000"/>
                  </a:schemeClr>
                </a:solidFill>
              </a:rPr>
              <a:t>Physical Layer</a:t>
            </a:r>
          </a:p>
        </p:txBody>
      </p:sp>
      <p:sp>
        <p:nvSpPr>
          <p:cNvPr id="3" name="object 3"/>
          <p:cNvSpPr/>
          <p:nvPr/>
        </p:nvSpPr>
        <p:spPr>
          <a:xfrm>
            <a:off x="775221" y="1852549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52676"/>
            <a:ext cx="8607400" cy="250581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4965" marR="242570" indent="-342900">
              <a:lnSpc>
                <a:spcPct val="90300"/>
              </a:lnSpc>
              <a:spcBef>
                <a:spcPts val="3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5" dirty="0">
                <a:latin typeface="Trebuchet MS"/>
              </a:rPr>
              <a:t>High Rate Direct Sequence Spread Spectrum (HR/DSSS)  transmission mode: </a:t>
            </a:r>
            <a:endParaRPr lang="en-US" sz="2400" spc="-45" dirty="0">
              <a:latin typeface="Trebuchet MS"/>
            </a:endParaRPr>
          </a:p>
          <a:p>
            <a:pPr marL="812165" marR="242570" lvl="1" indent="-342900">
              <a:lnSpc>
                <a:spcPct val="90300"/>
              </a:lnSpc>
              <a:spcBef>
                <a:spcPts val="3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5" dirty="0">
                <a:latin typeface="Trebuchet MS"/>
              </a:rPr>
              <a:t>uses Complementary Code Keying  (CCK). The code set is richer than the set of Walsh codes  that are used in DSSS the higher data rate is achieved.</a:t>
            </a:r>
          </a:p>
          <a:p>
            <a:pPr marL="354965" marR="5080" indent="-342900">
              <a:lnSpc>
                <a:spcPts val="2590"/>
              </a:lnSpc>
              <a:spcBef>
                <a:spcPts val="59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90" dirty="0">
                <a:latin typeface="Trebuchet MS"/>
                <a:cs typeface="Trebuchet MS"/>
              </a:rPr>
              <a:t>OFDM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transmission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scheme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used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by  </a:t>
            </a:r>
            <a:r>
              <a:rPr sz="2400" spc="-55" dirty="0">
                <a:latin typeface="Trebuchet MS"/>
                <a:cs typeface="Trebuchet MS"/>
              </a:rPr>
              <a:t>wireless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systems.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C59B8C6-B2AF-452A-9DA4-8E273FB9A1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88155"/>
            <a:ext cx="625157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50" dirty="0">
                <a:latin typeface="Trebuchet MS"/>
                <a:cs typeface="Trebuchet MS"/>
              </a:rPr>
              <a:t>MEDIUM</a:t>
            </a:r>
            <a:r>
              <a:rPr sz="4000" b="1" spc="-610" dirty="0">
                <a:latin typeface="Trebuchet MS"/>
                <a:cs typeface="Trebuchet MS"/>
              </a:rPr>
              <a:t> </a:t>
            </a:r>
            <a:r>
              <a:rPr sz="4000" b="1" spc="50" dirty="0">
                <a:latin typeface="Trebuchet MS"/>
                <a:cs typeface="Trebuchet MS"/>
              </a:rPr>
              <a:t>ACCESS</a:t>
            </a:r>
            <a:r>
              <a:rPr sz="4000" b="1" spc="-560" dirty="0">
                <a:latin typeface="Trebuchet MS"/>
                <a:cs typeface="Trebuchet MS"/>
              </a:rPr>
              <a:t> </a:t>
            </a:r>
            <a:r>
              <a:rPr sz="4000" b="1" spc="25" dirty="0">
                <a:latin typeface="Trebuchet MS"/>
                <a:cs typeface="Trebuchet MS"/>
              </a:rPr>
              <a:t>CONTROL  </a:t>
            </a:r>
            <a:r>
              <a:rPr sz="4000" b="1" spc="-10" dirty="0">
                <a:latin typeface="Trebuchet MS"/>
                <a:cs typeface="Trebuchet MS"/>
              </a:rPr>
              <a:t>PROTOCOL</a:t>
            </a:r>
            <a:endParaRPr sz="4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F71C220-600F-4392-8C84-14CC05C464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88157" y="64643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/>
          </a:p>
        </p:txBody>
      </p:sp>
      <p:grpSp>
        <p:nvGrpSpPr>
          <p:cNvPr id="7" name="object 7"/>
          <p:cNvGrpSpPr/>
          <p:nvPr/>
        </p:nvGrpSpPr>
        <p:grpSpPr>
          <a:xfrm>
            <a:off x="393700" y="1434699"/>
            <a:ext cx="9601582" cy="5635490"/>
            <a:chOff x="317639" y="1206246"/>
            <a:chExt cx="9601582" cy="6000877"/>
          </a:xfrm>
        </p:grpSpPr>
        <p:sp>
          <p:nvSpPr>
            <p:cNvPr id="8" name="object 8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17639" y="1721326"/>
              <a:ext cx="6976871" cy="47144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321445" y="5325066"/>
              <a:ext cx="1643380" cy="555625"/>
            </a:xfrm>
            <a:custGeom>
              <a:avLst/>
              <a:gdLst/>
              <a:ahLst/>
              <a:cxnLst/>
              <a:rect l="l" t="t" r="r" b="b"/>
              <a:pathLst>
                <a:path w="1643379" h="555625">
                  <a:moveTo>
                    <a:pt x="1642871" y="555498"/>
                  </a:moveTo>
                  <a:lnTo>
                    <a:pt x="1642871" y="229362"/>
                  </a:lnTo>
                  <a:lnTo>
                    <a:pt x="1634846" y="189618"/>
                  </a:lnTo>
                  <a:lnTo>
                    <a:pt x="1612961" y="157162"/>
                  </a:lnTo>
                  <a:lnTo>
                    <a:pt x="1580501" y="135278"/>
                  </a:lnTo>
                  <a:lnTo>
                    <a:pt x="1540751" y="127253"/>
                  </a:lnTo>
                  <a:lnTo>
                    <a:pt x="684276" y="127253"/>
                  </a:lnTo>
                  <a:lnTo>
                    <a:pt x="408431" y="0"/>
                  </a:lnTo>
                  <a:lnTo>
                    <a:pt x="273557" y="127253"/>
                  </a:lnTo>
                  <a:lnTo>
                    <a:pt x="102107" y="127253"/>
                  </a:lnTo>
                  <a:lnTo>
                    <a:pt x="62364" y="135278"/>
                  </a:lnTo>
                  <a:lnTo>
                    <a:pt x="29908" y="157162"/>
                  </a:lnTo>
                  <a:lnTo>
                    <a:pt x="8024" y="189618"/>
                  </a:lnTo>
                  <a:lnTo>
                    <a:pt x="0" y="229362"/>
                  </a:lnTo>
                  <a:lnTo>
                    <a:pt x="0" y="555498"/>
                  </a:lnTo>
                  <a:lnTo>
                    <a:pt x="1642871" y="555498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314069" y="5325192"/>
              <a:ext cx="1659255" cy="565150"/>
            </a:xfrm>
            <a:custGeom>
              <a:avLst/>
              <a:gdLst/>
              <a:ahLst/>
              <a:cxnLst/>
              <a:rect l="l" t="t" r="r" b="b"/>
              <a:pathLst>
                <a:path w="1659254" h="565150">
                  <a:moveTo>
                    <a:pt x="277471" y="128778"/>
                  </a:moveTo>
                  <a:lnTo>
                    <a:pt x="98297" y="128778"/>
                  </a:lnTo>
                  <a:lnTo>
                    <a:pt x="86880" y="131063"/>
                  </a:lnTo>
                  <a:lnTo>
                    <a:pt x="48018" y="147828"/>
                  </a:lnTo>
                  <a:lnTo>
                    <a:pt x="18266" y="177796"/>
                  </a:lnTo>
                  <a:lnTo>
                    <a:pt x="1543" y="217155"/>
                  </a:lnTo>
                  <a:lnTo>
                    <a:pt x="0" y="238506"/>
                  </a:lnTo>
                  <a:lnTo>
                    <a:pt x="0" y="564642"/>
                  </a:lnTo>
                  <a:lnTo>
                    <a:pt x="15252" y="564642"/>
                  </a:lnTo>
                  <a:lnTo>
                    <a:pt x="15252" y="238506"/>
                  </a:lnTo>
                  <a:lnTo>
                    <a:pt x="26534" y="194531"/>
                  </a:lnTo>
                  <a:lnTo>
                    <a:pt x="49120" y="165929"/>
                  </a:lnTo>
                  <a:lnTo>
                    <a:pt x="80496" y="149609"/>
                  </a:lnTo>
                  <a:lnTo>
                    <a:pt x="118146" y="142479"/>
                  </a:lnTo>
                  <a:lnTo>
                    <a:pt x="159556" y="141447"/>
                  </a:lnTo>
                  <a:lnTo>
                    <a:pt x="202209" y="143420"/>
                  </a:lnTo>
                  <a:lnTo>
                    <a:pt x="243593" y="145308"/>
                  </a:lnTo>
                  <a:lnTo>
                    <a:pt x="275856" y="144201"/>
                  </a:lnTo>
                  <a:lnTo>
                    <a:pt x="275856" y="130301"/>
                  </a:lnTo>
                  <a:lnTo>
                    <a:pt x="277471" y="128778"/>
                  </a:lnTo>
                  <a:close/>
                </a:path>
                <a:path w="1659254" h="565150">
                  <a:moveTo>
                    <a:pt x="281190" y="128778"/>
                  </a:moveTo>
                  <a:lnTo>
                    <a:pt x="277471" y="128778"/>
                  </a:lnTo>
                  <a:lnTo>
                    <a:pt x="275856" y="130301"/>
                  </a:lnTo>
                  <a:lnTo>
                    <a:pt x="281190" y="128778"/>
                  </a:lnTo>
                  <a:close/>
                </a:path>
                <a:path w="1659254" h="565150">
                  <a:moveTo>
                    <a:pt x="281190" y="144018"/>
                  </a:moveTo>
                  <a:lnTo>
                    <a:pt x="281190" y="128778"/>
                  </a:lnTo>
                  <a:lnTo>
                    <a:pt x="275856" y="130301"/>
                  </a:lnTo>
                  <a:lnTo>
                    <a:pt x="275856" y="144201"/>
                  </a:lnTo>
                  <a:lnTo>
                    <a:pt x="281190" y="144018"/>
                  </a:lnTo>
                  <a:close/>
                </a:path>
                <a:path w="1659254" h="565150">
                  <a:moveTo>
                    <a:pt x="694072" y="128778"/>
                  </a:moveTo>
                  <a:lnTo>
                    <a:pt x="419100" y="1524"/>
                  </a:lnTo>
                  <a:lnTo>
                    <a:pt x="416064" y="0"/>
                  </a:lnTo>
                  <a:lnTo>
                    <a:pt x="413016" y="762"/>
                  </a:lnTo>
                  <a:lnTo>
                    <a:pt x="410730" y="3048"/>
                  </a:lnTo>
                  <a:lnTo>
                    <a:pt x="277471" y="128778"/>
                  </a:lnTo>
                  <a:lnTo>
                    <a:pt x="281190" y="128778"/>
                  </a:lnTo>
                  <a:lnTo>
                    <a:pt x="281190" y="144018"/>
                  </a:lnTo>
                  <a:lnTo>
                    <a:pt x="283463" y="144018"/>
                  </a:lnTo>
                  <a:lnTo>
                    <a:pt x="285750" y="143256"/>
                  </a:lnTo>
                  <a:lnTo>
                    <a:pt x="287273" y="142494"/>
                  </a:lnTo>
                  <a:lnTo>
                    <a:pt x="412254" y="23194"/>
                  </a:lnTo>
                  <a:lnTo>
                    <a:pt x="412254" y="16001"/>
                  </a:lnTo>
                  <a:lnTo>
                    <a:pt x="421385" y="14478"/>
                  </a:lnTo>
                  <a:lnTo>
                    <a:pt x="421385" y="20202"/>
                  </a:lnTo>
                  <a:lnTo>
                    <a:pt x="688860" y="143256"/>
                  </a:lnTo>
                  <a:lnTo>
                    <a:pt x="689609" y="144018"/>
                  </a:lnTo>
                  <a:lnTo>
                    <a:pt x="691908" y="144018"/>
                  </a:lnTo>
                  <a:lnTo>
                    <a:pt x="691908" y="128778"/>
                  </a:lnTo>
                  <a:lnTo>
                    <a:pt x="694072" y="128778"/>
                  </a:lnTo>
                  <a:close/>
                </a:path>
                <a:path w="1659254" h="565150">
                  <a:moveTo>
                    <a:pt x="421385" y="14478"/>
                  </a:moveTo>
                  <a:lnTo>
                    <a:pt x="412254" y="16001"/>
                  </a:lnTo>
                  <a:lnTo>
                    <a:pt x="417338" y="18341"/>
                  </a:lnTo>
                  <a:lnTo>
                    <a:pt x="421385" y="14478"/>
                  </a:lnTo>
                  <a:close/>
                </a:path>
                <a:path w="1659254" h="565150">
                  <a:moveTo>
                    <a:pt x="417338" y="18341"/>
                  </a:moveTo>
                  <a:lnTo>
                    <a:pt x="412254" y="16001"/>
                  </a:lnTo>
                  <a:lnTo>
                    <a:pt x="412254" y="23194"/>
                  </a:lnTo>
                  <a:lnTo>
                    <a:pt x="417338" y="18341"/>
                  </a:lnTo>
                  <a:close/>
                </a:path>
                <a:path w="1659254" h="565150">
                  <a:moveTo>
                    <a:pt x="421385" y="20202"/>
                  </a:moveTo>
                  <a:lnTo>
                    <a:pt x="421385" y="14478"/>
                  </a:lnTo>
                  <a:lnTo>
                    <a:pt x="417338" y="18341"/>
                  </a:lnTo>
                  <a:lnTo>
                    <a:pt x="421385" y="20202"/>
                  </a:lnTo>
                  <a:close/>
                </a:path>
                <a:path w="1659254" h="565150">
                  <a:moveTo>
                    <a:pt x="695718" y="129540"/>
                  </a:moveTo>
                  <a:lnTo>
                    <a:pt x="694072" y="128778"/>
                  </a:lnTo>
                  <a:lnTo>
                    <a:pt x="691908" y="128778"/>
                  </a:lnTo>
                  <a:lnTo>
                    <a:pt x="695718" y="129540"/>
                  </a:lnTo>
                  <a:close/>
                </a:path>
                <a:path w="1659254" h="565150">
                  <a:moveTo>
                    <a:pt x="695718" y="144018"/>
                  </a:moveTo>
                  <a:lnTo>
                    <a:pt x="695718" y="129540"/>
                  </a:lnTo>
                  <a:lnTo>
                    <a:pt x="691908" y="128778"/>
                  </a:lnTo>
                  <a:lnTo>
                    <a:pt x="691908" y="144018"/>
                  </a:lnTo>
                  <a:lnTo>
                    <a:pt x="695718" y="144018"/>
                  </a:lnTo>
                  <a:close/>
                </a:path>
                <a:path w="1659254" h="565150">
                  <a:moveTo>
                    <a:pt x="1658873" y="564642"/>
                  </a:moveTo>
                  <a:lnTo>
                    <a:pt x="1658873" y="238506"/>
                  </a:lnTo>
                  <a:lnTo>
                    <a:pt x="1658111" y="227075"/>
                  </a:lnTo>
                  <a:lnTo>
                    <a:pt x="1640965" y="178977"/>
                  </a:lnTo>
                  <a:lnTo>
                    <a:pt x="1600961" y="141732"/>
                  </a:lnTo>
                  <a:lnTo>
                    <a:pt x="1559064" y="128778"/>
                  </a:lnTo>
                  <a:lnTo>
                    <a:pt x="694072" y="128778"/>
                  </a:lnTo>
                  <a:lnTo>
                    <a:pt x="695718" y="129540"/>
                  </a:lnTo>
                  <a:lnTo>
                    <a:pt x="695718" y="144018"/>
                  </a:lnTo>
                  <a:lnTo>
                    <a:pt x="1548383" y="144018"/>
                  </a:lnTo>
                  <a:lnTo>
                    <a:pt x="1558302" y="144780"/>
                  </a:lnTo>
                  <a:lnTo>
                    <a:pt x="1601723" y="160782"/>
                  </a:lnTo>
                  <a:lnTo>
                    <a:pt x="1632652" y="196256"/>
                  </a:lnTo>
                  <a:lnTo>
                    <a:pt x="1642884" y="239268"/>
                  </a:lnTo>
                  <a:lnTo>
                    <a:pt x="1642884" y="564642"/>
                  </a:lnTo>
                  <a:lnTo>
                    <a:pt x="1658873" y="564642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703717" y="6349746"/>
              <a:ext cx="6976871" cy="25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7321445" y="5899486"/>
              <a:ext cx="1643380" cy="184785"/>
            </a:xfrm>
            <a:custGeom>
              <a:avLst/>
              <a:gdLst/>
              <a:ahLst/>
              <a:cxnLst/>
              <a:rect l="l" t="t" r="r" b="b"/>
              <a:pathLst>
                <a:path w="1643379" h="184784">
                  <a:moveTo>
                    <a:pt x="1642871" y="82295"/>
                  </a:moveTo>
                  <a:lnTo>
                    <a:pt x="1642871" y="0"/>
                  </a:lnTo>
                  <a:lnTo>
                    <a:pt x="0" y="0"/>
                  </a:lnTo>
                  <a:lnTo>
                    <a:pt x="0" y="82295"/>
                  </a:lnTo>
                  <a:lnTo>
                    <a:pt x="8024" y="122039"/>
                  </a:lnTo>
                  <a:lnTo>
                    <a:pt x="29908" y="154495"/>
                  </a:lnTo>
                  <a:lnTo>
                    <a:pt x="62364" y="176379"/>
                  </a:lnTo>
                  <a:lnTo>
                    <a:pt x="102107" y="184404"/>
                  </a:lnTo>
                  <a:lnTo>
                    <a:pt x="1540751" y="184404"/>
                  </a:lnTo>
                  <a:lnTo>
                    <a:pt x="1580501" y="176379"/>
                  </a:lnTo>
                  <a:lnTo>
                    <a:pt x="1612961" y="154495"/>
                  </a:lnTo>
                  <a:lnTo>
                    <a:pt x="1634846" y="122039"/>
                  </a:lnTo>
                  <a:lnTo>
                    <a:pt x="1642871" y="8229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306686" y="5922922"/>
              <a:ext cx="1659255" cy="193040"/>
            </a:xfrm>
            <a:custGeom>
              <a:avLst/>
              <a:gdLst/>
              <a:ahLst/>
              <a:cxnLst/>
              <a:rect l="l" t="t" r="r" b="b"/>
              <a:pathLst>
                <a:path w="1659254" h="193040">
                  <a:moveTo>
                    <a:pt x="1658873" y="82295"/>
                  </a:moveTo>
                  <a:lnTo>
                    <a:pt x="1658873" y="0"/>
                  </a:lnTo>
                  <a:lnTo>
                    <a:pt x="1642884" y="0"/>
                  </a:lnTo>
                  <a:lnTo>
                    <a:pt x="1642884" y="82295"/>
                  </a:lnTo>
                  <a:lnTo>
                    <a:pt x="1642109" y="92201"/>
                  </a:lnTo>
                  <a:lnTo>
                    <a:pt x="1628852" y="131616"/>
                  </a:lnTo>
                  <a:lnTo>
                    <a:pt x="1594705" y="164612"/>
                  </a:lnTo>
                  <a:lnTo>
                    <a:pt x="1549158" y="176700"/>
                  </a:lnTo>
                  <a:lnTo>
                    <a:pt x="109740" y="176784"/>
                  </a:lnTo>
                  <a:lnTo>
                    <a:pt x="99834" y="176022"/>
                  </a:lnTo>
                  <a:lnTo>
                    <a:pt x="58734" y="161602"/>
                  </a:lnTo>
                  <a:lnTo>
                    <a:pt x="26682" y="127253"/>
                  </a:lnTo>
                  <a:lnTo>
                    <a:pt x="15252" y="82295"/>
                  </a:lnTo>
                  <a:lnTo>
                    <a:pt x="15252" y="0"/>
                  </a:lnTo>
                  <a:lnTo>
                    <a:pt x="0" y="0"/>
                  </a:lnTo>
                  <a:lnTo>
                    <a:pt x="0" y="93725"/>
                  </a:lnTo>
                  <a:lnTo>
                    <a:pt x="2285" y="105155"/>
                  </a:lnTo>
                  <a:lnTo>
                    <a:pt x="19050" y="144017"/>
                  </a:lnTo>
                  <a:lnTo>
                    <a:pt x="60662" y="180556"/>
                  </a:lnTo>
                  <a:lnTo>
                    <a:pt x="99059" y="192024"/>
                  </a:lnTo>
                  <a:lnTo>
                    <a:pt x="109740" y="192786"/>
                  </a:lnTo>
                  <a:lnTo>
                    <a:pt x="1549158" y="192786"/>
                  </a:lnTo>
                  <a:lnTo>
                    <a:pt x="1595996" y="181727"/>
                  </a:lnTo>
                  <a:lnTo>
                    <a:pt x="1638773" y="145252"/>
                  </a:lnTo>
                  <a:lnTo>
                    <a:pt x="1658111" y="92963"/>
                  </a:lnTo>
                  <a:lnTo>
                    <a:pt x="1658873" y="82295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600188" y="5470667"/>
            <a:ext cx="1305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190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12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fully</a:t>
            </a:r>
            <a:r>
              <a:rPr kumimoji="0" sz="1200" b="0" i="0" u="none" strike="noStrike" kern="1200" cap="none" spc="-2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receiving  the</a:t>
            </a:r>
            <a:r>
              <a:rPr kumimoji="0" sz="1200" b="0" i="0" u="none" strike="noStrike" kern="1200" cap="none" spc="-1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frame,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node  </a:t>
            </a:r>
            <a:r>
              <a:rPr kumimoji="0" sz="12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can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set</a:t>
            </a:r>
            <a:r>
              <a:rPr kumimoji="0" sz="1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NAV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7816CB0-B12E-45CB-BD17-9115774438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127A6E-EA58-ED8A-64D5-006D6802931B}"/>
              </a:ext>
            </a:extLst>
          </p:cNvPr>
          <p:cNvSpPr/>
          <p:nvPr/>
        </p:nvSpPr>
        <p:spPr>
          <a:xfrm>
            <a:off x="698500" y="4314825"/>
            <a:ext cx="8598548" cy="1999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EF9F2D94-DF5D-534D-2706-8E7CFDE26698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834225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9E265E-1A9F-57E5-58E5-16A3C6BF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23505D-D212-C9EF-8742-3E635EBD4E0E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E047CFD-50FE-818E-53B0-86948BDABD91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7FEEF86-8AD5-A729-0395-16494168A66C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727D063-C225-3289-02FC-7EFCEA8E9605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DC78ACE-8726-E06B-2E7E-37A814E1C4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8157" y="64643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BA77AEE0-7691-C2B8-84BD-3935436EF7B4}"/>
              </a:ext>
            </a:extLst>
          </p:cNvPr>
          <p:cNvGrpSpPr/>
          <p:nvPr/>
        </p:nvGrpSpPr>
        <p:grpSpPr>
          <a:xfrm>
            <a:off x="393700" y="1434699"/>
            <a:ext cx="9601582" cy="5635490"/>
            <a:chOff x="317639" y="1206246"/>
            <a:chExt cx="9601582" cy="6000877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94364D2-3642-6764-D83B-D43B7E901D99}"/>
                </a:ext>
              </a:extLst>
            </p:cNvPr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80BBD2C-C29D-E61C-26ED-F14F170E36D9}"/>
                </a:ext>
              </a:extLst>
            </p:cNvPr>
            <p:cNvSpPr/>
            <p:nvPr/>
          </p:nvSpPr>
          <p:spPr>
            <a:xfrm>
              <a:off x="317639" y="1721326"/>
              <a:ext cx="6976871" cy="47144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745C451-FF02-477B-CD89-6CB0BAF8EE0C}"/>
                </a:ext>
              </a:extLst>
            </p:cNvPr>
            <p:cNvSpPr/>
            <p:nvPr/>
          </p:nvSpPr>
          <p:spPr>
            <a:xfrm>
              <a:off x="7321445" y="5325066"/>
              <a:ext cx="1643380" cy="555625"/>
            </a:xfrm>
            <a:custGeom>
              <a:avLst/>
              <a:gdLst/>
              <a:ahLst/>
              <a:cxnLst/>
              <a:rect l="l" t="t" r="r" b="b"/>
              <a:pathLst>
                <a:path w="1643379" h="555625">
                  <a:moveTo>
                    <a:pt x="1642871" y="555498"/>
                  </a:moveTo>
                  <a:lnTo>
                    <a:pt x="1642871" y="229362"/>
                  </a:lnTo>
                  <a:lnTo>
                    <a:pt x="1634846" y="189618"/>
                  </a:lnTo>
                  <a:lnTo>
                    <a:pt x="1612961" y="157162"/>
                  </a:lnTo>
                  <a:lnTo>
                    <a:pt x="1580501" y="135278"/>
                  </a:lnTo>
                  <a:lnTo>
                    <a:pt x="1540751" y="127253"/>
                  </a:lnTo>
                  <a:lnTo>
                    <a:pt x="684276" y="127253"/>
                  </a:lnTo>
                  <a:lnTo>
                    <a:pt x="408431" y="0"/>
                  </a:lnTo>
                  <a:lnTo>
                    <a:pt x="273557" y="127253"/>
                  </a:lnTo>
                  <a:lnTo>
                    <a:pt x="102107" y="127253"/>
                  </a:lnTo>
                  <a:lnTo>
                    <a:pt x="62364" y="135278"/>
                  </a:lnTo>
                  <a:lnTo>
                    <a:pt x="29908" y="157162"/>
                  </a:lnTo>
                  <a:lnTo>
                    <a:pt x="8024" y="189618"/>
                  </a:lnTo>
                  <a:lnTo>
                    <a:pt x="0" y="229362"/>
                  </a:lnTo>
                  <a:lnTo>
                    <a:pt x="0" y="555498"/>
                  </a:lnTo>
                  <a:lnTo>
                    <a:pt x="1642871" y="555498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DB3163A-FFB0-1822-DEFA-4C3A51B9E54E}"/>
                </a:ext>
              </a:extLst>
            </p:cNvPr>
            <p:cNvSpPr/>
            <p:nvPr/>
          </p:nvSpPr>
          <p:spPr>
            <a:xfrm>
              <a:off x="7314069" y="5325192"/>
              <a:ext cx="1659255" cy="565150"/>
            </a:xfrm>
            <a:custGeom>
              <a:avLst/>
              <a:gdLst/>
              <a:ahLst/>
              <a:cxnLst/>
              <a:rect l="l" t="t" r="r" b="b"/>
              <a:pathLst>
                <a:path w="1659254" h="565150">
                  <a:moveTo>
                    <a:pt x="277471" y="128778"/>
                  </a:moveTo>
                  <a:lnTo>
                    <a:pt x="98297" y="128778"/>
                  </a:lnTo>
                  <a:lnTo>
                    <a:pt x="86880" y="131063"/>
                  </a:lnTo>
                  <a:lnTo>
                    <a:pt x="48018" y="147828"/>
                  </a:lnTo>
                  <a:lnTo>
                    <a:pt x="18266" y="177796"/>
                  </a:lnTo>
                  <a:lnTo>
                    <a:pt x="1543" y="217155"/>
                  </a:lnTo>
                  <a:lnTo>
                    <a:pt x="0" y="238506"/>
                  </a:lnTo>
                  <a:lnTo>
                    <a:pt x="0" y="564642"/>
                  </a:lnTo>
                  <a:lnTo>
                    <a:pt x="15252" y="564642"/>
                  </a:lnTo>
                  <a:lnTo>
                    <a:pt x="15252" y="238506"/>
                  </a:lnTo>
                  <a:lnTo>
                    <a:pt x="26534" y="194531"/>
                  </a:lnTo>
                  <a:lnTo>
                    <a:pt x="49120" y="165929"/>
                  </a:lnTo>
                  <a:lnTo>
                    <a:pt x="80496" y="149609"/>
                  </a:lnTo>
                  <a:lnTo>
                    <a:pt x="118146" y="142479"/>
                  </a:lnTo>
                  <a:lnTo>
                    <a:pt x="159556" y="141447"/>
                  </a:lnTo>
                  <a:lnTo>
                    <a:pt x="202209" y="143420"/>
                  </a:lnTo>
                  <a:lnTo>
                    <a:pt x="243593" y="145308"/>
                  </a:lnTo>
                  <a:lnTo>
                    <a:pt x="275856" y="144201"/>
                  </a:lnTo>
                  <a:lnTo>
                    <a:pt x="275856" y="130301"/>
                  </a:lnTo>
                  <a:lnTo>
                    <a:pt x="277471" y="128778"/>
                  </a:lnTo>
                  <a:close/>
                </a:path>
                <a:path w="1659254" h="565150">
                  <a:moveTo>
                    <a:pt x="281190" y="128778"/>
                  </a:moveTo>
                  <a:lnTo>
                    <a:pt x="277471" y="128778"/>
                  </a:lnTo>
                  <a:lnTo>
                    <a:pt x="275856" y="130301"/>
                  </a:lnTo>
                  <a:lnTo>
                    <a:pt x="281190" y="128778"/>
                  </a:lnTo>
                  <a:close/>
                </a:path>
                <a:path w="1659254" h="565150">
                  <a:moveTo>
                    <a:pt x="281190" y="144018"/>
                  </a:moveTo>
                  <a:lnTo>
                    <a:pt x="281190" y="128778"/>
                  </a:lnTo>
                  <a:lnTo>
                    <a:pt x="275856" y="130301"/>
                  </a:lnTo>
                  <a:lnTo>
                    <a:pt x="275856" y="144201"/>
                  </a:lnTo>
                  <a:lnTo>
                    <a:pt x="281190" y="144018"/>
                  </a:lnTo>
                  <a:close/>
                </a:path>
                <a:path w="1659254" h="565150">
                  <a:moveTo>
                    <a:pt x="694072" y="128778"/>
                  </a:moveTo>
                  <a:lnTo>
                    <a:pt x="419100" y="1524"/>
                  </a:lnTo>
                  <a:lnTo>
                    <a:pt x="416064" y="0"/>
                  </a:lnTo>
                  <a:lnTo>
                    <a:pt x="413016" y="762"/>
                  </a:lnTo>
                  <a:lnTo>
                    <a:pt x="410730" y="3048"/>
                  </a:lnTo>
                  <a:lnTo>
                    <a:pt x="277471" y="128778"/>
                  </a:lnTo>
                  <a:lnTo>
                    <a:pt x="281190" y="128778"/>
                  </a:lnTo>
                  <a:lnTo>
                    <a:pt x="281190" y="144018"/>
                  </a:lnTo>
                  <a:lnTo>
                    <a:pt x="283463" y="144018"/>
                  </a:lnTo>
                  <a:lnTo>
                    <a:pt x="285750" y="143256"/>
                  </a:lnTo>
                  <a:lnTo>
                    <a:pt x="287273" y="142494"/>
                  </a:lnTo>
                  <a:lnTo>
                    <a:pt x="412254" y="23194"/>
                  </a:lnTo>
                  <a:lnTo>
                    <a:pt x="412254" y="16001"/>
                  </a:lnTo>
                  <a:lnTo>
                    <a:pt x="421385" y="14478"/>
                  </a:lnTo>
                  <a:lnTo>
                    <a:pt x="421385" y="20202"/>
                  </a:lnTo>
                  <a:lnTo>
                    <a:pt x="688860" y="143256"/>
                  </a:lnTo>
                  <a:lnTo>
                    <a:pt x="689609" y="144018"/>
                  </a:lnTo>
                  <a:lnTo>
                    <a:pt x="691908" y="144018"/>
                  </a:lnTo>
                  <a:lnTo>
                    <a:pt x="691908" y="128778"/>
                  </a:lnTo>
                  <a:lnTo>
                    <a:pt x="694072" y="128778"/>
                  </a:lnTo>
                  <a:close/>
                </a:path>
                <a:path w="1659254" h="565150">
                  <a:moveTo>
                    <a:pt x="421385" y="14478"/>
                  </a:moveTo>
                  <a:lnTo>
                    <a:pt x="412254" y="16001"/>
                  </a:lnTo>
                  <a:lnTo>
                    <a:pt x="417338" y="18341"/>
                  </a:lnTo>
                  <a:lnTo>
                    <a:pt x="421385" y="14478"/>
                  </a:lnTo>
                  <a:close/>
                </a:path>
                <a:path w="1659254" h="565150">
                  <a:moveTo>
                    <a:pt x="417338" y="18341"/>
                  </a:moveTo>
                  <a:lnTo>
                    <a:pt x="412254" y="16001"/>
                  </a:lnTo>
                  <a:lnTo>
                    <a:pt x="412254" y="23194"/>
                  </a:lnTo>
                  <a:lnTo>
                    <a:pt x="417338" y="18341"/>
                  </a:lnTo>
                  <a:close/>
                </a:path>
                <a:path w="1659254" h="565150">
                  <a:moveTo>
                    <a:pt x="421385" y="20202"/>
                  </a:moveTo>
                  <a:lnTo>
                    <a:pt x="421385" y="14478"/>
                  </a:lnTo>
                  <a:lnTo>
                    <a:pt x="417338" y="18341"/>
                  </a:lnTo>
                  <a:lnTo>
                    <a:pt x="421385" y="20202"/>
                  </a:lnTo>
                  <a:close/>
                </a:path>
                <a:path w="1659254" h="565150">
                  <a:moveTo>
                    <a:pt x="695718" y="129540"/>
                  </a:moveTo>
                  <a:lnTo>
                    <a:pt x="694072" y="128778"/>
                  </a:lnTo>
                  <a:lnTo>
                    <a:pt x="691908" y="128778"/>
                  </a:lnTo>
                  <a:lnTo>
                    <a:pt x="695718" y="129540"/>
                  </a:lnTo>
                  <a:close/>
                </a:path>
                <a:path w="1659254" h="565150">
                  <a:moveTo>
                    <a:pt x="695718" y="144018"/>
                  </a:moveTo>
                  <a:lnTo>
                    <a:pt x="695718" y="129540"/>
                  </a:lnTo>
                  <a:lnTo>
                    <a:pt x="691908" y="128778"/>
                  </a:lnTo>
                  <a:lnTo>
                    <a:pt x="691908" y="144018"/>
                  </a:lnTo>
                  <a:lnTo>
                    <a:pt x="695718" y="144018"/>
                  </a:lnTo>
                  <a:close/>
                </a:path>
                <a:path w="1659254" h="565150">
                  <a:moveTo>
                    <a:pt x="1658873" y="564642"/>
                  </a:moveTo>
                  <a:lnTo>
                    <a:pt x="1658873" y="238506"/>
                  </a:lnTo>
                  <a:lnTo>
                    <a:pt x="1658111" y="227075"/>
                  </a:lnTo>
                  <a:lnTo>
                    <a:pt x="1640965" y="178977"/>
                  </a:lnTo>
                  <a:lnTo>
                    <a:pt x="1600961" y="141732"/>
                  </a:lnTo>
                  <a:lnTo>
                    <a:pt x="1559064" y="128778"/>
                  </a:lnTo>
                  <a:lnTo>
                    <a:pt x="694072" y="128778"/>
                  </a:lnTo>
                  <a:lnTo>
                    <a:pt x="695718" y="129540"/>
                  </a:lnTo>
                  <a:lnTo>
                    <a:pt x="695718" y="144018"/>
                  </a:lnTo>
                  <a:lnTo>
                    <a:pt x="1548383" y="144018"/>
                  </a:lnTo>
                  <a:lnTo>
                    <a:pt x="1558302" y="144780"/>
                  </a:lnTo>
                  <a:lnTo>
                    <a:pt x="1601723" y="160782"/>
                  </a:lnTo>
                  <a:lnTo>
                    <a:pt x="1632652" y="196256"/>
                  </a:lnTo>
                  <a:lnTo>
                    <a:pt x="1642884" y="239268"/>
                  </a:lnTo>
                  <a:lnTo>
                    <a:pt x="1642884" y="564642"/>
                  </a:lnTo>
                  <a:lnTo>
                    <a:pt x="1658873" y="564642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A3F8900-42A2-E4A9-B0E6-E7A504B99B7F}"/>
                </a:ext>
              </a:extLst>
            </p:cNvPr>
            <p:cNvSpPr/>
            <p:nvPr/>
          </p:nvSpPr>
          <p:spPr>
            <a:xfrm>
              <a:off x="1703717" y="6349746"/>
              <a:ext cx="6976871" cy="25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BAA9534-7245-81E7-2391-2A793F291334}"/>
                </a:ext>
              </a:extLst>
            </p:cNvPr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F32540F-3C90-9512-AF56-787891FD42E9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2967E63-F12D-B538-1384-4B0005AF609A}"/>
                </a:ext>
              </a:extLst>
            </p:cNvPr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31536E6C-8ADC-3D47-80E7-357BB36ED0BB}"/>
                </a:ext>
              </a:extLst>
            </p:cNvPr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1CCC7A78-6C89-FC16-5E5F-ED66807D405F}"/>
                </a:ext>
              </a:extLst>
            </p:cNvPr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CD1E21E-C3F3-8F49-69A6-05B286F9AEE6}"/>
                </a:ext>
              </a:extLst>
            </p:cNvPr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5BD776B8-E596-2CB6-DBF1-68120915B553}"/>
                </a:ext>
              </a:extLst>
            </p:cNvPr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498BB54-68AF-31A5-241C-C9D4F9F44D57}"/>
                </a:ext>
              </a:extLst>
            </p:cNvPr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4B6D74B-9908-A2FD-7DDD-59B6D933C1C5}"/>
                </a:ext>
              </a:extLst>
            </p:cNvPr>
            <p:cNvSpPr/>
            <p:nvPr/>
          </p:nvSpPr>
          <p:spPr>
            <a:xfrm>
              <a:off x="7321445" y="5899486"/>
              <a:ext cx="1643380" cy="184785"/>
            </a:xfrm>
            <a:custGeom>
              <a:avLst/>
              <a:gdLst/>
              <a:ahLst/>
              <a:cxnLst/>
              <a:rect l="l" t="t" r="r" b="b"/>
              <a:pathLst>
                <a:path w="1643379" h="184784">
                  <a:moveTo>
                    <a:pt x="1642871" y="82295"/>
                  </a:moveTo>
                  <a:lnTo>
                    <a:pt x="1642871" y="0"/>
                  </a:lnTo>
                  <a:lnTo>
                    <a:pt x="0" y="0"/>
                  </a:lnTo>
                  <a:lnTo>
                    <a:pt x="0" y="82295"/>
                  </a:lnTo>
                  <a:lnTo>
                    <a:pt x="8024" y="122039"/>
                  </a:lnTo>
                  <a:lnTo>
                    <a:pt x="29908" y="154495"/>
                  </a:lnTo>
                  <a:lnTo>
                    <a:pt x="62364" y="176379"/>
                  </a:lnTo>
                  <a:lnTo>
                    <a:pt x="102107" y="184404"/>
                  </a:lnTo>
                  <a:lnTo>
                    <a:pt x="1540751" y="184404"/>
                  </a:lnTo>
                  <a:lnTo>
                    <a:pt x="1580501" y="176379"/>
                  </a:lnTo>
                  <a:lnTo>
                    <a:pt x="1612961" y="154495"/>
                  </a:lnTo>
                  <a:lnTo>
                    <a:pt x="1634846" y="122039"/>
                  </a:lnTo>
                  <a:lnTo>
                    <a:pt x="1642871" y="8229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F02E2C0-BEE1-6D51-20C0-AF652A014168}"/>
                </a:ext>
              </a:extLst>
            </p:cNvPr>
            <p:cNvSpPr/>
            <p:nvPr/>
          </p:nvSpPr>
          <p:spPr>
            <a:xfrm>
              <a:off x="7306686" y="5922922"/>
              <a:ext cx="1659255" cy="193040"/>
            </a:xfrm>
            <a:custGeom>
              <a:avLst/>
              <a:gdLst/>
              <a:ahLst/>
              <a:cxnLst/>
              <a:rect l="l" t="t" r="r" b="b"/>
              <a:pathLst>
                <a:path w="1659254" h="193040">
                  <a:moveTo>
                    <a:pt x="1658873" y="82295"/>
                  </a:moveTo>
                  <a:lnTo>
                    <a:pt x="1658873" y="0"/>
                  </a:lnTo>
                  <a:lnTo>
                    <a:pt x="1642884" y="0"/>
                  </a:lnTo>
                  <a:lnTo>
                    <a:pt x="1642884" y="82295"/>
                  </a:lnTo>
                  <a:lnTo>
                    <a:pt x="1642109" y="92201"/>
                  </a:lnTo>
                  <a:lnTo>
                    <a:pt x="1628852" y="131616"/>
                  </a:lnTo>
                  <a:lnTo>
                    <a:pt x="1594705" y="164612"/>
                  </a:lnTo>
                  <a:lnTo>
                    <a:pt x="1549158" y="176700"/>
                  </a:lnTo>
                  <a:lnTo>
                    <a:pt x="109740" y="176784"/>
                  </a:lnTo>
                  <a:lnTo>
                    <a:pt x="99834" y="176022"/>
                  </a:lnTo>
                  <a:lnTo>
                    <a:pt x="58734" y="161602"/>
                  </a:lnTo>
                  <a:lnTo>
                    <a:pt x="26682" y="127253"/>
                  </a:lnTo>
                  <a:lnTo>
                    <a:pt x="15252" y="82295"/>
                  </a:lnTo>
                  <a:lnTo>
                    <a:pt x="15252" y="0"/>
                  </a:lnTo>
                  <a:lnTo>
                    <a:pt x="0" y="0"/>
                  </a:lnTo>
                  <a:lnTo>
                    <a:pt x="0" y="93725"/>
                  </a:lnTo>
                  <a:lnTo>
                    <a:pt x="2285" y="105155"/>
                  </a:lnTo>
                  <a:lnTo>
                    <a:pt x="19050" y="144017"/>
                  </a:lnTo>
                  <a:lnTo>
                    <a:pt x="60662" y="180556"/>
                  </a:lnTo>
                  <a:lnTo>
                    <a:pt x="99059" y="192024"/>
                  </a:lnTo>
                  <a:lnTo>
                    <a:pt x="109740" y="192786"/>
                  </a:lnTo>
                  <a:lnTo>
                    <a:pt x="1549158" y="192786"/>
                  </a:lnTo>
                  <a:lnTo>
                    <a:pt x="1595996" y="181727"/>
                  </a:lnTo>
                  <a:lnTo>
                    <a:pt x="1638773" y="145252"/>
                  </a:lnTo>
                  <a:lnTo>
                    <a:pt x="1658111" y="92963"/>
                  </a:lnTo>
                  <a:lnTo>
                    <a:pt x="1658873" y="82295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50579355-6AAB-E3B2-EEE1-76E57A85C995}"/>
              </a:ext>
            </a:extLst>
          </p:cNvPr>
          <p:cNvSpPr txBox="1"/>
          <p:nvPr/>
        </p:nvSpPr>
        <p:spPr>
          <a:xfrm>
            <a:off x="7600188" y="5470667"/>
            <a:ext cx="1305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190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12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fully</a:t>
            </a:r>
            <a:r>
              <a:rPr kumimoji="0" sz="1200" b="0" i="0" u="none" strike="noStrike" kern="1200" cap="none" spc="-2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receiving  the</a:t>
            </a:r>
            <a:r>
              <a:rPr kumimoji="0" sz="1200" b="0" i="0" u="none" strike="noStrike" kern="1200" cap="none" spc="-1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frame,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node  </a:t>
            </a:r>
            <a:r>
              <a:rPr kumimoji="0" sz="12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can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set</a:t>
            </a:r>
            <a:r>
              <a:rPr kumimoji="0" sz="1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NAV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C5FFE4F-3B71-76F6-C584-311C425229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681459-20E6-2F1D-863E-6343CC2AC91E}"/>
              </a:ext>
            </a:extLst>
          </p:cNvPr>
          <p:cNvSpPr/>
          <p:nvPr/>
        </p:nvSpPr>
        <p:spPr>
          <a:xfrm>
            <a:off x="698500" y="5076825"/>
            <a:ext cx="8598548" cy="1237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238FBE1A-F47A-C055-E9E3-AF978F74422E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262792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053B81-1B0C-4493-A7BB-92B6E21B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C790B8-B10F-38A5-2B7E-1E8A4D16F965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BF28775-483A-A381-DA01-05BDFDC7CD55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7C6C660-851F-9100-2709-537CD3BACF2E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3876AF2-3A10-2A2B-0CED-183E501EF146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2ABEE5A-6FA5-8F7E-97FA-F28731A99C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8157" y="64643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DA21C36B-0E37-4F6B-B0CC-6CB7209FDC47}"/>
              </a:ext>
            </a:extLst>
          </p:cNvPr>
          <p:cNvGrpSpPr/>
          <p:nvPr/>
        </p:nvGrpSpPr>
        <p:grpSpPr>
          <a:xfrm>
            <a:off x="393700" y="1434699"/>
            <a:ext cx="9601582" cy="5635490"/>
            <a:chOff x="317639" y="1206246"/>
            <a:chExt cx="9601582" cy="6000877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337E70C-93A7-CEE5-4508-3F8D46A11BA7}"/>
                </a:ext>
              </a:extLst>
            </p:cNvPr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464CFB7-8DDB-A392-E87D-F9ED49405913}"/>
                </a:ext>
              </a:extLst>
            </p:cNvPr>
            <p:cNvSpPr/>
            <p:nvPr/>
          </p:nvSpPr>
          <p:spPr>
            <a:xfrm>
              <a:off x="317639" y="1721326"/>
              <a:ext cx="6976871" cy="47144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EB568FB-1A1E-A15B-0D4E-486A30C91923}"/>
                </a:ext>
              </a:extLst>
            </p:cNvPr>
            <p:cNvSpPr/>
            <p:nvPr/>
          </p:nvSpPr>
          <p:spPr>
            <a:xfrm>
              <a:off x="7321445" y="5325066"/>
              <a:ext cx="1643380" cy="555625"/>
            </a:xfrm>
            <a:custGeom>
              <a:avLst/>
              <a:gdLst/>
              <a:ahLst/>
              <a:cxnLst/>
              <a:rect l="l" t="t" r="r" b="b"/>
              <a:pathLst>
                <a:path w="1643379" h="555625">
                  <a:moveTo>
                    <a:pt x="1642871" y="555498"/>
                  </a:moveTo>
                  <a:lnTo>
                    <a:pt x="1642871" y="229362"/>
                  </a:lnTo>
                  <a:lnTo>
                    <a:pt x="1634846" y="189618"/>
                  </a:lnTo>
                  <a:lnTo>
                    <a:pt x="1612961" y="157162"/>
                  </a:lnTo>
                  <a:lnTo>
                    <a:pt x="1580501" y="135278"/>
                  </a:lnTo>
                  <a:lnTo>
                    <a:pt x="1540751" y="127253"/>
                  </a:lnTo>
                  <a:lnTo>
                    <a:pt x="684276" y="127253"/>
                  </a:lnTo>
                  <a:lnTo>
                    <a:pt x="408431" y="0"/>
                  </a:lnTo>
                  <a:lnTo>
                    <a:pt x="273557" y="127253"/>
                  </a:lnTo>
                  <a:lnTo>
                    <a:pt x="102107" y="127253"/>
                  </a:lnTo>
                  <a:lnTo>
                    <a:pt x="62364" y="135278"/>
                  </a:lnTo>
                  <a:lnTo>
                    <a:pt x="29908" y="157162"/>
                  </a:lnTo>
                  <a:lnTo>
                    <a:pt x="8024" y="189618"/>
                  </a:lnTo>
                  <a:lnTo>
                    <a:pt x="0" y="229362"/>
                  </a:lnTo>
                  <a:lnTo>
                    <a:pt x="0" y="555498"/>
                  </a:lnTo>
                  <a:lnTo>
                    <a:pt x="1642871" y="555498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00D17E7-FE75-EFBE-846B-2D25AB2AD12E}"/>
                </a:ext>
              </a:extLst>
            </p:cNvPr>
            <p:cNvSpPr/>
            <p:nvPr/>
          </p:nvSpPr>
          <p:spPr>
            <a:xfrm>
              <a:off x="7314069" y="5325192"/>
              <a:ext cx="1659255" cy="565150"/>
            </a:xfrm>
            <a:custGeom>
              <a:avLst/>
              <a:gdLst/>
              <a:ahLst/>
              <a:cxnLst/>
              <a:rect l="l" t="t" r="r" b="b"/>
              <a:pathLst>
                <a:path w="1659254" h="565150">
                  <a:moveTo>
                    <a:pt x="277471" y="128778"/>
                  </a:moveTo>
                  <a:lnTo>
                    <a:pt x="98297" y="128778"/>
                  </a:lnTo>
                  <a:lnTo>
                    <a:pt x="86880" y="131063"/>
                  </a:lnTo>
                  <a:lnTo>
                    <a:pt x="48018" y="147828"/>
                  </a:lnTo>
                  <a:lnTo>
                    <a:pt x="18266" y="177796"/>
                  </a:lnTo>
                  <a:lnTo>
                    <a:pt x="1543" y="217155"/>
                  </a:lnTo>
                  <a:lnTo>
                    <a:pt x="0" y="238506"/>
                  </a:lnTo>
                  <a:lnTo>
                    <a:pt x="0" y="564642"/>
                  </a:lnTo>
                  <a:lnTo>
                    <a:pt x="15252" y="564642"/>
                  </a:lnTo>
                  <a:lnTo>
                    <a:pt x="15252" y="238506"/>
                  </a:lnTo>
                  <a:lnTo>
                    <a:pt x="26534" y="194531"/>
                  </a:lnTo>
                  <a:lnTo>
                    <a:pt x="49120" y="165929"/>
                  </a:lnTo>
                  <a:lnTo>
                    <a:pt x="80496" y="149609"/>
                  </a:lnTo>
                  <a:lnTo>
                    <a:pt x="118146" y="142479"/>
                  </a:lnTo>
                  <a:lnTo>
                    <a:pt x="159556" y="141447"/>
                  </a:lnTo>
                  <a:lnTo>
                    <a:pt x="202209" y="143420"/>
                  </a:lnTo>
                  <a:lnTo>
                    <a:pt x="243593" y="145308"/>
                  </a:lnTo>
                  <a:lnTo>
                    <a:pt x="275856" y="144201"/>
                  </a:lnTo>
                  <a:lnTo>
                    <a:pt x="275856" y="130301"/>
                  </a:lnTo>
                  <a:lnTo>
                    <a:pt x="277471" y="128778"/>
                  </a:lnTo>
                  <a:close/>
                </a:path>
                <a:path w="1659254" h="565150">
                  <a:moveTo>
                    <a:pt x="281190" y="128778"/>
                  </a:moveTo>
                  <a:lnTo>
                    <a:pt x="277471" y="128778"/>
                  </a:lnTo>
                  <a:lnTo>
                    <a:pt x="275856" y="130301"/>
                  </a:lnTo>
                  <a:lnTo>
                    <a:pt x="281190" y="128778"/>
                  </a:lnTo>
                  <a:close/>
                </a:path>
                <a:path w="1659254" h="565150">
                  <a:moveTo>
                    <a:pt x="281190" y="144018"/>
                  </a:moveTo>
                  <a:lnTo>
                    <a:pt x="281190" y="128778"/>
                  </a:lnTo>
                  <a:lnTo>
                    <a:pt x="275856" y="130301"/>
                  </a:lnTo>
                  <a:lnTo>
                    <a:pt x="275856" y="144201"/>
                  </a:lnTo>
                  <a:lnTo>
                    <a:pt x="281190" y="144018"/>
                  </a:lnTo>
                  <a:close/>
                </a:path>
                <a:path w="1659254" h="565150">
                  <a:moveTo>
                    <a:pt x="694072" y="128778"/>
                  </a:moveTo>
                  <a:lnTo>
                    <a:pt x="419100" y="1524"/>
                  </a:lnTo>
                  <a:lnTo>
                    <a:pt x="416064" y="0"/>
                  </a:lnTo>
                  <a:lnTo>
                    <a:pt x="413016" y="762"/>
                  </a:lnTo>
                  <a:lnTo>
                    <a:pt x="410730" y="3048"/>
                  </a:lnTo>
                  <a:lnTo>
                    <a:pt x="277471" y="128778"/>
                  </a:lnTo>
                  <a:lnTo>
                    <a:pt x="281190" y="128778"/>
                  </a:lnTo>
                  <a:lnTo>
                    <a:pt x="281190" y="144018"/>
                  </a:lnTo>
                  <a:lnTo>
                    <a:pt x="283463" y="144018"/>
                  </a:lnTo>
                  <a:lnTo>
                    <a:pt x="285750" y="143256"/>
                  </a:lnTo>
                  <a:lnTo>
                    <a:pt x="287273" y="142494"/>
                  </a:lnTo>
                  <a:lnTo>
                    <a:pt x="412254" y="23194"/>
                  </a:lnTo>
                  <a:lnTo>
                    <a:pt x="412254" y="16001"/>
                  </a:lnTo>
                  <a:lnTo>
                    <a:pt x="421385" y="14478"/>
                  </a:lnTo>
                  <a:lnTo>
                    <a:pt x="421385" y="20202"/>
                  </a:lnTo>
                  <a:lnTo>
                    <a:pt x="688860" y="143256"/>
                  </a:lnTo>
                  <a:lnTo>
                    <a:pt x="689609" y="144018"/>
                  </a:lnTo>
                  <a:lnTo>
                    <a:pt x="691908" y="144018"/>
                  </a:lnTo>
                  <a:lnTo>
                    <a:pt x="691908" y="128778"/>
                  </a:lnTo>
                  <a:lnTo>
                    <a:pt x="694072" y="128778"/>
                  </a:lnTo>
                  <a:close/>
                </a:path>
                <a:path w="1659254" h="565150">
                  <a:moveTo>
                    <a:pt x="421385" y="14478"/>
                  </a:moveTo>
                  <a:lnTo>
                    <a:pt x="412254" y="16001"/>
                  </a:lnTo>
                  <a:lnTo>
                    <a:pt x="417338" y="18341"/>
                  </a:lnTo>
                  <a:lnTo>
                    <a:pt x="421385" y="14478"/>
                  </a:lnTo>
                  <a:close/>
                </a:path>
                <a:path w="1659254" h="565150">
                  <a:moveTo>
                    <a:pt x="417338" y="18341"/>
                  </a:moveTo>
                  <a:lnTo>
                    <a:pt x="412254" y="16001"/>
                  </a:lnTo>
                  <a:lnTo>
                    <a:pt x="412254" y="23194"/>
                  </a:lnTo>
                  <a:lnTo>
                    <a:pt x="417338" y="18341"/>
                  </a:lnTo>
                  <a:close/>
                </a:path>
                <a:path w="1659254" h="565150">
                  <a:moveTo>
                    <a:pt x="421385" y="20202"/>
                  </a:moveTo>
                  <a:lnTo>
                    <a:pt x="421385" y="14478"/>
                  </a:lnTo>
                  <a:lnTo>
                    <a:pt x="417338" y="18341"/>
                  </a:lnTo>
                  <a:lnTo>
                    <a:pt x="421385" y="20202"/>
                  </a:lnTo>
                  <a:close/>
                </a:path>
                <a:path w="1659254" h="565150">
                  <a:moveTo>
                    <a:pt x="695718" y="129540"/>
                  </a:moveTo>
                  <a:lnTo>
                    <a:pt x="694072" y="128778"/>
                  </a:lnTo>
                  <a:lnTo>
                    <a:pt x="691908" y="128778"/>
                  </a:lnTo>
                  <a:lnTo>
                    <a:pt x="695718" y="129540"/>
                  </a:lnTo>
                  <a:close/>
                </a:path>
                <a:path w="1659254" h="565150">
                  <a:moveTo>
                    <a:pt x="695718" y="144018"/>
                  </a:moveTo>
                  <a:lnTo>
                    <a:pt x="695718" y="129540"/>
                  </a:lnTo>
                  <a:lnTo>
                    <a:pt x="691908" y="128778"/>
                  </a:lnTo>
                  <a:lnTo>
                    <a:pt x="691908" y="144018"/>
                  </a:lnTo>
                  <a:lnTo>
                    <a:pt x="695718" y="144018"/>
                  </a:lnTo>
                  <a:close/>
                </a:path>
                <a:path w="1659254" h="565150">
                  <a:moveTo>
                    <a:pt x="1658873" y="564642"/>
                  </a:moveTo>
                  <a:lnTo>
                    <a:pt x="1658873" y="238506"/>
                  </a:lnTo>
                  <a:lnTo>
                    <a:pt x="1658111" y="227075"/>
                  </a:lnTo>
                  <a:lnTo>
                    <a:pt x="1640965" y="178977"/>
                  </a:lnTo>
                  <a:lnTo>
                    <a:pt x="1600961" y="141732"/>
                  </a:lnTo>
                  <a:lnTo>
                    <a:pt x="1559064" y="128778"/>
                  </a:lnTo>
                  <a:lnTo>
                    <a:pt x="694072" y="128778"/>
                  </a:lnTo>
                  <a:lnTo>
                    <a:pt x="695718" y="129540"/>
                  </a:lnTo>
                  <a:lnTo>
                    <a:pt x="695718" y="144018"/>
                  </a:lnTo>
                  <a:lnTo>
                    <a:pt x="1548383" y="144018"/>
                  </a:lnTo>
                  <a:lnTo>
                    <a:pt x="1558302" y="144780"/>
                  </a:lnTo>
                  <a:lnTo>
                    <a:pt x="1601723" y="160782"/>
                  </a:lnTo>
                  <a:lnTo>
                    <a:pt x="1632652" y="196256"/>
                  </a:lnTo>
                  <a:lnTo>
                    <a:pt x="1642884" y="239268"/>
                  </a:lnTo>
                  <a:lnTo>
                    <a:pt x="1642884" y="564642"/>
                  </a:lnTo>
                  <a:lnTo>
                    <a:pt x="1658873" y="564642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36C8246-E823-FD68-DE06-240800804E7D}"/>
                </a:ext>
              </a:extLst>
            </p:cNvPr>
            <p:cNvSpPr/>
            <p:nvPr/>
          </p:nvSpPr>
          <p:spPr>
            <a:xfrm>
              <a:off x="1703717" y="6349746"/>
              <a:ext cx="6976871" cy="25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CE88684-2B87-08D0-EBEE-0412C1F6A4C2}"/>
                </a:ext>
              </a:extLst>
            </p:cNvPr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62338A1-07C0-3192-ED6A-D55D9963C09A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E0808CA-70FE-7F96-7B3C-1B787E74CAF1}"/>
                </a:ext>
              </a:extLst>
            </p:cNvPr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10D9ED5-DCF9-AB7E-63E4-5A1DCE13DB19}"/>
                </a:ext>
              </a:extLst>
            </p:cNvPr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A16C8540-90C4-EA05-80D1-2F7FF13BF795}"/>
                </a:ext>
              </a:extLst>
            </p:cNvPr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6AB88C9-C5ED-D764-DB2C-CEC7D890A15A}"/>
                </a:ext>
              </a:extLst>
            </p:cNvPr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128678A4-7BD4-DF9D-5BDB-2AD6D1B9935B}"/>
                </a:ext>
              </a:extLst>
            </p:cNvPr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24F7091C-5F5A-6DC6-A454-027F58DC1C8F}"/>
                </a:ext>
              </a:extLst>
            </p:cNvPr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CDF0FC1-D88C-EAB5-F66F-F9CC39B1CD67}"/>
                </a:ext>
              </a:extLst>
            </p:cNvPr>
            <p:cNvSpPr/>
            <p:nvPr/>
          </p:nvSpPr>
          <p:spPr>
            <a:xfrm>
              <a:off x="7321445" y="5899486"/>
              <a:ext cx="1643380" cy="184785"/>
            </a:xfrm>
            <a:custGeom>
              <a:avLst/>
              <a:gdLst/>
              <a:ahLst/>
              <a:cxnLst/>
              <a:rect l="l" t="t" r="r" b="b"/>
              <a:pathLst>
                <a:path w="1643379" h="184784">
                  <a:moveTo>
                    <a:pt x="1642871" y="82295"/>
                  </a:moveTo>
                  <a:lnTo>
                    <a:pt x="1642871" y="0"/>
                  </a:lnTo>
                  <a:lnTo>
                    <a:pt x="0" y="0"/>
                  </a:lnTo>
                  <a:lnTo>
                    <a:pt x="0" y="82295"/>
                  </a:lnTo>
                  <a:lnTo>
                    <a:pt x="8024" y="122039"/>
                  </a:lnTo>
                  <a:lnTo>
                    <a:pt x="29908" y="154495"/>
                  </a:lnTo>
                  <a:lnTo>
                    <a:pt x="62364" y="176379"/>
                  </a:lnTo>
                  <a:lnTo>
                    <a:pt x="102107" y="184404"/>
                  </a:lnTo>
                  <a:lnTo>
                    <a:pt x="1540751" y="184404"/>
                  </a:lnTo>
                  <a:lnTo>
                    <a:pt x="1580501" y="176379"/>
                  </a:lnTo>
                  <a:lnTo>
                    <a:pt x="1612961" y="154495"/>
                  </a:lnTo>
                  <a:lnTo>
                    <a:pt x="1634846" y="122039"/>
                  </a:lnTo>
                  <a:lnTo>
                    <a:pt x="1642871" y="8229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129A6CB7-1797-D884-FCEB-150F98173D3C}"/>
                </a:ext>
              </a:extLst>
            </p:cNvPr>
            <p:cNvSpPr/>
            <p:nvPr/>
          </p:nvSpPr>
          <p:spPr>
            <a:xfrm>
              <a:off x="7306686" y="5922922"/>
              <a:ext cx="1659255" cy="193040"/>
            </a:xfrm>
            <a:custGeom>
              <a:avLst/>
              <a:gdLst/>
              <a:ahLst/>
              <a:cxnLst/>
              <a:rect l="l" t="t" r="r" b="b"/>
              <a:pathLst>
                <a:path w="1659254" h="193040">
                  <a:moveTo>
                    <a:pt x="1658873" y="82295"/>
                  </a:moveTo>
                  <a:lnTo>
                    <a:pt x="1658873" y="0"/>
                  </a:lnTo>
                  <a:lnTo>
                    <a:pt x="1642884" y="0"/>
                  </a:lnTo>
                  <a:lnTo>
                    <a:pt x="1642884" y="82295"/>
                  </a:lnTo>
                  <a:lnTo>
                    <a:pt x="1642109" y="92201"/>
                  </a:lnTo>
                  <a:lnTo>
                    <a:pt x="1628852" y="131616"/>
                  </a:lnTo>
                  <a:lnTo>
                    <a:pt x="1594705" y="164612"/>
                  </a:lnTo>
                  <a:lnTo>
                    <a:pt x="1549158" y="176700"/>
                  </a:lnTo>
                  <a:lnTo>
                    <a:pt x="109740" y="176784"/>
                  </a:lnTo>
                  <a:lnTo>
                    <a:pt x="99834" y="176022"/>
                  </a:lnTo>
                  <a:lnTo>
                    <a:pt x="58734" y="161602"/>
                  </a:lnTo>
                  <a:lnTo>
                    <a:pt x="26682" y="127253"/>
                  </a:lnTo>
                  <a:lnTo>
                    <a:pt x="15252" y="82295"/>
                  </a:lnTo>
                  <a:lnTo>
                    <a:pt x="15252" y="0"/>
                  </a:lnTo>
                  <a:lnTo>
                    <a:pt x="0" y="0"/>
                  </a:lnTo>
                  <a:lnTo>
                    <a:pt x="0" y="93725"/>
                  </a:lnTo>
                  <a:lnTo>
                    <a:pt x="2285" y="105155"/>
                  </a:lnTo>
                  <a:lnTo>
                    <a:pt x="19050" y="144017"/>
                  </a:lnTo>
                  <a:lnTo>
                    <a:pt x="60662" y="180556"/>
                  </a:lnTo>
                  <a:lnTo>
                    <a:pt x="99059" y="192024"/>
                  </a:lnTo>
                  <a:lnTo>
                    <a:pt x="109740" y="192786"/>
                  </a:lnTo>
                  <a:lnTo>
                    <a:pt x="1549158" y="192786"/>
                  </a:lnTo>
                  <a:lnTo>
                    <a:pt x="1595996" y="181727"/>
                  </a:lnTo>
                  <a:lnTo>
                    <a:pt x="1638773" y="145252"/>
                  </a:lnTo>
                  <a:lnTo>
                    <a:pt x="1658111" y="92963"/>
                  </a:lnTo>
                  <a:lnTo>
                    <a:pt x="1658873" y="82295"/>
                  </a:lnTo>
                  <a:close/>
                </a:path>
              </a:pathLst>
            </a:custGeom>
            <a:solidFill>
              <a:srgbClr val="A4272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DA02568C-0FA5-3311-47BB-6DDE6607F22B}"/>
              </a:ext>
            </a:extLst>
          </p:cNvPr>
          <p:cNvSpPr txBox="1"/>
          <p:nvPr/>
        </p:nvSpPr>
        <p:spPr>
          <a:xfrm>
            <a:off x="7600188" y="5470667"/>
            <a:ext cx="1305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190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12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fully</a:t>
            </a:r>
            <a:r>
              <a:rPr kumimoji="0" sz="1200" b="0" i="0" u="none" strike="noStrike" kern="1200" cap="none" spc="-2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receiving  the</a:t>
            </a:r>
            <a:r>
              <a:rPr kumimoji="0" sz="1200" b="0" i="0" u="none" strike="noStrike" kern="1200" cap="none" spc="-1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frame,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2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node  </a:t>
            </a:r>
            <a:r>
              <a:rPr kumimoji="0" sz="12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can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set</a:t>
            </a:r>
            <a:r>
              <a:rPr kumimoji="0" sz="1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NAV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EB14E16-9034-30A4-BAB8-CA9B3BBD4B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BBC815AE-8BF0-F387-0A0F-75A081BADDA3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2278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8157" y="64643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7743825" cy="306324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marR="701675" lvl="0" indent="-342900" algn="l" defTabSz="914400" rtl="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called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12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Clear</a:t>
            </a:r>
            <a:r>
              <a:rPr kumimoji="0" sz="2400" b="1" i="0" u="none" strike="noStrike" kern="1200" cap="none" spc="-2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1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 </a:t>
            </a:r>
            <a:r>
              <a:rPr kumimoji="0" sz="2400" b="1" i="0" u="none" strike="noStrike" kern="1200" cap="none" spc="-7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Assessment</a:t>
            </a:r>
            <a:r>
              <a:rPr kumimoji="0" sz="2400" b="1" i="0" u="none" strike="noStrike" kern="1200" cap="none" spc="-19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1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(CCA)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545465" lvl="1" indent="-285750" algn="l" defTabSz="914400" rtl="0" eaLnBrk="1" fontAlgn="auto" latinLnBrk="0" hangingPunct="1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power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threshold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(‐82dBm,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possibly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implementation  dependent).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5080" lvl="1" indent="-285750" algn="l" defTabSz="914400" rtl="0" eaLnBrk="1" fontAlgn="auto" latinLnBrk="0" hangingPunct="1">
              <a:lnSpc>
                <a:spcPts val="1920"/>
              </a:lnSpc>
              <a:spcBef>
                <a:spcPts val="459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</a:t>
            </a:r>
            <a:r>
              <a:rPr kumimoji="0" sz="20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detects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signal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power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larger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threshold,  the</a:t>
            </a:r>
            <a:r>
              <a:rPr kumimoji="0" sz="20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radio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assumed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2390"/>
              </a:lnSpc>
              <a:spcBef>
                <a:spcPts val="2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Otherwise</a:t>
            </a:r>
            <a:r>
              <a:rPr kumimoji="0" sz="20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There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different</a:t>
            </a:r>
            <a:r>
              <a:rPr kumimoji="0" sz="24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variants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CCA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(see</a:t>
            </a:r>
            <a:r>
              <a:rPr kumimoji="0" sz="24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previous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Fig.)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Ordinary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noise</a:t>
            </a:r>
            <a:r>
              <a:rPr kumimoji="0" sz="2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detection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Only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signals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D73624-788B-467A-8D23-7B0A946EB7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DEE1A2A7-916D-B0A0-6E4F-06A4F0424166}"/>
              </a:ext>
            </a:extLst>
          </p:cNvPr>
          <p:cNvSpPr txBox="1">
            <a:spLocks/>
          </p:cNvSpPr>
          <p:nvPr/>
        </p:nvSpPr>
        <p:spPr>
          <a:xfrm>
            <a:off x="2686831" y="637922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91760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8030" y="477520"/>
            <a:ext cx="4117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Listen </a:t>
            </a:r>
            <a:r>
              <a:rPr sz="4400" spc="-135" dirty="0"/>
              <a:t>Before</a:t>
            </a:r>
            <a:r>
              <a:rPr sz="4400" spc="-1130" dirty="0"/>
              <a:t> </a:t>
            </a:r>
            <a:r>
              <a:rPr sz="4400" spc="-240" dirty="0"/>
              <a:t>Talk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2920758"/>
            <a:ext cx="9144000" cy="2571750"/>
          </a:xfrm>
          <a:custGeom>
            <a:avLst/>
            <a:gdLst/>
            <a:ahLst/>
            <a:cxnLst/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02384"/>
            <a:ext cx="7905750" cy="44145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4965" marR="486409" lvl="0" indent="-342900" algn="l" defTabSz="914400" rtl="0" eaLnBrk="1" fontAlgn="auto" latinLnBrk="0" hangingPunct="1">
              <a:lnSpc>
                <a:spcPct val="80000"/>
              </a:lnSpc>
              <a:spcBef>
                <a:spcPts val="82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Network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Allocation </a:t>
            </a:r>
            <a:r>
              <a:rPr kumimoji="0" sz="3000" b="0" i="0" u="none" strike="noStrike" kern="1200" cap="none" spc="-1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Vector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(NAV)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3000" b="0" i="0" u="heavy" strike="noStrike" kern="1200" cap="none" spc="-6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an  </a:t>
            </a:r>
            <a:r>
              <a:rPr kumimoji="0" sz="3000" b="0" i="0" u="heavy" strike="noStrike" kern="1200" cap="none" spc="-8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addition</a:t>
            </a:r>
            <a:r>
              <a:rPr kumimoji="0" sz="3000" b="0" i="0" u="heavy" strike="noStrike" kern="1200" cap="none" spc="-26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heavy" strike="noStrike" kern="1200" cap="none" spc="-3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to</a:t>
            </a:r>
            <a:r>
              <a:rPr kumimoji="0" sz="3000" b="0" i="0" u="heavy" strike="noStrike" kern="1200" cap="none" spc="-25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heavy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heavy" strike="noStrike" kern="1200" cap="none" spc="-25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heavy" strike="noStrike" kern="1200" cap="none" spc="-1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physical</a:t>
            </a:r>
            <a:r>
              <a:rPr kumimoji="0" sz="3000" b="1" i="0" u="heavy" strike="noStrike" kern="1200" cap="none" spc="-27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heavy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rebuchet MS"/>
                <a:ea typeface="+mn-ea"/>
                <a:cs typeface="Trebuchet MS"/>
              </a:rPr>
              <a:t>sensing</a:t>
            </a:r>
            <a:r>
              <a:rPr kumimoji="0" sz="3000" b="1" i="0" u="none" strike="noStrike" kern="1200" cap="none" spc="-24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radio 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14604" lvl="0" indent="-342900" algn="l" defTabSz="914400" rtl="0" eaLnBrk="1" fontAlgn="auto" latinLnBrk="0" hangingPunct="1">
              <a:lnSpc>
                <a:spcPts val="2880"/>
              </a:lnSpc>
              <a:spcBef>
                <a:spcPts val="695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referred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none" strike="noStrike" kern="1200" cap="none" spc="-13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virtual</a:t>
            </a:r>
            <a:r>
              <a:rPr kumimoji="0" sz="3000" b="1" i="0" u="none" strike="noStrike" kern="1200" cap="none" spc="-25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none" strike="noStrike" kern="1200" cap="none" spc="-1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carrier</a:t>
            </a:r>
            <a:r>
              <a:rPr kumimoji="0" sz="3000" b="1" i="0" u="none" strike="noStrike" kern="1200" cap="none" spc="-26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</a:t>
            </a:r>
            <a:r>
              <a:rPr kumimoji="0" sz="3000" b="1" i="0" u="none" strike="noStrike" kern="1200" cap="none" spc="-24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fact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has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 </a:t>
            </a:r>
            <a:r>
              <a:rPr kumimoji="0" sz="3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reserving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some</a:t>
            </a:r>
            <a:r>
              <a:rPr kumimoji="0" sz="30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64769" lvl="0" indent="-342900" algn="l" defTabSz="914400" rtl="0" eaLnBrk="1" fontAlgn="auto" latinLnBrk="0" hangingPunct="1">
              <a:lnSpc>
                <a:spcPts val="2880"/>
              </a:lnSpc>
              <a:spcBef>
                <a:spcPts val="72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timer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which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decrements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irrespectively</a:t>
            </a:r>
            <a:r>
              <a:rPr kumimoji="0" sz="3000" b="0" i="0" u="none" strike="noStrike" kern="1200" cap="none" spc="-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 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status</a:t>
            </a:r>
            <a:r>
              <a:rPr kumimoji="0" sz="30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ct val="80000"/>
              </a:lnSpc>
              <a:spcBef>
                <a:spcPts val="745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NAV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set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or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CCA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sensed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radio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 </a:t>
            </a:r>
            <a:r>
              <a:rPr kumimoji="0" sz="30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being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busy,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 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allowed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3000" b="0" i="0" u="none" strike="noStrike" kern="1200" cap="none" spc="-1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initiate</a:t>
            </a:r>
            <a:r>
              <a:rPr kumimoji="0" sz="3000" b="0" i="0" u="none" strike="noStrike" kern="1200" cap="none" spc="-7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transmissions.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76EDFAE-2478-474D-A4B1-3E2BCE54BB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23A52918-423F-0FA9-2BD0-81EE9E2E53EF}"/>
              </a:ext>
            </a:extLst>
          </p:cNvPr>
          <p:cNvSpPr txBox="1">
            <a:spLocks/>
          </p:cNvSpPr>
          <p:nvPr/>
        </p:nvSpPr>
        <p:spPr>
          <a:xfrm>
            <a:off x="2679700" y="534620"/>
            <a:ext cx="5572743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07393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151258"/>
            <a:ext cx="8686800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796414" marR="5080" indent="-1400175">
              <a:lnSpc>
                <a:spcPct val="100000"/>
              </a:lnSpc>
              <a:spcBef>
                <a:spcPts val="100"/>
              </a:spcBef>
            </a:pPr>
            <a:r>
              <a:rPr lang="en-US" spc="-25" dirty="0"/>
              <a:t>802.11 </a:t>
            </a:r>
            <a:r>
              <a:rPr spc="-25" dirty="0"/>
              <a:t>Medium</a:t>
            </a:r>
            <a:r>
              <a:rPr spc="-565" dirty="0"/>
              <a:t> </a:t>
            </a:r>
            <a:r>
              <a:rPr spc="-85" dirty="0"/>
              <a:t>Access</a:t>
            </a:r>
            <a:r>
              <a:rPr spc="-550" dirty="0"/>
              <a:t> </a:t>
            </a:r>
            <a:r>
              <a:rPr spc="-110" dirty="0"/>
              <a:t>Control  </a:t>
            </a:r>
            <a:r>
              <a:rPr spc="-105" dirty="0"/>
              <a:t>Protocol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50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09242"/>
            <a:ext cx="8474837" cy="411433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marR="820419" lvl="0" indent="-342900" algn="l" defTabSz="914400" rtl="0" eaLnBrk="1" fontAlgn="auto" latinLnBrk="0" hangingPunct="1">
              <a:lnSpc>
                <a:spcPct val="80000"/>
              </a:lnSpc>
              <a:spcBef>
                <a:spcPts val="77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2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</a:t>
            </a:r>
            <a:r>
              <a:rPr kumimoji="0" sz="2800" b="0" i="0" u="none" strike="noStrike" kern="1200" cap="none" spc="-2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MAC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protocol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built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help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 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functions: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925830" marR="0" lvl="1" indent="-45720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583"/>
              <a:buFont typeface="+mj-lt"/>
              <a:buAutoNum type="arabicPeriod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DCF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traffic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without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QoS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(asynchronous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services)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926465" marR="579120" lvl="1" indent="-457200" algn="l" defTabSz="914400" rtl="0" eaLnBrk="1" fontAlgn="auto" latinLnBrk="0" hangingPunct="1">
              <a:lnSpc>
                <a:spcPct val="80000"/>
              </a:lnSpc>
              <a:spcBef>
                <a:spcPts val="575"/>
              </a:spcBef>
              <a:spcAft>
                <a:spcPts val="0"/>
              </a:spcAft>
              <a:buClr>
                <a:srgbClr val="F0A73C"/>
              </a:buClr>
              <a:buSzPct val="89583"/>
              <a:buFont typeface="+mj-lt"/>
              <a:buAutoNum type="arabicPeriod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PCF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traffic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5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QoS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requirements</a:t>
            </a:r>
            <a:r>
              <a:rPr kumimoji="0" sz="2400" b="0" i="0" u="none" strike="noStrike" kern="1200" cap="none" spc="-17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(synchronous 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services).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3345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800" b="0" i="0" u="none" strike="noStrike" kern="1200" cap="none" spc="-4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following,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583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We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discuss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(DCF)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583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infrastructure‐based</a:t>
            </a:r>
            <a:r>
              <a:rPr kumimoji="0" sz="24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BSS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ct val="80000"/>
              </a:lnSpc>
              <a:spcBef>
                <a:spcPts val="66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basic </a:t>
            </a:r>
            <a:r>
              <a:rPr kumimoji="0" sz="28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 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MAC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protocol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DCF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that 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works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8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8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1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listen‐before‐talk</a:t>
            </a:r>
            <a:r>
              <a:rPr kumimoji="0" sz="2800" b="1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scheme,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based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on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8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Carrier</a:t>
            </a:r>
            <a:r>
              <a:rPr kumimoji="0" sz="2800" b="0" i="0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Sense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Multiple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r>
              <a:rPr kumimoji="0" sz="2800" b="0" i="0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(CSMA)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CD25902-AF6A-4724-A960-5727D00B7D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8699ECFB-D436-AE05-5A33-8E971010A026}"/>
              </a:ext>
            </a:extLst>
          </p:cNvPr>
          <p:cNvSpPr txBox="1">
            <a:spLocks/>
          </p:cNvSpPr>
          <p:nvPr/>
        </p:nvSpPr>
        <p:spPr>
          <a:xfrm>
            <a:off x="1265413" y="125289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26005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231" y="2714070"/>
            <a:ext cx="9789847" cy="174022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796414" marR="5080" indent="-1400175" algn="ctr" rtl="0">
              <a:spcBef>
                <a:spcPts val="100"/>
              </a:spcBef>
            </a:pPr>
            <a:r>
              <a:rPr kumimoji="0" lang="en-US" sz="36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IEE</a:t>
            </a:r>
            <a:r>
              <a:rPr lang="en-US" kern="1200" spc="-25" dirty="0">
                <a:ea typeface="+mn-ea"/>
              </a:rPr>
              <a:t>E 802.11 </a:t>
            </a:r>
            <a:br>
              <a:rPr lang="en-US" kern="1200" spc="-25" dirty="0">
                <a:ea typeface="+mn-ea"/>
              </a:rPr>
            </a:b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lang="en-US" sz="3600" b="0" i="0" u="none" strike="noStrike" kern="1200" cap="none" spc="-20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lang="en-US" sz="3600" b="0" i="0" u="none" strike="noStrike" kern="1200" cap="none" spc="-1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lang="en-US" sz="3600" b="0" i="0" u="none" strike="noStrike" kern="120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(DCF)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</a:br>
            <a:endParaRPr spc="-105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72F9C-2EE0-46AD-996B-87438313FB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6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>
            <a:extLst>
              <a:ext uri="{FF2B5EF4-FFF2-40B4-BE49-F238E27FC236}">
                <a16:creationId xmlns:a16="http://schemas.microsoft.com/office/drawing/2014/main" id="{04C13584-24A8-6440-E1D1-2C06A5DE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56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51641" indent="-250631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105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02525" indent="-200505">
              <a:spcBef>
                <a:spcPct val="20000"/>
              </a:spcBef>
              <a:buChar char="•"/>
              <a:defRPr sz="1754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403535" indent="-200505">
              <a:spcBef>
                <a:spcPct val="20000"/>
              </a:spcBef>
              <a:buChar char="–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04546" indent="-200505">
              <a:spcBef>
                <a:spcPct val="20000"/>
              </a:spcBef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0555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0656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0757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0858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fld id="{89CD1EC7-029F-4AE9-A494-1A53A0EBA89C}" type="slidenum">
              <a:rPr kumimoji="0" lang="en-US" altLang="en-US" sz="122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t>30</a:t>
            </a:fld>
            <a:endParaRPr kumimoji="0" lang="en-US" altLang="en-US" sz="122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D30A8F5-9186-C6E1-6C31-964137E24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3626" y="773906"/>
            <a:ext cx="8135074" cy="1002506"/>
          </a:xfrm>
        </p:spPr>
        <p:txBody>
          <a:bodyPr/>
          <a:lstStyle/>
          <a:p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lang="en-US" sz="36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lang="en-US" sz="36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lang="en-US" sz="36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(DCF)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</a:br>
            <a:endParaRPr lang="en-US" altLang="en-US" dirty="0"/>
          </a:p>
        </p:txBody>
      </p:sp>
      <p:sp>
        <p:nvSpPr>
          <p:cNvPr id="10256" name="Rectangle 3">
            <a:extLst>
              <a:ext uri="{FF2B5EF4-FFF2-40B4-BE49-F238E27FC236}">
                <a16:creationId xmlns:a16="http://schemas.microsoft.com/office/drawing/2014/main" id="{947D4183-E87F-4802-4093-E050C7DD2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15149" y="1722112"/>
            <a:ext cx="7451963" cy="3494079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802.11 DCF : </a:t>
            </a:r>
            <a:r>
              <a:rPr lang="en-US" sz="2400" kern="1200" spc="-35" dirty="0">
                <a:solidFill>
                  <a:prstClr val="black"/>
                </a:solidFill>
                <a:latin typeface="Trebuchet MS"/>
                <a:cs typeface="Trebuchet MS"/>
              </a:rPr>
              <a:t>based</a:t>
            </a:r>
            <a:r>
              <a:rPr lang="en-US" sz="2400" kern="1200" spc="-250" dirty="0">
                <a:solidFill>
                  <a:prstClr val="black"/>
                </a:solidFill>
                <a:latin typeface="Trebuchet MS"/>
                <a:cs typeface="Trebuchet MS"/>
              </a:rPr>
              <a:t> </a:t>
            </a:r>
            <a:r>
              <a:rPr lang="en-US" sz="2400" kern="1200" spc="25" dirty="0">
                <a:solidFill>
                  <a:prstClr val="black"/>
                </a:solidFill>
                <a:latin typeface="Trebuchet MS"/>
                <a:cs typeface="Trebuchet MS"/>
              </a:rPr>
              <a:t>on</a:t>
            </a:r>
            <a:r>
              <a:rPr lang="en-US" sz="2400" kern="1200" spc="-245" dirty="0">
                <a:solidFill>
                  <a:prstClr val="black"/>
                </a:solidFill>
                <a:latin typeface="Trebuchet MS"/>
                <a:cs typeface="Trebuchet MS"/>
              </a:rPr>
              <a:t> </a:t>
            </a:r>
            <a:r>
              <a:rPr lang="en-US" sz="2400" kern="1200" spc="-70" dirty="0">
                <a:solidFill>
                  <a:prstClr val="black"/>
                </a:solidFill>
                <a:latin typeface="Trebuchet MS"/>
                <a:cs typeface="Trebuchet MS"/>
              </a:rPr>
              <a:t>the </a:t>
            </a:r>
            <a:r>
              <a:rPr lang="en-US" altLang="en-US" dirty="0">
                <a:sym typeface="Symbol" panose="05050102010706020507" pitchFamily="18" charset="2"/>
              </a:rPr>
              <a:t>CSMA - sense before transmitting</a:t>
            </a:r>
          </a:p>
          <a:p>
            <a:pPr lvl="1"/>
            <a:r>
              <a:rPr lang="en-US" altLang="en-US" i="1" dirty="0"/>
              <a:t>No</a:t>
            </a:r>
            <a:r>
              <a:rPr lang="en-US" altLang="en-US" dirty="0"/>
              <a:t> collision detection (CD)!</a:t>
            </a:r>
          </a:p>
          <a:p>
            <a:pPr lvl="2"/>
            <a:r>
              <a:rPr lang="en-US" altLang="en-US" dirty="0"/>
              <a:t>Difficult to receive (sense collisions) when transmitting due to weak received signals (fading)</a:t>
            </a:r>
          </a:p>
          <a:p>
            <a:pPr lvl="2"/>
            <a:r>
              <a:rPr lang="en-US" altLang="en-US" dirty="0"/>
              <a:t>Can’t sense all collisions in any case: hidden terminal, fading</a:t>
            </a:r>
          </a:p>
          <a:p>
            <a:pPr lvl="2"/>
            <a:r>
              <a:rPr lang="en-US" altLang="en-US" dirty="0"/>
              <a:t>Goal: </a:t>
            </a:r>
            <a:r>
              <a:rPr lang="en-US" altLang="en-US" i="1" dirty="0">
                <a:solidFill>
                  <a:srgbClr val="FF0000"/>
                </a:solidFill>
              </a:rPr>
              <a:t>avoid collisions:</a:t>
            </a:r>
            <a:r>
              <a:rPr lang="en-US" altLang="en-US" dirty="0"/>
              <a:t> CSMA/C(</a:t>
            </a:r>
            <a:r>
              <a:rPr lang="en-US" altLang="en-US" dirty="0" err="1"/>
              <a:t>ollision</a:t>
            </a:r>
            <a:r>
              <a:rPr lang="en-US" altLang="en-US" dirty="0"/>
              <a:t>)A(voidance)</a:t>
            </a:r>
            <a:endParaRPr lang="en-US" altLang="en-US" dirty="0">
              <a:solidFill>
                <a:srgbClr val="FF0000"/>
              </a:solidFill>
            </a:endParaRPr>
          </a:p>
          <a:p>
            <a:pPr lvl="1"/>
            <a:r>
              <a:rPr lang="en-US" altLang="en-US" dirty="0"/>
              <a:t>Link layer </a:t>
            </a:r>
            <a:r>
              <a:rPr lang="en-US" altLang="en-US" dirty="0" err="1"/>
              <a:t>ACKnowledgments</a:t>
            </a:r>
            <a:r>
              <a:rPr lang="en-US" altLang="en-US" dirty="0"/>
              <a:t>/Retransmissions (ARQ)</a:t>
            </a:r>
          </a:p>
          <a:p>
            <a:pPr lvl="2"/>
            <a:r>
              <a:rPr lang="en-US" altLang="en-US" dirty="0"/>
              <a:t>High bit error rates</a:t>
            </a:r>
          </a:p>
        </p:txBody>
      </p:sp>
      <p:grpSp>
        <p:nvGrpSpPr>
          <p:cNvPr id="2" name="Group 45">
            <a:extLst>
              <a:ext uri="{FF2B5EF4-FFF2-40B4-BE49-F238E27FC236}">
                <a16:creationId xmlns:a16="http://schemas.microsoft.com/office/drawing/2014/main" id="{37B37D37-41C6-FE4F-E8B3-DC737F9AE3C6}"/>
              </a:ext>
            </a:extLst>
          </p:cNvPr>
          <p:cNvGrpSpPr>
            <a:grpSpLocks/>
          </p:cNvGrpSpPr>
          <p:nvPr/>
        </p:nvGrpSpPr>
        <p:grpSpPr bwMode="auto">
          <a:xfrm>
            <a:off x="2670783" y="5457825"/>
            <a:ext cx="5340693" cy="1774381"/>
            <a:chOff x="440" y="1326"/>
            <a:chExt cx="5192" cy="1476"/>
          </a:xfrm>
        </p:grpSpPr>
        <p:grpSp>
          <p:nvGrpSpPr>
            <p:cNvPr id="59398" name="Group 5">
              <a:extLst>
                <a:ext uri="{FF2B5EF4-FFF2-40B4-BE49-F238E27FC236}">
                  <a16:creationId xmlns:a16="http://schemas.microsoft.com/office/drawing/2014/main" id="{8EA8C3A2-D277-CF7C-EF29-36B0C08B10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" y="1520"/>
              <a:ext cx="2110" cy="1018"/>
              <a:chOff x="759" y="2008"/>
              <a:chExt cx="2110" cy="1018"/>
            </a:xfrm>
          </p:grpSpPr>
          <p:grpSp>
            <p:nvGrpSpPr>
              <p:cNvPr id="59423" name="Group 6">
                <a:extLst>
                  <a:ext uri="{FF2B5EF4-FFF2-40B4-BE49-F238E27FC236}">
                    <a16:creationId xmlns:a16="http://schemas.microsoft.com/office/drawing/2014/main" id="{B7BF70D2-42EF-4A2A-AD24-CF43899A98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9" y="2018"/>
                <a:ext cx="535" cy="466"/>
                <a:chOff x="2870" y="1518"/>
                <a:chExt cx="292" cy="320"/>
              </a:xfrm>
            </p:grpSpPr>
            <p:graphicFrame>
              <p:nvGraphicFramePr>
                <p:cNvPr id="59436" name="Object 7">
                  <a:extLst>
                    <a:ext uri="{FF2B5EF4-FFF2-40B4-BE49-F238E27FC236}">
                      <a16:creationId xmlns:a16="http://schemas.microsoft.com/office/drawing/2014/main" id="{AB2D553D-2E60-1040-A8D4-C3A68CC3AB3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26829" imgH="840406" progId="MS_ClipArt_Gallery.2">
                        <p:embed/>
                      </p:oleObj>
                    </mc:Choice>
                    <mc:Fallback>
                      <p:oleObj name="Clip" r:id="rId3" imgW="826829" imgH="840406" progId="MS_ClipArt_Gallery.2">
                        <p:embed/>
                        <p:pic>
                          <p:nvPicPr>
                            <p:cNvPr id="59436" name="Object 7">
                              <a:extLst>
                                <a:ext uri="{FF2B5EF4-FFF2-40B4-BE49-F238E27FC236}">
                                  <a16:creationId xmlns:a16="http://schemas.microsoft.com/office/drawing/2014/main" id="{AB2D553D-2E60-1040-A8D4-C3A68CC3AB3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9437" name="Object 8">
                  <a:extLst>
                    <a:ext uri="{FF2B5EF4-FFF2-40B4-BE49-F238E27FC236}">
                      <a16:creationId xmlns:a16="http://schemas.microsoft.com/office/drawing/2014/main" id="{45EAE17F-54BE-0AFD-5F72-2D46457B63B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8295" imgH="1199426" progId="MS_ClipArt_Gallery.2">
                        <p:embed/>
                      </p:oleObj>
                    </mc:Choice>
                    <mc:Fallback>
                      <p:oleObj name="Clip" r:id="rId5" imgW="1268295" imgH="1199426" progId="MS_ClipArt_Gallery.2">
                        <p:embed/>
                        <p:pic>
                          <p:nvPicPr>
                            <p:cNvPr id="59437" name="Object 8">
                              <a:extLst>
                                <a:ext uri="{FF2B5EF4-FFF2-40B4-BE49-F238E27FC236}">
                                  <a16:creationId xmlns:a16="http://schemas.microsoft.com/office/drawing/2014/main" id="{45EAE17F-54BE-0AFD-5F72-2D46457B63B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9424" name="Freeform 9">
                <a:extLst>
                  <a:ext uri="{FF2B5EF4-FFF2-40B4-BE49-F238E27FC236}">
                    <a16:creationId xmlns:a16="http://schemas.microsoft.com/office/drawing/2014/main" id="{7EDFA145-BB37-499B-2B6A-571939180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" y="2008"/>
                <a:ext cx="1273" cy="684"/>
              </a:xfrm>
              <a:custGeom>
                <a:avLst/>
                <a:gdLst>
                  <a:gd name="T0" fmla="*/ 9 w 1273"/>
                  <a:gd name="T1" fmla="*/ 675 h 684"/>
                  <a:gd name="T2" fmla="*/ 316 w 1273"/>
                  <a:gd name="T3" fmla="*/ 0 h 684"/>
                  <a:gd name="T4" fmla="*/ 461 w 1273"/>
                  <a:gd name="T5" fmla="*/ 228 h 684"/>
                  <a:gd name="T6" fmla="*/ 510 w 1273"/>
                  <a:gd name="T7" fmla="*/ 119 h 684"/>
                  <a:gd name="T8" fmla="*/ 631 w 1273"/>
                  <a:gd name="T9" fmla="*/ 467 h 684"/>
                  <a:gd name="T10" fmla="*/ 667 w 1273"/>
                  <a:gd name="T11" fmla="*/ 391 h 684"/>
                  <a:gd name="T12" fmla="*/ 739 w 1273"/>
                  <a:gd name="T13" fmla="*/ 464 h 684"/>
                  <a:gd name="T14" fmla="*/ 1058 w 1273"/>
                  <a:gd name="T15" fmla="*/ 57 h 684"/>
                  <a:gd name="T16" fmla="*/ 1273 w 1273"/>
                  <a:gd name="T17" fmla="*/ 684 h 684"/>
                  <a:gd name="T18" fmla="*/ 0 w 1273"/>
                  <a:gd name="T19" fmla="*/ 674 h 6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3"/>
                  <a:gd name="T31" fmla="*/ 0 h 684"/>
                  <a:gd name="T32" fmla="*/ 1273 w 1273"/>
                  <a:gd name="T33" fmla="*/ 684 h 6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3" h="684">
                    <a:moveTo>
                      <a:pt x="9" y="675"/>
                    </a:moveTo>
                    <a:lnTo>
                      <a:pt x="316" y="0"/>
                    </a:lnTo>
                    <a:lnTo>
                      <a:pt x="461" y="228"/>
                    </a:lnTo>
                    <a:lnTo>
                      <a:pt x="510" y="119"/>
                    </a:lnTo>
                    <a:lnTo>
                      <a:pt x="631" y="467"/>
                    </a:lnTo>
                    <a:lnTo>
                      <a:pt x="667" y="391"/>
                    </a:lnTo>
                    <a:lnTo>
                      <a:pt x="739" y="464"/>
                    </a:lnTo>
                    <a:lnTo>
                      <a:pt x="1058" y="57"/>
                    </a:lnTo>
                    <a:lnTo>
                      <a:pt x="1273" y="684"/>
                    </a:lnTo>
                    <a:lnTo>
                      <a:pt x="0" y="674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00CC66"/>
                  </a:gs>
                </a:gsLst>
                <a:lin ang="540000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59425" name="Group 10">
                <a:extLst>
                  <a:ext uri="{FF2B5EF4-FFF2-40B4-BE49-F238E27FC236}">
                    <a16:creationId xmlns:a16="http://schemas.microsoft.com/office/drawing/2014/main" id="{A96B61C7-3958-4106-D215-8D694A928C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3" y="2587"/>
                <a:ext cx="482" cy="439"/>
                <a:chOff x="2870" y="1518"/>
                <a:chExt cx="292" cy="320"/>
              </a:xfrm>
            </p:grpSpPr>
            <p:graphicFrame>
              <p:nvGraphicFramePr>
                <p:cNvPr id="59434" name="Object 11">
                  <a:extLst>
                    <a:ext uri="{FF2B5EF4-FFF2-40B4-BE49-F238E27FC236}">
                      <a16:creationId xmlns:a16="http://schemas.microsoft.com/office/drawing/2014/main" id="{1ECA36EF-1C8F-E9E8-0D9B-42DF0AD45E5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26829" imgH="840406" progId="MS_ClipArt_Gallery.2">
                        <p:embed/>
                      </p:oleObj>
                    </mc:Choice>
                    <mc:Fallback>
                      <p:oleObj name="Clip" r:id="rId3" imgW="826829" imgH="840406" progId="MS_ClipArt_Gallery.2">
                        <p:embed/>
                        <p:pic>
                          <p:nvPicPr>
                            <p:cNvPr id="59434" name="Object 11">
                              <a:extLst>
                                <a:ext uri="{FF2B5EF4-FFF2-40B4-BE49-F238E27FC236}">
                                  <a16:creationId xmlns:a16="http://schemas.microsoft.com/office/drawing/2014/main" id="{1ECA36EF-1C8F-E9E8-0D9B-42DF0AD45E5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9435" name="Object 12">
                  <a:extLst>
                    <a:ext uri="{FF2B5EF4-FFF2-40B4-BE49-F238E27FC236}">
                      <a16:creationId xmlns:a16="http://schemas.microsoft.com/office/drawing/2014/main" id="{A982A203-1F5A-E2B4-3110-9B1712BFE39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8295" imgH="1199426" progId="MS_ClipArt_Gallery.2">
                        <p:embed/>
                      </p:oleObj>
                    </mc:Choice>
                    <mc:Fallback>
                      <p:oleObj name="Clip" r:id="rId5" imgW="1268295" imgH="1199426" progId="MS_ClipArt_Gallery.2">
                        <p:embed/>
                        <p:pic>
                          <p:nvPicPr>
                            <p:cNvPr id="59435" name="Object 12">
                              <a:extLst>
                                <a:ext uri="{FF2B5EF4-FFF2-40B4-BE49-F238E27FC236}">
                                  <a16:creationId xmlns:a16="http://schemas.microsoft.com/office/drawing/2014/main" id="{A982A203-1F5A-E2B4-3110-9B1712BFE39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59426" name="Group 13">
                <a:extLst>
                  <a:ext uri="{FF2B5EF4-FFF2-40B4-BE49-F238E27FC236}">
                    <a16:creationId xmlns:a16="http://schemas.microsoft.com/office/drawing/2014/main" id="{B3B998C0-AA8F-328E-F41D-1753258452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4" y="2391"/>
                <a:ext cx="482" cy="439"/>
                <a:chOff x="2870" y="1518"/>
                <a:chExt cx="292" cy="320"/>
              </a:xfrm>
            </p:grpSpPr>
            <p:graphicFrame>
              <p:nvGraphicFramePr>
                <p:cNvPr id="59432" name="Object 14">
                  <a:extLst>
                    <a:ext uri="{FF2B5EF4-FFF2-40B4-BE49-F238E27FC236}">
                      <a16:creationId xmlns:a16="http://schemas.microsoft.com/office/drawing/2014/main" id="{A25C955C-F295-0A39-F34D-FA448A41821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26829" imgH="840406" progId="MS_ClipArt_Gallery.2">
                        <p:embed/>
                      </p:oleObj>
                    </mc:Choice>
                    <mc:Fallback>
                      <p:oleObj name="Clip" r:id="rId3" imgW="826829" imgH="840406" progId="MS_ClipArt_Gallery.2">
                        <p:embed/>
                        <p:pic>
                          <p:nvPicPr>
                            <p:cNvPr id="59432" name="Object 14">
                              <a:extLst>
                                <a:ext uri="{FF2B5EF4-FFF2-40B4-BE49-F238E27FC236}">
                                  <a16:creationId xmlns:a16="http://schemas.microsoft.com/office/drawing/2014/main" id="{A25C955C-F295-0A39-F34D-FA448A41821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9433" name="Object 15">
                  <a:extLst>
                    <a:ext uri="{FF2B5EF4-FFF2-40B4-BE49-F238E27FC236}">
                      <a16:creationId xmlns:a16="http://schemas.microsoft.com/office/drawing/2014/main" id="{7D9869C9-D7FA-501D-63AB-3C988D601B7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8295" imgH="1199426" progId="MS_ClipArt_Gallery.2">
                        <p:embed/>
                      </p:oleObj>
                    </mc:Choice>
                    <mc:Fallback>
                      <p:oleObj name="Clip" r:id="rId5" imgW="1268295" imgH="1199426" progId="MS_ClipArt_Gallery.2">
                        <p:embed/>
                        <p:pic>
                          <p:nvPicPr>
                            <p:cNvPr id="59433" name="Object 15">
                              <a:extLst>
                                <a:ext uri="{FF2B5EF4-FFF2-40B4-BE49-F238E27FC236}">
                                  <a16:creationId xmlns:a16="http://schemas.microsoft.com/office/drawing/2014/main" id="{7D9869C9-D7FA-501D-63AB-3C988D601B7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9427" name="Line 16">
                <a:extLst>
                  <a:ext uri="{FF2B5EF4-FFF2-40B4-BE49-F238E27FC236}">
                    <a16:creationId xmlns:a16="http://schemas.microsoft.com/office/drawing/2014/main" id="{C1141162-F875-E863-E9AF-26DC1B8A8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1" y="2773"/>
                <a:ext cx="629" cy="1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28" name="Line 17">
                <a:extLst>
                  <a:ext uri="{FF2B5EF4-FFF2-40B4-BE49-F238E27FC236}">
                    <a16:creationId xmlns:a16="http://schemas.microsoft.com/office/drawing/2014/main" id="{04C4F2F6-C502-A452-BC98-C8FA4BC78F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5" y="2471"/>
                <a:ext cx="257" cy="203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29" name="Text Box 18">
                <a:extLst>
                  <a:ext uri="{FF2B5EF4-FFF2-40B4-BE49-F238E27FC236}">
                    <a16:creationId xmlns:a16="http://schemas.microsoft.com/office/drawing/2014/main" id="{65C629F4-9C48-B8F8-FA6B-CFB2C36DDC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5" y="2705"/>
                <a:ext cx="323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59430" name="Text Box 19">
                <a:extLst>
                  <a:ext uri="{FF2B5EF4-FFF2-40B4-BE49-F238E27FC236}">
                    <a16:creationId xmlns:a16="http://schemas.microsoft.com/office/drawing/2014/main" id="{F9D8EEFB-C6D2-6D43-76A6-11E00033FF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5" y="2562"/>
                <a:ext cx="30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59431" name="Text Box 20">
                <a:extLst>
                  <a:ext uri="{FF2B5EF4-FFF2-40B4-BE49-F238E27FC236}">
                    <a16:creationId xmlns:a16="http://schemas.microsoft.com/office/drawing/2014/main" id="{051E9406-9945-4EC9-3FCE-89892D1E6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4" y="2118"/>
                <a:ext cx="298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59399" name="Group 21">
              <a:extLst>
                <a:ext uri="{FF2B5EF4-FFF2-40B4-BE49-F238E27FC236}">
                  <a16:creationId xmlns:a16="http://schemas.microsoft.com/office/drawing/2014/main" id="{8275B85F-D1C4-FC78-0207-94C684D119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4" y="1326"/>
              <a:ext cx="2518" cy="1476"/>
              <a:chOff x="3264" y="1698"/>
              <a:chExt cx="2518" cy="1476"/>
            </a:xfrm>
          </p:grpSpPr>
          <p:grpSp>
            <p:nvGrpSpPr>
              <p:cNvPr id="59400" name="Group 22">
                <a:extLst>
                  <a:ext uri="{FF2B5EF4-FFF2-40B4-BE49-F238E27FC236}">
                    <a16:creationId xmlns:a16="http://schemas.microsoft.com/office/drawing/2014/main" id="{E4822897-9400-2AA1-C9B9-1987AD9E77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1698"/>
                <a:ext cx="2245" cy="455"/>
                <a:chOff x="3256" y="1911"/>
                <a:chExt cx="2245" cy="455"/>
              </a:xfrm>
            </p:grpSpPr>
            <p:grpSp>
              <p:nvGrpSpPr>
                <p:cNvPr id="59411" name="Group 23">
                  <a:extLst>
                    <a:ext uri="{FF2B5EF4-FFF2-40B4-BE49-F238E27FC236}">
                      <a16:creationId xmlns:a16="http://schemas.microsoft.com/office/drawing/2014/main" id="{E3C93D82-2861-0E85-8ACA-89F8CD01B64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03" y="1911"/>
                  <a:ext cx="482" cy="439"/>
                  <a:chOff x="2870" y="1518"/>
                  <a:chExt cx="292" cy="320"/>
                </a:xfrm>
              </p:grpSpPr>
              <p:graphicFrame>
                <p:nvGraphicFramePr>
                  <p:cNvPr id="59421" name="Object 24">
                    <a:extLst>
                      <a:ext uri="{FF2B5EF4-FFF2-40B4-BE49-F238E27FC236}">
                        <a16:creationId xmlns:a16="http://schemas.microsoft.com/office/drawing/2014/main" id="{630E5BB8-46E0-1DFA-559E-4A0BA8F5A096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870" y="1518"/>
                  <a:ext cx="272" cy="28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3" imgW="826829" imgH="840406" progId="MS_ClipArt_Gallery.2">
                          <p:embed/>
                        </p:oleObj>
                      </mc:Choice>
                      <mc:Fallback>
                        <p:oleObj name="Clip" r:id="rId3" imgW="826829" imgH="840406" progId="MS_ClipArt_Gallery.2">
                          <p:embed/>
                          <p:pic>
                            <p:nvPicPr>
                              <p:cNvPr id="59421" name="Object 24">
                                <a:extLst>
                                  <a:ext uri="{FF2B5EF4-FFF2-40B4-BE49-F238E27FC236}">
                                    <a16:creationId xmlns:a16="http://schemas.microsoft.com/office/drawing/2014/main" id="{630E5BB8-46E0-1DFA-559E-4A0BA8F5A096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70" y="1518"/>
                                <a:ext cx="272" cy="28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9422" name="Object 25">
                    <a:extLst>
                      <a:ext uri="{FF2B5EF4-FFF2-40B4-BE49-F238E27FC236}">
                        <a16:creationId xmlns:a16="http://schemas.microsoft.com/office/drawing/2014/main" id="{2D648B15-B497-197D-F6CC-F207892DA42C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913" y="1602"/>
                  <a:ext cx="249" cy="23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5" imgW="1268295" imgH="1199426" progId="MS_ClipArt_Gallery.2">
                          <p:embed/>
                        </p:oleObj>
                      </mc:Choice>
                      <mc:Fallback>
                        <p:oleObj name="Clip" r:id="rId5" imgW="1268295" imgH="1199426" progId="MS_ClipArt_Gallery.2">
                          <p:embed/>
                          <p:pic>
                            <p:nvPicPr>
                              <p:cNvPr id="59422" name="Object 25">
                                <a:extLst>
                                  <a:ext uri="{FF2B5EF4-FFF2-40B4-BE49-F238E27FC236}">
                                    <a16:creationId xmlns:a16="http://schemas.microsoft.com/office/drawing/2014/main" id="{2D648B15-B497-197D-F6CC-F207892DA42C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913" y="1602"/>
                                <a:ext cx="249" cy="2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59412" name="Group 26">
                  <a:extLst>
                    <a:ext uri="{FF2B5EF4-FFF2-40B4-BE49-F238E27FC236}">
                      <a16:creationId xmlns:a16="http://schemas.microsoft.com/office/drawing/2014/main" id="{86EA058C-8F7C-E5B8-2A09-8B6EE86D4D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37" y="1919"/>
                  <a:ext cx="482" cy="439"/>
                  <a:chOff x="2870" y="1518"/>
                  <a:chExt cx="292" cy="320"/>
                </a:xfrm>
              </p:grpSpPr>
              <p:graphicFrame>
                <p:nvGraphicFramePr>
                  <p:cNvPr id="59419" name="Object 27">
                    <a:extLst>
                      <a:ext uri="{FF2B5EF4-FFF2-40B4-BE49-F238E27FC236}">
                        <a16:creationId xmlns:a16="http://schemas.microsoft.com/office/drawing/2014/main" id="{BC42EB3C-84AA-5075-9CF3-1A07FD7A282F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870" y="1518"/>
                  <a:ext cx="272" cy="28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3" imgW="826829" imgH="840406" progId="MS_ClipArt_Gallery.2">
                          <p:embed/>
                        </p:oleObj>
                      </mc:Choice>
                      <mc:Fallback>
                        <p:oleObj name="Clip" r:id="rId3" imgW="826829" imgH="840406" progId="MS_ClipArt_Gallery.2">
                          <p:embed/>
                          <p:pic>
                            <p:nvPicPr>
                              <p:cNvPr id="59419" name="Object 27">
                                <a:extLst>
                                  <a:ext uri="{FF2B5EF4-FFF2-40B4-BE49-F238E27FC236}">
                                    <a16:creationId xmlns:a16="http://schemas.microsoft.com/office/drawing/2014/main" id="{BC42EB3C-84AA-5075-9CF3-1A07FD7A282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70" y="1518"/>
                                <a:ext cx="272" cy="28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9420" name="Object 28">
                    <a:extLst>
                      <a:ext uri="{FF2B5EF4-FFF2-40B4-BE49-F238E27FC236}">
                        <a16:creationId xmlns:a16="http://schemas.microsoft.com/office/drawing/2014/main" id="{CD13D803-C931-5983-F6A2-2F8E86A2D95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913" y="1602"/>
                  <a:ext cx="249" cy="23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5" imgW="1268295" imgH="1199426" progId="MS_ClipArt_Gallery.2">
                          <p:embed/>
                        </p:oleObj>
                      </mc:Choice>
                      <mc:Fallback>
                        <p:oleObj name="Clip" r:id="rId5" imgW="1268295" imgH="1199426" progId="MS_ClipArt_Gallery.2">
                          <p:embed/>
                          <p:pic>
                            <p:nvPicPr>
                              <p:cNvPr id="59420" name="Object 28">
                                <a:extLst>
                                  <a:ext uri="{FF2B5EF4-FFF2-40B4-BE49-F238E27FC236}">
                                    <a16:creationId xmlns:a16="http://schemas.microsoft.com/office/drawing/2014/main" id="{CD13D803-C931-5983-F6A2-2F8E86A2D954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913" y="1602"/>
                                <a:ext cx="249" cy="2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59413" name="Text Box 29">
                  <a:extLst>
                    <a:ext uri="{FF2B5EF4-FFF2-40B4-BE49-F238E27FC236}">
                      <a16:creationId xmlns:a16="http://schemas.microsoft.com/office/drawing/2014/main" id="{DF6C4CB0-353D-7D6D-D285-C6501AE29D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56" y="2030"/>
                  <a:ext cx="323" cy="2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80202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ZapfDingbats" pitchFamily="82" charset="2"/>
                    <a:buNone/>
                    <a:tabLst/>
                    <a:defRPr/>
                  </a:pPr>
                  <a:r>
                    <a:rPr kumimoji="0" lang="en-US" altLang="en-US" sz="1579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59414" name="Text Box 30">
                  <a:extLst>
                    <a:ext uri="{FF2B5EF4-FFF2-40B4-BE49-F238E27FC236}">
                      <a16:creationId xmlns:a16="http://schemas.microsoft.com/office/drawing/2014/main" id="{A6AEC0DA-A51C-C532-C914-6CEB3F078E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59" y="2027"/>
                  <a:ext cx="207" cy="2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80202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ZapfDingbats" pitchFamily="82" charset="2"/>
                    <a:buNone/>
                    <a:tabLst/>
                    <a:defRPr/>
                  </a:pPr>
                  <a:r>
                    <a:rPr kumimoji="0" lang="en-US" altLang="en-US" sz="1579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59415" name="Text Box 31">
                  <a:extLst>
                    <a:ext uri="{FF2B5EF4-FFF2-40B4-BE49-F238E27FC236}">
                      <a16:creationId xmlns:a16="http://schemas.microsoft.com/office/drawing/2014/main" id="{C498A8D6-952F-475D-EA96-4DEE3BFC71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03" y="2053"/>
                  <a:ext cx="298" cy="2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80202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ZapfDingbats" pitchFamily="82" charset="2"/>
                    <a:buNone/>
                    <a:tabLst/>
                    <a:defRPr/>
                  </a:pPr>
                  <a:r>
                    <a:rPr kumimoji="0" lang="en-US" altLang="en-US" sz="1579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C</a:t>
                  </a:r>
                </a:p>
              </p:txBody>
            </p:sp>
            <p:grpSp>
              <p:nvGrpSpPr>
                <p:cNvPr id="59416" name="Group 32">
                  <a:extLst>
                    <a:ext uri="{FF2B5EF4-FFF2-40B4-BE49-F238E27FC236}">
                      <a16:creationId xmlns:a16="http://schemas.microsoft.com/office/drawing/2014/main" id="{BE6B2E88-DD58-88F4-FC1F-64962C98C2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26" y="1927"/>
                  <a:ext cx="482" cy="439"/>
                  <a:chOff x="2870" y="1518"/>
                  <a:chExt cx="292" cy="320"/>
                </a:xfrm>
              </p:grpSpPr>
              <p:graphicFrame>
                <p:nvGraphicFramePr>
                  <p:cNvPr id="59417" name="Object 33">
                    <a:extLst>
                      <a:ext uri="{FF2B5EF4-FFF2-40B4-BE49-F238E27FC236}">
                        <a16:creationId xmlns:a16="http://schemas.microsoft.com/office/drawing/2014/main" id="{AE67B476-33E6-81B3-57A4-F1302D7662A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870" y="1518"/>
                  <a:ext cx="272" cy="28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3" imgW="826829" imgH="840406" progId="MS_ClipArt_Gallery.2">
                          <p:embed/>
                        </p:oleObj>
                      </mc:Choice>
                      <mc:Fallback>
                        <p:oleObj name="Clip" r:id="rId3" imgW="826829" imgH="840406" progId="MS_ClipArt_Gallery.2">
                          <p:embed/>
                          <p:pic>
                            <p:nvPicPr>
                              <p:cNvPr id="59417" name="Object 33">
                                <a:extLst>
                                  <a:ext uri="{FF2B5EF4-FFF2-40B4-BE49-F238E27FC236}">
                                    <a16:creationId xmlns:a16="http://schemas.microsoft.com/office/drawing/2014/main" id="{AE67B476-33E6-81B3-57A4-F1302D7662A0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70" y="1518"/>
                                <a:ext cx="272" cy="28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9418" name="Object 34">
                    <a:extLst>
                      <a:ext uri="{FF2B5EF4-FFF2-40B4-BE49-F238E27FC236}">
                        <a16:creationId xmlns:a16="http://schemas.microsoft.com/office/drawing/2014/main" id="{39616084-9655-9B47-90D0-C51CDD9F748D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913" y="1602"/>
                  <a:ext cx="249" cy="23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Clip" r:id="rId7" imgW="1268295" imgH="1199426" progId="MS_ClipArt_Gallery.2">
                          <p:embed/>
                        </p:oleObj>
                      </mc:Choice>
                      <mc:Fallback>
                        <p:oleObj name="Clip" r:id="rId7" imgW="1268295" imgH="1199426" progId="MS_ClipArt_Gallery.2">
                          <p:embed/>
                          <p:pic>
                            <p:nvPicPr>
                              <p:cNvPr id="59418" name="Object 34">
                                <a:extLst>
                                  <a:ext uri="{FF2B5EF4-FFF2-40B4-BE49-F238E27FC236}">
                                    <a16:creationId xmlns:a16="http://schemas.microsoft.com/office/drawing/2014/main" id="{39616084-9655-9B47-90D0-C51CDD9F748D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913" y="1602"/>
                                <a:ext cx="249" cy="2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59401" name="Text Box 35">
                <a:extLst>
                  <a:ext uri="{FF2B5EF4-FFF2-40B4-BE49-F238E27FC236}">
                    <a16:creationId xmlns:a16="http://schemas.microsoft.com/office/drawing/2014/main" id="{D18D28B3-4BAD-6B7D-102B-E4C50DF6A4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0" y="2339"/>
                <a:ext cx="839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A’s signal</a:t>
                </a:r>
              </a:p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strength</a:t>
                </a:r>
              </a:p>
            </p:txBody>
          </p:sp>
          <p:sp>
            <p:nvSpPr>
              <p:cNvPr id="59402" name="Line 36">
                <a:extLst>
                  <a:ext uri="{FF2B5EF4-FFF2-40B4-BE49-F238E27FC236}">
                    <a16:creationId xmlns:a16="http://schemas.microsoft.com/office/drawing/2014/main" id="{69946698-8756-337C-BD0D-92EC74035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9" y="2985"/>
                <a:ext cx="2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3" name="Line 37">
                <a:extLst>
                  <a:ext uri="{FF2B5EF4-FFF2-40B4-BE49-F238E27FC236}">
                    <a16:creationId xmlns:a16="http://schemas.microsoft.com/office/drawing/2014/main" id="{A1560BFB-C21D-8239-2045-2C5784CB8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5" y="2242"/>
                <a:ext cx="0" cy="7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4" name="Freeform 38">
                <a:extLst>
                  <a:ext uri="{FF2B5EF4-FFF2-40B4-BE49-F238E27FC236}">
                    <a16:creationId xmlns:a16="http://schemas.microsoft.com/office/drawing/2014/main" id="{2F4D7859-AB8A-AEB5-3D51-281ADC084E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277"/>
                <a:ext cx="1887" cy="681"/>
              </a:xfrm>
              <a:custGeom>
                <a:avLst/>
                <a:gdLst>
                  <a:gd name="T0" fmla="*/ 0 w 1887"/>
                  <a:gd name="T1" fmla="*/ 0 h 681"/>
                  <a:gd name="T2" fmla="*/ 966 w 1887"/>
                  <a:gd name="T3" fmla="*/ 151 h 681"/>
                  <a:gd name="T4" fmla="*/ 1373 w 1887"/>
                  <a:gd name="T5" fmla="*/ 594 h 681"/>
                  <a:gd name="T6" fmla="*/ 1887 w 1887"/>
                  <a:gd name="T7" fmla="*/ 673 h 6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87"/>
                  <a:gd name="T13" fmla="*/ 0 h 681"/>
                  <a:gd name="T14" fmla="*/ 1887 w 1887"/>
                  <a:gd name="T15" fmla="*/ 681 h 6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87" h="681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5" name="Text Box 39">
                <a:extLst>
                  <a:ext uri="{FF2B5EF4-FFF2-40B4-BE49-F238E27FC236}">
                    <a16:creationId xmlns:a16="http://schemas.microsoft.com/office/drawing/2014/main" id="{6CE11C66-FF0D-7E60-50B6-150A367235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9" y="2962"/>
                <a:ext cx="51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053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space</a:t>
                </a:r>
              </a:p>
            </p:txBody>
          </p:sp>
          <p:sp>
            <p:nvSpPr>
              <p:cNvPr id="59406" name="Freeform 40">
                <a:extLst>
                  <a:ext uri="{FF2B5EF4-FFF2-40B4-BE49-F238E27FC236}">
                    <a16:creationId xmlns:a16="http://schemas.microsoft.com/office/drawing/2014/main" id="{2AB2047A-F51C-EAD0-C836-299275AA65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427" y="2258"/>
                <a:ext cx="1887" cy="681"/>
              </a:xfrm>
              <a:custGeom>
                <a:avLst/>
                <a:gdLst>
                  <a:gd name="T0" fmla="*/ 0 w 1887"/>
                  <a:gd name="T1" fmla="*/ 0 h 681"/>
                  <a:gd name="T2" fmla="*/ 966 w 1887"/>
                  <a:gd name="T3" fmla="*/ 151 h 681"/>
                  <a:gd name="T4" fmla="*/ 1373 w 1887"/>
                  <a:gd name="T5" fmla="*/ 594 h 681"/>
                  <a:gd name="T6" fmla="*/ 1887 w 1887"/>
                  <a:gd name="T7" fmla="*/ 673 h 6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87"/>
                  <a:gd name="T13" fmla="*/ 0 h 681"/>
                  <a:gd name="T14" fmla="*/ 1887 w 1887"/>
                  <a:gd name="T15" fmla="*/ 681 h 6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87" h="681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7" name="Text Box 41">
                <a:extLst>
                  <a:ext uri="{FF2B5EF4-FFF2-40B4-BE49-F238E27FC236}">
                    <a16:creationId xmlns:a16="http://schemas.microsoft.com/office/drawing/2014/main" id="{EC0EE16C-7DC6-4A9B-5501-578C201CFA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4" y="2293"/>
                <a:ext cx="818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C’s signal</a:t>
                </a:r>
              </a:p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strength</a:t>
                </a:r>
              </a:p>
            </p:txBody>
          </p:sp>
          <p:sp>
            <p:nvSpPr>
              <p:cNvPr id="59408" name="Line 42">
                <a:extLst>
                  <a:ext uri="{FF2B5EF4-FFF2-40B4-BE49-F238E27FC236}">
                    <a16:creationId xmlns:a16="http://schemas.microsoft.com/office/drawing/2014/main" id="{C04C5538-5D01-3B50-F031-C99F5A254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4" y="2171"/>
                <a:ext cx="17" cy="7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09" name="Line 43">
                <a:extLst>
                  <a:ext uri="{FF2B5EF4-FFF2-40B4-BE49-F238E27FC236}">
                    <a16:creationId xmlns:a16="http://schemas.microsoft.com/office/drawing/2014/main" id="{CA05AFDB-3297-FB9A-8A24-72548FB541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214"/>
                <a:ext cx="0" cy="7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59410" name="Line 44">
                <a:extLst>
                  <a:ext uri="{FF2B5EF4-FFF2-40B4-BE49-F238E27FC236}">
                    <a16:creationId xmlns:a16="http://schemas.microsoft.com/office/drawing/2014/main" id="{C369D7AB-E007-CE41-619D-06ED5DA12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4" y="2204"/>
                <a:ext cx="0" cy="7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object 2">
            <a:extLst>
              <a:ext uri="{FF2B5EF4-FFF2-40B4-BE49-F238E27FC236}">
                <a16:creationId xmlns:a16="http://schemas.microsoft.com/office/drawing/2014/main" id="{23666F05-F163-BBD9-3A7C-31C5E6787DB5}"/>
              </a:ext>
            </a:extLst>
          </p:cNvPr>
          <p:cNvSpPr txBox="1">
            <a:spLocks/>
          </p:cNvSpPr>
          <p:nvPr/>
        </p:nvSpPr>
        <p:spPr>
          <a:xfrm>
            <a:off x="1526387" y="618065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47322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Timing</a:t>
            </a:r>
            <a:r>
              <a:rPr spc="-434" dirty="0"/>
              <a:t> </a:t>
            </a:r>
            <a:r>
              <a:rPr spc="-105" dirty="0"/>
              <a:t>and</a:t>
            </a:r>
            <a:r>
              <a:rPr spc="-420" dirty="0"/>
              <a:t> </a:t>
            </a:r>
            <a:r>
              <a:rPr spc="-160" dirty="0"/>
              <a:t>Interframe</a:t>
            </a:r>
            <a:r>
              <a:rPr spc="-530" dirty="0"/>
              <a:t> </a:t>
            </a:r>
            <a:r>
              <a:rPr spc="-65" dirty="0"/>
              <a:t>Spaces</a:t>
            </a:r>
          </a:p>
        </p:txBody>
      </p:sp>
      <p:sp>
        <p:nvSpPr>
          <p:cNvPr id="3" name="object 3"/>
          <p:cNvSpPr/>
          <p:nvPr/>
        </p:nvSpPr>
        <p:spPr>
          <a:xfrm>
            <a:off x="831671" y="1559685"/>
            <a:ext cx="9144000" cy="679198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5822" y="1510538"/>
            <a:ext cx="254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1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Exchange</a:t>
            </a:r>
            <a:r>
              <a:rPr kumimoji="0" sz="1800" b="1" i="1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Scenarios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2054351"/>
            <a:ext cx="9144000" cy="5153025"/>
            <a:chOff x="774839" y="2054351"/>
            <a:chExt cx="9144000" cy="5153025"/>
          </a:xfrm>
        </p:grpSpPr>
        <p:sp>
          <p:nvSpPr>
            <p:cNvPr id="6" name="object 6"/>
            <p:cNvSpPr/>
            <p:nvPr/>
          </p:nvSpPr>
          <p:spPr>
            <a:xfrm>
              <a:off x="1703717" y="2054351"/>
              <a:ext cx="7505700" cy="46977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335545C-7A6F-4A40-B151-2266A4D92E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33FB4D-B021-D030-3818-1627DA75414F}"/>
              </a:ext>
            </a:extLst>
          </p:cNvPr>
          <p:cNvSpPr/>
          <p:nvPr/>
        </p:nvSpPr>
        <p:spPr>
          <a:xfrm>
            <a:off x="4737100" y="2028825"/>
            <a:ext cx="44196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27CADF-466D-6CD0-EC69-6C29895C6221}"/>
              </a:ext>
            </a:extLst>
          </p:cNvPr>
          <p:cNvSpPr/>
          <p:nvPr/>
        </p:nvSpPr>
        <p:spPr>
          <a:xfrm>
            <a:off x="1666174" y="5229224"/>
            <a:ext cx="7642925" cy="14019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7135B1F0-5160-5E90-BDD0-7D5315E95F99}"/>
              </a:ext>
            </a:extLst>
          </p:cNvPr>
          <p:cNvSpPr txBox="1">
            <a:spLocks/>
          </p:cNvSpPr>
          <p:nvPr/>
        </p:nvSpPr>
        <p:spPr>
          <a:xfrm>
            <a:off x="2070100" y="717105"/>
            <a:ext cx="6629400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516822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ADD79-2278-EDCC-B75F-C9EEE25C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6181C26-1860-C48A-F0D8-B069DB2BBBF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Timing</a:t>
            </a:r>
            <a:r>
              <a:rPr spc="-434" dirty="0"/>
              <a:t> </a:t>
            </a:r>
            <a:r>
              <a:rPr spc="-105" dirty="0"/>
              <a:t>and</a:t>
            </a:r>
            <a:r>
              <a:rPr spc="-420" dirty="0"/>
              <a:t> </a:t>
            </a:r>
            <a:r>
              <a:rPr spc="-160" dirty="0"/>
              <a:t>Interframe</a:t>
            </a:r>
            <a:r>
              <a:rPr spc="-530" dirty="0"/>
              <a:t> </a:t>
            </a:r>
            <a:r>
              <a:rPr spc="-65" dirty="0"/>
              <a:t>Spaces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FA5CA6-D2DF-2ECD-4CDA-95432981627B}"/>
              </a:ext>
            </a:extLst>
          </p:cNvPr>
          <p:cNvSpPr/>
          <p:nvPr/>
        </p:nvSpPr>
        <p:spPr>
          <a:xfrm>
            <a:off x="831671" y="1559685"/>
            <a:ext cx="9144000" cy="679198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363DCE5-DA3D-F600-A044-70781F07FFF3}"/>
              </a:ext>
            </a:extLst>
          </p:cNvPr>
          <p:cNvSpPr txBox="1"/>
          <p:nvPr/>
        </p:nvSpPr>
        <p:spPr>
          <a:xfrm>
            <a:off x="4425822" y="1510538"/>
            <a:ext cx="254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1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Exchange</a:t>
            </a:r>
            <a:r>
              <a:rPr kumimoji="0" sz="1800" b="1" i="1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Scenarios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18EB3231-932F-25AA-1C6A-12F35A5EC41A}"/>
              </a:ext>
            </a:extLst>
          </p:cNvPr>
          <p:cNvGrpSpPr/>
          <p:nvPr/>
        </p:nvGrpSpPr>
        <p:grpSpPr>
          <a:xfrm>
            <a:off x="774839" y="2054351"/>
            <a:ext cx="9144000" cy="5153025"/>
            <a:chOff x="774839" y="2054351"/>
            <a:chExt cx="9144000" cy="515302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CCDC2C6-EE65-A0D5-0BAE-C2E082D10974}"/>
                </a:ext>
              </a:extLst>
            </p:cNvPr>
            <p:cNvSpPr/>
            <p:nvPr/>
          </p:nvSpPr>
          <p:spPr>
            <a:xfrm>
              <a:off x="1703717" y="2054351"/>
              <a:ext cx="7505700" cy="46977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1AC0BBF-EB43-FDE3-250C-509A15E480E7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D6FECBB-280A-DB51-D034-8689A959D7A9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D4DEF0C-C194-0F62-B7DA-7279D56D3DF0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D03B751-F9C1-C8D4-90DA-D632C3F069C4}"/>
                </a:ext>
              </a:extLst>
            </p:cNvPr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94BABA0-5AB0-BD98-A308-40060453A953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7FF8276-1406-CCAC-B93F-DD4450116496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05AAF44-9AF3-F064-52BE-6E9089126DDC}"/>
                </a:ext>
              </a:extLst>
            </p:cNvPr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449DB55-8299-5ACC-E428-212B81D23826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8E70C4-9931-683D-8D9C-6537010CE5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1B6BF5-85C1-88A3-6AAA-7A1FD3AA1EAF}"/>
              </a:ext>
            </a:extLst>
          </p:cNvPr>
          <p:cNvSpPr/>
          <p:nvPr/>
        </p:nvSpPr>
        <p:spPr>
          <a:xfrm>
            <a:off x="7099300" y="2028825"/>
            <a:ext cx="20574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E8AFE-A247-F59D-2626-BFF655EB14B1}"/>
              </a:ext>
            </a:extLst>
          </p:cNvPr>
          <p:cNvSpPr/>
          <p:nvPr/>
        </p:nvSpPr>
        <p:spPr>
          <a:xfrm>
            <a:off x="1666174" y="6149720"/>
            <a:ext cx="7642925" cy="481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F70A0E08-C70C-B786-07C8-950C8DFB3579}"/>
              </a:ext>
            </a:extLst>
          </p:cNvPr>
          <p:cNvSpPr txBox="1">
            <a:spLocks/>
          </p:cNvSpPr>
          <p:nvPr/>
        </p:nvSpPr>
        <p:spPr>
          <a:xfrm>
            <a:off x="2070100" y="667512"/>
            <a:ext cx="6629400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527961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00B4-3AD9-1023-3080-E2772746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3C7561-B456-BFF6-45EC-25D72F6E227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Timing</a:t>
            </a:r>
            <a:r>
              <a:rPr spc="-434" dirty="0"/>
              <a:t> </a:t>
            </a:r>
            <a:r>
              <a:rPr spc="-105" dirty="0"/>
              <a:t>and</a:t>
            </a:r>
            <a:r>
              <a:rPr spc="-420" dirty="0"/>
              <a:t> </a:t>
            </a:r>
            <a:r>
              <a:rPr spc="-160" dirty="0"/>
              <a:t>Interframe</a:t>
            </a:r>
            <a:r>
              <a:rPr spc="-530" dirty="0"/>
              <a:t> </a:t>
            </a:r>
            <a:r>
              <a:rPr spc="-65" dirty="0"/>
              <a:t>Spaces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D760ECD-AA64-C4E0-FB88-F704679AE392}"/>
              </a:ext>
            </a:extLst>
          </p:cNvPr>
          <p:cNvSpPr/>
          <p:nvPr/>
        </p:nvSpPr>
        <p:spPr>
          <a:xfrm>
            <a:off x="831671" y="1559685"/>
            <a:ext cx="9144000" cy="679198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7A7A1B0-9CFB-BBFF-51FE-7ED188C89EAB}"/>
              </a:ext>
            </a:extLst>
          </p:cNvPr>
          <p:cNvSpPr txBox="1"/>
          <p:nvPr/>
        </p:nvSpPr>
        <p:spPr>
          <a:xfrm>
            <a:off x="4425822" y="1510538"/>
            <a:ext cx="254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1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Exchange</a:t>
            </a:r>
            <a:r>
              <a:rPr kumimoji="0" sz="1800" b="1" i="1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1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Scenarios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9DF625FE-C92D-0D0C-362B-08E317796307}"/>
              </a:ext>
            </a:extLst>
          </p:cNvPr>
          <p:cNvGrpSpPr/>
          <p:nvPr/>
        </p:nvGrpSpPr>
        <p:grpSpPr>
          <a:xfrm>
            <a:off x="774839" y="2054351"/>
            <a:ext cx="9144000" cy="5153025"/>
            <a:chOff x="774839" y="2054351"/>
            <a:chExt cx="9144000" cy="515302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E7411EB-7626-8EBB-23F3-40FBEE78080D}"/>
                </a:ext>
              </a:extLst>
            </p:cNvPr>
            <p:cNvSpPr/>
            <p:nvPr/>
          </p:nvSpPr>
          <p:spPr>
            <a:xfrm>
              <a:off x="1703717" y="2054351"/>
              <a:ext cx="7505700" cy="46977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6508B51-5A29-708E-0E8E-5C79AEBC1D25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A8837AA-A692-B99D-16E2-A02CB63DD8B6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E2E901C-C32C-EC83-8BC0-A79650A6A6F1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08EC4DF-BC69-A653-8769-5C9C689BD992}"/>
                </a:ext>
              </a:extLst>
            </p:cNvPr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C938601-4FD8-3FC8-B40C-246DFDDE5C23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1DA79E5-F89C-8186-AC24-218063D0C1FE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AEBB40F-44FA-100D-C61E-C89CE97D84DF}"/>
                </a:ext>
              </a:extLst>
            </p:cNvPr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A29FCAA-4D4D-0F3A-A803-B256398CF84D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BAED40E-AD8E-548D-9D46-BC82E8E177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C8FC748A-2253-4DF4-C4DA-B8684F906B74}"/>
              </a:ext>
            </a:extLst>
          </p:cNvPr>
          <p:cNvSpPr txBox="1">
            <a:spLocks/>
          </p:cNvSpPr>
          <p:nvPr/>
        </p:nvSpPr>
        <p:spPr>
          <a:xfrm>
            <a:off x="1993900" y="688595"/>
            <a:ext cx="6705600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354762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901" y="375157"/>
            <a:ext cx="6781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52676"/>
            <a:ext cx="7824470" cy="43294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199390" lvl="0" indent="-34290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between</a:t>
            </a:r>
            <a:r>
              <a:rPr kumimoji="0" sz="24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MAC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frames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called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  </a:t>
            </a:r>
            <a:r>
              <a:rPr kumimoji="0" sz="2400" b="1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</a:t>
            </a:r>
            <a:r>
              <a:rPr kumimoji="0" sz="2400" b="1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(IFS).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defines 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4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different</a:t>
            </a:r>
            <a:r>
              <a:rPr kumimoji="0" sz="2400" b="0" i="0" u="none" strike="noStrike" kern="1200" cap="none" spc="-5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IFSs: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Short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</a:t>
            </a:r>
            <a:r>
              <a:rPr kumimoji="0" sz="2000" b="0" i="0" u="none" strike="noStrike" kern="1200" cap="none" spc="-3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(SIFS)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Point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(PIFS)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(DIFS)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Extended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Spce</a:t>
            </a:r>
            <a:r>
              <a:rPr kumimoji="0" sz="2000" b="0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(EIFS)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461645" lvl="0" indent="-342900" algn="l" defTabSz="914400" rtl="0" eaLnBrk="1" fontAlgn="auto" latinLnBrk="0" hangingPunct="1">
              <a:lnSpc>
                <a:spcPts val="2590"/>
              </a:lnSpc>
              <a:spcBef>
                <a:spcPts val="59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These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IFSs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represent</a:t>
            </a:r>
            <a:r>
              <a:rPr kumimoji="0" sz="24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three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different</a:t>
            </a:r>
            <a:r>
              <a:rPr kumimoji="0" sz="24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levels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(See</a:t>
            </a:r>
            <a:r>
              <a:rPr kumimoji="0" sz="24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Fig.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shorter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IFS,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higher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priority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590"/>
              </a:lnSpc>
              <a:spcBef>
                <a:spcPts val="615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All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interframe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spaces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independent</a:t>
            </a:r>
            <a:r>
              <a:rPr kumimoji="0" sz="24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 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rate.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C2AC7D8-0ED3-489D-89AD-FF682765D2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FC6DF2FC-D849-8D9F-61DD-E788F9AB02C9}"/>
              </a:ext>
            </a:extLst>
          </p:cNvPr>
          <p:cNvSpPr txBox="1">
            <a:spLocks/>
          </p:cNvSpPr>
          <p:nvPr/>
        </p:nvSpPr>
        <p:spPr>
          <a:xfrm>
            <a:off x="2141993" y="385451"/>
            <a:ext cx="663370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66828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0101" y="375157"/>
            <a:ext cx="70104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</a:t>
            </a:r>
            <a:r>
              <a:rPr lang="en-US" sz="4000" spc="-160" dirty="0"/>
              <a:t>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45055"/>
            <a:ext cx="7325359" cy="432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659A"/>
              </a:buClr>
              <a:buSzPct val="88888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calculate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basis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all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802.11a,</a:t>
            </a:r>
            <a:r>
              <a:rPr kumimoji="0" sz="1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aSlotTime=9µs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8888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prioritize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immediate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frame,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response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(CTS)</a:t>
            </a:r>
            <a:r>
              <a:rPr kumimoji="0" sz="1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RTS,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subsequent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MPDU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fragmented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MSDU,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response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any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polling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using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PCF,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any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AP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during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CFP.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16µs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802.11a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8888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by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operating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under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PCF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obtain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highest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priority.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+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25µs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802.11a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>
                <a:srgbClr val="00659A"/>
              </a:buClr>
              <a:buSzPct val="88888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by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operating</a:t>
            </a:r>
            <a:r>
              <a:rPr kumimoji="0" sz="1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under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DCF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obtain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+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*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aSlotTime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755015" marR="0" lvl="1" indent="-2863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</a:tabLst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34µs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802.11a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3AACF2-31C4-47F2-9A14-BE448D08B5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04C77023-19C5-A1AD-76C0-6F9A98490C28}"/>
              </a:ext>
            </a:extLst>
          </p:cNvPr>
          <p:cNvSpPr txBox="1">
            <a:spLocks/>
          </p:cNvSpPr>
          <p:nvPr/>
        </p:nvSpPr>
        <p:spPr>
          <a:xfrm>
            <a:off x="1229427" y="39520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72527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745D71-13CD-F5BC-2371-94E41251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A2D823D-0647-05B6-0392-52E525C7BEA3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E32C602-FC32-ACAB-10B5-3B7901E53EB3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2402CAF-2BEF-82B1-F5CE-14D751BABCBE}"/>
              </a:ext>
            </a:extLst>
          </p:cNvPr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F2E58FC-5D76-C770-C81E-C4742DFC219A}"/>
              </a:ext>
            </a:extLst>
          </p:cNvPr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0DF8316-7DD4-83D9-BBA0-E0B45A9F6690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400CB8D-B0DA-E6AC-3602-DFBC603C3FF0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272DAB1-3613-C595-A08A-9E895F9FBA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E193074-793C-DAC5-93E4-AB70B3A7B94A}"/>
              </a:ext>
            </a:extLst>
          </p:cNvPr>
          <p:cNvSpPr/>
          <p:nvPr/>
        </p:nvSpPr>
        <p:spPr>
          <a:xfrm>
            <a:off x="1561223" y="1777745"/>
            <a:ext cx="7662671" cy="473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9D19E174-D692-1C79-5F68-963796B35DEF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B14F254-997A-FF5D-4711-2046E7895DB7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20B9487-9A21-9A4D-4229-073F976AEA1B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1752F9B-DBD5-8D95-71A7-A2643E395DAC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6DC92C6-D29F-C63E-FCE9-62A6BDAFCD17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D12E474-8A55-1229-9628-D01D628AC19A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0BA0C1E-AF08-B6C7-8411-79A3C5E34D37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DD40084-4C12-EEB5-E371-00732DB67030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AA3C7267-8C8D-4105-3DA7-FBF0D716744E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6D282AF-CB5A-5C59-8603-7220A160C0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E29C90-BC7C-302F-DF71-6A5847F66DFF}"/>
              </a:ext>
            </a:extLst>
          </p:cNvPr>
          <p:cNvGrpSpPr/>
          <p:nvPr/>
        </p:nvGrpSpPr>
        <p:grpSpPr>
          <a:xfrm>
            <a:off x="3927857" y="2014855"/>
            <a:ext cx="5152643" cy="2985770"/>
            <a:chOff x="3821573" y="2014855"/>
            <a:chExt cx="5228843" cy="298577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6E38934-A746-703C-09F0-A538C5213839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DEFA396-147A-B09C-A84A-6F34CEDB8B5F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object 2">
            <a:extLst>
              <a:ext uri="{FF2B5EF4-FFF2-40B4-BE49-F238E27FC236}">
                <a16:creationId xmlns:a16="http://schemas.microsoft.com/office/drawing/2014/main" id="{6A7B3B2F-6A96-2501-A7D9-3565DF1A9F13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90445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61223" y="1777745"/>
            <a:ext cx="7662671" cy="473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9F289A6-0724-4EC5-B001-0B8AE6654A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949256-E719-2603-3410-5B35AB515927}"/>
              </a:ext>
            </a:extLst>
          </p:cNvPr>
          <p:cNvGrpSpPr/>
          <p:nvPr/>
        </p:nvGrpSpPr>
        <p:grpSpPr>
          <a:xfrm>
            <a:off x="6957072" y="2014855"/>
            <a:ext cx="2123428" cy="2295460"/>
            <a:chOff x="3821573" y="2014855"/>
            <a:chExt cx="5228843" cy="298577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7B38D3E-0475-95AD-D995-53CAD537D557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0FAEAB7-55B0-E49D-96BB-7007B3F2A98A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FD5AF5A-C476-5B5F-D36F-690D6425A756}"/>
              </a:ext>
            </a:extLst>
          </p:cNvPr>
          <p:cNvSpPr/>
          <p:nvPr/>
        </p:nvSpPr>
        <p:spPr>
          <a:xfrm>
            <a:off x="8035302" y="2133727"/>
            <a:ext cx="2123428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7E23632A-1E6D-2F63-A6CE-1AE237EAE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6AD6AD09-BC93-A15E-DD7B-23BC69EEFBF8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3380764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5E1678-8246-9459-1DF4-93A8E3C5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0F7E6A-AB61-D0B9-8F97-0C05AB466430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1387210-9CB6-A25C-B18E-08A16B44E275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E3F2309-AAA6-8BBD-91AA-EF39A35B9D78}"/>
              </a:ext>
            </a:extLst>
          </p:cNvPr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F457858-7D94-88D7-FD62-5D8C346D86A3}"/>
              </a:ext>
            </a:extLst>
          </p:cNvPr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D59B70B-EC27-FE75-0A7D-43260375445E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F8B7C44-1203-88B2-0F0A-29753448EB56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41F2B3C-4CB5-8710-2FFE-43D594BC10D0}"/>
              </a:ext>
            </a:extLst>
          </p:cNvPr>
          <p:cNvSpPr/>
          <p:nvPr/>
        </p:nvSpPr>
        <p:spPr>
          <a:xfrm>
            <a:off x="1561223" y="1777745"/>
            <a:ext cx="7662671" cy="473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54D9D479-F7C2-8AEE-D08C-69824048422F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BF943A3-97A4-B1BF-C203-24E925DB3016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7E02EA1-057D-155B-057B-9A4DD461FB92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2C7E39C-6D9C-91A6-7AE6-F7853D308A9C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EB397BB-E175-6454-B971-764B493123B5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354E3E8B-EA97-7E7C-230E-5DF31FCB54BD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1D35D46-1414-641B-8F77-656D4B0E6E36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8CC1FBE-752E-086D-AE42-6F382EB6D1FC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59B79CB-3D63-B1F6-15F8-04F572CA47A8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FBC2B20-1ACE-DE9F-E101-7E0B7591E5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B5AD25-7EDA-AECB-23B0-4E0E57CB204C}"/>
              </a:ext>
            </a:extLst>
          </p:cNvPr>
          <p:cNvSpPr/>
          <p:nvPr/>
        </p:nvSpPr>
        <p:spPr>
          <a:xfrm>
            <a:off x="8035302" y="2133727"/>
            <a:ext cx="2123428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2E50A369-FEBF-0064-6AEE-1E596C88BA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28A5AC1E-7BF1-28F4-CC3D-B2D1F0CB72CC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849241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4B16C9-9848-0B1C-5E35-B45CE37C1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5FED24-9BA5-964B-A2DF-ADB15EAC0E55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5FB125-2C43-576D-82CC-2E54FFEF3522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049E112-18F4-601F-3D5B-456D29383920}"/>
              </a:ext>
            </a:extLst>
          </p:cNvPr>
          <p:cNvSpPr/>
          <p:nvPr/>
        </p:nvSpPr>
        <p:spPr>
          <a:xfrm>
            <a:off x="19627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2A48639-BA1D-A858-E64F-CF659908AE84}"/>
              </a:ext>
            </a:extLst>
          </p:cNvPr>
          <p:cNvSpPr/>
          <p:nvPr/>
        </p:nvSpPr>
        <p:spPr>
          <a:xfrm>
            <a:off x="83826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A42C0CE-36DA-E651-DAF8-3B3D8065FEC3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562EAB9-DA71-A81E-85BC-551928BDE5CD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ADFF2EE-0B85-4BD2-CC3D-0D4F0C7A9F95}"/>
              </a:ext>
            </a:extLst>
          </p:cNvPr>
          <p:cNvSpPr/>
          <p:nvPr/>
        </p:nvSpPr>
        <p:spPr>
          <a:xfrm>
            <a:off x="1561223" y="1777745"/>
            <a:ext cx="7662671" cy="473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FBA76210-1BC7-162C-CC56-960D4046E514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1D9D331-450C-4101-A042-580035DDC7D1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ACB30A7-BCF4-0A00-8DE0-D73AB6C6D4E1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6E5BD08-611E-08A2-E058-6CA7E9E9FC19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031CCED-A75E-BEB8-F582-D464F95A6B37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1AFB97F-2EFF-0EC4-D3E5-0DF55B114A83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89097621-37FB-C465-980D-93ABB73FAE12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D5C6DF9-E9C4-40D3-4EE8-59742481E920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0CEC13A7-D4FA-A7CF-0EF9-B3E57D41D463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06746D7-BFEB-D49C-C92E-A63B06EEF8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5448CEFE-0386-C44D-76F3-41801EDD2D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414D6F93-6A66-5708-8B90-8F1A9795F38E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006779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10779" y="1838959"/>
            <a:ext cx="7943850" cy="44602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4965" marR="5080" lvl="0" indent="-342900" algn="l" defTabSz="914400" rtl="0" eaLnBrk="1" fontAlgn="auto" latinLnBrk="0" hangingPunct="1">
              <a:lnSpc>
                <a:spcPts val="3240"/>
              </a:lnSpc>
              <a:spcBef>
                <a:spcPts val="505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EIFS</a:t>
            </a:r>
            <a:r>
              <a:rPr kumimoji="0" sz="3000" b="0" i="0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(Extended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IFS):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instead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3000" b="0" i="0" u="none" strike="noStrike" kern="1200" cap="none" spc="-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 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multiple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 </a:t>
            </a:r>
            <a:r>
              <a:rPr kumimoji="0" sz="3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initiated </a:t>
            </a:r>
            <a:r>
              <a:rPr kumimoji="0" sz="3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exchanges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  </a:t>
            </a:r>
            <a:r>
              <a:rPr kumimoji="0" sz="3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different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3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times, </a:t>
            </a:r>
            <a:r>
              <a:rPr kumimoji="0" sz="3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typically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due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they 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hidden</a:t>
            </a:r>
            <a:r>
              <a:rPr kumimoji="0" sz="3000" b="1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each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other.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42925" lvl="0" indent="-342900" algn="l" defTabSz="914400" rtl="0" eaLnBrk="1" fontAlgn="auto" latinLnBrk="0" hangingPunct="1">
              <a:lnSpc>
                <a:spcPts val="3240"/>
              </a:lnSpc>
              <a:spcBef>
                <a:spcPts val="72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EIFS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results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3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longer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deferral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  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3000" b="0" i="0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access,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which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gives</a:t>
            </a:r>
            <a:r>
              <a:rPr kumimoji="0" sz="3000" b="0" i="0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</a:t>
            </a:r>
            <a:r>
              <a:rPr kumimoji="0" sz="30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higher</a:t>
            </a:r>
            <a:r>
              <a:rPr kumimoji="0" sz="3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priority</a:t>
            </a:r>
            <a:r>
              <a:rPr kumimoji="0" sz="30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access.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276225" lvl="0" indent="-342900" algn="l" defTabSz="914400" rtl="0" eaLnBrk="1" fontAlgn="auto" latinLnBrk="0" hangingPunct="1">
              <a:lnSpc>
                <a:spcPts val="3240"/>
              </a:lnSpc>
              <a:spcBef>
                <a:spcPts val="72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soon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30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</a:t>
            </a:r>
            <a:r>
              <a:rPr kumimoji="0" sz="30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r>
              <a:rPr kumimoji="0" sz="30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received</a:t>
            </a:r>
            <a:r>
              <a:rPr kumimoji="0" sz="30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correctly,  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3000" b="0" i="0" u="none" strike="noStrike" kern="1200" cap="none" spc="-6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 </a:t>
            </a:r>
            <a:r>
              <a:rPr kumimoji="0" sz="3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again.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EIFS</a:t>
            </a:r>
            <a:r>
              <a:rPr kumimoji="0" sz="3000" b="0" i="0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around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200µs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30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0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5" name="object 5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595574-CE5D-4FE5-AD70-67F109DC54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3E3A0F38-946A-2504-594D-E371A4792D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1663" y="375157"/>
            <a:ext cx="6758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 marR="5080" indent="-1617980">
              <a:lnSpc>
                <a:spcPct val="100000"/>
              </a:lnSpc>
              <a:spcBef>
                <a:spcPts val="100"/>
              </a:spcBef>
            </a:pPr>
            <a:r>
              <a:rPr sz="4000" spc="-85" dirty="0"/>
              <a:t>Timing </a:t>
            </a:r>
            <a:r>
              <a:rPr sz="4000" spc="-105" dirty="0"/>
              <a:t>and</a:t>
            </a:r>
            <a:r>
              <a:rPr sz="4000" spc="-780" dirty="0"/>
              <a:t> </a:t>
            </a:r>
            <a:r>
              <a:rPr sz="4000" spc="-160" dirty="0"/>
              <a:t>Interframe  </a:t>
            </a:r>
            <a:r>
              <a:rPr sz="4000" spc="-65" dirty="0"/>
              <a:t>Spaces</a:t>
            </a:r>
            <a:endParaRPr sz="4000" dirty="0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CA0258AD-EFAB-2F86-9909-F408423A5412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757915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6895" y="646430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3913632"/>
            <a:ext cx="9144000" cy="2157730"/>
            <a:chOff x="774839" y="3913632"/>
            <a:chExt cx="9144000" cy="2157730"/>
          </a:xfrm>
        </p:grpSpPr>
        <p:sp>
          <p:nvSpPr>
            <p:cNvPr id="6" name="object 6"/>
            <p:cNvSpPr/>
            <p:nvPr/>
          </p:nvSpPr>
          <p:spPr>
            <a:xfrm>
              <a:off x="4489589" y="4349496"/>
              <a:ext cx="501015" cy="285750"/>
            </a:xfrm>
            <a:custGeom>
              <a:avLst/>
              <a:gdLst/>
              <a:ahLst/>
              <a:cxnLst/>
              <a:rect l="l" t="t" r="r" b="b"/>
              <a:pathLst>
                <a:path w="501014" h="285750">
                  <a:moveTo>
                    <a:pt x="500633" y="250698"/>
                  </a:moveTo>
                  <a:lnTo>
                    <a:pt x="496603" y="205574"/>
                  </a:lnTo>
                  <a:lnTo>
                    <a:pt x="484984" y="163129"/>
                  </a:lnTo>
                  <a:lnTo>
                    <a:pt x="466485" y="124064"/>
                  </a:lnTo>
                  <a:lnTo>
                    <a:pt x="441814" y="89082"/>
                  </a:lnTo>
                  <a:lnTo>
                    <a:pt x="411681" y="58886"/>
                  </a:lnTo>
                  <a:lnTo>
                    <a:pt x="376794" y="34177"/>
                  </a:lnTo>
                  <a:lnTo>
                    <a:pt x="337862" y="15658"/>
                  </a:lnTo>
                  <a:lnTo>
                    <a:pt x="295594" y="4031"/>
                  </a:lnTo>
                  <a:lnTo>
                    <a:pt x="250697" y="0"/>
                  </a:lnTo>
                  <a:lnTo>
                    <a:pt x="205574" y="4031"/>
                  </a:lnTo>
                  <a:lnTo>
                    <a:pt x="163129" y="15658"/>
                  </a:lnTo>
                  <a:lnTo>
                    <a:pt x="124064" y="34177"/>
                  </a:lnTo>
                  <a:lnTo>
                    <a:pt x="89082" y="58886"/>
                  </a:lnTo>
                  <a:lnTo>
                    <a:pt x="58886" y="89082"/>
                  </a:lnTo>
                  <a:lnTo>
                    <a:pt x="34177" y="124064"/>
                  </a:lnTo>
                  <a:lnTo>
                    <a:pt x="15658" y="163129"/>
                  </a:lnTo>
                  <a:lnTo>
                    <a:pt x="4031" y="205574"/>
                  </a:lnTo>
                  <a:lnTo>
                    <a:pt x="0" y="250698"/>
                  </a:lnTo>
                  <a:lnTo>
                    <a:pt x="3147" y="285750"/>
                  </a:lnTo>
                  <a:lnTo>
                    <a:pt x="497487" y="285750"/>
                  </a:lnTo>
                  <a:lnTo>
                    <a:pt x="500633" y="250698"/>
                  </a:lnTo>
                  <a:close/>
                </a:path>
              </a:pathLst>
            </a:custGeom>
            <a:solidFill>
              <a:srgbClr val="9FE0E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81969" y="4343246"/>
              <a:ext cx="516255" cy="292100"/>
            </a:xfrm>
            <a:custGeom>
              <a:avLst/>
              <a:gdLst/>
              <a:ahLst/>
              <a:cxnLst/>
              <a:rect l="l" t="t" r="r" b="b"/>
              <a:pathLst>
                <a:path w="516254" h="292100">
                  <a:moveTo>
                    <a:pt x="515874" y="256185"/>
                  </a:moveTo>
                  <a:lnTo>
                    <a:pt x="511076" y="213416"/>
                  </a:lnTo>
                  <a:lnTo>
                    <a:pt x="501459" y="174546"/>
                  </a:lnTo>
                  <a:lnTo>
                    <a:pt x="469606" y="108500"/>
                  </a:lnTo>
                  <a:lnTo>
                    <a:pt x="423990" y="58038"/>
                  </a:lnTo>
                  <a:lnTo>
                    <a:pt x="368287" y="23151"/>
                  </a:lnTo>
                  <a:lnTo>
                    <a:pt x="306172" y="3827"/>
                  </a:lnTo>
                  <a:lnTo>
                    <a:pt x="273858" y="0"/>
                  </a:lnTo>
                  <a:lnTo>
                    <a:pt x="241321" y="59"/>
                  </a:lnTo>
                  <a:lnTo>
                    <a:pt x="177410" y="11836"/>
                  </a:lnTo>
                  <a:lnTo>
                    <a:pt x="118114" y="39149"/>
                  </a:lnTo>
                  <a:lnTo>
                    <a:pt x="67111" y="81987"/>
                  </a:lnTo>
                  <a:lnTo>
                    <a:pt x="28074" y="140342"/>
                  </a:lnTo>
                  <a:lnTo>
                    <a:pt x="4681" y="214204"/>
                  </a:lnTo>
                  <a:lnTo>
                    <a:pt x="0" y="256947"/>
                  </a:lnTo>
                  <a:lnTo>
                    <a:pt x="3138" y="291999"/>
                  </a:lnTo>
                  <a:lnTo>
                    <a:pt x="16001" y="291999"/>
                  </a:lnTo>
                  <a:lnTo>
                    <a:pt x="16001" y="256185"/>
                  </a:lnTo>
                  <a:lnTo>
                    <a:pt x="16040" y="256546"/>
                  </a:lnTo>
                  <a:lnTo>
                    <a:pt x="20662" y="208234"/>
                  </a:lnTo>
                  <a:lnTo>
                    <a:pt x="34743" y="162707"/>
                  </a:lnTo>
                  <a:lnTo>
                    <a:pt x="57196" y="121403"/>
                  </a:lnTo>
                  <a:lnTo>
                    <a:pt x="86972" y="85364"/>
                  </a:lnTo>
                  <a:lnTo>
                    <a:pt x="123022" y="55627"/>
                  </a:lnTo>
                  <a:lnTo>
                    <a:pt x="164295" y="33233"/>
                  </a:lnTo>
                  <a:lnTo>
                    <a:pt x="209743" y="19221"/>
                  </a:lnTo>
                  <a:lnTo>
                    <a:pt x="258317" y="14631"/>
                  </a:lnTo>
                  <a:lnTo>
                    <a:pt x="306948" y="19357"/>
                  </a:lnTo>
                  <a:lnTo>
                    <a:pt x="352364" y="33514"/>
                  </a:lnTo>
                  <a:lnTo>
                    <a:pt x="393538" y="56037"/>
                  </a:lnTo>
                  <a:lnTo>
                    <a:pt x="429444" y="85864"/>
                  </a:lnTo>
                  <a:lnTo>
                    <a:pt x="459056" y="121931"/>
                  </a:lnTo>
                  <a:lnTo>
                    <a:pt x="481349" y="163176"/>
                  </a:lnTo>
                  <a:lnTo>
                    <a:pt x="495296" y="208536"/>
                  </a:lnTo>
                  <a:lnTo>
                    <a:pt x="499872" y="256947"/>
                  </a:lnTo>
                  <a:lnTo>
                    <a:pt x="499872" y="291999"/>
                  </a:lnTo>
                  <a:lnTo>
                    <a:pt x="512857" y="291999"/>
                  </a:lnTo>
                  <a:lnTo>
                    <a:pt x="515874" y="256185"/>
                  </a:lnTo>
                  <a:close/>
                </a:path>
                <a:path w="516254" h="292100">
                  <a:moveTo>
                    <a:pt x="16040" y="256546"/>
                  </a:moveTo>
                  <a:lnTo>
                    <a:pt x="16001" y="256185"/>
                  </a:lnTo>
                  <a:lnTo>
                    <a:pt x="16001" y="256947"/>
                  </a:lnTo>
                  <a:lnTo>
                    <a:pt x="16040" y="256546"/>
                  </a:lnTo>
                  <a:close/>
                </a:path>
                <a:path w="516254" h="292100">
                  <a:moveTo>
                    <a:pt x="19810" y="291999"/>
                  </a:moveTo>
                  <a:lnTo>
                    <a:pt x="16040" y="256546"/>
                  </a:lnTo>
                  <a:lnTo>
                    <a:pt x="16001" y="256947"/>
                  </a:lnTo>
                  <a:lnTo>
                    <a:pt x="16001" y="291999"/>
                  </a:lnTo>
                  <a:lnTo>
                    <a:pt x="19810" y="291999"/>
                  </a:lnTo>
                  <a:close/>
                </a:path>
                <a:path w="516254" h="292100">
                  <a:moveTo>
                    <a:pt x="499872" y="291999"/>
                  </a:moveTo>
                  <a:lnTo>
                    <a:pt x="499872" y="256947"/>
                  </a:lnTo>
                  <a:lnTo>
                    <a:pt x="496052" y="291999"/>
                  </a:lnTo>
                  <a:lnTo>
                    <a:pt x="499872" y="291999"/>
                  </a:lnTo>
                  <a:close/>
                </a:path>
              </a:pathLst>
            </a:custGeom>
            <a:solidFill>
              <a:srgbClr val="CFEFF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633095" y="3921252"/>
              <a:ext cx="500380" cy="500380"/>
            </a:xfrm>
            <a:custGeom>
              <a:avLst/>
              <a:gdLst/>
              <a:ahLst/>
              <a:cxnLst/>
              <a:rect l="l" t="t" r="r" b="b"/>
              <a:pathLst>
                <a:path w="500379" h="500379">
                  <a:moveTo>
                    <a:pt x="499871" y="249936"/>
                  </a:moveTo>
                  <a:lnTo>
                    <a:pt x="495841" y="205039"/>
                  </a:lnTo>
                  <a:lnTo>
                    <a:pt x="484222" y="162771"/>
                  </a:lnTo>
                  <a:lnTo>
                    <a:pt x="465723" y="123839"/>
                  </a:lnTo>
                  <a:lnTo>
                    <a:pt x="441052" y="88952"/>
                  </a:lnTo>
                  <a:lnTo>
                    <a:pt x="410919" y="58819"/>
                  </a:lnTo>
                  <a:lnTo>
                    <a:pt x="376032" y="34148"/>
                  </a:lnTo>
                  <a:lnTo>
                    <a:pt x="337100" y="15649"/>
                  </a:lnTo>
                  <a:lnTo>
                    <a:pt x="294832" y="4030"/>
                  </a:lnTo>
                  <a:lnTo>
                    <a:pt x="249935" y="0"/>
                  </a:lnTo>
                  <a:lnTo>
                    <a:pt x="205036" y="4030"/>
                  </a:lnTo>
                  <a:lnTo>
                    <a:pt x="162766" y="15649"/>
                  </a:lnTo>
                  <a:lnTo>
                    <a:pt x="123833" y="34148"/>
                  </a:lnTo>
                  <a:lnTo>
                    <a:pt x="88947" y="58819"/>
                  </a:lnTo>
                  <a:lnTo>
                    <a:pt x="58815" y="88952"/>
                  </a:lnTo>
                  <a:lnTo>
                    <a:pt x="34146" y="123839"/>
                  </a:lnTo>
                  <a:lnTo>
                    <a:pt x="15648" y="162771"/>
                  </a:lnTo>
                  <a:lnTo>
                    <a:pt x="4030" y="205039"/>
                  </a:lnTo>
                  <a:lnTo>
                    <a:pt x="0" y="249936"/>
                  </a:lnTo>
                  <a:lnTo>
                    <a:pt x="4030" y="294832"/>
                  </a:lnTo>
                  <a:lnTo>
                    <a:pt x="15648" y="337100"/>
                  </a:lnTo>
                  <a:lnTo>
                    <a:pt x="34146" y="376032"/>
                  </a:lnTo>
                  <a:lnTo>
                    <a:pt x="58815" y="410919"/>
                  </a:lnTo>
                  <a:lnTo>
                    <a:pt x="88947" y="441052"/>
                  </a:lnTo>
                  <a:lnTo>
                    <a:pt x="123833" y="465723"/>
                  </a:lnTo>
                  <a:lnTo>
                    <a:pt x="162766" y="484222"/>
                  </a:lnTo>
                  <a:lnTo>
                    <a:pt x="205036" y="495841"/>
                  </a:lnTo>
                  <a:lnTo>
                    <a:pt x="249935" y="499872"/>
                  </a:lnTo>
                  <a:lnTo>
                    <a:pt x="294832" y="495841"/>
                  </a:lnTo>
                  <a:lnTo>
                    <a:pt x="337100" y="484222"/>
                  </a:lnTo>
                  <a:lnTo>
                    <a:pt x="376032" y="465723"/>
                  </a:lnTo>
                  <a:lnTo>
                    <a:pt x="410919" y="441052"/>
                  </a:lnTo>
                  <a:lnTo>
                    <a:pt x="441052" y="410919"/>
                  </a:lnTo>
                  <a:lnTo>
                    <a:pt x="465723" y="376032"/>
                  </a:lnTo>
                  <a:lnTo>
                    <a:pt x="484222" y="337100"/>
                  </a:lnTo>
                  <a:lnTo>
                    <a:pt x="495841" y="294832"/>
                  </a:lnTo>
                  <a:lnTo>
                    <a:pt x="499871" y="249936"/>
                  </a:lnTo>
                  <a:close/>
                </a:path>
              </a:pathLst>
            </a:custGeom>
            <a:solidFill>
              <a:srgbClr val="9FE0E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625462" y="3913632"/>
              <a:ext cx="515620" cy="515620"/>
            </a:xfrm>
            <a:custGeom>
              <a:avLst/>
              <a:gdLst/>
              <a:ahLst/>
              <a:cxnLst/>
              <a:rect l="l" t="t" r="r" b="b"/>
              <a:pathLst>
                <a:path w="515620" h="515620">
                  <a:moveTo>
                    <a:pt x="515111" y="243839"/>
                  </a:moveTo>
                  <a:lnTo>
                    <a:pt x="508696" y="197978"/>
                  </a:lnTo>
                  <a:lnTo>
                    <a:pt x="494480" y="155118"/>
                  </a:lnTo>
                  <a:lnTo>
                    <a:pt x="473264" y="115984"/>
                  </a:lnTo>
                  <a:lnTo>
                    <a:pt x="445850" y="81301"/>
                  </a:lnTo>
                  <a:lnTo>
                    <a:pt x="413039" y="51794"/>
                  </a:lnTo>
                  <a:lnTo>
                    <a:pt x="375633" y="28185"/>
                  </a:lnTo>
                  <a:lnTo>
                    <a:pt x="334432" y="11200"/>
                  </a:lnTo>
                  <a:lnTo>
                    <a:pt x="290238" y="1564"/>
                  </a:lnTo>
                  <a:lnTo>
                    <a:pt x="243852" y="0"/>
                  </a:lnTo>
                  <a:lnTo>
                    <a:pt x="194614" y="7216"/>
                  </a:lnTo>
                  <a:lnTo>
                    <a:pt x="148623" y="23712"/>
                  </a:lnTo>
                  <a:lnTo>
                    <a:pt x="106937" y="48416"/>
                  </a:lnTo>
                  <a:lnTo>
                    <a:pt x="70610" y="80257"/>
                  </a:lnTo>
                  <a:lnTo>
                    <a:pt x="40697" y="118163"/>
                  </a:lnTo>
                  <a:lnTo>
                    <a:pt x="18254" y="161062"/>
                  </a:lnTo>
                  <a:lnTo>
                    <a:pt x="4337" y="207884"/>
                  </a:lnTo>
                  <a:lnTo>
                    <a:pt x="0" y="257555"/>
                  </a:lnTo>
                  <a:lnTo>
                    <a:pt x="0" y="271271"/>
                  </a:lnTo>
                  <a:lnTo>
                    <a:pt x="6338" y="317052"/>
                  </a:lnTo>
                  <a:lnTo>
                    <a:pt x="15252" y="343913"/>
                  </a:lnTo>
                  <a:lnTo>
                    <a:pt x="15252" y="257555"/>
                  </a:lnTo>
                  <a:lnTo>
                    <a:pt x="20054" y="215738"/>
                  </a:lnTo>
                  <a:lnTo>
                    <a:pt x="29781" y="177900"/>
                  </a:lnTo>
                  <a:lnTo>
                    <a:pt x="62040" y="114164"/>
                  </a:lnTo>
                  <a:lnTo>
                    <a:pt x="108087" y="66349"/>
                  </a:lnTo>
                  <a:lnTo>
                    <a:pt x="163981" y="34461"/>
                  </a:lnTo>
                  <a:lnTo>
                    <a:pt x="225781" y="18504"/>
                  </a:lnTo>
                  <a:lnTo>
                    <a:pt x="257663" y="16502"/>
                  </a:lnTo>
                  <a:lnTo>
                    <a:pt x="289545" y="18483"/>
                  </a:lnTo>
                  <a:lnTo>
                    <a:pt x="351332" y="34401"/>
                  </a:lnTo>
                  <a:lnTo>
                    <a:pt x="407201" y="66263"/>
                  </a:lnTo>
                  <a:lnTo>
                    <a:pt x="453210" y="114073"/>
                  </a:lnTo>
                  <a:lnTo>
                    <a:pt x="485418" y="177836"/>
                  </a:lnTo>
                  <a:lnTo>
                    <a:pt x="495115" y="215701"/>
                  </a:lnTo>
                  <a:lnTo>
                    <a:pt x="499884" y="257555"/>
                  </a:lnTo>
                  <a:lnTo>
                    <a:pt x="499884" y="344350"/>
                  </a:lnTo>
                  <a:lnTo>
                    <a:pt x="503912" y="334522"/>
                  </a:lnTo>
                  <a:lnTo>
                    <a:pt x="513506" y="290292"/>
                  </a:lnTo>
                  <a:lnTo>
                    <a:pt x="515111" y="243839"/>
                  </a:lnTo>
                  <a:close/>
                </a:path>
                <a:path w="515620" h="515620">
                  <a:moveTo>
                    <a:pt x="499884" y="344350"/>
                  </a:moveTo>
                  <a:lnTo>
                    <a:pt x="499884" y="257555"/>
                  </a:lnTo>
                  <a:lnTo>
                    <a:pt x="495162" y="300376"/>
                  </a:lnTo>
                  <a:lnTo>
                    <a:pt x="485149" y="339053"/>
                  </a:lnTo>
                  <a:lnTo>
                    <a:pt x="451434" y="403928"/>
                  </a:lnTo>
                  <a:lnTo>
                    <a:pt x="403108" y="452078"/>
                  </a:lnTo>
                  <a:lnTo>
                    <a:pt x="344541" y="483400"/>
                  </a:lnTo>
                  <a:lnTo>
                    <a:pt x="280103" y="497792"/>
                  </a:lnTo>
                  <a:lnTo>
                    <a:pt x="247048" y="498608"/>
                  </a:lnTo>
                  <a:lnTo>
                    <a:pt x="214163" y="495152"/>
                  </a:lnTo>
                  <a:lnTo>
                    <a:pt x="151091" y="475377"/>
                  </a:lnTo>
                  <a:lnTo>
                    <a:pt x="95258" y="438365"/>
                  </a:lnTo>
                  <a:lnTo>
                    <a:pt x="51031" y="384013"/>
                  </a:lnTo>
                  <a:lnTo>
                    <a:pt x="22782" y="312218"/>
                  </a:lnTo>
                  <a:lnTo>
                    <a:pt x="16014" y="269747"/>
                  </a:lnTo>
                  <a:lnTo>
                    <a:pt x="15252" y="257555"/>
                  </a:lnTo>
                  <a:lnTo>
                    <a:pt x="15252" y="343913"/>
                  </a:lnTo>
                  <a:lnTo>
                    <a:pt x="41837" y="399087"/>
                  </a:lnTo>
                  <a:lnTo>
                    <a:pt x="69341" y="433845"/>
                  </a:lnTo>
                  <a:lnTo>
                    <a:pt x="102243" y="463432"/>
                  </a:lnTo>
                  <a:lnTo>
                    <a:pt x="139717" y="487101"/>
                  </a:lnTo>
                  <a:lnTo>
                    <a:pt x="180934" y="504102"/>
                  </a:lnTo>
                  <a:lnTo>
                    <a:pt x="225066" y="513689"/>
                  </a:lnTo>
                  <a:lnTo>
                    <a:pt x="271284" y="515112"/>
                  </a:lnTo>
                  <a:lnTo>
                    <a:pt x="317394" y="508701"/>
                  </a:lnTo>
                  <a:lnTo>
                    <a:pt x="360366" y="494502"/>
                  </a:lnTo>
                  <a:lnTo>
                    <a:pt x="399509" y="473312"/>
                  </a:lnTo>
                  <a:lnTo>
                    <a:pt x="434127" y="445923"/>
                  </a:lnTo>
                  <a:lnTo>
                    <a:pt x="463530" y="413132"/>
                  </a:lnTo>
                  <a:lnTo>
                    <a:pt x="487022" y="375733"/>
                  </a:lnTo>
                  <a:lnTo>
                    <a:pt x="499884" y="344350"/>
                  </a:lnTo>
                  <a:close/>
                </a:path>
              </a:pathLst>
            </a:custGeom>
            <a:solidFill>
              <a:srgbClr val="CFEFF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555070" y="4345686"/>
              <a:ext cx="156845" cy="289560"/>
            </a:xfrm>
            <a:custGeom>
              <a:avLst/>
              <a:gdLst/>
              <a:ahLst/>
              <a:cxnLst/>
              <a:rect l="l" t="t" r="r" b="b"/>
              <a:pathLst>
                <a:path w="156845" h="289560">
                  <a:moveTo>
                    <a:pt x="156511" y="5334"/>
                  </a:moveTo>
                  <a:lnTo>
                    <a:pt x="145068" y="0"/>
                  </a:lnTo>
                  <a:lnTo>
                    <a:pt x="0" y="289560"/>
                  </a:lnTo>
                  <a:lnTo>
                    <a:pt x="14016" y="289560"/>
                  </a:lnTo>
                  <a:lnTo>
                    <a:pt x="156511" y="5334"/>
                  </a:lnTo>
                  <a:close/>
                </a:path>
              </a:pathLst>
            </a:custGeom>
            <a:solidFill>
              <a:srgbClr val="B8252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74839" y="4635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410597" y="4635246"/>
              <a:ext cx="3158489" cy="14359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10779" y="1852676"/>
            <a:ext cx="7868284" cy="355289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421005" lvl="0" indent="-34290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</a:t>
            </a:r>
            <a:r>
              <a:rPr kumimoji="0" sz="2400" b="1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happens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24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there</a:t>
            </a:r>
            <a:r>
              <a:rPr kumimoji="0" sz="2400" b="0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more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than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 attempts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same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590"/>
              </a:lnSpc>
              <a:spcBef>
                <a:spcPts val="58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wireless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communication,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transmitter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cannot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detect a 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receiver</a:t>
            </a:r>
            <a:r>
              <a:rPr kumimoji="0" sz="2400" b="0" i="0" u="none" strike="noStrike" kern="1200" cap="none" spc="-1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while</a:t>
            </a: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transmitting.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4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account</a:t>
            </a:r>
            <a:r>
              <a:rPr kumimoji="0" sz="24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4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this,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0" lvl="0" indent="0" algn="l" defTabSz="914400" rtl="0" eaLnBrk="1" fontAlgn="auto" latinLnBrk="0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based 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on</a:t>
            </a:r>
            <a:r>
              <a:rPr kumimoji="0" sz="2400" b="0" i="0" u="none" strike="noStrike" kern="1200" cap="none" spc="-5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CSMA/CA.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2225675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1003300" lvl="0" indent="0" algn="ctr" defTabSz="914400" rtl="0" eaLnBrk="1" fontAlgn="auto" latinLnBrk="0" hangingPunct="1">
              <a:lnSpc>
                <a:spcPct val="100000"/>
              </a:lnSpc>
              <a:spcBef>
                <a:spcPts val="12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2258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3051" y="5649721"/>
            <a:ext cx="169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6765" y="5506466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749" y="5960798"/>
            <a:ext cx="374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Node</a:t>
            </a:r>
            <a:r>
              <a:rPr kumimoji="0" sz="18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8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&amp;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transmits</a:t>
            </a:r>
            <a:r>
              <a:rPr kumimoji="0" sz="18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</a:t>
            </a:r>
            <a:r>
              <a:rPr kumimoji="0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8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same</a:t>
            </a:r>
            <a:r>
              <a:rPr kumimoji="0" sz="18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74839" y="6349746"/>
            <a:ext cx="9144000" cy="857250"/>
            <a:chOff x="774839" y="6349746"/>
            <a:chExt cx="9144000" cy="857250"/>
          </a:xfrm>
        </p:grpSpPr>
        <p:sp>
          <p:nvSpPr>
            <p:cNvPr id="18" name="object 18"/>
            <p:cNvSpPr/>
            <p:nvPr/>
          </p:nvSpPr>
          <p:spPr>
            <a:xfrm>
              <a:off x="774839" y="63497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775601" y="6818376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0DFAFBC-8775-4EA7-9821-D52992CE75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1CAA96AC-1577-0F8B-3605-7A21E4026F46}"/>
              </a:ext>
            </a:extLst>
          </p:cNvPr>
          <p:cNvSpPr txBox="1">
            <a:spLocks/>
          </p:cNvSpPr>
          <p:nvPr/>
        </p:nvSpPr>
        <p:spPr>
          <a:xfrm>
            <a:off x="1172138" y="596519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88758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6895" y="646430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310779" y="1834388"/>
            <a:ext cx="9217521" cy="286360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244475" lvl="0" indent="-342900" algn="l" defTabSz="914400" rtl="0" eaLnBrk="1" fontAlgn="auto" latinLnBrk="0" hangingPunct="1">
              <a:lnSpc>
                <a:spcPts val="3460"/>
              </a:lnSpc>
              <a:spcBef>
                <a:spcPts val="530"/>
              </a:spcBef>
              <a:spcAft>
                <a:spcPts val="0"/>
              </a:spcAft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  <a:defRPr/>
            </a:pP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 </a:t>
            </a:r>
            <a:r>
              <a:rPr kumimoji="0" sz="32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 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or </a:t>
            </a:r>
            <a:r>
              <a:rPr kumimoji="0" sz="3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more 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 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detect 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2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  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being </a:t>
            </a:r>
            <a:r>
              <a:rPr kumimoji="0" sz="3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 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 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same </a:t>
            </a:r>
            <a:r>
              <a:rPr kumimoji="0" sz="32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time, </a:t>
            </a:r>
            <a:r>
              <a:rPr kumimoji="0" sz="32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inevitably a  </a:t>
            </a:r>
            <a:r>
              <a:rPr kumimoji="0" sz="32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</a:t>
            </a:r>
            <a:r>
              <a:rPr kumimoji="0" sz="32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occurs</a:t>
            </a:r>
            <a:r>
              <a:rPr kumimoji="0" sz="3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3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these</a:t>
            </a:r>
            <a:r>
              <a:rPr kumimoji="0" sz="3200" b="0" i="0" u="none" strike="noStrike" kern="1200" cap="none" spc="-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</a:t>
            </a:r>
            <a:r>
              <a:rPr kumimoji="0" sz="32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initiate  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</a:t>
            </a:r>
            <a:r>
              <a:rPr kumimoji="0" sz="32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</a:t>
            </a: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3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same</a:t>
            </a:r>
            <a:r>
              <a:rPr kumimoji="0" sz="3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3460"/>
              </a:lnSpc>
              <a:spcBef>
                <a:spcPts val="750"/>
              </a:spcBef>
              <a:spcAft>
                <a:spcPts val="0"/>
              </a:spcAft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  <a:defRPr/>
            </a:pP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</a:t>
            </a:r>
            <a:r>
              <a:rPr kumimoji="0" sz="32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defines</a:t>
            </a: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</a:t>
            </a:r>
            <a:r>
              <a:rPr kumimoji="0" sz="32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mechanism</a:t>
            </a:r>
            <a:r>
              <a:rPr kumimoji="0" sz="32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32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reduce</a:t>
            </a: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probability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 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such</a:t>
            </a:r>
            <a:r>
              <a:rPr kumimoji="0" sz="3200" b="0" i="0" u="none" strike="noStrike" kern="1200" cap="none" spc="-6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99A068-6CD1-48E7-B24A-FC73A045D8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4581348B-0DA8-DC4D-808F-95E9EDD0F945}"/>
              </a:ext>
            </a:extLst>
          </p:cNvPr>
          <p:cNvSpPr txBox="1">
            <a:spLocks/>
          </p:cNvSpPr>
          <p:nvPr/>
        </p:nvSpPr>
        <p:spPr>
          <a:xfrm>
            <a:off x="1320113" y="587757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4052064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6895" y="646430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774839" y="1501266"/>
            <a:ext cx="9144000" cy="2276741"/>
          </a:xfrm>
          <a:custGeom>
            <a:avLst/>
            <a:gdLst/>
            <a:ahLst/>
            <a:cxnLst/>
            <a:rect l="l" t="t" r="r" b="b"/>
            <a:pathLst>
              <a:path w="9144000" h="257175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9695" y="1459819"/>
            <a:ext cx="8847951" cy="525669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marR="953769" lvl="0" indent="-342900" algn="l" defTabSz="914400" rtl="0" eaLnBrk="1" fontAlgn="auto" latinLnBrk="0" hangingPunct="1">
              <a:lnSpc>
                <a:spcPct val="80000"/>
              </a:lnSpc>
              <a:spcBef>
                <a:spcPts val="77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As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part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of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CA,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station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performs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backoff  </a:t>
            </a:r>
            <a:r>
              <a:rPr kumimoji="0" sz="2400" b="1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procedure</a:t>
            </a:r>
            <a:r>
              <a:rPr kumimoji="0" sz="2400" b="1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before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starting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transmission.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690"/>
              </a:lnSpc>
              <a:spcBef>
                <a:spcPts val="64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station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having </a:t>
            </a:r>
            <a:r>
              <a:rPr kumimoji="0" sz="24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MSDU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to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deliver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has to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keep 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sensing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channel</a:t>
            </a:r>
            <a:r>
              <a:rPr kumimoji="0" sz="24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an</a:t>
            </a:r>
            <a:r>
              <a:rPr kumimoji="0" sz="24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additional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random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time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(=backoff)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after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detecting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the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channel</a:t>
            </a:r>
            <a:r>
              <a:rPr kumimoji="0" sz="24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as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being</a:t>
            </a:r>
            <a:r>
              <a:rPr kumimoji="0" sz="2400" b="0" i="0" u="none" strike="noStrike" kern="1200" cap="none" spc="-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idle 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for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at</a:t>
            </a:r>
            <a:r>
              <a:rPr kumimoji="0" sz="2400" b="0" i="0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least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DIFS</a:t>
            </a:r>
            <a:r>
              <a:rPr kumimoji="0" sz="24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cs typeface="Trebuchet MS"/>
              </a:rPr>
              <a:t>(=34μs).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354965" lvl="0" indent="-342900">
              <a:spcBef>
                <a:spcPts val="1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Duration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of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Backoff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=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endParaRPr kumimoji="0" lang="en-US" sz="2400" b="0" i="0" u="none" strike="noStrike" kern="1200" cap="none" spc="-23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469265" lvl="1">
              <a:spcBef>
                <a:spcPts val="15"/>
              </a:spcBef>
              <a:buClr>
                <a:srgbClr val="00659A"/>
              </a:buClr>
              <a:buSzPct val="89285"/>
              <a:tabLst>
                <a:tab pos="354965" algn="l"/>
                <a:tab pos="355600" algn="l"/>
              </a:tabLst>
              <a:defRPr/>
            </a:pPr>
            <a:r>
              <a:rPr lang="pt-BR" sz="2400" spc="70" dirty="0">
                <a:solidFill>
                  <a:srgbClr val="FF0000"/>
                </a:solidFill>
                <a:latin typeface="Trebuchet MS"/>
                <a:cs typeface="Trebuchet MS"/>
              </a:rPr>
              <a:t>Random Backoff count,r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x</a:t>
            </a:r>
            <a:r>
              <a:rPr kumimoji="0" sz="2400" b="0" i="0" u="none" strike="noStrike" kern="1200" cap="none" spc="-229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aSlotTime.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(</a:t>
            </a:r>
            <a:r>
              <a:rPr kumimoji="0" lang="en-US" sz="2400" b="0" i="0" u="none" strike="noStrike" kern="1200" cap="none" spc="-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r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cs typeface="Trebuchet MS"/>
              </a:rPr>
              <a:t>=integer)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354965" marR="868680" lvl="0" indent="-342900" algn="l" defTabSz="914400" rtl="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Each</a:t>
            </a:r>
            <a:r>
              <a:rPr kumimoji="0" sz="2400" b="0" i="0" u="none" strike="noStrike" kern="1200" cap="none" spc="-2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station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maintains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a</a:t>
            </a:r>
            <a:r>
              <a:rPr kumimoji="0" sz="2400" b="0" i="0" u="none" strike="noStrike" kern="1200" cap="none" spc="-2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so‐called</a:t>
            </a:r>
            <a:r>
              <a:rPr kumimoji="0" sz="2400" b="0" i="0" u="none" strike="noStrike" kern="1200" cap="none" spc="-2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0" u="none" strike="noStrike" kern="1200" cap="none" spc="-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Contention  </a:t>
            </a:r>
            <a:r>
              <a:rPr kumimoji="0" sz="24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Window</a:t>
            </a:r>
            <a:r>
              <a:rPr kumimoji="0" sz="2400" b="1" i="0" u="none" strike="noStrike" kern="120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1" i="0" u="none" strike="noStrike" kern="1200" cap="none" spc="-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(CW)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,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which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is</a:t>
            </a:r>
            <a:r>
              <a:rPr kumimoji="0" sz="24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used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to</a:t>
            </a:r>
            <a:r>
              <a:rPr kumimoji="0" sz="24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determine</a:t>
            </a:r>
            <a:r>
              <a:rPr kumimoji="0" sz="24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 </a:t>
            </a:r>
            <a:r>
              <a:rPr kumimoji="0" sz="2400" b="0" i="0" u="none" strike="noStrike" kern="1200" cap="none" spc="-1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cs typeface="Trebuchet MS"/>
              </a:rPr>
              <a:t>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cs typeface="Trebuchet M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 = </a:t>
            </a:r>
            <a:r>
              <a:rPr lang="en-US" sz="2400" i="1" dirty="0">
                <a:solidFill>
                  <a:srgbClr val="FF000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min( </a:t>
            </a:r>
            <a:r>
              <a:rPr lang="en-US" sz="2400" i="1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2400" i="1" baseline="30000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(n-1)</a:t>
            </a:r>
            <a:r>
              <a:rPr lang="en-US" sz="2400" i="1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 * </a:t>
            </a:r>
            <a:r>
              <a:rPr lang="en-US" sz="2400" i="1" dirty="0" err="1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</a:t>
            </a:r>
            <a:r>
              <a:rPr lang="en-US" sz="2400" i="1" baseline="-25000" dirty="0" err="1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min</a:t>
            </a:r>
            <a:r>
              <a:rPr lang="en-US" sz="2400" i="1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 - 1</a:t>
            </a:r>
            <a:r>
              <a:rPr lang="en-US" sz="2400" i="1" dirty="0">
                <a:solidFill>
                  <a:srgbClr val="7030A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,  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CW</a:t>
            </a:r>
            <a:r>
              <a:rPr lang="en-US" sz="2400" baseline="-25000" dirty="0" err="1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spc="70" dirty="0">
                <a:solidFill>
                  <a:srgbClr val="FF0000"/>
                </a:solidFill>
                <a:latin typeface="Trebuchet MS"/>
                <a:cs typeface="Trebuchet MS"/>
              </a:rPr>
              <a:t>Random Backoff count,r = Rand(0</a:t>
            </a:r>
            <a:r>
              <a:rPr lang="pt-BR" sz="2400" spc="-2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pt-BR" sz="2400" spc="-55" dirty="0">
                <a:solidFill>
                  <a:srgbClr val="FF0000"/>
                </a:solidFill>
                <a:latin typeface="Trebuchet MS"/>
                <a:cs typeface="Trebuchet MS"/>
              </a:rPr>
              <a:t>~ </a:t>
            </a:r>
            <a:r>
              <a:rPr lang="pt-BR" sz="2400" spc="-20" dirty="0">
                <a:solidFill>
                  <a:srgbClr val="FF0000"/>
                </a:solidFill>
                <a:latin typeface="Trebuchet MS"/>
                <a:cs typeface="Trebuchet MS"/>
              </a:rPr>
              <a:t>CW)</a:t>
            </a:r>
            <a:endParaRPr lang="en-US" sz="2400" i="1" dirty="0">
              <a:latin typeface="STXinwei" panose="02010800040101010101" pitchFamily="2" charset="-122"/>
              <a:ea typeface="STXinwei" panose="020108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n= number of attempt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IEEE 802.11a </a:t>
            </a:r>
            <a:r>
              <a:rPr lang="en-US" sz="2800" i="1" dirty="0" err="1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</a:t>
            </a:r>
            <a:r>
              <a:rPr lang="en-US" sz="2800" i="1" baseline="-25000" dirty="0" err="1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min</a:t>
            </a:r>
            <a:r>
              <a:rPr lang="en-US" sz="2800" i="1" dirty="0">
                <a:solidFill>
                  <a:srgbClr val="00B05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 =16 ,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CW</a:t>
            </a:r>
            <a:r>
              <a:rPr lang="en-US" sz="28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1024</a:t>
            </a:r>
          </a:p>
          <a:p>
            <a:pPr marL="214693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41B289B-60D9-49A9-94D5-EAC1103B32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79EA6530-9ADA-2B55-D5E4-1483D5CB8963}"/>
              </a:ext>
            </a:extLst>
          </p:cNvPr>
          <p:cNvSpPr txBox="1">
            <a:spLocks/>
          </p:cNvSpPr>
          <p:nvPr/>
        </p:nvSpPr>
        <p:spPr>
          <a:xfrm>
            <a:off x="1320113" y="646303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36148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>
            <a:extLst>
              <a:ext uri="{FF2B5EF4-FFF2-40B4-BE49-F238E27FC236}">
                <a16:creationId xmlns:a16="http://schemas.microsoft.com/office/drawing/2014/main" id="{26D68E8A-03AE-9943-630C-733B7CD1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44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D986C0EA-CE80-736A-B718-0E0B682C3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058" y="960484"/>
            <a:ext cx="7341965" cy="1002506"/>
          </a:xfrm>
        </p:spPr>
        <p:txBody>
          <a:bodyPr/>
          <a:lstStyle/>
          <a:p>
            <a:r>
              <a:rPr lang="en-US" altLang="en-US"/>
              <a:t>Avoiding collisions (more)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EA39F7CD-58AC-564B-0A1A-FD15880C2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9574" y="2099443"/>
            <a:ext cx="6817043" cy="316764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105" i="1" dirty="0">
                <a:solidFill>
                  <a:srgbClr val="FF0000"/>
                </a:solidFill>
              </a:rPr>
              <a:t>idea:</a:t>
            </a:r>
            <a:r>
              <a:rPr lang="en-US" altLang="en-US" sz="2105" dirty="0"/>
              <a:t> </a:t>
            </a:r>
            <a:r>
              <a:rPr lang="en-US" altLang="en-US" sz="1754" dirty="0"/>
              <a:t> allow sender to “reserve” channel rather than random access of data frames: avoid  collisions of long  data frames</a:t>
            </a:r>
          </a:p>
          <a:p>
            <a:r>
              <a:rPr lang="en-US" altLang="en-US" sz="1754" dirty="0"/>
              <a:t>sender first transmits </a:t>
            </a:r>
            <a:r>
              <a:rPr lang="en-US" altLang="en-US" sz="1754" i="1" dirty="0"/>
              <a:t>small</a:t>
            </a:r>
            <a:r>
              <a:rPr lang="en-US" altLang="en-US" sz="1754" dirty="0"/>
              <a:t> request-to-send (RTS) packets to BS using CSMA</a:t>
            </a:r>
          </a:p>
          <a:p>
            <a:pPr lvl="1"/>
            <a:r>
              <a:rPr lang="en-US" altLang="en-US" sz="1754" dirty="0"/>
              <a:t>RTSs may still collide with each other (but they’re short)</a:t>
            </a:r>
          </a:p>
          <a:p>
            <a:r>
              <a:rPr lang="en-US" altLang="en-US" sz="1754" dirty="0"/>
              <a:t>BS broadcasts clear-to-send CTS in response to RTS</a:t>
            </a:r>
          </a:p>
          <a:p>
            <a:r>
              <a:rPr lang="en-US" altLang="en-US" sz="1754" dirty="0"/>
              <a:t>CTS heard by all nodes</a:t>
            </a:r>
          </a:p>
          <a:p>
            <a:pPr lvl="1"/>
            <a:r>
              <a:rPr lang="en-US" altLang="en-US" sz="1754" dirty="0"/>
              <a:t>sender transmits data frame</a:t>
            </a:r>
          </a:p>
          <a:p>
            <a:pPr lvl="1"/>
            <a:r>
              <a:rPr lang="en-US" altLang="en-US" sz="1754" dirty="0"/>
              <a:t>other stations defer transmissions 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1754" dirty="0"/>
          </a:p>
        </p:txBody>
      </p:sp>
      <p:sp>
        <p:nvSpPr>
          <p:cNvPr id="69637" name="Text Box 4">
            <a:extLst>
              <a:ext uri="{FF2B5EF4-FFF2-40B4-BE49-F238E27FC236}">
                <a16:creationId xmlns:a16="http://schemas.microsoft.com/office/drawing/2014/main" id="{83E4DE97-1B1C-3964-F674-13D4DC216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3811" y="5186328"/>
            <a:ext cx="5028942" cy="740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5" dirty="0">
                <a:solidFill>
                  <a:srgbClr val="000000"/>
                </a:solidFill>
              </a:rPr>
              <a:t>avoid data frame collisions completely </a:t>
            </a:r>
          </a:p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5" dirty="0">
                <a:solidFill>
                  <a:srgbClr val="000000"/>
                </a:solidFill>
              </a:rPr>
              <a:t>using small reservation packets!</a:t>
            </a:r>
          </a:p>
        </p:txBody>
      </p:sp>
      <p:sp>
        <p:nvSpPr>
          <p:cNvPr id="69638" name="Rectangle 5">
            <a:extLst>
              <a:ext uri="{FF2B5EF4-FFF2-40B4-BE49-F238E27FC236}">
                <a16:creationId xmlns:a16="http://schemas.microsoft.com/office/drawing/2014/main" id="{4B773E68-2484-CCC6-3342-C0735777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095" y="5171010"/>
            <a:ext cx="5133668" cy="80200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79">
              <a:solidFill>
                <a:srgbClr val="000000"/>
              </a:solidFill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62AADC9-13EA-AA30-606D-176E2B4C4BDE}"/>
              </a:ext>
            </a:extLst>
          </p:cNvPr>
          <p:cNvSpPr txBox="1">
            <a:spLocks/>
          </p:cNvSpPr>
          <p:nvPr/>
        </p:nvSpPr>
        <p:spPr>
          <a:xfrm>
            <a:off x="1274796" y="91400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61331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/>
      <p:bldP spid="6963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>
            <a:extLst>
              <a:ext uri="{FF2B5EF4-FFF2-40B4-BE49-F238E27FC236}">
                <a16:creationId xmlns:a16="http://schemas.microsoft.com/office/drawing/2014/main" id="{4D3032CB-18C9-9046-D791-F856D939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45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0EB706F-FCD3-4B2F-BACA-9CA06B3EA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4386" y="875550"/>
            <a:ext cx="6817043" cy="1002506"/>
          </a:xfrm>
        </p:spPr>
        <p:txBody>
          <a:bodyPr/>
          <a:lstStyle/>
          <a:p>
            <a:r>
              <a:rPr lang="en-US" altLang="en-US" sz="2807" dirty="0"/>
              <a:t>Collision Avoidance: RTS-CTS exchange</a:t>
            </a: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85B28D3E-70F7-E071-5DB2-5FE40B516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072" y="1428321"/>
            <a:ext cx="184731" cy="52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7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5" name="Text Box 15">
            <a:extLst>
              <a:ext uri="{FF2B5EF4-FFF2-40B4-BE49-F238E27FC236}">
                <a16:creationId xmlns:a16="http://schemas.microsoft.com/office/drawing/2014/main" id="{4ED7BABA-D5CF-5B26-DC34-F2FE4A7DE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649" y="1996408"/>
            <a:ext cx="437940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AP</a:t>
            </a:r>
          </a:p>
        </p:txBody>
      </p:sp>
      <p:grpSp>
        <p:nvGrpSpPr>
          <p:cNvPr id="71686" name="Group 16">
            <a:extLst>
              <a:ext uri="{FF2B5EF4-FFF2-40B4-BE49-F238E27FC236}">
                <a16:creationId xmlns:a16="http://schemas.microsoft.com/office/drawing/2014/main" id="{6F493218-04C7-AE08-23DB-6271BCB4AF1A}"/>
              </a:ext>
            </a:extLst>
          </p:cNvPr>
          <p:cNvGrpSpPr>
            <a:grpSpLocks/>
          </p:cNvGrpSpPr>
          <p:nvPr/>
        </p:nvGrpSpPr>
        <p:grpSpPr bwMode="auto">
          <a:xfrm>
            <a:off x="5022280" y="1747173"/>
            <a:ext cx="686438" cy="501253"/>
            <a:chOff x="1160" y="2192"/>
            <a:chExt cx="589" cy="440"/>
          </a:xfrm>
        </p:grpSpPr>
        <p:pic>
          <p:nvPicPr>
            <p:cNvPr id="71723" name="Picture 17" descr="31u_bnrz[1]">
              <a:extLst>
                <a:ext uri="{FF2B5EF4-FFF2-40B4-BE49-F238E27FC236}">
                  <a16:creationId xmlns:a16="http://schemas.microsoft.com/office/drawing/2014/main" id="{242377BB-B492-2F22-CFA2-E325A10399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4" name="AutoShape 18">
              <a:extLst>
                <a:ext uri="{FF2B5EF4-FFF2-40B4-BE49-F238E27FC236}">
                  <a16:creationId xmlns:a16="http://schemas.microsoft.com/office/drawing/2014/main" id="{512A3516-9548-56F1-E8A1-31601D647E9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5" name="Freeform 19">
              <a:extLst>
                <a:ext uri="{FF2B5EF4-FFF2-40B4-BE49-F238E27FC236}">
                  <a16:creationId xmlns:a16="http://schemas.microsoft.com/office/drawing/2014/main" id="{05E1FDBF-0FB7-44BB-8C2E-BEEC143B0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6" name="Freeform 20">
              <a:extLst>
                <a:ext uri="{FF2B5EF4-FFF2-40B4-BE49-F238E27FC236}">
                  <a16:creationId xmlns:a16="http://schemas.microsoft.com/office/drawing/2014/main" id="{08634BFA-DDC2-5803-A6EA-B2B0A3E0D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7" name="Freeform 21">
              <a:extLst>
                <a:ext uri="{FF2B5EF4-FFF2-40B4-BE49-F238E27FC236}">
                  <a16:creationId xmlns:a16="http://schemas.microsoft.com/office/drawing/2014/main" id="{406A5DEC-4FCA-9E4C-DAEE-4AAA38815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8" name="Freeform 22">
              <a:extLst>
                <a:ext uri="{FF2B5EF4-FFF2-40B4-BE49-F238E27FC236}">
                  <a16:creationId xmlns:a16="http://schemas.microsoft.com/office/drawing/2014/main" id="{56235E6B-BB84-F7B1-8E38-6088E7290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29" name="Freeform 23">
              <a:extLst>
                <a:ext uri="{FF2B5EF4-FFF2-40B4-BE49-F238E27FC236}">
                  <a16:creationId xmlns:a16="http://schemas.microsoft.com/office/drawing/2014/main" id="{4C59ABB1-E88E-083A-9756-14E03246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0" name="Freeform 24">
              <a:extLst>
                <a:ext uri="{FF2B5EF4-FFF2-40B4-BE49-F238E27FC236}">
                  <a16:creationId xmlns:a16="http://schemas.microsoft.com/office/drawing/2014/main" id="{53AEF223-647F-6C98-F155-C6A14E97C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1" name="Freeform 25">
              <a:extLst>
                <a:ext uri="{FF2B5EF4-FFF2-40B4-BE49-F238E27FC236}">
                  <a16:creationId xmlns:a16="http://schemas.microsoft.com/office/drawing/2014/main" id="{B417ECB2-355E-61AB-1166-EEF6847D5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2" name="Freeform 26">
              <a:extLst>
                <a:ext uri="{FF2B5EF4-FFF2-40B4-BE49-F238E27FC236}">
                  <a16:creationId xmlns:a16="http://schemas.microsoft.com/office/drawing/2014/main" id="{656F50AF-B978-BDF1-19C9-2714AD1E0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3" name="Freeform 27">
              <a:extLst>
                <a:ext uri="{FF2B5EF4-FFF2-40B4-BE49-F238E27FC236}">
                  <a16:creationId xmlns:a16="http://schemas.microsoft.com/office/drawing/2014/main" id="{61163DD5-83DE-256E-125B-686977EBA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4" name="Freeform 28">
              <a:extLst>
                <a:ext uri="{FF2B5EF4-FFF2-40B4-BE49-F238E27FC236}">
                  <a16:creationId xmlns:a16="http://schemas.microsoft.com/office/drawing/2014/main" id="{BC0EF7CF-A9FE-9352-2C1F-E83CEB3AA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5" name="Freeform 29">
              <a:extLst>
                <a:ext uri="{FF2B5EF4-FFF2-40B4-BE49-F238E27FC236}">
                  <a16:creationId xmlns:a16="http://schemas.microsoft.com/office/drawing/2014/main" id="{67C7E689-FF01-797C-1ADD-82E1CB97F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6" name="Freeform 30">
              <a:extLst>
                <a:ext uri="{FF2B5EF4-FFF2-40B4-BE49-F238E27FC236}">
                  <a16:creationId xmlns:a16="http://schemas.microsoft.com/office/drawing/2014/main" id="{51844027-CBA2-B478-2406-5B30364D6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7" name="Freeform 31">
              <a:extLst>
                <a:ext uri="{FF2B5EF4-FFF2-40B4-BE49-F238E27FC236}">
                  <a16:creationId xmlns:a16="http://schemas.microsoft.com/office/drawing/2014/main" id="{99B92A78-2BAC-65FB-31AE-DA51944A8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8" name="Freeform 32">
              <a:extLst>
                <a:ext uri="{FF2B5EF4-FFF2-40B4-BE49-F238E27FC236}">
                  <a16:creationId xmlns:a16="http://schemas.microsoft.com/office/drawing/2014/main" id="{9E2310AF-7749-C48A-D2C2-D5D00CC25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39" name="Freeform 33">
              <a:extLst>
                <a:ext uri="{FF2B5EF4-FFF2-40B4-BE49-F238E27FC236}">
                  <a16:creationId xmlns:a16="http://schemas.microsoft.com/office/drawing/2014/main" id="{450BA24D-D755-E640-B5D9-ADC712412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40" name="Freeform 34">
              <a:extLst>
                <a:ext uri="{FF2B5EF4-FFF2-40B4-BE49-F238E27FC236}">
                  <a16:creationId xmlns:a16="http://schemas.microsoft.com/office/drawing/2014/main" id="{73FC867C-BCD6-C068-EA39-E0B7862FC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71687" name="Group 35">
            <a:extLst>
              <a:ext uri="{FF2B5EF4-FFF2-40B4-BE49-F238E27FC236}">
                <a16:creationId xmlns:a16="http://schemas.microsoft.com/office/drawing/2014/main" id="{21F9788F-40AB-99B4-388A-7D76B3A9B70A}"/>
              </a:ext>
            </a:extLst>
          </p:cNvPr>
          <p:cNvGrpSpPr>
            <a:grpSpLocks/>
          </p:cNvGrpSpPr>
          <p:nvPr/>
        </p:nvGrpSpPr>
        <p:grpSpPr bwMode="auto">
          <a:xfrm>
            <a:off x="2829297" y="1763883"/>
            <a:ext cx="364801" cy="448343"/>
            <a:chOff x="2870" y="1518"/>
            <a:chExt cx="292" cy="320"/>
          </a:xfrm>
        </p:grpSpPr>
        <p:graphicFrame>
          <p:nvGraphicFramePr>
            <p:cNvPr id="71721" name="Object 36">
              <a:extLst>
                <a:ext uri="{FF2B5EF4-FFF2-40B4-BE49-F238E27FC236}">
                  <a16:creationId xmlns:a16="http://schemas.microsoft.com/office/drawing/2014/main" id="{F32D7A03-7A64-D41D-25C8-C8C2B36CC1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71721" name="Object 36">
                          <a:extLst>
                            <a:ext uri="{FF2B5EF4-FFF2-40B4-BE49-F238E27FC236}">
                              <a16:creationId xmlns:a16="http://schemas.microsoft.com/office/drawing/2014/main" id="{F32D7A03-7A64-D41D-25C8-C8C2B36CC1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2" name="Object 37">
              <a:extLst>
                <a:ext uri="{FF2B5EF4-FFF2-40B4-BE49-F238E27FC236}">
                  <a16:creationId xmlns:a16="http://schemas.microsoft.com/office/drawing/2014/main" id="{1D04C5BA-DFDB-44D4-4B2C-64ED7252DA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71722" name="Object 37">
                          <a:extLst>
                            <a:ext uri="{FF2B5EF4-FFF2-40B4-BE49-F238E27FC236}">
                              <a16:creationId xmlns:a16="http://schemas.microsoft.com/office/drawing/2014/main" id="{1D04C5BA-DFDB-44D4-4B2C-64ED7252DA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688" name="Group 38">
            <a:extLst>
              <a:ext uri="{FF2B5EF4-FFF2-40B4-BE49-F238E27FC236}">
                <a16:creationId xmlns:a16="http://schemas.microsoft.com/office/drawing/2014/main" id="{78B554C7-B0E0-3C5E-92D9-1C8E93E91C97}"/>
              </a:ext>
            </a:extLst>
          </p:cNvPr>
          <p:cNvGrpSpPr>
            <a:grpSpLocks/>
          </p:cNvGrpSpPr>
          <p:nvPr/>
        </p:nvGrpSpPr>
        <p:grpSpPr bwMode="auto">
          <a:xfrm>
            <a:off x="8379283" y="1737427"/>
            <a:ext cx="364801" cy="448343"/>
            <a:chOff x="2870" y="1518"/>
            <a:chExt cx="292" cy="320"/>
          </a:xfrm>
        </p:grpSpPr>
        <p:graphicFrame>
          <p:nvGraphicFramePr>
            <p:cNvPr id="71719" name="Object 39">
              <a:extLst>
                <a:ext uri="{FF2B5EF4-FFF2-40B4-BE49-F238E27FC236}">
                  <a16:creationId xmlns:a16="http://schemas.microsoft.com/office/drawing/2014/main" id="{98017329-D75D-D835-BAD2-0016D14B85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71719" name="Object 39">
                          <a:extLst>
                            <a:ext uri="{FF2B5EF4-FFF2-40B4-BE49-F238E27FC236}">
                              <a16:creationId xmlns:a16="http://schemas.microsoft.com/office/drawing/2014/main" id="{98017329-D75D-D835-BAD2-0016D14B85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0" name="Object 40">
              <a:extLst>
                <a:ext uri="{FF2B5EF4-FFF2-40B4-BE49-F238E27FC236}">
                  <a16:creationId xmlns:a16="http://schemas.microsoft.com/office/drawing/2014/main" id="{E5632696-A47A-2549-C238-5A69DEB251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71720" name="Object 40">
                          <a:extLst>
                            <a:ext uri="{FF2B5EF4-FFF2-40B4-BE49-F238E27FC236}">
                              <a16:creationId xmlns:a16="http://schemas.microsoft.com/office/drawing/2014/main" id="{E5632696-A47A-2549-C238-5A69DEB251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689" name="Text Box 41">
            <a:extLst>
              <a:ext uri="{FF2B5EF4-FFF2-40B4-BE49-F238E27FC236}">
                <a16:creationId xmlns:a16="http://schemas.microsoft.com/office/drawing/2014/main" id="{6F34D9E0-3F8A-AC18-EB86-6553F403E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110" y="1864132"/>
            <a:ext cx="332142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71690" name="Text Box 42">
            <a:extLst>
              <a:ext uri="{FF2B5EF4-FFF2-40B4-BE49-F238E27FC236}">
                <a16:creationId xmlns:a16="http://schemas.microsoft.com/office/drawing/2014/main" id="{D59EA16B-E74B-07EE-1772-86C94C8E9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607" y="1862740"/>
            <a:ext cx="312906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71691" name="Line 45">
            <a:extLst>
              <a:ext uri="{FF2B5EF4-FFF2-40B4-BE49-F238E27FC236}">
                <a16:creationId xmlns:a16="http://schemas.microsoft.com/office/drawing/2014/main" id="{9DCCF286-23AA-7BEA-9929-062C5C0A2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2229" y="2302728"/>
            <a:ext cx="36202" cy="34544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1692" name="Text Box 46">
            <a:extLst>
              <a:ext uri="{FF2B5EF4-FFF2-40B4-BE49-F238E27FC236}">
                <a16:creationId xmlns:a16="http://schemas.microsoft.com/office/drawing/2014/main" id="{222D489D-FC4F-9F0A-998F-9383AC77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368" y="5491256"/>
            <a:ext cx="604653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time</a:t>
            </a:r>
          </a:p>
        </p:txBody>
      </p:sp>
      <p:sp>
        <p:nvSpPr>
          <p:cNvPr id="71693" name="Line 44">
            <a:extLst>
              <a:ext uri="{FF2B5EF4-FFF2-40B4-BE49-F238E27FC236}">
                <a16:creationId xmlns:a16="http://schemas.microsoft.com/office/drawing/2014/main" id="{6E47642E-DBA5-C1BF-8DA0-C8D3CCF7E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697" y="2290197"/>
            <a:ext cx="6872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356422" name="Group 70">
            <a:extLst>
              <a:ext uri="{FF2B5EF4-FFF2-40B4-BE49-F238E27FC236}">
                <a16:creationId xmlns:a16="http://schemas.microsoft.com/office/drawing/2014/main" id="{308E6976-2234-81E4-3B76-E97BDA90BBF5}"/>
              </a:ext>
            </a:extLst>
          </p:cNvPr>
          <p:cNvGrpSpPr>
            <a:grpSpLocks/>
          </p:cNvGrpSpPr>
          <p:nvPr/>
        </p:nvGrpSpPr>
        <p:grpSpPr bwMode="auto">
          <a:xfrm>
            <a:off x="2917016" y="2396019"/>
            <a:ext cx="5814536" cy="757450"/>
            <a:chOff x="1135" y="1165"/>
            <a:chExt cx="4176" cy="544"/>
          </a:xfrm>
        </p:grpSpPr>
        <p:grpSp>
          <p:nvGrpSpPr>
            <p:cNvPr id="71714" name="Group 9">
              <a:extLst>
                <a:ext uri="{FF2B5EF4-FFF2-40B4-BE49-F238E27FC236}">
                  <a16:creationId xmlns:a16="http://schemas.microsoft.com/office/drawing/2014/main" id="{279FEDD6-513C-DF6D-3237-3D03B6463B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5" y="1194"/>
              <a:ext cx="4163" cy="515"/>
              <a:chOff x="594" y="1184"/>
              <a:chExt cx="4163" cy="515"/>
            </a:xfrm>
          </p:grpSpPr>
          <p:sp>
            <p:nvSpPr>
              <p:cNvPr id="71717" name="Freeform 7">
                <a:extLst>
                  <a:ext uri="{FF2B5EF4-FFF2-40B4-BE49-F238E27FC236}">
                    <a16:creationId xmlns:a16="http://schemas.microsoft.com/office/drawing/2014/main" id="{BE04B030-8407-B9EF-FE28-9143B943A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1238"/>
                <a:ext cx="3642" cy="461"/>
              </a:xfrm>
              <a:custGeom>
                <a:avLst/>
                <a:gdLst>
                  <a:gd name="T0" fmla="*/ 1 w 2996"/>
                  <a:gd name="T1" fmla="*/ 0 h 461"/>
                  <a:gd name="T2" fmla="*/ 862404 w 2996"/>
                  <a:gd name="T3" fmla="*/ 298 h 461"/>
                  <a:gd name="T4" fmla="*/ 862404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80202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79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71718" name="Freeform 8">
                <a:extLst>
                  <a:ext uri="{FF2B5EF4-FFF2-40B4-BE49-F238E27FC236}">
                    <a16:creationId xmlns:a16="http://schemas.microsoft.com/office/drawing/2014/main" id="{D0E10E6B-AD37-59BB-0B8E-9E0795EE46A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115" y="1184"/>
                <a:ext cx="3642" cy="461"/>
              </a:xfrm>
              <a:custGeom>
                <a:avLst/>
                <a:gdLst>
                  <a:gd name="T0" fmla="*/ 1 w 2996"/>
                  <a:gd name="T1" fmla="*/ 0 h 461"/>
                  <a:gd name="T2" fmla="*/ 862404 w 2996"/>
                  <a:gd name="T3" fmla="*/ 298 h 461"/>
                  <a:gd name="T4" fmla="*/ 862404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/>
                  </a:gs>
                  <a:gs pos="100000">
                    <a:srgbClr val="FFFFFF">
                      <a:alpha val="6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80202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79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71715" name="Text Box 51">
              <a:extLst>
                <a:ext uri="{FF2B5EF4-FFF2-40B4-BE49-F238E27FC236}">
                  <a16:creationId xmlns:a16="http://schemas.microsoft.com/office/drawing/2014/main" id="{6F1E0472-0CDF-8936-6F9D-0FD149C01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34" y="1274"/>
              <a:ext cx="63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RTS(A)</a:t>
              </a:r>
            </a:p>
          </p:txBody>
        </p:sp>
        <p:sp>
          <p:nvSpPr>
            <p:cNvPr id="71716" name="Text Box 52">
              <a:extLst>
                <a:ext uri="{FF2B5EF4-FFF2-40B4-BE49-F238E27FC236}">
                  <a16:creationId xmlns:a16="http://schemas.microsoft.com/office/drawing/2014/main" id="{A8569A0B-2ED1-B17B-DDA0-0BB41E712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45820">
              <a:off x="4689" y="1165"/>
              <a:ext cx="62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RTS(B)</a:t>
              </a:r>
            </a:p>
          </p:txBody>
        </p:sp>
      </p:grpSp>
      <p:grpSp>
        <p:nvGrpSpPr>
          <p:cNvPr id="356420" name="Group 68">
            <a:extLst>
              <a:ext uri="{FF2B5EF4-FFF2-40B4-BE49-F238E27FC236}">
                <a16:creationId xmlns:a16="http://schemas.microsoft.com/office/drawing/2014/main" id="{55DACAAD-79C1-EE39-B0F8-4DC3C46688D8}"/>
              </a:ext>
            </a:extLst>
          </p:cNvPr>
          <p:cNvGrpSpPr>
            <a:grpSpLocks/>
          </p:cNvGrpSpPr>
          <p:nvPr/>
        </p:nvGrpSpPr>
        <p:grpSpPr bwMode="auto">
          <a:xfrm>
            <a:off x="2915622" y="3136758"/>
            <a:ext cx="5676692" cy="1030354"/>
            <a:chOff x="1134" y="1697"/>
            <a:chExt cx="4077" cy="740"/>
          </a:xfrm>
        </p:grpSpPr>
        <p:sp>
          <p:nvSpPr>
            <p:cNvPr id="71708" name="Freeform 48">
              <a:extLst>
                <a:ext uri="{FF2B5EF4-FFF2-40B4-BE49-F238E27FC236}">
                  <a16:creationId xmlns:a16="http://schemas.microsoft.com/office/drawing/2014/main" id="{EC8458AF-9F3A-8623-502A-F3F0D88AB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1697"/>
              <a:ext cx="3642" cy="461"/>
            </a:xfrm>
            <a:custGeom>
              <a:avLst/>
              <a:gdLst>
                <a:gd name="T0" fmla="*/ 1 w 2996"/>
                <a:gd name="T1" fmla="*/ 0 h 461"/>
                <a:gd name="T2" fmla="*/ 862404 w 2996"/>
                <a:gd name="T3" fmla="*/ 298 h 461"/>
                <a:gd name="T4" fmla="*/ 862404 w 2996"/>
                <a:gd name="T5" fmla="*/ 461 h 461"/>
                <a:gd name="T6" fmla="*/ 0 w 2996"/>
                <a:gd name="T7" fmla="*/ 160 h 461"/>
                <a:gd name="T8" fmla="*/ 1 w 2996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96" h="461">
                  <a:moveTo>
                    <a:pt x="1" y="0"/>
                  </a:moveTo>
                  <a:lnTo>
                    <a:pt x="2996" y="298"/>
                  </a:lnTo>
                  <a:lnTo>
                    <a:pt x="2996" y="461"/>
                  </a:lnTo>
                  <a:lnTo>
                    <a:pt x="0" y="160"/>
                  </a:lnTo>
                  <a:lnTo>
                    <a:pt x="1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09" name="Text Box 54">
              <a:extLst>
                <a:ext uri="{FF2B5EF4-FFF2-40B4-BE49-F238E27FC236}">
                  <a16:creationId xmlns:a16="http://schemas.microsoft.com/office/drawing/2014/main" id="{994AD568-5F9B-BEDA-044A-E7FE6C338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41" y="1733"/>
              <a:ext cx="63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RTS(A)</a:t>
              </a:r>
            </a:p>
          </p:txBody>
        </p:sp>
        <p:sp>
          <p:nvSpPr>
            <p:cNvPr id="71710" name="Freeform 56">
              <a:extLst>
                <a:ext uri="{FF2B5EF4-FFF2-40B4-BE49-F238E27FC236}">
                  <a16:creationId xmlns:a16="http://schemas.microsoft.com/office/drawing/2014/main" id="{D5D86638-BBA5-1EC8-CB0C-86096B5BA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082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11" name="Freeform 57">
              <a:extLst>
                <a:ext uri="{FF2B5EF4-FFF2-40B4-BE49-F238E27FC236}">
                  <a16:creationId xmlns:a16="http://schemas.microsoft.com/office/drawing/2014/main" id="{18CA22F5-A776-5B5C-8B4A-9F64A79F3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081"/>
              <a:ext cx="1860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12" name="Text Box 58">
              <a:extLst>
                <a:ext uri="{FF2B5EF4-FFF2-40B4-BE49-F238E27FC236}">
                  <a16:creationId xmlns:a16="http://schemas.microsoft.com/office/drawing/2014/main" id="{82CEEE6B-7E8E-30A6-F89B-CC1D5651B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20796">
              <a:off x="1574" y="2152"/>
              <a:ext cx="63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CTS(A)</a:t>
              </a:r>
            </a:p>
          </p:txBody>
        </p:sp>
        <p:sp>
          <p:nvSpPr>
            <p:cNvPr id="71713" name="Text Box 59">
              <a:extLst>
                <a:ext uri="{FF2B5EF4-FFF2-40B4-BE49-F238E27FC236}">
                  <a16:creationId xmlns:a16="http://schemas.microsoft.com/office/drawing/2014/main" id="{BBA3DFC5-3C61-8BCE-675B-83A381FFA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06" y="2142"/>
              <a:ext cx="63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CTS(A)</a:t>
              </a:r>
            </a:p>
          </p:txBody>
        </p:sp>
      </p:grpSp>
      <p:grpSp>
        <p:nvGrpSpPr>
          <p:cNvPr id="356421" name="Group 69">
            <a:extLst>
              <a:ext uri="{FF2B5EF4-FFF2-40B4-BE49-F238E27FC236}">
                <a16:creationId xmlns:a16="http://schemas.microsoft.com/office/drawing/2014/main" id="{1F1487B1-3B5F-65A5-21A4-555E4F4650C5}"/>
              </a:ext>
            </a:extLst>
          </p:cNvPr>
          <p:cNvGrpSpPr>
            <a:grpSpLocks/>
          </p:cNvGrpSpPr>
          <p:nvPr/>
        </p:nvGrpSpPr>
        <p:grpSpPr bwMode="auto">
          <a:xfrm>
            <a:off x="2937900" y="4243693"/>
            <a:ext cx="5676692" cy="1907547"/>
            <a:chOff x="1150" y="2492"/>
            <a:chExt cx="4077" cy="1370"/>
          </a:xfrm>
        </p:grpSpPr>
        <p:sp>
          <p:nvSpPr>
            <p:cNvPr id="71702" name="Freeform 60">
              <a:extLst>
                <a:ext uri="{FF2B5EF4-FFF2-40B4-BE49-F238E27FC236}">
                  <a16:creationId xmlns:a16="http://schemas.microsoft.com/office/drawing/2014/main" id="{A4FDEA4B-9B2F-20C5-EAD8-D23EC2C28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2492"/>
              <a:ext cx="3652" cy="1134"/>
            </a:xfrm>
            <a:custGeom>
              <a:avLst/>
              <a:gdLst>
                <a:gd name="T0" fmla="*/ 0 w 3652"/>
                <a:gd name="T1" fmla="*/ 0 h 1134"/>
                <a:gd name="T2" fmla="*/ 3652 w 3652"/>
                <a:gd name="T3" fmla="*/ 318 h 1134"/>
                <a:gd name="T4" fmla="*/ 3652 w 3652"/>
                <a:gd name="T5" fmla="*/ 1134 h 1134"/>
                <a:gd name="T6" fmla="*/ 1 w 3652"/>
                <a:gd name="T7" fmla="*/ 787 h 1134"/>
                <a:gd name="T8" fmla="*/ 0 w 3652"/>
                <a:gd name="T9" fmla="*/ 0 h 1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52" h="1134">
                  <a:moveTo>
                    <a:pt x="0" y="0"/>
                  </a:moveTo>
                  <a:lnTo>
                    <a:pt x="3652" y="318"/>
                  </a:lnTo>
                  <a:lnTo>
                    <a:pt x="3652" y="1134"/>
                  </a:lnTo>
                  <a:lnTo>
                    <a:pt x="1" y="78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03" name="Text Box 61">
              <a:extLst>
                <a:ext uri="{FF2B5EF4-FFF2-40B4-BE49-F238E27FC236}">
                  <a16:creationId xmlns:a16="http://schemas.microsoft.com/office/drawing/2014/main" id="{FE4B68BB-28A1-B85B-918C-EEE0DCC5C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4" y="2814"/>
              <a:ext cx="1135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DATA (A)</a:t>
              </a:r>
            </a:p>
          </p:txBody>
        </p:sp>
        <p:sp>
          <p:nvSpPr>
            <p:cNvPr id="71704" name="Freeform 62">
              <a:extLst>
                <a:ext uri="{FF2B5EF4-FFF2-40B4-BE49-F238E27FC236}">
                  <a16:creationId xmlns:a16="http://schemas.microsoft.com/office/drawing/2014/main" id="{B0002D33-0BE1-FED4-0C65-9A6FD1BE5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" y="3507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05" name="Freeform 63">
              <a:extLst>
                <a:ext uri="{FF2B5EF4-FFF2-40B4-BE49-F238E27FC236}">
                  <a16:creationId xmlns:a16="http://schemas.microsoft.com/office/drawing/2014/main" id="{0B94AA1D-FB7D-A5E0-3891-562DF5507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3506"/>
              <a:ext cx="1860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1706" name="Text Box 64">
              <a:extLst>
                <a:ext uri="{FF2B5EF4-FFF2-40B4-BE49-F238E27FC236}">
                  <a16:creationId xmlns:a16="http://schemas.microsoft.com/office/drawing/2014/main" id="{CBBA8B92-7525-E4E1-2BF9-E617332D8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20796">
              <a:off x="1591" y="3577"/>
              <a:ext cx="627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ACK(A)</a:t>
              </a:r>
            </a:p>
          </p:txBody>
        </p:sp>
        <p:sp>
          <p:nvSpPr>
            <p:cNvPr id="71707" name="Text Box 65">
              <a:extLst>
                <a:ext uri="{FF2B5EF4-FFF2-40B4-BE49-F238E27FC236}">
                  <a16:creationId xmlns:a16="http://schemas.microsoft.com/office/drawing/2014/main" id="{879681D9-D459-E805-DE30-E8E3CEBAB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23" y="3567"/>
              <a:ext cx="627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</a:rPr>
                <a:t>ACK(A)</a:t>
              </a:r>
            </a:p>
          </p:txBody>
        </p:sp>
      </p:grpSp>
      <p:grpSp>
        <p:nvGrpSpPr>
          <p:cNvPr id="356418" name="Group 66">
            <a:extLst>
              <a:ext uri="{FF2B5EF4-FFF2-40B4-BE49-F238E27FC236}">
                <a16:creationId xmlns:a16="http://schemas.microsoft.com/office/drawing/2014/main" id="{EEE0BD54-95D0-AEF0-68DB-17BC9132CA21}"/>
              </a:ext>
            </a:extLst>
          </p:cNvPr>
          <p:cNvGrpSpPr>
            <a:grpSpLocks/>
          </p:cNvGrpSpPr>
          <p:nvPr/>
        </p:nvGrpSpPr>
        <p:grpSpPr bwMode="auto">
          <a:xfrm>
            <a:off x="5211641" y="2568671"/>
            <a:ext cx="2727652" cy="641882"/>
            <a:chOff x="2596" y="1330"/>
            <a:chExt cx="1959" cy="461"/>
          </a:xfrm>
        </p:grpSpPr>
        <p:sp>
          <p:nvSpPr>
            <p:cNvPr id="71700" name="AutoShape 10">
              <a:extLst>
                <a:ext uri="{FF2B5EF4-FFF2-40B4-BE49-F238E27FC236}">
                  <a16:creationId xmlns:a16="http://schemas.microsoft.com/office/drawing/2014/main" id="{56910272-1117-90DB-F8B1-A6BAE96DF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1330"/>
              <a:ext cx="683" cy="293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71701" name="Text Box 11">
              <a:extLst>
                <a:ext uri="{FF2B5EF4-FFF2-40B4-BE49-F238E27FC236}">
                  <a16:creationId xmlns:a16="http://schemas.microsoft.com/office/drawing/2014/main" id="{25DBAEE0-FCB3-C814-0990-2F14EAF04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8" y="1550"/>
              <a:ext cx="1777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79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reservation collision</a:t>
              </a:r>
            </a:p>
          </p:txBody>
        </p:sp>
      </p:grpSp>
      <p:sp>
        <p:nvSpPr>
          <p:cNvPr id="71698" name="Line 71">
            <a:extLst>
              <a:ext uri="{FF2B5EF4-FFF2-40B4-BE49-F238E27FC236}">
                <a16:creationId xmlns:a16="http://schemas.microsoft.com/office/drawing/2014/main" id="{3CC03292-8BAC-BBC1-DC88-51F043300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8767" y="3994458"/>
            <a:ext cx="0" cy="212614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1699" name="Text Box 72">
            <a:extLst>
              <a:ext uri="{FF2B5EF4-FFF2-40B4-BE49-F238E27FC236}">
                <a16:creationId xmlns:a16="http://schemas.microsoft.com/office/drawing/2014/main" id="{4808227C-461A-FA55-D350-6347E1D7E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752" y="4886968"/>
            <a:ext cx="724878" cy="3353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>
                <a:solidFill>
                  <a:srgbClr val="000000"/>
                </a:solidFill>
              </a:rPr>
              <a:t>defer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A1E86BD-95F9-D94E-FBCA-ED35DC92C5CE}"/>
              </a:ext>
            </a:extLst>
          </p:cNvPr>
          <p:cNvSpPr txBox="1">
            <a:spLocks/>
          </p:cNvSpPr>
          <p:nvPr/>
        </p:nvSpPr>
        <p:spPr>
          <a:xfrm>
            <a:off x="1331186" y="74716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58953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5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5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5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5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829939" y="184886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839" y="2063495"/>
            <a:ext cx="9144000" cy="857250"/>
            <a:chOff x="774839" y="2063495"/>
            <a:chExt cx="9144000" cy="857250"/>
          </a:xfrm>
        </p:grpSpPr>
        <p:sp>
          <p:nvSpPr>
            <p:cNvPr id="5" name="object 5"/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356239" y="2634995"/>
              <a:ext cx="1600200" cy="2857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350143" y="2628912"/>
              <a:ext cx="1613535" cy="292100"/>
            </a:xfrm>
            <a:custGeom>
              <a:avLst/>
              <a:gdLst/>
              <a:ahLst/>
              <a:cxnLst/>
              <a:rect l="l" t="t" r="r" b="b"/>
              <a:pathLst>
                <a:path w="1613535" h="292100">
                  <a:moveTo>
                    <a:pt x="1613154" y="0"/>
                  </a:moveTo>
                  <a:lnTo>
                    <a:pt x="0" y="0"/>
                  </a:lnTo>
                  <a:lnTo>
                    <a:pt x="0" y="291846"/>
                  </a:lnTo>
                  <a:lnTo>
                    <a:pt x="6096" y="291846"/>
                  </a:lnTo>
                  <a:lnTo>
                    <a:pt x="12954" y="291846"/>
                  </a:lnTo>
                  <a:lnTo>
                    <a:pt x="12954" y="12954"/>
                  </a:lnTo>
                  <a:lnTo>
                    <a:pt x="106680" y="12954"/>
                  </a:lnTo>
                  <a:lnTo>
                    <a:pt x="106680" y="291846"/>
                  </a:lnTo>
                  <a:lnTo>
                    <a:pt x="119621" y="291846"/>
                  </a:lnTo>
                  <a:lnTo>
                    <a:pt x="119621" y="12954"/>
                  </a:lnTo>
                  <a:lnTo>
                    <a:pt x="213360" y="12954"/>
                  </a:lnTo>
                  <a:lnTo>
                    <a:pt x="213360" y="291846"/>
                  </a:lnTo>
                  <a:lnTo>
                    <a:pt x="226314" y="291846"/>
                  </a:lnTo>
                  <a:lnTo>
                    <a:pt x="226314" y="12954"/>
                  </a:lnTo>
                  <a:lnTo>
                    <a:pt x="320040" y="12954"/>
                  </a:lnTo>
                  <a:lnTo>
                    <a:pt x="320040" y="291846"/>
                  </a:lnTo>
                  <a:lnTo>
                    <a:pt x="332994" y="291846"/>
                  </a:lnTo>
                  <a:lnTo>
                    <a:pt x="332994" y="12954"/>
                  </a:lnTo>
                  <a:lnTo>
                    <a:pt x="426720" y="12954"/>
                  </a:lnTo>
                  <a:lnTo>
                    <a:pt x="426720" y="291846"/>
                  </a:lnTo>
                  <a:lnTo>
                    <a:pt x="439661" y="291846"/>
                  </a:lnTo>
                  <a:lnTo>
                    <a:pt x="439661" y="12954"/>
                  </a:lnTo>
                  <a:lnTo>
                    <a:pt x="533400" y="12954"/>
                  </a:lnTo>
                  <a:lnTo>
                    <a:pt x="533400" y="291846"/>
                  </a:lnTo>
                  <a:lnTo>
                    <a:pt x="546354" y="291846"/>
                  </a:lnTo>
                  <a:lnTo>
                    <a:pt x="546354" y="12954"/>
                  </a:lnTo>
                  <a:lnTo>
                    <a:pt x="640080" y="12954"/>
                  </a:lnTo>
                  <a:lnTo>
                    <a:pt x="640080" y="291846"/>
                  </a:lnTo>
                  <a:lnTo>
                    <a:pt x="653021" y="291846"/>
                  </a:lnTo>
                  <a:lnTo>
                    <a:pt x="653021" y="12954"/>
                  </a:lnTo>
                  <a:lnTo>
                    <a:pt x="746760" y="12954"/>
                  </a:lnTo>
                  <a:lnTo>
                    <a:pt x="746760" y="291846"/>
                  </a:lnTo>
                  <a:lnTo>
                    <a:pt x="759714" y="291846"/>
                  </a:lnTo>
                  <a:lnTo>
                    <a:pt x="759714" y="12954"/>
                  </a:lnTo>
                  <a:lnTo>
                    <a:pt x="853440" y="12954"/>
                  </a:lnTo>
                  <a:lnTo>
                    <a:pt x="853440" y="291846"/>
                  </a:lnTo>
                  <a:lnTo>
                    <a:pt x="866394" y="291846"/>
                  </a:lnTo>
                  <a:lnTo>
                    <a:pt x="866394" y="12954"/>
                  </a:lnTo>
                  <a:lnTo>
                    <a:pt x="960120" y="12954"/>
                  </a:lnTo>
                  <a:lnTo>
                    <a:pt x="960120" y="291846"/>
                  </a:lnTo>
                  <a:lnTo>
                    <a:pt x="973061" y="291846"/>
                  </a:lnTo>
                  <a:lnTo>
                    <a:pt x="973061" y="12954"/>
                  </a:lnTo>
                  <a:lnTo>
                    <a:pt x="1066800" y="12954"/>
                  </a:lnTo>
                  <a:lnTo>
                    <a:pt x="1066800" y="291846"/>
                  </a:lnTo>
                  <a:lnTo>
                    <a:pt x="1079754" y="291846"/>
                  </a:lnTo>
                  <a:lnTo>
                    <a:pt x="1079754" y="12954"/>
                  </a:lnTo>
                  <a:lnTo>
                    <a:pt x="1173480" y="12954"/>
                  </a:lnTo>
                  <a:lnTo>
                    <a:pt x="1173480" y="291846"/>
                  </a:lnTo>
                  <a:lnTo>
                    <a:pt x="1184148" y="291846"/>
                  </a:lnTo>
                  <a:lnTo>
                    <a:pt x="1184148" y="12954"/>
                  </a:lnTo>
                  <a:lnTo>
                    <a:pt x="1600200" y="12954"/>
                  </a:lnTo>
                  <a:lnTo>
                    <a:pt x="1600200" y="291846"/>
                  </a:lnTo>
                  <a:lnTo>
                    <a:pt x="1606296" y="291846"/>
                  </a:lnTo>
                  <a:lnTo>
                    <a:pt x="1613154" y="291846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534291" y="2634995"/>
              <a:ext cx="955675" cy="285750"/>
            </a:xfrm>
            <a:custGeom>
              <a:avLst/>
              <a:gdLst/>
              <a:ahLst/>
              <a:cxnLst/>
              <a:rect l="l" t="t" r="r" b="b"/>
              <a:pathLst>
                <a:path w="955675" h="285750">
                  <a:moveTo>
                    <a:pt x="955548" y="2857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5548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528195" y="2628899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10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6" y="2918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955548" y="12953"/>
                  </a:lnTo>
                  <a:lnTo>
                    <a:pt x="955548" y="6095"/>
                  </a:lnTo>
                  <a:lnTo>
                    <a:pt x="961631" y="12953"/>
                  </a:lnTo>
                  <a:lnTo>
                    <a:pt x="961631" y="291845"/>
                  </a:lnTo>
                  <a:lnTo>
                    <a:pt x="968501" y="291845"/>
                  </a:lnTo>
                  <a:close/>
                </a:path>
                <a:path w="969010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69010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91845"/>
                  </a:lnTo>
                  <a:lnTo>
                    <a:pt x="12953" y="291845"/>
                  </a:lnTo>
                  <a:close/>
                </a:path>
                <a:path w="969010" h="292100">
                  <a:moveTo>
                    <a:pt x="961631" y="12953"/>
                  </a:moveTo>
                  <a:lnTo>
                    <a:pt x="955548" y="6095"/>
                  </a:lnTo>
                  <a:lnTo>
                    <a:pt x="955548" y="12953"/>
                  </a:lnTo>
                  <a:lnTo>
                    <a:pt x="961631" y="12953"/>
                  </a:lnTo>
                  <a:close/>
                </a:path>
                <a:path w="969010" h="292100">
                  <a:moveTo>
                    <a:pt x="961631" y="291845"/>
                  </a:moveTo>
                  <a:lnTo>
                    <a:pt x="961631" y="12953"/>
                  </a:lnTo>
                  <a:lnTo>
                    <a:pt x="955548" y="12953"/>
                  </a:lnTo>
                  <a:lnTo>
                    <a:pt x="955548" y="291845"/>
                  </a:lnTo>
                  <a:lnTo>
                    <a:pt x="961631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34291" y="2661158"/>
            <a:ext cx="95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96191" y="2452877"/>
            <a:ext cx="76200" cy="182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5527" y="22313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78543" y="2628900"/>
            <a:ext cx="622935" cy="292100"/>
            <a:chOff x="2978543" y="2628900"/>
            <a:chExt cx="622935" cy="292100"/>
          </a:xfrm>
        </p:grpSpPr>
        <p:sp>
          <p:nvSpPr>
            <p:cNvPr id="14" name="object 14"/>
            <p:cNvSpPr/>
            <p:nvPr/>
          </p:nvSpPr>
          <p:spPr>
            <a:xfrm>
              <a:off x="2984639" y="2634995"/>
              <a:ext cx="609600" cy="285750"/>
            </a:xfrm>
            <a:custGeom>
              <a:avLst/>
              <a:gdLst/>
              <a:ahLst/>
              <a:cxnLst/>
              <a:rect l="l" t="t" r="r" b="b"/>
              <a:pathLst>
                <a:path w="609600" h="285750">
                  <a:moveTo>
                    <a:pt x="609599" y="2857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60959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978543" y="2628900"/>
              <a:ext cx="622935" cy="292100"/>
            </a:xfrm>
            <a:custGeom>
              <a:avLst/>
              <a:gdLst/>
              <a:ahLst/>
              <a:cxnLst/>
              <a:rect l="l" t="t" r="r" b="b"/>
              <a:pathLst>
                <a:path w="622935" h="292100">
                  <a:moveTo>
                    <a:pt x="622553" y="291845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5" y="291845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291845"/>
                  </a:lnTo>
                  <a:lnTo>
                    <a:pt x="622553" y="291845"/>
                  </a:lnTo>
                  <a:close/>
                </a:path>
                <a:path w="622935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622935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91845"/>
                  </a:lnTo>
                  <a:lnTo>
                    <a:pt x="12953" y="291845"/>
                  </a:lnTo>
                  <a:close/>
                </a:path>
                <a:path w="622935" h="292100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5" h="292100">
                  <a:moveTo>
                    <a:pt x="615696" y="291845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291845"/>
                  </a:lnTo>
                  <a:lnTo>
                    <a:pt x="61569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75558" y="2661158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21343" y="2635008"/>
            <a:ext cx="463550" cy="285750"/>
          </a:xfrm>
          <a:custGeom>
            <a:avLst/>
            <a:gdLst/>
            <a:ahLst/>
            <a:cxnLst/>
            <a:rect l="l" t="t" r="r" b="b"/>
            <a:pathLst>
              <a:path w="463550" h="285750">
                <a:moveTo>
                  <a:pt x="463296" y="76200"/>
                </a:moveTo>
                <a:lnTo>
                  <a:pt x="387096" y="38100"/>
                </a:lnTo>
                <a:lnTo>
                  <a:pt x="387096" y="70104"/>
                </a:lnTo>
                <a:lnTo>
                  <a:pt x="82296" y="70104"/>
                </a:lnTo>
                <a:lnTo>
                  <a:pt x="82296" y="38100"/>
                </a:lnTo>
                <a:lnTo>
                  <a:pt x="12954" y="72771"/>
                </a:lnTo>
                <a:lnTo>
                  <a:pt x="12954" y="0"/>
                </a:lnTo>
                <a:lnTo>
                  <a:pt x="0" y="0"/>
                </a:lnTo>
                <a:lnTo>
                  <a:pt x="0" y="285750"/>
                </a:lnTo>
                <a:lnTo>
                  <a:pt x="12954" y="285750"/>
                </a:lnTo>
                <a:lnTo>
                  <a:pt x="12954" y="79629"/>
                </a:lnTo>
                <a:lnTo>
                  <a:pt x="70104" y="108204"/>
                </a:lnTo>
                <a:lnTo>
                  <a:pt x="82296" y="114300"/>
                </a:lnTo>
                <a:lnTo>
                  <a:pt x="82296" y="83058"/>
                </a:lnTo>
                <a:lnTo>
                  <a:pt x="387096" y="83058"/>
                </a:lnTo>
                <a:lnTo>
                  <a:pt x="387096" y="114300"/>
                </a:lnTo>
                <a:lnTo>
                  <a:pt x="400037" y="107823"/>
                </a:lnTo>
                <a:lnTo>
                  <a:pt x="46329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2930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94239" y="2254008"/>
            <a:ext cx="616585" cy="666750"/>
          </a:xfrm>
          <a:custGeom>
            <a:avLst/>
            <a:gdLst/>
            <a:ahLst/>
            <a:cxnLst/>
            <a:rect l="l" t="t" r="r" b="b"/>
            <a:pathLst>
              <a:path w="616585" h="666750">
                <a:moveTo>
                  <a:pt x="464058" y="304800"/>
                </a:moveTo>
                <a:lnTo>
                  <a:pt x="451104" y="304800"/>
                </a:lnTo>
                <a:lnTo>
                  <a:pt x="451104" y="454152"/>
                </a:lnTo>
                <a:lnTo>
                  <a:pt x="381000" y="419100"/>
                </a:lnTo>
                <a:lnTo>
                  <a:pt x="381000" y="451104"/>
                </a:lnTo>
                <a:lnTo>
                  <a:pt x="76200" y="451104"/>
                </a:lnTo>
                <a:lnTo>
                  <a:pt x="76200" y="419100"/>
                </a:lnTo>
                <a:lnTo>
                  <a:pt x="0" y="457200"/>
                </a:lnTo>
                <a:lnTo>
                  <a:pt x="64008" y="489204"/>
                </a:lnTo>
                <a:lnTo>
                  <a:pt x="76200" y="495300"/>
                </a:lnTo>
                <a:lnTo>
                  <a:pt x="76200" y="464058"/>
                </a:lnTo>
                <a:lnTo>
                  <a:pt x="381000" y="464058"/>
                </a:lnTo>
                <a:lnTo>
                  <a:pt x="381000" y="495300"/>
                </a:lnTo>
                <a:lnTo>
                  <a:pt x="393954" y="488823"/>
                </a:lnTo>
                <a:lnTo>
                  <a:pt x="451104" y="460248"/>
                </a:lnTo>
                <a:lnTo>
                  <a:pt x="451104" y="666750"/>
                </a:lnTo>
                <a:lnTo>
                  <a:pt x="464058" y="666750"/>
                </a:lnTo>
                <a:lnTo>
                  <a:pt x="464058" y="304800"/>
                </a:lnTo>
                <a:close/>
              </a:path>
              <a:path w="616585" h="666750">
                <a:moveTo>
                  <a:pt x="616458" y="0"/>
                </a:moveTo>
                <a:lnTo>
                  <a:pt x="603504" y="0"/>
                </a:lnTo>
                <a:lnTo>
                  <a:pt x="603504" y="149352"/>
                </a:lnTo>
                <a:lnTo>
                  <a:pt x="533400" y="114300"/>
                </a:lnTo>
                <a:lnTo>
                  <a:pt x="533400" y="146304"/>
                </a:lnTo>
                <a:lnTo>
                  <a:pt x="76200" y="146304"/>
                </a:lnTo>
                <a:lnTo>
                  <a:pt x="76200" y="114300"/>
                </a:lnTo>
                <a:lnTo>
                  <a:pt x="0" y="152400"/>
                </a:lnTo>
                <a:lnTo>
                  <a:pt x="64008" y="184404"/>
                </a:lnTo>
                <a:lnTo>
                  <a:pt x="76200" y="190500"/>
                </a:lnTo>
                <a:lnTo>
                  <a:pt x="76200" y="159258"/>
                </a:lnTo>
                <a:lnTo>
                  <a:pt x="533400" y="159258"/>
                </a:lnTo>
                <a:lnTo>
                  <a:pt x="533400" y="190500"/>
                </a:lnTo>
                <a:lnTo>
                  <a:pt x="546354" y="184023"/>
                </a:lnTo>
                <a:lnTo>
                  <a:pt x="603504" y="155448"/>
                </a:lnTo>
                <a:lnTo>
                  <a:pt x="603504" y="666750"/>
                </a:lnTo>
                <a:lnTo>
                  <a:pt x="616458" y="666750"/>
                </a:lnTo>
                <a:lnTo>
                  <a:pt x="616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5921" y="2061921"/>
            <a:ext cx="35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lvl="0" indent="-3810" algn="l" defTabSz="914400" rtl="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94239" y="2063508"/>
            <a:ext cx="4419600" cy="857250"/>
          </a:xfrm>
          <a:custGeom>
            <a:avLst/>
            <a:gdLst/>
            <a:ahLst/>
            <a:cxnLst/>
            <a:rect l="l" t="t" r="r" b="b"/>
            <a:pathLst>
              <a:path w="4419600" h="857250">
                <a:moveTo>
                  <a:pt x="762000" y="38100"/>
                </a:moveTo>
                <a:lnTo>
                  <a:pt x="685800" y="0"/>
                </a:lnTo>
                <a:lnTo>
                  <a:pt x="685800" y="32004"/>
                </a:lnTo>
                <a:lnTo>
                  <a:pt x="76200" y="32004"/>
                </a:lnTo>
                <a:lnTo>
                  <a:pt x="76200" y="0"/>
                </a:lnTo>
                <a:lnTo>
                  <a:pt x="0" y="38100"/>
                </a:lnTo>
                <a:lnTo>
                  <a:pt x="64008" y="70104"/>
                </a:lnTo>
                <a:lnTo>
                  <a:pt x="76200" y="76200"/>
                </a:lnTo>
                <a:lnTo>
                  <a:pt x="76200" y="44958"/>
                </a:lnTo>
                <a:lnTo>
                  <a:pt x="685800" y="44958"/>
                </a:lnTo>
                <a:lnTo>
                  <a:pt x="685800" y="76200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4419600" h="857250">
                <a:moveTo>
                  <a:pt x="4419587" y="647700"/>
                </a:moveTo>
                <a:lnTo>
                  <a:pt x="4343387" y="609600"/>
                </a:lnTo>
                <a:lnTo>
                  <a:pt x="4343387" y="641604"/>
                </a:lnTo>
                <a:lnTo>
                  <a:pt x="4038587" y="641604"/>
                </a:lnTo>
                <a:lnTo>
                  <a:pt x="4038587" y="609600"/>
                </a:lnTo>
                <a:lnTo>
                  <a:pt x="3969245" y="644271"/>
                </a:lnTo>
                <a:lnTo>
                  <a:pt x="3969245" y="571500"/>
                </a:lnTo>
                <a:lnTo>
                  <a:pt x="3956304" y="571500"/>
                </a:lnTo>
                <a:lnTo>
                  <a:pt x="3956304" y="857250"/>
                </a:lnTo>
                <a:lnTo>
                  <a:pt x="3969245" y="857250"/>
                </a:lnTo>
                <a:lnTo>
                  <a:pt x="3969245" y="651129"/>
                </a:lnTo>
                <a:lnTo>
                  <a:pt x="4026408" y="679704"/>
                </a:lnTo>
                <a:lnTo>
                  <a:pt x="4038587" y="685800"/>
                </a:lnTo>
                <a:lnTo>
                  <a:pt x="4038587" y="654558"/>
                </a:lnTo>
                <a:lnTo>
                  <a:pt x="4343387" y="654558"/>
                </a:lnTo>
                <a:lnTo>
                  <a:pt x="4343387" y="685800"/>
                </a:lnTo>
                <a:lnTo>
                  <a:pt x="4356354" y="679310"/>
                </a:lnTo>
                <a:lnTo>
                  <a:pt x="4419587" y="647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52131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07743" y="2628900"/>
            <a:ext cx="969010" cy="292100"/>
            <a:chOff x="8007743" y="2628900"/>
            <a:chExt cx="969010" cy="292100"/>
          </a:xfrm>
        </p:grpSpPr>
        <p:sp>
          <p:nvSpPr>
            <p:cNvPr id="24" name="object 24"/>
            <p:cNvSpPr/>
            <p:nvPr/>
          </p:nvSpPr>
          <p:spPr>
            <a:xfrm>
              <a:off x="8013827" y="2634995"/>
              <a:ext cx="956310" cy="285750"/>
            </a:xfrm>
            <a:custGeom>
              <a:avLst/>
              <a:gdLst/>
              <a:ahLst/>
              <a:cxnLst/>
              <a:rect l="l" t="t" r="r" b="b"/>
              <a:pathLst>
                <a:path w="956309" h="285750">
                  <a:moveTo>
                    <a:pt x="956309" y="2857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630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8007743" y="2628900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09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83" y="291845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955548" y="12954"/>
                  </a:lnTo>
                  <a:lnTo>
                    <a:pt x="955548" y="6095"/>
                  </a:lnTo>
                  <a:lnTo>
                    <a:pt x="962406" y="12954"/>
                  </a:lnTo>
                  <a:lnTo>
                    <a:pt x="962406" y="291845"/>
                  </a:lnTo>
                  <a:lnTo>
                    <a:pt x="968501" y="291845"/>
                  </a:lnTo>
                  <a:close/>
                </a:path>
                <a:path w="969009" h="292100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969009" h="292100">
                  <a:moveTo>
                    <a:pt x="12954" y="291845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291845"/>
                  </a:lnTo>
                  <a:lnTo>
                    <a:pt x="12954" y="291845"/>
                  </a:lnTo>
                  <a:close/>
                </a:path>
                <a:path w="969009" h="292100">
                  <a:moveTo>
                    <a:pt x="962406" y="12954"/>
                  </a:moveTo>
                  <a:lnTo>
                    <a:pt x="955548" y="6095"/>
                  </a:lnTo>
                  <a:lnTo>
                    <a:pt x="955548" y="12954"/>
                  </a:lnTo>
                  <a:lnTo>
                    <a:pt x="962406" y="12954"/>
                  </a:lnTo>
                  <a:close/>
                </a:path>
                <a:path w="969009" h="292100">
                  <a:moveTo>
                    <a:pt x="962406" y="291845"/>
                  </a:moveTo>
                  <a:lnTo>
                    <a:pt x="962406" y="12954"/>
                  </a:lnTo>
                  <a:lnTo>
                    <a:pt x="955548" y="12954"/>
                  </a:lnTo>
                  <a:lnTo>
                    <a:pt x="955548" y="291845"/>
                  </a:lnTo>
                  <a:lnTo>
                    <a:pt x="96240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252586" y="2661158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28" name="object 28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994039" y="2970288"/>
              <a:ext cx="7086600" cy="152400"/>
            </a:xfrm>
            <a:custGeom>
              <a:avLst/>
              <a:gdLst/>
              <a:ahLst/>
              <a:cxnLst/>
              <a:rect l="l" t="t" r="r" b="b"/>
              <a:pathLst>
                <a:path w="7086600" h="152400">
                  <a:moveTo>
                    <a:pt x="7086600" y="39624"/>
                  </a:moveTo>
                  <a:lnTo>
                    <a:pt x="6976097" y="39624"/>
                  </a:lnTo>
                  <a:lnTo>
                    <a:pt x="6976097" y="45720"/>
                  </a:lnTo>
                  <a:lnTo>
                    <a:pt x="6019787" y="45720"/>
                  </a:lnTo>
                  <a:lnTo>
                    <a:pt x="6019787" y="39624"/>
                  </a:lnTo>
                  <a:lnTo>
                    <a:pt x="2216658" y="39624"/>
                  </a:lnTo>
                  <a:lnTo>
                    <a:pt x="2216658" y="0"/>
                  </a:lnTo>
                  <a:lnTo>
                    <a:pt x="2203704" y="0"/>
                  </a:lnTo>
                  <a:lnTo>
                    <a:pt x="2203704" y="39624"/>
                  </a:lnTo>
                  <a:lnTo>
                    <a:pt x="1600187" y="39624"/>
                  </a:lnTo>
                  <a:lnTo>
                    <a:pt x="1600187" y="45720"/>
                  </a:lnTo>
                  <a:lnTo>
                    <a:pt x="990600" y="45720"/>
                  </a:lnTo>
                  <a:lnTo>
                    <a:pt x="990600" y="39624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0" y="52578"/>
                  </a:lnTo>
                  <a:lnTo>
                    <a:pt x="2203704" y="52578"/>
                  </a:lnTo>
                  <a:lnTo>
                    <a:pt x="2203704" y="152400"/>
                  </a:lnTo>
                  <a:lnTo>
                    <a:pt x="2216658" y="152400"/>
                  </a:lnTo>
                  <a:lnTo>
                    <a:pt x="2216658" y="52578"/>
                  </a:lnTo>
                  <a:lnTo>
                    <a:pt x="4952987" y="52578"/>
                  </a:lnTo>
                  <a:lnTo>
                    <a:pt x="4952987" y="45720"/>
                  </a:lnTo>
                  <a:lnTo>
                    <a:pt x="5562587" y="45720"/>
                  </a:lnTo>
                  <a:lnTo>
                    <a:pt x="5562587" y="52578"/>
                  </a:lnTo>
                  <a:lnTo>
                    <a:pt x="7086600" y="52578"/>
                  </a:lnTo>
                  <a:lnTo>
                    <a:pt x="7086600" y="45720"/>
                  </a:lnTo>
                  <a:lnTo>
                    <a:pt x="7086600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356239" y="2920745"/>
              <a:ext cx="1600200" cy="952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350143" y="2920758"/>
              <a:ext cx="1613535" cy="102235"/>
            </a:xfrm>
            <a:custGeom>
              <a:avLst/>
              <a:gdLst/>
              <a:ahLst/>
              <a:cxnLst/>
              <a:rect l="l" t="t" r="r" b="b"/>
              <a:pathLst>
                <a:path w="1613535" h="102235">
                  <a:moveTo>
                    <a:pt x="1613154" y="0"/>
                  </a:moveTo>
                  <a:lnTo>
                    <a:pt x="1600200" y="0"/>
                  </a:lnTo>
                  <a:lnTo>
                    <a:pt x="1600200" y="89154"/>
                  </a:lnTo>
                  <a:lnTo>
                    <a:pt x="1184148" y="89154"/>
                  </a:lnTo>
                  <a:lnTo>
                    <a:pt x="1184148" y="0"/>
                  </a:lnTo>
                  <a:lnTo>
                    <a:pt x="1173480" y="0"/>
                  </a:lnTo>
                  <a:lnTo>
                    <a:pt x="1173480" y="89154"/>
                  </a:lnTo>
                  <a:lnTo>
                    <a:pt x="1079754" y="89154"/>
                  </a:lnTo>
                  <a:lnTo>
                    <a:pt x="1079754" y="0"/>
                  </a:lnTo>
                  <a:lnTo>
                    <a:pt x="1066800" y="0"/>
                  </a:lnTo>
                  <a:lnTo>
                    <a:pt x="1066800" y="89154"/>
                  </a:lnTo>
                  <a:lnTo>
                    <a:pt x="973061" y="89154"/>
                  </a:lnTo>
                  <a:lnTo>
                    <a:pt x="973061" y="0"/>
                  </a:lnTo>
                  <a:lnTo>
                    <a:pt x="960120" y="0"/>
                  </a:lnTo>
                  <a:lnTo>
                    <a:pt x="960120" y="89154"/>
                  </a:lnTo>
                  <a:lnTo>
                    <a:pt x="866394" y="89154"/>
                  </a:lnTo>
                  <a:lnTo>
                    <a:pt x="866394" y="0"/>
                  </a:lnTo>
                  <a:lnTo>
                    <a:pt x="853440" y="0"/>
                  </a:lnTo>
                  <a:lnTo>
                    <a:pt x="853440" y="89154"/>
                  </a:lnTo>
                  <a:lnTo>
                    <a:pt x="759714" y="89154"/>
                  </a:lnTo>
                  <a:lnTo>
                    <a:pt x="759714" y="0"/>
                  </a:lnTo>
                  <a:lnTo>
                    <a:pt x="746760" y="0"/>
                  </a:lnTo>
                  <a:lnTo>
                    <a:pt x="746760" y="89154"/>
                  </a:lnTo>
                  <a:lnTo>
                    <a:pt x="653021" y="89154"/>
                  </a:lnTo>
                  <a:lnTo>
                    <a:pt x="653021" y="0"/>
                  </a:lnTo>
                  <a:lnTo>
                    <a:pt x="640080" y="0"/>
                  </a:lnTo>
                  <a:lnTo>
                    <a:pt x="640080" y="89154"/>
                  </a:lnTo>
                  <a:lnTo>
                    <a:pt x="546354" y="89154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89154"/>
                  </a:lnTo>
                  <a:lnTo>
                    <a:pt x="439661" y="89154"/>
                  </a:lnTo>
                  <a:lnTo>
                    <a:pt x="439661" y="0"/>
                  </a:lnTo>
                  <a:lnTo>
                    <a:pt x="426720" y="0"/>
                  </a:lnTo>
                  <a:lnTo>
                    <a:pt x="426720" y="89154"/>
                  </a:lnTo>
                  <a:lnTo>
                    <a:pt x="332994" y="89154"/>
                  </a:lnTo>
                  <a:lnTo>
                    <a:pt x="332994" y="0"/>
                  </a:lnTo>
                  <a:lnTo>
                    <a:pt x="320040" y="0"/>
                  </a:lnTo>
                  <a:lnTo>
                    <a:pt x="320040" y="89154"/>
                  </a:lnTo>
                  <a:lnTo>
                    <a:pt x="226314" y="89154"/>
                  </a:lnTo>
                  <a:lnTo>
                    <a:pt x="226314" y="0"/>
                  </a:lnTo>
                  <a:lnTo>
                    <a:pt x="213360" y="0"/>
                  </a:lnTo>
                  <a:lnTo>
                    <a:pt x="213360" y="89154"/>
                  </a:lnTo>
                  <a:lnTo>
                    <a:pt x="119621" y="89154"/>
                  </a:lnTo>
                  <a:lnTo>
                    <a:pt x="119621" y="0"/>
                  </a:lnTo>
                  <a:lnTo>
                    <a:pt x="106680" y="0"/>
                  </a:lnTo>
                  <a:lnTo>
                    <a:pt x="106680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96" y="102108"/>
                  </a:lnTo>
                  <a:lnTo>
                    <a:pt x="12954" y="102108"/>
                  </a:lnTo>
                  <a:lnTo>
                    <a:pt x="1600200" y="102108"/>
                  </a:lnTo>
                  <a:lnTo>
                    <a:pt x="1606296" y="102108"/>
                  </a:lnTo>
                  <a:lnTo>
                    <a:pt x="1613154" y="102108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534291" y="2920745"/>
              <a:ext cx="955675" cy="95250"/>
            </a:xfrm>
            <a:custGeom>
              <a:avLst/>
              <a:gdLst/>
              <a:ahLst/>
              <a:cxnLst/>
              <a:rect l="l" t="t" r="r" b="b"/>
              <a:pathLst>
                <a:path w="955675" h="95250">
                  <a:moveTo>
                    <a:pt x="955548" y="952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5548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356240" y="2920758"/>
              <a:ext cx="2140585" cy="240029"/>
            </a:xfrm>
            <a:custGeom>
              <a:avLst/>
              <a:gdLst/>
              <a:ahLst/>
              <a:cxnLst/>
              <a:rect l="l" t="t" r="r" b="b"/>
              <a:pathLst>
                <a:path w="2140585" h="240030">
                  <a:moveTo>
                    <a:pt x="2140458" y="0"/>
                  </a:moveTo>
                  <a:lnTo>
                    <a:pt x="2127504" y="0"/>
                  </a:lnTo>
                  <a:lnTo>
                    <a:pt x="2127504" y="89154"/>
                  </a:lnTo>
                  <a:lnTo>
                    <a:pt x="1184910" y="89154"/>
                  </a:lnTo>
                  <a:lnTo>
                    <a:pt x="1184910" y="0"/>
                  </a:lnTo>
                  <a:lnTo>
                    <a:pt x="1171956" y="0"/>
                  </a:lnTo>
                  <a:lnTo>
                    <a:pt x="1171956" y="102108"/>
                  </a:lnTo>
                  <a:lnTo>
                    <a:pt x="1178052" y="102108"/>
                  </a:lnTo>
                  <a:lnTo>
                    <a:pt x="1184910" y="102108"/>
                  </a:lnTo>
                  <a:lnTo>
                    <a:pt x="1594104" y="102108"/>
                  </a:lnTo>
                  <a:lnTo>
                    <a:pt x="1594104" y="198882"/>
                  </a:lnTo>
                  <a:lnTo>
                    <a:pt x="1524000" y="163830"/>
                  </a:lnTo>
                  <a:lnTo>
                    <a:pt x="1524000" y="195834"/>
                  </a:lnTo>
                  <a:lnTo>
                    <a:pt x="76200" y="195834"/>
                  </a:lnTo>
                  <a:lnTo>
                    <a:pt x="76200" y="163830"/>
                  </a:lnTo>
                  <a:lnTo>
                    <a:pt x="0" y="201930"/>
                  </a:lnTo>
                  <a:lnTo>
                    <a:pt x="64008" y="233934"/>
                  </a:lnTo>
                  <a:lnTo>
                    <a:pt x="76200" y="240030"/>
                  </a:lnTo>
                  <a:lnTo>
                    <a:pt x="76200" y="208026"/>
                  </a:lnTo>
                  <a:lnTo>
                    <a:pt x="1524000" y="208026"/>
                  </a:lnTo>
                  <a:lnTo>
                    <a:pt x="1524000" y="240030"/>
                  </a:lnTo>
                  <a:lnTo>
                    <a:pt x="1536954" y="233553"/>
                  </a:lnTo>
                  <a:lnTo>
                    <a:pt x="1600200" y="201930"/>
                  </a:lnTo>
                  <a:lnTo>
                    <a:pt x="1607058" y="201930"/>
                  </a:lnTo>
                  <a:lnTo>
                    <a:pt x="1607058" y="102108"/>
                  </a:lnTo>
                  <a:lnTo>
                    <a:pt x="2127504" y="102108"/>
                  </a:lnTo>
                  <a:lnTo>
                    <a:pt x="2133587" y="102108"/>
                  </a:lnTo>
                  <a:lnTo>
                    <a:pt x="2140458" y="102108"/>
                  </a:lnTo>
                  <a:lnTo>
                    <a:pt x="2140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419727" y="3160267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CWmin‐1</a:t>
            </a:r>
            <a:r>
              <a:rPr kumimoji="0" sz="12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064143" y="2025395"/>
            <a:ext cx="2299335" cy="1752600"/>
            <a:chOff x="2064143" y="2025395"/>
            <a:chExt cx="2299335" cy="1752600"/>
          </a:xfrm>
        </p:grpSpPr>
        <p:sp>
          <p:nvSpPr>
            <p:cNvPr id="36" name="object 36"/>
            <p:cNvSpPr/>
            <p:nvPr/>
          </p:nvSpPr>
          <p:spPr>
            <a:xfrm>
              <a:off x="2070239" y="301599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10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4572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2064143" y="3009899"/>
              <a:ext cx="470534" cy="394335"/>
            </a:xfrm>
            <a:custGeom>
              <a:avLst/>
              <a:gdLst/>
              <a:ahLst/>
              <a:cxnLst/>
              <a:rect l="l" t="t" r="r" b="b"/>
              <a:pathLst>
                <a:path w="470535" h="394335">
                  <a:moveTo>
                    <a:pt x="470154" y="393953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457200" y="12954"/>
                  </a:lnTo>
                  <a:lnTo>
                    <a:pt x="457200" y="6095"/>
                  </a:lnTo>
                  <a:lnTo>
                    <a:pt x="463295" y="12954"/>
                  </a:lnTo>
                  <a:lnTo>
                    <a:pt x="463295" y="393953"/>
                  </a:lnTo>
                  <a:lnTo>
                    <a:pt x="470154" y="393953"/>
                  </a:lnTo>
                  <a:close/>
                </a:path>
                <a:path w="470535" h="394335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4705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457200" y="393953"/>
                  </a:lnTo>
                  <a:lnTo>
                    <a:pt x="457200" y="387096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470535" h="394335">
                  <a:moveTo>
                    <a:pt x="463295" y="12954"/>
                  </a:moveTo>
                  <a:lnTo>
                    <a:pt x="457200" y="6095"/>
                  </a:lnTo>
                  <a:lnTo>
                    <a:pt x="457200" y="12954"/>
                  </a:lnTo>
                  <a:lnTo>
                    <a:pt x="463295" y="12954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463295" y="12954"/>
                  </a:lnTo>
                  <a:lnTo>
                    <a:pt x="457200" y="12954"/>
                  </a:lnTo>
                  <a:lnTo>
                    <a:pt x="457200" y="381000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463295" y="393953"/>
                  </a:moveTo>
                  <a:lnTo>
                    <a:pt x="463295" y="381000"/>
                  </a:lnTo>
                  <a:lnTo>
                    <a:pt x="457200" y="387096"/>
                  </a:lnTo>
                  <a:lnTo>
                    <a:pt x="457200" y="393953"/>
                  </a:lnTo>
                  <a:lnTo>
                    <a:pt x="4632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2984639" y="2920745"/>
              <a:ext cx="609600" cy="95250"/>
            </a:xfrm>
            <a:custGeom>
              <a:avLst/>
              <a:gdLst/>
              <a:ahLst/>
              <a:cxnLst/>
              <a:rect l="l" t="t" r="r" b="b"/>
              <a:pathLst>
                <a:path w="609600" h="95250">
                  <a:moveTo>
                    <a:pt x="609599" y="952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60959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2521343" y="2025408"/>
              <a:ext cx="1842135" cy="1752600"/>
            </a:xfrm>
            <a:custGeom>
              <a:avLst/>
              <a:gdLst/>
              <a:ahLst/>
              <a:cxnLst/>
              <a:rect l="l" t="t" r="r" b="b"/>
              <a:pathLst>
                <a:path w="1842135" h="1752600">
                  <a:moveTo>
                    <a:pt x="12954" y="895350"/>
                  </a:moveTo>
                  <a:lnTo>
                    <a:pt x="0" y="895350"/>
                  </a:lnTo>
                  <a:lnTo>
                    <a:pt x="0" y="990600"/>
                  </a:lnTo>
                  <a:lnTo>
                    <a:pt x="12954" y="990600"/>
                  </a:lnTo>
                  <a:lnTo>
                    <a:pt x="12954" y="895350"/>
                  </a:lnTo>
                  <a:close/>
                </a:path>
                <a:path w="1842135" h="1752600">
                  <a:moveTo>
                    <a:pt x="1079754" y="895350"/>
                  </a:moveTo>
                  <a:lnTo>
                    <a:pt x="1079741" y="0"/>
                  </a:lnTo>
                  <a:lnTo>
                    <a:pt x="1066787" y="0"/>
                  </a:lnTo>
                  <a:lnTo>
                    <a:pt x="1066787" y="984504"/>
                  </a:lnTo>
                  <a:lnTo>
                    <a:pt x="470154" y="984504"/>
                  </a:lnTo>
                  <a:lnTo>
                    <a:pt x="470154" y="895350"/>
                  </a:lnTo>
                  <a:lnTo>
                    <a:pt x="457200" y="895350"/>
                  </a:lnTo>
                  <a:lnTo>
                    <a:pt x="457200" y="997458"/>
                  </a:lnTo>
                  <a:lnTo>
                    <a:pt x="463296" y="997458"/>
                  </a:lnTo>
                  <a:lnTo>
                    <a:pt x="470154" y="997458"/>
                  </a:lnTo>
                  <a:lnTo>
                    <a:pt x="1066800" y="997458"/>
                  </a:lnTo>
                  <a:lnTo>
                    <a:pt x="1072896" y="997458"/>
                  </a:lnTo>
                  <a:lnTo>
                    <a:pt x="1079754" y="997458"/>
                  </a:lnTo>
                  <a:lnTo>
                    <a:pt x="1079754" y="895350"/>
                  </a:lnTo>
                  <a:close/>
                </a:path>
                <a:path w="1842135" h="1752600">
                  <a:moveTo>
                    <a:pt x="1536954" y="895350"/>
                  </a:moveTo>
                  <a:lnTo>
                    <a:pt x="1524000" y="895350"/>
                  </a:lnTo>
                  <a:lnTo>
                    <a:pt x="1524000" y="990600"/>
                  </a:lnTo>
                  <a:lnTo>
                    <a:pt x="1536954" y="990600"/>
                  </a:lnTo>
                  <a:lnTo>
                    <a:pt x="1536954" y="895350"/>
                  </a:lnTo>
                  <a:close/>
                </a:path>
                <a:path w="1842135" h="1752600">
                  <a:moveTo>
                    <a:pt x="1689354" y="895350"/>
                  </a:moveTo>
                  <a:lnTo>
                    <a:pt x="1676400" y="895350"/>
                  </a:lnTo>
                  <a:lnTo>
                    <a:pt x="1676400" y="990600"/>
                  </a:lnTo>
                  <a:lnTo>
                    <a:pt x="1689354" y="990600"/>
                  </a:lnTo>
                  <a:lnTo>
                    <a:pt x="1689354" y="895350"/>
                  </a:lnTo>
                  <a:close/>
                </a:path>
                <a:path w="1842135" h="1752600">
                  <a:moveTo>
                    <a:pt x="1841741" y="0"/>
                  </a:moveTo>
                  <a:lnTo>
                    <a:pt x="1828787" y="0"/>
                  </a:lnTo>
                  <a:lnTo>
                    <a:pt x="1828787" y="990600"/>
                  </a:lnTo>
                  <a:lnTo>
                    <a:pt x="1841741" y="990600"/>
                  </a:lnTo>
                  <a:lnTo>
                    <a:pt x="1841741" y="0"/>
                  </a:lnTo>
                  <a:close/>
                </a:path>
                <a:path w="1842135" h="1752600">
                  <a:moveTo>
                    <a:pt x="1841754" y="1066800"/>
                  </a:moveTo>
                  <a:lnTo>
                    <a:pt x="1828800" y="1066800"/>
                  </a:lnTo>
                  <a:lnTo>
                    <a:pt x="1828800" y="1752600"/>
                  </a:lnTo>
                  <a:lnTo>
                    <a:pt x="1841754" y="1752600"/>
                  </a:lnTo>
                  <a:lnTo>
                    <a:pt x="1841754" y="106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603119" y="3176269"/>
            <a:ext cx="382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88051" y="3389626"/>
            <a:ext cx="6127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47403" y="3525254"/>
            <a:ext cx="4464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975239" y="3016008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381000" y="762000"/>
                </a:moveTo>
                <a:lnTo>
                  <a:pt x="304800" y="723900"/>
                </a:lnTo>
                <a:lnTo>
                  <a:pt x="304800" y="755904"/>
                </a:lnTo>
                <a:lnTo>
                  <a:pt x="0" y="755904"/>
                </a:lnTo>
                <a:lnTo>
                  <a:pt x="0" y="762000"/>
                </a:lnTo>
                <a:lnTo>
                  <a:pt x="317754" y="762000"/>
                </a:lnTo>
                <a:lnTo>
                  <a:pt x="381000" y="762000"/>
                </a:lnTo>
                <a:close/>
              </a:path>
              <a:path w="2971800" h="762000">
                <a:moveTo>
                  <a:pt x="2057400" y="755904"/>
                </a:moveTo>
                <a:lnTo>
                  <a:pt x="457200" y="755904"/>
                </a:lnTo>
                <a:lnTo>
                  <a:pt x="457200" y="723900"/>
                </a:lnTo>
                <a:lnTo>
                  <a:pt x="381000" y="762000"/>
                </a:lnTo>
                <a:lnTo>
                  <a:pt x="445008" y="762000"/>
                </a:lnTo>
                <a:lnTo>
                  <a:pt x="2057400" y="762000"/>
                </a:lnTo>
                <a:lnTo>
                  <a:pt x="2057400" y="755904"/>
                </a:lnTo>
                <a:close/>
              </a:path>
              <a:path w="2971800" h="762000">
                <a:moveTo>
                  <a:pt x="2971787" y="304800"/>
                </a:moveTo>
                <a:lnTo>
                  <a:pt x="2895587" y="266700"/>
                </a:lnTo>
                <a:lnTo>
                  <a:pt x="2895587" y="298704"/>
                </a:lnTo>
                <a:lnTo>
                  <a:pt x="2590787" y="298704"/>
                </a:lnTo>
                <a:lnTo>
                  <a:pt x="2590787" y="266700"/>
                </a:lnTo>
                <a:lnTo>
                  <a:pt x="2521458" y="301371"/>
                </a:lnTo>
                <a:lnTo>
                  <a:pt x="2521458" y="0"/>
                </a:lnTo>
                <a:lnTo>
                  <a:pt x="2508504" y="0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08241"/>
                </a:lnTo>
                <a:lnTo>
                  <a:pt x="2578582" y="336804"/>
                </a:lnTo>
                <a:lnTo>
                  <a:pt x="2590787" y="342900"/>
                </a:lnTo>
                <a:lnTo>
                  <a:pt x="2590787" y="311658"/>
                </a:lnTo>
                <a:lnTo>
                  <a:pt x="2895587" y="311658"/>
                </a:lnTo>
                <a:lnTo>
                  <a:pt x="2895587" y="342900"/>
                </a:lnTo>
                <a:lnTo>
                  <a:pt x="2908541" y="336423"/>
                </a:lnTo>
                <a:lnTo>
                  <a:pt x="2971787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85331" y="30680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940943" y="3009900"/>
            <a:ext cx="622935" cy="394335"/>
            <a:chOff x="6940943" y="3009900"/>
            <a:chExt cx="622935" cy="394335"/>
          </a:xfrm>
        </p:grpSpPr>
        <p:sp>
          <p:nvSpPr>
            <p:cNvPr id="46" name="object 46"/>
            <p:cNvSpPr/>
            <p:nvPr/>
          </p:nvSpPr>
          <p:spPr>
            <a:xfrm>
              <a:off x="6947027" y="3015995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6940943" y="3009900"/>
              <a:ext cx="622935" cy="394335"/>
            </a:xfrm>
            <a:custGeom>
              <a:avLst/>
              <a:gdLst/>
              <a:ahLst/>
              <a:cxnLst/>
              <a:rect l="l" t="t" r="r" b="b"/>
              <a:pathLst>
                <a:path w="622934" h="394335">
                  <a:moveTo>
                    <a:pt x="622553" y="393953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09600" y="12954"/>
                  </a:lnTo>
                  <a:lnTo>
                    <a:pt x="609600" y="6096"/>
                  </a:lnTo>
                  <a:lnTo>
                    <a:pt x="615683" y="12954"/>
                  </a:lnTo>
                  <a:lnTo>
                    <a:pt x="615683" y="393953"/>
                  </a:lnTo>
                  <a:lnTo>
                    <a:pt x="622553" y="393953"/>
                  </a:lnTo>
                  <a:close/>
                </a:path>
                <a:path w="622934" h="394335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622934" h="394335">
                  <a:moveTo>
                    <a:pt x="12954" y="381000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609600" y="393953"/>
                  </a:lnTo>
                  <a:lnTo>
                    <a:pt x="609600" y="387096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622934" h="394335">
                  <a:moveTo>
                    <a:pt x="615683" y="12954"/>
                  </a:moveTo>
                  <a:lnTo>
                    <a:pt x="609600" y="6096"/>
                  </a:lnTo>
                  <a:lnTo>
                    <a:pt x="609600" y="12954"/>
                  </a:lnTo>
                  <a:lnTo>
                    <a:pt x="615683" y="12954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15683" y="12954"/>
                  </a:lnTo>
                  <a:lnTo>
                    <a:pt x="609600" y="12954"/>
                  </a:lnTo>
                  <a:lnTo>
                    <a:pt x="609600" y="381000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615683" y="393953"/>
                  </a:moveTo>
                  <a:lnTo>
                    <a:pt x="615683" y="381000"/>
                  </a:lnTo>
                  <a:lnTo>
                    <a:pt x="609600" y="387096"/>
                  </a:lnTo>
                  <a:lnTo>
                    <a:pt x="609600" y="393953"/>
                  </a:lnTo>
                  <a:lnTo>
                    <a:pt x="6156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947027" y="3015995"/>
            <a:ext cx="609600" cy="3810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4460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550543" y="2920745"/>
            <a:ext cx="1426210" cy="666750"/>
            <a:chOff x="7550543" y="2920745"/>
            <a:chExt cx="1426210" cy="666750"/>
          </a:xfrm>
        </p:grpSpPr>
        <p:sp>
          <p:nvSpPr>
            <p:cNvPr id="50" name="object 50"/>
            <p:cNvSpPr/>
            <p:nvPr/>
          </p:nvSpPr>
          <p:spPr>
            <a:xfrm>
              <a:off x="7550543" y="2920745"/>
              <a:ext cx="13335" cy="95250"/>
            </a:xfrm>
            <a:custGeom>
              <a:avLst/>
              <a:gdLst/>
              <a:ahLst/>
              <a:cxnLst/>
              <a:rect l="l" t="t" r="r" b="b"/>
              <a:pathLst>
                <a:path w="13334" h="95250">
                  <a:moveTo>
                    <a:pt x="12953" y="95250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12953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8013827" y="2920745"/>
              <a:ext cx="956310" cy="95250"/>
            </a:xfrm>
            <a:custGeom>
              <a:avLst/>
              <a:gdLst/>
              <a:ahLst/>
              <a:cxnLst/>
              <a:rect l="l" t="t" r="r" b="b"/>
              <a:pathLst>
                <a:path w="956309" h="95250">
                  <a:moveTo>
                    <a:pt x="956309" y="952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630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8007744" y="2920758"/>
              <a:ext cx="969010" cy="666750"/>
            </a:xfrm>
            <a:custGeom>
              <a:avLst/>
              <a:gdLst/>
              <a:ahLst/>
              <a:cxnLst/>
              <a:rect l="l" t="t" r="r" b="b"/>
              <a:pathLst>
                <a:path w="969009" h="666750">
                  <a:moveTo>
                    <a:pt x="844283" y="628650"/>
                  </a:moveTo>
                  <a:lnTo>
                    <a:pt x="768083" y="590550"/>
                  </a:lnTo>
                  <a:lnTo>
                    <a:pt x="768083" y="622554"/>
                  </a:lnTo>
                  <a:lnTo>
                    <a:pt x="310883" y="622554"/>
                  </a:lnTo>
                  <a:lnTo>
                    <a:pt x="310883" y="635508"/>
                  </a:lnTo>
                  <a:lnTo>
                    <a:pt x="768083" y="635508"/>
                  </a:lnTo>
                  <a:lnTo>
                    <a:pt x="768083" y="666750"/>
                  </a:lnTo>
                  <a:lnTo>
                    <a:pt x="781037" y="660273"/>
                  </a:lnTo>
                  <a:lnTo>
                    <a:pt x="844283" y="628650"/>
                  </a:lnTo>
                  <a:close/>
                </a:path>
                <a:path w="969009" h="666750">
                  <a:moveTo>
                    <a:pt x="968489" y="0"/>
                  </a:moveTo>
                  <a:lnTo>
                    <a:pt x="955548" y="0"/>
                  </a:lnTo>
                  <a:lnTo>
                    <a:pt x="955548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83" y="102108"/>
                  </a:lnTo>
                  <a:lnTo>
                    <a:pt x="12954" y="102108"/>
                  </a:lnTo>
                  <a:lnTo>
                    <a:pt x="955548" y="102108"/>
                  </a:lnTo>
                  <a:lnTo>
                    <a:pt x="962406" y="102108"/>
                  </a:lnTo>
                  <a:lnTo>
                    <a:pt x="968489" y="102108"/>
                  </a:lnTo>
                  <a:lnTo>
                    <a:pt x="96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402701" y="3541267"/>
            <a:ext cx="3657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350143" y="3777996"/>
            <a:ext cx="13335" cy="381000"/>
          </a:xfrm>
          <a:custGeom>
            <a:avLst/>
            <a:gdLst/>
            <a:ahLst/>
            <a:cxnLst/>
            <a:rect l="l" t="t" r="r" b="b"/>
            <a:pathLst>
              <a:path w="13335" h="381000">
                <a:moveTo>
                  <a:pt x="12953" y="381000"/>
                </a:moveTo>
                <a:lnTo>
                  <a:pt x="12953" y="0"/>
                </a:lnTo>
                <a:lnTo>
                  <a:pt x="0" y="0"/>
                </a:lnTo>
                <a:lnTo>
                  <a:pt x="0" y="381000"/>
                </a:lnTo>
                <a:lnTo>
                  <a:pt x="12953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13886" y="3738625"/>
            <a:ext cx="513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33095" y="3753859"/>
            <a:ext cx="2874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080" lvl="0" indent="-24384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idle, 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get</a:t>
            </a:r>
            <a:r>
              <a:rPr kumimoji="0" sz="1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975239" y="3778008"/>
            <a:ext cx="2057400" cy="38100"/>
          </a:xfrm>
          <a:custGeom>
            <a:avLst/>
            <a:gdLst/>
            <a:ahLst/>
            <a:cxnLst/>
            <a:rect l="l" t="t" r="r" b="b"/>
            <a:pathLst>
              <a:path w="2057400" h="38100">
                <a:moveTo>
                  <a:pt x="381000" y="0"/>
                </a:moveTo>
                <a:lnTo>
                  <a:pt x="0" y="0"/>
                </a:lnTo>
                <a:lnTo>
                  <a:pt x="0" y="6858"/>
                </a:lnTo>
                <a:lnTo>
                  <a:pt x="304800" y="6858"/>
                </a:lnTo>
                <a:lnTo>
                  <a:pt x="304800" y="38100"/>
                </a:lnTo>
                <a:lnTo>
                  <a:pt x="317754" y="31623"/>
                </a:lnTo>
                <a:lnTo>
                  <a:pt x="381000" y="0"/>
                </a:lnTo>
                <a:close/>
              </a:path>
              <a:path w="2057400" h="38100">
                <a:moveTo>
                  <a:pt x="2057400" y="0"/>
                </a:moveTo>
                <a:lnTo>
                  <a:pt x="381000" y="0"/>
                </a:lnTo>
                <a:lnTo>
                  <a:pt x="445008" y="32004"/>
                </a:lnTo>
                <a:lnTo>
                  <a:pt x="457200" y="38100"/>
                </a:lnTo>
                <a:lnTo>
                  <a:pt x="457200" y="6858"/>
                </a:lnTo>
                <a:lnTo>
                  <a:pt x="2057400" y="6858"/>
                </a:lnTo>
                <a:lnTo>
                  <a:pt x="205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691767" y="4374133"/>
            <a:ext cx="7580630" cy="17627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452755" lvl="0" indent="-342900" algn="l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part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CA,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procedure</a:t>
            </a:r>
            <a:r>
              <a:rPr kumimoji="0" sz="2000" b="1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 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160"/>
              </a:lnSpc>
              <a:spcBef>
                <a:spcPts val="48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Ex: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successful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exchange,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wants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send 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another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frame.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starts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 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equal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1" name="object 6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F91B21C0-27AA-427B-B7D9-BE5650770D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1BE63EA-72DA-7D11-0847-391B2B65090D}"/>
              </a:ext>
            </a:extLst>
          </p:cNvPr>
          <p:cNvGrpSpPr/>
          <p:nvPr/>
        </p:nvGrpSpPr>
        <p:grpSpPr>
          <a:xfrm>
            <a:off x="4370103" y="1341513"/>
            <a:ext cx="5152643" cy="2985770"/>
            <a:chOff x="3821573" y="2014855"/>
            <a:chExt cx="5228843" cy="298577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6A8BFC4-2F43-AFBE-E1A9-564FE1FCE0D1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1AFC9F3-14B1-61B7-027E-BAD5923C80F2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object 2">
            <a:extLst>
              <a:ext uri="{FF2B5EF4-FFF2-40B4-BE49-F238E27FC236}">
                <a16:creationId xmlns:a16="http://schemas.microsoft.com/office/drawing/2014/main" id="{35863B35-CCF3-7A39-AED0-9FAA051E195B}"/>
              </a:ext>
            </a:extLst>
          </p:cNvPr>
          <p:cNvSpPr txBox="1">
            <a:spLocks/>
          </p:cNvSpPr>
          <p:nvPr/>
        </p:nvSpPr>
        <p:spPr>
          <a:xfrm>
            <a:off x="1321947" y="847606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2095588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A0ACD4-7921-42F1-45E9-59B9E498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10771E-4FE1-4A74-6954-BA21785AD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8397716-95AA-53E6-3726-1CAA564EA1AC}"/>
              </a:ext>
            </a:extLst>
          </p:cNvPr>
          <p:cNvSpPr txBox="1"/>
          <p:nvPr/>
        </p:nvSpPr>
        <p:spPr>
          <a:xfrm>
            <a:off x="3829939" y="184886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F9A5D6E-3910-81EB-FF4A-274272C06889}"/>
              </a:ext>
            </a:extLst>
          </p:cNvPr>
          <p:cNvGrpSpPr/>
          <p:nvPr/>
        </p:nvGrpSpPr>
        <p:grpSpPr>
          <a:xfrm>
            <a:off x="774839" y="2063495"/>
            <a:ext cx="9144000" cy="857250"/>
            <a:chOff x="774839" y="2063495"/>
            <a:chExt cx="9144000" cy="8572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D4F0F01-B5A1-49CA-20C3-B2AB83C583B7}"/>
                </a:ext>
              </a:extLst>
            </p:cNvPr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8FCA362-8C97-84ED-5AAF-6DC7A5523B93}"/>
                </a:ext>
              </a:extLst>
            </p:cNvPr>
            <p:cNvSpPr/>
            <p:nvPr/>
          </p:nvSpPr>
          <p:spPr>
            <a:xfrm>
              <a:off x="4356239" y="2634995"/>
              <a:ext cx="1600200" cy="2857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16B2560-9BD4-195B-7406-CA77D05F07BE}"/>
                </a:ext>
              </a:extLst>
            </p:cNvPr>
            <p:cNvSpPr/>
            <p:nvPr/>
          </p:nvSpPr>
          <p:spPr>
            <a:xfrm>
              <a:off x="4350143" y="2628912"/>
              <a:ext cx="1613535" cy="292100"/>
            </a:xfrm>
            <a:custGeom>
              <a:avLst/>
              <a:gdLst/>
              <a:ahLst/>
              <a:cxnLst/>
              <a:rect l="l" t="t" r="r" b="b"/>
              <a:pathLst>
                <a:path w="1613535" h="292100">
                  <a:moveTo>
                    <a:pt x="1613154" y="0"/>
                  </a:moveTo>
                  <a:lnTo>
                    <a:pt x="0" y="0"/>
                  </a:lnTo>
                  <a:lnTo>
                    <a:pt x="0" y="291846"/>
                  </a:lnTo>
                  <a:lnTo>
                    <a:pt x="6096" y="291846"/>
                  </a:lnTo>
                  <a:lnTo>
                    <a:pt x="12954" y="291846"/>
                  </a:lnTo>
                  <a:lnTo>
                    <a:pt x="12954" y="12954"/>
                  </a:lnTo>
                  <a:lnTo>
                    <a:pt x="106680" y="12954"/>
                  </a:lnTo>
                  <a:lnTo>
                    <a:pt x="106680" y="291846"/>
                  </a:lnTo>
                  <a:lnTo>
                    <a:pt x="119621" y="291846"/>
                  </a:lnTo>
                  <a:lnTo>
                    <a:pt x="119621" y="12954"/>
                  </a:lnTo>
                  <a:lnTo>
                    <a:pt x="213360" y="12954"/>
                  </a:lnTo>
                  <a:lnTo>
                    <a:pt x="213360" y="291846"/>
                  </a:lnTo>
                  <a:lnTo>
                    <a:pt x="226314" y="291846"/>
                  </a:lnTo>
                  <a:lnTo>
                    <a:pt x="226314" y="12954"/>
                  </a:lnTo>
                  <a:lnTo>
                    <a:pt x="320040" y="12954"/>
                  </a:lnTo>
                  <a:lnTo>
                    <a:pt x="320040" y="291846"/>
                  </a:lnTo>
                  <a:lnTo>
                    <a:pt x="332994" y="291846"/>
                  </a:lnTo>
                  <a:lnTo>
                    <a:pt x="332994" y="12954"/>
                  </a:lnTo>
                  <a:lnTo>
                    <a:pt x="426720" y="12954"/>
                  </a:lnTo>
                  <a:lnTo>
                    <a:pt x="426720" y="291846"/>
                  </a:lnTo>
                  <a:lnTo>
                    <a:pt x="439661" y="291846"/>
                  </a:lnTo>
                  <a:lnTo>
                    <a:pt x="439661" y="12954"/>
                  </a:lnTo>
                  <a:lnTo>
                    <a:pt x="533400" y="12954"/>
                  </a:lnTo>
                  <a:lnTo>
                    <a:pt x="533400" y="291846"/>
                  </a:lnTo>
                  <a:lnTo>
                    <a:pt x="546354" y="291846"/>
                  </a:lnTo>
                  <a:lnTo>
                    <a:pt x="546354" y="12954"/>
                  </a:lnTo>
                  <a:lnTo>
                    <a:pt x="640080" y="12954"/>
                  </a:lnTo>
                  <a:lnTo>
                    <a:pt x="640080" y="291846"/>
                  </a:lnTo>
                  <a:lnTo>
                    <a:pt x="653021" y="291846"/>
                  </a:lnTo>
                  <a:lnTo>
                    <a:pt x="653021" y="12954"/>
                  </a:lnTo>
                  <a:lnTo>
                    <a:pt x="746760" y="12954"/>
                  </a:lnTo>
                  <a:lnTo>
                    <a:pt x="746760" y="291846"/>
                  </a:lnTo>
                  <a:lnTo>
                    <a:pt x="759714" y="291846"/>
                  </a:lnTo>
                  <a:lnTo>
                    <a:pt x="759714" y="12954"/>
                  </a:lnTo>
                  <a:lnTo>
                    <a:pt x="853440" y="12954"/>
                  </a:lnTo>
                  <a:lnTo>
                    <a:pt x="853440" y="291846"/>
                  </a:lnTo>
                  <a:lnTo>
                    <a:pt x="866394" y="291846"/>
                  </a:lnTo>
                  <a:lnTo>
                    <a:pt x="866394" y="12954"/>
                  </a:lnTo>
                  <a:lnTo>
                    <a:pt x="960120" y="12954"/>
                  </a:lnTo>
                  <a:lnTo>
                    <a:pt x="960120" y="291846"/>
                  </a:lnTo>
                  <a:lnTo>
                    <a:pt x="973061" y="291846"/>
                  </a:lnTo>
                  <a:lnTo>
                    <a:pt x="973061" y="12954"/>
                  </a:lnTo>
                  <a:lnTo>
                    <a:pt x="1066800" y="12954"/>
                  </a:lnTo>
                  <a:lnTo>
                    <a:pt x="1066800" y="291846"/>
                  </a:lnTo>
                  <a:lnTo>
                    <a:pt x="1079754" y="291846"/>
                  </a:lnTo>
                  <a:lnTo>
                    <a:pt x="1079754" y="12954"/>
                  </a:lnTo>
                  <a:lnTo>
                    <a:pt x="1173480" y="12954"/>
                  </a:lnTo>
                  <a:lnTo>
                    <a:pt x="1173480" y="291846"/>
                  </a:lnTo>
                  <a:lnTo>
                    <a:pt x="1184148" y="291846"/>
                  </a:lnTo>
                  <a:lnTo>
                    <a:pt x="1184148" y="12954"/>
                  </a:lnTo>
                  <a:lnTo>
                    <a:pt x="1600200" y="12954"/>
                  </a:lnTo>
                  <a:lnTo>
                    <a:pt x="1600200" y="291846"/>
                  </a:lnTo>
                  <a:lnTo>
                    <a:pt x="1606296" y="291846"/>
                  </a:lnTo>
                  <a:lnTo>
                    <a:pt x="1613154" y="291846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812EDFF-6054-BA44-0A5D-5482D7B7A0FE}"/>
                </a:ext>
              </a:extLst>
            </p:cNvPr>
            <p:cNvSpPr/>
            <p:nvPr/>
          </p:nvSpPr>
          <p:spPr>
            <a:xfrm>
              <a:off x="5534291" y="2634995"/>
              <a:ext cx="955675" cy="285750"/>
            </a:xfrm>
            <a:custGeom>
              <a:avLst/>
              <a:gdLst/>
              <a:ahLst/>
              <a:cxnLst/>
              <a:rect l="l" t="t" r="r" b="b"/>
              <a:pathLst>
                <a:path w="955675" h="285750">
                  <a:moveTo>
                    <a:pt x="955548" y="2857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5548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95D48BD-FA96-2B9D-AE50-C26FF44ADCEE}"/>
                </a:ext>
              </a:extLst>
            </p:cNvPr>
            <p:cNvSpPr/>
            <p:nvPr/>
          </p:nvSpPr>
          <p:spPr>
            <a:xfrm>
              <a:off x="5528195" y="2628899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10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6" y="2918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955548" y="12953"/>
                  </a:lnTo>
                  <a:lnTo>
                    <a:pt x="955548" y="6095"/>
                  </a:lnTo>
                  <a:lnTo>
                    <a:pt x="961631" y="12953"/>
                  </a:lnTo>
                  <a:lnTo>
                    <a:pt x="961631" y="291845"/>
                  </a:lnTo>
                  <a:lnTo>
                    <a:pt x="968501" y="291845"/>
                  </a:lnTo>
                  <a:close/>
                </a:path>
                <a:path w="969010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69010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91845"/>
                  </a:lnTo>
                  <a:lnTo>
                    <a:pt x="12953" y="291845"/>
                  </a:lnTo>
                  <a:close/>
                </a:path>
                <a:path w="969010" h="292100">
                  <a:moveTo>
                    <a:pt x="961631" y="12953"/>
                  </a:moveTo>
                  <a:lnTo>
                    <a:pt x="955548" y="6095"/>
                  </a:lnTo>
                  <a:lnTo>
                    <a:pt x="955548" y="12953"/>
                  </a:lnTo>
                  <a:lnTo>
                    <a:pt x="961631" y="12953"/>
                  </a:lnTo>
                  <a:close/>
                </a:path>
                <a:path w="969010" h="292100">
                  <a:moveTo>
                    <a:pt x="961631" y="291845"/>
                  </a:moveTo>
                  <a:lnTo>
                    <a:pt x="961631" y="12953"/>
                  </a:lnTo>
                  <a:lnTo>
                    <a:pt x="955548" y="12953"/>
                  </a:lnTo>
                  <a:lnTo>
                    <a:pt x="955548" y="291845"/>
                  </a:lnTo>
                  <a:lnTo>
                    <a:pt x="961631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00016D08-7EAC-8B75-D5D5-4E454F3FE96D}"/>
              </a:ext>
            </a:extLst>
          </p:cNvPr>
          <p:cNvSpPr txBox="1"/>
          <p:nvPr/>
        </p:nvSpPr>
        <p:spPr>
          <a:xfrm>
            <a:off x="5534291" y="2661158"/>
            <a:ext cx="95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51DE279-98CB-073E-97B1-2C411A0E884D}"/>
              </a:ext>
            </a:extLst>
          </p:cNvPr>
          <p:cNvSpPr/>
          <p:nvPr/>
        </p:nvSpPr>
        <p:spPr>
          <a:xfrm>
            <a:off x="5496191" y="2452877"/>
            <a:ext cx="76200" cy="182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29FB06C-73AC-C23C-943A-9183142BF41C}"/>
              </a:ext>
            </a:extLst>
          </p:cNvPr>
          <p:cNvSpPr txBox="1"/>
          <p:nvPr/>
        </p:nvSpPr>
        <p:spPr>
          <a:xfrm>
            <a:off x="5105527" y="22313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86F40D73-CEF2-1583-2515-30CDD054CFC0}"/>
              </a:ext>
            </a:extLst>
          </p:cNvPr>
          <p:cNvGrpSpPr/>
          <p:nvPr/>
        </p:nvGrpSpPr>
        <p:grpSpPr>
          <a:xfrm>
            <a:off x="2978543" y="2628900"/>
            <a:ext cx="622935" cy="292100"/>
            <a:chOff x="2978543" y="2628900"/>
            <a:chExt cx="622935" cy="29210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5EA58FD-DE6D-5E00-FC5C-998D41055291}"/>
                </a:ext>
              </a:extLst>
            </p:cNvPr>
            <p:cNvSpPr/>
            <p:nvPr/>
          </p:nvSpPr>
          <p:spPr>
            <a:xfrm>
              <a:off x="2984639" y="2634995"/>
              <a:ext cx="609600" cy="285750"/>
            </a:xfrm>
            <a:custGeom>
              <a:avLst/>
              <a:gdLst/>
              <a:ahLst/>
              <a:cxnLst/>
              <a:rect l="l" t="t" r="r" b="b"/>
              <a:pathLst>
                <a:path w="609600" h="285750">
                  <a:moveTo>
                    <a:pt x="609599" y="2857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60959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202BD0E-0BFA-A93A-ACAE-F366C6BAA6FC}"/>
                </a:ext>
              </a:extLst>
            </p:cNvPr>
            <p:cNvSpPr/>
            <p:nvPr/>
          </p:nvSpPr>
          <p:spPr>
            <a:xfrm>
              <a:off x="2978543" y="2628900"/>
              <a:ext cx="622935" cy="292100"/>
            </a:xfrm>
            <a:custGeom>
              <a:avLst/>
              <a:gdLst/>
              <a:ahLst/>
              <a:cxnLst/>
              <a:rect l="l" t="t" r="r" b="b"/>
              <a:pathLst>
                <a:path w="622935" h="292100">
                  <a:moveTo>
                    <a:pt x="622553" y="291845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5" y="291845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291845"/>
                  </a:lnTo>
                  <a:lnTo>
                    <a:pt x="622553" y="291845"/>
                  </a:lnTo>
                  <a:close/>
                </a:path>
                <a:path w="622935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622935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91845"/>
                  </a:lnTo>
                  <a:lnTo>
                    <a:pt x="12953" y="291845"/>
                  </a:lnTo>
                  <a:close/>
                </a:path>
                <a:path w="622935" h="292100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5" h="292100">
                  <a:moveTo>
                    <a:pt x="615696" y="291845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291845"/>
                  </a:lnTo>
                  <a:lnTo>
                    <a:pt x="61569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E9A90CE3-9AE9-C186-FBF5-D94AEC96638B}"/>
              </a:ext>
            </a:extLst>
          </p:cNvPr>
          <p:cNvSpPr txBox="1"/>
          <p:nvPr/>
        </p:nvSpPr>
        <p:spPr>
          <a:xfrm>
            <a:off x="3075558" y="2661158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558B6DE-AA48-D184-6B64-4D49B44926E0}"/>
              </a:ext>
            </a:extLst>
          </p:cNvPr>
          <p:cNvSpPr/>
          <p:nvPr/>
        </p:nvSpPr>
        <p:spPr>
          <a:xfrm>
            <a:off x="2521343" y="2635008"/>
            <a:ext cx="463550" cy="285750"/>
          </a:xfrm>
          <a:custGeom>
            <a:avLst/>
            <a:gdLst/>
            <a:ahLst/>
            <a:cxnLst/>
            <a:rect l="l" t="t" r="r" b="b"/>
            <a:pathLst>
              <a:path w="463550" h="285750">
                <a:moveTo>
                  <a:pt x="463296" y="76200"/>
                </a:moveTo>
                <a:lnTo>
                  <a:pt x="387096" y="38100"/>
                </a:lnTo>
                <a:lnTo>
                  <a:pt x="387096" y="70104"/>
                </a:lnTo>
                <a:lnTo>
                  <a:pt x="82296" y="70104"/>
                </a:lnTo>
                <a:lnTo>
                  <a:pt x="82296" y="38100"/>
                </a:lnTo>
                <a:lnTo>
                  <a:pt x="12954" y="72771"/>
                </a:lnTo>
                <a:lnTo>
                  <a:pt x="12954" y="0"/>
                </a:lnTo>
                <a:lnTo>
                  <a:pt x="0" y="0"/>
                </a:lnTo>
                <a:lnTo>
                  <a:pt x="0" y="285750"/>
                </a:lnTo>
                <a:lnTo>
                  <a:pt x="12954" y="285750"/>
                </a:lnTo>
                <a:lnTo>
                  <a:pt x="12954" y="79629"/>
                </a:lnTo>
                <a:lnTo>
                  <a:pt x="70104" y="108204"/>
                </a:lnTo>
                <a:lnTo>
                  <a:pt x="82296" y="114300"/>
                </a:lnTo>
                <a:lnTo>
                  <a:pt x="82296" y="83058"/>
                </a:lnTo>
                <a:lnTo>
                  <a:pt x="387096" y="83058"/>
                </a:lnTo>
                <a:lnTo>
                  <a:pt x="387096" y="114300"/>
                </a:lnTo>
                <a:lnTo>
                  <a:pt x="400037" y="107823"/>
                </a:lnTo>
                <a:lnTo>
                  <a:pt x="46329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CF2D779-2942-9301-FDC7-1AE150CFC770}"/>
              </a:ext>
            </a:extLst>
          </p:cNvPr>
          <p:cNvSpPr txBox="1"/>
          <p:nvPr/>
        </p:nvSpPr>
        <p:spPr>
          <a:xfrm>
            <a:off x="2622930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65AC379-71A4-3A26-9D6E-F413A6AC0EAF}"/>
              </a:ext>
            </a:extLst>
          </p:cNvPr>
          <p:cNvSpPr/>
          <p:nvPr/>
        </p:nvSpPr>
        <p:spPr>
          <a:xfrm>
            <a:off x="3594239" y="2254008"/>
            <a:ext cx="616585" cy="666750"/>
          </a:xfrm>
          <a:custGeom>
            <a:avLst/>
            <a:gdLst/>
            <a:ahLst/>
            <a:cxnLst/>
            <a:rect l="l" t="t" r="r" b="b"/>
            <a:pathLst>
              <a:path w="616585" h="666750">
                <a:moveTo>
                  <a:pt x="464058" y="304800"/>
                </a:moveTo>
                <a:lnTo>
                  <a:pt x="451104" y="304800"/>
                </a:lnTo>
                <a:lnTo>
                  <a:pt x="451104" y="454152"/>
                </a:lnTo>
                <a:lnTo>
                  <a:pt x="381000" y="419100"/>
                </a:lnTo>
                <a:lnTo>
                  <a:pt x="381000" y="451104"/>
                </a:lnTo>
                <a:lnTo>
                  <a:pt x="76200" y="451104"/>
                </a:lnTo>
                <a:lnTo>
                  <a:pt x="76200" y="419100"/>
                </a:lnTo>
                <a:lnTo>
                  <a:pt x="0" y="457200"/>
                </a:lnTo>
                <a:lnTo>
                  <a:pt x="64008" y="489204"/>
                </a:lnTo>
                <a:lnTo>
                  <a:pt x="76200" y="495300"/>
                </a:lnTo>
                <a:lnTo>
                  <a:pt x="76200" y="464058"/>
                </a:lnTo>
                <a:lnTo>
                  <a:pt x="381000" y="464058"/>
                </a:lnTo>
                <a:lnTo>
                  <a:pt x="381000" y="495300"/>
                </a:lnTo>
                <a:lnTo>
                  <a:pt x="393954" y="488823"/>
                </a:lnTo>
                <a:lnTo>
                  <a:pt x="451104" y="460248"/>
                </a:lnTo>
                <a:lnTo>
                  <a:pt x="451104" y="666750"/>
                </a:lnTo>
                <a:lnTo>
                  <a:pt x="464058" y="666750"/>
                </a:lnTo>
                <a:lnTo>
                  <a:pt x="464058" y="304800"/>
                </a:lnTo>
                <a:close/>
              </a:path>
              <a:path w="616585" h="666750">
                <a:moveTo>
                  <a:pt x="616458" y="0"/>
                </a:moveTo>
                <a:lnTo>
                  <a:pt x="603504" y="0"/>
                </a:lnTo>
                <a:lnTo>
                  <a:pt x="603504" y="149352"/>
                </a:lnTo>
                <a:lnTo>
                  <a:pt x="533400" y="114300"/>
                </a:lnTo>
                <a:lnTo>
                  <a:pt x="533400" y="146304"/>
                </a:lnTo>
                <a:lnTo>
                  <a:pt x="76200" y="146304"/>
                </a:lnTo>
                <a:lnTo>
                  <a:pt x="76200" y="114300"/>
                </a:lnTo>
                <a:lnTo>
                  <a:pt x="0" y="152400"/>
                </a:lnTo>
                <a:lnTo>
                  <a:pt x="64008" y="184404"/>
                </a:lnTo>
                <a:lnTo>
                  <a:pt x="76200" y="190500"/>
                </a:lnTo>
                <a:lnTo>
                  <a:pt x="76200" y="159258"/>
                </a:lnTo>
                <a:lnTo>
                  <a:pt x="533400" y="159258"/>
                </a:lnTo>
                <a:lnTo>
                  <a:pt x="533400" y="190500"/>
                </a:lnTo>
                <a:lnTo>
                  <a:pt x="546354" y="184023"/>
                </a:lnTo>
                <a:lnTo>
                  <a:pt x="603504" y="155448"/>
                </a:lnTo>
                <a:lnTo>
                  <a:pt x="603504" y="666750"/>
                </a:lnTo>
                <a:lnTo>
                  <a:pt x="616458" y="666750"/>
                </a:lnTo>
                <a:lnTo>
                  <a:pt x="616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C8CAA88-CA3F-EB5F-0CFA-E6074AC74A3C}"/>
              </a:ext>
            </a:extLst>
          </p:cNvPr>
          <p:cNvSpPr txBox="1"/>
          <p:nvPr/>
        </p:nvSpPr>
        <p:spPr>
          <a:xfrm>
            <a:off x="3685921" y="2061921"/>
            <a:ext cx="35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lvl="0" indent="-3810" algn="l" defTabSz="914400" rtl="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543A00C-2179-9015-3C89-A7FBA22CECE6}"/>
              </a:ext>
            </a:extLst>
          </p:cNvPr>
          <p:cNvSpPr/>
          <p:nvPr/>
        </p:nvSpPr>
        <p:spPr>
          <a:xfrm>
            <a:off x="3594239" y="2063508"/>
            <a:ext cx="4419600" cy="857250"/>
          </a:xfrm>
          <a:custGeom>
            <a:avLst/>
            <a:gdLst/>
            <a:ahLst/>
            <a:cxnLst/>
            <a:rect l="l" t="t" r="r" b="b"/>
            <a:pathLst>
              <a:path w="4419600" h="857250">
                <a:moveTo>
                  <a:pt x="762000" y="38100"/>
                </a:moveTo>
                <a:lnTo>
                  <a:pt x="685800" y="0"/>
                </a:lnTo>
                <a:lnTo>
                  <a:pt x="685800" y="32004"/>
                </a:lnTo>
                <a:lnTo>
                  <a:pt x="76200" y="32004"/>
                </a:lnTo>
                <a:lnTo>
                  <a:pt x="76200" y="0"/>
                </a:lnTo>
                <a:lnTo>
                  <a:pt x="0" y="38100"/>
                </a:lnTo>
                <a:lnTo>
                  <a:pt x="64008" y="70104"/>
                </a:lnTo>
                <a:lnTo>
                  <a:pt x="76200" y="76200"/>
                </a:lnTo>
                <a:lnTo>
                  <a:pt x="76200" y="44958"/>
                </a:lnTo>
                <a:lnTo>
                  <a:pt x="685800" y="44958"/>
                </a:lnTo>
                <a:lnTo>
                  <a:pt x="685800" y="76200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4419600" h="857250">
                <a:moveTo>
                  <a:pt x="4419587" y="647700"/>
                </a:moveTo>
                <a:lnTo>
                  <a:pt x="4343387" y="609600"/>
                </a:lnTo>
                <a:lnTo>
                  <a:pt x="4343387" y="641604"/>
                </a:lnTo>
                <a:lnTo>
                  <a:pt x="4038587" y="641604"/>
                </a:lnTo>
                <a:lnTo>
                  <a:pt x="4038587" y="609600"/>
                </a:lnTo>
                <a:lnTo>
                  <a:pt x="3969245" y="644271"/>
                </a:lnTo>
                <a:lnTo>
                  <a:pt x="3969245" y="571500"/>
                </a:lnTo>
                <a:lnTo>
                  <a:pt x="3956304" y="571500"/>
                </a:lnTo>
                <a:lnTo>
                  <a:pt x="3956304" y="857250"/>
                </a:lnTo>
                <a:lnTo>
                  <a:pt x="3969245" y="857250"/>
                </a:lnTo>
                <a:lnTo>
                  <a:pt x="3969245" y="651129"/>
                </a:lnTo>
                <a:lnTo>
                  <a:pt x="4026408" y="679704"/>
                </a:lnTo>
                <a:lnTo>
                  <a:pt x="4038587" y="685800"/>
                </a:lnTo>
                <a:lnTo>
                  <a:pt x="4038587" y="654558"/>
                </a:lnTo>
                <a:lnTo>
                  <a:pt x="4343387" y="654558"/>
                </a:lnTo>
                <a:lnTo>
                  <a:pt x="4343387" y="685800"/>
                </a:lnTo>
                <a:lnTo>
                  <a:pt x="4356354" y="679310"/>
                </a:lnTo>
                <a:lnTo>
                  <a:pt x="4419587" y="647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E76B921-788C-14C1-B68D-839E04DEE5B0}"/>
              </a:ext>
            </a:extLst>
          </p:cNvPr>
          <p:cNvSpPr txBox="1"/>
          <p:nvPr/>
        </p:nvSpPr>
        <p:spPr>
          <a:xfrm>
            <a:off x="7652131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3F34EA8D-E09C-CD20-7AEB-3297B0ACF34D}"/>
              </a:ext>
            </a:extLst>
          </p:cNvPr>
          <p:cNvGrpSpPr/>
          <p:nvPr/>
        </p:nvGrpSpPr>
        <p:grpSpPr>
          <a:xfrm>
            <a:off x="8007743" y="2628900"/>
            <a:ext cx="969010" cy="292100"/>
            <a:chOff x="8007743" y="2628900"/>
            <a:chExt cx="969010" cy="2921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F6A5C7A2-F8E9-26BF-70B0-DE85031AB60F}"/>
                </a:ext>
              </a:extLst>
            </p:cNvPr>
            <p:cNvSpPr/>
            <p:nvPr/>
          </p:nvSpPr>
          <p:spPr>
            <a:xfrm>
              <a:off x="8013827" y="2634995"/>
              <a:ext cx="956310" cy="285750"/>
            </a:xfrm>
            <a:custGeom>
              <a:avLst/>
              <a:gdLst/>
              <a:ahLst/>
              <a:cxnLst/>
              <a:rect l="l" t="t" r="r" b="b"/>
              <a:pathLst>
                <a:path w="956309" h="285750">
                  <a:moveTo>
                    <a:pt x="956309" y="2857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630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C345CBC-AD2A-4E8B-517C-295134DDA2D5}"/>
                </a:ext>
              </a:extLst>
            </p:cNvPr>
            <p:cNvSpPr/>
            <p:nvPr/>
          </p:nvSpPr>
          <p:spPr>
            <a:xfrm>
              <a:off x="8007743" y="2628900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09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83" y="291845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955548" y="12954"/>
                  </a:lnTo>
                  <a:lnTo>
                    <a:pt x="955548" y="6095"/>
                  </a:lnTo>
                  <a:lnTo>
                    <a:pt x="962406" y="12954"/>
                  </a:lnTo>
                  <a:lnTo>
                    <a:pt x="962406" y="291845"/>
                  </a:lnTo>
                  <a:lnTo>
                    <a:pt x="968501" y="291845"/>
                  </a:lnTo>
                  <a:close/>
                </a:path>
                <a:path w="969009" h="292100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969009" h="292100">
                  <a:moveTo>
                    <a:pt x="12954" y="291845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291845"/>
                  </a:lnTo>
                  <a:lnTo>
                    <a:pt x="12954" y="291845"/>
                  </a:lnTo>
                  <a:close/>
                </a:path>
                <a:path w="969009" h="292100">
                  <a:moveTo>
                    <a:pt x="962406" y="12954"/>
                  </a:moveTo>
                  <a:lnTo>
                    <a:pt x="955548" y="6095"/>
                  </a:lnTo>
                  <a:lnTo>
                    <a:pt x="955548" y="12954"/>
                  </a:lnTo>
                  <a:lnTo>
                    <a:pt x="962406" y="12954"/>
                  </a:lnTo>
                  <a:close/>
                </a:path>
                <a:path w="969009" h="292100">
                  <a:moveTo>
                    <a:pt x="962406" y="291845"/>
                  </a:moveTo>
                  <a:lnTo>
                    <a:pt x="962406" y="12954"/>
                  </a:lnTo>
                  <a:lnTo>
                    <a:pt x="955548" y="12954"/>
                  </a:lnTo>
                  <a:lnTo>
                    <a:pt x="955548" y="291845"/>
                  </a:lnTo>
                  <a:lnTo>
                    <a:pt x="96240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1BADA06A-C09C-A837-F671-5CB50A88B0F0}"/>
              </a:ext>
            </a:extLst>
          </p:cNvPr>
          <p:cNvSpPr txBox="1"/>
          <p:nvPr/>
        </p:nvSpPr>
        <p:spPr>
          <a:xfrm>
            <a:off x="8252586" y="2661158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18C4EEAE-5330-7957-6577-FA7B2F93C597}"/>
              </a:ext>
            </a:extLst>
          </p:cNvPr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D2ADDA37-3F56-516F-4F19-70BAE2C10C09}"/>
                </a:ext>
              </a:extLst>
            </p:cNvPr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444AFFA2-8DE7-23AC-8CC9-855FAC34F489}"/>
                </a:ext>
              </a:extLst>
            </p:cNvPr>
            <p:cNvSpPr/>
            <p:nvPr/>
          </p:nvSpPr>
          <p:spPr>
            <a:xfrm>
              <a:off x="1994039" y="2970288"/>
              <a:ext cx="7086600" cy="152400"/>
            </a:xfrm>
            <a:custGeom>
              <a:avLst/>
              <a:gdLst/>
              <a:ahLst/>
              <a:cxnLst/>
              <a:rect l="l" t="t" r="r" b="b"/>
              <a:pathLst>
                <a:path w="7086600" h="152400">
                  <a:moveTo>
                    <a:pt x="7086600" y="39624"/>
                  </a:moveTo>
                  <a:lnTo>
                    <a:pt x="6976097" y="39624"/>
                  </a:lnTo>
                  <a:lnTo>
                    <a:pt x="6976097" y="45720"/>
                  </a:lnTo>
                  <a:lnTo>
                    <a:pt x="6019787" y="45720"/>
                  </a:lnTo>
                  <a:lnTo>
                    <a:pt x="6019787" y="39624"/>
                  </a:lnTo>
                  <a:lnTo>
                    <a:pt x="2216658" y="39624"/>
                  </a:lnTo>
                  <a:lnTo>
                    <a:pt x="2216658" y="0"/>
                  </a:lnTo>
                  <a:lnTo>
                    <a:pt x="2203704" y="0"/>
                  </a:lnTo>
                  <a:lnTo>
                    <a:pt x="2203704" y="39624"/>
                  </a:lnTo>
                  <a:lnTo>
                    <a:pt x="1600187" y="39624"/>
                  </a:lnTo>
                  <a:lnTo>
                    <a:pt x="1600187" y="45720"/>
                  </a:lnTo>
                  <a:lnTo>
                    <a:pt x="990600" y="45720"/>
                  </a:lnTo>
                  <a:lnTo>
                    <a:pt x="990600" y="39624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0" y="52578"/>
                  </a:lnTo>
                  <a:lnTo>
                    <a:pt x="2203704" y="52578"/>
                  </a:lnTo>
                  <a:lnTo>
                    <a:pt x="2203704" y="152400"/>
                  </a:lnTo>
                  <a:lnTo>
                    <a:pt x="2216658" y="152400"/>
                  </a:lnTo>
                  <a:lnTo>
                    <a:pt x="2216658" y="52578"/>
                  </a:lnTo>
                  <a:lnTo>
                    <a:pt x="4952987" y="52578"/>
                  </a:lnTo>
                  <a:lnTo>
                    <a:pt x="4952987" y="45720"/>
                  </a:lnTo>
                  <a:lnTo>
                    <a:pt x="5562587" y="45720"/>
                  </a:lnTo>
                  <a:lnTo>
                    <a:pt x="5562587" y="52578"/>
                  </a:lnTo>
                  <a:lnTo>
                    <a:pt x="7086600" y="52578"/>
                  </a:lnTo>
                  <a:lnTo>
                    <a:pt x="7086600" y="45720"/>
                  </a:lnTo>
                  <a:lnTo>
                    <a:pt x="7086600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34BCE8B-9ACA-71E3-0803-7274A330DC1A}"/>
                </a:ext>
              </a:extLst>
            </p:cNvPr>
            <p:cNvSpPr/>
            <p:nvPr/>
          </p:nvSpPr>
          <p:spPr>
            <a:xfrm>
              <a:off x="4356239" y="2920745"/>
              <a:ext cx="1600200" cy="952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EDCCE4D5-2F21-6A07-AAA8-954EACE14166}"/>
                </a:ext>
              </a:extLst>
            </p:cNvPr>
            <p:cNvSpPr/>
            <p:nvPr/>
          </p:nvSpPr>
          <p:spPr>
            <a:xfrm>
              <a:off x="4350143" y="2920758"/>
              <a:ext cx="1613535" cy="102235"/>
            </a:xfrm>
            <a:custGeom>
              <a:avLst/>
              <a:gdLst/>
              <a:ahLst/>
              <a:cxnLst/>
              <a:rect l="l" t="t" r="r" b="b"/>
              <a:pathLst>
                <a:path w="1613535" h="102235">
                  <a:moveTo>
                    <a:pt x="1613154" y="0"/>
                  </a:moveTo>
                  <a:lnTo>
                    <a:pt x="1600200" y="0"/>
                  </a:lnTo>
                  <a:lnTo>
                    <a:pt x="1600200" y="89154"/>
                  </a:lnTo>
                  <a:lnTo>
                    <a:pt x="1184148" y="89154"/>
                  </a:lnTo>
                  <a:lnTo>
                    <a:pt x="1184148" y="0"/>
                  </a:lnTo>
                  <a:lnTo>
                    <a:pt x="1173480" y="0"/>
                  </a:lnTo>
                  <a:lnTo>
                    <a:pt x="1173480" y="89154"/>
                  </a:lnTo>
                  <a:lnTo>
                    <a:pt x="1079754" y="89154"/>
                  </a:lnTo>
                  <a:lnTo>
                    <a:pt x="1079754" y="0"/>
                  </a:lnTo>
                  <a:lnTo>
                    <a:pt x="1066800" y="0"/>
                  </a:lnTo>
                  <a:lnTo>
                    <a:pt x="1066800" y="89154"/>
                  </a:lnTo>
                  <a:lnTo>
                    <a:pt x="973061" y="89154"/>
                  </a:lnTo>
                  <a:lnTo>
                    <a:pt x="973061" y="0"/>
                  </a:lnTo>
                  <a:lnTo>
                    <a:pt x="960120" y="0"/>
                  </a:lnTo>
                  <a:lnTo>
                    <a:pt x="960120" y="89154"/>
                  </a:lnTo>
                  <a:lnTo>
                    <a:pt x="866394" y="89154"/>
                  </a:lnTo>
                  <a:lnTo>
                    <a:pt x="866394" y="0"/>
                  </a:lnTo>
                  <a:lnTo>
                    <a:pt x="853440" y="0"/>
                  </a:lnTo>
                  <a:lnTo>
                    <a:pt x="853440" y="89154"/>
                  </a:lnTo>
                  <a:lnTo>
                    <a:pt x="759714" y="89154"/>
                  </a:lnTo>
                  <a:lnTo>
                    <a:pt x="759714" y="0"/>
                  </a:lnTo>
                  <a:lnTo>
                    <a:pt x="746760" y="0"/>
                  </a:lnTo>
                  <a:lnTo>
                    <a:pt x="746760" y="89154"/>
                  </a:lnTo>
                  <a:lnTo>
                    <a:pt x="653021" y="89154"/>
                  </a:lnTo>
                  <a:lnTo>
                    <a:pt x="653021" y="0"/>
                  </a:lnTo>
                  <a:lnTo>
                    <a:pt x="640080" y="0"/>
                  </a:lnTo>
                  <a:lnTo>
                    <a:pt x="640080" y="89154"/>
                  </a:lnTo>
                  <a:lnTo>
                    <a:pt x="546354" y="89154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89154"/>
                  </a:lnTo>
                  <a:lnTo>
                    <a:pt x="439661" y="89154"/>
                  </a:lnTo>
                  <a:lnTo>
                    <a:pt x="439661" y="0"/>
                  </a:lnTo>
                  <a:lnTo>
                    <a:pt x="426720" y="0"/>
                  </a:lnTo>
                  <a:lnTo>
                    <a:pt x="426720" y="89154"/>
                  </a:lnTo>
                  <a:lnTo>
                    <a:pt x="332994" y="89154"/>
                  </a:lnTo>
                  <a:lnTo>
                    <a:pt x="332994" y="0"/>
                  </a:lnTo>
                  <a:lnTo>
                    <a:pt x="320040" y="0"/>
                  </a:lnTo>
                  <a:lnTo>
                    <a:pt x="320040" y="89154"/>
                  </a:lnTo>
                  <a:lnTo>
                    <a:pt x="226314" y="89154"/>
                  </a:lnTo>
                  <a:lnTo>
                    <a:pt x="226314" y="0"/>
                  </a:lnTo>
                  <a:lnTo>
                    <a:pt x="213360" y="0"/>
                  </a:lnTo>
                  <a:lnTo>
                    <a:pt x="213360" y="89154"/>
                  </a:lnTo>
                  <a:lnTo>
                    <a:pt x="119621" y="89154"/>
                  </a:lnTo>
                  <a:lnTo>
                    <a:pt x="119621" y="0"/>
                  </a:lnTo>
                  <a:lnTo>
                    <a:pt x="106680" y="0"/>
                  </a:lnTo>
                  <a:lnTo>
                    <a:pt x="106680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96" y="102108"/>
                  </a:lnTo>
                  <a:lnTo>
                    <a:pt x="12954" y="102108"/>
                  </a:lnTo>
                  <a:lnTo>
                    <a:pt x="1600200" y="102108"/>
                  </a:lnTo>
                  <a:lnTo>
                    <a:pt x="1606296" y="102108"/>
                  </a:lnTo>
                  <a:lnTo>
                    <a:pt x="1613154" y="102108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F40C9A62-23DA-F57C-B52C-D019CEC8021C}"/>
                </a:ext>
              </a:extLst>
            </p:cNvPr>
            <p:cNvSpPr/>
            <p:nvPr/>
          </p:nvSpPr>
          <p:spPr>
            <a:xfrm>
              <a:off x="5534291" y="2920745"/>
              <a:ext cx="955675" cy="95250"/>
            </a:xfrm>
            <a:custGeom>
              <a:avLst/>
              <a:gdLst/>
              <a:ahLst/>
              <a:cxnLst/>
              <a:rect l="l" t="t" r="r" b="b"/>
              <a:pathLst>
                <a:path w="955675" h="95250">
                  <a:moveTo>
                    <a:pt x="955548" y="952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5548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6895778-3707-F557-D2B5-BC02B9578469}"/>
                </a:ext>
              </a:extLst>
            </p:cNvPr>
            <p:cNvSpPr/>
            <p:nvPr/>
          </p:nvSpPr>
          <p:spPr>
            <a:xfrm>
              <a:off x="4356240" y="2920758"/>
              <a:ext cx="2140585" cy="240029"/>
            </a:xfrm>
            <a:custGeom>
              <a:avLst/>
              <a:gdLst/>
              <a:ahLst/>
              <a:cxnLst/>
              <a:rect l="l" t="t" r="r" b="b"/>
              <a:pathLst>
                <a:path w="2140585" h="240030">
                  <a:moveTo>
                    <a:pt x="2140458" y="0"/>
                  </a:moveTo>
                  <a:lnTo>
                    <a:pt x="2127504" y="0"/>
                  </a:lnTo>
                  <a:lnTo>
                    <a:pt x="2127504" y="89154"/>
                  </a:lnTo>
                  <a:lnTo>
                    <a:pt x="1184910" y="89154"/>
                  </a:lnTo>
                  <a:lnTo>
                    <a:pt x="1184910" y="0"/>
                  </a:lnTo>
                  <a:lnTo>
                    <a:pt x="1171956" y="0"/>
                  </a:lnTo>
                  <a:lnTo>
                    <a:pt x="1171956" y="102108"/>
                  </a:lnTo>
                  <a:lnTo>
                    <a:pt x="1178052" y="102108"/>
                  </a:lnTo>
                  <a:lnTo>
                    <a:pt x="1184910" y="102108"/>
                  </a:lnTo>
                  <a:lnTo>
                    <a:pt x="1594104" y="102108"/>
                  </a:lnTo>
                  <a:lnTo>
                    <a:pt x="1594104" y="198882"/>
                  </a:lnTo>
                  <a:lnTo>
                    <a:pt x="1524000" y="163830"/>
                  </a:lnTo>
                  <a:lnTo>
                    <a:pt x="1524000" y="195834"/>
                  </a:lnTo>
                  <a:lnTo>
                    <a:pt x="76200" y="195834"/>
                  </a:lnTo>
                  <a:lnTo>
                    <a:pt x="76200" y="163830"/>
                  </a:lnTo>
                  <a:lnTo>
                    <a:pt x="0" y="201930"/>
                  </a:lnTo>
                  <a:lnTo>
                    <a:pt x="64008" y="233934"/>
                  </a:lnTo>
                  <a:lnTo>
                    <a:pt x="76200" y="240030"/>
                  </a:lnTo>
                  <a:lnTo>
                    <a:pt x="76200" y="208026"/>
                  </a:lnTo>
                  <a:lnTo>
                    <a:pt x="1524000" y="208026"/>
                  </a:lnTo>
                  <a:lnTo>
                    <a:pt x="1524000" y="240030"/>
                  </a:lnTo>
                  <a:lnTo>
                    <a:pt x="1536954" y="233553"/>
                  </a:lnTo>
                  <a:lnTo>
                    <a:pt x="1600200" y="201930"/>
                  </a:lnTo>
                  <a:lnTo>
                    <a:pt x="1607058" y="201930"/>
                  </a:lnTo>
                  <a:lnTo>
                    <a:pt x="1607058" y="102108"/>
                  </a:lnTo>
                  <a:lnTo>
                    <a:pt x="2127504" y="102108"/>
                  </a:lnTo>
                  <a:lnTo>
                    <a:pt x="2133587" y="102108"/>
                  </a:lnTo>
                  <a:lnTo>
                    <a:pt x="2140458" y="102108"/>
                  </a:lnTo>
                  <a:lnTo>
                    <a:pt x="2140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C6EA997B-E827-4F92-DB2C-2F3FFC79B22A}"/>
              </a:ext>
            </a:extLst>
          </p:cNvPr>
          <p:cNvSpPr txBox="1"/>
          <p:nvPr/>
        </p:nvSpPr>
        <p:spPr>
          <a:xfrm>
            <a:off x="4419727" y="3160267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CWmin‐1</a:t>
            </a:r>
            <a:r>
              <a:rPr kumimoji="0" sz="12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A28BFFB0-8338-1835-5569-76D37C9F9C15}"/>
              </a:ext>
            </a:extLst>
          </p:cNvPr>
          <p:cNvGrpSpPr/>
          <p:nvPr/>
        </p:nvGrpSpPr>
        <p:grpSpPr>
          <a:xfrm>
            <a:off x="2064143" y="2025395"/>
            <a:ext cx="2299335" cy="1752600"/>
            <a:chOff x="2064143" y="2025395"/>
            <a:chExt cx="2299335" cy="1752600"/>
          </a:xfrm>
        </p:grpSpPr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C8D90B4F-E266-81C0-EF7B-0A81B58BF330}"/>
                </a:ext>
              </a:extLst>
            </p:cNvPr>
            <p:cNvSpPr/>
            <p:nvPr/>
          </p:nvSpPr>
          <p:spPr>
            <a:xfrm>
              <a:off x="2070239" y="301599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10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4572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0050AFE3-4429-3D14-26BE-0719FEBC4328}"/>
                </a:ext>
              </a:extLst>
            </p:cNvPr>
            <p:cNvSpPr/>
            <p:nvPr/>
          </p:nvSpPr>
          <p:spPr>
            <a:xfrm>
              <a:off x="2064143" y="3009899"/>
              <a:ext cx="470534" cy="394335"/>
            </a:xfrm>
            <a:custGeom>
              <a:avLst/>
              <a:gdLst/>
              <a:ahLst/>
              <a:cxnLst/>
              <a:rect l="l" t="t" r="r" b="b"/>
              <a:pathLst>
                <a:path w="470535" h="394335">
                  <a:moveTo>
                    <a:pt x="470154" y="393953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457200" y="12954"/>
                  </a:lnTo>
                  <a:lnTo>
                    <a:pt x="457200" y="6095"/>
                  </a:lnTo>
                  <a:lnTo>
                    <a:pt x="463295" y="12954"/>
                  </a:lnTo>
                  <a:lnTo>
                    <a:pt x="463295" y="393953"/>
                  </a:lnTo>
                  <a:lnTo>
                    <a:pt x="470154" y="393953"/>
                  </a:lnTo>
                  <a:close/>
                </a:path>
                <a:path w="470535" h="394335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4705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457200" y="393953"/>
                  </a:lnTo>
                  <a:lnTo>
                    <a:pt x="457200" y="387096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470535" h="394335">
                  <a:moveTo>
                    <a:pt x="463295" y="12954"/>
                  </a:moveTo>
                  <a:lnTo>
                    <a:pt x="457200" y="6095"/>
                  </a:lnTo>
                  <a:lnTo>
                    <a:pt x="457200" y="12954"/>
                  </a:lnTo>
                  <a:lnTo>
                    <a:pt x="463295" y="12954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463295" y="12954"/>
                  </a:lnTo>
                  <a:lnTo>
                    <a:pt x="457200" y="12954"/>
                  </a:lnTo>
                  <a:lnTo>
                    <a:pt x="457200" y="381000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463295" y="393953"/>
                  </a:moveTo>
                  <a:lnTo>
                    <a:pt x="463295" y="381000"/>
                  </a:lnTo>
                  <a:lnTo>
                    <a:pt x="457200" y="387096"/>
                  </a:lnTo>
                  <a:lnTo>
                    <a:pt x="457200" y="393953"/>
                  </a:lnTo>
                  <a:lnTo>
                    <a:pt x="4632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68D61052-DDCE-3473-AA91-B50A72A2635D}"/>
                </a:ext>
              </a:extLst>
            </p:cNvPr>
            <p:cNvSpPr/>
            <p:nvPr/>
          </p:nvSpPr>
          <p:spPr>
            <a:xfrm>
              <a:off x="2984639" y="2920745"/>
              <a:ext cx="609600" cy="95250"/>
            </a:xfrm>
            <a:custGeom>
              <a:avLst/>
              <a:gdLst/>
              <a:ahLst/>
              <a:cxnLst/>
              <a:rect l="l" t="t" r="r" b="b"/>
              <a:pathLst>
                <a:path w="609600" h="95250">
                  <a:moveTo>
                    <a:pt x="609599" y="952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60959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FAE97D41-7EFF-F43A-90DA-75D932BA4BAE}"/>
                </a:ext>
              </a:extLst>
            </p:cNvPr>
            <p:cNvSpPr/>
            <p:nvPr/>
          </p:nvSpPr>
          <p:spPr>
            <a:xfrm>
              <a:off x="2521343" y="2025408"/>
              <a:ext cx="1842135" cy="1752600"/>
            </a:xfrm>
            <a:custGeom>
              <a:avLst/>
              <a:gdLst/>
              <a:ahLst/>
              <a:cxnLst/>
              <a:rect l="l" t="t" r="r" b="b"/>
              <a:pathLst>
                <a:path w="1842135" h="1752600">
                  <a:moveTo>
                    <a:pt x="12954" y="895350"/>
                  </a:moveTo>
                  <a:lnTo>
                    <a:pt x="0" y="895350"/>
                  </a:lnTo>
                  <a:lnTo>
                    <a:pt x="0" y="990600"/>
                  </a:lnTo>
                  <a:lnTo>
                    <a:pt x="12954" y="990600"/>
                  </a:lnTo>
                  <a:lnTo>
                    <a:pt x="12954" y="895350"/>
                  </a:lnTo>
                  <a:close/>
                </a:path>
                <a:path w="1842135" h="1752600">
                  <a:moveTo>
                    <a:pt x="1079754" y="895350"/>
                  </a:moveTo>
                  <a:lnTo>
                    <a:pt x="1079741" y="0"/>
                  </a:lnTo>
                  <a:lnTo>
                    <a:pt x="1066787" y="0"/>
                  </a:lnTo>
                  <a:lnTo>
                    <a:pt x="1066787" y="984504"/>
                  </a:lnTo>
                  <a:lnTo>
                    <a:pt x="470154" y="984504"/>
                  </a:lnTo>
                  <a:lnTo>
                    <a:pt x="470154" y="895350"/>
                  </a:lnTo>
                  <a:lnTo>
                    <a:pt x="457200" y="895350"/>
                  </a:lnTo>
                  <a:lnTo>
                    <a:pt x="457200" y="997458"/>
                  </a:lnTo>
                  <a:lnTo>
                    <a:pt x="463296" y="997458"/>
                  </a:lnTo>
                  <a:lnTo>
                    <a:pt x="470154" y="997458"/>
                  </a:lnTo>
                  <a:lnTo>
                    <a:pt x="1066800" y="997458"/>
                  </a:lnTo>
                  <a:lnTo>
                    <a:pt x="1072896" y="997458"/>
                  </a:lnTo>
                  <a:lnTo>
                    <a:pt x="1079754" y="997458"/>
                  </a:lnTo>
                  <a:lnTo>
                    <a:pt x="1079754" y="895350"/>
                  </a:lnTo>
                  <a:close/>
                </a:path>
                <a:path w="1842135" h="1752600">
                  <a:moveTo>
                    <a:pt x="1536954" y="895350"/>
                  </a:moveTo>
                  <a:lnTo>
                    <a:pt x="1524000" y="895350"/>
                  </a:lnTo>
                  <a:lnTo>
                    <a:pt x="1524000" y="990600"/>
                  </a:lnTo>
                  <a:lnTo>
                    <a:pt x="1536954" y="990600"/>
                  </a:lnTo>
                  <a:lnTo>
                    <a:pt x="1536954" y="895350"/>
                  </a:lnTo>
                  <a:close/>
                </a:path>
                <a:path w="1842135" h="1752600">
                  <a:moveTo>
                    <a:pt x="1689354" y="895350"/>
                  </a:moveTo>
                  <a:lnTo>
                    <a:pt x="1676400" y="895350"/>
                  </a:lnTo>
                  <a:lnTo>
                    <a:pt x="1676400" y="990600"/>
                  </a:lnTo>
                  <a:lnTo>
                    <a:pt x="1689354" y="990600"/>
                  </a:lnTo>
                  <a:lnTo>
                    <a:pt x="1689354" y="895350"/>
                  </a:lnTo>
                  <a:close/>
                </a:path>
                <a:path w="1842135" h="1752600">
                  <a:moveTo>
                    <a:pt x="1841741" y="0"/>
                  </a:moveTo>
                  <a:lnTo>
                    <a:pt x="1828787" y="0"/>
                  </a:lnTo>
                  <a:lnTo>
                    <a:pt x="1828787" y="990600"/>
                  </a:lnTo>
                  <a:lnTo>
                    <a:pt x="1841741" y="990600"/>
                  </a:lnTo>
                  <a:lnTo>
                    <a:pt x="1841741" y="0"/>
                  </a:lnTo>
                  <a:close/>
                </a:path>
                <a:path w="1842135" h="1752600">
                  <a:moveTo>
                    <a:pt x="1841754" y="1066800"/>
                  </a:moveTo>
                  <a:lnTo>
                    <a:pt x="1828800" y="1066800"/>
                  </a:lnTo>
                  <a:lnTo>
                    <a:pt x="1828800" y="1752600"/>
                  </a:lnTo>
                  <a:lnTo>
                    <a:pt x="1841754" y="1752600"/>
                  </a:lnTo>
                  <a:lnTo>
                    <a:pt x="1841754" y="106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E25344E4-1AB6-7F15-1797-9384DFBA8B91}"/>
              </a:ext>
            </a:extLst>
          </p:cNvPr>
          <p:cNvSpPr txBox="1"/>
          <p:nvPr/>
        </p:nvSpPr>
        <p:spPr>
          <a:xfrm>
            <a:off x="2603119" y="3176269"/>
            <a:ext cx="382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B05D6682-D440-F7B1-CD84-6576ABDB934A}"/>
              </a:ext>
            </a:extLst>
          </p:cNvPr>
          <p:cNvSpPr txBox="1"/>
          <p:nvPr/>
        </p:nvSpPr>
        <p:spPr>
          <a:xfrm>
            <a:off x="2488051" y="3389626"/>
            <a:ext cx="6127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8F3386FC-D3AD-B5E5-0B47-E72A89317EE5}"/>
              </a:ext>
            </a:extLst>
          </p:cNvPr>
          <p:cNvSpPr txBox="1"/>
          <p:nvPr/>
        </p:nvSpPr>
        <p:spPr>
          <a:xfrm>
            <a:off x="3447403" y="3525254"/>
            <a:ext cx="4464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6D47C039-1CE2-20D8-0540-1EFC08A2E105}"/>
              </a:ext>
            </a:extLst>
          </p:cNvPr>
          <p:cNvSpPr/>
          <p:nvPr/>
        </p:nvSpPr>
        <p:spPr>
          <a:xfrm>
            <a:off x="3975239" y="3016008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381000" y="762000"/>
                </a:moveTo>
                <a:lnTo>
                  <a:pt x="304800" y="723900"/>
                </a:lnTo>
                <a:lnTo>
                  <a:pt x="304800" y="755904"/>
                </a:lnTo>
                <a:lnTo>
                  <a:pt x="0" y="755904"/>
                </a:lnTo>
                <a:lnTo>
                  <a:pt x="0" y="762000"/>
                </a:lnTo>
                <a:lnTo>
                  <a:pt x="317754" y="762000"/>
                </a:lnTo>
                <a:lnTo>
                  <a:pt x="381000" y="762000"/>
                </a:lnTo>
                <a:close/>
              </a:path>
              <a:path w="2971800" h="762000">
                <a:moveTo>
                  <a:pt x="2057400" y="755904"/>
                </a:moveTo>
                <a:lnTo>
                  <a:pt x="457200" y="755904"/>
                </a:lnTo>
                <a:lnTo>
                  <a:pt x="457200" y="723900"/>
                </a:lnTo>
                <a:lnTo>
                  <a:pt x="381000" y="762000"/>
                </a:lnTo>
                <a:lnTo>
                  <a:pt x="445008" y="762000"/>
                </a:lnTo>
                <a:lnTo>
                  <a:pt x="2057400" y="762000"/>
                </a:lnTo>
                <a:lnTo>
                  <a:pt x="2057400" y="755904"/>
                </a:lnTo>
                <a:close/>
              </a:path>
              <a:path w="2971800" h="762000">
                <a:moveTo>
                  <a:pt x="2971787" y="304800"/>
                </a:moveTo>
                <a:lnTo>
                  <a:pt x="2895587" y="266700"/>
                </a:lnTo>
                <a:lnTo>
                  <a:pt x="2895587" y="298704"/>
                </a:lnTo>
                <a:lnTo>
                  <a:pt x="2590787" y="298704"/>
                </a:lnTo>
                <a:lnTo>
                  <a:pt x="2590787" y="266700"/>
                </a:lnTo>
                <a:lnTo>
                  <a:pt x="2521458" y="301371"/>
                </a:lnTo>
                <a:lnTo>
                  <a:pt x="2521458" y="0"/>
                </a:lnTo>
                <a:lnTo>
                  <a:pt x="2508504" y="0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08241"/>
                </a:lnTo>
                <a:lnTo>
                  <a:pt x="2578582" y="336804"/>
                </a:lnTo>
                <a:lnTo>
                  <a:pt x="2590787" y="342900"/>
                </a:lnTo>
                <a:lnTo>
                  <a:pt x="2590787" y="311658"/>
                </a:lnTo>
                <a:lnTo>
                  <a:pt x="2895587" y="311658"/>
                </a:lnTo>
                <a:lnTo>
                  <a:pt x="2895587" y="342900"/>
                </a:lnTo>
                <a:lnTo>
                  <a:pt x="2908541" y="336423"/>
                </a:lnTo>
                <a:lnTo>
                  <a:pt x="2971787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941967BE-043C-9CDB-ED07-50AF9C917EA0}"/>
              </a:ext>
            </a:extLst>
          </p:cNvPr>
          <p:cNvSpPr txBox="1"/>
          <p:nvPr/>
        </p:nvSpPr>
        <p:spPr>
          <a:xfrm>
            <a:off x="6585331" y="30680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A4196248-1A78-2D89-C35F-1D76ECFCDAE1}"/>
              </a:ext>
            </a:extLst>
          </p:cNvPr>
          <p:cNvGrpSpPr/>
          <p:nvPr/>
        </p:nvGrpSpPr>
        <p:grpSpPr>
          <a:xfrm>
            <a:off x="6940943" y="3009900"/>
            <a:ext cx="622935" cy="394335"/>
            <a:chOff x="6940943" y="3009900"/>
            <a:chExt cx="622935" cy="394335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26B0BDDE-08CD-3CED-D1C3-08D9DD6413AE}"/>
                </a:ext>
              </a:extLst>
            </p:cNvPr>
            <p:cNvSpPr/>
            <p:nvPr/>
          </p:nvSpPr>
          <p:spPr>
            <a:xfrm>
              <a:off x="6947027" y="3015995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CFBA62B4-5947-FD88-3772-1916AC608D83}"/>
                </a:ext>
              </a:extLst>
            </p:cNvPr>
            <p:cNvSpPr/>
            <p:nvPr/>
          </p:nvSpPr>
          <p:spPr>
            <a:xfrm>
              <a:off x="6940943" y="3009900"/>
              <a:ext cx="622935" cy="394335"/>
            </a:xfrm>
            <a:custGeom>
              <a:avLst/>
              <a:gdLst/>
              <a:ahLst/>
              <a:cxnLst/>
              <a:rect l="l" t="t" r="r" b="b"/>
              <a:pathLst>
                <a:path w="622934" h="394335">
                  <a:moveTo>
                    <a:pt x="622553" y="393953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09600" y="12954"/>
                  </a:lnTo>
                  <a:lnTo>
                    <a:pt x="609600" y="6096"/>
                  </a:lnTo>
                  <a:lnTo>
                    <a:pt x="615683" y="12954"/>
                  </a:lnTo>
                  <a:lnTo>
                    <a:pt x="615683" y="393953"/>
                  </a:lnTo>
                  <a:lnTo>
                    <a:pt x="622553" y="393953"/>
                  </a:lnTo>
                  <a:close/>
                </a:path>
                <a:path w="622934" h="394335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622934" h="394335">
                  <a:moveTo>
                    <a:pt x="12954" y="381000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609600" y="393953"/>
                  </a:lnTo>
                  <a:lnTo>
                    <a:pt x="609600" y="387096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622934" h="394335">
                  <a:moveTo>
                    <a:pt x="615683" y="12954"/>
                  </a:moveTo>
                  <a:lnTo>
                    <a:pt x="609600" y="6096"/>
                  </a:lnTo>
                  <a:lnTo>
                    <a:pt x="609600" y="12954"/>
                  </a:lnTo>
                  <a:lnTo>
                    <a:pt x="615683" y="12954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15683" y="12954"/>
                  </a:lnTo>
                  <a:lnTo>
                    <a:pt x="609600" y="12954"/>
                  </a:lnTo>
                  <a:lnTo>
                    <a:pt x="609600" y="381000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615683" y="393953"/>
                  </a:moveTo>
                  <a:lnTo>
                    <a:pt x="615683" y="381000"/>
                  </a:lnTo>
                  <a:lnTo>
                    <a:pt x="609600" y="387096"/>
                  </a:lnTo>
                  <a:lnTo>
                    <a:pt x="609600" y="393953"/>
                  </a:lnTo>
                  <a:lnTo>
                    <a:pt x="6156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A4C6FE11-1E95-0078-C2E2-108AFAD97A8B}"/>
              </a:ext>
            </a:extLst>
          </p:cNvPr>
          <p:cNvSpPr txBox="1"/>
          <p:nvPr/>
        </p:nvSpPr>
        <p:spPr>
          <a:xfrm>
            <a:off x="6947027" y="3015995"/>
            <a:ext cx="609600" cy="3810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4460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35D8FCA3-8558-9E53-D126-E33AC61F1214}"/>
              </a:ext>
            </a:extLst>
          </p:cNvPr>
          <p:cNvGrpSpPr/>
          <p:nvPr/>
        </p:nvGrpSpPr>
        <p:grpSpPr>
          <a:xfrm>
            <a:off x="7550543" y="2920745"/>
            <a:ext cx="1426210" cy="666750"/>
            <a:chOff x="7550543" y="2920745"/>
            <a:chExt cx="1426210" cy="666750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5A246AD3-0EE4-2953-089D-771ECA00E9A5}"/>
                </a:ext>
              </a:extLst>
            </p:cNvPr>
            <p:cNvSpPr/>
            <p:nvPr/>
          </p:nvSpPr>
          <p:spPr>
            <a:xfrm>
              <a:off x="7550543" y="2920745"/>
              <a:ext cx="13335" cy="95250"/>
            </a:xfrm>
            <a:custGeom>
              <a:avLst/>
              <a:gdLst/>
              <a:ahLst/>
              <a:cxnLst/>
              <a:rect l="l" t="t" r="r" b="b"/>
              <a:pathLst>
                <a:path w="13334" h="95250">
                  <a:moveTo>
                    <a:pt x="12953" y="95250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12953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779A9123-1A0C-45BF-91F0-204E6389D7EE}"/>
                </a:ext>
              </a:extLst>
            </p:cNvPr>
            <p:cNvSpPr/>
            <p:nvPr/>
          </p:nvSpPr>
          <p:spPr>
            <a:xfrm>
              <a:off x="8013827" y="2920745"/>
              <a:ext cx="956310" cy="95250"/>
            </a:xfrm>
            <a:custGeom>
              <a:avLst/>
              <a:gdLst/>
              <a:ahLst/>
              <a:cxnLst/>
              <a:rect l="l" t="t" r="r" b="b"/>
              <a:pathLst>
                <a:path w="956309" h="95250">
                  <a:moveTo>
                    <a:pt x="956309" y="952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630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B5C0B197-F13C-B878-72B0-B84EB706FD04}"/>
                </a:ext>
              </a:extLst>
            </p:cNvPr>
            <p:cNvSpPr/>
            <p:nvPr/>
          </p:nvSpPr>
          <p:spPr>
            <a:xfrm>
              <a:off x="8007744" y="2920758"/>
              <a:ext cx="969010" cy="666750"/>
            </a:xfrm>
            <a:custGeom>
              <a:avLst/>
              <a:gdLst/>
              <a:ahLst/>
              <a:cxnLst/>
              <a:rect l="l" t="t" r="r" b="b"/>
              <a:pathLst>
                <a:path w="969009" h="666750">
                  <a:moveTo>
                    <a:pt x="844283" y="628650"/>
                  </a:moveTo>
                  <a:lnTo>
                    <a:pt x="768083" y="590550"/>
                  </a:lnTo>
                  <a:lnTo>
                    <a:pt x="768083" y="622554"/>
                  </a:lnTo>
                  <a:lnTo>
                    <a:pt x="310883" y="622554"/>
                  </a:lnTo>
                  <a:lnTo>
                    <a:pt x="310883" y="635508"/>
                  </a:lnTo>
                  <a:lnTo>
                    <a:pt x="768083" y="635508"/>
                  </a:lnTo>
                  <a:lnTo>
                    <a:pt x="768083" y="666750"/>
                  </a:lnTo>
                  <a:lnTo>
                    <a:pt x="781037" y="660273"/>
                  </a:lnTo>
                  <a:lnTo>
                    <a:pt x="844283" y="628650"/>
                  </a:lnTo>
                  <a:close/>
                </a:path>
                <a:path w="969009" h="666750">
                  <a:moveTo>
                    <a:pt x="968489" y="0"/>
                  </a:moveTo>
                  <a:lnTo>
                    <a:pt x="955548" y="0"/>
                  </a:lnTo>
                  <a:lnTo>
                    <a:pt x="955548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83" y="102108"/>
                  </a:lnTo>
                  <a:lnTo>
                    <a:pt x="12954" y="102108"/>
                  </a:lnTo>
                  <a:lnTo>
                    <a:pt x="955548" y="102108"/>
                  </a:lnTo>
                  <a:lnTo>
                    <a:pt x="962406" y="102108"/>
                  </a:lnTo>
                  <a:lnTo>
                    <a:pt x="968489" y="102108"/>
                  </a:lnTo>
                  <a:lnTo>
                    <a:pt x="96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3" name="object 53">
            <a:extLst>
              <a:ext uri="{FF2B5EF4-FFF2-40B4-BE49-F238E27FC236}">
                <a16:creationId xmlns:a16="http://schemas.microsoft.com/office/drawing/2014/main" id="{CD241860-5B39-4030-78CA-F7252708F259}"/>
              </a:ext>
            </a:extLst>
          </p:cNvPr>
          <p:cNvSpPr txBox="1"/>
          <p:nvPr/>
        </p:nvSpPr>
        <p:spPr>
          <a:xfrm>
            <a:off x="8402701" y="3541267"/>
            <a:ext cx="3657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8EECDF25-44E0-B4AC-521A-54F4109D2A35}"/>
              </a:ext>
            </a:extLst>
          </p:cNvPr>
          <p:cNvSpPr/>
          <p:nvPr/>
        </p:nvSpPr>
        <p:spPr>
          <a:xfrm>
            <a:off x="4350143" y="3777996"/>
            <a:ext cx="13335" cy="381000"/>
          </a:xfrm>
          <a:custGeom>
            <a:avLst/>
            <a:gdLst/>
            <a:ahLst/>
            <a:cxnLst/>
            <a:rect l="l" t="t" r="r" b="b"/>
            <a:pathLst>
              <a:path w="13335" h="381000">
                <a:moveTo>
                  <a:pt x="12953" y="381000"/>
                </a:moveTo>
                <a:lnTo>
                  <a:pt x="12953" y="0"/>
                </a:lnTo>
                <a:lnTo>
                  <a:pt x="0" y="0"/>
                </a:lnTo>
                <a:lnTo>
                  <a:pt x="0" y="381000"/>
                </a:lnTo>
                <a:lnTo>
                  <a:pt x="12953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72D0903F-5BF7-9869-72A5-A1D5C4DCB1EA}"/>
              </a:ext>
            </a:extLst>
          </p:cNvPr>
          <p:cNvSpPr txBox="1"/>
          <p:nvPr/>
        </p:nvSpPr>
        <p:spPr>
          <a:xfrm>
            <a:off x="3413886" y="3738625"/>
            <a:ext cx="513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9413BA17-C9E4-72AF-9CA2-4532AA4CFE2D}"/>
              </a:ext>
            </a:extLst>
          </p:cNvPr>
          <p:cNvSpPr txBox="1"/>
          <p:nvPr/>
        </p:nvSpPr>
        <p:spPr>
          <a:xfrm>
            <a:off x="4633095" y="3753859"/>
            <a:ext cx="2874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080" lvl="0" indent="-24384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idle, 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get</a:t>
            </a:r>
            <a:r>
              <a:rPr kumimoji="0" sz="1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23D38FE1-8E77-F932-3865-192CE2FF9EAB}"/>
              </a:ext>
            </a:extLst>
          </p:cNvPr>
          <p:cNvSpPr/>
          <p:nvPr/>
        </p:nvSpPr>
        <p:spPr>
          <a:xfrm>
            <a:off x="3975239" y="3778008"/>
            <a:ext cx="2057400" cy="38100"/>
          </a:xfrm>
          <a:custGeom>
            <a:avLst/>
            <a:gdLst/>
            <a:ahLst/>
            <a:cxnLst/>
            <a:rect l="l" t="t" r="r" b="b"/>
            <a:pathLst>
              <a:path w="2057400" h="38100">
                <a:moveTo>
                  <a:pt x="381000" y="0"/>
                </a:moveTo>
                <a:lnTo>
                  <a:pt x="0" y="0"/>
                </a:lnTo>
                <a:lnTo>
                  <a:pt x="0" y="6858"/>
                </a:lnTo>
                <a:lnTo>
                  <a:pt x="304800" y="6858"/>
                </a:lnTo>
                <a:lnTo>
                  <a:pt x="304800" y="38100"/>
                </a:lnTo>
                <a:lnTo>
                  <a:pt x="317754" y="31623"/>
                </a:lnTo>
                <a:lnTo>
                  <a:pt x="381000" y="0"/>
                </a:lnTo>
                <a:close/>
              </a:path>
              <a:path w="2057400" h="38100">
                <a:moveTo>
                  <a:pt x="2057400" y="0"/>
                </a:moveTo>
                <a:lnTo>
                  <a:pt x="381000" y="0"/>
                </a:lnTo>
                <a:lnTo>
                  <a:pt x="445008" y="32004"/>
                </a:lnTo>
                <a:lnTo>
                  <a:pt x="457200" y="38100"/>
                </a:lnTo>
                <a:lnTo>
                  <a:pt x="457200" y="6858"/>
                </a:lnTo>
                <a:lnTo>
                  <a:pt x="2057400" y="6858"/>
                </a:lnTo>
                <a:lnTo>
                  <a:pt x="205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EC6405C5-CA2B-0613-596D-3666E26AB288}"/>
              </a:ext>
            </a:extLst>
          </p:cNvPr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FCAB2EB7-89EF-1251-9D91-D35B889804D4}"/>
              </a:ext>
            </a:extLst>
          </p:cNvPr>
          <p:cNvSpPr txBox="1"/>
          <p:nvPr/>
        </p:nvSpPr>
        <p:spPr>
          <a:xfrm>
            <a:off x="1691767" y="4374133"/>
            <a:ext cx="7580630" cy="17627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452755" lvl="0" indent="-342900" algn="l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part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CA,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procedure</a:t>
            </a:r>
            <a:r>
              <a:rPr kumimoji="0" sz="2000" b="1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 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160"/>
              </a:lnSpc>
              <a:spcBef>
                <a:spcPts val="48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Ex: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successful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exchange,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wants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send 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another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frame.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starts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 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equal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EDE16828-9379-5462-DAFF-BB32053C11DF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25D8A57E-7786-F484-4D5E-57A59B480A2B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950AE757-D815-D9E2-AA10-3B99723F56DC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6CBE93AD-5812-D836-3E79-52AF64785230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71329ED8-EFFC-5A23-04A0-BB58AAFF16ED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E722A746-EFBB-0822-6B0D-A578D2ED829E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84438E1D-555E-EFD1-7C17-5BB88EEB1FC5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9B41121E-A196-EB66-238F-6E1C6DCB89C3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B7C9ACA5-2119-3E8E-6C31-7070E5F21EEF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32F38BFE-45AB-8AC8-7944-72F48F1B41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62DCFF3-1800-4AA8-9117-119E588D0EC8}"/>
              </a:ext>
            </a:extLst>
          </p:cNvPr>
          <p:cNvGrpSpPr/>
          <p:nvPr/>
        </p:nvGrpSpPr>
        <p:grpSpPr>
          <a:xfrm>
            <a:off x="6502921" y="1341513"/>
            <a:ext cx="3019825" cy="2088509"/>
            <a:chOff x="3821573" y="2014855"/>
            <a:chExt cx="5228843" cy="298577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2587733-DBBD-4F2E-E150-E5647163B394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475A717-83F3-6ED9-8CB2-CD5F6731850C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object 2">
            <a:extLst>
              <a:ext uri="{FF2B5EF4-FFF2-40B4-BE49-F238E27FC236}">
                <a16:creationId xmlns:a16="http://schemas.microsoft.com/office/drawing/2014/main" id="{E63EC305-0942-3909-0EED-3C783F1BB6C7}"/>
              </a:ext>
            </a:extLst>
          </p:cNvPr>
          <p:cNvSpPr txBox="1">
            <a:spLocks/>
          </p:cNvSpPr>
          <p:nvPr/>
        </p:nvSpPr>
        <p:spPr>
          <a:xfrm>
            <a:off x="1307838" y="878014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427648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A10CC6-9467-3855-FFCF-B68633DD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105F60-62A3-B308-0CA0-7772438050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D48DD4B-92F9-861F-C229-12FE367AE87C}"/>
              </a:ext>
            </a:extLst>
          </p:cNvPr>
          <p:cNvSpPr txBox="1"/>
          <p:nvPr/>
        </p:nvSpPr>
        <p:spPr>
          <a:xfrm>
            <a:off x="3829939" y="184886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C6E8A86-0EDB-FE8F-387F-B1364FC82943}"/>
              </a:ext>
            </a:extLst>
          </p:cNvPr>
          <p:cNvGrpSpPr/>
          <p:nvPr/>
        </p:nvGrpSpPr>
        <p:grpSpPr>
          <a:xfrm>
            <a:off x="774839" y="2063495"/>
            <a:ext cx="9144000" cy="857250"/>
            <a:chOff x="774839" y="2063495"/>
            <a:chExt cx="9144000" cy="8572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21F8685-B668-4761-7E30-0EDD4F24D97B}"/>
                </a:ext>
              </a:extLst>
            </p:cNvPr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FE05958-7442-42AF-1004-F7428783CBB2}"/>
                </a:ext>
              </a:extLst>
            </p:cNvPr>
            <p:cNvSpPr/>
            <p:nvPr/>
          </p:nvSpPr>
          <p:spPr>
            <a:xfrm>
              <a:off x="4356239" y="2634995"/>
              <a:ext cx="1600200" cy="2857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34CBF23-C2E4-8EFC-A2D9-D3C23B8D5CEA}"/>
                </a:ext>
              </a:extLst>
            </p:cNvPr>
            <p:cNvSpPr/>
            <p:nvPr/>
          </p:nvSpPr>
          <p:spPr>
            <a:xfrm>
              <a:off x="4350143" y="2628912"/>
              <a:ext cx="1613535" cy="292100"/>
            </a:xfrm>
            <a:custGeom>
              <a:avLst/>
              <a:gdLst/>
              <a:ahLst/>
              <a:cxnLst/>
              <a:rect l="l" t="t" r="r" b="b"/>
              <a:pathLst>
                <a:path w="1613535" h="292100">
                  <a:moveTo>
                    <a:pt x="1613154" y="0"/>
                  </a:moveTo>
                  <a:lnTo>
                    <a:pt x="0" y="0"/>
                  </a:lnTo>
                  <a:lnTo>
                    <a:pt x="0" y="291846"/>
                  </a:lnTo>
                  <a:lnTo>
                    <a:pt x="6096" y="291846"/>
                  </a:lnTo>
                  <a:lnTo>
                    <a:pt x="12954" y="291846"/>
                  </a:lnTo>
                  <a:lnTo>
                    <a:pt x="12954" y="12954"/>
                  </a:lnTo>
                  <a:lnTo>
                    <a:pt x="106680" y="12954"/>
                  </a:lnTo>
                  <a:lnTo>
                    <a:pt x="106680" y="291846"/>
                  </a:lnTo>
                  <a:lnTo>
                    <a:pt x="119621" y="291846"/>
                  </a:lnTo>
                  <a:lnTo>
                    <a:pt x="119621" y="12954"/>
                  </a:lnTo>
                  <a:lnTo>
                    <a:pt x="213360" y="12954"/>
                  </a:lnTo>
                  <a:lnTo>
                    <a:pt x="213360" y="291846"/>
                  </a:lnTo>
                  <a:lnTo>
                    <a:pt x="226314" y="291846"/>
                  </a:lnTo>
                  <a:lnTo>
                    <a:pt x="226314" y="12954"/>
                  </a:lnTo>
                  <a:lnTo>
                    <a:pt x="320040" y="12954"/>
                  </a:lnTo>
                  <a:lnTo>
                    <a:pt x="320040" y="291846"/>
                  </a:lnTo>
                  <a:lnTo>
                    <a:pt x="332994" y="291846"/>
                  </a:lnTo>
                  <a:lnTo>
                    <a:pt x="332994" y="12954"/>
                  </a:lnTo>
                  <a:lnTo>
                    <a:pt x="426720" y="12954"/>
                  </a:lnTo>
                  <a:lnTo>
                    <a:pt x="426720" y="291846"/>
                  </a:lnTo>
                  <a:lnTo>
                    <a:pt x="439661" y="291846"/>
                  </a:lnTo>
                  <a:lnTo>
                    <a:pt x="439661" y="12954"/>
                  </a:lnTo>
                  <a:lnTo>
                    <a:pt x="533400" y="12954"/>
                  </a:lnTo>
                  <a:lnTo>
                    <a:pt x="533400" y="291846"/>
                  </a:lnTo>
                  <a:lnTo>
                    <a:pt x="546354" y="291846"/>
                  </a:lnTo>
                  <a:lnTo>
                    <a:pt x="546354" y="12954"/>
                  </a:lnTo>
                  <a:lnTo>
                    <a:pt x="640080" y="12954"/>
                  </a:lnTo>
                  <a:lnTo>
                    <a:pt x="640080" y="291846"/>
                  </a:lnTo>
                  <a:lnTo>
                    <a:pt x="653021" y="291846"/>
                  </a:lnTo>
                  <a:lnTo>
                    <a:pt x="653021" y="12954"/>
                  </a:lnTo>
                  <a:lnTo>
                    <a:pt x="746760" y="12954"/>
                  </a:lnTo>
                  <a:lnTo>
                    <a:pt x="746760" y="291846"/>
                  </a:lnTo>
                  <a:lnTo>
                    <a:pt x="759714" y="291846"/>
                  </a:lnTo>
                  <a:lnTo>
                    <a:pt x="759714" y="12954"/>
                  </a:lnTo>
                  <a:lnTo>
                    <a:pt x="853440" y="12954"/>
                  </a:lnTo>
                  <a:lnTo>
                    <a:pt x="853440" y="291846"/>
                  </a:lnTo>
                  <a:lnTo>
                    <a:pt x="866394" y="291846"/>
                  </a:lnTo>
                  <a:lnTo>
                    <a:pt x="866394" y="12954"/>
                  </a:lnTo>
                  <a:lnTo>
                    <a:pt x="960120" y="12954"/>
                  </a:lnTo>
                  <a:lnTo>
                    <a:pt x="960120" y="291846"/>
                  </a:lnTo>
                  <a:lnTo>
                    <a:pt x="973061" y="291846"/>
                  </a:lnTo>
                  <a:lnTo>
                    <a:pt x="973061" y="12954"/>
                  </a:lnTo>
                  <a:lnTo>
                    <a:pt x="1066800" y="12954"/>
                  </a:lnTo>
                  <a:lnTo>
                    <a:pt x="1066800" y="291846"/>
                  </a:lnTo>
                  <a:lnTo>
                    <a:pt x="1079754" y="291846"/>
                  </a:lnTo>
                  <a:lnTo>
                    <a:pt x="1079754" y="12954"/>
                  </a:lnTo>
                  <a:lnTo>
                    <a:pt x="1173480" y="12954"/>
                  </a:lnTo>
                  <a:lnTo>
                    <a:pt x="1173480" y="291846"/>
                  </a:lnTo>
                  <a:lnTo>
                    <a:pt x="1184148" y="291846"/>
                  </a:lnTo>
                  <a:lnTo>
                    <a:pt x="1184148" y="12954"/>
                  </a:lnTo>
                  <a:lnTo>
                    <a:pt x="1600200" y="12954"/>
                  </a:lnTo>
                  <a:lnTo>
                    <a:pt x="1600200" y="291846"/>
                  </a:lnTo>
                  <a:lnTo>
                    <a:pt x="1606296" y="291846"/>
                  </a:lnTo>
                  <a:lnTo>
                    <a:pt x="1613154" y="291846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568F86B-2106-3D35-3E63-DBF6F049D052}"/>
                </a:ext>
              </a:extLst>
            </p:cNvPr>
            <p:cNvSpPr/>
            <p:nvPr/>
          </p:nvSpPr>
          <p:spPr>
            <a:xfrm>
              <a:off x="5534291" y="2634995"/>
              <a:ext cx="955675" cy="285750"/>
            </a:xfrm>
            <a:custGeom>
              <a:avLst/>
              <a:gdLst/>
              <a:ahLst/>
              <a:cxnLst/>
              <a:rect l="l" t="t" r="r" b="b"/>
              <a:pathLst>
                <a:path w="955675" h="285750">
                  <a:moveTo>
                    <a:pt x="955548" y="2857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5548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9420C20-D77A-F5ED-CD08-BF0EBC42E4A2}"/>
                </a:ext>
              </a:extLst>
            </p:cNvPr>
            <p:cNvSpPr/>
            <p:nvPr/>
          </p:nvSpPr>
          <p:spPr>
            <a:xfrm>
              <a:off x="5528195" y="2628899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10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6" y="2918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955548" y="12953"/>
                  </a:lnTo>
                  <a:lnTo>
                    <a:pt x="955548" y="6095"/>
                  </a:lnTo>
                  <a:lnTo>
                    <a:pt x="961631" y="12953"/>
                  </a:lnTo>
                  <a:lnTo>
                    <a:pt x="961631" y="291845"/>
                  </a:lnTo>
                  <a:lnTo>
                    <a:pt x="968501" y="291845"/>
                  </a:lnTo>
                  <a:close/>
                </a:path>
                <a:path w="969010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69010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91845"/>
                  </a:lnTo>
                  <a:lnTo>
                    <a:pt x="12953" y="291845"/>
                  </a:lnTo>
                  <a:close/>
                </a:path>
                <a:path w="969010" h="292100">
                  <a:moveTo>
                    <a:pt x="961631" y="12953"/>
                  </a:moveTo>
                  <a:lnTo>
                    <a:pt x="955548" y="6095"/>
                  </a:lnTo>
                  <a:lnTo>
                    <a:pt x="955548" y="12953"/>
                  </a:lnTo>
                  <a:lnTo>
                    <a:pt x="961631" y="12953"/>
                  </a:lnTo>
                  <a:close/>
                </a:path>
                <a:path w="969010" h="292100">
                  <a:moveTo>
                    <a:pt x="961631" y="291845"/>
                  </a:moveTo>
                  <a:lnTo>
                    <a:pt x="961631" y="12953"/>
                  </a:lnTo>
                  <a:lnTo>
                    <a:pt x="955548" y="12953"/>
                  </a:lnTo>
                  <a:lnTo>
                    <a:pt x="955548" y="291845"/>
                  </a:lnTo>
                  <a:lnTo>
                    <a:pt x="961631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BE13CE10-472E-F5DC-0CE2-4AF71D4A28F1}"/>
              </a:ext>
            </a:extLst>
          </p:cNvPr>
          <p:cNvSpPr txBox="1"/>
          <p:nvPr/>
        </p:nvSpPr>
        <p:spPr>
          <a:xfrm>
            <a:off x="5534291" y="2661158"/>
            <a:ext cx="95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C1B1FF8-5D8E-E4B0-53B3-C7E3FEE05E90}"/>
              </a:ext>
            </a:extLst>
          </p:cNvPr>
          <p:cNvSpPr/>
          <p:nvPr/>
        </p:nvSpPr>
        <p:spPr>
          <a:xfrm>
            <a:off x="5496191" y="2452877"/>
            <a:ext cx="76200" cy="182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65D8DCD-E130-7FA5-ACB0-8EC0EE02510B}"/>
              </a:ext>
            </a:extLst>
          </p:cNvPr>
          <p:cNvSpPr txBox="1"/>
          <p:nvPr/>
        </p:nvSpPr>
        <p:spPr>
          <a:xfrm>
            <a:off x="5105527" y="22313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F562BAC-D0B2-6D1D-34C5-D3E4EC2DE987}"/>
              </a:ext>
            </a:extLst>
          </p:cNvPr>
          <p:cNvGrpSpPr/>
          <p:nvPr/>
        </p:nvGrpSpPr>
        <p:grpSpPr>
          <a:xfrm>
            <a:off x="2978543" y="2628900"/>
            <a:ext cx="622935" cy="292100"/>
            <a:chOff x="2978543" y="2628900"/>
            <a:chExt cx="622935" cy="29210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2B09570-DAA7-973D-6AF3-A57C258CA867}"/>
                </a:ext>
              </a:extLst>
            </p:cNvPr>
            <p:cNvSpPr/>
            <p:nvPr/>
          </p:nvSpPr>
          <p:spPr>
            <a:xfrm>
              <a:off x="2984639" y="2634995"/>
              <a:ext cx="609600" cy="285750"/>
            </a:xfrm>
            <a:custGeom>
              <a:avLst/>
              <a:gdLst/>
              <a:ahLst/>
              <a:cxnLst/>
              <a:rect l="l" t="t" r="r" b="b"/>
              <a:pathLst>
                <a:path w="609600" h="285750">
                  <a:moveTo>
                    <a:pt x="609599" y="2857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60959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36DB921-E560-AAE9-C721-01213BB8CEED}"/>
                </a:ext>
              </a:extLst>
            </p:cNvPr>
            <p:cNvSpPr/>
            <p:nvPr/>
          </p:nvSpPr>
          <p:spPr>
            <a:xfrm>
              <a:off x="2978543" y="2628900"/>
              <a:ext cx="622935" cy="292100"/>
            </a:xfrm>
            <a:custGeom>
              <a:avLst/>
              <a:gdLst/>
              <a:ahLst/>
              <a:cxnLst/>
              <a:rect l="l" t="t" r="r" b="b"/>
              <a:pathLst>
                <a:path w="622935" h="292100">
                  <a:moveTo>
                    <a:pt x="622553" y="291845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5" y="291845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291845"/>
                  </a:lnTo>
                  <a:lnTo>
                    <a:pt x="622553" y="291845"/>
                  </a:lnTo>
                  <a:close/>
                </a:path>
                <a:path w="622935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622935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91845"/>
                  </a:lnTo>
                  <a:lnTo>
                    <a:pt x="12953" y="291845"/>
                  </a:lnTo>
                  <a:close/>
                </a:path>
                <a:path w="622935" h="292100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5" h="292100">
                  <a:moveTo>
                    <a:pt x="615696" y="291845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291845"/>
                  </a:lnTo>
                  <a:lnTo>
                    <a:pt x="61569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AF775B4F-D1B3-C8E3-A671-166BE1D7AC6C}"/>
              </a:ext>
            </a:extLst>
          </p:cNvPr>
          <p:cNvSpPr txBox="1"/>
          <p:nvPr/>
        </p:nvSpPr>
        <p:spPr>
          <a:xfrm>
            <a:off x="3075558" y="2661158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6C943F-43D3-90D0-12A7-782C5537BC02}"/>
              </a:ext>
            </a:extLst>
          </p:cNvPr>
          <p:cNvSpPr/>
          <p:nvPr/>
        </p:nvSpPr>
        <p:spPr>
          <a:xfrm>
            <a:off x="2521343" y="2635008"/>
            <a:ext cx="463550" cy="285750"/>
          </a:xfrm>
          <a:custGeom>
            <a:avLst/>
            <a:gdLst/>
            <a:ahLst/>
            <a:cxnLst/>
            <a:rect l="l" t="t" r="r" b="b"/>
            <a:pathLst>
              <a:path w="463550" h="285750">
                <a:moveTo>
                  <a:pt x="463296" y="76200"/>
                </a:moveTo>
                <a:lnTo>
                  <a:pt x="387096" y="38100"/>
                </a:lnTo>
                <a:lnTo>
                  <a:pt x="387096" y="70104"/>
                </a:lnTo>
                <a:lnTo>
                  <a:pt x="82296" y="70104"/>
                </a:lnTo>
                <a:lnTo>
                  <a:pt x="82296" y="38100"/>
                </a:lnTo>
                <a:lnTo>
                  <a:pt x="12954" y="72771"/>
                </a:lnTo>
                <a:lnTo>
                  <a:pt x="12954" y="0"/>
                </a:lnTo>
                <a:lnTo>
                  <a:pt x="0" y="0"/>
                </a:lnTo>
                <a:lnTo>
                  <a:pt x="0" y="285750"/>
                </a:lnTo>
                <a:lnTo>
                  <a:pt x="12954" y="285750"/>
                </a:lnTo>
                <a:lnTo>
                  <a:pt x="12954" y="79629"/>
                </a:lnTo>
                <a:lnTo>
                  <a:pt x="70104" y="108204"/>
                </a:lnTo>
                <a:lnTo>
                  <a:pt x="82296" y="114300"/>
                </a:lnTo>
                <a:lnTo>
                  <a:pt x="82296" y="83058"/>
                </a:lnTo>
                <a:lnTo>
                  <a:pt x="387096" y="83058"/>
                </a:lnTo>
                <a:lnTo>
                  <a:pt x="387096" y="114300"/>
                </a:lnTo>
                <a:lnTo>
                  <a:pt x="400037" y="107823"/>
                </a:lnTo>
                <a:lnTo>
                  <a:pt x="46329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6059F0C-6568-6CC7-DE3F-E4DF5915FEAA}"/>
              </a:ext>
            </a:extLst>
          </p:cNvPr>
          <p:cNvSpPr txBox="1"/>
          <p:nvPr/>
        </p:nvSpPr>
        <p:spPr>
          <a:xfrm>
            <a:off x="2622930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8DE1ED2-799A-144C-BB3F-29D7860A42A6}"/>
              </a:ext>
            </a:extLst>
          </p:cNvPr>
          <p:cNvSpPr/>
          <p:nvPr/>
        </p:nvSpPr>
        <p:spPr>
          <a:xfrm>
            <a:off x="3594239" y="2254008"/>
            <a:ext cx="616585" cy="666750"/>
          </a:xfrm>
          <a:custGeom>
            <a:avLst/>
            <a:gdLst/>
            <a:ahLst/>
            <a:cxnLst/>
            <a:rect l="l" t="t" r="r" b="b"/>
            <a:pathLst>
              <a:path w="616585" h="666750">
                <a:moveTo>
                  <a:pt x="464058" y="304800"/>
                </a:moveTo>
                <a:lnTo>
                  <a:pt x="451104" y="304800"/>
                </a:lnTo>
                <a:lnTo>
                  <a:pt x="451104" y="454152"/>
                </a:lnTo>
                <a:lnTo>
                  <a:pt x="381000" y="419100"/>
                </a:lnTo>
                <a:lnTo>
                  <a:pt x="381000" y="451104"/>
                </a:lnTo>
                <a:lnTo>
                  <a:pt x="76200" y="451104"/>
                </a:lnTo>
                <a:lnTo>
                  <a:pt x="76200" y="419100"/>
                </a:lnTo>
                <a:lnTo>
                  <a:pt x="0" y="457200"/>
                </a:lnTo>
                <a:lnTo>
                  <a:pt x="64008" y="489204"/>
                </a:lnTo>
                <a:lnTo>
                  <a:pt x="76200" y="495300"/>
                </a:lnTo>
                <a:lnTo>
                  <a:pt x="76200" y="464058"/>
                </a:lnTo>
                <a:lnTo>
                  <a:pt x="381000" y="464058"/>
                </a:lnTo>
                <a:lnTo>
                  <a:pt x="381000" y="495300"/>
                </a:lnTo>
                <a:lnTo>
                  <a:pt x="393954" y="488823"/>
                </a:lnTo>
                <a:lnTo>
                  <a:pt x="451104" y="460248"/>
                </a:lnTo>
                <a:lnTo>
                  <a:pt x="451104" y="666750"/>
                </a:lnTo>
                <a:lnTo>
                  <a:pt x="464058" y="666750"/>
                </a:lnTo>
                <a:lnTo>
                  <a:pt x="464058" y="304800"/>
                </a:lnTo>
                <a:close/>
              </a:path>
              <a:path w="616585" h="666750">
                <a:moveTo>
                  <a:pt x="616458" y="0"/>
                </a:moveTo>
                <a:lnTo>
                  <a:pt x="603504" y="0"/>
                </a:lnTo>
                <a:lnTo>
                  <a:pt x="603504" y="149352"/>
                </a:lnTo>
                <a:lnTo>
                  <a:pt x="533400" y="114300"/>
                </a:lnTo>
                <a:lnTo>
                  <a:pt x="533400" y="146304"/>
                </a:lnTo>
                <a:lnTo>
                  <a:pt x="76200" y="146304"/>
                </a:lnTo>
                <a:lnTo>
                  <a:pt x="76200" y="114300"/>
                </a:lnTo>
                <a:lnTo>
                  <a:pt x="0" y="152400"/>
                </a:lnTo>
                <a:lnTo>
                  <a:pt x="64008" y="184404"/>
                </a:lnTo>
                <a:lnTo>
                  <a:pt x="76200" y="190500"/>
                </a:lnTo>
                <a:lnTo>
                  <a:pt x="76200" y="159258"/>
                </a:lnTo>
                <a:lnTo>
                  <a:pt x="533400" y="159258"/>
                </a:lnTo>
                <a:lnTo>
                  <a:pt x="533400" y="190500"/>
                </a:lnTo>
                <a:lnTo>
                  <a:pt x="546354" y="184023"/>
                </a:lnTo>
                <a:lnTo>
                  <a:pt x="603504" y="155448"/>
                </a:lnTo>
                <a:lnTo>
                  <a:pt x="603504" y="666750"/>
                </a:lnTo>
                <a:lnTo>
                  <a:pt x="616458" y="666750"/>
                </a:lnTo>
                <a:lnTo>
                  <a:pt x="616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D5A8675-7431-B82F-FA5E-B9BED64F08CC}"/>
              </a:ext>
            </a:extLst>
          </p:cNvPr>
          <p:cNvSpPr txBox="1"/>
          <p:nvPr/>
        </p:nvSpPr>
        <p:spPr>
          <a:xfrm>
            <a:off x="3685921" y="2061921"/>
            <a:ext cx="35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lvl="0" indent="-3810" algn="l" defTabSz="914400" rtl="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4B37CCF-4189-6586-D469-59C26098C722}"/>
              </a:ext>
            </a:extLst>
          </p:cNvPr>
          <p:cNvSpPr/>
          <p:nvPr/>
        </p:nvSpPr>
        <p:spPr>
          <a:xfrm>
            <a:off x="3594239" y="2063508"/>
            <a:ext cx="4419600" cy="857250"/>
          </a:xfrm>
          <a:custGeom>
            <a:avLst/>
            <a:gdLst/>
            <a:ahLst/>
            <a:cxnLst/>
            <a:rect l="l" t="t" r="r" b="b"/>
            <a:pathLst>
              <a:path w="4419600" h="857250">
                <a:moveTo>
                  <a:pt x="762000" y="38100"/>
                </a:moveTo>
                <a:lnTo>
                  <a:pt x="685800" y="0"/>
                </a:lnTo>
                <a:lnTo>
                  <a:pt x="685800" y="32004"/>
                </a:lnTo>
                <a:lnTo>
                  <a:pt x="76200" y="32004"/>
                </a:lnTo>
                <a:lnTo>
                  <a:pt x="76200" y="0"/>
                </a:lnTo>
                <a:lnTo>
                  <a:pt x="0" y="38100"/>
                </a:lnTo>
                <a:lnTo>
                  <a:pt x="64008" y="70104"/>
                </a:lnTo>
                <a:lnTo>
                  <a:pt x="76200" y="76200"/>
                </a:lnTo>
                <a:lnTo>
                  <a:pt x="76200" y="44958"/>
                </a:lnTo>
                <a:lnTo>
                  <a:pt x="685800" y="44958"/>
                </a:lnTo>
                <a:lnTo>
                  <a:pt x="685800" y="76200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4419600" h="857250">
                <a:moveTo>
                  <a:pt x="4419587" y="647700"/>
                </a:moveTo>
                <a:lnTo>
                  <a:pt x="4343387" y="609600"/>
                </a:lnTo>
                <a:lnTo>
                  <a:pt x="4343387" y="641604"/>
                </a:lnTo>
                <a:lnTo>
                  <a:pt x="4038587" y="641604"/>
                </a:lnTo>
                <a:lnTo>
                  <a:pt x="4038587" y="609600"/>
                </a:lnTo>
                <a:lnTo>
                  <a:pt x="3969245" y="644271"/>
                </a:lnTo>
                <a:lnTo>
                  <a:pt x="3969245" y="571500"/>
                </a:lnTo>
                <a:lnTo>
                  <a:pt x="3956304" y="571500"/>
                </a:lnTo>
                <a:lnTo>
                  <a:pt x="3956304" y="857250"/>
                </a:lnTo>
                <a:lnTo>
                  <a:pt x="3969245" y="857250"/>
                </a:lnTo>
                <a:lnTo>
                  <a:pt x="3969245" y="651129"/>
                </a:lnTo>
                <a:lnTo>
                  <a:pt x="4026408" y="679704"/>
                </a:lnTo>
                <a:lnTo>
                  <a:pt x="4038587" y="685800"/>
                </a:lnTo>
                <a:lnTo>
                  <a:pt x="4038587" y="654558"/>
                </a:lnTo>
                <a:lnTo>
                  <a:pt x="4343387" y="654558"/>
                </a:lnTo>
                <a:lnTo>
                  <a:pt x="4343387" y="685800"/>
                </a:lnTo>
                <a:lnTo>
                  <a:pt x="4356354" y="679310"/>
                </a:lnTo>
                <a:lnTo>
                  <a:pt x="4419587" y="647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326BE67-E185-BEAB-FA32-362D814EADDD}"/>
              </a:ext>
            </a:extLst>
          </p:cNvPr>
          <p:cNvSpPr txBox="1"/>
          <p:nvPr/>
        </p:nvSpPr>
        <p:spPr>
          <a:xfrm>
            <a:off x="7652131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CE6CAAF4-C747-4BFD-CBF9-E0C6C63890BF}"/>
              </a:ext>
            </a:extLst>
          </p:cNvPr>
          <p:cNvGrpSpPr/>
          <p:nvPr/>
        </p:nvGrpSpPr>
        <p:grpSpPr>
          <a:xfrm>
            <a:off x="8007743" y="2628900"/>
            <a:ext cx="969010" cy="292100"/>
            <a:chOff x="8007743" y="2628900"/>
            <a:chExt cx="969010" cy="2921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F0645397-0533-A271-3B5D-B28F29D8B866}"/>
                </a:ext>
              </a:extLst>
            </p:cNvPr>
            <p:cNvSpPr/>
            <p:nvPr/>
          </p:nvSpPr>
          <p:spPr>
            <a:xfrm>
              <a:off x="8013827" y="2634995"/>
              <a:ext cx="956310" cy="285750"/>
            </a:xfrm>
            <a:custGeom>
              <a:avLst/>
              <a:gdLst/>
              <a:ahLst/>
              <a:cxnLst/>
              <a:rect l="l" t="t" r="r" b="b"/>
              <a:pathLst>
                <a:path w="956309" h="285750">
                  <a:moveTo>
                    <a:pt x="956309" y="2857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630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AA6F491E-DDC4-EF1E-4674-E1F5026906B9}"/>
                </a:ext>
              </a:extLst>
            </p:cNvPr>
            <p:cNvSpPr/>
            <p:nvPr/>
          </p:nvSpPr>
          <p:spPr>
            <a:xfrm>
              <a:off x="8007743" y="2628900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09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83" y="291845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955548" y="12954"/>
                  </a:lnTo>
                  <a:lnTo>
                    <a:pt x="955548" y="6095"/>
                  </a:lnTo>
                  <a:lnTo>
                    <a:pt x="962406" y="12954"/>
                  </a:lnTo>
                  <a:lnTo>
                    <a:pt x="962406" y="291845"/>
                  </a:lnTo>
                  <a:lnTo>
                    <a:pt x="968501" y="291845"/>
                  </a:lnTo>
                  <a:close/>
                </a:path>
                <a:path w="969009" h="292100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969009" h="292100">
                  <a:moveTo>
                    <a:pt x="12954" y="291845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291845"/>
                  </a:lnTo>
                  <a:lnTo>
                    <a:pt x="12954" y="291845"/>
                  </a:lnTo>
                  <a:close/>
                </a:path>
                <a:path w="969009" h="292100">
                  <a:moveTo>
                    <a:pt x="962406" y="12954"/>
                  </a:moveTo>
                  <a:lnTo>
                    <a:pt x="955548" y="6095"/>
                  </a:lnTo>
                  <a:lnTo>
                    <a:pt x="955548" y="12954"/>
                  </a:lnTo>
                  <a:lnTo>
                    <a:pt x="962406" y="12954"/>
                  </a:lnTo>
                  <a:close/>
                </a:path>
                <a:path w="969009" h="292100">
                  <a:moveTo>
                    <a:pt x="962406" y="291845"/>
                  </a:moveTo>
                  <a:lnTo>
                    <a:pt x="962406" y="12954"/>
                  </a:lnTo>
                  <a:lnTo>
                    <a:pt x="955548" y="12954"/>
                  </a:lnTo>
                  <a:lnTo>
                    <a:pt x="955548" y="291845"/>
                  </a:lnTo>
                  <a:lnTo>
                    <a:pt x="96240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4EBB95A8-F890-AA1F-28D6-414DA55E4FCB}"/>
              </a:ext>
            </a:extLst>
          </p:cNvPr>
          <p:cNvSpPr txBox="1"/>
          <p:nvPr/>
        </p:nvSpPr>
        <p:spPr>
          <a:xfrm>
            <a:off x="8252586" y="2661158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AE55EDEC-59A4-BF76-4543-75602ACBC7D5}"/>
              </a:ext>
            </a:extLst>
          </p:cNvPr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761460E7-56AC-F7BA-158F-AE56C2E6231B}"/>
                </a:ext>
              </a:extLst>
            </p:cNvPr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C8B58B9B-9855-4A41-889C-E9D427E6B3C0}"/>
                </a:ext>
              </a:extLst>
            </p:cNvPr>
            <p:cNvSpPr/>
            <p:nvPr/>
          </p:nvSpPr>
          <p:spPr>
            <a:xfrm>
              <a:off x="1994039" y="2970288"/>
              <a:ext cx="7086600" cy="152400"/>
            </a:xfrm>
            <a:custGeom>
              <a:avLst/>
              <a:gdLst/>
              <a:ahLst/>
              <a:cxnLst/>
              <a:rect l="l" t="t" r="r" b="b"/>
              <a:pathLst>
                <a:path w="7086600" h="152400">
                  <a:moveTo>
                    <a:pt x="7086600" y="39624"/>
                  </a:moveTo>
                  <a:lnTo>
                    <a:pt x="6976097" y="39624"/>
                  </a:lnTo>
                  <a:lnTo>
                    <a:pt x="6976097" y="45720"/>
                  </a:lnTo>
                  <a:lnTo>
                    <a:pt x="6019787" y="45720"/>
                  </a:lnTo>
                  <a:lnTo>
                    <a:pt x="6019787" y="39624"/>
                  </a:lnTo>
                  <a:lnTo>
                    <a:pt x="2216658" y="39624"/>
                  </a:lnTo>
                  <a:lnTo>
                    <a:pt x="2216658" y="0"/>
                  </a:lnTo>
                  <a:lnTo>
                    <a:pt x="2203704" y="0"/>
                  </a:lnTo>
                  <a:lnTo>
                    <a:pt x="2203704" y="39624"/>
                  </a:lnTo>
                  <a:lnTo>
                    <a:pt x="1600187" y="39624"/>
                  </a:lnTo>
                  <a:lnTo>
                    <a:pt x="1600187" y="45720"/>
                  </a:lnTo>
                  <a:lnTo>
                    <a:pt x="990600" y="45720"/>
                  </a:lnTo>
                  <a:lnTo>
                    <a:pt x="990600" y="39624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0" y="52578"/>
                  </a:lnTo>
                  <a:lnTo>
                    <a:pt x="2203704" y="52578"/>
                  </a:lnTo>
                  <a:lnTo>
                    <a:pt x="2203704" y="152400"/>
                  </a:lnTo>
                  <a:lnTo>
                    <a:pt x="2216658" y="152400"/>
                  </a:lnTo>
                  <a:lnTo>
                    <a:pt x="2216658" y="52578"/>
                  </a:lnTo>
                  <a:lnTo>
                    <a:pt x="4952987" y="52578"/>
                  </a:lnTo>
                  <a:lnTo>
                    <a:pt x="4952987" y="45720"/>
                  </a:lnTo>
                  <a:lnTo>
                    <a:pt x="5562587" y="45720"/>
                  </a:lnTo>
                  <a:lnTo>
                    <a:pt x="5562587" y="52578"/>
                  </a:lnTo>
                  <a:lnTo>
                    <a:pt x="7086600" y="52578"/>
                  </a:lnTo>
                  <a:lnTo>
                    <a:pt x="7086600" y="45720"/>
                  </a:lnTo>
                  <a:lnTo>
                    <a:pt x="7086600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FDF96873-30AA-E927-35A5-E5CBFFF3BD39}"/>
                </a:ext>
              </a:extLst>
            </p:cNvPr>
            <p:cNvSpPr/>
            <p:nvPr/>
          </p:nvSpPr>
          <p:spPr>
            <a:xfrm>
              <a:off x="4356239" y="2920745"/>
              <a:ext cx="1600200" cy="952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45A0D60F-710A-EB17-C103-031E78D3692B}"/>
                </a:ext>
              </a:extLst>
            </p:cNvPr>
            <p:cNvSpPr/>
            <p:nvPr/>
          </p:nvSpPr>
          <p:spPr>
            <a:xfrm>
              <a:off x="4350143" y="2920758"/>
              <a:ext cx="1613535" cy="102235"/>
            </a:xfrm>
            <a:custGeom>
              <a:avLst/>
              <a:gdLst/>
              <a:ahLst/>
              <a:cxnLst/>
              <a:rect l="l" t="t" r="r" b="b"/>
              <a:pathLst>
                <a:path w="1613535" h="102235">
                  <a:moveTo>
                    <a:pt x="1613154" y="0"/>
                  </a:moveTo>
                  <a:lnTo>
                    <a:pt x="1600200" y="0"/>
                  </a:lnTo>
                  <a:lnTo>
                    <a:pt x="1600200" y="89154"/>
                  </a:lnTo>
                  <a:lnTo>
                    <a:pt x="1184148" y="89154"/>
                  </a:lnTo>
                  <a:lnTo>
                    <a:pt x="1184148" y="0"/>
                  </a:lnTo>
                  <a:lnTo>
                    <a:pt x="1173480" y="0"/>
                  </a:lnTo>
                  <a:lnTo>
                    <a:pt x="1173480" y="89154"/>
                  </a:lnTo>
                  <a:lnTo>
                    <a:pt x="1079754" y="89154"/>
                  </a:lnTo>
                  <a:lnTo>
                    <a:pt x="1079754" y="0"/>
                  </a:lnTo>
                  <a:lnTo>
                    <a:pt x="1066800" y="0"/>
                  </a:lnTo>
                  <a:lnTo>
                    <a:pt x="1066800" y="89154"/>
                  </a:lnTo>
                  <a:lnTo>
                    <a:pt x="973061" y="89154"/>
                  </a:lnTo>
                  <a:lnTo>
                    <a:pt x="973061" y="0"/>
                  </a:lnTo>
                  <a:lnTo>
                    <a:pt x="960120" y="0"/>
                  </a:lnTo>
                  <a:lnTo>
                    <a:pt x="960120" y="89154"/>
                  </a:lnTo>
                  <a:lnTo>
                    <a:pt x="866394" y="89154"/>
                  </a:lnTo>
                  <a:lnTo>
                    <a:pt x="866394" y="0"/>
                  </a:lnTo>
                  <a:lnTo>
                    <a:pt x="853440" y="0"/>
                  </a:lnTo>
                  <a:lnTo>
                    <a:pt x="853440" y="89154"/>
                  </a:lnTo>
                  <a:lnTo>
                    <a:pt x="759714" y="89154"/>
                  </a:lnTo>
                  <a:lnTo>
                    <a:pt x="759714" y="0"/>
                  </a:lnTo>
                  <a:lnTo>
                    <a:pt x="746760" y="0"/>
                  </a:lnTo>
                  <a:lnTo>
                    <a:pt x="746760" y="89154"/>
                  </a:lnTo>
                  <a:lnTo>
                    <a:pt x="653021" y="89154"/>
                  </a:lnTo>
                  <a:lnTo>
                    <a:pt x="653021" y="0"/>
                  </a:lnTo>
                  <a:lnTo>
                    <a:pt x="640080" y="0"/>
                  </a:lnTo>
                  <a:lnTo>
                    <a:pt x="640080" y="89154"/>
                  </a:lnTo>
                  <a:lnTo>
                    <a:pt x="546354" y="89154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89154"/>
                  </a:lnTo>
                  <a:lnTo>
                    <a:pt x="439661" y="89154"/>
                  </a:lnTo>
                  <a:lnTo>
                    <a:pt x="439661" y="0"/>
                  </a:lnTo>
                  <a:lnTo>
                    <a:pt x="426720" y="0"/>
                  </a:lnTo>
                  <a:lnTo>
                    <a:pt x="426720" y="89154"/>
                  </a:lnTo>
                  <a:lnTo>
                    <a:pt x="332994" y="89154"/>
                  </a:lnTo>
                  <a:lnTo>
                    <a:pt x="332994" y="0"/>
                  </a:lnTo>
                  <a:lnTo>
                    <a:pt x="320040" y="0"/>
                  </a:lnTo>
                  <a:lnTo>
                    <a:pt x="320040" y="89154"/>
                  </a:lnTo>
                  <a:lnTo>
                    <a:pt x="226314" y="89154"/>
                  </a:lnTo>
                  <a:lnTo>
                    <a:pt x="226314" y="0"/>
                  </a:lnTo>
                  <a:lnTo>
                    <a:pt x="213360" y="0"/>
                  </a:lnTo>
                  <a:lnTo>
                    <a:pt x="213360" y="89154"/>
                  </a:lnTo>
                  <a:lnTo>
                    <a:pt x="119621" y="89154"/>
                  </a:lnTo>
                  <a:lnTo>
                    <a:pt x="119621" y="0"/>
                  </a:lnTo>
                  <a:lnTo>
                    <a:pt x="106680" y="0"/>
                  </a:lnTo>
                  <a:lnTo>
                    <a:pt x="106680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96" y="102108"/>
                  </a:lnTo>
                  <a:lnTo>
                    <a:pt x="12954" y="102108"/>
                  </a:lnTo>
                  <a:lnTo>
                    <a:pt x="1600200" y="102108"/>
                  </a:lnTo>
                  <a:lnTo>
                    <a:pt x="1606296" y="102108"/>
                  </a:lnTo>
                  <a:lnTo>
                    <a:pt x="1613154" y="102108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2884B673-EE55-259E-1AD7-E4EE8633AD75}"/>
                </a:ext>
              </a:extLst>
            </p:cNvPr>
            <p:cNvSpPr/>
            <p:nvPr/>
          </p:nvSpPr>
          <p:spPr>
            <a:xfrm>
              <a:off x="5534291" y="2920745"/>
              <a:ext cx="955675" cy="95250"/>
            </a:xfrm>
            <a:custGeom>
              <a:avLst/>
              <a:gdLst/>
              <a:ahLst/>
              <a:cxnLst/>
              <a:rect l="l" t="t" r="r" b="b"/>
              <a:pathLst>
                <a:path w="955675" h="95250">
                  <a:moveTo>
                    <a:pt x="955548" y="952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5548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21052D11-4C84-3438-A8D1-112038DCE8D9}"/>
                </a:ext>
              </a:extLst>
            </p:cNvPr>
            <p:cNvSpPr/>
            <p:nvPr/>
          </p:nvSpPr>
          <p:spPr>
            <a:xfrm>
              <a:off x="4356240" y="2920758"/>
              <a:ext cx="2140585" cy="240029"/>
            </a:xfrm>
            <a:custGeom>
              <a:avLst/>
              <a:gdLst/>
              <a:ahLst/>
              <a:cxnLst/>
              <a:rect l="l" t="t" r="r" b="b"/>
              <a:pathLst>
                <a:path w="2140585" h="240030">
                  <a:moveTo>
                    <a:pt x="2140458" y="0"/>
                  </a:moveTo>
                  <a:lnTo>
                    <a:pt x="2127504" y="0"/>
                  </a:lnTo>
                  <a:lnTo>
                    <a:pt x="2127504" y="89154"/>
                  </a:lnTo>
                  <a:lnTo>
                    <a:pt x="1184910" y="89154"/>
                  </a:lnTo>
                  <a:lnTo>
                    <a:pt x="1184910" y="0"/>
                  </a:lnTo>
                  <a:lnTo>
                    <a:pt x="1171956" y="0"/>
                  </a:lnTo>
                  <a:lnTo>
                    <a:pt x="1171956" y="102108"/>
                  </a:lnTo>
                  <a:lnTo>
                    <a:pt x="1178052" y="102108"/>
                  </a:lnTo>
                  <a:lnTo>
                    <a:pt x="1184910" y="102108"/>
                  </a:lnTo>
                  <a:lnTo>
                    <a:pt x="1594104" y="102108"/>
                  </a:lnTo>
                  <a:lnTo>
                    <a:pt x="1594104" y="198882"/>
                  </a:lnTo>
                  <a:lnTo>
                    <a:pt x="1524000" y="163830"/>
                  </a:lnTo>
                  <a:lnTo>
                    <a:pt x="1524000" y="195834"/>
                  </a:lnTo>
                  <a:lnTo>
                    <a:pt x="76200" y="195834"/>
                  </a:lnTo>
                  <a:lnTo>
                    <a:pt x="76200" y="163830"/>
                  </a:lnTo>
                  <a:lnTo>
                    <a:pt x="0" y="201930"/>
                  </a:lnTo>
                  <a:lnTo>
                    <a:pt x="64008" y="233934"/>
                  </a:lnTo>
                  <a:lnTo>
                    <a:pt x="76200" y="240030"/>
                  </a:lnTo>
                  <a:lnTo>
                    <a:pt x="76200" y="208026"/>
                  </a:lnTo>
                  <a:lnTo>
                    <a:pt x="1524000" y="208026"/>
                  </a:lnTo>
                  <a:lnTo>
                    <a:pt x="1524000" y="240030"/>
                  </a:lnTo>
                  <a:lnTo>
                    <a:pt x="1536954" y="233553"/>
                  </a:lnTo>
                  <a:lnTo>
                    <a:pt x="1600200" y="201930"/>
                  </a:lnTo>
                  <a:lnTo>
                    <a:pt x="1607058" y="201930"/>
                  </a:lnTo>
                  <a:lnTo>
                    <a:pt x="1607058" y="102108"/>
                  </a:lnTo>
                  <a:lnTo>
                    <a:pt x="2127504" y="102108"/>
                  </a:lnTo>
                  <a:lnTo>
                    <a:pt x="2133587" y="102108"/>
                  </a:lnTo>
                  <a:lnTo>
                    <a:pt x="2140458" y="102108"/>
                  </a:lnTo>
                  <a:lnTo>
                    <a:pt x="2140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4222F322-1B25-FC71-ACF6-A17487DF6FBE}"/>
              </a:ext>
            </a:extLst>
          </p:cNvPr>
          <p:cNvSpPr txBox="1"/>
          <p:nvPr/>
        </p:nvSpPr>
        <p:spPr>
          <a:xfrm>
            <a:off x="4419727" y="3160267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CWmin‐1</a:t>
            </a:r>
            <a:r>
              <a:rPr kumimoji="0" sz="12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7A7970FD-25E6-F02E-8B14-025D8EAB7D46}"/>
              </a:ext>
            </a:extLst>
          </p:cNvPr>
          <p:cNvGrpSpPr/>
          <p:nvPr/>
        </p:nvGrpSpPr>
        <p:grpSpPr>
          <a:xfrm>
            <a:off x="2064143" y="2025395"/>
            <a:ext cx="2299335" cy="1752600"/>
            <a:chOff x="2064143" y="2025395"/>
            <a:chExt cx="2299335" cy="1752600"/>
          </a:xfrm>
        </p:grpSpPr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E06B8546-DBE5-33CA-48C0-3C5E6CD7BBD1}"/>
                </a:ext>
              </a:extLst>
            </p:cNvPr>
            <p:cNvSpPr/>
            <p:nvPr/>
          </p:nvSpPr>
          <p:spPr>
            <a:xfrm>
              <a:off x="2070239" y="301599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10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4572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BBED08D4-C0B6-0EE9-6DBA-613332CC3D85}"/>
                </a:ext>
              </a:extLst>
            </p:cNvPr>
            <p:cNvSpPr/>
            <p:nvPr/>
          </p:nvSpPr>
          <p:spPr>
            <a:xfrm>
              <a:off x="2064143" y="3009899"/>
              <a:ext cx="470534" cy="394335"/>
            </a:xfrm>
            <a:custGeom>
              <a:avLst/>
              <a:gdLst/>
              <a:ahLst/>
              <a:cxnLst/>
              <a:rect l="l" t="t" r="r" b="b"/>
              <a:pathLst>
                <a:path w="470535" h="394335">
                  <a:moveTo>
                    <a:pt x="470154" y="393953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457200" y="12954"/>
                  </a:lnTo>
                  <a:lnTo>
                    <a:pt x="457200" y="6095"/>
                  </a:lnTo>
                  <a:lnTo>
                    <a:pt x="463295" y="12954"/>
                  </a:lnTo>
                  <a:lnTo>
                    <a:pt x="463295" y="393953"/>
                  </a:lnTo>
                  <a:lnTo>
                    <a:pt x="470154" y="393953"/>
                  </a:lnTo>
                  <a:close/>
                </a:path>
                <a:path w="470535" h="394335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4705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457200" y="393953"/>
                  </a:lnTo>
                  <a:lnTo>
                    <a:pt x="457200" y="387096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470535" h="394335">
                  <a:moveTo>
                    <a:pt x="463295" y="12954"/>
                  </a:moveTo>
                  <a:lnTo>
                    <a:pt x="457200" y="6095"/>
                  </a:lnTo>
                  <a:lnTo>
                    <a:pt x="457200" y="12954"/>
                  </a:lnTo>
                  <a:lnTo>
                    <a:pt x="463295" y="12954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463295" y="12954"/>
                  </a:lnTo>
                  <a:lnTo>
                    <a:pt x="457200" y="12954"/>
                  </a:lnTo>
                  <a:lnTo>
                    <a:pt x="457200" y="381000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463295" y="393953"/>
                  </a:moveTo>
                  <a:lnTo>
                    <a:pt x="463295" y="381000"/>
                  </a:lnTo>
                  <a:lnTo>
                    <a:pt x="457200" y="387096"/>
                  </a:lnTo>
                  <a:lnTo>
                    <a:pt x="457200" y="393953"/>
                  </a:lnTo>
                  <a:lnTo>
                    <a:pt x="4632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403F951D-4540-4E51-401E-2BC1D5B2F090}"/>
                </a:ext>
              </a:extLst>
            </p:cNvPr>
            <p:cNvSpPr/>
            <p:nvPr/>
          </p:nvSpPr>
          <p:spPr>
            <a:xfrm>
              <a:off x="2984639" y="2920745"/>
              <a:ext cx="609600" cy="95250"/>
            </a:xfrm>
            <a:custGeom>
              <a:avLst/>
              <a:gdLst/>
              <a:ahLst/>
              <a:cxnLst/>
              <a:rect l="l" t="t" r="r" b="b"/>
              <a:pathLst>
                <a:path w="609600" h="95250">
                  <a:moveTo>
                    <a:pt x="609599" y="952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60959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C73460C7-649A-8AC6-218B-46E6F026DDFD}"/>
                </a:ext>
              </a:extLst>
            </p:cNvPr>
            <p:cNvSpPr/>
            <p:nvPr/>
          </p:nvSpPr>
          <p:spPr>
            <a:xfrm>
              <a:off x="2521343" y="2025408"/>
              <a:ext cx="1842135" cy="1752600"/>
            </a:xfrm>
            <a:custGeom>
              <a:avLst/>
              <a:gdLst/>
              <a:ahLst/>
              <a:cxnLst/>
              <a:rect l="l" t="t" r="r" b="b"/>
              <a:pathLst>
                <a:path w="1842135" h="1752600">
                  <a:moveTo>
                    <a:pt x="12954" y="895350"/>
                  </a:moveTo>
                  <a:lnTo>
                    <a:pt x="0" y="895350"/>
                  </a:lnTo>
                  <a:lnTo>
                    <a:pt x="0" y="990600"/>
                  </a:lnTo>
                  <a:lnTo>
                    <a:pt x="12954" y="990600"/>
                  </a:lnTo>
                  <a:lnTo>
                    <a:pt x="12954" y="895350"/>
                  </a:lnTo>
                  <a:close/>
                </a:path>
                <a:path w="1842135" h="1752600">
                  <a:moveTo>
                    <a:pt x="1079754" y="895350"/>
                  </a:moveTo>
                  <a:lnTo>
                    <a:pt x="1079741" y="0"/>
                  </a:lnTo>
                  <a:lnTo>
                    <a:pt x="1066787" y="0"/>
                  </a:lnTo>
                  <a:lnTo>
                    <a:pt x="1066787" y="984504"/>
                  </a:lnTo>
                  <a:lnTo>
                    <a:pt x="470154" y="984504"/>
                  </a:lnTo>
                  <a:lnTo>
                    <a:pt x="470154" y="895350"/>
                  </a:lnTo>
                  <a:lnTo>
                    <a:pt x="457200" y="895350"/>
                  </a:lnTo>
                  <a:lnTo>
                    <a:pt x="457200" y="997458"/>
                  </a:lnTo>
                  <a:lnTo>
                    <a:pt x="463296" y="997458"/>
                  </a:lnTo>
                  <a:lnTo>
                    <a:pt x="470154" y="997458"/>
                  </a:lnTo>
                  <a:lnTo>
                    <a:pt x="1066800" y="997458"/>
                  </a:lnTo>
                  <a:lnTo>
                    <a:pt x="1072896" y="997458"/>
                  </a:lnTo>
                  <a:lnTo>
                    <a:pt x="1079754" y="997458"/>
                  </a:lnTo>
                  <a:lnTo>
                    <a:pt x="1079754" y="895350"/>
                  </a:lnTo>
                  <a:close/>
                </a:path>
                <a:path w="1842135" h="1752600">
                  <a:moveTo>
                    <a:pt x="1536954" y="895350"/>
                  </a:moveTo>
                  <a:lnTo>
                    <a:pt x="1524000" y="895350"/>
                  </a:lnTo>
                  <a:lnTo>
                    <a:pt x="1524000" y="990600"/>
                  </a:lnTo>
                  <a:lnTo>
                    <a:pt x="1536954" y="990600"/>
                  </a:lnTo>
                  <a:lnTo>
                    <a:pt x="1536954" y="895350"/>
                  </a:lnTo>
                  <a:close/>
                </a:path>
                <a:path w="1842135" h="1752600">
                  <a:moveTo>
                    <a:pt x="1689354" y="895350"/>
                  </a:moveTo>
                  <a:lnTo>
                    <a:pt x="1676400" y="895350"/>
                  </a:lnTo>
                  <a:lnTo>
                    <a:pt x="1676400" y="990600"/>
                  </a:lnTo>
                  <a:lnTo>
                    <a:pt x="1689354" y="990600"/>
                  </a:lnTo>
                  <a:lnTo>
                    <a:pt x="1689354" y="895350"/>
                  </a:lnTo>
                  <a:close/>
                </a:path>
                <a:path w="1842135" h="1752600">
                  <a:moveTo>
                    <a:pt x="1841741" y="0"/>
                  </a:moveTo>
                  <a:lnTo>
                    <a:pt x="1828787" y="0"/>
                  </a:lnTo>
                  <a:lnTo>
                    <a:pt x="1828787" y="990600"/>
                  </a:lnTo>
                  <a:lnTo>
                    <a:pt x="1841741" y="990600"/>
                  </a:lnTo>
                  <a:lnTo>
                    <a:pt x="1841741" y="0"/>
                  </a:lnTo>
                  <a:close/>
                </a:path>
                <a:path w="1842135" h="1752600">
                  <a:moveTo>
                    <a:pt x="1841754" y="1066800"/>
                  </a:moveTo>
                  <a:lnTo>
                    <a:pt x="1828800" y="1066800"/>
                  </a:lnTo>
                  <a:lnTo>
                    <a:pt x="1828800" y="1752600"/>
                  </a:lnTo>
                  <a:lnTo>
                    <a:pt x="1841754" y="1752600"/>
                  </a:lnTo>
                  <a:lnTo>
                    <a:pt x="1841754" y="106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07F7B07D-2190-2F80-9EA5-74824CC5E07C}"/>
              </a:ext>
            </a:extLst>
          </p:cNvPr>
          <p:cNvSpPr txBox="1"/>
          <p:nvPr/>
        </p:nvSpPr>
        <p:spPr>
          <a:xfrm>
            <a:off x="2603119" y="3176269"/>
            <a:ext cx="382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D14A061-96CE-C8BF-877D-D43190594D5B}"/>
              </a:ext>
            </a:extLst>
          </p:cNvPr>
          <p:cNvSpPr txBox="1"/>
          <p:nvPr/>
        </p:nvSpPr>
        <p:spPr>
          <a:xfrm>
            <a:off x="2488051" y="3389626"/>
            <a:ext cx="6127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D6546DAC-F77A-7F68-C9C7-5E8D504C8405}"/>
              </a:ext>
            </a:extLst>
          </p:cNvPr>
          <p:cNvSpPr txBox="1"/>
          <p:nvPr/>
        </p:nvSpPr>
        <p:spPr>
          <a:xfrm>
            <a:off x="3447403" y="3525254"/>
            <a:ext cx="4464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AC68F4E2-892A-7F85-3CAD-6B3CE791704E}"/>
              </a:ext>
            </a:extLst>
          </p:cNvPr>
          <p:cNvSpPr/>
          <p:nvPr/>
        </p:nvSpPr>
        <p:spPr>
          <a:xfrm>
            <a:off x="3975239" y="3016008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381000" y="762000"/>
                </a:moveTo>
                <a:lnTo>
                  <a:pt x="304800" y="723900"/>
                </a:lnTo>
                <a:lnTo>
                  <a:pt x="304800" y="755904"/>
                </a:lnTo>
                <a:lnTo>
                  <a:pt x="0" y="755904"/>
                </a:lnTo>
                <a:lnTo>
                  <a:pt x="0" y="762000"/>
                </a:lnTo>
                <a:lnTo>
                  <a:pt x="317754" y="762000"/>
                </a:lnTo>
                <a:lnTo>
                  <a:pt x="381000" y="762000"/>
                </a:lnTo>
                <a:close/>
              </a:path>
              <a:path w="2971800" h="762000">
                <a:moveTo>
                  <a:pt x="2057400" y="755904"/>
                </a:moveTo>
                <a:lnTo>
                  <a:pt x="457200" y="755904"/>
                </a:lnTo>
                <a:lnTo>
                  <a:pt x="457200" y="723900"/>
                </a:lnTo>
                <a:lnTo>
                  <a:pt x="381000" y="762000"/>
                </a:lnTo>
                <a:lnTo>
                  <a:pt x="445008" y="762000"/>
                </a:lnTo>
                <a:lnTo>
                  <a:pt x="2057400" y="762000"/>
                </a:lnTo>
                <a:lnTo>
                  <a:pt x="2057400" y="755904"/>
                </a:lnTo>
                <a:close/>
              </a:path>
              <a:path w="2971800" h="762000">
                <a:moveTo>
                  <a:pt x="2971787" y="304800"/>
                </a:moveTo>
                <a:lnTo>
                  <a:pt x="2895587" y="266700"/>
                </a:lnTo>
                <a:lnTo>
                  <a:pt x="2895587" y="298704"/>
                </a:lnTo>
                <a:lnTo>
                  <a:pt x="2590787" y="298704"/>
                </a:lnTo>
                <a:lnTo>
                  <a:pt x="2590787" y="266700"/>
                </a:lnTo>
                <a:lnTo>
                  <a:pt x="2521458" y="301371"/>
                </a:lnTo>
                <a:lnTo>
                  <a:pt x="2521458" y="0"/>
                </a:lnTo>
                <a:lnTo>
                  <a:pt x="2508504" y="0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08241"/>
                </a:lnTo>
                <a:lnTo>
                  <a:pt x="2578582" y="336804"/>
                </a:lnTo>
                <a:lnTo>
                  <a:pt x="2590787" y="342900"/>
                </a:lnTo>
                <a:lnTo>
                  <a:pt x="2590787" y="311658"/>
                </a:lnTo>
                <a:lnTo>
                  <a:pt x="2895587" y="311658"/>
                </a:lnTo>
                <a:lnTo>
                  <a:pt x="2895587" y="342900"/>
                </a:lnTo>
                <a:lnTo>
                  <a:pt x="2908541" y="336423"/>
                </a:lnTo>
                <a:lnTo>
                  <a:pt x="2971787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B74DE599-523A-298D-D8D2-89E0F04E71DF}"/>
              </a:ext>
            </a:extLst>
          </p:cNvPr>
          <p:cNvSpPr txBox="1"/>
          <p:nvPr/>
        </p:nvSpPr>
        <p:spPr>
          <a:xfrm>
            <a:off x="6585331" y="30680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2808B691-59C5-4EE0-6247-15142E59B351}"/>
              </a:ext>
            </a:extLst>
          </p:cNvPr>
          <p:cNvGrpSpPr/>
          <p:nvPr/>
        </p:nvGrpSpPr>
        <p:grpSpPr>
          <a:xfrm>
            <a:off x="6940943" y="3009900"/>
            <a:ext cx="622935" cy="394335"/>
            <a:chOff x="6940943" y="3009900"/>
            <a:chExt cx="622935" cy="394335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7FF258FB-5A04-00DF-DE05-3366B78732D8}"/>
                </a:ext>
              </a:extLst>
            </p:cNvPr>
            <p:cNvSpPr/>
            <p:nvPr/>
          </p:nvSpPr>
          <p:spPr>
            <a:xfrm>
              <a:off x="6947027" y="3015995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9EB85CEB-0A06-2BDF-37BD-15E05C5B3E31}"/>
                </a:ext>
              </a:extLst>
            </p:cNvPr>
            <p:cNvSpPr/>
            <p:nvPr/>
          </p:nvSpPr>
          <p:spPr>
            <a:xfrm>
              <a:off x="6940943" y="3009900"/>
              <a:ext cx="622935" cy="394335"/>
            </a:xfrm>
            <a:custGeom>
              <a:avLst/>
              <a:gdLst/>
              <a:ahLst/>
              <a:cxnLst/>
              <a:rect l="l" t="t" r="r" b="b"/>
              <a:pathLst>
                <a:path w="622934" h="394335">
                  <a:moveTo>
                    <a:pt x="622553" y="393953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09600" y="12954"/>
                  </a:lnTo>
                  <a:lnTo>
                    <a:pt x="609600" y="6096"/>
                  </a:lnTo>
                  <a:lnTo>
                    <a:pt x="615683" y="12954"/>
                  </a:lnTo>
                  <a:lnTo>
                    <a:pt x="615683" y="393953"/>
                  </a:lnTo>
                  <a:lnTo>
                    <a:pt x="622553" y="393953"/>
                  </a:lnTo>
                  <a:close/>
                </a:path>
                <a:path w="622934" h="394335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622934" h="394335">
                  <a:moveTo>
                    <a:pt x="12954" y="381000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609600" y="393953"/>
                  </a:lnTo>
                  <a:lnTo>
                    <a:pt x="609600" y="387096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622934" h="394335">
                  <a:moveTo>
                    <a:pt x="615683" y="12954"/>
                  </a:moveTo>
                  <a:lnTo>
                    <a:pt x="609600" y="6096"/>
                  </a:lnTo>
                  <a:lnTo>
                    <a:pt x="609600" y="12954"/>
                  </a:lnTo>
                  <a:lnTo>
                    <a:pt x="615683" y="12954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15683" y="12954"/>
                  </a:lnTo>
                  <a:lnTo>
                    <a:pt x="609600" y="12954"/>
                  </a:lnTo>
                  <a:lnTo>
                    <a:pt x="609600" y="381000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615683" y="393953"/>
                  </a:moveTo>
                  <a:lnTo>
                    <a:pt x="615683" y="381000"/>
                  </a:lnTo>
                  <a:lnTo>
                    <a:pt x="609600" y="387096"/>
                  </a:lnTo>
                  <a:lnTo>
                    <a:pt x="609600" y="393953"/>
                  </a:lnTo>
                  <a:lnTo>
                    <a:pt x="6156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CD1DD88A-3DA8-7239-418B-E394C14BE665}"/>
              </a:ext>
            </a:extLst>
          </p:cNvPr>
          <p:cNvSpPr txBox="1"/>
          <p:nvPr/>
        </p:nvSpPr>
        <p:spPr>
          <a:xfrm>
            <a:off x="6947027" y="3015995"/>
            <a:ext cx="609600" cy="3810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4460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32E8341C-8DA6-523C-2C2E-ACCE93C4F663}"/>
              </a:ext>
            </a:extLst>
          </p:cNvPr>
          <p:cNvGrpSpPr/>
          <p:nvPr/>
        </p:nvGrpSpPr>
        <p:grpSpPr>
          <a:xfrm>
            <a:off x="7550543" y="2920745"/>
            <a:ext cx="1426210" cy="666750"/>
            <a:chOff x="7550543" y="2920745"/>
            <a:chExt cx="1426210" cy="666750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030A1DB6-7165-A1DB-510D-D620F3379DA7}"/>
                </a:ext>
              </a:extLst>
            </p:cNvPr>
            <p:cNvSpPr/>
            <p:nvPr/>
          </p:nvSpPr>
          <p:spPr>
            <a:xfrm>
              <a:off x="7550543" y="2920745"/>
              <a:ext cx="13335" cy="95250"/>
            </a:xfrm>
            <a:custGeom>
              <a:avLst/>
              <a:gdLst/>
              <a:ahLst/>
              <a:cxnLst/>
              <a:rect l="l" t="t" r="r" b="b"/>
              <a:pathLst>
                <a:path w="13334" h="95250">
                  <a:moveTo>
                    <a:pt x="12953" y="95250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12953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3D9333A2-CEE4-DDA4-7DD7-9F5EC71B8317}"/>
                </a:ext>
              </a:extLst>
            </p:cNvPr>
            <p:cNvSpPr/>
            <p:nvPr/>
          </p:nvSpPr>
          <p:spPr>
            <a:xfrm>
              <a:off x="8013827" y="2920745"/>
              <a:ext cx="956310" cy="95250"/>
            </a:xfrm>
            <a:custGeom>
              <a:avLst/>
              <a:gdLst/>
              <a:ahLst/>
              <a:cxnLst/>
              <a:rect l="l" t="t" r="r" b="b"/>
              <a:pathLst>
                <a:path w="956309" h="95250">
                  <a:moveTo>
                    <a:pt x="956309" y="952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630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7886EF16-30C7-2B8B-37C0-AC5B713BBF61}"/>
                </a:ext>
              </a:extLst>
            </p:cNvPr>
            <p:cNvSpPr/>
            <p:nvPr/>
          </p:nvSpPr>
          <p:spPr>
            <a:xfrm>
              <a:off x="8007744" y="2920758"/>
              <a:ext cx="969010" cy="666750"/>
            </a:xfrm>
            <a:custGeom>
              <a:avLst/>
              <a:gdLst/>
              <a:ahLst/>
              <a:cxnLst/>
              <a:rect l="l" t="t" r="r" b="b"/>
              <a:pathLst>
                <a:path w="969009" h="666750">
                  <a:moveTo>
                    <a:pt x="844283" y="628650"/>
                  </a:moveTo>
                  <a:lnTo>
                    <a:pt x="768083" y="590550"/>
                  </a:lnTo>
                  <a:lnTo>
                    <a:pt x="768083" y="622554"/>
                  </a:lnTo>
                  <a:lnTo>
                    <a:pt x="310883" y="622554"/>
                  </a:lnTo>
                  <a:lnTo>
                    <a:pt x="310883" y="635508"/>
                  </a:lnTo>
                  <a:lnTo>
                    <a:pt x="768083" y="635508"/>
                  </a:lnTo>
                  <a:lnTo>
                    <a:pt x="768083" y="666750"/>
                  </a:lnTo>
                  <a:lnTo>
                    <a:pt x="781037" y="660273"/>
                  </a:lnTo>
                  <a:lnTo>
                    <a:pt x="844283" y="628650"/>
                  </a:lnTo>
                  <a:close/>
                </a:path>
                <a:path w="969009" h="666750">
                  <a:moveTo>
                    <a:pt x="968489" y="0"/>
                  </a:moveTo>
                  <a:lnTo>
                    <a:pt x="955548" y="0"/>
                  </a:lnTo>
                  <a:lnTo>
                    <a:pt x="955548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83" y="102108"/>
                  </a:lnTo>
                  <a:lnTo>
                    <a:pt x="12954" y="102108"/>
                  </a:lnTo>
                  <a:lnTo>
                    <a:pt x="955548" y="102108"/>
                  </a:lnTo>
                  <a:lnTo>
                    <a:pt x="962406" y="102108"/>
                  </a:lnTo>
                  <a:lnTo>
                    <a:pt x="968489" y="102108"/>
                  </a:lnTo>
                  <a:lnTo>
                    <a:pt x="96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3" name="object 53">
            <a:extLst>
              <a:ext uri="{FF2B5EF4-FFF2-40B4-BE49-F238E27FC236}">
                <a16:creationId xmlns:a16="http://schemas.microsoft.com/office/drawing/2014/main" id="{CD80FAC2-EEA6-6136-1A2C-70A2DFF4348C}"/>
              </a:ext>
            </a:extLst>
          </p:cNvPr>
          <p:cNvSpPr txBox="1"/>
          <p:nvPr/>
        </p:nvSpPr>
        <p:spPr>
          <a:xfrm>
            <a:off x="8402701" y="3541267"/>
            <a:ext cx="3657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02FD366D-C4A7-6AD3-FB16-836B999DBCF0}"/>
              </a:ext>
            </a:extLst>
          </p:cNvPr>
          <p:cNvSpPr/>
          <p:nvPr/>
        </p:nvSpPr>
        <p:spPr>
          <a:xfrm>
            <a:off x="4350143" y="3777996"/>
            <a:ext cx="13335" cy="381000"/>
          </a:xfrm>
          <a:custGeom>
            <a:avLst/>
            <a:gdLst/>
            <a:ahLst/>
            <a:cxnLst/>
            <a:rect l="l" t="t" r="r" b="b"/>
            <a:pathLst>
              <a:path w="13335" h="381000">
                <a:moveTo>
                  <a:pt x="12953" y="381000"/>
                </a:moveTo>
                <a:lnTo>
                  <a:pt x="12953" y="0"/>
                </a:lnTo>
                <a:lnTo>
                  <a:pt x="0" y="0"/>
                </a:lnTo>
                <a:lnTo>
                  <a:pt x="0" y="381000"/>
                </a:lnTo>
                <a:lnTo>
                  <a:pt x="12953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49B4AB2C-1C8C-F17E-5A8A-359AD7A7E9E4}"/>
              </a:ext>
            </a:extLst>
          </p:cNvPr>
          <p:cNvSpPr txBox="1"/>
          <p:nvPr/>
        </p:nvSpPr>
        <p:spPr>
          <a:xfrm>
            <a:off x="3413886" y="3738625"/>
            <a:ext cx="513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4D939116-CDA7-F2AD-2BEC-4A2171181A26}"/>
              </a:ext>
            </a:extLst>
          </p:cNvPr>
          <p:cNvSpPr txBox="1"/>
          <p:nvPr/>
        </p:nvSpPr>
        <p:spPr>
          <a:xfrm>
            <a:off x="4633095" y="3753859"/>
            <a:ext cx="2874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080" lvl="0" indent="-24384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idle, 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get</a:t>
            </a:r>
            <a:r>
              <a:rPr kumimoji="0" sz="1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690DA08-9FAC-8D52-0B42-81885E619D70}"/>
              </a:ext>
            </a:extLst>
          </p:cNvPr>
          <p:cNvSpPr/>
          <p:nvPr/>
        </p:nvSpPr>
        <p:spPr>
          <a:xfrm>
            <a:off x="3975239" y="3778008"/>
            <a:ext cx="2057400" cy="38100"/>
          </a:xfrm>
          <a:custGeom>
            <a:avLst/>
            <a:gdLst/>
            <a:ahLst/>
            <a:cxnLst/>
            <a:rect l="l" t="t" r="r" b="b"/>
            <a:pathLst>
              <a:path w="2057400" h="38100">
                <a:moveTo>
                  <a:pt x="381000" y="0"/>
                </a:moveTo>
                <a:lnTo>
                  <a:pt x="0" y="0"/>
                </a:lnTo>
                <a:lnTo>
                  <a:pt x="0" y="6858"/>
                </a:lnTo>
                <a:lnTo>
                  <a:pt x="304800" y="6858"/>
                </a:lnTo>
                <a:lnTo>
                  <a:pt x="304800" y="38100"/>
                </a:lnTo>
                <a:lnTo>
                  <a:pt x="317754" y="31623"/>
                </a:lnTo>
                <a:lnTo>
                  <a:pt x="381000" y="0"/>
                </a:lnTo>
                <a:close/>
              </a:path>
              <a:path w="2057400" h="38100">
                <a:moveTo>
                  <a:pt x="2057400" y="0"/>
                </a:moveTo>
                <a:lnTo>
                  <a:pt x="381000" y="0"/>
                </a:lnTo>
                <a:lnTo>
                  <a:pt x="445008" y="32004"/>
                </a:lnTo>
                <a:lnTo>
                  <a:pt x="457200" y="38100"/>
                </a:lnTo>
                <a:lnTo>
                  <a:pt x="457200" y="6858"/>
                </a:lnTo>
                <a:lnTo>
                  <a:pt x="2057400" y="6858"/>
                </a:lnTo>
                <a:lnTo>
                  <a:pt x="205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42902F18-7750-4556-94E4-EAECDA856CEC}"/>
              </a:ext>
            </a:extLst>
          </p:cNvPr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011BDBD3-E54A-B613-1A42-A8231C902A4B}"/>
              </a:ext>
            </a:extLst>
          </p:cNvPr>
          <p:cNvSpPr txBox="1"/>
          <p:nvPr/>
        </p:nvSpPr>
        <p:spPr>
          <a:xfrm>
            <a:off x="1691767" y="4374133"/>
            <a:ext cx="7580630" cy="17627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452755" lvl="0" indent="-342900" algn="l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part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CA,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procedure</a:t>
            </a:r>
            <a:r>
              <a:rPr kumimoji="0" sz="2000" b="1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 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160"/>
              </a:lnSpc>
              <a:spcBef>
                <a:spcPts val="48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Ex: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successful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exchange,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wants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send 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another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frame.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starts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 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equal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DD1D6F3C-5979-C0E2-DEC2-A59C6A387BF2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D4E3CF3B-4417-0103-8FE3-C4E0E3CBD2FE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679596AB-BDFC-838A-C84A-6844E62BBCBF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42498031-F8F6-20E6-27A2-D3BCECD51AFC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03395CBE-A3D7-8E47-A60E-2BCF66A0E0EE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B4773285-FDA8-03DA-B3DB-8A699A8E7659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76BFC0B8-A25C-EEAC-8EF4-F5D24E007D62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0F91119F-A400-51EC-8B1C-FF5899BA9BD9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753D02BB-7C41-026F-3DB7-D5BEC9505A70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EA55950A-827D-2FF0-BB7E-C98748AE1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8C3C0BA-3777-B20A-2A3E-9090F5D872FB}"/>
              </a:ext>
            </a:extLst>
          </p:cNvPr>
          <p:cNvGrpSpPr/>
          <p:nvPr/>
        </p:nvGrpSpPr>
        <p:grpSpPr>
          <a:xfrm>
            <a:off x="7575931" y="1341513"/>
            <a:ext cx="1946815" cy="2088509"/>
            <a:chOff x="3821573" y="2014855"/>
            <a:chExt cx="5228843" cy="298577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186B166-8B20-DC41-DD0A-8D547B796879}"/>
                </a:ext>
              </a:extLst>
            </p:cNvPr>
            <p:cNvSpPr/>
            <p:nvPr/>
          </p:nvSpPr>
          <p:spPr>
            <a:xfrm>
              <a:off x="3821573" y="2790825"/>
              <a:ext cx="5228843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1FA631D-AC32-4773-DB38-2900DE9EC3FA}"/>
                </a:ext>
              </a:extLst>
            </p:cNvPr>
            <p:cNvSpPr/>
            <p:nvPr/>
          </p:nvSpPr>
          <p:spPr>
            <a:xfrm>
              <a:off x="8077848" y="2014855"/>
              <a:ext cx="895476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object 2">
            <a:extLst>
              <a:ext uri="{FF2B5EF4-FFF2-40B4-BE49-F238E27FC236}">
                <a16:creationId xmlns:a16="http://schemas.microsoft.com/office/drawing/2014/main" id="{A583B90C-282A-4B7C-16A9-B8D12DCDA293}"/>
              </a:ext>
            </a:extLst>
          </p:cNvPr>
          <p:cNvSpPr txBox="1">
            <a:spLocks/>
          </p:cNvSpPr>
          <p:nvPr/>
        </p:nvSpPr>
        <p:spPr>
          <a:xfrm>
            <a:off x="1252288" y="81740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9031198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BA813B-CE0C-2864-3A08-8A94D34B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E414DB-32CC-37AD-BA3D-A762E396F0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D967DB-2E35-6A2B-1448-BA19FF6B2017}"/>
              </a:ext>
            </a:extLst>
          </p:cNvPr>
          <p:cNvSpPr txBox="1"/>
          <p:nvPr/>
        </p:nvSpPr>
        <p:spPr>
          <a:xfrm>
            <a:off x="3829939" y="184886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4BA4BCC-81B8-B25E-4A2A-22130EA35B3B}"/>
              </a:ext>
            </a:extLst>
          </p:cNvPr>
          <p:cNvGrpSpPr/>
          <p:nvPr/>
        </p:nvGrpSpPr>
        <p:grpSpPr>
          <a:xfrm>
            <a:off x="774839" y="2063495"/>
            <a:ext cx="9144000" cy="857250"/>
            <a:chOff x="774839" y="2063495"/>
            <a:chExt cx="9144000" cy="8572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A8FEBD0-0E87-73F6-5479-7603AD864A60}"/>
                </a:ext>
              </a:extLst>
            </p:cNvPr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162E20A-AC54-15B1-4832-7CF1F120156C}"/>
                </a:ext>
              </a:extLst>
            </p:cNvPr>
            <p:cNvSpPr/>
            <p:nvPr/>
          </p:nvSpPr>
          <p:spPr>
            <a:xfrm>
              <a:off x="4356239" y="2634995"/>
              <a:ext cx="1600200" cy="2857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869FC68-1285-6B82-1911-3438E96DC80A}"/>
                </a:ext>
              </a:extLst>
            </p:cNvPr>
            <p:cNvSpPr/>
            <p:nvPr/>
          </p:nvSpPr>
          <p:spPr>
            <a:xfrm>
              <a:off x="4350143" y="2628912"/>
              <a:ext cx="1613535" cy="292100"/>
            </a:xfrm>
            <a:custGeom>
              <a:avLst/>
              <a:gdLst/>
              <a:ahLst/>
              <a:cxnLst/>
              <a:rect l="l" t="t" r="r" b="b"/>
              <a:pathLst>
                <a:path w="1613535" h="292100">
                  <a:moveTo>
                    <a:pt x="1613154" y="0"/>
                  </a:moveTo>
                  <a:lnTo>
                    <a:pt x="0" y="0"/>
                  </a:lnTo>
                  <a:lnTo>
                    <a:pt x="0" y="291846"/>
                  </a:lnTo>
                  <a:lnTo>
                    <a:pt x="6096" y="291846"/>
                  </a:lnTo>
                  <a:lnTo>
                    <a:pt x="12954" y="291846"/>
                  </a:lnTo>
                  <a:lnTo>
                    <a:pt x="12954" y="12954"/>
                  </a:lnTo>
                  <a:lnTo>
                    <a:pt x="106680" y="12954"/>
                  </a:lnTo>
                  <a:lnTo>
                    <a:pt x="106680" y="291846"/>
                  </a:lnTo>
                  <a:lnTo>
                    <a:pt x="119621" y="291846"/>
                  </a:lnTo>
                  <a:lnTo>
                    <a:pt x="119621" y="12954"/>
                  </a:lnTo>
                  <a:lnTo>
                    <a:pt x="213360" y="12954"/>
                  </a:lnTo>
                  <a:lnTo>
                    <a:pt x="213360" y="291846"/>
                  </a:lnTo>
                  <a:lnTo>
                    <a:pt x="226314" y="291846"/>
                  </a:lnTo>
                  <a:lnTo>
                    <a:pt x="226314" y="12954"/>
                  </a:lnTo>
                  <a:lnTo>
                    <a:pt x="320040" y="12954"/>
                  </a:lnTo>
                  <a:lnTo>
                    <a:pt x="320040" y="291846"/>
                  </a:lnTo>
                  <a:lnTo>
                    <a:pt x="332994" y="291846"/>
                  </a:lnTo>
                  <a:lnTo>
                    <a:pt x="332994" y="12954"/>
                  </a:lnTo>
                  <a:lnTo>
                    <a:pt x="426720" y="12954"/>
                  </a:lnTo>
                  <a:lnTo>
                    <a:pt x="426720" y="291846"/>
                  </a:lnTo>
                  <a:lnTo>
                    <a:pt x="439661" y="291846"/>
                  </a:lnTo>
                  <a:lnTo>
                    <a:pt x="439661" y="12954"/>
                  </a:lnTo>
                  <a:lnTo>
                    <a:pt x="533400" y="12954"/>
                  </a:lnTo>
                  <a:lnTo>
                    <a:pt x="533400" y="291846"/>
                  </a:lnTo>
                  <a:lnTo>
                    <a:pt x="546354" y="291846"/>
                  </a:lnTo>
                  <a:lnTo>
                    <a:pt x="546354" y="12954"/>
                  </a:lnTo>
                  <a:lnTo>
                    <a:pt x="640080" y="12954"/>
                  </a:lnTo>
                  <a:lnTo>
                    <a:pt x="640080" y="291846"/>
                  </a:lnTo>
                  <a:lnTo>
                    <a:pt x="653021" y="291846"/>
                  </a:lnTo>
                  <a:lnTo>
                    <a:pt x="653021" y="12954"/>
                  </a:lnTo>
                  <a:lnTo>
                    <a:pt x="746760" y="12954"/>
                  </a:lnTo>
                  <a:lnTo>
                    <a:pt x="746760" y="291846"/>
                  </a:lnTo>
                  <a:lnTo>
                    <a:pt x="759714" y="291846"/>
                  </a:lnTo>
                  <a:lnTo>
                    <a:pt x="759714" y="12954"/>
                  </a:lnTo>
                  <a:lnTo>
                    <a:pt x="853440" y="12954"/>
                  </a:lnTo>
                  <a:lnTo>
                    <a:pt x="853440" y="291846"/>
                  </a:lnTo>
                  <a:lnTo>
                    <a:pt x="866394" y="291846"/>
                  </a:lnTo>
                  <a:lnTo>
                    <a:pt x="866394" y="12954"/>
                  </a:lnTo>
                  <a:lnTo>
                    <a:pt x="960120" y="12954"/>
                  </a:lnTo>
                  <a:lnTo>
                    <a:pt x="960120" y="291846"/>
                  </a:lnTo>
                  <a:lnTo>
                    <a:pt x="973061" y="291846"/>
                  </a:lnTo>
                  <a:lnTo>
                    <a:pt x="973061" y="12954"/>
                  </a:lnTo>
                  <a:lnTo>
                    <a:pt x="1066800" y="12954"/>
                  </a:lnTo>
                  <a:lnTo>
                    <a:pt x="1066800" y="291846"/>
                  </a:lnTo>
                  <a:lnTo>
                    <a:pt x="1079754" y="291846"/>
                  </a:lnTo>
                  <a:lnTo>
                    <a:pt x="1079754" y="12954"/>
                  </a:lnTo>
                  <a:lnTo>
                    <a:pt x="1173480" y="12954"/>
                  </a:lnTo>
                  <a:lnTo>
                    <a:pt x="1173480" y="291846"/>
                  </a:lnTo>
                  <a:lnTo>
                    <a:pt x="1184148" y="291846"/>
                  </a:lnTo>
                  <a:lnTo>
                    <a:pt x="1184148" y="12954"/>
                  </a:lnTo>
                  <a:lnTo>
                    <a:pt x="1600200" y="12954"/>
                  </a:lnTo>
                  <a:lnTo>
                    <a:pt x="1600200" y="291846"/>
                  </a:lnTo>
                  <a:lnTo>
                    <a:pt x="1606296" y="291846"/>
                  </a:lnTo>
                  <a:lnTo>
                    <a:pt x="1613154" y="291846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8719D5E-7123-7681-C6E0-E4C1DCC369AB}"/>
                </a:ext>
              </a:extLst>
            </p:cNvPr>
            <p:cNvSpPr/>
            <p:nvPr/>
          </p:nvSpPr>
          <p:spPr>
            <a:xfrm>
              <a:off x="5534291" y="2634995"/>
              <a:ext cx="955675" cy="285750"/>
            </a:xfrm>
            <a:custGeom>
              <a:avLst/>
              <a:gdLst/>
              <a:ahLst/>
              <a:cxnLst/>
              <a:rect l="l" t="t" r="r" b="b"/>
              <a:pathLst>
                <a:path w="955675" h="285750">
                  <a:moveTo>
                    <a:pt x="955548" y="2857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5548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9B896C1-DF41-957B-D380-D3D8613CB07E}"/>
                </a:ext>
              </a:extLst>
            </p:cNvPr>
            <p:cNvSpPr/>
            <p:nvPr/>
          </p:nvSpPr>
          <p:spPr>
            <a:xfrm>
              <a:off x="5528195" y="2628899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10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6" y="2918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955548" y="12953"/>
                  </a:lnTo>
                  <a:lnTo>
                    <a:pt x="955548" y="6095"/>
                  </a:lnTo>
                  <a:lnTo>
                    <a:pt x="961631" y="12953"/>
                  </a:lnTo>
                  <a:lnTo>
                    <a:pt x="961631" y="291845"/>
                  </a:lnTo>
                  <a:lnTo>
                    <a:pt x="968501" y="291845"/>
                  </a:lnTo>
                  <a:close/>
                </a:path>
                <a:path w="969010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69010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91845"/>
                  </a:lnTo>
                  <a:lnTo>
                    <a:pt x="12953" y="291845"/>
                  </a:lnTo>
                  <a:close/>
                </a:path>
                <a:path w="969010" h="292100">
                  <a:moveTo>
                    <a:pt x="961631" y="12953"/>
                  </a:moveTo>
                  <a:lnTo>
                    <a:pt x="955548" y="6095"/>
                  </a:lnTo>
                  <a:lnTo>
                    <a:pt x="955548" y="12953"/>
                  </a:lnTo>
                  <a:lnTo>
                    <a:pt x="961631" y="12953"/>
                  </a:lnTo>
                  <a:close/>
                </a:path>
                <a:path w="969010" h="292100">
                  <a:moveTo>
                    <a:pt x="961631" y="291845"/>
                  </a:moveTo>
                  <a:lnTo>
                    <a:pt x="961631" y="12953"/>
                  </a:lnTo>
                  <a:lnTo>
                    <a:pt x="955548" y="12953"/>
                  </a:lnTo>
                  <a:lnTo>
                    <a:pt x="955548" y="291845"/>
                  </a:lnTo>
                  <a:lnTo>
                    <a:pt x="961631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F6D8BCA2-9E19-DEE6-A9DE-C7DAE143B139}"/>
              </a:ext>
            </a:extLst>
          </p:cNvPr>
          <p:cNvSpPr txBox="1"/>
          <p:nvPr/>
        </p:nvSpPr>
        <p:spPr>
          <a:xfrm>
            <a:off x="5534291" y="2661158"/>
            <a:ext cx="95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03747C4-40DE-9C70-6ED9-D61577E17BF4}"/>
              </a:ext>
            </a:extLst>
          </p:cNvPr>
          <p:cNvSpPr/>
          <p:nvPr/>
        </p:nvSpPr>
        <p:spPr>
          <a:xfrm>
            <a:off x="5496191" y="2452877"/>
            <a:ext cx="76200" cy="182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6504D8D-2350-8D42-625C-B1AF382DA818}"/>
              </a:ext>
            </a:extLst>
          </p:cNvPr>
          <p:cNvSpPr txBox="1"/>
          <p:nvPr/>
        </p:nvSpPr>
        <p:spPr>
          <a:xfrm>
            <a:off x="5105527" y="22313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615A856-5352-4C94-97F8-985DF41D9C8E}"/>
              </a:ext>
            </a:extLst>
          </p:cNvPr>
          <p:cNvGrpSpPr/>
          <p:nvPr/>
        </p:nvGrpSpPr>
        <p:grpSpPr>
          <a:xfrm>
            <a:off x="2978543" y="2628900"/>
            <a:ext cx="622935" cy="292100"/>
            <a:chOff x="2978543" y="2628900"/>
            <a:chExt cx="622935" cy="29210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86251C2-8300-53AF-99FE-AD8EA9B96340}"/>
                </a:ext>
              </a:extLst>
            </p:cNvPr>
            <p:cNvSpPr/>
            <p:nvPr/>
          </p:nvSpPr>
          <p:spPr>
            <a:xfrm>
              <a:off x="2984639" y="2634995"/>
              <a:ext cx="609600" cy="285750"/>
            </a:xfrm>
            <a:custGeom>
              <a:avLst/>
              <a:gdLst/>
              <a:ahLst/>
              <a:cxnLst/>
              <a:rect l="l" t="t" r="r" b="b"/>
              <a:pathLst>
                <a:path w="609600" h="285750">
                  <a:moveTo>
                    <a:pt x="609599" y="2857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60959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9022870-F4DD-BE35-8A1D-576C87B9378F}"/>
                </a:ext>
              </a:extLst>
            </p:cNvPr>
            <p:cNvSpPr/>
            <p:nvPr/>
          </p:nvSpPr>
          <p:spPr>
            <a:xfrm>
              <a:off x="2978543" y="2628900"/>
              <a:ext cx="622935" cy="292100"/>
            </a:xfrm>
            <a:custGeom>
              <a:avLst/>
              <a:gdLst/>
              <a:ahLst/>
              <a:cxnLst/>
              <a:rect l="l" t="t" r="r" b="b"/>
              <a:pathLst>
                <a:path w="622935" h="292100">
                  <a:moveTo>
                    <a:pt x="622553" y="291845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95" y="291845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291845"/>
                  </a:lnTo>
                  <a:lnTo>
                    <a:pt x="622553" y="291845"/>
                  </a:lnTo>
                  <a:close/>
                </a:path>
                <a:path w="622935" h="292100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622935" h="292100">
                  <a:moveTo>
                    <a:pt x="12953" y="291845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91845"/>
                  </a:lnTo>
                  <a:lnTo>
                    <a:pt x="12953" y="291845"/>
                  </a:lnTo>
                  <a:close/>
                </a:path>
                <a:path w="622935" h="292100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5" h="292100">
                  <a:moveTo>
                    <a:pt x="615696" y="291845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291845"/>
                  </a:lnTo>
                  <a:lnTo>
                    <a:pt x="61569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2A605B5D-1AB8-BEFC-CD54-D92F6CF8587F}"/>
              </a:ext>
            </a:extLst>
          </p:cNvPr>
          <p:cNvSpPr txBox="1"/>
          <p:nvPr/>
        </p:nvSpPr>
        <p:spPr>
          <a:xfrm>
            <a:off x="3075558" y="2661158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6371ED9-3B8B-35B6-5D45-A245BED010FF}"/>
              </a:ext>
            </a:extLst>
          </p:cNvPr>
          <p:cNvSpPr/>
          <p:nvPr/>
        </p:nvSpPr>
        <p:spPr>
          <a:xfrm>
            <a:off x="2521343" y="2635008"/>
            <a:ext cx="463550" cy="285750"/>
          </a:xfrm>
          <a:custGeom>
            <a:avLst/>
            <a:gdLst/>
            <a:ahLst/>
            <a:cxnLst/>
            <a:rect l="l" t="t" r="r" b="b"/>
            <a:pathLst>
              <a:path w="463550" h="285750">
                <a:moveTo>
                  <a:pt x="463296" y="76200"/>
                </a:moveTo>
                <a:lnTo>
                  <a:pt x="387096" y="38100"/>
                </a:lnTo>
                <a:lnTo>
                  <a:pt x="387096" y="70104"/>
                </a:lnTo>
                <a:lnTo>
                  <a:pt x="82296" y="70104"/>
                </a:lnTo>
                <a:lnTo>
                  <a:pt x="82296" y="38100"/>
                </a:lnTo>
                <a:lnTo>
                  <a:pt x="12954" y="72771"/>
                </a:lnTo>
                <a:lnTo>
                  <a:pt x="12954" y="0"/>
                </a:lnTo>
                <a:lnTo>
                  <a:pt x="0" y="0"/>
                </a:lnTo>
                <a:lnTo>
                  <a:pt x="0" y="285750"/>
                </a:lnTo>
                <a:lnTo>
                  <a:pt x="12954" y="285750"/>
                </a:lnTo>
                <a:lnTo>
                  <a:pt x="12954" y="79629"/>
                </a:lnTo>
                <a:lnTo>
                  <a:pt x="70104" y="108204"/>
                </a:lnTo>
                <a:lnTo>
                  <a:pt x="82296" y="114300"/>
                </a:lnTo>
                <a:lnTo>
                  <a:pt x="82296" y="83058"/>
                </a:lnTo>
                <a:lnTo>
                  <a:pt x="387096" y="83058"/>
                </a:lnTo>
                <a:lnTo>
                  <a:pt x="387096" y="114300"/>
                </a:lnTo>
                <a:lnTo>
                  <a:pt x="400037" y="107823"/>
                </a:lnTo>
                <a:lnTo>
                  <a:pt x="46329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C5F3D47-9DEE-CEAF-7111-3AA320F56708}"/>
              </a:ext>
            </a:extLst>
          </p:cNvPr>
          <p:cNvSpPr txBox="1"/>
          <p:nvPr/>
        </p:nvSpPr>
        <p:spPr>
          <a:xfrm>
            <a:off x="2622930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2BAF55E5-A0C1-CBE8-E1B1-7F5DEC0F6C06}"/>
              </a:ext>
            </a:extLst>
          </p:cNvPr>
          <p:cNvSpPr/>
          <p:nvPr/>
        </p:nvSpPr>
        <p:spPr>
          <a:xfrm>
            <a:off x="3594239" y="2254008"/>
            <a:ext cx="616585" cy="666750"/>
          </a:xfrm>
          <a:custGeom>
            <a:avLst/>
            <a:gdLst/>
            <a:ahLst/>
            <a:cxnLst/>
            <a:rect l="l" t="t" r="r" b="b"/>
            <a:pathLst>
              <a:path w="616585" h="666750">
                <a:moveTo>
                  <a:pt x="464058" y="304800"/>
                </a:moveTo>
                <a:lnTo>
                  <a:pt x="451104" y="304800"/>
                </a:lnTo>
                <a:lnTo>
                  <a:pt x="451104" y="454152"/>
                </a:lnTo>
                <a:lnTo>
                  <a:pt x="381000" y="419100"/>
                </a:lnTo>
                <a:lnTo>
                  <a:pt x="381000" y="451104"/>
                </a:lnTo>
                <a:lnTo>
                  <a:pt x="76200" y="451104"/>
                </a:lnTo>
                <a:lnTo>
                  <a:pt x="76200" y="419100"/>
                </a:lnTo>
                <a:lnTo>
                  <a:pt x="0" y="457200"/>
                </a:lnTo>
                <a:lnTo>
                  <a:pt x="64008" y="489204"/>
                </a:lnTo>
                <a:lnTo>
                  <a:pt x="76200" y="495300"/>
                </a:lnTo>
                <a:lnTo>
                  <a:pt x="76200" y="464058"/>
                </a:lnTo>
                <a:lnTo>
                  <a:pt x="381000" y="464058"/>
                </a:lnTo>
                <a:lnTo>
                  <a:pt x="381000" y="495300"/>
                </a:lnTo>
                <a:lnTo>
                  <a:pt x="393954" y="488823"/>
                </a:lnTo>
                <a:lnTo>
                  <a:pt x="451104" y="460248"/>
                </a:lnTo>
                <a:lnTo>
                  <a:pt x="451104" y="666750"/>
                </a:lnTo>
                <a:lnTo>
                  <a:pt x="464058" y="666750"/>
                </a:lnTo>
                <a:lnTo>
                  <a:pt x="464058" y="304800"/>
                </a:lnTo>
                <a:close/>
              </a:path>
              <a:path w="616585" h="666750">
                <a:moveTo>
                  <a:pt x="616458" y="0"/>
                </a:moveTo>
                <a:lnTo>
                  <a:pt x="603504" y="0"/>
                </a:lnTo>
                <a:lnTo>
                  <a:pt x="603504" y="149352"/>
                </a:lnTo>
                <a:lnTo>
                  <a:pt x="533400" y="114300"/>
                </a:lnTo>
                <a:lnTo>
                  <a:pt x="533400" y="146304"/>
                </a:lnTo>
                <a:lnTo>
                  <a:pt x="76200" y="146304"/>
                </a:lnTo>
                <a:lnTo>
                  <a:pt x="76200" y="114300"/>
                </a:lnTo>
                <a:lnTo>
                  <a:pt x="0" y="152400"/>
                </a:lnTo>
                <a:lnTo>
                  <a:pt x="64008" y="184404"/>
                </a:lnTo>
                <a:lnTo>
                  <a:pt x="76200" y="190500"/>
                </a:lnTo>
                <a:lnTo>
                  <a:pt x="76200" y="159258"/>
                </a:lnTo>
                <a:lnTo>
                  <a:pt x="533400" y="159258"/>
                </a:lnTo>
                <a:lnTo>
                  <a:pt x="533400" y="190500"/>
                </a:lnTo>
                <a:lnTo>
                  <a:pt x="546354" y="184023"/>
                </a:lnTo>
                <a:lnTo>
                  <a:pt x="603504" y="155448"/>
                </a:lnTo>
                <a:lnTo>
                  <a:pt x="603504" y="666750"/>
                </a:lnTo>
                <a:lnTo>
                  <a:pt x="616458" y="666750"/>
                </a:lnTo>
                <a:lnTo>
                  <a:pt x="616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7CBA47D-7398-5425-6BC3-C7ED39B45FFC}"/>
              </a:ext>
            </a:extLst>
          </p:cNvPr>
          <p:cNvSpPr txBox="1"/>
          <p:nvPr/>
        </p:nvSpPr>
        <p:spPr>
          <a:xfrm>
            <a:off x="3685921" y="2061921"/>
            <a:ext cx="35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lvl="0" indent="-3810" algn="l" defTabSz="914400" rtl="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PIFS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51530E9E-3EC2-DB4D-BA61-25D598CD5C40}"/>
              </a:ext>
            </a:extLst>
          </p:cNvPr>
          <p:cNvSpPr/>
          <p:nvPr/>
        </p:nvSpPr>
        <p:spPr>
          <a:xfrm>
            <a:off x="3594239" y="2063508"/>
            <a:ext cx="4419600" cy="857250"/>
          </a:xfrm>
          <a:custGeom>
            <a:avLst/>
            <a:gdLst/>
            <a:ahLst/>
            <a:cxnLst/>
            <a:rect l="l" t="t" r="r" b="b"/>
            <a:pathLst>
              <a:path w="4419600" h="857250">
                <a:moveTo>
                  <a:pt x="762000" y="38100"/>
                </a:moveTo>
                <a:lnTo>
                  <a:pt x="685800" y="0"/>
                </a:lnTo>
                <a:lnTo>
                  <a:pt x="685800" y="32004"/>
                </a:lnTo>
                <a:lnTo>
                  <a:pt x="76200" y="32004"/>
                </a:lnTo>
                <a:lnTo>
                  <a:pt x="76200" y="0"/>
                </a:lnTo>
                <a:lnTo>
                  <a:pt x="0" y="38100"/>
                </a:lnTo>
                <a:lnTo>
                  <a:pt x="64008" y="70104"/>
                </a:lnTo>
                <a:lnTo>
                  <a:pt x="76200" y="76200"/>
                </a:lnTo>
                <a:lnTo>
                  <a:pt x="76200" y="44958"/>
                </a:lnTo>
                <a:lnTo>
                  <a:pt x="685800" y="44958"/>
                </a:lnTo>
                <a:lnTo>
                  <a:pt x="685800" y="76200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4419600" h="857250">
                <a:moveTo>
                  <a:pt x="4419587" y="647700"/>
                </a:moveTo>
                <a:lnTo>
                  <a:pt x="4343387" y="609600"/>
                </a:lnTo>
                <a:lnTo>
                  <a:pt x="4343387" y="641604"/>
                </a:lnTo>
                <a:lnTo>
                  <a:pt x="4038587" y="641604"/>
                </a:lnTo>
                <a:lnTo>
                  <a:pt x="4038587" y="609600"/>
                </a:lnTo>
                <a:lnTo>
                  <a:pt x="3969245" y="644271"/>
                </a:lnTo>
                <a:lnTo>
                  <a:pt x="3969245" y="571500"/>
                </a:lnTo>
                <a:lnTo>
                  <a:pt x="3956304" y="571500"/>
                </a:lnTo>
                <a:lnTo>
                  <a:pt x="3956304" y="857250"/>
                </a:lnTo>
                <a:lnTo>
                  <a:pt x="3969245" y="857250"/>
                </a:lnTo>
                <a:lnTo>
                  <a:pt x="3969245" y="651129"/>
                </a:lnTo>
                <a:lnTo>
                  <a:pt x="4026408" y="679704"/>
                </a:lnTo>
                <a:lnTo>
                  <a:pt x="4038587" y="685800"/>
                </a:lnTo>
                <a:lnTo>
                  <a:pt x="4038587" y="654558"/>
                </a:lnTo>
                <a:lnTo>
                  <a:pt x="4343387" y="654558"/>
                </a:lnTo>
                <a:lnTo>
                  <a:pt x="4343387" y="685800"/>
                </a:lnTo>
                <a:lnTo>
                  <a:pt x="4356354" y="679310"/>
                </a:lnTo>
                <a:lnTo>
                  <a:pt x="4419587" y="647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4B492CA-6A49-DFB0-E2DE-1471A233A600}"/>
              </a:ext>
            </a:extLst>
          </p:cNvPr>
          <p:cNvSpPr txBox="1"/>
          <p:nvPr/>
        </p:nvSpPr>
        <p:spPr>
          <a:xfrm>
            <a:off x="7652131" y="24584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CA5F3BBB-04C3-F2EE-1328-188AA1B217B3}"/>
              </a:ext>
            </a:extLst>
          </p:cNvPr>
          <p:cNvGrpSpPr/>
          <p:nvPr/>
        </p:nvGrpSpPr>
        <p:grpSpPr>
          <a:xfrm>
            <a:off x="8007743" y="2628900"/>
            <a:ext cx="969010" cy="292100"/>
            <a:chOff x="8007743" y="2628900"/>
            <a:chExt cx="969010" cy="29210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9BB0E0D-B08D-C57B-D226-9F0F1C6BDB9A}"/>
                </a:ext>
              </a:extLst>
            </p:cNvPr>
            <p:cNvSpPr/>
            <p:nvPr/>
          </p:nvSpPr>
          <p:spPr>
            <a:xfrm>
              <a:off x="8013827" y="2634995"/>
              <a:ext cx="956310" cy="285750"/>
            </a:xfrm>
            <a:custGeom>
              <a:avLst/>
              <a:gdLst/>
              <a:ahLst/>
              <a:cxnLst/>
              <a:rect l="l" t="t" r="r" b="b"/>
              <a:pathLst>
                <a:path w="956309" h="285750">
                  <a:moveTo>
                    <a:pt x="956309" y="2857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956309" y="2857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DFAE2F2B-C0FC-0C34-6950-794DE46A8848}"/>
                </a:ext>
              </a:extLst>
            </p:cNvPr>
            <p:cNvSpPr/>
            <p:nvPr/>
          </p:nvSpPr>
          <p:spPr>
            <a:xfrm>
              <a:off x="8007743" y="2628900"/>
              <a:ext cx="969010" cy="292100"/>
            </a:xfrm>
            <a:custGeom>
              <a:avLst/>
              <a:gdLst/>
              <a:ahLst/>
              <a:cxnLst/>
              <a:rect l="l" t="t" r="r" b="b"/>
              <a:pathLst>
                <a:path w="969009" h="292100">
                  <a:moveTo>
                    <a:pt x="968501" y="291845"/>
                  </a:moveTo>
                  <a:lnTo>
                    <a:pt x="968501" y="0"/>
                  </a:lnTo>
                  <a:lnTo>
                    <a:pt x="0" y="0"/>
                  </a:lnTo>
                  <a:lnTo>
                    <a:pt x="0" y="291845"/>
                  </a:lnTo>
                  <a:lnTo>
                    <a:pt x="6083" y="291845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955548" y="12954"/>
                  </a:lnTo>
                  <a:lnTo>
                    <a:pt x="955548" y="6095"/>
                  </a:lnTo>
                  <a:lnTo>
                    <a:pt x="962406" y="12954"/>
                  </a:lnTo>
                  <a:lnTo>
                    <a:pt x="962406" y="291845"/>
                  </a:lnTo>
                  <a:lnTo>
                    <a:pt x="968501" y="291845"/>
                  </a:lnTo>
                  <a:close/>
                </a:path>
                <a:path w="969009" h="292100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969009" h="292100">
                  <a:moveTo>
                    <a:pt x="12954" y="291845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291845"/>
                  </a:lnTo>
                  <a:lnTo>
                    <a:pt x="12954" y="291845"/>
                  </a:lnTo>
                  <a:close/>
                </a:path>
                <a:path w="969009" h="292100">
                  <a:moveTo>
                    <a:pt x="962406" y="12954"/>
                  </a:moveTo>
                  <a:lnTo>
                    <a:pt x="955548" y="6095"/>
                  </a:lnTo>
                  <a:lnTo>
                    <a:pt x="955548" y="12954"/>
                  </a:lnTo>
                  <a:lnTo>
                    <a:pt x="962406" y="12954"/>
                  </a:lnTo>
                  <a:close/>
                </a:path>
                <a:path w="969009" h="292100">
                  <a:moveTo>
                    <a:pt x="962406" y="291845"/>
                  </a:moveTo>
                  <a:lnTo>
                    <a:pt x="962406" y="12954"/>
                  </a:lnTo>
                  <a:lnTo>
                    <a:pt x="955548" y="12954"/>
                  </a:lnTo>
                  <a:lnTo>
                    <a:pt x="955548" y="291845"/>
                  </a:lnTo>
                  <a:lnTo>
                    <a:pt x="962406" y="29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A07DC312-F0B3-A838-412D-4982E993975F}"/>
              </a:ext>
            </a:extLst>
          </p:cNvPr>
          <p:cNvSpPr txBox="1"/>
          <p:nvPr/>
        </p:nvSpPr>
        <p:spPr>
          <a:xfrm>
            <a:off x="8252586" y="2661158"/>
            <a:ext cx="4800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B1108A08-CDF6-DD2E-F1FF-2222336866F3}"/>
              </a:ext>
            </a:extLst>
          </p:cNvPr>
          <p:cNvGrpSpPr/>
          <p:nvPr/>
        </p:nvGrpSpPr>
        <p:grpSpPr>
          <a:xfrm>
            <a:off x="774839" y="2920745"/>
            <a:ext cx="9144000" cy="857250"/>
            <a:chOff x="774839" y="2920745"/>
            <a:chExt cx="9144000" cy="857250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886F73D6-FE42-07DE-D1A6-A48CB099109D}"/>
                </a:ext>
              </a:extLst>
            </p:cNvPr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3EABA174-1163-934E-5E89-E786D435AE8B}"/>
                </a:ext>
              </a:extLst>
            </p:cNvPr>
            <p:cNvSpPr/>
            <p:nvPr/>
          </p:nvSpPr>
          <p:spPr>
            <a:xfrm>
              <a:off x="1994039" y="2970288"/>
              <a:ext cx="7086600" cy="152400"/>
            </a:xfrm>
            <a:custGeom>
              <a:avLst/>
              <a:gdLst/>
              <a:ahLst/>
              <a:cxnLst/>
              <a:rect l="l" t="t" r="r" b="b"/>
              <a:pathLst>
                <a:path w="7086600" h="152400">
                  <a:moveTo>
                    <a:pt x="7086600" y="39624"/>
                  </a:moveTo>
                  <a:lnTo>
                    <a:pt x="6976097" y="39624"/>
                  </a:lnTo>
                  <a:lnTo>
                    <a:pt x="6976097" y="45720"/>
                  </a:lnTo>
                  <a:lnTo>
                    <a:pt x="6019787" y="45720"/>
                  </a:lnTo>
                  <a:lnTo>
                    <a:pt x="6019787" y="39624"/>
                  </a:lnTo>
                  <a:lnTo>
                    <a:pt x="2216658" y="39624"/>
                  </a:lnTo>
                  <a:lnTo>
                    <a:pt x="2216658" y="0"/>
                  </a:lnTo>
                  <a:lnTo>
                    <a:pt x="2203704" y="0"/>
                  </a:lnTo>
                  <a:lnTo>
                    <a:pt x="2203704" y="39624"/>
                  </a:lnTo>
                  <a:lnTo>
                    <a:pt x="1600187" y="39624"/>
                  </a:lnTo>
                  <a:lnTo>
                    <a:pt x="1600187" y="45720"/>
                  </a:lnTo>
                  <a:lnTo>
                    <a:pt x="990600" y="45720"/>
                  </a:lnTo>
                  <a:lnTo>
                    <a:pt x="990600" y="39624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0" y="52578"/>
                  </a:lnTo>
                  <a:lnTo>
                    <a:pt x="2203704" y="52578"/>
                  </a:lnTo>
                  <a:lnTo>
                    <a:pt x="2203704" y="152400"/>
                  </a:lnTo>
                  <a:lnTo>
                    <a:pt x="2216658" y="152400"/>
                  </a:lnTo>
                  <a:lnTo>
                    <a:pt x="2216658" y="52578"/>
                  </a:lnTo>
                  <a:lnTo>
                    <a:pt x="4952987" y="52578"/>
                  </a:lnTo>
                  <a:lnTo>
                    <a:pt x="4952987" y="45720"/>
                  </a:lnTo>
                  <a:lnTo>
                    <a:pt x="5562587" y="45720"/>
                  </a:lnTo>
                  <a:lnTo>
                    <a:pt x="5562587" y="52578"/>
                  </a:lnTo>
                  <a:lnTo>
                    <a:pt x="7086600" y="52578"/>
                  </a:lnTo>
                  <a:lnTo>
                    <a:pt x="7086600" y="45720"/>
                  </a:lnTo>
                  <a:lnTo>
                    <a:pt x="7086600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7A6B21F-F6D0-92BA-4CA1-C38875306775}"/>
                </a:ext>
              </a:extLst>
            </p:cNvPr>
            <p:cNvSpPr/>
            <p:nvPr/>
          </p:nvSpPr>
          <p:spPr>
            <a:xfrm>
              <a:off x="4356239" y="2920745"/>
              <a:ext cx="1600200" cy="952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1B30DB80-CB8C-6C8C-5BE3-89CC4F32E712}"/>
                </a:ext>
              </a:extLst>
            </p:cNvPr>
            <p:cNvSpPr/>
            <p:nvPr/>
          </p:nvSpPr>
          <p:spPr>
            <a:xfrm>
              <a:off x="4350143" y="2920758"/>
              <a:ext cx="1613535" cy="102235"/>
            </a:xfrm>
            <a:custGeom>
              <a:avLst/>
              <a:gdLst/>
              <a:ahLst/>
              <a:cxnLst/>
              <a:rect l="l" t="t" r="r" b="b"/>
              <a:pathLst>
                <a:path w="1613535" h="102235">
                  <a:moveTo>
                    <a:pt x="1613154" y="0"/>
                  </a:moveTo>
                  <a:lnTo>
                    <a:pt x="1600200" y="0"/>
                  </a:lnTo>
                  <a:lnTo>
                    <a:pt x="1600200" y="89154"/>
                  </a:lnTo>
                  <a:lnTo>
                    <a:pt x="1184148" y="89154"/>
                  </a:lnTo>
                  <a:lnTo>
                    <a:pt x="1184148" y="0"/>
                  </a:lnTo>
                  <a:lnTo>
                    <a:pt x="1173480" y="0"/>
                  </a:lnTo>
                  <a:lnTo>
                    <a:pt x="1173480" y="89154"/>
                  </a:lnTo>
                  <a:lnTo>
                    <a:pt x="1079754" y="89154"/>
                  </a:lnTo>
                  <a:lnTo>
                    <a:pt x="1079754" y="0"/>
                  </a:lnTo>
                  <a:lnTo>
                    <a:pt x="1066800" y="0"/>
                  </a:lnTo>
                  <a:lnTo>
                    <a:pt x="1066800" y="89154"/>
                  </a:lnTo>
                  <a:lnTo>
                    <a:pt x="973061" y="89154"/>
                  </a:lnTo>
                  <a:lnTo>
                    <a:pt x="973061" y="0"/>
                  </a:lnTo>
                  <a:lnTo>
                    <a:pt x="960120" y="0"/>
                  </a:lnTo>
                  <a:lnTo>
                    <a:pt x="960120" y="89154"/>
                  </a:lnTo>
                  <a:lnTo>
                    <a:pt x="866394" y="89154"/>
                  </a:lnTo>
                  <a:lnTo>
                    <a:pt x="866394" y="0"/>
                  </a:lnTo>
                  <a:lnTo>
                    <a:pt x="853440" y="0"/>
                  </a:lnTo>
                  <a:lnTo>
                    <a:pt x="853440" y="89154"/>
                  </a:lnTo>
                  <a:lnTo>
                    <a:pt x="759714" y="89154"/>
                  </a:lnTo>
                  <a:lnTo>
                    <a:pt x="759714" y="0"/>
                  </a:lnTo>
                  <a:lnTo>
                    <a:pt x="746760" y="0"/>
                  </a:lnTo>
                  <a:lnTo>
                    <a:pt x="746760" y="89154"/>
                  </a:lnTo>
                  <a:lnTo>
                    <a:pt x="653021" y="89154"/>
                  </a:lnTo>
                  <a:lnTo>
                    <a:pt x="653021" y="0"/>
                  </a:lnTo>
                  <a:lnTo>
                    <a:pt x="640080" y="0"/>
                  </a:lnTo>
                  <a:lnTo>
                    <a:pt x="640080" y="89154"/>
                  </a:lnTo>
                  <a:lnTo>
                    <a:pt x="546354" y="89154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89154"/>
                  </a:lnTo>
                  <a:lnTo>
                    <a:pt x="439661" y="89154"/>
                  </a:lnTo>
                  <a:lnTo>
                    <a:pt x="439661" y="0"/>
                  </a:lnTo>
                  <a:lnTo>
                    <a:pt x="426720" y="0"/>
                  </a:lnTo>
                  <a:lnTo>
                    <a:pt x="426720" y="89154"/>
                  </a:lnTo>
                  <a:lnTo>
                    <a:pt x="332994" y="89154"/>
                  </a:lnTo>
                  <a:lnTo>
                    <a:pt x="332994" y="0"/>
                  </a:lnTo>
                  <a:lnTo>
                    <a:pt x="320040" y="0"/>
                  </a:lnTo>
                  <a:lnTo>
                    <a:pt x="320040" y="89154"/>
                  </a:lnTo>
                  <a:lnTo>
                    <a:pt x="226314" y="89154"/>
                  </a:lnTo>
                  <a:lnTo>
                    <a:pt x="226314" y="0"/>
                  </a:lnTo>
                  <a:lnTo>
                    <a:pt x="213360" y="0"/>
                  </a:lnTo>
                  <a:lnTo>
                    <a:pt x="213360" y="89154"/>
                  </a:lnTo>
                  <a:lnTo>
                    <a:pt x="119621" y="89154"/>
                  </a:lnTo>
                  <a:lnTo>
                    <a:pt x="119621" y="0"/>
                  </a:lnTo>
                  <a:lnTo>
                    <a:pt x="106680" y="0"/>
                  </a:lnTo>
                  <a:lnTo>
                    <a:pt x="106680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96" y="102108"/>
                  </a:lnTo>
                  <a:lnTo>
                    <a:pt x="12954" y="102108"/>
                  </a:lnTo>
                  <a:lnTo>
                    <a:pt x="1600200" y="102108"/>
                  </a:lnTo>
                  <a:lnTo>
                    <a:pt x="1606296" y="102108"/>
                  </a:lnTo>
                  <a:lnTo>
                    <a:pt x="1613154" y="102108"/>
                  </a:lnTo>
                  <a:lnTo>
                    <a:pt x="1613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F77EE627-38CF-CAD4-4232-390A6521B031}"/>
                </a:ext>
              </a:extLst>
            </p:cNvPr>
            <p:cNvSpPr/>
            <p:nvPr/>
          </p:nvSpPr>
          <p:spPr>
            <a:xfrm>
              <a:off x="5534291" y="2920745"/>
              <a:ext cx="955675" cy="95250"/>
            </a:xfrm>
            <a:custGeom>
              <a:avLst/>
              <a:gdLst/>
              <a:ahLst/>
              <a:cxnLst/>
              <a:rect l="l" t="t" r="r" b="b"/>
              <a:pathLst>
                <a:path w="955675" h="95250">
                  <a:moveTo>
                    <a:pt x="955548" y="95250"/>
                  </a:moveTo>
                  <a:lnTo>
                    <a:pt x="955548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5548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121E7FD8-9B2E-2032-BB87-F50B06E1A0E8}"/>
                </a:ext>
              </a:extLst>
            </p:cNvPr>
            <p:cNvSpPr/>
            <p:nvPr/>
          </p:nvSpPr>
          <p:spPr>
            <a:xfrm>
              <a:off x="4356240" y="2920758"/>
              <a:ext cx="2140585" cy="240029"/>
            </a:xfrm>
            <a:custGeom>
              <a:avLst/>
              <a:gdLst/>
              <a:ahLst/>
              <a:cxnLst/>
              <a:rect l="l" t="t" r="r" b="b"/>
              <a:pathLst>
                <a:path w="2140585" h="240030">
                  <a:moveTo>
                    <a:pt x="2140458" y="0"/>
                  </a:moveTo>
                  <a:lnTo>
                    <a:pt x="2127504" y="0"/>
                  </a:lnTo>
                  <a:lnTo>
                    <a:pt x="2127504" y="89154"/>
                  </a:lnTo>
                  <a:lnTo>
                    <a:pt x="1184910" y="89154"/>
                  </a:lnTo>
                  <a:lnTo>
                    <a:pt x="1184910" y="0"/>
                  </a:lnTo>
                  <a:lnTo>
                    <a:pt x="1171956" y="0"/>
                  </a:lnTo>
                  <a:lnTo>
                    <a:pt x="1171956" y="102108"/>
                  </a:lnTo>
                  <a:lnTo>
                    <a:pt x="1178052" y="102108"/>
                  </a:lnTo>
                  <a:lnTo>
                    <a:pt x="1184910" y="102108"/>
                  </a:lnTo>
                  <a:lnTo>
                    <a:pt x="1594104" y="102108"/>
                  </a:lnTo>
                  <a:lnTo>
                    <a:pt x="1594104" y="198882"/>
                  </a:lnTo>
                  <a:lnTo>
                    <a:pt x="1524000" y="163830"/>
                  </a:lnTo>
                  <a:lnTo>
                    <a:pt x="1524000" y="195834"/>
                  </a:lnTo>
                  <a:lnTo>
                    <a:pt x="76200" y="195834"/>
                  </a:lnTo>
                  <a:lnTo>
                    <a:pt x="76200" y="163830"/>
                  </a:lnTo>
                  <a:lnTo>
                    <a:pt x="0" y="201930"/>
                  </a:lnTo>
                  <a:lnTo>
                    <a:pt x="64008" y="233934"/>
                  </a:lnTo>
                  <a:lnTo>
                    <a:pt x="76200" y="240030"/>
                  </a:lnTo>
                  <a:lnTo>
                    <a:pt x="76200" y="208026"/>
                  </a:lnTo>
                  <a:lnTo>
                    <a:pt x="1524000" y="208026"/>
                  </a:lnTo>
                  <a:lnTo>
                    <a:pt x="1524000" y="240030"/>
                  </a:lnTo>
                  <a:lnTo>
                    <a:pt x="1536954" y="233553"/>
                  </a:lnTo>
                  <a:lnTo>
                    <a:pt x="1600200" y="201930"/>
                  </a:lnTo>
                  <a:lnTo>
                    <a:pt x="1607058" y="201930"/>
                  </a:lnTo>
                  <a:lnTo>
                    <a:pt x="1607058" y="102108"/>
                  </a:lnTo>
                  <a:lnTo>
                    <a:pt x="2127504" y="102108"/>
                  </a:lnTo>
                  <a:lnTo>
                    <a:pt x="2133587" y="102108"/>
                  </a:lnTo>
                  <a:lnTo>
                    <a:pt x="2140458" y="102108"/>
                  </a:lnTo>
                  <a:lnTo>
                    <a:pt x="2140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E6EA4A25-A565-7F43-9A78-30F5D2F4B20D}"/>
              </a:ext>
            </a:extLst>
          </p:cNvPr>
          <p:cNvSpPr txBox="1"/>
          <p:nvPr/>
        </p:nvSpPr>
        <p:spPr>
          <a:xfrm>
            <a:off x="4419727" y="3160267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CWmin‐1</a:t>
            </a:r>
            <a:r>
              <a:rPr kumimoji="0" sz="12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474E0D30-E704-A043-9BBD-A9105AB5CF67}"/>
              </a:ext>
            </a:extLst>
          </p:cNvPr>
          <p:cNvGrpSpPr/>
          <p:nvPr/>
        </p:nvGrpSpPr>
        <p:grpSpPr>
          <a:xfrm>
            <a:off x="2064143" y="2025395"/>
            <a:ext cx="2299335" cy="1752600"/>
            <a:chOff x="2064143" y="2025395"/>
            <a:chExt cx="2299335" cy="1752600"/>
          </a:xfrm>
        </p:grpSpPr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3A2F905D-967E-198F-A51E-0A04E3193DCE}"/>
                </a:ext>
              </a:extLst>
            </p:cNvPr>
            <p:cNvSpPr/>
            <p:nvPr/>
          </p:nvSpPr>
          <p:spPr>
            <a:xfrm>
              <a:off x="2070239" y="3015995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38100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4572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A2A29B50-9397-3433-402F-35B19968147E}"/>
                </a:ext>
              </a:extLst>
            </p:cNvPr>
            <p:cNvSpPr/>
            <p:nvPr/>
          </p:nvSpPr>
          <p:spPr>
            <a:xfrm>
              <a:off x="2064143" y="3009899"/>
              <a:ext cx="470534" cy="394335"/>
            </a:xfrm>
            <a:custGeom>
              <a:avLst/>
              <a:gdLst/>
              <a:ahLst/>
              <a:cxnLst/>
              <a:rect l="l" t="t" r="r" b="b"/>
              <a:pathLst>
                <a:path w="470535" h="394335">
                  <a:moveTo>
                    <a:pt x="470154" y="393953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457200" y="12954"/>
                  </a:lnTo>
                  <a:lnTo>
                    <a:pt x="457200" y="6095"/>
                  </a:lnTo>
                  <a:lnTo>
                    <a:pt x="463295" y="12954"/>
                  </a:lnTo>
                  <a:lnTo>
                    <a:pt x="463295" y="393953"/>
                  </a:lnTo>
                  <a:lnTo>
                    <a:pt x="470154" y="393953"/>
                  </a:lnTo>
                  <a:close/>
                </a:path>
                <a:path w="470535" h="394335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4705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457200" y="393953"/>
                  </a:lnTo>
                  <a:lnTo>
                    <a:pt x="457200" y="387096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470535" h="394335">
                  <a:moveTo>
                    <a:pt x="463295" y="12954"/>
                  </a:moveTo>
                  <a:lnTo>
                    <a:pt x="457200" y="6095"/>
                  </a:lnTo>
                  <a:lnTo>
                    <a:pt x="457200" y="12954"/>
                  </a:lnTo>
                  <a:lnTo>
                    <a:pt x="463295" y="12954"/>
                  </a:lnTo>
                  <a:close/>
                </a:path>
                <a:path w="470535" h="394335">
                  <a:moveTo>
                    <a:pt x="463295" y="381000"/>
                  </a:moveTo>
                  <a:lnTo>
                    <a:pt x="463295" y="12954"/>
                  </a:lnTo>
                  <a:lnTo>
                    <a:pt x="457200" y="12954"/>
                  </a:lnTo>
                  <a:lnTo>
                    <a:pt x="457200" y="381000"/>
                  </a:lnTo>
                  <a:lnTo>
                    <a:pt x="463295" y="381000"/>
                  </a:lnTo>
                  <a:close/>
                </a:path>
                <a:path w="470535" h="394335">
                  <a:moveTo>
                    <a:pt x="463295" y="393953"/>
                  </a:moveTo>
                  <a:lnTo>
                    <a:pt x="463295" y="381000"/>
                  </a:lnTo>
                  <a:lnTo>
                    <a:pt x="457200" y="387096"/>
                  </a:lnTo>
                  <a:lnTo>
                    <a:pt x="457200" y="393953"/>
                  </a:lnTo>
                  <a:lnTo>
                    <a:pt x="4632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0BF1056B-9177-2D04-67C9-614D691EB2F6}"/>
                </a:ext>
              </a:extLst>
            </p:cNvPr>
            <p:cNvSpPr/>
            <p:nvPr/>
          </p:nvSpPr>
          <p:spPr>
            <a:xfrm>
              <a:off x="2984639" y="2920745"/>
              <a:ext cx="609600" cy="95250"/>
            </a:xfrm>
            <a:custGeom>
              <a:avLst/>
              <a:gdLst/>
              <a:ahLst/>
              <a:cxnLst/>
              <a:rect l="l" t="t" r="r" b="b"/>
              <a:pathLst>
                <a:path w="609600" h="95250">
                  <a:moveTo>
                    <a:pt x="609599" y="9525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60959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014A745A-2D55-EB11-A435-B3C6A75A7A26}"/>
                </a:ext>
              </a:extLst>
            </p:cNvPr>
            <p:cNvSpPr/>
            <p:nvPr/>
          </p:nvSpPr>
          <p:spPr>
            <a:xfrm>
              <a:off x="2521343" y="2025408"/>
              <a:ext cx="1842135" cy="1752600"/>
            </a:xfrm>
            <a:custGeom>
              <a:avLst/>
              <a:gdLst/>
              <a:ahLst/>
              <a:cxnLst/>
              <a:rect l="l" t="t" r="r" b="b"/>
              <a:pathLst>
                <a:path w="1842135" h="1752600">
                  <a:moveTo>
                    <a:pt x="12954" y="895350"/>
                  </a:moveTo>
                  <a:lnTo>
                    <a:pt x="0" y="895350"/>
                  </a:lnTo>
                  <a:lnTo>
                    <a:pt x="0" y="990600"/>
                  </a:lnTo>
                  <a:lnTo>
                    <a:pt x="12954" y="990600"/>
                  </a:lnTo>
                  <a:lnTo>
                    <a:pt x="12954" y="895350"/>
                  </a:lnTo>
                  <a:close/>
                </a:path>
                <a:path w="1842135" h="1752600">
                  <a:moveTo>
                    <a:pt x="1079754" y="895350"/>
                  </a:moveTo>
                  <a:lnTo>
                    <a:pt x="1079741" y="0"/>
                  </a:lnTo>
                  <a:lnTo>
                    <a:pt x="1066787" y="0"/>
                  </a:lnTo>
                  <a:lnTo>
                    <a:pt x="1066787" y="984504"/>
                  </a:lnTo>
                  <a:lnTo>
                    <a:pt x="470154" y="984504"/>
                  </a:lnTo>
                  <a:lnTo>
                    <a:pt x="470154" y="895350"/>
                  </a:lnTo>
                  <a:lnTo>
                    <a:pt x="457200" y="895350"/>
                  </a:lnTo>
                  <a:lnTo>
                    <a:pt x="457200" y="997458"/>
                  </a:lnTo>
                  <a:lnTo>
                    <a:pt x="463296" y="997458"/>
                  </a:lnTo>
                  <a:lnTo>
                    <a:pt x="470154" y="997458"/>
                  </a:lnTo>
                  <a:lnTo>
                    <a:pt x="1066800" y="997458"/>
                  </a:lnTo>
                  <a:lnTo>
                    <a:pt x="1072896" y="997458"/>
                  </a:lnTo>
                  <a:lnTo>
                    <a:pt x="1079754" y="997458"/>
                  </a:lnTo>
                  <a:lnTo>
                    <a:pt x="1079754" y="895350"/>
                  </a:lnTo>
                  <a:close/>
                </a:path>
                <a:path w="1842135" h="1752600">
                  <a:moveTo>
                    <a:pt x="1536954" y="895350"/>
                  </a:moveTo>
                  <a:lnTo>
                    <a:pt x="1524000" y="895350"/>
                  </a:lnTo>
                  <a:lnTo>
                    <a:pt x="1524000" y="990600"/>
                  </a:lnTo>
                  <a:lnTo>
                    <a:pt x="1536954" y="990600"/>
                  </a:lnTo>
                  <a:lnTo>
                    <a:pt x="1536954" y="895350"/>
                  </a:lnTo>
                  <a:close/>
                </a:path>
                <a:path w="1842135" h="1752600">
                  <a:moveTo>
                    <a:pt x="1689354" y="895350"/>
                  </a:moveTo>
                  <a:lnTo>
                    <a:pt x="1676400" y="895350"/>
                  </a:lnTo>
                  <a:lnTo>
                    <a:pt x="1676400" y="990600"/>
                  </a:lnTo>
                  <a:lnTo>
                    <a:pt x="1689354" y="990600"/>
                  </a:lnTo>
                  <a:lnTo>
                    <a:pt x="1689354" y="895350"/>
                  </a:lnTo>
                  <a:close/>
                </a:path>
                <a:path w="1842135" h="1752600">
                  <a:moveTo>
                    <a:pt x="1841741" y="0"/>
                  </a:moveTo>
                  <a:lnTo>
                    <a:pt x="1828787" y="0"/>
                  </a:lnTo>
                  <a:lnTo>
                    <a:pt x="1828787" y="990600"/>
                  </a:lnTo>
                  <a:lnTo>
                    <a:pt x="1841741" y="990600"/>
                  </a:lnTo>
                  <a:lnTo>
                    <a:pt x="1841741" y="0"/>
                  </a:lnTo>
                  <a:close/>
                </a:path>
                <a:path w="1842135" h="1752600">
                  <a:moveTo>
                    <a:pt x="1841754" y="1066800"/>
                  </a:moveTo>
                  <a:lnTo>
                    <a:pt x="1828800" y="1066800"/>
                  </a:lnTo>
                  <a:lnTo>
                    <a:pt x="1828800" y="1752600"/>
                  </a:lnTo>
                  <a:lnTo>
                    <a:pt x="1841754" y="1752600"/>
                  </a:lnTo>
                  <a:lnTo>
                    <a:pt x="1841754" y="106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405BDFFC-7B25-3BCF-0E21-D4A219EAD26A}"/>
              </a:ext>
            </a:extLst>
          </p:cNvPr>
          <p:cNvSpPr txBox="1"/>
          <p:nvPr/>
        </p:nvSpPr>
        <p:spPr>
          <a:xfrm>
            <a:off x="2603119" y="3176269"/>
            <a:ext cx="382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13A2BA3-1DBA-2995-53FA-59EBCFBE89CE}"/>
              </a:ext>
            </a:extLst>
          </p:cNvPr>
          <p:cNvSpPr txBox="1"/>
          <p:nvPr/>
        </p:nvSpPr>
        <p:spPr>
          <a:xfrm>
            <a:off x="2488051" y="3389626"/>
            <a:ext cx="6127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AE95BBE-CD6A-AF31-D8FF-65C370BC3A16}"/>
              </a:ext>
            </a:extLst>
          </p:cNvPr>
          <p:cNvSpPr txBox="1"/>
          <p:nvPr/>
        </p:nvSpPr>
        <p:spPr>
          <a:xfrm>
            <a:off x="3447403" y="3525254"/>
            <a:ext cx="4464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DAEADC31-641F-4ACD-B994-CFD633D34144}"/>
              </a:ext>
            </a:extLst>
          </p:cNvPr>
          <p:cNvSpPr/>
          <p:nvPr/>
        </p:nvSpPr>
        <p:spPr>
          <a:xfrm>
            <a:off x="3975239" y="3016008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381000" y="762000"/>
                </a:moveTo>
                <a:lnTo>
                  <a:pt x="304800" y="723900"/>
                </a:lnTo>
                <a:lnTo>
                  <a:pt x="304800" y="755904"/>
                </a:lnTo>
                <a:lnTo>
                  <a:pt x="0" y="755904"/>
                </a:lnTo>
                <a:lnTo>
                  <a:pt x="0" y="762000"/>
                </a:lnTo>
                <a:lnTo>
                  <a:pt x="317754" y="762000"/>
                </a:lnTo>
                <a:lnTo>
                  <a:pt x="381000" y="762000"/>
                </a:lnTo>
                <a:close/>
              </a:path>
              <a:path w="2971800" h="762000">
                <a:moveTo>
                  <a:pt x="2057400" y="755904"/>
                </a:moveTo>
                <a:lnTo>
                  <a:pt x="457200" y="755904"/>
                </a:lnTo>
                <a:lnTo>
                  <a:pt x="457200" y="723900"/>
                </a:lnTo>
                <a:lnTo>
                  <a:pt x="381000" y="762000"/>
                </a:lnTo>
                <a:lnTo>
                  <a:pt x="445008" y="762000"/>
                </a:lnTo>
                <a:lnTo>
                  <a:pt x="2057400" y="762000"/>
                </a:lnTo>
                <a:lnTo>
                  <a:pt x="2057400" y="755904"/>
                </a:lnTo>
                <a:close/>
              </a:path>
              <a:path w="2971800" h="762000">
                <a:moveTo>
                  <a:pt x="2971787" y="304800"/>
                </a:moveTo>
                <a:lnTo>
                  <a:pt x="2895587" y="266700"/>
                </a:lnTo>
                <a:lnTo>
                  <a:pt x="2895587" y="298704"/>
                </a:lnTo>
                <a:lnTo>
                  <a:pt x="2590787" y="298704"/>
                </a:lnTo>
                <a:lnTo>
                  <a:pt x="2590787" y="266700"/>
                </a:lnTo>
                <a:lnTo>
                  <a:pt x="2521458" y="301371"/>
                </a:lnTo>
                <a:lnTo>
                  <a:pt x="2521458" y="0"/>
                </a:lnTo>
                <a:lnTo>
                  <a:pt x="2508504" y="0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08241"/>
                </a:lnTo>
                <a:lnTo>
                  <a:pt x="2578582" y="336804"/>
                </a:lnTo>
                <a:lnTo>
                  <a:pt x="2590787" y="342900"/>
                </a:lnTo>
                <a:lnTo>
                  <a:pt x="2590787" y="311658"/>
                </a:lnTo>
                <a:lnTo>
                  <a:pt x="2895587" y="311658"/>
                </a:lnTo>
                <a:lnTo>
                  <a:pt x="2895587" y="342900"/>
                </a:lnTo>
                <a:lnTo>
                  <a:pt x="2908541" y="336423"/>
                </a:lnTo>
                <a:lnTo>
                  <a:pt x="2971787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2FBE4210-02EC-D5A5-5948-0BD03DDBE21A}"/>
              </a:ext>
            </a:extLst>
          </p:cNvPr>
          <p:cNvSpPr txBox="1"/>
          <p:nvPr/>
        </p:nvSpPr>
        <p:spPr>
          <a:xfrm>
            <a:off x="6585331" y="3068066"/>
            <a:ext cx="342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8F25EB3E-0904-2ED9-B2A1-494885381706}"/>
              </a:ext>
            </a:extLst>
          </p:cNvPr>
          <p:cNvGrpSpPr/>
          <p:nvPr/>
        </p:nvGrpSpPr>
        <p:grpSpPr>
          <a:xfrm>
            <a:off x="6940943" y="3009900"/>
            <a:ext cx="622935" cy="394335"/>
            <a:chOff x="6940943" y="3009900"/>
            <a:chExt cx="622935" cy="394335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8C6A25DE-CED9-97DE-0410-013DCA0F4918}"/>
                </a:ext>
              </a:extLst>
            </p:cNvPr>
            <p:cNvSpPr/>
            <p:nvPr/>
          </p:nvSpPr>
          <p:spPr>
            <a:xfrm>
              <a:off x="6947027" y="3015995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3810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6096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96600CA9-1CC8-0CCA-C66B-D33661EEADD2}"/>
                </a:ext>
              </a:extLst>
            </p:cNvPr>
            <p:cNvSpPr/>
            <p:nvPr/>
          </p:nvSpPr>
          <p:spPr>
            <a:xfrm>
              <a:off x="6940943" y="3009900"/>
              <a:ext cx="622935" cy="394335"/>
            </a:xfrm>
            <a:custGeom>
              <a:avLst/>
              <a:gdLst/>
              <a:ahLst/>
              <a:cxnLst/>
              <a:rect l="l" t="t" r="r" b="b"/>
              <a:pathLst>
                <a:path w="622934" h="394335">
                  <a:moveTo>
                    <a:pt x="622553" y="393953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09600" y="12954"/>
                  </a:lnTo>
                  <a:lnTo>
                    <a:pt x="609600" y="6096"/>
                  </a:lnTo>
                  <a:lnTo>
                    <a:pt x="615683" y="12954"/>
                  </a:lnTo>
                  <a:lnTo>
                    <a:pt x="615683" y="393953"/>
                  </a:lnTo>
                  <a:lnTo>
                    <a:pt x="622553" y="393953"/>
                  </a:lnTo>
                  <a:close/>
                </a:path>
                <a:path w="622934" h="394335">
                  <a:moveTo>
                    <a:pt x="12954" y="12954"/>
                  </a:moveTo>
                  <a:lnTo>
                    <a:pt x="12954" y="6096"/>
                  </a:lnTo>
                  <a:lnTo>
                    <a:pt x="6083" y="12954"/>
                  </a:lnTo>
                  <a:lnTo>
                    <a:pt x="12954" y="12954"/>
                  </a:lnTo>
                  <a:close/>
                </a:path>
                <a:path w="622934" h="394335">
                  <a:moveTo>
                    <a:pt x="12954" y="381000"/>
                  </a:moveTo>
                  <a:lnTo>
                    <a:pt x="12954" y="12954"/>
                  </a:lnTo>
                  <a:lnTo>
                    <a:pt x="6083" y="12954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609600" y="393953"/>
                  </a:lnTo>
                  <a:lnTo>
                    <a:pt x="609600" y="387096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622934" h="394335">
                  <a:moveTo>
                    <a:pt x="615683" y="12954"/>
                  </a:moveTo>
                  <a:lnTo>
                    <a:pt x="609600" y="6096"/>
                  </a:lnTo>
                  <a:lnTo>
                    <a:pt x="609600" y="12954"/>
                  </a:lnTo>
                  <a:lnTo>
                    <a:pt x="615683" y="12954"/>
                  </a:lnTo>
                  <a:close/>
                </a:path>
                <a:path w="622934" h="394335">
                  <a:moveTo>
                    <a:pt x="615683" y="381000"/>
                  </a:moveTo>
                  <a:lnTo>
                    <a:pt x="615683" y="12954"/>
                  </a:lnTo>
                  <a:lnTo>
                    <a:pt x="609600" y="12954"/>
                  </a:lnTo>
                  <a:lnTo>
                    <a:pt x="609600" y="381000"/>
                  </a:lnTo>
                  <a:lnTo>
                    <a:pt x="615683" y="381000"/>
                  </a:lnTo>
                  <a:close/>
                </a:path>
                <a:path w="622934" h="394335">
                  <a:moveTo>
                    <a:pt x="615683" y="393953"/>
                  </a:moveTo>
                  <a:lnTo>
                    <a:pt x="615683" y="381000"/>
                  </a:lnTo>
                  <a:lnTo>
                    <a:pt x="609600" y="387096"/>
                  </a:lnTo>
                  <a:lnTo>
                    <a:pt x="609600" y="393953"/>
                  </a:lnTo>
                  <a:lnTo>
                    <a:pt x="6156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3CE39713-EC3A-2BD3-0688-0010D27BA3A0}"/>
              </a:ext>
            </a:extLst>
          </p:cNvPr>
          <p:cNvSpPr txBox="1"/>
          <p:nvPr/>
        </p:nvSpPr>
        <p:spPr>
          <a:xfrm>
            <a:off x="6947027" y="3015995"/>
            <a:ext cx="609600" cy="3810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4460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CTS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DB26231F-945E-1523-8BB7-884572874B47}"/>
              </a:ext>
            </a:extLst>
          </p:cNvPr>
          <p:cNvGrpSpPr/>
          <p:nvPr/>
        </p:nvGrpSpPr>
        <p:grpSpPr>
          <a:xfrm>
            <a:off x="7550543" y="2920745"/>
            <a:ext cx="1426210" cy="666750"/>
            <a:chOff x="7550543" y="2920745"/>
            <a:chExt cx="1426210" cy="666750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6E29F7F7-5E86-21B0-DE34-333E7ACD4B02}"/>
                </a:ext>
              </a:extLst>
            </p:cNvPr>
            <p:cNvSpPr/>
            <p:nvPr/>
          </p:nvSpPr>
          <p:spPr>
            <a:xfrm>
              <a:off x="7550543" y="2920745"/>
              <a:ext cx="13335" cy="95250"/>
            </a:xfrm>
            <a:custGeom>
              <a:avLst/>
              <a:gdLst/>
              <a:ahLst/>
              <a:cxnLst/>
              <a:rect l="l" t="t" r="r" b="b"/>
              <a:pathLst>
                <a:path w="13334" h="95250">
                  <a:moveTo>
                    <a:pt x="12953" y="95250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12953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FFD0139E-37F8-3BED-B4CC-80F09BB81CF4}"/>
                </a:ext>
              </a:extLst>
            </p:cNvPr>
            <p:cNvSpPr/>
            <p:nvPr/>
          </p:nvSpPr>
          <p:spPr>
            <a:xfrm>
              <a:off x="8013827" y="2920745"/>
              <a:ext cx="956310" cy="95250"/>
            </a:xfrm>
            <a:custGeom>
              <a:avLst/>
              <a:gdLst/>
              <a:ahLst/>
              <a:cxnLst/>
              <a:rect l="l" t="t" r="r" b="b"/>
              <a:pathLst>
                <a:path w="956309" h="95250">
                  <a:moveTo>
                    <a:pt x="956309" y="95250"/>
                  </a:moveTo>
                  <a:lnTo>
                    <a:pt x="956309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956309" y="95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3EAFA24-1DE9-054B-FA0C-E067CB8BC6B5}"/>
                </a:ext>
              </a:extLst>
            </p:cNvPr>
            <p:cNvSpPr/>
            <p:nvPr/>
          </p:nvSpPr>
          <p:spPr>
            <a:xfrm>
              <a:off x="8007744" y="2920758"/>
              <a:ext cx="969010" cy="666750"/>
            </a:xfrm>
            <a:custGeom>
              <a:avLst/>
              <a:gdLst/>
              <a:ahLst/>
              <a:cxnLst/>
              <a:rect l="l" t="t" r="r" b="b"/>
              <a:pathLst>
                <a:path w="969009" h="666750">
                  <a:moveTo>
                    <a:pt x="844283" y="628650"/>
                  </a:moveTo>
                  <a:lnTo>
                    <a:pt x="768083" y="590550"/>
                  </a:lnTo>
                  <a:lnTo>
                    <a:pt x="768083" y="622554"/>
                  </a:lnTo>
                  <a:lnTo>
                    <a:pt x="310883" y="622554"/>
                  </a:lnTo>
                  <a:lnTo>
                    <a:pt x="310883" y="635508"/>
                  </a:lnTo>
                  <a:lnTo>
                    <a:pt x="768083" y="635508"/>
                  </a:lnTo>
                  <a:lnTo>
                    <a:pt x="768083" y="666750"/>
                  </a:lnTo>
                  <a:lnTo>
                    <a:pt x="781037" y="660273"/>
                  </a:lnTo>
                  <a:lnTo>
                    <a:pt x="844283" y="628650"/>
                  </a:lnTo>
                  <a:close/>
                </a:path>
                <a:path w="969009" h="666750">
                  <a:moveTo>
                    <a:pt x="968489" y="0"/>
                  </a:moveTo>
                  <a:lnTo>
                    <a:pt x="955548" y="0"/>
                  </a:lnTo>
                  <a:lnTo>
                    <a:pt x="955548" y="89154"/>
                  </a:lnTo>
                  <a:lnTo>
                    <a:pt x="12954" y="89154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083" y="102108"/>
                  </a:lnTo>
                  <a:lnTo>
                    <a:pt x="12954" y="102108"/>
                  </a:lnTo>
                  <a:lnTo>
                    <a:pt x="955548" y="102108"/>
                  </a:lnTo>
                  <a:lnTo>
                    <a:pt x="962406" y="102108"/>
                  </a:lnTo>
                  <a:lnTo>
                    <a:pt x="968489" y="102108"/>
                  </a:lnTo>
                  <a:lnTo>
                    <a:pt x="968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3" name="object 53">
            <a:extLst>
              <a:ext uri="{FF2B5EF4-FFF2-40B4-BE49-F238E27FC236}">
                <a16:creationId xmlns:a16="http://schemas.microsoft.com/office/drawing/2014/main" id="{F7A997B6-2F6F-E2F3-5580-C8102DC4283C}"/>
              </a:ext>
            </a:extLst>
          </p:cNvPr>
          <p:cNvSpPr txBox="1"/>
          <p:nvPr/>
        </p:nvSpPr>
        <p:spPr>
          <a:xfrm>
            <a:off x="8402701" y="3541267"/>
            <a:ext cx="3657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51E28AAE-C21C-1906-AC40-9DD640A8D408}"/>
              </a:ext>
            </a:extLst>
          </p:cNvPr>
          <p:cNvSpPr/>
          <p:nvPr/>
        </p:nvSpPr>
        <p:spPr>
          <a:xfrm>
            <a:off x="4350143" y="3777996"/>
            <a:ext cx="13335" cy="381000"/>
          </a:xfrm>
          <a:custGeom>
            <a:avLst/>
            <a:gdLst/>
            <a:ahLst/>
            <a:cxnLst/>
            <a:rect l="l" t="t" r="r" b="b"/>
            <a:pathLst>
              <a:path w="13335" h="381000">
                <a:moveTo>
                  <a:pt x="12953" y="381000"/>
                </a:moveTo>
                <a:lnTo>
                  <a:pt x="12953" y="0"/>
                </a:lnTo>
                <a:lnTo>
                  <a:pt x="0" y="0"/>
                </a:lnTo>
                <a:lnTo>
                  <a:pt x="0" y="381000"/>
                </a:lnTo>
                <a:lnTo>
                  <a:pt x="12953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9A4D30F4-09B3-ED67-9388-50BB8FB0FC96}"/>
              </a:ext>
            </a:extLst>
          </p:cNvPr>
          <p:cNvSpPr txBox="1"/>
          <p:nvPr/>
        </p:nvSpPr>
        <p:spPr>
          <a:xfrm>
            <a:off x="3413886" y="3738625"/>
            <a:ext cx="513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13D6D662-9961-9624-D1FC-0D75281CDEF8}"/>
              </a:ext>
            </a:extLst>
          </p:cNvPr>
          <p:cNvSpPr txBox="1"/>
          <p:nvPr/>
        </p:nvSpPr>
        <p:spPr>
          <a:xfrm>
            <a:off x="4633095" y="3753859"/>
            <a:ext cx="2874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080" lvl="0" indent="-24384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</a:t>
            </a:r>
            <a:r>
              <a:rPr kumimoji="0" sz="14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long</a:t>
            </a:r>
            <a:r>
              <a:rPr kumimoji="0" sz="14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4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idle, 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1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1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</a:t>
            </a:r>
            <a:r>
              <a:rPr kumimoji="0" sz="14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get</a:t>
            </a:r>
            <a:r>
              <a:rPr kumimoji="0" sz="1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DB3FA7F5-06C4-D461-C8E7-60A0BD22E115}"/>
              </a:ext>
            </a:extLst>
          </p:cNvPr>
          <p:cNvSpPr/>
          <p:nvPr/>
        </p:nvSpPr>
        <p:spPr>
          <a:xfrm>
            <a:off x="3975239" y="3778008"/>
            <a:ext cx="2057400" cy="38100"/>
          </a:xfrm>
          <a:custGeom>
            <a:avLst/>
            <a:gdLst/>
            <a:ahLst/>
            <a:cxnLst/>
            <a:rect l="l" t="t" r="r" b="b"/>
            <a:pathLst>
              <a:path w="2057400" h="38100">
                <a:moveTo>
                  <a:pt x="381000" y="0"/>
                </a:moveTo>
                <a:lnTo>
                  <a:pt x="0" y="0"/>
                </a:lnTo>
                <a:lnTo>
                  <a:pt x="0" y="6858"/>
                </a:lnTo>
                <a:lnTo>
                  <a:pt x="304800" y="6858"/>
                </a:lnTo>
                <a:lnTo>
                  <a:pt x="304800" y="38100"/>
                </a:lnTo>
                <a:lnTo>
                  <a:pt x="317754" y="31623"/>
                </a:lnTo>
                <a:lnTo>
                  <a:pt x="381000" y="0"/>
                </a:lnTo>
                <a:close/>
              </a:path>
              <a:path w="2057400" h="38100">
                <a:moveTo>
                  <a:pt x="2057400" y="0"/>
                </a:moveTo>
                <a:lnTo>
                  <a:pt x="381000" y="0"/>
                </a:lnTo>
                <a:lnTo>
                  <a:pt x="445008" y="32004"/>
                </a:lnTo>
                <a:lnTo>
                  <a:pt x="457200" y="38100"/>
                </a:lnTo>
                <a:lnTo>
                  <a:pt x="457200" y="6858"/>
                </a:lnTo>
                <a:lnTo>
                  <a:pt x="2057400" y="6858"/>
                </a:lnTo>
                <a:lnTo>
                  <a:pt x="205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45B8C6D3-226D-02B8-72A5-C69E2081AC36}"/>
              </a:ext>
            </a:extLst>
          </p:cNvPr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B149B2A1-A440-5E77-09EA-FFA1192880EF}"/>
              </a:ext>
            </a:extLst>
          </p:cNvPr>
          <p:cNvSpPr txBox="1"/>
          <p:nvPr/>
        </p:nvSpPr>
        <p:spPr>
          <a:xfrm>
            <a:off x="1691767" y="4374133"/>
            <a:ext cx="7580630" cy="17627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452755" lvl="0" indent="-342900" algn="l" defTabSz="914400" rtl="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part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CA,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procedure</a:t>
            </a:r>
            <a:r>
              <a:rPr kumimoji="0" sz="2000" b="1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 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starting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5080" lvl="0" indent="-342900" algn="l" defTabSz="914400" rtl="0" eaLnBrk="1" fontAlgn="auto" latinLnBrk="0" hangingPunct="1">
              <a:lnSpc>
                <a:spcPts val="2160"/>
              </a:lnSpc>
              <a:spcBef>
                <a:spcPts val="480"/>
              </a:spcBef>
              <a:spcAft>
                <a:spcPts val="0"/>
              </a:spcAft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Ex: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successful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 exchange,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wants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send 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another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data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frame. 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starts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transmitting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RTS </a:t>
            </a:r>
            <a:r>
              <a:rPr kumimoji="0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duration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equal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its</a:t>
            </a:r>
            <a:r>
              <a:rPr kumimoji="0" sz="20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following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 </a:t>
            </a:r>
            <a:r>
              <a:rPr kumimoji="0" sz="20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slots.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60" name="object 60">
            <a:extLst>
              <a:ext uri="{FF2B5EF4-FFF2-40B4-BE49-F238E27FC236}">
                <a16:creationId xmlns:a16="http://schemas.microsoft.com/office/drawing/2014/main" id="{B0BC5725-31AD-057B-8345-4C581255F42B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546CB415-4906-BA46-92B7-5308C4A02AED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69C8B40-C72D-6C8F-88BB-8B51B2C274CE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2CF9404A-E498-A494-EEFD-8120048FB208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C40A24E6-4653-FA8B-DA35-13A49301236A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F4F268CC-A8B4-3016-1EB0-A386506BD4E0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6D4AB317-7A7B-C5D4-E01B-0A3B4B6036F2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0C4F46FA-9947-DFA7-D78E-BAA62F02E83F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613C5C1-54E3-2439-A43B-1750B0AB6405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8DB64E6C-08F5-40AD-EC11-8D872E52B7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49</a:t>
            </a:fld>
            <a:endParaRPr lang="en-US"/>
          </a:p>
        </p:txBody>
      </p:sp>
      <p:sp>
        <p:nvSpPr>
          <p:cNvPr id="70" name="object 2">
            <a:extLst>
              <a:ext uri="{FF2B5EF4-FFF2-40B4-BE49-F238E27FC236}">
                <a16:creationId xmlns:a16="http://schemas.microsoft.com/office/drawing/2014/main" id="{2C89926B-424A-D960-0251-337459D6A785}"/>
              </a:ext>
            </a:extLst>
          </p:cNvPr>
          <p:cNvSpPr txBox="1">
            <a:spLocks/>
          </p:cNvSpPr>
          <p:nvPr/>
        </p:nvSpPr>
        <p:spPr>
          <a:xfrm>
            <a:off x="1229427" y="82752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9424125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55689" y="2138679"/>
            <a:ext cx="32251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unsuccessful 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transmission, the</a:t>
            </a:r>
            <a:r>
              <a:rPr kumimoji="0" sz="2400" b="0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next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83371" y="2558795"/>
            <a:ext cx="2303780" cy="361950"/>
            <a:chOff x="1983371" y="2558795"/>
            <a:chExt cx="2303780" cy="361950"/>
          </a:xfrm>
        </p:grpSpPr>
        <p:sp>
          <p:nvSpPr>
            <p:cNvPr id="5" name="object 5"/>
            <p:cNvSpPr/>
            <p:nvPr/>
          </p:nvSpPr>
          <p:spPr>
            <a:xfrm>
              <a:off x="1989467" y="2741675"/>
              <a:ext cx="614171" cy="1790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983371" y="2735579"/>
              <a:ext cx="627380" cy="185420"/>
            </a:xfrm>
            <a:custGeom>
              <a:avLst/>
              <a:gdLst/>
              <a:ahLst/>
              <a:cxnLst/>
              <a:rect l="l" t="t" r="r" b="b"/>
              <a:pathLst>
                <a:path w="627380" h="185419">
                  <a:moveTo>
                    <a:pt x="627126" y="185166"/>
                  </a:moveTo>
                  <a:lnTo>
                    <a:pt x="627126" y="0"/>
                  </a:lnTo>
                  <a:lnTo>
                    <a:pt x="0" y="0"/>
                  </a:lnTo>
                  <a:lnTo>
                    <a:pt x="0" y="185166"/>
                  </a:lnTo>
                  <a:lnTo>
                    <a:pt x="6096" y="185166"/>
                  </a:lnTo>
                  <a:lnTo>
                    <a:pt x="6096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614172" y="12192"/>
                  </a:lnTo>
                  <a:lnTo>
                    <a:pt x="614172" y="6096"/>
                  </a:lnTo>
                  <a:lnTo>
                    <a:pt x="620268" y="12192"/>
                  </a:lnTo>
                  <a:lnTo>
                    <a:pt x="620268" y="185166"/>
                  </a:lnTo>
                  <a:lnTo>
                    <a:pt x="627126" y="185166"/>
                  </a:lnTo>
                  <a:close/>
                </a:path>
                <a:path w="627380" h="185419">
                  <a:moveTo>
                    <a:pt x="12954" y="12192"/>
                  </a:moveTo>
                  <a:lnTo>
                    <a:pt x="12954" y="6096"/>
                  </a:lnTo>
                  <a:lnTo>
                    <a:pt x="6096" y="12192"/>
                  </a:lnTo>
                  <a:lnTo>
                    <a:pt x="12954" y="12192"/>
                  </a:lnTo>
                  <a:close/>
                </a:path>
                <a:path w="627380" h="185419">
                  <a:moveTo>
                    <a:pt x="12954" y="185166"/>
                  </a:moveTo>
                  <a:lnTo>
                    <a:pt x="12954" y="12192"/>
                  </a:lnTo>
                  <a:lnTo>
                    <a:pt x="6096" y="12192"/>
                  </a:lnTo>
                  <a:lnTo>
                    <a:pt x="6096" y="185166"/>
                  </a:lnTo>
                  <a:lnTo>
                    <a:pt x="12954" y="185166"/>
                  </a:lnTo>
                  <a:close/>
                </a:path>
                <a:path w="627380" h="185419">
                  <a:moveTo>
                    <a:pt x="620268" y="12192"/>
                  </a:moveTo>
                  <a:lnTo>
                    <a:pt x="614172" y="6096"/>
                  </a:lnTo>
                  <a:lnTo>
                    <a:pt x="614172" y="12192"/>
                  </a:lnTo>
                  <a:lnTo>
                    <a:pt x="620268" y="12192"/>
                  </a:lnTo>
                  <a:close/>
                </a:path>
                <a:path w="627380" h="185419">
                  <a:moveTo>
                    <a:pt x="620268" y="185166"/>
                  </a:moveTo>
                  <a:lnTo>
                    <a:pt x="620268" y="12192"/>
                  </a:lnTo>
                  <a:lnTo>
                    <a:pt x="614172" y="12192"/>
                  </a:lnTo>
                  <a:lnTo>
                    <a:pt x="614172" y="185166"/>
                  </a:lnTo>
                  <a:lnTo>
                    <a:pt x="620268" y="1851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137039" y="2741675"/>
              <a:ext cx="1143000" cy="1790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130943" y="2558808"/>
              <a:ext cx="1156335" cy="361950"/>
            </a:xfrm>
            <a:custGeom>
              <a:avLst/>
              <a:gdLst/>
              <a:ahLst/>
              <a:cxnLst/>
              <a:rect l="l" t="t" r="r" b="b"/>
              <a:pathLst>
                <a:path w="1156335" h="361950">
                  <a:moveTo>
                    <a:pt x="1155954" y="176784"/>
                  </a:moveTo>
                  <a:lnTo>
                    <a:pt x="999744" y="176784"/>
                  </a:lnTo>
                  <a:lnTo>
                    <a:pt x="1003554" y="169164"/>
                  </a:lnTo>
                  <a:lnTo>
                    <a:pt x="1034796" y="106680"/>
                  </a:lnTo>
                  <a:lnTo>
                    <a:pt x="1003554" y="106680"/>
                  </a:lnTo>
                  <a:lnTo>
                    <a:pt x="1003554" y="0"/>
                  </a:lnTo>
                  <a:lnTo>
                    <a:pt x="990600" y="0"/>
                  </a:lnTo>
                  <a:lnTo>
                    <a:pt x="990600" y="106680"/>
                  </a:lnTo>
                  <a:lnTo>
                    <a:pt x="958596" y="106680"/>
                  </a:lnTo>
                  <a:lnTo>
                    <a:pt x="990600" y="170688"/>
                  </a:lnTo>
                  <a:lnTo>
                    <a:pt x="993648" y="176784"/>
                  </a:lnTo>
                  <a:lnTo>
                    <a:pt x="0" y="176784"/>
                  </a:lnTo>
                  <a:lnTo>
                    <a:pt x="0" y="361950"/>
                  </a:lnTo>
                  <a:lnTo>
                    <a:pt x="6096" y="361950"/>
                  </a:lnTo>
                  <a:lnTo>
                    <a:pt x="12954" y="361950"/>
                  </a:lnTo>
                  <a:lnTo>
                    <a:pt x="12954" y="188976"/>
                  </a:lnTo>
                  <a:lnTo>
                    <a:pt x="76200" y="188976"/>
                  </a:lnTo>
                  <a:lnTo>
                    <a:pt x="76200" y="361950"/>
                  </a:lnTo>
                  <a:lnTo>
                    <a:pt x="89154" y="361950"/>
                  </a:lnTo>
                  <a:lnTo>
                    <a:pt x="89154" y="188976"/>
                  </a:lnTo>
                  <a:lnTo>
                    <a:pt x="152400" y="188976"/>
                  </a:lnTo>
                  <a:lnTo>
                    <a:pt x="152400" y="361950"/>
                  </a:lnTo>
                  <a:lnTo>
                    <a:pt x="165354" y="361950"/>
                  </a:lnTo>
                  <a:lnTo>
                    <a:pt x="165354" y="188976"/>
                  </a:lnTo>
                  <a:lnTo>
                    <a:pt x="228600" y="188976"/>
                  </a:lnTo>
                  <a:lnTo>
                    <a:pt x="228600" y="361950"/>
                  </a:lnTo>
                  <a:lnTo>
                    <a:pt x="241554" y="361950"/>
                  </a:lnTo>
                  <a:lnTo>
                    <a:pt x="241554" y="188976"/>
                  </a:lnTo>
                  <a:lnTo>
                    <a:pt x="304800" y="188976"/>
                  </a:lnTo>
                  <a:lnTo>
                    <a:pt x="304800" y="361950"/>
                  </a:lnTo>
                  <a:lnTo>
                    <a:pt x="317754" y="361950"/>
                  </a:lnTo>
                  <a:lnTo>
                    <a:pt x="317754" y="188976"/>
                  </a:lnTo>
                  <a:lnTo>
                    <a:pt x="381000" y="188976"/>
                  </a:lnTo>
                  <a:lnTo>
                    <a:pt x="381000" y="361950"/>
                  </a:lnTo>
                  <a:lnTo>
                    <a:pt x="393954" y="361950"/>
                  </a:lnTo>
                  <a:lnTo>
                    <a:pt x="393954" y="188976"/>
                  </a:lnTo>
                  <a:lnTo>
                    <a:pt x="457200" y="188976"/>
                  </a:lnTo>
                  <a:lnTo>
                    <a:pt x="457200" y="361950"/>
                  </a:lnTo>
                  <a:lnTo>
                    <a:pt x="470154" y="361950"/>
                  </a:lnTo>
                  <a:lnTo>
                    <a:pt x="470154" y="188976"/>
                  </a:lnTo>
                  <a:lnTo>
                    <a:pt x="533400" y="188976"/>
                  </a:lnTo>
                  <a:lnTo>
                    <a:pt x="533400" y="361950"/>
                  </a:lnTo>
                  <a:lnTo>
                    <a:pt x="546354" y="361950"/>
                  </a:lnTo>
                  <a:lnTo>
                    <a:pt x="546354" y="188976"/>
                  </a:lnTo>
                  <a:lnTo>
                    <a:pt x="609600" y="188976"/>
                  </a:lnTo>
                  <a:lnTo>
                    <a:pt x="609600" y="361950"/>
                  </a:lnTo>
                  <a:lnTo>
                    <a:pt x="622554" y="361950"/>
                  </a:lnTo>
                  <a:lnTo>
                    <a:pt x="622554" y="188976"/>
                  </a:lnTo>
                  <a:lnTo>
                    <a:pt x="685800" y="188976"/>
                  </a:lnTo>
                  <a:lnTo>
                    <a:pt x="685800" y="361950"/>
                  </a:lnTo>
                  <a:lnTo>
                    <a:pt x="698754" y="361950"/>
                  </a:lnTo>
                  <a:lnTo>
                    <a:pt x="698754" y="188976"/>
                  </a:lnTo>
                  <a:lnTo>
                    <a:pt x="762000" y="188976"/>
                  </a:lnTo>
                  <a:lnTo>
                    <a:pt x="762000" y="361950"/>
                  </a:lnTo>
                  <a:lnTo>
                    <a:pt x="774954" y="361950"/>
                  </a:lnTo>
                  <a:lnTo>
                    <a:pt x="774954" y="188976"/>
                  </a:lnTo>
                  <a:lnTo>
                    <a:pt x="838200" y="188976"/>
                  </a:lnTo>
                  <a:lnTo>
                    <a:pt x="838200" y="361950"/>
                  </a:lnTo>
                  <a:lnTo>
                    <a:pt x="851154" y="361950"/>
                  </a:lnTo>
                  <a:lnTo>
                    <a:pt x="851154" y="188976"/>
                  </a:lnTo>
                  <a:lnTo>
                    <a:pt x="914400" y="188976"/>
                  </a:lnTo>
                  <a:lnTo>
                    <a:pt x="914400" y="361950"/>
                  </a:lnTo>
                  <a:lnTo>
                    <a:pt x="927354" y="361950"/>
                  </a:lnTo>
                  <a:lnTo>
                    <a:pt x="927354" y="188976"/>
                  </a:lnTo>
                  <a:lnTo>
                    <a:pt x="990600" y="188976"/>
                  </a:lnTo>
                  <a:lnTo>
                    <a:pt x="990600" y="361950"/>
                  </a:lnTo>
                  <a:lnTo>
                    <a:pt x="996696" y="361950"/>
                  </a:lnTo>
                  <a:lnTo>
                    <a:pt x="996696" y="188976"/>
                  </a:lnTo>
                  <a:lnTo>
                    <a:pt x="1143000" y="188976"/>
                  </a:lnTo>
                  <a:lnTo>
                    <a:pt x="1143000" y="361950"/>
                  </a:lnTo>
                  <a:lnTo>
                    <a:pt x="1149096" y="361950"/>
                  </a:lnTo>
                  <a:lnTo>
                    <a:pt x="1155954" y="361950"/>
                  </a:lnTo>
                  <a:lnTo>
                    <a:pt x="1155954" y="176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86939" y="250418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7727" y="23837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2735579"/>
            <a:ext cx="9144000" cy="1042669"/>
            <a:chOff x="774839" y="2735579"/>
            <a:chExt cx="9144000" cy="1042669"/>
          </a:xfrm>
        </p:grpSpPr>
        <p:sp>
          <p:nvSpPr>
            <p:cNvPr id="12" name="object 12"/>
            <p:cNvSpPr/>
            <p:nvPr/>
          </p:nvSpPr>
          <p:spPr>
            <a:xfrm>
              <a:off x="2603639" y="2794253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76200" y="31242"/>
                  </a:moveTo>
                  <a:lnTo>
                    <a:pt x="76200" y="0"/>
                  </a:lnTo>
                  <a:lnTo>
                    <a:pt x="0" y="38100"/>
                  </a:lnTo>
                  <a:lnTo>
                    <a:pt x="64007" y="70104"/>
                  </a:lnTo>
                  <a:lnTo>
                    <a:pt x="64007" y="31242"/>
                  </a:lnTo>
                  <a:lnTo>
                    <a:pt x="76200" y="31242"/>
                  </a:lnTo>
                  <a:close/>
                </a:path>
                <a:path w="533400" h="76200">
                  <a:moveTo>
                    <a:pt x="470153" y="44195"/>
                  </a:moveTo>
                  <a:lnTo>
                    <a:pt x="470153" y="31241"/>
                  </a:lnTo>
                  <a:lnTo>
                    <a:pt x="64007" y="31242"/>
                  </a:lnTo>
                  <a:lnTo>
                    <a:pt x="64007" y="44196"/>
                  </a:lnTo>
                  <a:lnTo>
                    <a:pt x="470153" y="44195"/>
                  </a:lnTo>
                  <a:close/>
                </a:path>
                <a:path w="533400" h="76200">
                  <a:moveTo>
                    <a:pt x="76200" y="76200"/>
                  </a:moveTo>
                  <a:lnTo>
                    <a:pt x="76200" y="44196"/>
                  </a:lnTo>
                  <a:lnTo>
                    <a:pt x="64007" y="44196"/>
                  </a:lnTo>
                  <a:lnTo>
                    <a:pt x="64007" y="70104"/>
                  </a:lnTo>
                  <a:lnTo>
                    <a:pt x="76200" y="76200"/>
                  </a:lnTo>
                  <a:close/>
                </a:path>
                <a:path w="533400" h="76200">
                  <a:moveTo>
                    <a:pt x="533400" y="38100"/>
                  </a:moveTo>
                  <a:lnTo>
                    <a:pt x="457200" y="0"/>
                  </a:lnTo>
                  <a:lnTo>
                    <a:pt x="457200" y="31241"/>
                  </a:lnTo>
                  <a:lnTo>
                    <a:pt x="470153" y="31241"/>
                  </a:lnTo>
                  <a:lnTo>
                    <a:pt x="470153" y="69723"/>
                  </a:lnTo>
                  <a:lnTo>
                    <a:pt x="533400" y="38100"/>
                  </a:lnTo>
                  <a:close/>
                </a:path>
                <a:path w="533400" h="76200">
                  <a:moveTo>
                    <a:pt x="470153" y="69723"/>
                  </a:moveTo>
                  <a:lnTo>
                    <a:pt x="470153" y="44195"/>
                  </a:lnTo>
                  <a:lnTo>
                    <a:pt x="457200" y="44195"/>
                  </a:lnTo>
                  <a:lnTo>
                    <a:pt x="457200" y="76200"/>
                  </a:lnTo>
                  <a:lnTo>
                    <a:pt x="470153" y="69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127639" y="2741675"/>
              <a:ext cx="914400" cy="179070"/>
            </a:xfrm>
            <a:custGeom>
              <a:avLst/>
              <a:gdLst/>
              <a:ahLst/>
              <a:cxnLst/>
              <a:rect l="l" t="t" r="r" b="b"/>
              <a:pathLst>
                <a:path w="914400" h="179069">
                  <a:moveTo>
                    <a:pt x="914400" y="179069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179069"/>
                  </a:lnTo>
                  <a:lnTo>
                    <a:pt x="914400" y="179069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121543" y="2735579"/>
              <a:ext cx="927735" cy="185420"/>
            </a:xfrm>
            <a:custGeom>
              <a:avLst/>
              <a:gdLst/>
              <a:ahLst/>
              <a:cxnLst/>
              <a:rect l="l" t="t" r="r" b="b"/>
              <a:pathLst>
                <a:path w="927735" h="185419">
                  <a:moveTo>
                    <a:pt x="927353" y="185165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185165"/>
                  </a:lnTo>
                  <a:lnTo>
                    <a:pt x="6096" y="185165"/>
                  </a:lnTo>
                  <a:lnTo>
                    <a:pt x="6096" y="12192"/>
                  </a:lnTo>
                  <a:lnTo>
                    <a:pt x="12953" y="6095"/>
                  </a:lnTo>
                  <a:lnTo>
                    <a:pt x="12953" y="12192"/>
                  </a:lnTo>
                  <a:lnTo>
                    <a:pt x="914400" y="12192"/>
                  </a:lnTo>
                  <a:lnTo>
                    <a:pt x="914400" y="6095"/>
                  </a:lnTo>
                  <a:lnTo>
                    <a:pt x="920496" y="12192"/>
                  </a:lnTo>
                  <a:lnTo>
                    <a:pt x="920496" y="185165"/>
                  </a:lnTo>
                  <a:lnTo>
                    <a:pt x="927353" y="185165"/>
                  </a:lnTo>
                  <a:close/>
                </a:path>
                <a:path w="927735" h="185419">
                  <a:moveTo>
                    <a:pt x="12953" y="12192"/>
                  </a:moveTo>
                  <a:lnTo>
                    <a:pt x="12953" y="6095"/>
                  </a:lnTo>
                  <a:lnTo>
                    <a:pt x="6096" y="12192"/>
                  </a:lnTo>
                  <a:lnTo>
                    <a:pt x="12953" y="12192"/>
                  </a:lnTo>
                  <a:close/>
                </a:path>
                <a:path w="927735" h="185419">
                  <a:moveTo>
                    <a:pt x="12953" y="185165"/>
                  </a:moveTo>
                  <a:lnTo>
                    <a:pt x="12953" y="12192"/>
                  </a:lnTo>
                  <a:lnTo>
                    <a:pt x="6096" y="12192"/>
                  </a:lnTo>
                  <a:lnTo>
                    <a:pt x="6096" y="185165"/>
                  </a:lnTo>
                  <a:lnTo>
                    <a:pt x="12953" y="185165"/>
                  </a:lnTo>
                  <a:close/>
                </a:path>
                <a:path w="927735" h="185419">
                  <a:moveTo>
                    <a:pt x="920496" y="12192"/>
                  </a:moveTo>
                  <a:lnTo>
                    <a:pt x="914400" y="6095"/>
                  </a:lnTo>
                  <a:lnTo>
                    <a:pt x="914400" y="12192"/>
                  </a:lnTo>
                  <a:lnTo>
                    <a:pt x="920496" y="12192"/>
                  </a:lnTo>
                  <a:close/>
                </a:path>
                <a:path w="927735" h="185419">
                  <a:moveTo>
                    <a:pt x="920496" y="185165"/>
                  </a:moveTo>
                  <a:lnTo>
                    <a:pt x="920496" y="12192"/>
                  </a:lnTo>
                  <a:lnTo>
                    <a:pt x="914400" y="12192"/>
                  </a:lnTo>
                  <a:lnTo>
                    <a:pt x="914400" y="185165"/>
                  </a:lnTo>
                  <a:lnTo>
                    <a:pt x="920496" y="185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997066" y="2998723"/>
            <a:ext cx="2844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performed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doubled</a:t>
            </a:r>
            <a:r>
              <a:rPr kumimoji="0" sz="24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size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83371" y="2920745"/>
            <a:ext cx="627380" cy="194310"/>
            <a:chOff x="1983371" y="2920745"/>
            <a:chExt cx="627380" cy="194310"/>
          </a:xfrm>
        </p:grpSpPr>
        <p:sp>
          <p:nvSpPr>
            <p:cNvPr id="18" name="object 18"/>
            <p:cNvSpPr/>
            <p:nvPr/>
          </p:nvSpPr>
          <p:spPr>
            <a:xfrm>
              <a:off x="1989467" y="2920745"/>
              <a:ext cx="614172" cy="1874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983371" y="2920745"/>
              <a:ext cx="627380" cy="194310"/>
            </a:xfrm>
            <a:custGeom>
              <a:avLst/>
              <a:gdLst/>
              <a:ahLst/>
              <a:cxnLst/>
              <a:rect l="l" t="t" r="r" b="b"/>
              <a:pathLst>
                <a:path w="627380" h="194310">
                  <a:moveTo>
                    <a:pt x="12954" y="181355"/>
                  </a:moveTo>
                  <a:lnTo>
                    <a:pt x="12954" y="0"/>
                  </a:lnTo>
                  <a:lnTo>
                    <a:pt x="0" y="0"/>
                  </a:lnTo>
                  <a:lnTo>
                    <a:pt x="0" y="194309"/>
                  </a:lnTo>
                  <a:lnTo>
                    <a:pt x="6096" y="194309"/>
                  </a:lnTo>
                  <a:lnTo>
                    <a:pt x="6096" y="181355"/>
                  </a:lnTo>
                  <a:lnTo>
                    <a:pt x="12954" y="181355"/>
                  </a:lnTo>
                  <a:close/>
                </a:path>
                <a:path w="627380" h="194310">
                  <a:moveTo>
                    <a:pt x="620268" y="181355"/>
                  </a:moveTo>
                  <a:lnTo>
                    <a:pt x="6096" y="181355"/>
                  </a:lnTo>
                  <a:lnTo>
                    <a:pt x="12954" y="187451"/>
                  </a:lnTo>
                  <a:lnTo>
                    <a:pt x="12954" y="194309"/>
                  </a:lnTo>
                  <a:lnTo>
                    <a:pt x="614172" y="194309"/>
                  </a:lnTo>
                  <a:lnTo>
                    <a:pt x="614172" y="187451"/>
                  </a:lnTo>
                  <a:lnTo>
                    <a:pt x="620268" y="181355"/>
                  </a:lnTo>
                  <a:close/>
                </a:path>
                <a:path w="627380" h="194310">
                  <a:moveTo>
                    <a:pt x="12954" y="194309"/>
                  </a:moveTo>
                  <a:lnTo>
                    <a:pt x="12954" y="187451"/>
                  </a:lnTo>
                  <a:lnTo>
                    <a:pt x="6096" y="181355"/>
                  </a:lnTo>
                  <a:lnTo>
                    <a:pt x="6096" y="194309"/>
                  </a:lnTo>
                  <a:lnTo>
                    <a:pt x="12954" y="194309"/>
                  </a:lnTo>
                  <a:close/>
                </a:path>
                <a:path w="627380" h="194310">
                  <a:moveTo>
                    <a:pt x="627126" y="194309"/>
                  </a:moveTo>
                  <a:lnTo>
                    <a:pt x="627126" y="0"/>
                  </a:lnTo>
                  <a:lnTo>
                    <a:pt x="614172" y="0"/>
                  </a:lnTo>
                  <a:lnTo>
                    <a:pt x="614172" y="181355"/>
                  </a:lnTo>
                  <a:lnTo>
                    <a:pt x="620268" y="181355"/>
                  </a:lnTo>
                  <a:lnTo>
                    <a:pt x="620268" y="194309"/>
                  </a:lnTo>
                  <a:lnTo>
                    <a:pt x="627126" y="194309"/>
                  </a:lnTo>
                  <a:close/>
                </a:path>
                <a:path w="627380" h="194310">
                  <a:moveTo>
                    <a:pt x="620268" y="194309"/>
                  </a:moveTo>
                  <a:lnTo>
                    <a:pt x="620268" y="181355"/>
                  </a:lnTo>
                  <a:lnTo>
                    <a:pt x="614172" y="187451"/>
                  </a:lnTo>
                  <a:lnTo>
                    <a:pt x="614172" y="194309"/>
                  </a:lnTo>
                  <a:lnTo>
                    <a:pt x="620268" y="1943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22475" y="2760217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65439" y="2920745"/>
            <a:ext cx="3581400" cy="378460"/>
            <a:chOff x="1765439" y="2920745"/>
            <a:chExt cx="3581400" cy="378460"/>
          </a:xfrm>
        </p:grpSpPr>
        <p:sp>
          <p:nvSpPr>
            <p:cNvPr id="22" name="object 22"/>
            <p:cNvSpPr/>
            <p:nvPr/>
          </p:nvSpPr>
          <p:spPr>
            <a:xfrm>
              <a:off x="1765439" y="3102101"/>
              <a:ext cx="3581400" cy="13335"/>
            </a:xfrm>
            <a:custGeom>
              <a:avLst/>
              <a:gdLst/>
              <a:ahLst/>
              <a:cxnLst/>
              <a:rect l="l" t="t" r="r" b="b"/>
              <a:pathLst>
                <a:path w="3581400" h="13335">
                  <a:moveTo>
                    <a:pt x="3581399" y="12953"/>
                  </a:moveTo>
                  <a:lnTo>
                    <a:pt x="3581399" y="0"/>
                  </a:lnTo>
                  <a:lnTo>
                    <a:pt x="0" y="0"/>
                  </a:lnTo>
                  <a:lnTo>
                    <a:pt x="0" y="12954"/>
                  </a:lnTo>
                  <a:lnTo>
                    <a:pt x="3581399" y="12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137039" y="2920745"/>
              <a:ext cx="1143000" cy="1874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130943" y="2920758"/>
              <a:ext cx="1156335" cy="378460"/>
            </a:xfrm>
            <a:custGeom>
              <a:avLst/>
              <a:gdLst/>
              <a:ahLst/>
              <a:cxnLst/>
              <a:rect l="l" t="t" r="r" b="b"/>
              <a:pathLst>
                <a:path w="1156335" h="378460">
                  <a:moveTo>
                    <a:pt x="1155954" y="0"/>
                  </a:moveTo>
                  <a:lnTo>
                    <a:pt x="1143000" y="0"/>
                  </a:lnTo>
                  <a:lnTo>
                    <a:pt x="1143000" y="181356"/>
                  </a:lnTo>
                  <a:lnTo>
                    <a:pt x="1143000" y="194310"/>
                  </a:lnTo>
                  <a:lnTo>
                    <a:pt x="1143000" y="336804"/>
                  </a:lnTo>
                  <a:lnTo>
                    <a:pt x="1072896" y="301752"/>
                  </a:lnTo>
                  <a:lnTo>
                    <a:pt x="1072896" y="333756"/>
                  </a:lnTo>
                  <a:lnTo>
                    <a:pt x="82296" y="333756"/>
                  </a:lnTo>
                  <a:lnTo>
                    <a:pt x="82296" y="301752"/>
                  </a:lnTo>
                  <a:lnTo>
                    <a:pt x="12954" y="336423"/>
                  </a:lnTo>
                  <a:lnTo>
                    <a:pt x="12954" y="194310"/>
                  </a:lnTo>
                  <a:lnTo>
                    <a:pt x="1143000" y="194310"/>
                  </a:lnTo>
                  <a:lnTo>
                    <a:pt x="1143000" y="181356"/>
                  </a:lnTo>
                  <a:lnTo>
                    <a:pt x="996696" y="181356"/>
                  </a:lnTo>
                  <a:lnTo>
                    <a:pt x="996696" y="0"/>
                  </a:lnTo>
                  <a:lnTo>
                    <a:pt x="990600" y="0"/>
                  </a:lnTo>
                  <a:lnTo>
                    <a:pt x="990600" y="181356"/>
                  </a:lnTo>
                  <a:lnTo>
                    <a:pt x="927354" y="181356"/>
                  </a:lnTo>
                  <a:lnTo>
                    <a:pt x="927354" y="0"/>
                  </a:lnTo>
                  <a:lnTo>
                    <a:pt x="914400" y="0"/>
                  </a:lnTo>
                  <a:lnTo>
                    <a:pt x="914400" y="181356"/>
                  </a:lnTo>
                  <a:lnTo>
                    <a:pt x="851154" y="181356"/>
                  </a:lnTo>
                  <a:lnTo>
                    <a:pt x="851154" y="0"/>
                  </a:lnTo>
                  <a:lnTo>
                    <a:pt x="838200" y="0"/>
                  </a:lnTo>
                  <a:lnTo>
                    <a:pt x="838200" y="181356"/>
                  </a:lnTo>
                  <a:lnTo>
                    <a:pt x="774954" y="181356"/>
                  </a:lnTo>
                  <a:lnTo>
                    <a:pt x="774954" y="0"/>
                  </a:lnTo>
                  <a:lnTo>
                    <a:pt x="762000" y="0"/>
                  </a:lnTo>
                  <a:lnTo>
                    <a:pt x="762000" y="181356"/>
                  </a:lnTo>
                  <a:lnTo>
                    <a:pt x="698754" y="181356"/>
                  </a:lnTo>
                  <a:lnTo>
                    <a:pt x="698754" y="0"/>
                  </a:lnTo>
                  <a:lnTo>
                    <a:pt x="685800" y="0"/>
                  </a:lnTo>
                  <a:lnTo>
                    <a:pt x="685800" y="181356"/>
                  </a:lnTo>
                  <a:lnTo>
                    <a:pt x="622554" y="181356"/>
                  </a:lnTo>
                  <a:lnTo>
                    <a:pt x="622554" y="0"/>
                  </a:lnTo>
                  <a:lnTo>
                    <a:pt x="609600" y="0"/>
                  </a:lnTo>
                  <a:lnTo>
                    <a:pt x="609600" y="181356"/>
                  </a:lnTo>
                  <a:lnTo>
                    <a:pt x="546354" y="181356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181356"/>
                  </a:lnTo>
                  <a:lnTo>
                    <a:pt x="470154" y="181356"/>
                  </a:lnTo>
                  <a:lnTo>
                    <a:pt x="470154" y="0"/>
                  </a:lnTo>
                  <a:lnTo>
                    <a:pt x="457200" y="0"/>
                  </a:lnTo>
                  <a:lnTo>
                    <a:pt x="457200" y="181356"/>
                  </a:lnTo>
                  <a:lnTo>
                    <a:pt x="393954" y="181356"/>
                  </a:lnTo>
                  <a:lnTo>
                    <a:pt x="393954" y="0"/>
                  </a:lnTo>
                  <a:lnTo>
                    <a:pt x="381000" y="0"/>
                  </a:lnTo>
                  <a:lnTo>
                    <a:pt x="381000" y="181356"/>
                  </a:lnTo>
                  <a:lnTo>
                    <a:pt x="317754" y="181356"/>
                  </a:lnTo>
                  <a:lnTo>
                    <a:pt x="317754" y="0"/>
                  </a:lnTo>
                  <a:lnTo>
                    <a:pt x="304800" y="0"/>
                  </a:lnTo>
                  <a:lnTo>
                    <a:pt x="304800" y="181356"/>
                  </a:lnTo>
                  <a:lnTo>
                    <a:pt x="241554" y="181356"/>
                  </a:lnTo>
                  <a:lnTo>
                    <a:pt x="241554" y="0"/>
                  </a:lnTo>
                  <a:lnTo>
                    <a:pt x="228600" y="0"/>
                  </a:lnTo>
                  <a:lnTo>
                    <a:pt x="228600" y="181356"/>
                  </a:lnTo>
                  <a:lnTo>
                    <a:pt x="165354" y="181356"/>
                  </a:lnTo>
                  <a:lnTo>
                    <a:pt x="165354" y="0"/>
                  </a:lnTo>
                  <a:lnTo>
                    <a:pt x="152400" y="0"/>
                  </a:lnTo>
                  <a:lnTo>
                    <a:pt x="152400" y="181356"/>
                  </a:lnTo>
                  <a:lnTo>
                    <a:pt x="89154" y="181356"/>
                  </a:lnTo>
                  <a:lnTo>
                    <a:pt x="89154" y="0"/>
                  </a:lnTo>
                  <a:lnTo>
                    <a:pt x="76200" y="0"/>
                  </a:lnTo>
                  <a:lnTo>
                    <a:pt x="76200" y="181356"/>
                  </a:lnTo>
                  <a:lnTo>
                    <a:pt x="12954" y="181356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87452"/>
                  </a:lnTo>
                  <a:lnTo>
                    <a:pt x="0" y="194310"/>
                  </a:lnTo>
                  <a:lnTo>
                    <a:pt x="0" y="339852"/>
                  </a:lnTo>
                  <a:lnTo>
                    <a:pt x="6096" y="339852"/>
                  </a:lnTo>
                  <a:lnTo>
                    <a:pt x="70104" y="371856"/>
                  </a:lnTo>
                  <a:lnTo>
                    <a:pt x="82296" y="377952"/>
                  </a:lnTo>
                  <a:lnTo>
                    <a:pt x="82296" y="346710"/>
                  </a:lnTo>
                  <a:lnTo>
                    <a:pt x="1072896" y="346710"/>
                  </a:lnTo>
                  <a:lnTo>
                    <a:pt x="1072896" y="377952"/>
                  </a:lnTo>
                  <a:lnTo>
                    <a:pt x="1085850" y="371475"/>
                  </a:lnTo>
                  <a:lnTo>
                    <a:pt x="1149096" y="339852"/>
                  </a:lnTo>
                  <a:lnTo>
                    <a:pt x="1155954" y="339852"/>
                  </a:lnTo>
                  <a:lnTo>
                    <a:pt x="1155954" y="194310"/>
                  </a:lnTo>
                  <a:lnTo>
                    <a:pt x="1155954" y="187452"/>
                  </a:lnTo>
                  <a:lnTo>
                    <a:pt x="1155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74939" y="2762504"/>
            <a:ext cx="2533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50" normalizeH="0" baseline="-173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r>
              <a:rPr kumimoji="0" sz="105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67126" y="3298190"/>
            <a:ext cx="19742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 </a:t>
            </a:r>
            <a:r>
              <a:rPr kumimoji="0" sz="1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‐ </a:t>
            </a:r>
            <a:r>
              <a:rPr kumimoji="0" sz="12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121543" y="2920745"/>
            <a:ext cx="927735" cy="193040"/>
            <a:chOff x="4121543" y="2920745"/>
            <a:chExt cx="927735" cy="193040"/>
          </a:xfrm>
        </p:grpSpPr>
        <p:sp>
          <p:nvSpPr>
            <p:cNvPr id="28" name="object 28"/>
            <p:cNvSpPr/>
            <p:nvPr/>
          </p:nvSpPr>
          <p:spPr>
            <a:xfrm>
              <a:off x="4127639" y="2920745"/>
              <a:ext cx="914400" cy="186055"/>
            </a:xfrm>
            <a:custGeom>
              <a:avLst/>
              <a:gdLst/>
              <a:ahLst/>
              <a:cxnLst/>
              <a:rect l="l" t="t" r="r" b="b"/>
              <a:pathLst>
                <a:path w="914400" h="186055">
                  <a:moveTo>
                    <a:pt x="914400" y="185928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185928"/>
                  </a:lnTo>
                  <a:lnTo>
                    <a:pt x="914400" y="185928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121543" y="2920745"/>
              <a:ext cx="927735" cy="193040"/>
            </a:xfrm>
            <a:custGeom>
              <a:avLst/>
              <a:gdLst/>
              <a:ahLst/>
              <a:cxnLst/>
              <a:rect l="l" t="t" r="r" b="b"/>
              <a:pathLst>
                <a:path w="927735" h="193039">
                  <a:moveTo>
                    <a:pt x="12953" y="179831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192785"/>
                  </a:lnTo>
                  <a:lnTo>
                    <a:pt x="6096" y="192785"/>
                  </a:lnTo>
                  <a:lnTo>
                    <a:pt x="6096" y="179831"/>
                  </a:lnTo>
                  <a:lnTo>
                    <a:pt x="12953" y="179831"/>
                  </a:lnTo>
                  <a:close/>
                </a:path>
                <a:path w="927735" h="193039">
                  <a:moveTo>
                    <a:pt x="920496" y="179831"/>
                  </a:moveTo>
                  <a:lnTo>
                    <a:pt x="6096" y="179831"/>
                  </a:lnTo>
                  <a:lnTo>
                    <a:pt x="12953" y="185927"/>
                  </a:lnTo>
                  <a:lnTo>
                    <a:pt x="12953" y="192785"/>
                  </a:lnTo>
                  <a:lnTo>
                    <a:pt x="914400" y="192785"/>
                  </a:lnTo>
                  <a:lnTo>
                    <a:pt x="914400" y="185927"/>
                  </a:lnTo>
                  <a:lnTo>
                    <a:pt x="920496" y="179831"/>
                  </a:lnTo>
                  <a:close/>
                </a:path>
                <a:path w="927735" h="193039">
                  <a:moveTo>
                    <a:pt x="12953" y="192785"/>
                  </a:moveTo>
                  <a:lnTo>
                    <a:pt x="12953" y="185927"/>
                  </a:lnTo>
                  <a:lnTo>
                    <a:pt x="6096" y="179831"/>
                  </a:lnTo>
                  <a:lnTo>
                    <a:pt x="6096" y="192785"/>
                  </a:lnTo>
                  <a:lnTo>
                    <a:pt x="12953" y="192785"/>
                  </a:lnTo>
                  <a:close/>
                </a:path>
                <a:path w="927735" h="193039">
                  <a:moveTo>
                    <a:pt x="927353" y="192785"/>
                  </a:moveTo>
                  <a:lnTo>
                    <a:pt x="927353" y="0"/>
                  </a:lnTo>
                  <a:lnTo>
                    <a:pt x="914400" y="0"/>
                  </a:lnTo>
                  <a:lnTo>
                    <a:pt x="914400" y="179831"/>
                  </a:lnTo>
                  <a:lnTo>
                    <a:pt x="920496" y="179831"/>
                  </a:lnTo>
                  <a:lnTo>
                    <a:pt x="920496" y="192785"/>
                  </a:lnTo>
                  <a:lnTo>
                    <a:pt x="927353" y="192785"/>
                  </a:lnTo>
                  <a:close/>
                </a:path>
                <a:path w="927735" h="193039">
                  <a:moveTo>
                    <a:pt x="920496" y="192785"/>
                  </a:moveTo>
                  <a:lnTo>
                    <a:pt x="920496" y="179831"/>
                  </a:lnTo>
                  <a:lnTo>
                    <a:pt x="914400" y="185927"/>
                  </a:lnTo>
                  <a:lnTo>
                    <a:pt x="914400" y="192785"/>
                  </a:lnTo>
                  <a:lnTo>
                    <a:pt x="920496" y="1927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27639" y="2776219"/>
            <a:ext cx="914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97066" y="3730244"/>
            <a:ext cx="323469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contention window. 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reduces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5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  probability 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there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 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multiple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attempting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400" b="0" i="0" u="none" strike="noStrike" kern="1200" cap="none" spc="-5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983371" y="4152900"/>
            <a:ext cx="627380" cy="379730"/>
            <a:chOff x="1983371" y="4152900"/>
            <a:chExt cx="627380" cy="379730"/>
          </a:xfrm>
        </p:grpSpPr>
        <p:sp>
          <p:nvSpPr>
            <p:cNvPr id="33" name="object 33"/>
            <p:cNvSpPr/>
            <p:nvPr/>
          </p:nvSpPr>
          <p:spPr>
            <a:xfrm>
              <a:off x="1989467" y="4158995"/>
              <a:ext cx="614172" cy="3672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983371" y="4152900"/>
              <a:ext cx="627380" cy="379730"/>
            </a:xfrm>
            <a:custGeom>
              <a:avLst/>
              <a:gdLst/>
              <a:ahLst/>
              <a:cxnLst/>
              <a:rect l="l" t="t" r="r" b="b"/>
              <a:pathLst>
                <a:path w="627380" h="379729">
                  <a:moveTo>
                    <a:pt x="627126" y="379475"/>
                  </a:moveTo>
                  <a:lnTo>
                    <a:pt x="627126" y="0"/>
                  </a:lnTo>
                  <a:lnTo>
                    <a:pt x="0" y="0"/>
                  </a:lnTo>
                  <a:lnTo>
                    <a:pt x="0" y="379475"/>
                  </a:lnTo>
                  <a:lnTo>
                    <a:pt x="6096" y="379475"/>
                  </a:lnTo>
                  <a:lnTo>
                    <a:pt x="6096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614172" y="12953"/>
                  </a:lnTo>
                  <a:lnTo>
                    <a:pt x="614172" y="6096"/>
                  </a:lnTo>
                  <a:lnTo>
                    <a:pt x="620268" y="12953"/>
                  </a:lnTo>
                  <a:lnTo>
                    <a:pt x="620268" y="379475"/>
                  </a:lnTo>
                  <a:lnTo>
                    <a:pt x="627126" y="379475"/>
                  </a:lnTo>
                  <a:close/>
                </a:path>
                <a:path w="627380" h="379729">
                  <a:moveTo>
                    <a:pt x="12954" y="12953"/>
                  </a:moveTo>
                  <a:lnTo>
                    <a:pt x="12954" y="6096"/>
                  </a:lnTo>
                  <a:lnTo>
                    <a:pt x="6096" y="12953"/>
                  </a:lnTo>
                  <a:lnTo>
                    <a:pt x="12954" y="12953"/>
                  </a:lnTo>
                  <a:close/>
                </a:path>
                <a:path w="627380" h="379729">
                  <a:moveTo>
                    <a:pt x="12954" y="366522"/>
                  </a:moveTo>
                  <a:lnTo>
                    <a:pt x="12954" y="12953"/>
                  </a:lnTo>
                  <a:lnTo>
                    <a:pt x="6096" y="12953"/>
                  </a:lnTo>
                  <a:lnTo>
                    <a:pt x="6096" y="366522"/>
                  </a:lnTo>
                  <a:lnTo>
                    <a:pt x="12954" y="366522"/>
                  </a:lnTo>
                  <a:close/>
                </a:path>
                <a:path w="627380" h="379729">
                  <a:moveTo>
                    <a:pt x="620268" y="366522"/>
                  </a:moveTo>
                  <a:lnTo>
                    <a:pt x="6096" y="366522"/>
                  </a:lnTo>
                  <a:lnTo>
                    <a:pt x="12954" y="373379"/>
                  </a:lnTo>
                  <a:lnTo>
                    <a:pt x="12954" y="379475"/>
                  </a:lnTo>
                  <a:lnTo>
                    <a:pt x="614172" y="379475"/>
                  </a:lnTo>
                  <a:lnTo>
                    <a:pt x="614172" y="373379"/>
                  </a:lnTo>
                  <a:lnTo>
                    <a:pt x="620268" y="366522"/>
                  </a:lnTo>
                  <a:close/>
                </a:path>
                <a:path w="627380" h="379729">
                  <a:moveTo>
                    <a:pt x="12954" y="379475"/>
                  </a:moveTo>
                  <a:lnTo>
                    <a:pt x="12954" y="373379"/>
                  </a:lnTo>
                  <a:lnTo>
                    <a:pt x="6096" y="366522"/>
                  </a:lnTo>
                  <a:lnTo>
                    <a:pt x="6096" y="379475"/>
                  </a:lnTo>
                  <a:lnTo>
                    <a:pt x="12954" y="379475"/>
                  </a:lnTo>
                  <a:close/>
                </a:path>
                <a:path w="627380" h="379729">
                  <a:moveTo>
                    <a:pt x="620268" y="12953"/>
                  </a:moveTo>
                  <a:lnTo>
                    <a:pt x="614172" y="6096"/>
                  </a:lnTo>
                  <a:lnTo>
                    <a:pt x="614172" y="12953"/>
                  </a:lnTo>
                  <a:lnTo>
                    <a:pt x="620268" y="12953"/>
                  </a:lnTo>
                  <a:close/>
                </a:path>
                <a:path w="627380" h="379729">
                  <a:moveTo>
                    <a:pt x="620268" y="366522"/>
                  </a:moveTo>
                  <a:lnTo>
                    <a:pt x="620268" y="12953"/>
                  </a:lnTo>
                  <a:lnTo>
                    <a:pt x="614172" y="12953"/>
                  </a:lnTo>
                  <a:lnTo>
                    <a:pt x="614172" y="366522"/>
                  </a:lnTo>
                  <a:lnTo>
                    <a:pt x="620268" y="366522"/>
                  </a:lnTo>
                  <a:close/>
                </a:path>
                <a:path w="627380" h="379729">
                  <a:moveTo>
                    <a:pt x="620268" y="379475"/>
                  </a:moveTo>
                  <a:lnTo>
                    <a:pt x="620268" y="366522"/>
                  </a:lnTo>
                  <a:lnTo>
                    <a:pt x="614172" y="373379"/>
                  </a:lnTo>
                  <a:lnTo>
                    <a:pt x="614172" y="379475"/>
                  </a:lnTo>
                  <a:lnTo>
                    <a:pt x="620268" y="3794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022475" y="4177538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65439" y="4519421"/>
            <a:ext cx="3581400" cy="13335"/>
          </a:xfrm>
          <a:custGeom>
            <a:avLst/>
            <a:gdLst/>
            <a:ahLst/>
            <a:cxnLst/>
            <a:rect l="l" t="t" r="r" b="b"/>
            <a:pathLst>
              <a:path w="3581400" h="13335">
                <a:moveTo>
                  <a:pt x="3581399" y="12953"/>
                </a:moveTo>
                <a:lnTo>
                  <a:pt x="3581399" y="0"/>
                </a:lnTo>
                <a:lnTo>
                  <a:pt x="0" y="0"/>
                </a:lnTo>
                <a:lnTo>
                  <a:pt x="0" y="12953"/>
                </a:lnTo>
                <a:lnTo>
                  <a:pt x="3581399" y="12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74939" y="4180585"/>
            <a:ext cx="2933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5" normalizeH="0" baseline="-173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</a:t>
            </a:r>
            <a:r>
              <a:rPr kumimoji="0" sz="10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86939" y="3922267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30943" y="4526279"/>
            <a:ext cx="13335" cy="152400"/>
          </a:xfrm>
          <a:custGeom>
            <a:avLst/>
            <a:gdLst/>
            <a:ahLst/>
            <a:cxnLst/>
            <a:rect l="l" t="t" r="r" b="b"/>
            <a:pathLst>
              <a:path w="13335" h="152400">
                <a:moveTo>
                  <a:pt x="0" y="0"/>
                </a:moveTo>
                <a:lnTo>
                  <a:pt x="0" y="152400"/>
                </a:lnTo>
                <a:lnTo>
                  <a:pt x="12954" y="152400"/>
                </a:lnTo>
                <a:lnTo>
                  <a:pt x="12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10127" y="3801109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130943" y="4152900"/>
            <a:ext cx="2070735" cy="523240"/>
            <a:chOff x="3130943" y="4152900"/>
            <a:chExt cx="2070735" cy="523240"/>
          </a:xfrm>
        </p:grpSpPr>
        <p:sp>
          <p:nvSpPr>
            <p:cNvPr id="42" name="object 42"/>
            <p:cNvSpPr/>
            <p:nvPr/>
          </p:nvSpPr>
          <p:spPr>
            <a:xfrm>
              <a:off x="3137039" y="4158995"/>
              <a:ext cx="1676399" cy="3672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3130943" y="4152912"/>
              <a:ext cx="1689735" cy="523240"/>
            </a:xfrm>
            <a:custGeom>
              <a:avLst/>
              <a:gdLst/>
              <a:ahLst/>
              <a:cxnLst/>
              <a:rect l="l" t="t" r="r" b="b"/>
              <a:pathLst>
                <a:path w="1689735" h="523239">
                  <a:moveTo>
                    <a:pt x="1689354" y="0"/>
                  </a:moveTo>
                  <a:lnTo>
                    <a:pt x="1676400" y="0"/>
                  </a:lnTo>
                  <a:lnTo>
                    <a:pt x="1676400" y="12954"/>
                  </a:lnTo>
                  <a:lnTo>
                    <a:pt x="1676400" y="366522"/>
                  </a:lnTo>
                  <a:lnTo>
                    <a:pt x="1149096" y="366522"/>
                  </a:lnTo>
                  <a:lnTo>
                    <a:pt x="1149096" y="12954"/>
                  </a:lnTo>
                  <a:lnTo>
                    <a:pt x="1676400" y="12954"/>
                  </a:lnTo>
                  <a:lnTo>
                    <a:pt x="1676400" y="0"/>
                  </a:lnTo>
                  <a:lnTo>
                    <a:pt x="1143000" y="0"/>
                  </a:lnTo>
                  <a:lnTo>
                    <a:pt x="1143000" y="12954"/>
                  </a:lnTo>
                  <a:lnTo>
                    <a:pt x="1143000" y="366522"/>
                  </a:lnTo>
                  <a:lnTo>
                    <a:pt x="1079754" y="366522"/>
                  </a:lnTo>
                  <a:lnTo>
                    <a:pt x="1079754" y="12954"/>
                  </a:lnTo>
                  <a:lnTo>
                    <a:pt x="1143000" y="12954"/>
                  </a:lnTo>
                  <a:lnTo>
                    <a:pt x="1143000" y="0"/>
                  </a:lnTo>
                  <a:lnTo>
                    <a:pt x="1066800" y="0"/>
                  </a:lnTo>
                  <a:lnTo>
                    <a:pt x="1066800" y="12954"/>
                  </a:lnTo>
                  <a:lnTo>
                    <a:pt x="1066800" y="366522"/>
                  </a:lnTo>
                  <a:lnTo>
                    <a:pt x="1003554" y="366522"/>
                  </a:lnTo>
                  <a:lnTo>
                    <a:pt x="1003554" y="12954"/>
                  </a:lnTo>
                  <a:lnTo>
                    <a:pt x="1066800" y="12954"/>
                  </a:lnTo>
                  <a:lnTo>
                    <a:pt x="1066800" y="0"/>
                  </a:lnTo>
                  <a:lnTo>
                    <a:pt x="990600" y="0"/>
                  </a:lnTo>
                  <a:lnTo>
                    <a:pt x="990600" y="12954"/>
                  </a:lnTo>
                  <a:lnTo>
                    <a:pt x="990600" y="366522"/>
                  </a:lnTo>
                  <a:lnTo>
                    <a:pt x="927354" y="366522"/>
                  </a:lnTo>
                  <a:lnTo>
                    <a:pt x="927354" y="12954"/>
                  </a:lnTo>
                  <a:lnTo>
                    <a:pt x="990600" y="12954"/>
                  </a:lnTo>
                  <a:lnTo>
                    <a:pt x="990600" y="0"/>
                  </a:lnTo>
                  <a:lnTo>
                    <a:pt x="914400" y="0"/>
                  </a:lnTo>
                  <a:lnTo>
                    <a:pt x="914400" y="12954"/>
                  </a:lnTo>
                  <a:lnTo>
                    <a:pt x="914400" y="366522"/>
                  </a:lnTo>
                  <a:lnTo>
                    <a:pt x="851154" y="366522"/>
                  </a:lnTo>
                  <a:lnTo>
                    <a:pt x="851154" y="12954"/>
                  </a:lnTo>
                  <a:lnTo>
                    <a:pt x="914400" y="12954"/>
                  </a:lnTo>
                  <a:lnTo>
                    <a:pt x="914400" y="0"/>
                  </a:lnTo>
                  <a:lnTo>
                    <a:pt x="838200" y="0"/>
                  </a:lnTo>
                  <a:lnTo>
                    <a:pt x="838200" y="12954"/>
                  </a:lnTo>
                  <a:lnTo>
                    <a:pt x="838200" y="366522"/>
                  </a:lnTo>
                  <a:lnTo>
                    <a:pt x="774954" y="366522"/>
                  </a:lnTo>
                  <a:lnTo>
                    <a:pt x="774954" y="12954"/>
                  </a:lnTo>
                  <a:lnTo>
                    <a:pt x="838200" y="12954"/>
                  </a:lnTo>
                  <a:lnTo>
                    <a:pt x="838200" y="0"/>
                  </a:lnTo>
                  <a:lnTo>
                    <a:pt x="762000" y="0"/>
                  </a:lnTo>
                  <a:lnTo>
                    <a:pt x="762000" y="12954"/>
                  </a:lnTo>
                  <a:lnTo>
                    <a:pt x="762000" y="366522"/>
                  </a:lnTo>
                  <a:lnTo>
                    <a:pt x="698754" y="366522"/>
                  </a:lnTo>
                  <a:lnTo>
                    <a:pt x="698754" y="12954"/>
                  </a:lnTo>
                  <a:lnTo>
                    <a:pt x="762000" y="12954"/>
                  </a:lnTo>
                  <a:lnTo>
                    <a:pt x="762000" y="0"/>
                  </a:lnTo>
                  <a:lnTo>
                    <a:pt x="685800" y="0"/>
                  </a:lnTo>
                  <a:lnTo>
                    <a:pt x="685800" y="12954"/>
                  </a:lnTo>
                  <a:lnTo>
                    <a:pt x="685800" y="366522"/>
                  </a:lnTo>
                  <a:lnTo>
                    <a:pt x="622554" y="366522"/>
                  </a:lnTo>
                  <a:lnTo>
                    <a:pt x="622554" y="12954"/>
                  </a:lnTo>
                  <a:lnTo>
                    <a:pt x="685800" y="12954"/>
                  </a:lnTo>
                  <a:lnTo>
                    <a:pt x="685800" y="0"/>
                  </a:lnTo>
                  <a:lnTo>
                    <a:pt x="609600" y="0"/>
                  </a:lnTo>
                  <a:lnTo>
                    <a:pt x="609600" y="12954"/>
                  </a:lnTo>
                  <a:lnTo>
                    <a:pt x="609600" y="366522"/>
                  </a:lnTo>
                  <a:lnTo>
                    <a:pt x="546354" y="366522"/>
                  </a:lnTo>
                  <a:lnTo>
                    <a:pt x="546354" y="12954"/>
                  </a:lnTo>
                  <a:lnTo>
                    <a:pt x="609600" y="12954"/>
                  </a:lnTo>
                  <a:lnTo>
                    <a:pt x="609600" y="0"/>
                  </a:lnTo>
                  <a:lnTo>
                    <a:pt x="533400" y="0"/>
                  </a:lnTo>
                  <a:lnTo>
                    <a:pt x="533400" y="12954"/>
                  </a:lnTo>
                  <a:lnTo>
                    <a:pt x="533400" y="366522"/>
                  </a:lnTo>
                  <a:lnTo>
                    <a:pt x="470154" y="366522"/>
                  </a:lnTo>
                  <a:lnTo>
                    <a:pt x="470154" y="12954"/>
                  </a:lnTo>
                  <a:lnTo>
                    <a:pt x="533400" y="12954"/>
                  </a:lnTo>
                  <a:lnTo>
                    <a:pt x="533400" y="0"/>
                  </a:lnTo>
                  <a:lnTo>
                    <a:pt x="457200" y="0"/>
                  </a:lnTo>
                  <a:lnTo>
                    <a:pt x="457200" y="12954"/>
                  </a:lnTo>
                  <a:lnTo>
                    <a:pt x="457200" y="366522"/>
                  </a:lnTo>
                  <a:lnTo>
                    <a:pt x="393954" y="366522"/>
                  </a:lnTo>
                  <a:lnTo>
                    <a:pt x="393954" y="12954"/>
                  </a:lnTo>
                  <a:lnTo>
                    <a:pt x="457200" y="12954"/>
                  </a:lnTo>
                  <a:lnTo>
                    <a:pt x="457200" y="0"/>
                  </a:lnTo>
                  <a:lnTo>
                    <a:pt x="381000" y="0"/>
                  </a:lnTo>
                  <a:lnTo>
                    <a:pt x="381000" y="12954"/>
                  </a:lnTo>
                  <a:lnTo>
                    <a:pt x="381000" y="366522"/>
                  </a:lnTo>
                  <a:lnTo>
                    <a:pt x="317754" y="366522"/>
                  </a:lnTo>
                  <a:lnTo>
                    <a:pt x="317754" y="12954"/>
                  </a:lnTo>
                  <a:lnTo>
                    <a:pt x="381000" y="12954"/>
                  </a:lnTo>
                  <a:lnTo>
                    <a:pt x="381000" y="0"/>
                  </a:lnTo>
                  <a:lnTo>
                    <a:pt x="304800" y="0"/>
                  </a:lnTo>
                  <a:lnTo>
                    <a:pt x="304800" y="12954"/>
                  </a:lnTo>
                  <a:lnTo>
                    <a:pt x="304800" y="366522"/>
                  </a:lnTo>
                  <a:lnTo>
                    <a:pt x="241554" y="366522"/>
                  </a:lnTo>
                  <a:lnTo>
                    <a:pt x="241554" y="12954"/>
                  </a:lnTo>
                  <a:lnTo>
                    <a:pt x="304800" y="12954"/>
                  </a:lnTo>
                  <a:lnTo>
                    <a:pt x="304800" y="0"/>
                  </a:lnTo>
                  <a:lnTo>
                    <a:pt x="228600" y="0"/>
                  </a:lnTo>
                  <a:lnTo>
                    <a:pt x="228600" y="12954"/>
                  </a:lnTo>
                  <a:lnTo>
                    <a:pt x="228600" y="366522"/>
                  </a:lnTo>
                  <a:lnTo>
                    <a:pt x="165354" y="366522"/>
                  </a:lnTo>
                  <a:lnTo>
                    <a:pt x="165354" y="12954"/>
                  </a:lnTo>
                  <a:lnTo>
                    <a:pt x="228600" y="12954"/>
                  </a:lnTo>
                  <a:lnTo>
                    <a:pt x="228600" y="0"/>
                  </a:lnTo>
                  <a:lnTo>
                    <a:pt x="152400" y="0"/>
                  </a:lnTo>
                  <a:lnTo>
                    <a:pt x="152400" y="12954"/>
                  </a:lnTo>
                  <a:lnTo>
                    <a:pt x="152400" y="366522"/>
                  </a:lnTo>
                  <a:lnTo>
                    <a:pt x="89154" y="366522"/>
                  </a:lnTo>
                  <a:lnTo>
                    <a:pt x="89154" y="12954"/>
                  </a:lnTo>
                  <a:lnTo>
                    <a:pt x="152400" y="12954"/>
                  </a:lnTo>
                  <a:lnTo>
                    <a:pt x="152400" y="0"/>
                  </a:lnTo>
                  <a:lnTo>
                    <a:pt x="76200" y="0"/>
                  </a:lnTo>
                  <a:lnTo>
                    <a:pt x="76200" y="12954"/>
                  </a:lnTo>
                  <a:lnTo>
                    <a:pt x="76200" y="366522"/>
                  </a:lnTo>
                  <a:lnTo>
                    <a:pt x="12954" y="366522"/>
                  </a:lnTo>
                  <a:lnTo>
                    <a:pt x="12954" y="12954"/>
                  </a:lnTo>
                  <a:lnTo>
                    <a:pt x="76200" y="12954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379476"/>
                  </a:lnTo>
                  <a:lnTo>
                    <a:pt x="6096" y="379476"/>
                  </a:lnTo>
                  <a:lnTo>
                    <a:pt x="12954" y="379476"/>
                  </a:lnTo>
                  <a:lnTo>
                    <a:pt x="1676400" y="379476"/>
                  </a:lnTo>
                  <a:lnTo>
                    <a:pt x="1676400" y="522732"/>
                  </a:lnTo>
                  <a:lnTo>
                    <a:pt x="1689354" y="522732"/>
                  </a:lnTo>
                  <a:lnTo>
                    <a:pt x="1689354" y="379476"/>
                  </a:lnTo>
                  <a:lnTo>
                    <a:pt x="1689354" y="371856"/>
                  </a:lnTo>
                  <a:lnTo>
                    <a:pt x="16893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280039" y="4158995"/>
              <a:ext cx="914400" cy="365760"/>
            </a:xfrm>
            <a:custGeom>
              <a:avLst/>
              <a:gdLst/>
              <a:ahLst/>
              <a:cxnLst/>
              <a:rect l="l" t="t" r="r" b="b"/>
              <a:pathLst>
                <a:path w="914400" h="365760">
                  <a:moveTo>
                    <a:pt x="914400" y="365760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914400" y="365760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4273943" y="4152900"/>
              <a:ext cx="927735" cy="378460"/>
            </a:xfrm>
            <a:custGeom>
              <a:avLst/>
              <a:gdLst/>
              <a:ahLst/>
              <a:cxnLst/>
              <a:rect l="l" t="t" r="r" b="b"/>
              <a:pathLst>
                <a:path w="927735" h="378460">
                  <a:moveTo>
                    <a:pt x="927353" y="377951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377951"/>
                  </a:lnTo>
                  <a:lnTo>
                    <a:pt x="6096" y="377951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914400" y="12953"/>
                  </a:lnTo>
                  <a:lnTo>
                    <a:pt x="914400" y="6096"/>
                  </a:lnTo>
                  <a:lnTo>
                    <a:pt x="920496" y="12953"/>
                  </a:lnTo>
                  <a:lnTo>
                    <a:pt x="920496" y="377951"/>
                  </a:lnTo>
                  <a:lnTo>
                    <a:pt x="927353" y="377951"/>
                  </a:lnTo>
                  <a:close/>
                </a:path>
                <a:path w="927735" h="37846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27735" h="378460">
                  <a:moveTo>
                    <a:pt x="12953" y="364998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64998"/>
                  </a:lnTo>
                  <a:lnTo>
                    <a:pt x="12953" y="364998"/>
                  </a:lnTo>
                  <a:close/>
                </a:path>
                <a:path w="927735" h="378460">
                  <a:moveTo>
                    <a:pt x="920496" y="364998"/>
                  </a:moveTo>
                  <a:lnTo>
                    <a:pt x="6096" y="364998"/>
                  </a:lnTo>
                  <a:lnTo>
                    <a:pt x="12953" y="371855"/>
                  </a:lnTo>
                  <a:lnTo>
                    <a:pt x="12953" y="377951"/>
                  </a:lnTo>
                  <a:lnTo>
                    <a:pt x="914400" y="377951"/>
                  </a:lnTo>
                  <a:lnTo>
                    <a:pt x="914400" y="371855"/>
                  </a:lnTo>
                  <a:lnTo>
                    <a:pt x="920496" y="364998"/>
                  </a:lnTo>
                  <a:close/>
                </a:path>
                <a:path w="927735" h="378460">
                  <a:moveTo>
                    <a:pt x="12953" y="377951"/>
                  </a:moveTo>
                  <a:lnTo>
                    <a:pt x="12953" y="371855"/>
                  </a:lnTo>
                  <a:lnTo>
                    <a:pt x="6096" y="364998"/>
                  </a:lnTo>
                  <a:lnTo>
                    <a:pt x="6096" y="377951"/>
                  </a:lnTo>
                  <a:lnTo>
                    <a:pt x="12953" y="377951"/>
                  </a:lnTo>
                  <a:close/>
                </a:path>
                <a:path w="927735" h="378460">
                  <a:moveTo>
                    <a:pt x="920496" y="12953"/>
                  </a:moveTo>
                  <a:lnTo>
                    <a:pt x="914400" y="6096"/>
                  </a:lnTo>
                  <a:lnTo>
                    <a:pt x="914400" y="12953"/>
                  </a:lnTo>
                  <a:lnTo>
                    <a:pt x="920496" y="12953"/>
                  </a:lnTo>
                  <a:close/>
                </a:path>
                <a:path w="927735" h="378460">
                  <a:moveTo>
                    <a:pt x="920496" y="364998"/>
                  </a:moveTo>
                  <a:lnTo>
                    <a:pt x="920496" y="12953"/>
                  </a:lnTo>
                  <a:lnTo>
                    <a:pt x="914400" y="12953"/>
                  </a:lnTo>
                  <a:lnTo>
                    <a:pt x="914400" y="364998"/>
                  </a:lnTo>
                  <a:lnTo>
                    <a:pt x="920496" y="364998"/>
                  </a:lnTo>
                  <a:close/>
                </a:path>
                <a:path w="927735" h="378460">
                  <a:moveTo>
                    <a:pt x="920496" y="377951"/>
                  </a:moveTo>
                  <a:lnTo>
                    <a:pt x="920496" y="364998"/>
                  </a:lnTo>
                  <a:lnTo>
                    <a:pt x="914400" y="371855"/>
                  </a:lnTo>
                  <a:lnTo>
                    <a:pt x="914400" y="377951"/>
                  </a:lnTo>
                  <a:lnTo>
                    <a:pt x="920496" y="377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280039" y="4244594"/>
            <a:ext cx="914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Repeated</a:t>
            </a:r>
            <a:r>
              <a:rPr kumimoji="0" sz="1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603639" y="4006596"/>
            <a:ext cx="2209800" cy="710565"/>
            <a:chOff x="2603639" y="4006596"/>
            <a:chExt cx="2209800" cy="710565"/>
          </a:xfrm>
        </p:grpSpPr>
        <p:sp>
          <p:nvSpPr>
            <p:cNvPr id="48" name="object 48"/>
            <p:cNvSpPr/>
            <p:nvPr/>
          </p:nvSpPr>
          <p:spPr>
            <a:xfrm>
              <a:off x="2603639" y="4197096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76200" y="32003"/>
                  </a:moveTo>
                  <a:lnTo>
                    <a:pt x="76200" y="0"/>
                  </a:lnTo>
                  <a:lnTo>
                    <a:pt x="0" y="38100"/>
                  </a:lnTo>
                  <a:lnTo>
                    <a:pt x="64007" y="70103"/>
                  </a:lnTo>
                  <a:lnTo>
                    <a:pt x="64007" y="32003"/>
                  </a:lnTo>
                  <a:lnTo>
                    <a:pt x="76200" y="32003"/>
                  </a:lnTo>
                  <a:close/>
                </a:path>
                <a:path w="533400" h="76200">
                  <a:moveTo>
                    <a:pt x="470153" y="44957"/>
                  </a:moveTo>
                  <a:lnTo>
                    <a:pt x="470153" y="32003"/>
                  </a:lnTo>
                  <a:lnTo>
                    <a:pt x="64007" y="32003"/>
                  </a:lnTo>
                  <a:lnTo>
                    <a:pt x="64007" y="44957"/>
                  </a:lnTo>
                  <a:lnTo>
                    <a:pt x="470153" y="44957"/>
                  </a:lnTo>
                  <a:close/>
                </a:path>
                <a:path w="533400" h="76200">
                  <a:moveTo>
                    <a:pt x="76200" y="76200"/>
                  </a:moveTo>
                  <a:lnTo>
                    <a:pt x="76200" y="44957"/>
                  </a:lnTo>
                  <a:lnTo>
                    <a:pt x="64007" y="44957"/>
                  </a:lnTo>
                  <a:lnTo>
                    <a:pt x="64007" y="70103"/>
                  </a:lnTo>
                  <a:lnTo>
                    <a:pt x="76200" y="76200"/>
                  </a:lnTo>
                  <a:close/>
                </a:path>
                <a:path w="533400" h="76200">
                  <a:moveTo>
                    <a:pt x="533400" y="38100"/>
                  </a:moveTo>
                  <a:lnTo>
                    <a:pt x="457200" y="0"/>
                  </a:lnTo>
                  <a:lnTo>
                    <a:pt x="457200" y="32003"/>
                  </a:lnTo>
                  <a:lnTo>
                    <a:pt x="470153" y="32003"/>
                  </a:lnTo>
                  <a:lnTo>
                    <a:pt x="470153" y="69723"/>
                  </a:lnTo>
                  <a:lnTo>
                    <a:pt x="533400" y="38100"/>
                  </a:lnTo>
                  <a:close/>
                </a:path>
                <a:path w="533400" h="76200">
                  <a:moveTo>
                    <a:pt x="470153" y="69723"/>
                  </a:moveTo>
                  <a:lnTo>
                    <a:pt x="470153" y="44957"/>
                  </a:lnTo>
                  <a:lnTo>
                    <a:pt x="457200" y="44957"/>
                  </a:lnTo>
                  <a:lnTo>
                    <a:pt x="457200" y="76200"/>
                  </a:lnTo>
                  <a:lnTo>
                    <a:pt x="470153" y="69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4241939" y="4006596"/>
              <a:ext cx="76200" cy="1524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137039" y="4637532"/>
              <a:ext cx="1676400" cy="79375"/>
            </a:xfrm>
            <a:custGeom>
              <a:avLst/>
              <a:gdLst/>
              <a:ahLst/>
              <a:cxnLst/>
              <a:rect l="l" t="t" r="r" b="b"/>
              <a:pathLst>
                <a:path w="1676400" h="79375">
                  <a:moveTo>
                    <a:pt x="76512" y="34265"/>
                  </a:moveTo>
                  <a:lnTo>
                    <a:pt x="76200" y="3047"/>
                  </a:lnTo>
                  <a:lnTo>
                    <a:pt x="0" y="41147"/>
                  </a:lnTo>
                  <a:lnTo>
                    <a:pt x="64007" y="72835"/>
                  </a:lnTo>
                  <a:lnTo>
                    <a:pt x="64007" y="34289"/>
                  </a:lnTo>
                  <a:lnTo>
                    <a:pt x="76512" y="34265"/>
                  </a:lnTo>
                  <a:close/>
                </a:path>
                <a:path w="1676400" h="79375">
                  <a:moveTo>
                    <a:pt x="76641" y="47219"/>
                  </a:moveTo>
                  <a:lnTo>
                    <a:pt x="76512" y="34265"/>
                  </a:lnTo>
                  <a:lnTo>
                    <a:pt x="64007" y="34289"/>
                  </a:lnTo>
                  <a:lnTo>
                    <a:pt x="64007" y="47243"/>
                  </a:lnTo>
                  <a:lnTo>
                    <a:pt x="76641" y="47219"/>
                  </a:lnTo>
                  <a:close/>
                </a:path>
                <a:path w="1676400" h="79375">
                  <a:moveTo>
                    <a:pt x="76962" y="79247"/>
                  </a:moveTo>
                  <a:lnTo>
                    <a:pt x="76641" y="47219"/>
                  </a:lnTo>
                  <a:lnTo>
                    <a:pt x="64007" y="47243"/>
                  </a:lnTo>
                  <a:lnTo>
                    <a:pt x="64007" y="72835"/>
                  </a:lnTo>
                  <a:lnTo>
                    <a:pt x="76962" y="79247"/>
                  </a:lnTo>
                  <a:close/>
                </a:path>
                <a:path w="1676400" h="79375">
                  <a:moveTo>
                    <a:pt x="1600642" y="44220"/>
                  </a:moveTo>
                  <a:lnTo>
                    <a:pt x="1600512" y="31266"/>
                  </a:lnTo>
                  <a:lnTo>
                    <a:pt x="76512" y="34265"/>
                  </a:lnTo>
                  <a:lnTo>
                    <a:pt x="76641" y="47219"/>
                  </a:lnTo>
                  <a:lnTo>
                    <a:pt x="1600642" y="44220"/>
                  </a:lnTo>
                  <a:close/>
                </a:path>
                <a:path w="1676400" h="79375">
                  <a:moveTo>
                    <a:pt x="1676400" y="38100"/>
                  </a:moveTo>
                  <a:lnTo>
                    <a:pt x="1600200" y="0"/>
                  </a:lnTo>
                  <a:lnTo>
                    <a:pt x="1600512" y="31266"/>
                  </a:lnTo>
                  <a:lnTo>
                    <a:pt x="1613153" y="31241"/>
                  </a:lnTo>
                  <a:lnTo>
                    <a:pt x="1613153" y="70042"/>
                  </a:lnTo>
                  <a:lnTo>
                    <a:pt x="1676400" y="38100"/>
                  </a:lnTo>
                  <a:close/>
                </a:path>
                <a:path w="1676400" h="79375">
                  <a:moveTo>
                    <a:pt x="1613153" y="44195"/>
                  </a:moveTo>
                  <a:lnTo>
                    <a:pt x="1613153" y="31241"/>
                  </a:lnTo>
                  <a:lnTo>
                    <a:pt x="1600512" y="31266"/>
                  </a:lnTo>
                  <a:lnTo>
                    <a:pt x="1600642" y="44220"/>
                  </a:lnTo>
                  <a:lnTo>
                    <a:pt x="1613153" y="44195"/>
                  </a:lnTo>
                  <a:close/>
                </a:path>
                <a:path w="1676400" h="79375">
                  <a:moveTo>
                    <a:pt x="1613153" y="70042"/>
                  </a:moveTo>
                  <a:lnTo>
                    <a:pt x="1613153" y="44195"/>
                  </a:lnTo>
                  <a:lnTo>
                    <a:pt x="1600642" y="44220"/>
                  </a:lnTo>
                  <a:lnTo>
                    <a:pt x="1600962" y="76200"/>
                  </a:lnTo>
                  <a:lnTo>
                    <a:pt x="1613153" y="700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251327" y="4715509"/>
            <a:ext cx="1263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2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</a:t>
            </a:r>
            <a:r>
              <a:rPr kumimoji="0" sz="1200" b="0" i="0" u="none" strike="noStrike" kern="1200" cap="none" spc="-89" normalizeH="0" baseline="2430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n‐1</a:t>
            </a:r>
            <a:r>
              <a:rPr kumimoji="0" sz="1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.Cwmin </a:t>
            </a:r>
            <a:r>
              <a:rPr kumimoji="0" sz="1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‐ </a:t>
            </a:r>
            <a:r>
              <a:rPr kumimoji="0" sz="12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74839" y="5653944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997066" y="5665216"/>
            <a:ext cx="1113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55" name="object 55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949B49FA-9130-4FB0-BEB3-ED492F40B2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50</a:t>
            </a:fld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4200F14-86C5-442D-E472-31D44ACAEFF9}"/>
              </a:ext>
            </a:extLst>
          </p:cNvPr>
          <p:cNvSpPr/>
          <p:nvPr/>
        </p:nvSpPr>
        <p:spPr>
          <a:xfrm>
            <a:off x="1458416" y="3629025"/>
            <a:ext cx="4197273" cy="1544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B511546-EC35-D202-4131-128F787B0C36}"/>
              </a:ext>
            </a:extLst>
          </p:cNvPr>
          <p:cNvSpPr/>
          <p:nvPr/>
        </p:nvSpPr>
        <p:spPr>
          <a:xfrm>
            <a:off x="5547106" y="1782699"/>
            <a:ext cx="4197273" cy="43475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bject 2">
            <a:extLst>
              <a:ext uri="{FF2B5EF4-FFF2-40B4-BE49-F238E27FC236}">
                <a16:creationId xmlns:a16="http://schemas.microsoft.com/office/drawing/2014/main" id="{6D896F9E-6DAD-9AD9-A6FA-C3EF9823F86F}"/>
              </a:ext>
            </a:extLst>
          </p:cNvPr>
          <p:cNvSpPr txBox="1">
            <a:spLocks/>
          </p:cNvSpPr>
          <p:nvPr/>
        </p:nvSpPr>
        <p:spPr>
          <a:xfrm>
            <a:off x="1229427" y="827857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9563885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123D2B-51E1-5D59-AD7F-FB9B2024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80B979-03BF-2F61-DDEF-0B0DA70AD4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707" y="841501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921291F-14F9-6B88-C02E-486026F306D6}"/>
              </a:ext>
            </a:extLst>
          </p:cNvPr>
          <p:cNvSpPr txBox="1"/>
          <p:nvPr/>
        </p:nvSpPr>
        <p:spPr>
          <a:xfrm>
            <a:off x="5655689" y="2138679"/>
            <a:ext cx="32251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unsuccessful 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transmission, the</a:t>
            </a:r>
            <a:r>
              <a:rPr kumimoji="0" sz="2400" b="0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next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6D5003D-B806-757C-2596-58A44817358F}"/>
              </a:ext>
            </a:extLst>
          </p:cNvPr>
          <p:cNvGrpSpPr/>
          <p:nvPr/>
        </p:nvGrpSpPr>
        <p:grpSpPr>
          <a:xfrm>
            <a:off x="1983371" y="2558795"/>
            <a:ext cx="2303780" cy="361950"/>
            <a:chOff x="1983371" y="2558795"/>
            <a:chExt cx="2303780" cy="3619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BE5336A-4223-B94A-1AF3-A8595540B727}"/>
                </a:ext>
              </a:extLst>
            </p:cNvPr>
            <p:cNvSpPr/>
            <p:nvPr/>
          </p:nvSpPr>
          <p:spPr>
            <a:xfrm>
              <a:off x="1989467" y="2741675"/>
              <a:ext cx="614171" cy="1790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FB9D305-4288-A62C-95BC-AA449C8D251B}"/>
                </a:ext>
              </a:extLst>
            </p:cNvPr>
            <p:cNvSpPr/>
            <p:nvPr/>
          </p:nvSpPr>
          <p:spPr>
            <a:xfrm>
              <a:off x="1983371" y="2735579"/>
              <a:ext cx="627380" cy="185420"/>
            </a:xfrm>
            <a:custGeom>
              <a:avLst/>
              <a:gdLst/>
              <a:ahLst/>
              <a:cxnLst/>
              <a:rect l="l" t="t" r="r" b="b"/>
              <a:pathLst>
                <a:path w="627380" h="185419">
                  <a:moveTo>
                    <a:pt x="627126" y="185166"/>
                  </a:moveTo>
                  <a:lnTo>
                    <a:pt x="627126" y="0"/>
                  </a:lnTo>
                  <a:lnTo>
                    <a:pt x="0" y="0"/>
                  </a:lnTo>
                  <a:lnTo>
                    <a:pt x="0" y="185166"/>
                  </a:lnTo>
                  <a:lnTo>
                    <a:pt x="6096" y="185166"/>
                  </a:lnTo>
                  <a:lnTo>
                    <a:pt x="6096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614172" y="12192"/>
                  </a:lnTo>
                  <a:lnTo>
                    <a:pt x="614172" y="6096"/>
                  </a:lnTo>
                  <a:lnTo>
                    <a:pt x="620268" y="12192"/>
                  </a:lnTo>
                  <a:lnTo>
                    <a:pt x="620268" y="185166"/>
                  </a:lnTo>
                  <a:lnTo>
                    <a:pt x="627126" y="185166"/>
                  </a:lnTo>
                  <a:close/>
                </a:path>
                <a:path w="627380" h="185419">
                  <a:moveTo>
                    <a:pt x="12954" y="12192"/>
                  </a:moveTo>
                  <a:lnTo>
                    <a:pt x="12954" y="6096"/>
                  </a:lnTo>
                  <a:lnTo>
                    <a:pt x="6096" y="12192"/>
                  </a:lnTo>
                  <a:lnTo>
                    <a:pt x="12954" y="12192"/>
                  </a:lnTo>
                  <a:close/>
                </a:path>
                <a:path w="627380" h="185419">
                  <a:moveTo>
                    <a:pt x="12954" y="185166"/>
                  </a:moveTo>
                  <a:lnTo>
                    <a:pt x="12954" y="12192"/>
                  </a:lnTo>
                  <a:lnTo>
                    <a:pt x="6096" y="12192"/>
                  </a:lnTo>
                  <a:lnTo>
                    <a:pt x="6096" y="185166"/>
                  </a:lnTo>
                  <a:lnTo>
                    <a:pt x="12954" y="185166"/>
                  </a:lnTo>
                  <a:close/>
                </a:path>
                <a:path w="627380" h="185419">
                  <a:moveTo>
                    <a:pt x="620268" y="12192"/>
                  </a:moveTo>
                  <a:lnTo>
                    <a:pt x="614172" y="6096"/>
                  </a:lnTo>
                  <a:lnTo>
                    <a:pt x="614172" y="12192"/>
                  </a:lnTo>
                  <a:lnTo>
                    <a:pt x="620268" y="12192"/>
                  </a:lnTo>
                  <a:close/>
                </a:path>
                <a:path w="627380" h="185419">
                  <a:moveTo>
                    <a:pt x="620268" y="185166"/>
                  </a:moveTo>
                  <a:lnTo>
                    <a:pt x="620268" y="12192"/>
                  </a:lnTo>
                  <a:lnTo>
                    <a:pt x="614172" y="12192"/>
                  </a:lnTo>
                  <a:lnTo>
                    <a:pt x="614172" y="185166"/>
                  </a:lnTo>
                  <a:lnTo>
                    <a:pt x="620268" y="1851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63E9440-BA3B-5A38-86AA-4FE5FB7BEE99}"/>
                </a:ext>
              </a:extLst>
            </p:cNvPr>
            <p:cNvSpPr/>
            <p:nvPr/>
          </p:nvSpPr>
          <p:spPr>
            <a:xfrm>
              <a:off x="3137039" y="2741675"/>
              <a:ext cx="1143000" cy="1790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39B22D1-21A7-84FB-0839-4B1D87AA46DD}"/>
                </a:ext>
              </a:extLst>
            </p:cNvPr>
            <p:cNvSpPr/>
            <p:nvPr/>
          </p:nvSpPr>
          <p:spPr>
            <a:xfrm>
              <a:off x="3130943" y="2558808"/>
              <a:ext cx="1156335" cy="361950"/>
            </a:xfrm>
            <a:custGeom>
              <a:avLst/>
              <a:gdLst/>
              <a:ahLst/>
              <a:cxnLst/>
              <a:rect l="l" t="t" r="r" b="b"/>
              <a:pathLst>
                <a:path w="1156335" h="361950">
                  <a:moveTo>
                    <a:pt x="1155954" y="176784"/>
                  </a:moveTo>
                  <a:lnTo>
                    <a:pt x="999744" y="176784"/>
                  </a:lnTo>
                  <a:lnTo>
                    <a:pt x="1003554" y="169164"/>
                  </a:lnTo>
                  <a:lnTo>
                    <a:pt x="1034796" y="106680"/>
                  </a:lnTo>
                  <a:lnTo>
                    <a:pt x="1003554" y="106680"/>
                  </a:lnTo>
                  <a:lnTo>
                    <a:pt x="1003554" y="0"/>
                  </a:lnTo>
                  <a:lnTo>
                    <a:pt x="990600" y="0"/>
                  </a:lnTo>
                  <a:lnTo>
                    <a:pt x="990600" y="106680"/>
                  </a:lnTo>
                  <a:lnTo>
                    <a:pt x="958596" y="106680"/>
                  </a:lnTo>
                  <a:lnTo>
                    <a:pt x="990600" y="170688"/>
                  </a:lnTo>
                  <a:lnTo>
                    <a:pt x="993648" y="176784"/>
                  </a:lnTo>
                  <a:lnTo>
                    <a:pt x="0" y="176784"/>
                  </a:lnTo>
                  <a:lnTo>
                    <a:pt x="0" y="361950"/>
                  </a:lnTo>
                  <a:lnTo>
                    <a:pt x="6096" y="361950"/>
                  </a:lnTo>
                  <a:lnTo>
                    <a:pt x="12954" y="361950"/>
                  </a:lnTo>
                  <a:lnTo>
                    <a:pt x="12954" y="188976"/>
                  </a:lnTo>
                  <a:lnTo>
                    <a:pt x="76200" y="188976"/>
                  </a:lnTo>
                  <a:lnTo>
                    <a:pt x="76200" y="361950"/>
                  </a:lnTo>
                  <a:lnTo>
                    <a:pt x="89154" y="361950"/>
                  </a:lnTo>
                  <a:lnTo>
                    <a:pt x="89154" y="188976"/>
                  </a:lnTo>
                  <a:lnTo>
                    <a:pt x="152400" y="188976"/>
                  </a:lnTo>
                  <a:lnTo>
                    <a:pt x="152400" y="361950"/>
                  </a:lnTo>
                  <a:lnTo>
                    <a:pt x="165354" y="361950"/>
                  </a:lnTo>
                  <a:lnTo>
                    <a:pt x="165354" y="188976"/>
                  </a:lnTo>
                  <a:lnTo>
                    <a:pt x="228600" y="188976"/>
                  </a:lnTo>
                  <a:lnTo>
                    <a:pt x="228600" y="361950"/>
                  </a:lnTo>
                  <a:lnTo>
                    <a:pt x="241554" y="361950"/>
                  </a:lnTo>
                  <a:lnTo>
                    <a:pt x="241554" y="188976"/>
                  </a:lnTo>
                  <a:lnTo>
                    <a:pt x="304800" y="188976"/>
                  </a:lnTo>
                  <a:lnTo>
                    <a:pt x="304800" y="361950"/>
                  </a:lnTo>
                  <a:lnTo>
                    <a:pt x="317754" y="361950"/>
                  </a:lnTo>
                  <a:lnTo>
                    <a:pt x="317754" y="188976"/>
                  </a:lnTo>
                  <a:lnTo>
                    <a:pt x="381000" y="188976"/>
                  </a:lnTo>
                  <a:lnTo>
                    <a:pt x="381000" y="361950"/>
                  </a:lnTo>
                  <a:lnTo>
                    <a:pt x="393954" y="361950"/>
                  </a:lnTo>
                  <a:lnTo>
                    <a:pt x="393954" y="188976"/>
                  </a:lnTo>
                  <a:lnTo>
                    <a:pt x="457200" y="188976"/>
                  </a:lnTo>
                  <a:lnTo>
                    <a:pt x="457200" y="361950"/>
                  </a:lnTo>
                  <a:lnTo>
                    <a:pt x="470154" y="361950"/>
                  </a:lnTo>
                  <a:lnTo>
                    <a:pt x="470154" y="188976"/>
                  </a:lnTo>
                  <a:lnTo>
                    <a:pt x="533400" y="188976"/>
                  </a:lnTo>
                  <a:lnTo>
                    <a:pt x="533400" y="361950"/>
                  </a:lnTo>
                  <a:lnTo>
                    <a:pt x="546354" y="361950"/>
                  </a:lnTo>
                  <a:lnTo>
                    <a:pt x="546354" y="188976"/>
                  </a:lnTo>
                  <a:lnTo>
                    <a:pt x="609600" y="188976"/>
                  </a:lnTo>
                  <a:lnTo>
                    <a:pt x="609600" y="361950"/>
                  </a:lnTo>
                  <a:lnTo>
                    <a:pt x="622554" y="361950"/>
                  </a:lnTo>
                  <a:lnTo>
                    <a:pt x="622554" y="188976"/>
                  </a:lnTo>
                  <a:lnTo>
                    <a:pt x="685800" y="188976"/>
                  </a:lnTo>
                  <a:lnTo>
                    <a:pt x="685800" y="361950"/>
                  </a:lnTo>
                  <a:lnTo>
                    <a:pt x="698754" y="361950"/>
                  </a:lnTo>
                  <a:lnTo>
                    <a:pt x="698754" y="188976"/>
                  </a:lnTo>
                  <a:lnTo>
                    <a:pt x="762000" y="188976"/>
                  </a:lnTo>
                  <a:lnTo>
                    <a:pt x="762000" y="361950"/>
                  </a:lnTo>
                  <a:lnTo>
                    <a:pt x="774954" y="361950"/>
                  </a:lnTo>
                  <a:lnTo>
                    <a:pt x="774954" y="188976"/>
                  </a:lnTo>
                  <a:lnTo>
                    <a:pt x="838200" y="188976"/>
                  </a:lnTo>
                  <a:lnTo>
                    <a:pt x="838200" y="361950"/>
                  </a:lnTo>
                  <a:lnTo>
                    <a:pt x="851154" y="361950"/>
                  </a:lnTo>
                  <a:lnTo>
                    <a:pt x="851154" y="188976"/>
                  </a:lnTo>
                  <a:lnTo>
                    <a:pt x="914400" y="188976"/>
                  </a:lnTo>
                  <a:lnTo>
                    <a:pt x="914400" y="361950"/>
                  </a:lnTo>
                  <a:lnTo>
                    <a:pt x="927354" y="361950"/>
                  </a:lnTo>
                  <a:lnTo>
                    <a:pt x="927354" y="188976"/>
                  </a:lnTo>
                  <a:lnTo>
                    <a:pt x="990600" y="188976"/>
                  </a:lnTo>
                  <a:lnTo>
                    <a:pt x="990600" y="361950"/>
                  </a:lnTo>
                  <a:lnTo>
                    <a:pt x="996696" y="361950"/>
                  </a:lnTo>
                  <a:lnTo>
                    <a:pt x="996696" y="188976"/>
                  </a:lnTo>
                  <a:lnTo>
                    <a:pt x="1143000" y="188976"/>
                  </a:lnTo>
                  <a:lnTo>
                    <a:pt x="1143000" y="361950"/>
                  </a:lnTo>
                  <a:lnTo>
                    <a:pt x="1149096" y="361950"/>
                  </a:lnTo>
                  <a:lnTo>
                    <a:pt x="1155954" y="361950"/>
                  </a:lnTo>
                  <a:lnTo>
                    <a:pt x="1155954" y="176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C9ABFEC6-4021-6D11-6A1B-FCFA7881EDFE}"/>
              </a:ext>
            </a:extLst>
          </p:cNvPr>
          <p:cNvSpPr txBox="1"/>
          <p:nvPr/>
        </p:nvSpPr>
        <p:spPr>
          <a:xfrm>
            <a:off x="2686939" y="2504186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523E789-11E8-F7BA-3595-3C67CF1D502B}"/>
              </a:ext>
            </a:extLst>
          </p:cNvPr>
          <p:cNvSpPr txBox="1"/>
          <p:nvPr/>
        </p:nvSpPr>
        <p:spPr>
          <a:xfrm>
            <a:off x="3657727" y="238379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58A4589E-DBBE-C855-6D1F-94FA4C85B15E}"/>
              </a:ext>
            </a:extLst>
          </p:cNvPr>
          <p:cNvGrpSpPr/>
          <p:nvPr/>
        </p:nvGrpSpPr>
        <p:grpSpPr>
          <a:xfrm>
            <a:off x="774839" y="2735579"/>
            <a:ext cx="9144000" cy="1042669"/>
            <a:chOff x="774839" y="2735579"/>
            <a:chExt cx="9144000" cy="1042669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DE526C3-C859-54D6-9E0C-D6E67C6D3EA9}"/>
                </a:ext>
              </a:extLst>
            </p:cNvPr>
            <p:cNvSpPr/>
            <p:nvPr/>
          </p:nvSpPr>
          <p:spPr>
            <a:xfrm>
              <a:off x="2603639" y="2794253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76200" y="31242"/>
                  </a:moveTo>
                  <a:lnTo>
                    <a:pt x="76200" y="0"/>
                  </a:lnTo>
                  <a:lnTo>
                    <a:pt x="0" y="38100"/>
                  </a:lnTo>
                  <a:lnTo>
                    <a:pt x="64007" y="70104"/>
                  </a:lnTo>
                  <a:lnTo>
                    <a:pt x="64007" y="31242"/>
                  </a:lnTo>
                  <a:lnTo>
                    <a:pt x="76200" y="31242"/>
                  </a:lnTo>
                  <a:close/>
                </a:path>
                <a:path w="533400" h="76200">
                  <a:moveTo>
                    <a:pt x="470153" y="44195"/>
                  </a:moveTo>
                  <a:lnTo>
                    <a:pt x="470153" y="31241"/>
                  </a:lnTo>
                  <a:lnTo>
                    <a:pt x="64007" y="31242"/>
                  </a:lnTo>
                  <a:lnTo>
                    <a:pt x="64007" y="44196"/>
                  </a:lnTo>
                  <a:lnTo>
                    <a:pt x="470153" y="44195"/>
                  </a:lnTo>
                  <a:close/>
                </a:path>
                <a:path w="533400" h="76200">
                  <a:moveTo>
                    <a:pt x="76200" y="76200"/>
                  </a:moveTo>
                  <a:lnTo>
                    <a:pt x="76200" y="44196"/>
                  </a:lnTo>
                  <a:lnTo>
                    <a:pt x="64007" y="44196"/>
                  </a:lnTo>
                  <a:lnTo>
                    <a:pt x="64007" y="70104"/>
                  </a:lnTo>
                  <a:lnTo>
                    <a:pt x="76200" y="76200"/>
                  </a:lnTo>
                  <a:close/>
                </a:path>
                <a:path w="533400" h="76200">
                  <a:moveTo>
                    <a:pt x="533400" y="38100"/>
                  </a:moveTo>
                  <a:lnTo>
                    <a:pt x="457200" y="0"/>
                  </a:lnTo>
                  <a:lnTo>
                    <a:pt x="457200" y="31241"/>
                  </a:lnTo>
                  <a:lnTo>
                    <a:pt x="470153" y="31241"/>
                  </a:lnTo>
                  <a:lnTo>
                    <a:pt x="470153" y="69723"/>
                  </a:lnTo>
                  <a:lnTo>
                    <a:pt x="533400" y="38100"/>
                  </a:lnTo>
                  <a:close/>
                </a:path>
                <a:path w="533400" h="76200">
                  <a:moveTo>
                    <a:pt x="470153" y="69723"/>
                  </a:moveTo>
                  <a:lnTo>
                    <a:pt x="470153" y="44195"/>
                  </a:lnTo>
                  <a:lnTo>
                    <a:pt x="457200" y="44195"/>
                  </a:lnTo>
                  <a:lnTo>
                    <a:pt x="457200" y="76200"/>
                  </a:lnTo>
                  <a:lnTo>
                    <a:pt x="470153" y="69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864D3E5-56EE-E8A0-7BEE-C16D25DF9B10}"/>
                </a:ext>
              </a:extLst>
            </p:cNvPr>
            <p:cNvSpPr/>
            <p:nvPr/>
          </p:nvSpPr>
          <p:spPr>
            <a:xfrm>
              <a:off x="4127639" y="2741675"/>
              <a:ext cx="914400" cy="179070"/>
            </a:xfrm>
            <a:custGeom>
              <a:avLst/>
              <a:gdLst/>
              <a:ahLst/>
              <a:cxnLst/>
              <a:rect l="l" t="t" r="r" b="b"/>
              <a:pathLst>
                <a:path w="914400" h="179069">
                  <a:moveTo>
                    <a:pt x="914400" y="179069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179069"/>
                  </a:lnTo>
                  <a:lnTo>
                    <a:pt x="914400" y="179069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5E8D38D-E8AD-58AC-D474-CE9273D4637D}"/>
                </a:ext>
              </a:extLst>
            </p:cNvPr>
            <p:cNvSpPr/>
            <p:nvPr/>
          </p:nvSpPr>
          <p:spPr>
            <a:xfrm>
              <a:off x="4121543" y="2735579"/>
              <a:ext cx="927735" cy="185420"/>
            </a:xfrm>
            <a:custGeom>
              <a:avLst/>
              <a:gdLst/>
              <a:ahLst/>
              <a:cxnLst/>
              <a:rect l="l" t="t" r="r" b="b"/>
              <a:pathLst>
                <a:path w="927735" h="185419">
                  <a:moveTo>
                    <a:pt x="927353" y="185165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185165"/>
                  </a:lnTo>
                  <a:lnTo>
                    <a:pt x="6096" y="185165"/>
                  </a:lnTo>
                  <a:lnTo>
                    <a:pt x="6096" y="12192"/>
                  </a:lnTo>
                  <a:lnTo>
                    <a:pt x="12953" y="6095"/>
                  </a:lnTo>
                  <a:lnTo>
                    <a:pt x="12953" y="12192"/>
                  </a:lnTo>
                  <a:lnTo>
                    <a:pt x="914400" y="12192"/>
                  </a:lnTo>
                  <a:lnTo>
                    <a:pt x="914400" y="6095"/>
                  </a:lnTo>
                  <a:lnTo>
                    <a:pt x="920496" y="12192"/>
                  </a:lnTo>
                  <a:lnTo>
                    <a:pt x="920496" y="185165"/>
                  </a:lnTo>
                  <a:lnTo>
                    <a:pt x="927353" y="185165"/>
                  </a:lnTo>
                  <a:close/>
                </a:path>
                <a:path w="927735" h="185419">
                  <a:moveTo>
                    <a:pt x="12953" y="12192"/>
                  </a:moveTo>
                  <a:lnTo>
                    <a:pt x="12953" y="6095"/>
                  </a:lnTo>
                  <a:lnTo>
                    <a:pt x="6096" y="12192"/>
                  </a:lnTo>
                  <a:lnTo>
                    <a:pt x="12953" y="12192"/>
                  </a:lnTo>
                  <a:close/>
                </a:path>
                <a:path w="927735" h="185419">
                  <a:moveTo>
                    <a:pt x="12953" y="185165"/>
                  </a:moveTo>
                  <a:lnTo>
                    <a:pt x="12953" y="12192"/>
                  </a:lnTo>
                  <a:lnTo>
                    <a:pt x="6096" y="12192"/>
                  </a:lnTo>
                  <a:lnTo>
                    <a:pt x="6096" y="185165"/>
                  </a:lnTo>
                  <a:lnTo>
                    <a:pt x="12953" y="185165"/>
                  </a:lnTo>
                  <a:close/>
                </a:path>
                <a:path w="927735" h="185419">
                  <a:moveTo>
                    <a:pt x="920496" y="12192"/>
                  </a:moveTo>
                  <a:lnTo>
                    <a:pt x="914400" y="6095"/>
                  </a:lnTo>
                  <a:lnTo>
                    <a:pt x="914400" y="12192"/>
                  </a:lnTo>
                  <a:lnTo>
                    <a:pt x="920496" y="12192"/>
                  </a:lnTo>
                  <a:close/>
                </a:path>
                <a:path w="927735" h="185419">
                  <a:moveTo>
                    <a:pt x="920496" y="185165"/>
                  </a:moveTo>
                  <a:lnTo>
                    <a:pt x="920496" y="12192"/>
                  </a:lnTo>
                  <a:lnTo>
                    <a:pt x="914400" y="12192"/>
                  </a:lnTo>
                  <a:lnTo>
                    <a:pt x="914400" y="185165"/>
                  </a:lnTo>
                  <a:lnTo>
                    <a:pt x="920496" y="185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2936CC8-4F6E-C4B3-A947-FF6149991DEE}"/>
                </a:ext>
              </a:extLst>
            </p:cNvPr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8ABF3AB3-CA29-4446-5B03-09028FBD472E}"/>
              </a:ext>
            </a:extLst>
          </p:cNvPr>
          <p:cNvSpPr txBox="1"/>
          <p:nvPr/>
        </p:nvSpPr>
        <p:spPr>
          <a:xfrm>
            <a:off x="5997066" y="2998723"/>
            <a:ext cx="2844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performed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2400" b="0" i="0" u="none" strike="noStrike" kern="1200" cap="none" spc="-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doubled</a:t>
            </a:r>
            <a:r>
              <a:rPr kumimoji="0" sz="24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size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6824D882-24B3-DAD9-3AD5-C44867956D88}"/>
              </a:ext>
            </a:extLst>
          </p:cNvPr>
          <p:cNvGrpSpPr/>
          <p:nvPr/>
        </p:nvGrpSpPr>
        <p:grpSpPr>
          <a:xfrm>
            <a:off x="1983371" y="2920745"/>
            <a:ext cx="627380" cy="194310"/>
            <a:chOff x="1983371" y="2920745"/>
            <a:chExt cx="627380" cy="194310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3705B26-A9D4-C188-251A-4C703F120A92}"/>
                </a:ext>
              </a:extLst>
            </p:cNvPr>
            <p:cNvSpPr/>
            <p:nvPr/>
          </p:nvSpPr>
          <p:spPr>
            <a:xfrm>
              <a:off x="1989467" y="2920745"/>
              <a:ext cx="614172" cy="1874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22FD8F9-B6D5-DA23-BA60-9679F96EDEC8}"/>
                </a:ext>
              </a:extLst>
            </p:cNvPr>
            <p:cNvSpPr/>
            <p:nvPr/>
          </p:nvSpPr>
          <p:spPr>
            <a:xfrm>
              <a:off x="1983371" y="2920745"/>
              <a:ext cx="627380" cy="194310"/>
            </a:xfrm>
            <a:custGeom>
              <a:avLst/>
              <a:gdLst/>
              <a:ahLst/>
              <a:cxnLst/>
              <a:rect l="l" t="t" r="r" b="b"/>
              <a:pathLst>
                <a:path w="627380" h="194310">
                  <a:moveTo>
                    <a:pt x="12954" y="181355"/>
                  </a:moveTo>
                  <a:lnTo>
                    <a:pt x="12954" y="0"/>
                  </a:lnTo>
                  <a:lnTo>
                    <a:pt x="0" y="0"/>
                  </a:lnTo>
                  <a:lnTo>
                    <a:pt x="0" y="194309"/>
                  </a:lnTo>
                  <a:lnTo>
                    <a:pt x="6096" y="194309"/>
                  </a:lnTo>
                  <a:lnTo>
                    <a:pt x="6096" y="181355"/>
                  </a:lnTo>
                  <a:lnTo>
                    <a:pt x="12954" y="181355"/>
                  </a:lnTo>
                  <a:close/>
                </a:path>
                <a:path w="627380" h="194310">
                  <a:moveTo>
                    <a:pt x="620268" y="181355"/>
                  </a:moveTo>
                  <a:lnTo>
                    <a:pt x="6096" y="181355"/>
                  </a:lnTo>
                  <a:lnTo>
                    <a:pt x="12954" y="187451"/>
                  </a:lnTo>
                  <a:lnTo>
                    <a:pt x="12954" y="194309"/>
                  </a:lnTo>
                  <a:lnTo>
                    <a:pt x="614172" y="194309"/>
                  </a:lnTo>
                  <a:lnTo>
                    <a:pt x="614172" y="187451"/>
                  </a:lnTo>
                  <a:lnTo>
                    <a:pt x="620268" y="181355"/>
                  </a:lnTo>
                  <a:close/>
                </a:path>
                <a:path w="627380" h="194310">
                  <a:moveTo>
                    <a:pt x="12954" y="194309"/>
                  </a:moveTo>
                  <a:lnTo>
                    <a:pt x="12954" y="187451"/>
                  </a:lnTo>
                  <a:lnTo>
                    <a:pt x="6096" y="181355"/>
                  </a:lnTo>
                  <a:lnTo>
                    <a:pt x="6096" y="194309"/>
                  </a:lnTo>
                  <a:lnTo>
                    <a:pt x="12954" y="194309"/>
                  </a:lnTo>
                  <a:close/>
                </a:path>
                <a:path w="627380" h="194310">
                  <a:moveTo>
                    <a:pt x="627126" y="194309"/>
                  </a:moveTo>
                  <a:lnTo>
                    <a:pt x="627126" y="0"/>
                  </a:lnTo>
                  <a:lnTo>
                    <a:pt x="614172" y="0"/>
                  </a:lnTo>
                  <a:lnTo>
                    <a:pt x="614172" y="181355"/>
                  </a:lnTo>
                  <a:lnTo>
                    <a:pt x="620268" y="181355"/>
                  </a:lnTo>
                  <a:lnTo>
                    <a:pt x="620268" y="194309"/>
                  </a:lnTo>
                  <a:lnTo>
                    <a:pt x="627126" y="194309"/>
                  </a:lnTo>
                  <a:close/>
                </a:path>
                <a:path w="627380" h="194310">
                  <a:moveTo>
                    <a:pt x="620268" y="194309"/>
                  </a:moveTo>
                  <a:lnTo>
                    <a:pt x="620268" y="181355"/>
                  </a:lnTo>
                  <a:lnTo>
                    <a:pt x="614172" y="187451"/>
                  </a:lnTo>
                  <a:lnTo>
                    <a:pt x="614172" y="194309"/>
                  </a:lnTo>
                  <a:lnTo>
                    <a:pt x="620268" y="1943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A79BFC13-BDFB-E2E9-FE6F-2647098414F2}"/>
              </a:ext>
            </a:extLst>
          </p:cNvPr>
          <p:cNvSpPr txBox="1"/>
          <p:nvPr/>
        </p:nvSpPr>
        <p:spPr>
          <a:xfrm>
            <a:off x="2022475" y="2760217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096A522D-FCB0-583D-FC29-F23A795DBEFD}"/>
              </a:ext>
            </a:extLst>
          </p:cNvPr>
          <p:cNvGrpSpPr/>
          <p:nvPr/>
        </p:nvGrpSpPr>
        <p:grpSpPr>
          <a:xfrm>
            <a:off x="1765439" y="2920745"/>
            <a:ext cx="3581400" cy="378460"/>
            <a:chOff x="1765439" y="2920745"/>
            <a:chExt cx="3581400" cy="378460"/>
          </a:xfrm>
        </p:grpSpPr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DA0062F5-D7AB-A2A7-6356-7C78793A690B}"/>
                </a:ext>
              </a:extLst>
            </p:cNvPr>
            <p:cNvSpPr/>
            <p:nvPr/>
          </p:nvSpPr>
          <p:spPr>
            <a:xfrm>
              <a:off x="1765439" y="3102101"/>
              <a:ext cx="3581400" cy="13335"/>
            </a:xfrm>
            <a:custGeom>
              <a:avLst/>
              <a:gdLst/>
              <a:ahLst/>
              <a:cxnLst/>
              <a:rect l="l" t="t" r="r" b="b"/>
              <a:pathLst>
                <a:path w="3581400" h="13335">
                  <a:moveTo>
                    <a:pt x="3581399" y="12953"/>
                  </a:moveTo>
                  <a:lnTo>
                    <a:pt x="3581399" y="0"/>
                  </a:lnTo>
                  <a:lnTo>
                    <a:pt x="0" y="0"/>
                  </a:lnTo>
                  <a:lnTo>
                    <a:pt x="0" y="12954"/>
                  </a:lnTo>
                  <a:lnTo>
                    <a:pt x="3581399" y="12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03DA1EDA-3DDD-76DB-1687-8EE2FD869350}"/>
                </a:ext>
              </a:extLst>
            </p:cNvPr>
            <p:cNvSpPr/>
            <p:nvPr/>
          </p:nvSpPr>
          <p:spPr>
            <a:xfrm>
              <a:off x="3137039" y="2920745"/>
              <a:ext cx="1143000" cy="1874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4A170C2-67C3-DB1B-B5B6-805EAACEC66D}"/>
                </a:ext>
              </a:extLst>
            </p:cNvPr>
            <p:cNvSpPr/>
            <p:nvPr/>
          </p:nvSpPr>
          <p:spPr>
            <a:xfrm>
              <a:off x="3130943" y="2920758"/>
              <a:ext cx="1156335" cy="378460"/>
            </a:xfrm>
            <a:custGeom>
              <a:avLst/>
              <a:gdLst/>
              <a:ahLst/>
              <a:cxnLst/>
              <a:rect l="l" t="t" r="r" b="b"/>
              <a:pathLst>
                <a:path w="1156335" h="378460">
                  <a:moveTo>
                    <a:pt x="1155954" y="0"/>
                  </a:moveTo>
                  <a:lnTo>
                    <a:pt x="1143000" y="0"/>
                  </a:lnTo>
                  <a:lnTo>
                    <a:pt x="1143000" y="181356"/>
                  </a:lnTo>
                  <a:lnTo>
                    <a:pt x="1143000" y="194310"/>
                  </a:lnTo>
                  <a:lnTo>
                    <a:pt x="1143000" y="336804"/>
                  </a:lnTo>
                  <a:lnTo>
                    <a:pt x="1072896" y="301752"/>
                  </a:lnTo>
                  <a:lnTo>
                    <a:pt x="1072896" y="333756"/>
                  </a:lnTo>
                  <a:lnTo>
                    <a:pt x="82296" y="333756"/>
                  </a:lnTo>
                  <a:lnTo>
                    <a:pt x="82296" y="301752"/>
                  </a:lnTo>
                  <a:lnTo>
                    <a:pt x="12954" y="336423"/>
                  </a:lnTo>
                  <a:lnTo>
                    <a:pt x="12954" y="194310"/>
                  </a:lnTo>
                  <a:lnTo>
                    <a:pt x="1143000" y="194310"/>
                  </a:lnTo>
                  <a:lnTo>
                    <a:pt x="1143000" y="181356"/>
                  </a:lnTo>
                  <a:lnTo>
                    <a:pt x="996696" y="181356"/>
                  </a:lnTo>
                  <a:lnTo>
                    <a:pt x="996696" y="0"/>
                  </a:lnTo>
                  <a:lnTo>
                    <a:pt x="990600" y="0"/>
                  </a:lnTo>
                  <a:lnTo>
                    <a:pt x="990600" y="181356"/>
                  </a:lnTo>
                  <a:lnTo>
                    <a:pt x="927354" y="181356"/>
                  </a:lnTo>
                  <a:lnTo>
                    <a:pt x="927354" y="0"/>
                  </a:lnTo>
                  <a:lnTo>
                    <a:pt x="914400" y="0"/>
                  </a:lnTo>
                  <a:lnTo>
                    <a:pt x="914400" y="181356"/>
                  </a:lnTo>
                  <a:lnTo>
                    <a:pt x="851154" y="181356"/>
                  </a:lnTo>
                  <a:lnTo>
                    <a:pt x="851154" y="0"/>
                  </a:lnTo>
                  <a:lnTo>
                    <a:pt x="838200" y="0"/>
                  </a:lnTo>
                  <a:lnTo>
                    <a:pt x="838200" y="181356"/>
                  </a:lnTo>
                  <a:lnTo>
                    <a:pt x="774954" y="181356"/>
                  </a:lnTo>
                  <a:lnTo>
                    <a:pt x="774954" y="0"/>
                  </a:lnTo>
                  <a:lnTo>
                    <a:pt x="762000" y="0"/>
                  </a:lnTo>
                  <a:lnTo>
                    <a:pt x="762000" y="181356"/>
                  </a:lnTo>
                  <a:lnTo>
                    <a:pt x="698754" y="181356"/>
                  </a:lnTo>
                  <a:lnTo>
                    <a:pt x="698754" y="0"/>
                  </a:lnTo>
                  <a:lnTo>
                    <a:pt x="685800" y="0"/>
                  </a:lnTo>
                  <a:lnTo>
                    <a:pt x="685800" y="181356"/>
                  </a:lnTo>
                  <a:lnTo>
                    <a:pt x="622554" y="181356"/>
                  </a:lnTo>
                  <a:lnTo>
                    <a:pt x="622554" y="0"/>
                  </a:lnTo>
                  <a:lnTo>
                    <a:pt x="609600" y="0"/>
                  </a:lnTo>
                  <a:lnTo>
                    <a:pt x="609600" y="181356"/>
                  </a:lnTo>
                  <a:lnTo>
                    <a:pt x="546354" y="181356"/>
                  </a:lnTo>
                  <a:lnTo>
                    <a:pt x="546354" y="0"/>
                  </a:lnTo>
                  <a:lnTo>
                    <a:pt x="533400" y="0"/>
                  </a:lnTo>
                  <a:lnTo>
                    <a:pt x="533400" y="181356"/>
                  </a:lnTo>
                  <a:lnTo>
                    <a:pt x="470154" y="181356"/>
                  </a:lnTo>
                  <a:lnTo>
                    <a:pt x="470154" y="0"/>
                  </a:lnTo>
                  <a:lnTo>
                    <a:pt x="457200" y="0"/>
                  </a:lnTo>
                  <a:lnTo>
                    <a:pt x="457200" y="181356"/>
                  </a:lnTo>
                  <a:lnTo>
                    <a:pt x="393954" y="181356"/>
                  </a:lnTo>
                  <a:lnTo>
                    <a:pt x="393954" y="0"/>
                  </a:lnTo>
                  <a:lnTo>
                    <a:pt x="381000" y="0"/>
                  </a:lnTo>
                  <a:lnTo>
                    <a:pt x="381000" y="181356"/>
                  </a:lnTo>
                  <a:lnTo>
                    <a:pt x="317754" y="181356"/>
                  </a:lnTo>
                  <a:lnTo>
                    <a:pt x="317754" y="0"/>
                  </a:lnTo>
                  <a:lnTo>
                    <a:pt x="304800" y="0"/>
                  </a:lnTo>
                  <a:lnTo>
                    <a:pt x="304800" y="181356"/>
                  </a:lnTo>
                  <a:lnTo>
                    <a:pt x="241554" y="181356"/>
                  </a:lnTo>
                  <a:lnTo>
                    <a:pt x="241554" y="0"/>
                  </a:lnTo>
                  <a:lnTo>
                    <a:pt x="228600" y="0"/>
                  </a:lnTo>
                  <a:lnTo>
                    <a:pt x="228600" y="181356"/>
                  </a:lnTo>
                  <a:lnTo>
                    <a:pt x="165354" y="181356"/>
                  </a:lnTo>
                  <a:lnTo>
                    <a:pt x="165354" y="0"/>
                  </a:lnTo>
                  <a:lnTo>
                    <a:pt x="152400" y="0"/>
                  </a:lnTo>
                  <a:lnTo>
                    <a:pt x="152400" y="181356"/>
                  </a:lnTo>
                  <a:lnTo>
                    <a:pt x="89154" y="181356"/>
                  </a:lnTo>
                  <a:lnTo>
                    <a:pt x="89154" y="0"/>
                  </a:lnTo>
                  <a:lnTo>
                    <a:pt x="76200" y="0"/>
                  </a:lnTo>
                  <a:lnTo>
                    <a:pt x="76200" y="181356"/>
                  </a:lnTo>
                  <a:lnTo>
                    <a:pt x="12954" y="181356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187452"/>
                  </a:lnTo>
                  <a:lnTo>
                    <a:pt x="0" y="194310"/>
                  </a:lnTo>
                  <a:lnTo>
                    <a:pt x="0" y="339852"/>
                  </a:lnTo>
                  <a:lnTo>
                    <a:pt x="6096" y="339852"/>
                  </a:lnTo>
                  <a:lnTo>
                    <a:pt x="70104" y="371856"/>
                  </a:lnTo>
                  <a:lnTo>
                    <a:pt x="82296" y="377952"/>
                  </a:lnTo>
                  <a:lnTo>
                    <a:pt x="82296" y="346710"/>
                  </a:lnTo>
                  <a:lnTo>
                    <a:pt x="1072896" y="346710"/>
                  </a:lnTo>
                  <a:lnTo>
                    <a:pt x="1072896" y="377952"/>
                  </a:lnTo>
                  <a:lnTo>
                    <a:pt x="1085850" y="371475"/>
                  </a:lnTo>
                  <a:lnTo>
                    <a:pt x="1149096" y="339852"/>
                  </a:lnTo>
                  <a:lnTo>
                    <a:pt x="1155954" y="339852"/>
                  </a:lnTo>
                  <a:lnTo>
                    <a:pt x="1155954" y="194310"/>
                  </a:lnTo>
                  <a:lnTo>
                    <a:pt x="1155954" y="187452"/>
                  </a:lnTo>
                  <a:lnTo>
                    <a:pt x="1155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C50185F1-3CAE-CED6-A52D-27190D2C77E7}"/>
              </a:ext>
            </a:extLst>
          </p:cNvPr>
          <p:cNvSpPr txBox="1"/>
          <p:nvPr/>
        </p:nvSpPr>
        <p:spPr>
          <a:xfrm>
            <a:off x="1574939" y="2762504"/>
            <a:ext cx="2533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50" normalizeH="0" baseline="-173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r>
              <a:rPr kumimoji="0" sz="105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E612BF6-FC29-CF36-769A-FDFC7F323F7E}"/>
              </a:ext>
            </a:extLst>
          </p:cNvPr>
          <p:cNvSpPr txBox="1"/>
          <p:nvPr/>
        </p:nvSpPr>
        <p:spPr>
          <a:xfrm>
            <a:off x="2667126" y="3298190"/>
            <a:ext cx="19742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 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Cwmin </a:t>
            </a:r>
            <a:r>
              <a:rPr kumimoji="0" sz="1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‐ </a:t>
            </a:r>
            <a:r>
              <a:rPr kumimoji="0" sz="12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 </a:t>
            </a:r>
            <a:r>
              <a:rPr kumimoji="0" sz="12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(=15 </a:t>
            </a:r>
            <a:r>
              <a:rPr kumimoji="0" sz="1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1200" b="0" i="0" u="none" strike="noStrike" kern="1200" cap="none" spc="-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802.11a)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4285B674-B583-8800-6C8A-1C8D9D5E0BA1}"/>
              </a:ext>
            </a:extLst>
          </p:cNvPr>
          <p:cNvGrpSpPr/>
          <p:nvPr/>
        </p:nvGrpSpPr>
        <p:grpSpPr>
          <a:xfrm>
            <a:off x="4121543" y="2920745"/>
            <a:ext cx="927735" cy="193040"/>
            <a:chOff x="4121543" y="2920745"/>
            <a:chExt cx="927735" cy="193040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8212757B-8F93-0449-8F2F-87E8924B674D}"/>
                </a:ext>
              </a:extLst>
            </p:cNvPr>
            <p:cNvSpPr/>
            <p:nvPr/>
          </p:nvSpPr>
          <p:spPr>
            <a:xfrm>
              <a:off x="4127639" y="2920745"/>
              <a:ext cx="914400" cy="186055"/>
            </a:xfrm>
            <a:custGeom>
              <a:avLst/>
              <a:gdLst/>
              <a:ahLst/>
              <a:cxnLst/>
              <a:rect l="l" t="t" r="r" b="b"/>
              <a:pathLst>
                <a:path w="914400" h="186055">
                  <a:moveTo>
                    <a:pt x="914400" y="185928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185928"/>
                  </a:lnTo>
                  <a:lnTo>
                    <a:pt x="914400" y="185928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84B26015-D30E-9E63-DD2A-0004E4398598}"/>
                </a:ext>
              </a:extLst>
            </p:cNvPr>
            <p:cNvSpPr/>
            <p:nvPr/>
          </p:nvSpPr>
          <p:spPr>
            <a:xfrm>
              <a:off x="4121543" y="2920745"/>
              <a:ext cx="927735" cy="193040"/>
            </a:xfrm>
            <a:custGeom>
              <a:avLst/>
              <a:gdLst/>
              <a:ahLst/>
              <a:cxnLst/>
              <a:rect l="l" t="t" r="r" b="b"/>
              <a:pathLst>
                <a:path w="927735" h="193039">
                  <a:moveTo>
                    <a:pt x="12953" y="179831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192785"/>
                  </a:lnTo>
                  <a:lnTo>
                    <a:pt x="6096" y="192785"/>
                  </a:lnTo>
                  <a:lnTo>
                    <a:pt x="6096" y="179831"/>
                  </a:lnTo>
                  <a:lnTo>
                    <a:pt x="12953" y="179831"/>
                  </a:lnTo>
                  <a:close/>
                </a:path>
                <a:path w="927735" h="193039">
                  <a:moveTo>
                    <a:pt x="920496" y="179831"/>
                  </a:moveTo>
                  <a:lnTo>
                    <a:pt x="6096" y="179831"/>
                  </a:lnTo>
                  <a:lnTo>
                    <a:pt x="12953" y="185927"/>
                  </a:lnTo>
                  <a:lnTo>
                    <a:pt x="12953" y="192785"/>
                  </a:lnTo>
                  <a:lnTo>
                    <a:pt x="914400" y="192785"/>
                  </a:lnTo>
                  <a:lnTo>
                    <a:pt x="914400" y="185927"/>
                  </a:lnTo>
                  <a:lnTo>
                    <a:pt x="920496" y="179831"/>
                  </a:lnTo>
                  <a:close/>
                </a:path>
                <a:path w="927735" h="193039">
                  <a:moveTo>
                    <a:pt x="12953" y="192785"/>
                  </a:moveTo>
                  <a:lnTo>
                    <a:pt x="12953" y="185927"/>
                  </a:lnTo>
                  <a:lnTo>
                    <a:pt x="6096" y="179831"/>
                  </a:lnTo>
                  <a:lnTo>
                    <a:pt x="6096" y="192785"/>
                  </a:lnTo>
                  <a:lnTo>
                    <a:pt x="12953" y="192785"/>
                  </a:lnTo>
                  <a:close/>
                </a:path>
                <a:path w="927735" h="193039">
                  <a:moveTo>
                    <a:pt x="927353" y="192785"/>
                  </a:moveTo>
                  <a:lnTo>
                    <a:pt x="927353" y="0"/>
                  </a:lnTo>
                  <a:lnTo>
                    <a:pt x="914400" y="0"/>
                  </a:lnTo>
                  <a:lnTo>
                    <a:pt x="914400" y="179831"/>
                  </a:lnTo>
                  <a:lnTo>
                    <a:pt x="920496" y="179831"/>
                  </a:lnTo>
                  <a:lnTo>
                    <a:pt x="920496" y="192785"/>
                  </a:lnTo>
                  <a:lnTo>
                    <a:pt x="927353" y="192785"/>
                  </a:lnTo>
                  <a:close/>
                </a:path>
                <a:path w="927735" h="193039">
                  <a:moveTo>
                    <a:pt x="920496" y="192785"/>
                  </a:moveTo>
                  <a:lnTo>
                    <a:pt x="920496" y="179831"/>
                  </a:lnTo>
                  <a:lnTo>
                    <a:pt x="914400" y="185927"/>
                  </a:lnTo>
                  <a:lnTo>
                    <a:pt x="914400" y="192785"/>
                  </a:lnTo>
                  <a:lnTo>
                    <a:pt x="920496" y="1927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object 30">
            <a:extLst>
              <a:ext uri="{FF2B5EF4-FFF2-40B4-BE49-F238E27FC236}">
                <a16:creationId xmlns:a16="http://schemas.microsoft.com/office/drawing/2014/main" id="{ECC4282D-0FC6-DEBC-66E1-C6169D19316C}"/>
              </a:ext>
            </a:extLst>
          </p:cNvPr>
          <p:cNvSpPr txBox="1"/>
          <p:nvPr/>
        </p:nvSpPr>
        <p:spPr>
          <a:xfrm>
            <a:off x="4127639" y="2776219"/>
            <a:ext cx="914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1AD8CBC-056C-EC75-2AC8-02C626B1F729}"/>
              </a:ext>
            </a:extLst>
          </p:cNvPr>
          <p:cNvSpPr txBox="1"/>
          <p:nvPr/>
        </p:nvSpPr>
        <p:spPr>
          <a:xfrm>
            <a:off x="5997066" y="3730244"/>
            <a:ext cx="323469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contention window.  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reduces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400" b="0" i="0" u="none" strike="noStrike" kern="1200" cap="none" spc="-5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collision  probability </a:t>
            </a:r>
            <a:r>
              <a:rPr kumimoji="0" sz="24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if 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there </a:t>
            </a:r>
            <a:r>
              <a:rPr kumimoji="0" sz="24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  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multiple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 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attempting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400" b="0" i="0" u="none" strike="noStrike" kern="1200" cap="none" spc="-5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32" name="object 32">
            <a:extLst>
              <a:ext uri="{FF2B5EF4-FFF2-40B4-BE49-F238E27FC236}">
                <a16:creationId xmlns:a16="http://schemas.microsoft.com/office/drawing/2014/main" id="{8638E838-0DF5-0A26-0BED-CC9D557A4F5A}"/>
              </a:ext>
            </a:extLst>
          </p:cNvPr>
          <p:cNvGrpSpPr/>
          <p:nvPr/>
        </p:nvGrpSpPr>
        <p:grpSpPr>
          <a:xfrm>
            <a:off x="1983371" y="4152900"/>
            <a:ext cx="627380" cy="379730"/>
            <a:chOff x="1983371" y="4152900"/>
            <a:chExt cx="627380" cy="379730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7DAAFCA-6098-34BF-095C-D34BE4F5CEA5}"/>
                </a:ext>
              </a:extLst>
            </p:cNvPr>
            <p:cNvSpPr/>
            <p:nvPr/>
          </p:nvSpPr>
          <p:spPr>
            <a:xfrm>
              <a:off x="1989467" y="4158995"/>
              <a:ext cx="614172" cy="3672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2FBEFE4B-3CA3-0DDE-FFC9-D813DD443BA5}"/>
                </a:ext>
              </a:extLst>
            </p:cNvPr>
            <p:cNvSpPr/>
            <p:nvPr/>
          </p:nvSpPr>
          <p:spPr>
            <a:xfrm>
              <a:off x="1983371" y="4152900"/>
              <a:ext cx="627380" cy="379730"/>
            </a:xfrm>
            <a:custGeom>
              <a:avLst/>
              <a:gdLst/>
              <a:ahLst/>
              <a:cxnLst/>
              <a:rect l="l" t="t" r="r" b="b"/>
              <a:pathLst>
                <a:path w="627380" h="379729">
                  <a:moveTo>
                    <a:pt x="627126" y="379475"/>
                  </a:moveTo>
                  <a:lnTo>
                    <a:pt x="627126" y="0"/>
                  </a:lnTo>
                  <a:lnTo>
                    <a:pt x="0" y="0"/>
                  </a:lnTo>
                  <a:lnTo>
                    <a:pt x="0" y="379475"/>
                  </a:lnTo>
                  <a:lnTo>
                    <a:pt x="6096" y="379475"/>
                  </a:lnTo>
                  <a:lnTo>
                    <a:pt x="6096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614172" y="12953"/>
                  </a:lnTo>
                  <a:lnTo>
                    <a:pt x="614172" y="6096"/>
                  </a:lnTo>
                  <a:lnTo>
                    <a:pt x="620268" y="12953"/>
                  </a:lnTo>
                  <a:lnTo>
                    <a:pt x="620268" y="379475"/>
                  </a:lnTo>
                  <a:lnTo>
                    <a:pt x="627126" y="379475"/>
                  </a:lnTo>
                  <a:close/>
                </a:path>
                <a:path w="627380" h="379729">
                  <a:moveTo>
                    <a:pt x="12954" y="12953"/>
                  </a:moveTo>
                  <a:lnTo>
                    <a:pt x="12954" y="6096"/>
                  </a:lnTo>
                  <a:lnTo>
                    <a:pt x="6096" y="12953"/>
                  </a:lnTo>
                  <a:lnTo>
                    <a:pt x="12954" y="12953"/>
                  </a:lnTo>
                  <a:close/>
                </a:path>
                <a:path w="627380" h="379729">
                  <a:moveTo>
                    <a:pt x="12954" y="366522"/>
                  </a:moveTo>
                  <a:lnTo>
                    <a:pt x="12954" y="12953"/>
                  </a:lnTo>
                  <a:lnTo>
                    <a:pt x="6096" y="12953"/>
                  </a:lnTo>
                  <a:lnTo>
                    <a:pt x="6096" y="366522"/>
                  </a:lnTo>
                  <a:lnTo>
                    <a:pt x="12954" y="366522"/>
                  </a:lnTo>
                  <a:close/>
                </a:path>
                <a:path w="627380" h="379729">
                  <a:moveTo>
                    <a:pt x="620268" y="366522"/>
                  </a:moveTo>
                  <a:lnTo>
                    <a:pt x="6096" y="366522"/>
                  </a:lnTo>
                  <a:lnTo>
                    <a:pt x="12954" y="373379"/>
                  </a:lnTo>
                  <a:lnTo>
                    <a:pt x="12954" y="379475"/>
                  </a:lnTo>
                  <a:lnTo>
                    <a:pt x="614172" y="379475"/>
                  </a:lnTo>
                  <a:lnTo>
                    <a:pt x="614172" y="373379"/>
                  </a:lnTo>
                  <a:lnTo>
                    <a:pt x="620268" y="366522"/>
                  </a:lnTo>
                  <a:close/>
                </a:path>
                <a:path w="627380" h="379729">
                  <a:moveTo>
                    <a:pt x="12954" y="379475"/>
                  </a:moveTo>
                  <a:lnTo>
                    <a:pt x="12954" y="373379"/>
                  </a:lnTo>
                  <a:lnTo>
                    <a:pt x="6096" y="366522"/>
                  </a:lnTo>
                  <a:lnTo>
                    <a:pt x="6096" y="379475"/>
                  </a:lnTo>
                  <a:lnTo>
                    <a:pt x="12954" y="379475"/>
                  </a:lnTo>
                  <a:close/>
                </a:path>
                <a:path w="627380" h="379729">
                  <a:moveTo>
                    <a:pt x="620268" y="12953"/>
                  </a:moveTo>
                  <a:lnTo>
                    <a:pt x="614172" y="6096"/>
                  </a:lnTo>
                  <a:lnTo>
                    <a:pt x="614172" y="12953"/>
                  </a:lnTo>
                  <a:lnTo>
                    <a:pt x="620268" y="12953"/>
                  </a:lnTo>
                  <a:close/>
                </a:path>
                <a:path w="627380" h="379729">
                  <a:moveTo>
                    <a:pt x="620268" y="366522"/>
                  </a:moveTo>
                  <a:lnTo>
                    <a:pt x="620268" y="12953"/>
                  </a:lnTo>
                  <a:lnTo>
                    <a:pt x="614172" y="12953"/>
                  </a:lnTo>
                  <a:lnTo>
                    <a:pt x="614172" y="366522"/>
                  </a:lnTo>
                  <a:lnTo>
                    <a:pt x="620268" y="366522"/>
                  </a:lnTo>
                  <a:close/>
                </a:path>
                <a:path w="627380" h="379729">
                  <a:moveTo>
                    <a:pt x="620268" y="379475"/>
                  </a:moveTo>
                  <a:lnTo>
                    <a:pt x="620268" y="366522"/>
                  </a:lnTo>
                  <a:lnTo>
                    <a:pt x="614172" y="373379"/>
                  </a:lnTo>
                  <a:lnTo>
                    <a:pt x="614172" y="379475"/>
                  </a:lnTo>
                  <a:lnTo>
                    <a:pt x="620268" y="3794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F67B8D0B-9302-13A4-7E1B-02C6AAA0BC62}"/>
              </a:ext>
            </a:extLst>
          </p:cNvPr>
          <p:cNvSpPr txBox="1"/>
          <p:nvPr/>
        </p:nvSpPr>
        <p:spPr>
          <a:xfrm>
            <a:off x="2022475" y="4177538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E827185-7402-42A2-CB46-730FF2DCB75E}"/>
              </a:ext>
            </a:extLst>
          </p:cNvPr>
          <p:cNvSpPr/>
          <p:nvPr/>
        </p:nvSpPr>
        <p:spPr>
          <a:xfrm>
            <a:off x="1765439" y="4519421"/>
            <a:ext cx="3581400" cy="13335"/>
          </a:xfrm>
          <a:custGeom>
            <a:avLst/>
            <a:gdLst/>
            <a:ahLst/>
            <a:cxnLst/>
            <a:rect l="l" t="t" r="r" b="b"/>
            <a:pathLst>
              <a:path w="3581400" h="13335">
                <a:moveTo>
                  <a:pt x="3581399" y="12953"/>
                </a:moveTo>
                <a:lnTo>
                  <a:pt x="3581399" y="0"/>
                </a:lnTo>
                <a:lnTo>
                  <a:pt x="0" y="0"/>
                </a:lnTo>
                <a:lnTo>
                  <a:pt x="0" y="12953"/>
                </a:lnTo>
                <a:lnTo>
                  <a:pt x="3581399" y="12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AA6F16AE-0B9F-D425-794A-0DF2BEFB8EDD}"/>
              </a:ext>
            </a:extLst>
          </p:cNvPr>
          <p:cNvSpPr txBox="1"/>
          <p:nvPr/>
        </p:nvSpPr>
        <p:spPr>
          <a:xfrm>
            <a:off x="1574939" y="4180585"/>
            <a:ext cx="2933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5" normalizeH="0" baseline="-173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</a:t>
            </a:r>
            <a:r>
              <a:rPr kumimoji="0" sz="10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9E3B07E9-2D92-4520-3C8E-23CF69DA33A7}"/>
              </a:ext>
            </a:extLst>
          </p:cNvPr>
          <p:cNvSpPr txBox="1"/>
          <p:nvPr/>
        </p:nvSpPr>
        <p:spPr>
          <a:xfrm>
            <a:off x="2686939" y="3922267"/>
            <a:ext cx="367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DIFS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22871B3E-CE00-15D6-5FF5-69D2C21638FD}"/>
              </a:ext>
            </a:extLst>
          </p:cNvPr>
          <p:cNvSpPr/>
          <p:nvPr/>
        </p:nvSpPr>
        <p:spPr>
          <a:xfrm>
            <a:off x="3130943" y="4526279"/>
            <a:ext cx="13335" cy="152400"/>
          </a:xfrm>
          <a:custGeom>
            <a:avLst/>
            <a:gdLst/>
            <a:ahLst/>
            <a:cxnLst/>
            <a:rect l="l" t="t" r="r" b="b"/>
            <a:pathLst>
              <a:path w="13335" h="152400">
                <a:moveTo>
                  <a:pt x="0" y="0"/>
                </a:moveTo>
                <a:lnTo>
                  <a:pt x="0" y="152400"/>
                </a:lnTo>
                <a:lnTo>
                  <a:pt x="12954" y="152400"/>
                </a:lnTo>
                <a:lnTo>
                  <a:pt x="12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97251580-F3A8-2D08-A214-F81567DC580D}"/>
              </a:ext>
            </a:extLst>
          </p:cNvPr>
          <p:cNvSpPr txBox="1"/>
          <p:nvPr/>
        </p:nvSpPr>
        <p:spPr>
          <a:xfrm>
            <a:off x="3810127" y="3801109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12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start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1" name="object 41">
            <a:extLst>
              <a:ext uri="{FF2B5EF4-FFF2-40B4-BE49-F238E27FC236}">
                <a16:creationId xmlns:a16="http://schemas.microsoft.com/office/drawing/2014/main" id="{6CB54657-14F5-B024-D94D-0D139107E7F2}"/>
              </a:ext>
            </a:extLst>
          </p:cNvPr>
          <p:cNvGrpSpPr/>
          <p:nvPr/>
        </p:nvGrpSpPr>
        <p:grpSpPr>
          <a:xfrm>
            <a:off x="3130943" y="4152900"/>
            <a:ext cx="2070735" cy="523240"/>
            <a:chOff x="3130943" y="4152900"/>
            <a:chExt cx="2070735" cy="523240"/>
          </a:xfrm>
        </p:grpSpPr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0BEA5279-2E07-7B95-3F52-F9606050957F}"/>
                </a:ext>
              </a:extLst>
            </p:cNvPr>
            <p:cNvSpPr/>
            <p:nvPr/>
          </p:nvSpPr>
          <p:spPr>
            <a:xfrm>
              <a:off x="3137039" y="4158995"/>
              <a:ext cx="1676399" cy="3672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96C0EF7B-BB40-6E10-AA72-C3BCE618AD38}"/>
                </a:ext>
              </a:extLst>
            </p:cNvPr>
            <p:cNvSpPr/>
            <p:nvPr/>
          </p:nvSpPr>
          <p:spPr>
            <a:xfrm>
              <a:off x="3130943" y="4152912"/>
              <a:ext cx="1689735" cy="523240"/>
            </a:xfrm>
            <a:custGeom>
              <a:avLst/>
              <a:gdLst/>
              <a:ahLst/>
              <a:cxnLst/>
              <a:rect l="l" t="t" r="r" b="b"/>
              <a:pathLst>
                <a:path w="1689735" h="523239">
                  <a:moveTo>
                    <a:pt x="1689354" y="0"/>
                  </a:moveTo>
                  <a:lnTo>
                    <a:pt x="1676400" y="0"/>
                  </a:lnTo>
                  <a:lnTo>
                    <a:pt x="1676400" y="12954"/>
                  </a:lnTo>
                  <a:lnTo>
                    <a:pt x="1676400" y="366522"/>
                  </a:lnTo>
                  <a:lnTo>
                    <a:pt x="1149096" y="366522"/>
                  </a:lnTo>
                  <a:lnTo>
                    <a:pt x="1149096" y="12954"/>
                  </a:lnTo>
                  <a:lnTo>
                    <a:pt x="1676400" y="12954"/>
                  </a:lnTo>
                  <a:lnTo>
                    <a:pt x="1676400" y="0"/>
                  </a:lnTo>
                  <a:lnTo>
                    <a:pt x="1143000" y="0"/>
                  </a:lnTo>
                  <a:lnTo>
                    <a:pt x="1143000" y="12954"/>
                  </a:lnTo>
                  <a:lnTo>
                    <a:pt x="1143000" y="366522"/>
                  </a:lnTo>
                  <a:lnTo>
                    <a:pt x="1079754" y="366522"/>
                  </a:lnTo>
                  <a:lnTo>
                    <a:pt x="1079754" y="12954"/>
                  </a:lnTo>
                  <a:lnTo>
                    <a:pt x="1143000" y="12954"/>
                  </a:lnTo>
                  <a:lnTo>
                    <a:pt x="1143000" y="0"/>
                  </a:lnTo>
                  <a:lnTo>
                    <a:pt x="1066800" y="0"/>
                  </a:lnTo>
                  <a:lnTo>
                    <a:pt x="1066800" y="12954"/>
                  </a:lnTo>
                  <a:lnTo>
                    <a:pt x="1066800" y="366522"/>
                  </a:lnTo>
                  <a:lnTo>
                    <a:pt x="1003554" y="366522"/>
                  </a:lnTo>
                  <a:lnTo>
                    <a:pt x="1003554" y="12954"/>
                  </a:lnTo>
                  <a:lnTo>
                    <a:pt x="1066800" y="12954"/>
                  </a:lnTo>
                  <a:lnTo>
                    <a:pt x="1066800" y="0"/>
                  </a:lnTo>
                  <a:lnTo>
                    <a:pt x="990600" y="0"/>
                  </a:lnTo>
                  <a:lnTo>
                    <a:pt x="990600" y="12954"/>
                  </a:lnTo>
                  <a:lnTo>
                    <a:pt x="990600" y="366522"/>
                  </a:lnTo>
                  <a:lnTo>
                    <a:pt x="927354" y="366522"/>
                  </a:lnTo>
                  <a:lnTo>
                    <a:pt x="927354" y="12954"/>
                  </a:lnTo>
                  <a:lnTo>
                    <a:pt x="990600" y="12954"/>
                  </a:lnTo>
                  <a:lnTo>
                    <a:pt x="990600" y="0"/>
                  </a:lnTo>
                  <a:lnTo>
                    <a:pt x="914400" y="0"/>
                  </a:lnTo>
                  <a:lnTo>
                    <a:pt x="914400" y="12954"/>
                  </a:lnTo>
                  <a:lnTo>
                    <a:pt x="914400" y="366522"/>
                  </a:lnTo>
                  <a:lnTo>
                    <a:pt x="851154" y="366522"/>
                  </a:lnTo>
                  <a:lnTo>
                    <a:pt x="851154" y="12954"/>
                  </a:lnTo>
                  <a:lnTo>
                    <a:pt x="914400" y="12954"/>
                  </a:lnTo>
                  <a:lnTo>
                    <a:pt x="914400" y="0"/>
                  </a:lnTo>
                  <a:lnTo>
                    <a:pt x="838200" y="0"/>
                  </a:lnTo>
                  <a:lnTo>
                    <a:pt x="838200" y="12954"/>
                  </a:lnTo>
                  <a:lnTo>
                    <a:pt x="838200" y="366522"/>
                  </a:lnTo>
                  <a:lnTo>
                    <a:pt x="774954" y="366522"/>
                  </a:lnTo>
                  <a:lnTo>
                    <a:pt x="774954" y="12954"/>
                  </a:lnTo>
                  <a:lnTo>
                    <a:pt x="838200" y="12954"/>
                  </a:lnTo>
                  <a:lnTo>
                    <a:pt x="838200" y="0"/>
                  </a:lnTo>
                  <a:lnTo>
                    <a:pt x="762000" y="0"/>
                  </a:lnTo>
                  <a:lnTo>
                    <a:pt x="762000" y="12954"/>
                  </a:lnTo>
                  <a:lnTo>
                    <a:pt x="762000" y="366522"/>
                  </a:lnTo>
                  <a:lnTo>
                    <a:pt x="698754" y="366522"/>
                  </a:lnTo>
                  <a:lnTo>
                    <a:pt x="698754" y="12954"/>
                  </a:lnTo>
                  <a:lnTo>
                    <a:pt x="762000" y="12954"/>
                  </a:lnTo>
                  <a:lnTo>
                    <a:pt x="762000" y="0"/>
                  </a:lnTo>
                  <a:lnTo>
                    <a:pt x="685800" y="0"/>
                  </a:lnTo>
                  <a:lnTo>
                    <a:pt x="685800" y="12954"/>
                  </a:lnTo>
                  <a:lnTo>
                    <a:pt x="685800" y="366522"/>
                  </a:lnTo>
                  <a:lnTo>
                    <a:pt x="622554" y="366522"/>
                  </a:lnTo>
                  <a:lnTo>
                    <a:pt x="622554" y="12954"/>
                  </a:lnTo>
                  <a:lnTo>
                    <a:pt x="685800" y="12954"/>
                  </a:lnTo>
                  <a:lnTo>
                    <a:pt x="685800" y="0"/>
                  </a:lnTo>
                  <a:lnTo>
                    <a:pt x="609600" y="0"/>
                  </a:lnTo>
                  <a:lnTo>
                    <a:pt x="609600" y="12954"/>
                  </a:lnTo>
                  <a:lnTo>
                    <a:pt x="609600" y="366522"/>
                  </a:lnTo>
                  <a:lnTo>
                    <a:pt x="546354" y="366522"/>
                  </a:lnTo>
                  <a:lnTo>
                    <a:pt x="546354" y="12954"/>
                  </a:lnTo>
                  <a:lnTo>
                    <a:pt x="609600" y="12954"/>
                  </a:lnTo>
                  <a:lnTo>
                    <a:pt x="609600" y="0"/>
                  </a:lnTo>
                  <a:lnTo>
                    <a:pt x="533400" y="0"/>
                  </a:lnTo>
                  <a:lnTo>
                    <a:pt x="533400" y="12954"/>
                  </a:lnTo>
                  <a:lnTo>
                    <a:pt x="533400" y="366522"/>
                  </a:lnTo>
                  <a:lnTo>
                    <a:pt x="470154" y="366522"/>
                  </a:lnTo>
                  <a:lnTo>
                    <a:pt x="470154" y="12954"/>
                  </a:lnTo>
                  <a:lnTo>
                    <a:pt x="533400" y="12954"/>
                  </a:lnTo>
                  <a:lnTo>
                    <a:pt x="533400" y="0"/>
                  </a:lnTo>
                  <a:lnTo>
                    <a:pt x="457200" y="0"/>
                  </a:lnTo>
                  <a:lnTo>
                    <a:pt x="457200" y="12954"/>
                  </a:lnTo>
                  <a:lnTo>
                    <a:pt x="457200" y="366522"/>
                  </a:lnTo>
                  <a:lnTo>
                    <a:pt x="393954" y="366522"/>
                  </a:lnTo>
                  <a:lnTo>
                    <a:pt x="393954" y="12954"/>
                  </a:lnTo>
                  <a:lnTo>
                    <a:pt x="457200" y="12954"/>
                  </a:lnTo>
                  <a:lnTo>
                    <a:pt x="457200" y="0"/>
                  </a:lnTo>
                  <a:lnTo>
                    <a:pt x="381000" y="0"/>
                  </a:lnTo>
                  <a:lnTo>
                    <a:pt x="381000" y="12954"/>
                  </a:lnTo>
                  <a:lnTo>
                    <a:pt x="381000" y="366522"/>
                  </a:lnTo>
                  <a:lnTo>
                    <a:pt x="317754" y="366522"/>
                  </a:lnTo>
                  <a:lnTo>
                    <a:pt x="317754" y="12954"/>
                  </a:lnTo>
                  <a:lnTo>
                    <a:pt x="381000" y="12954"/>
                  </a:lnTo>
                  <a:lnTo>
                    <a:pt x="381000" y="0"/>
                  </a:lnTo>
                  <a:lnTo>
                    <a:pt x="304800" y="0"/>
                  </a:lnTo>
                  <a:lnTo>
                    <a:pt x="304800" y="12954"/>
                  </a:lnTo>
                  <a:lnTo>
                    <a:pt x="304800" y="366522"/>
                  </a:lnTo>
                  <a:lnTo>
                    <a:pt x="241554" y="366522"/>
                  </a:lnTo>
                  <a:lnTo>
                    <a:pt x="241554" y="12954"/>
                  </a:lnTo>
                  <a:lnTo>
                    <a:pt x="304800" y="12954"/>
                  </a:lnTo>
                  <a:lnTo>
                    <a:pt x="304800" y="0"/>
                  </a:lnTo>
                  <a:lnTo>
                    <a:pt x="228600" y="0"/>
                  </a:lnTo>
                  <a:lnTo>
                    <a:pt x="228600" y="12954"/>
                  </a:lnTo>
                  <a:lnTo>
                    <a:pt x="228600" y="366522"/>
                  </a:lnTo>
                  <a:lnTo>
                    <a:pt x="165354" y="366522"/>
                  </a:lnTo>
                  <a:lnTo>
                    <a:pt x="165354" y="12954"/>
                  </a:lnTo>
                  <a:lnTo>
                    <a:pt x="228600" y="12954"/>
                  </a:lnTo>
                  <a:lnTo>
                    <a:pt x="228600" y="0"/>
                  </a:lnTo>
                  <a:lnTo>
                    <a:pt x="152400" y="0"/>
                  </a:lnTo>
                  <a:lnTo>
                    <a:pt x="152400" y="12954"/>
                  </a:lnTo>
                  <a:lnTo>
                    <a:pt x="152400" y="366522"/>
                  </a:lnTo>
                  <a:lnTo>
                    <a:pt x="89154" y="366522"/>
                  </a:lnTo>
                  <a:lnTo>
                    <a:pt x="89154" y="12954"/>
                  </a:lnTo>
                  <a:lnTo>
                    <a:pt x="152400" y="12954"/>
                  </a:lnTo>
                  <a:lnTo>
                    <a:pt x="152400" y="0"/>
                  </a:lnTo>
                  <a:lnTo>
                    <a:pt x="76200" y="0"/>
                  </a:lnTo>
                  <a:lnTo>
                    <a:pt x="76200" y="12954"/>
                  </a:lnTo>
                  <a:lnTo>
                    <a:pt x="76200" y="366522"/>
                  </a:lnTo>
                  <a:lnTo>
                    <a:pt x="12954" y="366522"/>
                  </a:lnTo>
                  <a:lnTo>
                    <a:pt x="12954" y="12954"/>
                  </a:lnTo>
                  <a:lnTo>
                    <a:pt x="76200" y="12954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379476"/>
                  </a:lnTo>
                  <a:lnTo>
                    <a:pt x="6096" y="379476"/>
                  </a:lnTo>
                  <a:lnTo>
                    <a:pt x="12954" y="379476"/>
                  </a:lnTo>
                  <a:lnTo>
                    <a:pt x="1676400" y="379476"/>
                  </a:lnTo>
                  <a:lnTo>
                    <a:pt x="1676400" y="522732"/>
                  </a:lnTo>
                  <a:lnTo>
                    <a:pt x="1689354" y="522732"/>
                  </a:lnTo>
                  <a:lnTo>
                    <a:pt x="1689354" y="379476"/>
                  </a:lnTo>
                  <a:lnTo>
                    <a:pt x="1689354" y="371856"/>
                  </a:lnTo>
                  <a:lnTo>
                    <a:pt x="16893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4CE7D04D-2D82-6EBC-96D5-01E04154E6C0}"/>
                </a:ext>
              </a:extLst>
            </p:cNvPr>
            <p:cNvSpPr/>
            <p:nvPr/>
          </p:nvSpPr>
          <p:spPr>
            <a:xfrm>
              <a:off x="4280039" y="4158995"/>
              <a:ext cx="914400" cy="365760"/>
            </a:xfrm>
            <a:custGeom>
              <a:avLst/>
              <a:gdLst/>
              <a:ahLst/>
              <a:cxnLst/>
              <a:rect l="l" t="t" r="r" b="b"/>
              <a:pathLst>
                <a:path w="914400" h="365760">
                  <a:moveTo>
                    <a:pt x="914400" y="365760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914400" y="365760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E62B7447-043C-0063-4456-232F0BD073B9}"/>
                </a:ext>
              </a:extLst>
            </p:cNvPr>
            <p:cNvSpPr/>
            <p:nvPr/>
          </p:nvSpPr>
          <p:spPr>
            <a:xfrm>
              <a:off x="4273943" y="4152900"/>
              <a:ext cx="927735" cy="378460"/>
            </a:xfrm>
            <a:custGeom>
              <a:avLst/>
              <a:gdLst/>
              <a:ahLst/>
              <a:cxnLst/>
              <a:rect l="l" t="t" r="r" b="b"/>
              <a:pathLst>
                <a:path w="927735" h="378460">
                  <a:moveTo>
                    <a:pt x="927353" y="377951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377951"/>
                  </a:lnTo>
                  <a:lnTo>
                    <a:pt x="6096" y="377951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914400" y="12953"/>
                  </a:lnTo>
                  <a:lnTo>
                    <a:pt x="914400" y="6096"/>
                  </a:lnTo>
                  <a:lnTo>
                    <a:pt x="920496" y="12953"/>
                  </a:lnTo>
                  <a:lnTo>
                    <a:pt x="920496" y="377951"/>
                  </a:lnTo>
                  <a:lnTo>
                    <a:pt x="927353" y="377951"/>
                  </a:lnTo>
                  <a:close/>
                </a:path>
                <a:path w="927735" h="37846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927735" h="378460">
                  <a:moveTo>
                    <a:pt x="12953" y="364998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64998"/>
                  </a:lnTo>
                  <a:lnTo>
                    <a:pt x="12953" y="364998"/>
                  </a:lnTo>
                  <a:close/>
                </a:path>
                <a:path w="927735" h="378460">
                  <a:moveTo>
                    <a:pt x="920496" y="364998"/>
                  </a:moveTo>
                  <a:lnTo>
                    <a:pt x="6096" y="364998"/>
                  </a:lnTo>
                  <a:lnTo>
                    <a:pt x="12953" y="371855"/>
                  </a:lnTo>
                  <a:lnTo>
                    <a:pt x="12953" y="377951"/>
                  </a:lnTo>
                  <a:lnTo>
                    <a:pt x="914400" y="377951"/>
                  </a:lnTo>
                  <a:lnTo>
                    <a:pt x="914400" y="371855"/>
                  </a:lnTo>
                  <a:lnTo>
                    <a:pt x="920496" y="364998"/>
                  </a:lnTo>
                  <a:close/>
                </a:path>
                <a:path w="927735" h="378460">
                  <a:moveTo>
                    <a:pt x="12953" y="377951"/>
                  </a:moveTo>
                  <a:lnTo>
                    <a:pt x="12953" y="371855"/>
                  </a:lnTo>
                  <a:lnTo>
                    <a:pt x="6096" y="364998"/>
                  </a:lnTo>
                  <a:lnTo>
                    <a:pt x="6096" y="377951"/>
                  </a:lnTo>
                  <a:lnTo>
                    <a:pt x="12953" y="377951"/>
                  </a:lnTo>
                  <a:close/>
                </a:path>
                <a:path w="927735" h="378460">
                  <a:moveTo>
                    <a:pt x="920496" y="12953"/>
                  </a:moveTo>
                  <a:lnTo>
                    <a:pt x="914400" y="6096"/>
                  </a:lnTo>
                  <a:lnTo>
                    <a:pt x="914400" y="12953"/>
                  </a:lnTo>
                  <a:lnTo>
                    <a:pt x="920496" y="12953"/>
                  </a:lnTo>
                  <a:close/>
                </a:path>
                <a:path w="927735" h="378460">
                  <a:moveTo>
                    <a:pt x="920496" y="364998"/>
                  </a:moveTo>
                  <a:lnTo>
                    <a:pt x="920496" y="12953"/>
                  </a:lnTo>
                  <a:lnTo>
                    <a:pt x="914400" y="12953"/>
                  </a:lnTo>
                  <a:lnTo>
                    <a:pt x="914400" y="364998"/>
                  </a:lnTo>
                  <a:lnTo>
                    <a:pt x="920496" y="364998"/>
                  </a:lnTo>
                  <a:close/>
                </a:path>
                <a:path w="927735" h="378460">
                  <a:moveTo>
                    <a:pt x="920496" y="377951"/>
                  </a:moveTo>
                  <a:lnTo>
                    <a:pt x="920496" y="364998"/>
                  </a:lnTo>
                  <a:lnTo>
                    <a:pt x="914400" y="371855"/>
                  </a:lnTo>
                  <a:lnTo>
                    <a:pt x="914400" y="377951"/>
                  </a:lnTo>
                  <a:lnTo>
                    <a:pt x="920496" y="377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object 46">
            <a:extLst>
              <a:ext uri="{FF2B5EF4-FFF2-40B4-BE49-F238E27FC236}">
                <a16:creationId xmlns:a16="http://schemas.microsoft.com/office/drawing/2014/main" id="{D33E04CF-B55E-5251-DF87-653965692CA8}"/>
              </a:ext>
            </a:extLst>
          </p:cNvPr>
          <p:cNvSpPr txBox="1"/>
          <p:nvPr/>
        </p:nvSpPr>
        <p:spPr>
          <a:xfrm>
            <a:off x="4280039" y="4244594"/>
            <a:ext cx="914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Repeated</a:t>
            </a:r>
            <a:r>
              <a:rPr kumimoji="0" sz="1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frame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47" name="object 47">
            <a:extLst>
              <a:ext uri="{FF2B5EF4-FFF2-40B4-BE49-F238E27FC236}">
                <a16:creationId xmlns:a16="http://schemas.microsoft.com/office/drawing/2014/main" id="{1368F28D-4B52-4685-F40D-B2AF92C0ACE3}"/>
              </a:ext>
            </a:extLst>
          </p:cNvPr>
          <p:cNvGrpSpPr/>
          <p:nvPr/>
        </p:nvGrpSpPr>
        <p:grpSpPr>
          <a:xfrm>
            <a:off x="2603639" y="4006596"/>
            <a:ext cx="2209800" cy="710565"/>
            <a:chOff x="2603639" y="4006596"/>
            <a:chExt cx="2209800" cy="710565"/>
          </a:xfrm>
        </p:grpSpPr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3284D337-81E1-3E8E-E0A4-59179CB4EF16}"/>
                </a:ext>
              </a:extLst>
            </p:cNvPr>
            <p:cNvSpPr/>
            <p:nvPr/>
          </p:nvSpPr>
          <p:spPr>
            <a:xfrm>
              <a:off x="2603639" y="4197096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76200" y="32003"/>
                  </a:moveTo>
                  <a:lnTo>
                    <a:pt x="76200" y="0"/>
                  </a:lnTo>
                  <a:lnTo>
                    <a:pt x="0" y="38100"/>
                  </a:lnTo>
                  <a:lnTo>
                    <a:pt x="64007" y="70103"/>
                  </a:lnTo>
                  <a:lnTo>
                    <a:pt x="64007" y="32003"/>
                  </a:lnTo>
                  <a:lnTo>
                    <a:pt x="76200" y="32003"/>
                  </a:lnTo>
                  <a:close/>
                </a:path>
                <a:path w="533400" h="76200">
                  <a:moveTo>
                    <a:pt x="470153" y="44957"/>
                  </a:moveTo>
                  <a:lnTo>
                    <a:pt x="470153" y="32003"/>
                  </a:lnTo>
                  <a:lnTo>
                    <a:pt x="64007" y="32003"/>
                  </a:lnTo>
                  <a:lnTo>
                    <a:pt x="64007" y="44957"/>
                  </a:lnTo>
                  <a:lnTo>
                    <a:pt x="470153" y="44957"/>
                  </a:lnTo>
                  <a:close/>
                </a:path>
                <a:path w="533400" h="76200">
                  <a:moveTo>
                    <a:pt x="76200" y="76200"/>
                  </a:moveTo>
                  <a:lnTo>
                    <a:pt x="76200" y="44957"/>
                  </a:lnTo>
                  <a:lnTo>
                    <a:pt x="64007" y="44957"/>
                  </a:lnTo>
                  <a:lnTo>
                    <a:pt x="64007" y="70103"/>
                  </a:lnTo>
                  <a:lnTo>
                    <a:pt x="76200" y="76200"/>
                  </a:lnTo>
                  <a:close/>
                </a:path>
                <a:path w="533400" h="76200">
                  <a:moveTo>
                    <a:pt x="533400" y="38100"/>
                  </a:moveTo>
                  <a:lnTo>
                    <a:pt x="457200" y="0"/>
                  </a:lnTo>
                  <a:lnTo>
                    <a:pt x="457200" y="32003"/>
                  </a:lnTo>
                  <a:lnTo>
                    <a:pt x="470153" y="32003"/>
                  </a:lnTo>
                  <a:lnTo>
                    <a:pt x="470153" y="69723"/>
                  </a:lnTo>
                  <a:lnTo>
                    <a:pt x="533400" y="38100"/>
                  </a:lnTo>
                  <a:close/>
                </a:path>
                <a:path w="533400" h="76200">
                  <a:moveTo>
                    <a:pt x="470153" y="69723"/>
                  </a:moveTo>
                  <a:lnTo>
                    <a:pt x="470153" y="44957"/>
                  </a:lnTo>
                  <a:lnTo>
                    <a:pt x="457200" y="44957"/>
                  </a:lnTo>
                  <a:lnTo>
                    <a:pt x="457200" y="76200"/>
                  </a:lnTo>
                  <a:lnTo>
                    <a:pt x="470153" y="69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3B8A16FC-B204-61BD-5D0E-0D787F722D72}"/>
                </a:ext>
              </a:extLst>
            </p:cNvPr>
            <p:cNvSpPr/>
            <p:nvPr/>
          </p:nvSpPr>
          <p:spPr>
            <a:xfrm>
              <a:off x="4241939" y="4006596"/>
              <a:ext cx="76200" cy="1524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D69F619A-80F7-D732-6AB4-A583B3D1CF86}"/>
                </a:ext>
              </a:extLst>
            </p:cNvPr>
            <p:cNvSpPr/>
            <p:nvPr/>
          </p:nvSpPr>
          <p:spPr>
            <a:xfrm>
              <a:off x="3137039" y="4637532"/>
              <a:ext cx="1676400" cy="79375"/>
            </a:xfrm>
            <a:custGeom>
              <a:avLst/>
              <a:gdLst/>
              <a:ahLst/>
              <a:cxnLst/>
              <a:rect l="l" t="t" r="r" b="b"/>
              <a:pathLst>
                <a:path w="1676400" h="79375">
                  <a:moveTo>
                    <a:pt x="76512" y="34265"/>
                  </a:moveTo>
                  <a:lnTo>
                    <a:pt x="76200" y="3047"/>
                  </a:lnTo>
                  <a:lnTo>
                    <a:pt x="0" y="41147"/>
                  </a:lnTo>
                  <a:lnTo>
                    <a:pt x="64007" y="72835"/>
                  </a:lnTo>
                  <a:lnTo>
                    <a:pt x="64007" y="34289"/>
                  </a:lnTo>
                  <a:lnTo>
                    <a:pt x="76512" y="34265"/>
                  </a:lnTo>
                  <a:close/>
                </a:path>
                <a:path w="1676400" h="79375">
                  <a:moveTo>
                    <a:pt x="76641" y="47219"/>
                  </a:moveTo>
                  <a:lnTo>
                    <a:pt x="76512" y="34265"/>
                  </a:lnTo>
                  <a:lnTo>
                    <a:pt x="64007" y="34289"/>
                  </a:lnTo>
                  <a:lnTo>
                    <a:pt x="64007" y="47243"/>
                  </a:lnTo>
                  <a:lnTo>
                    <a:pt x="76641" y="47219"/>
                  </a:lnTo>
                  <a:close/>
                </a:path>
                <a:path w="1676400" h="79375">
                  <a:moveTo>
                    <a:pt x="76962" y="79247"/>
                  </a:moveTo>
                  <a:lnTo>
                    <a:pt x="76641" y="47219"/>
                  </a:lnTo>
                  <a:lnTo>
                    <a:pt x="64007" y="47243"/>
                  </a:lnTo>
                  <a:lnTo>
                    <a:pt x="64007" y="72835"/>
                  </a:lnTo>
                  <a:lnTo>
                    <a:pt x="76962" y="79247"/>
                  </a:lnTo>
                  <a:close/>
                </a:path>
                <a:path w="1676400" h="79375">
                  <a:moveTo>
                    <a:pt x="1600642" y="44220"/>
                  </a:moveTo>
                  <a:lnTo>
                    <a:pt x="1600512" y="31266"/>
                  </a:lnTo>
                  <a:lnTo>
                    <a:pt x="76512" y="34265"/>
                  </a:lnTo>
                  <a:lnTo>
                    <a:pt x="76641" y="47219"/>
                  </a:lnTo>
                  <a:lnTo>
                    <a:pt x="1600642" y="44220"/>
                  </a:lnTo>
                  <a:close/>
                </a:path>
                <a:path w="1676400" h="79375">
                  <a:moveTo>
                    <a:pt x="1676400" y="38100"/>
                  </a:moveTo>
                  <a:lnTo>
                    <a:pt x="1600200" y="0"/>
                  </a:lnTo>
                  <a:lnTo>
                    <a:pt x="1600512" y="31266"/>
                  </a:lnTo>
                  <a:lnTo>
                    <a:pt x="1613153" y="31241"/>
                  </a:lnTo>
                  <a:lnTo>
                    <a:pt x="1613153" y="70042"/>
                  </a:lnTo>
                  <a:lnTo>
                    <a:pt x="1676400" y="38100"/>
                  </a:lnTo>
                  <a:close/>
                </a:path>
                <a:path w="1676400" h="79375">
                  <a:moveTo>
                    <a:pt x="1613153" y="44195"/>
                  </a:moveTo>
                  <a:lnTo>
                    <a:pt x="1613153" y="31241"/>
                  </a:lnTo>
                  <a:lnTo>
                    <a:pt x="1600512" y="31266"/>
                  </a:lnTo>
                  <a:lnTo>
                    <a:pt x="1600642" y="44220"/>
                  </a:lnTo>
                  <a:lnTo>
                    <a:pt x="1613153" y="44195"/>
                  </a:lnTo>
                  <a:close/>
                </a:path>
                <a:path w="1676400" h="79375">
                  <a:moveTo>
                    <a:pt x="1613153" y="70042"/>
                  </a:moveTo>
                  <a:lnTo>
                    <a:pt x="1613153" y="44195"/>
                  </a:lnTo>
                  <a:lnTo>
                    <a:pt x="1600642" y="44220"/>
                  </a:lnTo>
                  <a:lnTo>
                    <a:pt x="1600962" y="76200"/>
                  </a:lnTo>
                  <a:lnTo>
                    <a:pt x="1613153" y="700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1" name="object 51">
            <a:extLst>
              <a:ext uri="{FF2B5EF4-FFF2-40B4-BE49-F238E27FC236}">
                <a16:creationId xmlns:a16="http://schemas.microsoft.com/office/drawing/2014/main" id="{2EC274FD-4409-F0AB-02A9-574412F0D289}"/>
              </a:ext>
            </a:extLst>
          </p:cNvPr>
          <p:cNvSpPr txBox="1"/>
          <p:nvPr/>
        </p:nvSpPr>
        <p:spPr>
          <a:xfrm>
            <a:off x="3251327" y="4715509"/>
            <a:ext cx="1263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CW </a:t>
            </a: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=</a:t>
            </a:r>
            <a:r>
              <a:rPr kumimoji="0" sz="12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2</a:t>
            </a:r>
            <a:r>
              <a:rPr kumimoji="0" sz="1200" b="0" i="0" u="none" strike="noStrike" kern="1200" cap="none" spc="-89" normalizeH="0" baseline="2430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n‐1</a:t>
            </a:r>
            <a:r>
              <a:rPr kumimoji="0" sz="1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.Cwmin </a:t>
            </a:r>
            <a:r>
              <a:rPr kumimoji="0" sz="12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‐ </a:t>
            </a:r>
            <a:r>
              <a:rPr kumimoji="0" sz="1200" b="0" i="0" u="none" strike="noStrike" kern="1200" cap="none" spc="-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09C0CF77-6DFE-B0E6-C8C8-9031B615E790}"/>
              </a:ext>
            </a:extLst>
          </p:cNvPr>
          <p:cNvSpPr/>
          <p:nvPr/>
        </p:nvSpPr>
        <p:spPr>
          <a:xfrm>
            <a:off x="774839" y="5653944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1A2C2BD9-3336-7579-84E6-861F88FB7817}"/>
              </a:ext>
            </a:extLst>
          </p:cNvPr>
          <p:cNvSpPr txBox="1"/>
          <p:nvPr/>
        </p:nvSpPr>
        <p:spPr>
          <a:xfrm>
            <a:off x="5997066" y="5665216"/>
            <a:ext cx="1113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4" name="object 54">
            <a:extLst>
              <a:ext uri="{FF2B5EF4-FFF2-40B4-BE49-F238E27FC236}">
                <a16:creationId xmlns:a16="http://schemas.microsoft.com/office/drawing/2014/main" id="{35F708B9-D8AB-9CC0-C585-B63BE0A1A4FE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FAD3267F-8595-D73B-7CD5-FFD864E2BF94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A04781F2-074A-C087-8877-88D4C1018958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2D4606E9-60F4-B16F-3BAD-3393A1AA473E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63CFEBB0-AE90-6F5C-641B-1B086AE1910E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628A5C5B-8F28-EAB0-CACF-018C38DC85B8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CFE94A99-0747-FA07-CC85-077C19992185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F188F585-9D67-1E6F-60C9-1907B58E9400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940A44D-6841-4203-8300-99AE3F73BFC9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020EFE93-788A-0370-FF15-07ACFD0BEC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/>
          </a:p>
        </p:txBody>
      </p:sp>
      <p:sp>
        <p:nvSpPr>
          <p:cNvPr id="64" name="object 2">
            <a:extLst>
              <a:ext uri="{FF2B5EF4-FFF2-40B4-BE49-F238E27FC236}">
                <a16:creationId xmlns:a16="http://schemas.microsoft.com/office/drawing/2014/main" id="{F50AAA67-4453-296A-29AB-A4BD26701F8A}"/>
              </a:ext>
            </a:extLst>
          </p:cNvPr>
          <p:cNvSpPr txBox="1">
            <a:spLocks/>
          </p:cNvSpPr>
          <p:nvPr/>
        </p:nvSpPr>
        <p:spPr>
          <a:xfrm>
            <a:off x="1320113" y="778303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9485102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6895" y="646430"/>
            <a:ext cx="44989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Collision</a:t>
            </a:r>
            <a:r>
              <a:rPr sz="4400" spc="-655" dirty="0"/>
              <a:t> </a:t>
            </a:r>
            <a:r>
              <a:rPr sz="4400" spc="-120" dirty="0"/>
              <a:t>Avoidance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8013065" cy="3951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 </a:t>
            </a:r>
            <a:r>
              <a:rPr kumimoji="0" sz="28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that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deferred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 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during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busy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period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select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800" b="0" i="0" u="none" strike="noStrike" kern="1200" cap="none" spc="-2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new 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time,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but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continue</a:t>
            </a:r>
            <a:r>
              <a:rPr kumimoji="0" sz="2800" b="0" i="0" u="none" strike="noStrike" kern="1200" cap="none" spc="-26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count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down 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time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of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previous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after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sensing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channel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 </a:t>
            </a:r>
            <a:r>
              <a:rPr kumimoji="0" sz="2800" b="0" i="0" u="none" strike="noStrike" kern="1200" cap="none" spc="-12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idle</a:t>
            </a:r>
            <a:r>
              <a:rPr kumimoji="0" sz="2800" b="0" i="0" u="none" strike="noStrike" kern="1200" cap="none" spc="-63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again.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54965" marR="111760" lvl="0" indent="-342900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way,</a:t>
            </a:r>
            <a:r>
              <a:rPr kumimoji="0" sz="2800" b="0" i="0" u="none" strike="noStrike" kern="1200" cap="none" spc="-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stations,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which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deferred</a:t>
            </a:r>
            <a:r>
              <a:rPr kumimoji="0" sz="2800" b="0" i="0" u="none" strike="noStrike" kern="1200" cap="none" spc="-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medium 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access because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their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random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backoff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was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larger 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than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other’s,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are</a:t>
            </a:r>
            <a:r>
              <a:rPr kumimoji="0" sz="2800" b="0" i="0" u="none" strike="noStrike" kern="1200" cap="none" spc="-2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given</a:t>
            </a:r>
            <a:r>
              <a:rPr kumimoji="0" sz="2800" b="0" i="0" u="none" strike="noStrike" kern="1200" cap="none" spc="-2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2800" b="0" i="0" u="none" strike="noStrike" kern="1200" cap="none" spc="-22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higher</a:t>
            </a:r>
            <a:r>
              <a:rPr kumimoji="0" sz="2800" b="0" i="0" u="none" strike="noStrike" kern="120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priority</a:t>
            </a:r>
            <a:r>
              <a:rPr kumimoji="0" sz="2800" b="0" i="0" u="none" strike="noStrike" kern="1200" cap="none" spc="-2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when</a:t>
            </a:r>
            <a:r>
              <a:rPr kumimoji="0" sz="2800" b="0" i="0" u="none" strike="noStrike" kern="1200" cap="none" spc="-2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they 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resume 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transmission</a:t>
            </a:r>
            <a:r>
              <a:rPr kumimoji="0" sz="2800" b="0" i="0" u="none" strike="noStrike" kern="1200" cap="none" spc="-6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2800" b="0" i="0" u="none" strike="noStrike" kern="1200" cap="none" spc="-11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attempt.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3FFBF-B97F-4483-900C-BBE16593EB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52</a:t>
            </a:fld>
            <a:endParaRPr lang="en-US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2ABED61B-30BE-FCE7-9422-684E6AEE8F93}"/>
              </a:ext>
            </a:extLst>
          </p:cNvPr>
          <p:cNvSpPr txBox="1">
            <a:spLocks/>
          </p:cNvSpPr>
          <p:nvPr/>
        </p:nvSpPr>
        <p:spPr>
          <a:xfrm>
            <a:off x="1320113" y="646303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83525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>
            <a:extLst>
              <a:ext uri="{FF2B5EF4-FFF2-40B4-BE49-F238E27FC236}">
                <a16:creationId xmlns:a16="http://schemas.microsoft.com/office/drawing/2014/main" id="{17EE1419-9402-EC0D-945A-999E11DD01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5280" y="1509077"/>
            <a:ext cx="7815372" cy="5146199"/>
          </a:xfrm>
        </p:spPr>
      </p:pic>
      <p:sp>
        <p:nvSpPr>
          <p:cNvPr id="63491" name="Rectangle 2">
            <a:extLst>
              <a:ext uri="{FF2B5EF4-FFF2-40B4-BE49-F238E27FC236}">
                <a16:creationId xmlns:a16="http://schemas.microsoft.com/office/drawing/2014/main" id="{816ADD7E-1BC4-2562-0A18-30D0EC82F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9045" y="1020133"/>
            <a:ext cx="6817043" cy="729602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</a:p>
        </p:txBody>
      </p:sp>
      <p:sp>
        <p:nvSpPr>
          <p:cNvPr id="63492" name="TextBox 1">
            <a:extLst>
              <a:ext uri="{FF2B5EF4-FFF2-40B4-BE49-F238E27FC236}">
                <a16:creationId xmlns:a16="http://schemas.microsoft.com/office/drawing/2014/main" id="{CB21A0D7-A435-03BC-5108-4D138BD06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031" y="1822361"/>
            <a:ext cx="5814536" cy="33534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79">
              <a:solidFill>
                <a:srgbClr val="000000"/>
              </a:solidFill>
            </a:endParaRPr>
          </a:p>
        </p:txBody>
      </p:sp>
      <p:sp>
        <p:nvSpPr>
          <p:cNvPr id="63493" name="Slide Number Placeholder 1">
            <a:extLst>
              <a:ext uri="{FF2B5EF4-FFF2-40B4-BE49-F238E27FC236}">
                <a16:creationId xmlns:a16="http://schemas.microsoft.com/office/drawing/2014/main" id="{D1253C04-5ED6-6F85-56E3-4097EFB0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53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0AE4076-FC87-F139-516F-B934C7E4CFA6}"/>
              </a:ext>
            </a:extLst>
          </p:cNvPr>
          <p:cNvSpPr txBox="1">
            <a:spLocks/>
          </p:cNvSpPr>
          <p:nvPr/>
        </p:nvSpPr>
        <p:spPr>
          <a:xfrm>
            <a:off x="1202765" y="98114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656885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FD5461BB-5240-B72E-594D-C1B6F326A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4500" y="1045369"/>
            <a:ext cx="6817043" cy="802005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pic>
        <p:nvPicPr>
          <p:cNvPr id="64515" name="Picture 2">
            <a:extLst>
              <a:ext uri="{FF2B5EF4-FFF2-40B4-BE49-F238E27FC236}">
                <a16:creationId xmlns:a16="http://schemas.microsoft.com/office/drawing/2014/main" id="{27036850-7D5A-3C5B-5916-713F1A3271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71345" y="2377916"/>
            <a:ext cx="6817043" cy="4249513"/>
          </a:xfrm>
        </p:spPr>
      </p:pic>
      <p:sp>
        <p:nvSpPr>
          <p:cNvPr id="64516" name="TextBox 2">
            <a:extLst>
              <a:ext uri="{FF2B5EF4-FFF2-40B4-BE49-F238E27FC236}">
                <a16:creationId xmlns:a16="http://schemas.microsoft.com/office/drawing/2014/main" id="{9BD12E13-604D-15E7-45A5-F8607EFA9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039" y="1904511"/>
            <a:ext cx="3280423" cy="416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105">
                <a:solidFill>
                  <a:srgbClr val="000000"/>
                </a:solidFill>
              </a:rPr>
              <a:t>After 15 slot countdown</a:t>
            </a:r>
          </a:p>
        </p:txBody>
      </p:sp>
      <p:sp>
        <p:nvSpPr>
          <p:cNvPr id="64517" name="Slide Number Placeholder 1">
            <a:extLst>
              <a:ext uri="{FF2B5EF4-FFF2-40B4-BE49-F238E27FC236}">
                <a16:creationId xmlns:a16="http://schemas.microsoft.com/office/drawing/2014/main" id="{CE64DB51-5A71-592D-9BA5-4DE36948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54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35F7FE8-C8B9-556A-846D-7D6338FC4461}"/>
              </a:ext>
            </a:extLst>
          </p:cNvPr>
          <p:cNvSpPr txBox="1">
            <a:spLocks/>
          </p:cNvSpPr>
          <p:nvPr/>
        </p:nvSpPr>
        <p:spPr>
          <a:xfrm>
            <a:off x="1172456" y="97440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4964144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>
            <a:extLst>
              <a:ext uri="{FF2B5EF4-FFF2-40B4-BE49-F238E27FC236}">
                <a16:creationId xmlns:a16="http://schemas.microsoft.com/office/drawing/2014/main" id="{10BBFFEE-19EC-DE1C-52F7-FD562668D5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0260" y="1823738"/>
            <a:ext cx="7488165" cy="4678363"/>
          </a:xfrm>
        </p:spPr>
      </p:pic>
      <p:sp>
        <p:nvSpPr>
          <p:cNvPr id="65539" name="Title 1">
            <a:extLst>
              <a:ext uri="{FF2B5EF4-FFF2-40B4-BE49-F238E27FC236}">
                <a16:creationId xmlns:a16="http://schemas.microsoft.com/office/drawing/2014/main" id="{B7AF732F-9299-70E0-97B7-F89C91BB0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478" y="935302"/>
            <a:ext cx="6817043" cy="811752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65540" name="Slide Number Placeholder 1">
            <a:extLst>
              <a:ext uri="{FF2B5EF4-FFF2-40B4-BE49-F238E27FC236}">
                <a16:creationId xmlns:a16="http://schemas.microsoft.com/office/drawing/2014/main" id="{29890497-815A-8D3D-B4BE-BC849E91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55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3EA12-C411-CEF3-8CF9-B8C864A088CC}"/>
              </a:ext>
            </a:extLst>
          </p:cNvPr>
          <p:cNvSpPr txBox="1"/>
          <p:nvPr/>
        </p:nvSpPr>
        <p:spPr>
          <a:xfrm>
            <a:off x="0" y="3533053"/>
            <a:ext cx="286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RTS, CTS Disabled </a:t>
            </a:r>
            <a:r>
              <a:rPr lang="en-US" dirty="0">
                <a:solidFill>
                  <a:srgbClr val="0070C0"/>
                </a:solidFill>
              </a:rPr>
              <a:t>Scenario ! 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CB1AE13-D897-948F-4F09-A6FE422314F3}"/>
              </a:ext>
            </a:extLst>
          </p:cNvPr>
          <p:cNvSpPr txBox="1">
            <a:spLocks/>
          </p:cNvSpPr>
          <p:nvPr/>
        </p:nvSpPr>
        <p:spPr>
          <a:xfrm>
            <a:off x="1172456" y="97440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799275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AFF477AE-D0EF-FF15-6208-19CA2F5B3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9045" y="935101"/>
            <a:ext cx="6817043" cy="884155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pic>
        <p:nvPicPr>
          <p:cNvPr id="66563" name="Picture 2">
            <a:extLst>
              <a:ext uri="{FF2B5EF4-FFF2-40B4-BE49-F238E27FC236}">
                <a16:creationId xmlns:a16="http://schemas.microsoft.com/office/drawing/2014/main" id="{2E1BFD09-EF18-27B3-4ADB-4C9EF102CC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71345" y="2511584"/>
            <a:ext cx="7017544" cy="4143693"/>
          </a:xfrm>
        </p:spPr>
      </p:pic>
      <p:sp>
        <p:nvSpPr>
          <p:cNvPr id="66564" name="Slide Number Placeholder 1">
            <a:extLst>
              <a:ext uri="{FF2B5EF4-FFF2-40B4-BE49-F238E27FC236}">
                <a16:creationId xmlns:a16="http://schemas.microsoft.com/office/drawing/2014/main" id="{BBB3C800-2D66-DD6F-978B-AFB2B024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56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882C16-B20D-8831-040B-7F8A207A79F0}"/>
              </a:ext>
            </a:extLst>
          </p:cNvPr>
          <p:cNvSpPr txBox="1"/>
          <p:nvPr/>
        </p:nvSpPr>
        <p:spPr>
          <a:xfrm>
            <a:off x="0" y="4250293"/>
            <a:ext cx="286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RTS, CTS Disabled </a:t>
            </a:r>
            <a:r>
              <a:rPr lang="en-US" dirty="0">
                <a:solidFill>
                  <a:srgbClr val="0070C0"/>
                </a:solidFill>
              </a:rPr>
              <a:t>Scenario ! 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A633D3E4-D21C-431F-48A5-95C086399806}"/>
              </a:ext>
            </a:extLst>
          </p:cNvPr>
          <p:cNvSpPr txBox="1">
            <a:spLocks/>
          </p:cNvSpPr>
          <p:nvPr/>
        </p:nvSpPr>
        <p:spPr>
          <a:xfrm>
            <a:off x="1308100" y="94627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2918178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>
            <a:extLst>
              <a:ext uri="{FF2B5EF4-FFF2-40B4-BE49-F238E27FC236}">
                <a16:creationId xmlns:a16="http://schemas.microsoft.com/office/drawing/2014/main" id="{68817954-A8EB-9DB8-62AD-54200807ED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4010" y="1776412"/>
            <a:ext cx="7587023" cy="4678363"/>
          </a:xfrm>
        </p:spPr>
      </p:pic>
      <p:sp>
        <p:nvSpPr>
          <p:cNvPr id="67587" name="Title 1">
            <a:extLst>
              <a:ext uri="{FF2B5EF4-FFF2-40B4-BE49-F238E27FC236}">
                <a16:creationId xmlns:a16="http://schemas.microsoft.com/office/drawing/2014/main" id="{345A077B-5629-321D-B234-7D9A4EADD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2437" y="980663"/>
            <a:ext cx="6817043" cy="866054"/>
          </a:xfrm>
        </p:spPr>
        <p:txBody>
          <a:bodyPr/>
          <a:lstStyle/>
          <a:p>
            <a:r>
              <a:rPr lang="en-US" altLang="en-US" dirty="0"/>
              <a:t>802.11 Backoff Example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67588" name="Slide Number Placeholder 1">
            <a:extLst>
              <a:ext uri="{FF2B5EF4-FFF2-40B4-BE49-F238E27FC236}">
                <a16:creationId xmlns:a16="http://schemas.microsoft.com/office/drawing/2014/main" id="{2342BEA3-EDC3-09F5-5155-FE078BC8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57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C628B-612F-78C5-1A0D-3953C8DBBB0F}"/>
              </a:ext>
            </a:extLst>
          </p:cNvPr>
          <p:cNvSpPr txBox="1"/>
          <p:nvPr/>
        </p:nvSpPr>
        <p:spPr>
          <a:xfrm>
            <a:off x="0" y="3533053"/>
            <a:ext cx="286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RTS, CTS Disabled </a:t>
            </a:r>
            <a:r>
              <a:rPr lang="en-US" dirty="0">
                <a:solidFill>
                  <a:srgbClr val="0070C0"/>
                </a:solidFill>
              </a:rPr>
              <a:t>Scenario ! 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AD8F88B-3914-8887-23B9-554862F52F16}"/>
              </a:ext>
            </a:extLst>
          </p:cNvPr>
          <p:cNvSpPr txBox="1">
            <a:spLocks/>
          </p:cNvSpPr>
          <p:nvPr/>
        </p:nvSpPr>
        <p:spPr>
          <a:xfrm>
            <a:off x="1223277" y="885825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9669980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73DD8C44-0CB5-F4A7-B13B-CBCA3DF0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marL="0" marR="0" lvl="0" indent="0" algn="r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t>58</a:t>
            </a:fld>
            <a:endParaRPr kumimoji="0" lang="en-US" altLang="en-US" sz="105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C746CDA-F4F4-7FD6-999A-A577FEAA7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300" y="1417181"/>
            <a:ext cx="7059971" cy="496700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105" u="sng" dirty="0">
                <a:solidFill>
                  <a:srgbClr val="FF0000"/>
                </a:solidFill>
                <a:ea typeface="MS PGothic" panose="020B0600070205080204" pitchFamily="34" charset="-128"/>
              </a:rPr>
              <a:t>802.11 sender</a:t>
            </a:r>
            <a:endParaRPr lang="en-US" altLang="en-US" sz="2105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1.1 if sense channel busy then</a:t>
            </a:r>
            <a:r>
              <a:rPr lang="en-US" altLang="en-US" sz="1754" dirty="0">
                <a:ea typeface="MS PGothic" panose="020B0600070205080204" pitchFamily="34" charset="-128"/>
              </a:rPr>
              <a:t> freezes</a:t>
            </a:r>
          </a:p>
          <a:p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1.2 if sense channel idle</a:t>
            </a:r>
            <a:r>
              <a:rPr lang="en-US" altLang="en-US" sz="1754" dirty="0">
                <a:ea typeface="MS PGothic" panose="020B0600070205080204" pitchFamily="34" charset="-128"/>
              </a:rPr>
              <a:t> for </a:t>
            </a:r>
            <a:r>
              <a:rPr lang="en-US" altLang="en-US" sz="1754" b="1" dirty="0">
                <a:ea typeface="MS PGothic" panose="020B0600070205080204" pitchFamily="34" charset="-128"/>
              </a:rPr>
              <a:t>DIFS</a:t>
            </a:r>
            <a:r>
              <a:rPr lang="en-US" altLang="en-US" sz="1754" dirty="0">
                <a:ea typeface="MS PGothic" panose="020B0600070205080204" pitchFamily="34" charset="-128"/>
              </a:rPr>
              <a:t>  </a:t>
            </a: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then</a:t>
            </a:r>
            <a:r>
              <a:rPr lang="en-US" altLang="en-US" sz="1754" dirty="0">
                <a:ea typeface="MS PGothic" panose="020B0600070205080204" pitchFamily="34" charset="-128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    2.1</a:t>
            </a:r>
            <a:r>
              <a:rPr lang="en-US" altLang="en-US" sz="1754" dirty="0">
                <a:ea typeface="MS PGothic" panose="020B0600070205080204" pitchFamily="34" charset="-128"/>
              </a:rPr>
              <a:t> start random backoff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754" dirty="0">
                <a:ea typeface="MS PGothic" panose="020B0600070205080204" pitchFamily="34" charset="-128"/>
              </a:rPr>
              <a:t>timer counts down while channel idle,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754" dirty="0">
                <a:ea typeface="MS PGothic" panose="020B0600070205080204" pitchFamily="34" charset="-128"/>
              </a:rPr>
              <a:t>freezes when busy,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754" dirty="0">
                <a:ea typeface="MS PGothic" panose="020B0600070205080204" pitchFamily="34" charset="-128"/>
              </a:rPr>
              <a:t>resumes if idle for DIFS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754" dirty="0">
                <a:solidFill>
                  <a:srgbClr val="0070C0"/>
                </a:solidFill>
                <a:ea typeface="MS PGothic" panose="020B0600070205080204" pitchFamily="34" charset="-128"/>
              </a:rPr>
              <a:t>transmit RTS </a:t>
            </a:r>
            <a:r>
              <a:rPr lang="en-US" altLang="en-US" sz="1754" dirty="0">
                <a:ea typeface="MS PGothic" panose="020B0600070205080204" pitchFamily="34" charset="-128"/>
              </a:rPr>
              <a:t>when timer expires (why?)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	3. if no CTS</a:t>
            </a:r>
            <a:r>
              <a:rPr lang="en-US" altLang="en-US" sz="1754" dirty="0">
                <a:ea typeface="MS PGothic" panose="020B0600070205080204" pitchFamily="34" charset="-128"/>
              </a:rPr>
              <a:t>, then go to 1.2 (why?)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    4. if CTS</a:t>
            </a:r>
            <a:r>
              <a:rPr lang="en-US" altLang="en-US" sz="1754" dirty="0">
                <a:ea typeface="MS PGothic" panose="020B0600070205080204" pitchFamily="34" charset="-128"/>
              </a:rPr>
              <a:t>, then wait SIFS, and </a:t>
            </a:r>
            <a:r>
              <a:rPr lang="en-US" altLang="en-US" sz="1754" dirty="0">
                <a:solidFill>
                  <a:srgbClr val="0070C0"/>
                </a:solidFill>
                <a:ea typeface="MS PGothic" panose="020B0600070205080204" pitchFamily="34" charset="-128"/>
              </a:rPr>
              <a:t>transmit DATA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    5.</a:t>
            </a:r>
            <a:r>
              <a:rPr lang="en-US" altLang="en-US" sz="1754" dirty="0">
                <a:ea typeface="MS PGothic" panose="020B0600070205080204" pitchFamily="34" charset="-128"/>
              </a:rPr>
              <a:t> </a:t>
            </a: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if no ACK</a:t>
            </a:r>
            <a:r>
              <a:rPr lang="en-US" altLang="en-US" sz="1754" dirty="0">
                <a:ea typeface="MS PGothic" panose="020B0600070205080204" pitchFamily="34" charset="-128"/>
              </a:rPr>
              <a:t>, </a:t>
            </a:r>
            <a:r>
              <a:rPr lang="en-US" altLang="en-US" sz="1754" dirty="0">
                <a:solidFill>
                  <a:srgbClr val="FF0000"/>
                </a:solidFill>
                <a:ea typeface="MS PGothic" panose="020B0600070205080204" pitchFamily="34" charset="-128"/>
              </a:rPr>
              <a:t>increase random backoff interval</a:t>
            </a:r>
            <a:r>
              <a:rPr lang="en-US" altLang="en-US" sz="1754" dirty="0">
                <a:ea typeface="MS PGothic" panose="020B0600070205080204" pitchFamily="34" charset="-128"/>
              </a:rPr>
              <a:t>, go to 1.2 (why?)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754" dirty="0"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105" u="sng" dirty="0">
                <a:solidFill>
                  <a:srgbClr val="FF0000"/>
                </a:solidFill>
                <a:ea typeface="MS PGothic" panose="020B0600070205080204" pitchFamily="34" charset="-128"/>
              </a:rPr>
              <a:t>802.11 receiver</a:t>
            </a:r>
            <a:endParaRPr lang="en-US" altLang="en-US" sz="2105" dirty="0">
              <a:ea typeface="MS PGothic" panose="020B0600070205080204" pitchFamily="34" charset="-128"/>
            </a:endParaRPr>
          </a:p>
          <a:p>
            <a:pPr marL="285750" indent="-285750">
              <a:buFontTx/>
              <a:buChar char="-"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if RTS frame received OK</a:t>
            </a:r>
          </a:p>
          <a:p>
            <a:pPr marL="285750" indent="-285750">
              <a:buFontTx/>
              <a:buChar char="-"/>
            </a:pPr>
            <a:r>
              <a:rPr lang="en-US" altLang="en-US" sz="1754" dirty="0">
                <a:ea typeface="MS PGothic" panose="020B0600070205080204" pitchFamily="34" charset="-128"/>
              </a:rPr>
              <a:t>return CTS after </a:t>
            </a:r>
            <a:r>
              <a:rPr lang="en-US" altLang="en-US" sz="1754" b="1" dirty="0">
                <a:ea typeface="MS PGothic" panose="020B0600070205080204" pitchFamily="34" charset="-128"/>
              </a:rPr>
              <a:t>SIFS</a:t>
            </a:r>
          </a:p>
          <a:p>
            <a:pPr marL="285750" indent="-285750">
              <a:buFontTx/>
              <a:buChar char="-"/>
            </a:pPr>
            <a:r>
              <a:rPr lang="en-US" altLang="en-US" sz="1754" dirty="0">
                <a:solidFill>
                  <a:srgbClr val="000099"/>
                </a:solidFill>
                <a:ea typeface="MS PGothic" panose="020B0600070205080204" pitchFamily="34" charset="-128"/>
              </a:rPr>
              <a:t>if Data frame received OK</a:t>
            </a:r>
          </a:p>
          <a:p>
            <a:pPr marL="285750" indent="-285750">
              <a:buFontTx/>
              <a:buChar char="-"/>
            </a:pPr>
            <a:r>
              <a:rPr lang="en-US" altLang="en-US" sz="1754" dirty="0">
                <a:ea typeface="MS PGothic" panose="020B0600070205080204" pitchFamily="34" charset="-128"/>
              </a:rPr>
              <a:t>return ACK after </a:t>
            </a:r>
            <a:r>
              <a:rPr lang="en-US" altLang="en-US" sz="1754" b="1" dirty="0">
                <a:ea typeface="MS PGothic" panose="020B0600070205080204" pitchFamily="34" charset="-128"/>
              </a:rPr>
              <a:t>SIFS </a:t>
            </a:r>
            <a:r>
              <a:rPr lang="en-US" altLang="en-US" sz="1754" dirty="0">
                <a:ea typeface="MS PGothic" panose="020B0600070205080204" pitchFamily="34" charset="-128"/>
              </a:rPr>
              <a:t>(ACK needed due to hidden terminal problem) </a:t>
            </a:r>
            <a:endParaRPr lang="en-US" altLang="en-US" sz="2105" b="1" dirty="0">
              <a:ea typeface="MS PGothic" panose="020B0600070205080204" pitchFamily="34" charset="-128"/>
            </a:endParaRPr>
          </a:p>
        </p:txBody>
      </p:sp>
      <p:sp>
        <p:nvSpPr>
          <p:cNvPr id="61445" name="Line 5">
            <a:extLst>
              <a:ext uri="{FF2B5EF4-FFF2-40B4-BE49-F238E27FC236}">
                <a16:creationId xmlns:a16="http://schemas.microsoft.com/office/drawing/2014/main" id="{97A42C04-41FE-A54B-89CA-F4F1DEA79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6755" y="1417181"/>
            <a:ext cx="44272" cy="5488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7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61446" name="Line 6">
            <a:extLst>
              <a:ext uri="{FF2B5EF4-FFF2-40B4-BE49-F238E27FC236}">
                <a16:creationId xmlns:a16="http://schemas.microsoft.com/office/drawing/2014/main" id="{15197F80-A4F5-5DC0-C26E-3D35C969FD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00131" y="1539987"/>
            <a:ext cx="44271" cy="53544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7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61447" name="Text Box 7">
            <a:extLst>
              <a:ext uri="{FF2B5EF4-FFF2-40B4-BE49-F238E27FC236}">
                <a16:creationId xmlns:a16="http://schemas.microsoft.com/office/drawing/2014/main" id="{4353BA96-13E6-2379-76C8-CCF2306C5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577" y="977445"/>
            <a:ext cx="755335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403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sender</a:t>
            </a:r>
          </a:p>
        </p:txBody>
      </p:sp>
      <p:sp>
        <p:nvSpPr>
          <p:cNvPr id="61448" name="Text Box 8">
            <a:extLst>
              <a:ext uri="{FF2B5EF4-FFF2-40B4-BE49-F238E27FC236}">
                <a16:creationId xmlns:a16="http://schemas.microsoft.com/office/drawing/2014/main" id="{6D72B3F3-B8FA-0413-DCBB-FF3DABFEB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9930" y="1016189"/>
            <a:ext cx="89159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403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receiver</a:t>
            </a:r>
          </a:p>
        </p:txBody>
      </p:sp>
      <p:grpSp>
        <p:nvGrpSpPr>
          <p:cNvPr id="354327" name="Group 23">
            <a:extLst>
              <a:ext uri="{FF2B5EF4-FFF2-40B4-BE49-F238E27FC236}">
                <a16:creationId xmlns:a16="http://schemas.microsoft.com/office/drawing/2014/main" id="{183AA91B-4B2C-603C-E7B1-C380B1B8BE75}"/>
              </a:ext>
            </a:extLst>
          </p:cNvPr>
          <p:cNvGrpSpPr>
            <a:grpSpLocks/>
          </p:cNvGrpSpPr>
          <p:nvPr/>
        </p:nvGrpSpPr>
        <p:grpSpPr bwMode="auto">
          <a:xfrm>
            <a:off x="7275598" y="1284627"/>
            <a:ext cx="2244500" cy="4128374"/>
            <a:chOff x="3650" y="-519"/>
            <a:chExt cx="1612" cy="2965"/>
          </a:xfrm>
        </p:grpSpPr>
        <p:grpSp>
          <p:nvGrpSpPr>
            <p:cNvPr id="61456" name="Group 22">
              <a:extLst>
                <a:ext uri="{FF2B5EF4-FFF2-40B4-BE49-F238E27FC236}">
                  <a16:creationId xmlns:a16="http://schemas.microsoft.com/office/drawing/2014/main" id="{5861D9B0-DDD3-020D-320B-74F5A0291A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0" y="-519"/>
              <a:ext cx="424" cy="2065"/>
              <a:chOff x="3650" y="-519"/>
              <a:chExt cx="424" cy="2065"/>
            </a:xfrm>
          </p:grpSpPr>
          <p:sp>
            <p:nvSpPr>
              <p:cNvPr id="61460" name="AutoShape 11">
                <a:extLst>
                  <a:ext uri="{FF2B5EF4-FFF2-40B4-BE49-F238E27FC236}">
                    <a16:creationId xmlns:a16="http://schemas.microsoft.com/office/drawing/2014/main" id="{B63FE2FC-A075-1D51-46F1-58298F3F9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1384"/>
                <a:ext cx="54" cy="162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endParaRPr kumimoji="0" lang="en-US" alt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1461" name="Text Box 12">
                <a:extLst>
                  <a:ext uri="{FF2B5EF4-FFF2-40B4-BE49-F238E27FC236}">
                    <a16:creationId xmlns:a16="http://schemas.microsoft.com/office/drawing/2014/main" id="{8CE52CB7-AA2D-2B92-F841-B22B52551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0" y="-519"/>
                <a:ext cx="424" cy="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DIFS</a:t>
                </a:r>
              </a:p>
            </p:txBody>
          </p:sp>
        </p:grpSp>
        <p:grpSp>
          <p:nvGrpSpPr>
            <p:cNvPr id="61457" name="Group 20">
              <a:extLst>
                <a:ext uri="{FF2B5EF4-FFF2-40B4-BE49-F238E27FC236}">
                  <a16:creationId xmlns:a16="http://schemas.microsoft.com/office/drawing/2014/main" id="{8965F331-6FDB-BC4B-2BB2-94278A44A5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0" y="1546"/>
              <a:ext cx="1212" cy="900"/>
              <a:chOff x="4050" y="1546"/>
              <a:chExt cx="1212" cy="900"/>
            </a:xfrm>
          </p:grpSpPr>
          <p:sp>
            <p:nvSpPr>
              <p:cNvPr id="61458" name="Freeform 13">
                <a:extLst>
                  <a:ext uri="{FF2B5EF4-FFF2-40B4-BE49-F238E27FC236}">
                    <a16:creationId xmlns:a16="http://schemas.microsoft.com/office/drawing/2014/main" id="{57A471EC-0E5A-F7D6-3EE9-FBFDCF76E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1546"/>
                <a:ext cx="1212" cy="900"/>
              </a:xfrm>
              <a:custGeom>
                <a:avLst/>
                <a:gdLst>
                  <a:gd name="T0" fmla="*/ 6 w 1212"/>
                  <a:gd name="T1" fmla="*/ 0 h 900"/>
                  <a:gd name="T2" fmla="*/ 1212 w 1212"/>
                  <a:gd name="T3" fmla="*/ 228 h 900"/>
                  <a:gd name="T4" fmla="*/ 1212 w 1212"/>
                  <a:gd name="T5" fmla="*/ 900 h 900"/>
                  <a:gd name="T6" fmla="*/ 0 w 1212"/>
                  <a:gd name="T7" fmla="*/ 660 h 900"/>
                  <a:gd name="T8" fmla="*/ 6 w 1212"/>
                  <a:gd name="T9" fmla="*/ 0 h 9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900">
                    <a:moveTo>
                      <a:pt x="6" y="0"/>
                    </a:moveTo>
                    <a:lnTo>
                      <a:pt x="1212" y="228"/>
                    </a:lnTo>
                    <a:lnTo>
                      <a:pt x="1212" y="900"/>
                    </a:lnTo>
                    <a:lnTo>
                      <a:pt x="0" y="66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61459" name="Text Box 18">
                <a:extLst>
                  <a:ext uri="{FF2B5EF4-FFF2-40B4-BE49-F238E27FC236}">
                    <a16:creationId xmlns:a16="http://schemas.microsoft.com/office/drawing/2014/main" id="{4CFEC5D1-932D-28C5-7BAF-A3DEFD1395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4" y="1872"/>
                <a:ext cx="437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data</a:t>
                </a:r>
              </a:p>
            </p:txBody>
          </p:sp>
        </p:grpSp>
      </p:grpSp>
      <p:grpSp>
        <p:nvGrpSpPr>
          <p:cNvPr id="354328" name="Group 24">
            <a:extLst>
              <a:ext uri="{FF2B5EF4-FFF2-40B4-BE49-F238E27FC236}">
                <a16:creationId xmlns:a16="http://schemas.microsoft.com/office/drawing/2014/main" id="{F19F4D34-96FF-CB85-9A12-2FDFDE167DE1}"/>
              </a:ext>
            </a:extLst>
          </p:cNvPr>
          <p:cNvGrpSpPr>
            <a:grpSpLocks/>
          </p:cNvGrpSpPr>
          <p:nvPr/>
        </p:nvGrpSpPr>
        <p:grpSpPr bwMode="auto">
          <a:xfrm>
            <a:off x="7805620" y="5380977"/>
            <a:ext cx="2275133" cy="1054022"/>
            <a:chOff x="4044" y="2438"/>
            <a:chExt cx="1634" cy="757"/>
          </a:xfrm>
        </p:grpSpPr>
        <p:sp>
          <p:nvSpPr>
            <p:cNvPr id="61451" name="Text Box 14">
              <a:extLst>
                <a:ext uri="{FF2B5EF4-FFF2-40B4-BE49-F238E27FC236}">
                  <a16:creationId xmlns:a16="http://schemas.microsoft.com/office/drawing/2014/main" id="{70B96DE6-8772-8489-FBFB-D17D8510E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8" y="2438"/>
              <a:ext cx="42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r>
                <a:rPr kumimoji="0" lang="en-US" altLang="en-US" sz="122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rPr>
                <a:t>SIFS</a:t>
              </a:r>
            </a:p>
          </p:txBody>
        </p:sp>
        <p:sp>
          <p:nvSpPr>
            <p:cNvPr id="61452" name="AutoShape 15">
              <a:extLst>
                <a:ext uri="{FF2B5EF4-FFF2-40B4-BE49-F238E27FC236}">
                  <a16:creationId xmlns:a16="http://schemas.microsoft.com/office/drawing/2014/main" id="{4F7CBF4D-AFD3-2004-790E-6AE62ECAD76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62" y="2441"/>
              <a:ext cx="54" cy="16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endParaRPr kumimoji="0" lang="en-US" altLang="en-US" sz="157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61453" name="Group 21">
              <a:extLst>
                <a:ext uri="{FF2B5EF4-FFF2-40B4-BE49-F238E27FC236}">
                  <a16:creationId xmlns:a16="http://schemas.microsoft.com/office/drawing/2014/main" id="{51F9D64B-F581-8D92-65AF-E500BFBE74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4" y="2597"/>
              <a:ext cx="1212" cy="598"/>
              <a:chOff x="4044" y="2597"/>
              <a:chExt cx="1212" cy="598"/>
            </a:xfrm>
          </p:grpSpPr>
          <p:sp>
            <p:nvSpPr>
              <p:cNvPr id="61454" name="Freeform 17">
                <a:extLst>
                  <a:ext uri="{FF2B5EF4-FFF2-40B4-BE49-F238E27FC236}">
                    <a16:creationId xmlns:a16="http://schemas.microsoft.com/office/drawing/2014/main" id="{E68ECE1D-D35E-B75E-E6F8-2F99DCA6808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044" y="2597"/>
                <a:ext cx="1212" cy="414"/>
              </a:xfrm>
              <a:custGeom>
                <a:avLst/>
                <a:gdLst>
                  <a:gd name="T0" fmla="*/ 0 w 1212"/>
                  <a:gd name="T1" fmla="*/ 0 h 414"/>
                  <a:gd name="T2" fmla="*/ 1212 w 1212"/>
                  <a:gd name="T3" fmla="*/ 246 h 414"/>
                  <a:gd name="T4" fmla="*/ 1212 w 1212"/>
                  <a:gd name="T5" fmla="*/ 414 h 414"/>
                  <a:gd name="T6" fmla="*/ 6 w 1212"/>
                  <a:gd name="T7" fmla="*/ 174 h 414"/>
                  <a:gd name="T8" fmla="*/ 0 w 1212"/>
                  <a:gd name="T9" fmla="*/ 0 h 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414">
                    <a:moveTo>
                      <a:pt x="0" y="0"/>
                    </a:moveTo>
                    <a:lnTo>
                      <a:pt x="1212" y="246"/>
                    </a:lnTo>
                    <a:lnTo>
                      <a:pt x="1212" y="414"/>
                    </a:lnTo>
                    <a:lnTo>
                      <a:pt x="6" y="1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61455" name="Text Box 19">
                <a:extLst>
                  <a:ext uri="{FF2B5EF4-FFF2-40B4-BE49-F238E27FC236}">
                    <a16:creationId xmlns:a16="http://schemas.microsoft.com/office/drawing/2014/main" id="{6341AA49-4934-CDB4-C0D6-EE29AC0736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6" y="2954"/>
                <a:ext cx="415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ACK</a:t>
                </a: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7477CD4-15C8-152A-824D-E248A0143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79198"/>
            <a:ext cx="8135074" cy="1002506"/>
          </a:xfrm>
        </p:spPr>
        <p:txBody>
          <a:bodyPr/>
          <a:lstStyle/>
          <a:p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Distributed</a:t>
            </a:r>
            <a:r>
              <a:rPr kumimoji="0" lang="en-US" sz="36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lang="en-US" sz="36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lang="en-US" sz="36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(DCF)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</a:br>
            <a:endParaRPr lang="en-US" altLang="en-US" dirty="0"/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6A6FD46C-D7AF-1F8F-ECF7-8868848A9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936" y="4235055"/>
            <a:ext cx="584796" cy="28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22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SIFS</a:t>
            </a: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40905697-2A8C-326E-49EC-06E15F6CF972}"/>
              </a:ext>
            </a:extLst>
          </p:cNvPr>
          <p:cNvGrpSpPr>
            <a:grpSpLocks/>
          </p:cNvGrpSpPr>
          <p:nvPr/>
        </p:nvGrpSpPr>
        <p:grpSpPr bwMode="auto">
          <a:xfrm>
            <a:off x="7861028" y="3259008"/>
            <a:ext cx="2286272" cy="758842"/>
            <a:chOff x="4036" y="2584"/>
            <a:chExt cx="1642" cy="545"/>
          </a:xfrm>
        </p:grpSpPr>
        <p:sp>
          <p:nvSpPr>
            <p:cNvPr id="5" name="Text Box 14">
              <a:extLst>
                <a:ext uri="{FF2B5EF4-FFF2-40B4-BE49-F238E27FC236}">
                  <a16:creationId xmlns:a16="http://schemas.microsoft.com/office/drawing/2014/main" id="{FACA794A-53DC-2415-2F0E-2ED68B996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8" y="2593"/>
              <a:ext cx="42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r>
                <a:rPr kumimoji="0" lang="en-US" altLang="en-US" sz="122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rPr>
                <a:t>SIFS</a:t>
              </a:r>
            </a:p>
          </p:txBody>
        </p:sp>
        <p:sp>
          <p:nvSpPr>
            <p:cNvPr id="6" name="AutoShape 15">
              <a:extLst>
                <a:ext uri="{FF2B5EF4-FFF2-40B4-BE49-F238E27FC236}">
                  <a16:creationId xmlns:a16="http://schemas.microsoft.com/office/drawing/2014/main" id="{7C2D20CB-CE3C-0154-E98B-53117828AE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62" y="2584"/>
              <a:ext cx="54" cy="16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ZapfDingbats" pitchFamily="82" charset="2"/>
                <a:buNone/>
                <a:tabLst/>
                <a:defRPr/>
              </a:pPr>
              <a:endParaRPr kumimoji="0" lang="en-US" altLang="en-US" sz="157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7" name="Group 21">
              <a:extLst>
                <a:ext uri="{FF2B5EF4-FFF2-40B4-BE49-F238E27FC236}">
                  <a16:creationId xmlns:a16="http://schemas.microsoft.com/office/drawing/2014/main" id="{4CC0DABB-66E4-D919-7C07-5D6DE7A48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6" y="2715"/>
              <a:ext cx="1212" cy="414"/>
              <a:chOff x="4036" y="2715"/>
              <a:chExt cx="1212" cy="414"/>
            </a:xfrm>
          </p:grpSpPr>
          <p:sp>
            <p:nvSpPr>
              <p:cNvPr id="8" name="Freeform 17">
                <a:extLst>
                  <a:ext uri="{FF2B5EF4-FFF2-40B4-BE49-F238E27FC236}">
                    <a16:creationId xmlns:a16="http://schemas.microsoft.com/office/drawing/2014/main" id="{1CCD59D0-36F1-9FD8-C78F-E9EFC2079BFF}"/>
                  </a:ext>
                </a:extLst>
              </p:cNvPr>
              <p:cNvSpPr>
                <a:spLocks/>
              </p:cNvSpPr>
              <p:nvPr/>
            </p:nvSpPr>
            <p:spPr bwMode="auto">
              <a:xfrm rot="493894" flipV="1">
                <a:off x="4036" y="2715"/>
                <a:ext cx="1212" cy="414"/>
              </a:xfrm>
              <a:custGeom>
                <a:avLst/>
                <a:gdLst>
                  <a:gd name="T0" fmla="*/ 0 w 1212"/>
                  <a:gd name="T1" fmla="*/ 0 h 414"/>
                  <a:gd name="T2" fmla="*/ 1212 w 1212"/>
                  <a:gd name="T3" fmla="*/ 246 h 414"/>
                  <a:gd name="T4" fmla="*/ 1212 w 1212"/>
                  <a:gd name="T5" fmla="*/ 414 h 414"/>
                  <a:gd name="T6" fmla="*/ 6 w 1212"/>
                  <a:gd name="T7" fmla="*/ 174 h 414"/>
                  <a:gd name="T8" fmla="*/ 0 w 1212"/>
                  <a:gd name="T9" fmla="*/ 0 h 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414">
                    <a:moveTo>
                      <a:pt x="0" y="0"/>
                    </a:moveTo>
                    <a:lnTo>
                      <a:pt x="1212" y="246"/>
                    </a:lnTo>
                    <a:lnTo>
                      <a:pt x="1212" y="414"/>
                    </a:lnTo>
                    <a:lnTo>
                      <a:pt x="6" y="1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9" name="Text Box 19">
                <a:extLst>
                  <a:ext uri="{FF2B5EF4-FFF2-40B4-BE49-F238E27FC236}">
                    <a16:creationId xmlns:a16="http://schemas.microsoft.com/office/drawing/2014/main" id="{CFC1D9FC-4F8F-FF88-D65F-C2FF4563BC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97225">
                <a:off x="4436" y="2813"/>
                <a:ext cx="420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579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CTS</a:t>
                </a:r>
              </a:p>
            </p:txBody>
          </p:sp>
        </p:grpSp>
      </p:grpSp>
      <p:grpSp>
        <p:nvGrpSpPr>
          <p:cNvPr id="16" name="Group 23">
            <a:extLst>
              <a:ext uri="{FF2B5EF4-FFF2-40B4-BE49-F238E27FC236}">
                <a16:creationId xmlns:a16="http://schemas.microsoft.com/office/drawing/2014/main" id="{EA064351-F500-F4AB-FFBE-4FAB7833A3AC}"/>
              </a:ext>
            </a:extLst>
          </p:cNvPr>
          <p:cNvGrpSpPr>
            <a:grpSpLocks/>
          </p:cNvGrpSpPr>
          <p:nvPr/>
        </p:nvGrpSpPr>
        <p:grpSpPr bwMode="auto">
          <a:xfrm>
            <a:off x="6353377" y="1303423"/>
            <a:ext cx="3185743" cy="1910330"/>
            <a:chOff x="3306" y="481"/>
            <a:chExt cx="2288" cy="1372"/>
          </a:xfrm>
        </p:grpSpPr>
        <p:grpSp>
          <p:nvGrpSpPr>
            <p:cNvPr id="17" name="Group 22">
              <a:extLst>
                <a:ext uri="{FF2B5EF4-FFF2-40B4-BE49-F238E27FC236}">
                  <a16:creationId xmlns:a16="http://schemas.microsoft.com/office/drawing/2014/main" id="{FF3F9234-2414-DF89-EDC3-05D8BD08F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6" y="481"/>
              <a:ext cx="1072" cy="821"/>
              <a:chOff x="3306" y="481"/>
              <a:chExt cx="1072" cy="821"/>
            </a:xfrm>
          </p:grpSpPr>
          <p:sp>
            <p:nvSpPr>
              <p:cNvPr id="21" name="AutoShape 11">
                <a:extLst>
                  <a:ext uri="{FF2B5EF4-FFF2-40B4-BE49-F238E27FC236}">
                    <a16:creationId xmlns:a16="http://schemas.microsoft.com/office/drawing/2014/main" id="{FC89D46D-1B36-D587-FE41-3E73E1332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481"/>
                <a:ext cx="33" cy="301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endParaRPr kumimoji="0" lang="en-US" altLang="en-US" sz="157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2" name="Text Box 12">
                <a:extLst>
                  <a:ext uri="{FF2B5EF4-FFF2-40B4-BE49-F238E27FC236}">
                    <a16:creationId xmlns:a16="http://schemas.microsoft.com/office/drawing/2014/main" id="{CDBD6040-3932-77B0-1FAB-81D9280485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6" y="1100"/>
                <a:ext cx="990" cy="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80202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ZapfDingbats" pitchFamily="82" charset="2"/>
                  <a:buNone/>
                  <a:tabLst/>
                  <a:defRPr/>
                </a:pPr>
                <a:r>
                  <a:rPr kumimoji="0" lang="en-US" altLang="en-US" sz="1228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MS PGothic" panose="020B0600070205080204" pitchFamily="34" charset="-128"/>
                    <a:cs typeface="+mn-cs"/>
                  </a:rPr>
                  <a:t>Random Backoff</a:t>
                </a:r>
              </a:p>
            </p:txBody>
          </p:sp>
        </p:grp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A7CFC83-498E-DD90-005E-E873D10D557F}"/>
                </a:ext>
              </a:extLst>
            </p:cNvPr>
            <p:cNvSpPr>
              <a:spLocks/>
            </p:cNvSpPr>
            <p:nvPr/>
          </p:nvSpPr>
          <p:spPr bwMode="auto">
            <a:xfrm rot="437725">
              <a:off x="4382" y="1618"/>
              <a:ext cx="1212" cy="235"/>
            </a:xfrm>
            <a:custGeom>
              <a:avLst/>
              <a:gdLst>
                <a:gd name="T0" fmla="*/ 6 w 1212"/>
                <a:gd name="T1" fmla="*/ 0 h 900"/>
                <a:gd name="T2" fmla="*/ 1212 w 1212"/>
                <a:gd name="T3" fmla="*/ 228 h 900"/>
                <a:gd name="T4" fmla="*/ 1212 w 1212"/>
                <a:gd name="T5" fmla="*/ 900 h 900"/>
                <a:gd name="T6" fmla="*/ 0 w 1212"/>
                <a:gd name="T7" fmla="*/ 660 h 900"/>
                <a:gd name="T8" fmla="*/ 6 w 1212"/>
                <a:gd name="T9" fmla="*/ 0 h 9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12" h="900">
                  <a:moveTo>
                    <a:pt x="6" y="0"/>
                  </a:moveTo>
                  <a:lnTo>
                    <a:pt x="1212" y="228"/>
                  </a:lnTo>
                  <a:lnTo>
                    <a:pt x="1212" y="900"/>
                  </a:lnTo>
                  <a:lnTo>
                    <a:pt x="0" y="66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80202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7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</p:grpSp>
      <p:sp>
        <p:nvSpPr>
          <p:cNvPr id="23" name="AutoShape 11">
            <a:extLst>
              <a:ext uri="{FF2B5EF4-FFF2-40B4-BE49-F238E27FC236}">
                <a16:creationId xmlns:a16="http://schemas.microsoft.com/office/drawing/2014/main" id="{EAD59F8A-B5F1-11CE-F86C-C51BF6895D47}"/>
              </a:ext>
            </a:extLst>
          </p:cNvPr>
          <p:cNvSpPr>
            <a:spLocks/>
          </p:cNvSpPr>
          <p:nvPr/>
        </p:nvSpPr>
        <p:spPr bwMode="auto">
          <a:xfrm>
            <a:off x="7732889" y="1768808"/>
            <a:ext cx="45719" cy="887301"/>
          </a:xfrm>
          <a:prstGeom prst="leftBrace">
            <a:avLst>
              <a:gd name="adj1" fmla="val 25000"/>
              <a:gd name="adj2" fmla="val 50000"/>
            </a:avLst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endParaRPr kumimoji="0" lang="en-US" altLang="en-US" sz="1579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690620EA-DCF7-956A-08E3-8E9A93421DAE}"/>
              </a:ext>
            </a:extLst>
          </p:cNvPr>
          <p:cNvSpPr txBox="1">
            <a:spLocks noChangeArrowheads="1"/>
          </p:cNvSpPr>
          <p:nvPr/>
        </p:nvSpPr>
        <p:spPr bwMode="auto">
          <a:xfrm rot="1284443">
            <a:off x="8271940" y="2863912"/>
            <a:ext cx="584796" cy="335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57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RTS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6AD627-935C-6D28-EA29-6E6BE2D2BD18}"/>
              </a:ext>
            </a:extLst>
          </p:cNvPr>
          <p:cNvSpPr txBox="1"/>
          <p:nvPr/>
        </p:nvSpPr>
        <p:spPr>
          <a:xfrm>
            <a:off x="7907207" y="1538050"/>
            <a:ext cx="3785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FF0000"/>
                </a:solidFill>
              </a:rPr>
              <a:t>e.g</a:t>
            </a:r>
            <a:r>
              <a:rPr lang="en-US" sz="1000" dirty="0">
                <a:solidFill>
                  <a:srgbClr val="FF0000"/>
                </a:solidFill>
              </a:rPr>
              <a:t>, </a:t>
            </a:r>
            <a:r>
              <a:rPr lang="en-US" sz="1000" dirty="0">
                <a:solidFill>
                  <a:srgbClr val="0070C0"/>
                </a:solidFill>
              </a:rPr>
              <a:t>5</a:t>
            </a:r>
          </a:p>
          <a:p>
            <a:r>
              <a:rPr lang="en-US" sz="1000" dirty="0">
                <a:solidFill>
                  <a:srgbClr val="0070C0"/>
                </a:solidFill>
              </a:rPr>
              <a:t>4</a:t>
            </a:r>
          </a:p>
          <a:p>
            <a:r>
              <a:rPr lang="en-US" sz="1000" dirty="0">
                <a:solidFill>
                  <a:srgbClr val="0070C0"/>
                </a:solidFill>
              </a:rPr>
              <a:t>3</a:t>
            </a:r>
          </a:p>
          <a:p>
            <a:r>
              <a:rPr lang="en-US" sz="1000" dirty="0">
                <a:solidFill>
                  <a:srgbClr val="0070C0"/>
                </a:solidFill>
              </a:rPr>
              <a:t>2</a:t>
            </a:r>
          </a:p>
          <a:p>
            <a:r>
              <a:rPr lang="en-US" sz="1000" dirty="0">
                <a:solidFill>
                  <a:srgbClr val="0070C0"/>
                </a:solidFill>
              </a:rPr>
              <a:t>1</a:t>
            </a:r>
          </a:p>
          <a:p>
            <a:r>
              <a:rPr lang="en-US" sz="1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6" name="Text Box 19">
            <a:extLst>
              <a:ext uri="{FF2B5EF4-FFF2-40B4-BE49-F238E27FC236}">
                <a16:creationId xmlns:a16="http://schemas.microsoft.com/office/drawing/2014/main" id="{C0710CB8-A505-18F4-A702-F97F58B298C3}"/>
              </a:ext>
            </a:extLst>
          </p:cNvPr>
          <p:cNvSpPr txBox="1">
            <a:spLocks noChangeArrowheads="1"/>
          </p:cNvSpPr>
          <p:nvPr/>
        </p:nvSpPr>
        <p:spPr bwMode="auto">
          <a:xfrm rot="21102163">
            <a:off x="8406642" y="5754421"/>
            <a:ext cx="577402" cy="3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57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ACK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B651126-73F0-717D-5E49-6632CCE75A57}"/>
              </a:ext>
            </a:extLst>
          </p:cNvPr>
          <p:cNvSpPr txBox="1">
            <a:spLocks/>
          </p:cNvSpPr>
          <p:nvPr/>
        </p:nvSpPr>
        <p:spPr>
          <a:xfrm>
            <a:off x="896593" y="54244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41843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5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5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2">
            <a:extLst>
              <a:ext uri="{FF2B5EF4-FFF2-40B4-BE49-F238E27FC236}">
                <a16:creationId xmlns:a16="http://schemas.microsoft.com/office/drawing/2014/main" id="{2E0D10F7-07A0-C439-F2B7-459625B48D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4511" y="2429435"/>
            <a:ext cx="7084378" cy="4359509"/>
          </a:xfrm>
        </p:spPr>
      </p:pic>
      <p:sp>
        <p:nvSpPr>
          <p:cNvPr id="68612" name="Slide Number Placeholder 1">
            <a:extLst>
              <a:ext uri="{FF2B5EF4-FFF2-40B4-BE49-F238E27FC236}">
                <a16:creationId xmlns:a16="http://schemas.microsoft.com/office/drawing/2014/main" id="{BB99BE87-E782-ACFA-2A1A-AF7F350E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59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A16DB8F-281B-58C5-7753-331159CF5B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9291" y="276225"/>
            <a:ext cx="8114189" cy="792259"/>
          </a:xfrm>
        </p:spPr>
        <p:txBody>
          <a:bodyPr/>
          <a:lstStyle/>
          <a:p>
            <a:pPr eaLnBrk="1" hangingPunct="1"/>
            <a:r>
              <a:rPr lang="en-US" altLang="en-US" dirty="0"/>
              <a:t>802.11 Medium Access  Overhead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C888F77-39B1-C8DA-46CF-F7BD6706A18B}"/>
              </a:ext>
            </a:extLst>
          </p:cNvPr>
          <p:cNvSpPr txBox="1">
            <a:spLocks/>
          </p:cNvSpPr>
          <p:nvPr/>
        </p:nvSpPr>
        <p:spPr>
          <a:xfrm>
            <a:off x="1308100" y="28963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8423155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7">
            <a:extLst>
              <a:ext uri="{FF2B5EF4-FFF2-40B4-BE49-F238E27FC236}">
                <a16:creationId xmlns:a16="http://schemas.microsoft.com/office/drawing/2014/main" id="{F9B8B3A0-E037-4199-FC26-26C6A5A83D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4268" y="1961403"/>
            <a:ext cx="9089390" cy="4675965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Transmitter</a:t>
            </a:r>
          </a:p>
          <a:p>
            <a:pPr marL="0" indent="0" eaLnBrk="1" hangingPunct="1">
              <a:buNone/>
              <a:defRPr/>
            </a:pPr>
            <a:endParaRPr lang="en-US" dirty="0">
              <a:solidFill>
                <a:srgbClr val="00B0F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solidFill>
                  <a:srgbClr val="00B0F0"/>
                </a:solidFill>
              </a:rPr>
              <a:t>Receiver</a:t>
            </a:r>
          </a:p>
          <a:p>
            <a:pPr eaLnBrk="1" hangingPunct="1">
              <a:defRPr/>
            </a:pPr>
            <a:r>
              <a:rPr lang="en-US" dirty="0"/>
              <a:t>Overhead:</a:t>
            </a:r>
          </a:p>
          <a:p>
            <a:pPr lvl="1" eaLnBrk="1" hangingPunct="1">
              <a:defRPr/>
            </a:pPr>
            <a:r>
              <a:rPr lang="en-US" dirty="0"/>
              <a:t>DIFS</a:t>
            </a:r>
          </a:p>
          <a:p>
            <a:pPr lvl="1" eaLnBrk="1" hangingPunct="1">
              <a:defRPr/>
            </a:pPr>
            <a:r>
              <a:rPr lang="en-US" dirty="0"/>
              <a:t>Random </a:t>
            </a:r>
            <a:r>
              <a:rPr lang="en-US" dirty="0" err="1"/>
              <a:t>backoff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ACK/SIFS</a:t>
            </a:r>
          </a:p>
          <a:p>
            <a:pPr lvl="1" eaLnBrk="1" hangingPunct="1">
              <a:defRPr/>
            </a:pPr>
            <a:r>
              <a:rPr lang="en-US" dirty="0"/>
              <a:t>Optional RTS/CTS handshake before transmission of data packet (often disabled due to its overhead)</a:t>
            </a:r>
          </a:p>
          <a:p>
            <a:pPr lvl="1" eaLnBrk="1" hangingPunct="1">
              <a:defRPr/>
            </a:pPr>
            <a:r>
              <a:rPr lang="en-US" dirty="0"/>
              <a:t>Header overhead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</a:rPr>
              <a:t>802.11 has room for improvement. How?</a:t>
            </a:r>
          </a:p>
          <a:p>
            <a:pPr lvl="1" eaLnBrk="1" hangingPunct="1">
              <a:defRPr/>
            </a:pPr>
            <a:r>
              <a:rPr lang="en-US" sz="1754" dirty="0">
                <a:solidFill>
                  <a:srgbClr val="FF0000"/>
                </a:solidFill>
              </a:rPr>
              <a:t>(Will be discussed in coming lectures)</a:t>
            </a:r>
          </a:p>
        </p:txBody>
      </p:sp>
      <p:sp>
        <p:nvSpPr>
          <p:cNvPr id="73732" name="Rectangle 8">
            <a:extLst>
              <a:ext uri="{FF2B5EF4-FFF2-40B4-BE49-F238E27FC236}">
                <a16:creationId xmlns:a16="http://schemas.microsoft.com/office/drawing/2014/main" id="{84296F53-9CCD-E622-19B5-B54108DD7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181" y="2060456"/>
            <a:ext cx="601504" cy="506823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b="1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DIFS</a:t>
            </a:r>
          </a:p>
        </p:txBody>
      </p:sp>
      <p:sp>
        <p:nvSpPr>
          <p:cNvPr id="73733" name="Rectangle 9">
            <a:extLst>
              <a:ext uri="{FF2B5EF4-FFF2-40B4-BE49-F238E27FC236}">
                <a16:creationId xmlns:a16="http://schemas.microsoft.com/office/drawing/2014/main" id="{399BAE2C-DD9B-09F3-948D-203AFD8D9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814" y="2042045"/>
            <a:ext cx="2606516" cy="5179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Data Transmission</a:t>
            </a:r>
          </a:p>
        </p:txBody>
      </p:sp>
      <p:sp>
        <p:nvSpPr>
          <p:cNvPr id="73734" name="Rectangle 10">
            <a:extLst>
              <a:ext uri="{FF2B5EF4-FFF2-40B4-BE49-F238E27FC236}">
                <a16:creationId xmlns:a16="http://schemas.microsoft.com/office/drawing/2014/main" id="{CFD9399B-C820-E498-044A-D068DC07E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0" y="2060456"/>
            <a:ext cx="1025525" cy="506823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Random</a:t>
            </a:r>
          </a:p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Backoff</a:t>
            </a:r>
          </a:p>
        </p:txBody>
      </p:sp>
      <p:sp>
        <p:nvSpPr>
          <p:cNvPr id="73735" name="Line 11">
            <a:extLst>
              <a:ext uri="{FF2B5EF4-FFF2-40B4-BE49-F238E27FC236}">
                <a16:creationId xmlns:a16="http://schemas.microsoft.com/office/drawing/2014/main" id="{05F2B6B1-867B-863E-F48D-0AC055ECC7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1846" y="2661960"/>
            <a:ext cx="7017544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3736" name="Rectangle 12">
            <a:extLst>
              <a:ext uri="{FF2B5EF4-FFF2-40B4-BE49-F238E27FC236}">
                <a16:creationId xmlns:a16="http://schemas.microsoft.com/office/drawing/2014/main" id="{D5AC0671-541A-326B-352D-43B97C5AE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7500" y="2745503"/>
            <a:ext cx="529549" cy="5179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ACK</a:t>
            </a:r>
            <a:b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</a:br>
            <a:endParaRPr lang="en-US" altLang="en-US" sz="1579" b="1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3737" name="Rectangle 13">
            <a:extLst>
              <a:ext uri="{FF2B5EF4-FFF2-40B4-BE49-F238E27FC236}">
                <a16:creationId xmlns:a16="http://schemas.microsoft.com/office/drawing/2014/main" id="{2ED8F77A-821F-FC17-4B93-E4BE101D4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8812" y="2756642"/>
            <a:ext cx="401003" cy="506823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SIFS</a:t>
            </a:r>
          </a:p>
        </p:txBody>
      </p:sp>
      <p:sp>
        <p:nvSpPr>
          <p:cNvPr id="73738" name="Slide Number Placeholder 1">
            <a:extLst>
              <a:ext uri="{FF2B5EF4-FFF2-40B4-BE49-F238E27FC236}">
                <a16:creationId xmlns:a16="http://schemas.microsoft.com/office/drawing/2014/main" id="{189C508D-267F-1C27-D761-D3EBED37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56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51641" indent="-250631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105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02525" indent="-200505">
              <a:spcBef>
                <a:spcPct val="20000"/>
              </a:spcBef>
              <a:buChar char="•"/>
              <a:defRPr sz="1754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403535" indent="-200505">
              <a:spcBef>
                <a:spcPct val="20000"/>
              </a:spcBef>
              <a:buChar char="–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04546" indent="-200505">
              <a:spcBef>
                <a:spcPct val="20000"/>
              </a:spcBef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0555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0656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0757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0858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133B74B2-8B96-490B-80DA-CDB1181D7AEF}" type="slidenum">
              <a:rPr lang="en-US" altLang="en-US" sz="1228">
                <a:solidFill>
                  <a:srgbClr val="000000"/>
                </a:solidFill>
                <a:latin typeface="Times New Roman" panose="02020603050405020304" pitchFamily="18" charset="0"/>
              </a:rPr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60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B1BF83F9-6257-AEAD-9727-16BD36CFD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759" y="2053184"/>
            <a:ext cx="529549" cy="5068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RTS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AF5B206A-86BF-AEC9-CC30-F1CF0E599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155" y="2734313"/>
            <a:ext cx="401003" cy="506823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SIFS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01E4694-8C01-5179-23B3-A78047067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925" y="2735999"/>
            <a:ext cx="529549" cy="5068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79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1AD78-B61A-9327-3DD9-4DA80F4D303D}"/>
              </a:ext>
            </a:extLst>
          </p:cNvPr>
          <p:cNvSpPr/>
          <p:nvPr/>
        </p:nvSpPr>
        <p:spPr bwMode="auto">
          <a:xfrm>
            <a:off x="448803" y="1961403"/>
            <a:ext cx="1825466" cy="528671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A1A15-E393-E295-F191-1FCB0BB1B02B}"/>
              </a:ext>
            </a:extLst>
          </p:cNvPr>
          <p:cNvSpPr/>
          <p:nvPr/>
        </p:nvSpPr>
        <p:spPr bwMode="auto">
          <a:xfrm>
            <a:off x="394267" y="2763914"/>
            <a:ext cx="1880001" cy="528671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D5565A-E9C0-A1C8-DA9E-5FD53000D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3006" y="925482"/>
            <a:ext cx="8114189" cy="792259"/>
          </a:xfrm>
        </p:spPr>
        <p:txBody>
          <a:bodyPr/>
          <a:lstStyle/>
          <a:p>
            <a:pPr eaLnBrk="1" hangingPunct="1"/>
            <a:r>
              <a:rPr lang="en-US" altLang="en-US" dirty="0"/>
              <a:t>802.11 Medium Access  Overhead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036EB16-8D07-D4AA-D653-0C0D5749E5F7}"/>
              </a:ext>
            </a:extLst>
          </p:cNvPr>
          <p:cNvSpPr txBox="1">
            <a:spLocks/>
          </p:cNvSpPr>
          <p:nvPr/>
        </p:nvSpPr>
        <p:spPr>
          <a:xfrm>
            <a:off x="1110988" y="979497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2">
            <a:extLst>
              <a:ext uri="{FF2B5EF4-FFF2-40B4-BE49-F238E27FC236}">
                <a16:creationId xmlns:a16="http://schemas.microsoft.com/office/drawing/2014/main" id="{2E0D10F7-07A0-C439-F2B7-459625B48D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4511" y="2429435"/>
            <a:ext cx="7084378" cy="4359509"/>
          </a:xfrm>
        </p:spPr>
      </p:pic>
      <p:sp>
        <p:nvSpPr>
          <p:cNvPr id="68612" name="Slide Number Placeholder 1">
            <a:extLst>
              <a:ext uri="{FF2B5EF4-FFF2-40B4-BE49-F238E27FC236}">
                <a16:creationId xmlns:a16="http://schemas.microsoft.com/office/drawing/2014/main" id="{BB99BE87-E782-ACFA-2A1A-AF7F350E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61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8547F5-F69C-65A1-9EF0-59133E660E86}"/>
              </a:ext>
            </a:extLst>
          </p:cNvPr>
          <p:cNvSpPr/>
          <p:nvPr/>
        </p:nvSpPr>
        <p:spPr>
          <a:xfrm>
            <a:off x="7099300" y="3933825"/>
            <a:ext cx="1295400" cy="381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7AC9E1-8F29-1FF1-8B7E-E5F230D8BA42}"/>
              </a:ext>
            </a:extLst>
          </p:cNvPr>
          <p:cNvSpPr txBox="1"/>
          <p:nvPr/>
        </p:nvSpPr>
        <p:spPr>
          <a:xfrm>
            <a:off x="7079272" y="3862715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FF0000"/>
                </a:highlight>
              </a:rPr>
              <a:t>Collision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D4CE96-21F5-98DF-EF15-D91453D3A315}"/>
              </a:ext>
            </a:extLst>
          </p:cNvPr>
          <p:cNvSpPr/>
          <p:nvPr/>
        </p:nvSpPr>
        <p:spPr>
          <a:xfrm>
            <a:off x="88900" y="4457045"/>
            <a:ext cx="10604500" cy="2331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F10CFD4-509B-C475-5C9E-F8331D9B57D9}"/>
              </a:ext>
            </a:extLst>
          </p:cNvPr>
          <p:cNvSpPr txBox="1">
            <a:spLocks noChangeArrowheads="1"/>
          </p:cNvSpPr>
          <p:nvPr/>
        </p:nvSpPr>
        <p:spPr>
          <a:xfrm>
            <a:off x="1804511" y="231969"/>
            <a:ext cx="8114189" cy="792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altLang="en-US" kern="0" dirty="0"/>
              <a:t>802.11 Medium Access  Overhead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031BD40-D8ED-1FE3-2FE6-7F3CC0D1ECEE}"/>
              </a:ext>
            </a:extLst>
          </p:cNvPr>
          <p:cNvSpPr txBox="1">
            <a:spLocks/>
          </p:cNvSpPr>
          <p:nvPr/>
        </p:nvSpPr>
        <p:spPr>
          <a:xfrm>
            <a:off x="1216906" y="15841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5088378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BFE5C82-E2EA-74F6-5CC9-E970942F8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9326" y="151258"/>
            <a:ext cx="8114189" cy="792259"/>
          </a:xfrm>
        </p:spPr>
        <p:txBody>
          <a:bodyPr/>
          <a:lstStyle/>
          <a:p>
            <a:pPr eaLnBrk="1" hangingPunct="1"/>
            <a:r>
              <a:rPr lang="en-US" altLang="en-US" dirty="0"/>
              <a:t>802.11 Medium Access  Overhead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B3ADA4-33C6-4470-825F-F7926D764E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76538-CB75-A123-2CDD-6FF8896C39C2}"/>
              </a:ext>
            </a:extLst>
          </p:cNvPr>
          <p:cNvSpPr txBox="1"/>
          <p:nvPr/>
        </p:nvSpPr>
        <p:spPr>
          <a:xfrm>
            <a:off x="976685" y="1876425"/>
            <a:ext cx="8926830" cy="4401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dirty="0">
                <a:solidFill>
                  <a:srgbClr val="002060"/>
                </a:solidFill>
              </a:rPr>
              <a:t>Significant Inefficiencies of </a:t>
            </a:r>
            <a:r>
              <a:rPr lang="en-US" altLang="en-US" sz="2000" b="1" dirty="0">
                <a:solidFill>
                  <a:srgbClr val="002060"/>
                </a:solidFill>
              </a:rPr>
              <a:t>802.11 DCF : </a:t>
            </a:r>
            <a:endParaRPr lang="en-US" sz="2000" b="1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Idle Channel Time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During the countdown, the channel remains idle, even though no transmission occurs. This results in underutilization of available bandwidth.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Collision Probability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two or more nodes pick the same backoff value, simultaneous transmission leads to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packet collisions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These collisions cause retransmissions and an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exponential increase in CW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further delaying future transmissions.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Exponential Backoff Under Congestion: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IEEE 802.11, Binary Exponential Backoff (BEB) increases CW size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 = min(2^n * </a:t>
            </a:r>
            <a:r>
              <a:rPr lang="en-US" sz="1600" i="1" dirty="0" err="1"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CWmin</a:t>
            </a:r>
            <a:r>
              <a:rPr lang="en-US" sz="1600" i="1" dirty="0"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 - 1,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Cwmax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i="1" dirty="0">
              <a:latin typeface="STXinwei" panose="02010800040101010101" pitchFamily="2" charset="-122"/>
              <a:ea typeface="STXinwei" panose="020108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each failed attempt (up to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CWmax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1024).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10 active nodes, probability of at least two nodes choosing the same slot exceeds 40%, drastically reducing throughput and increasing latency.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BFB6746-7FB1-4D36-8A7F-B6E155C13573}"/>
              </a:ext>
            </a:extLst>
          </p:cNvPr>
          <p:cNvSpPr txBox="1">
            <a:spLocks/>
          </p:cNvSpPr>
          <p:nvPr/>
        </p:nvSpPr>
        <p:spPr>
          <a:xfrm>
            <a:off x="1384300" y="12435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44677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0200-EAEE-AFD1-317C-D9CAFA55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2">
            <a:extLst>
              <a:ext uri="{FF2B5EF4-FFF2-40B4-BE49-F238E27FC236}">
                <a16:creationId xmlns:a16="http://schemas.microsoft.com/office/drawing/2014/main" id="{2F6BBD28-16B1-B7BE-5566-7041508C83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4511" y="2429435"/>
            <a:ext cx="7084378" cy="4359509"/>
          </a:xfrm>
        </p:spPr>
      </p:pic>
      <p:sp>
        <p:nvSpPr>
          <p:cNvPr id="68612" name="Slide Number Placeholder 1">
            <a:extLst>
              <a:ext uri="{FF2B5EF4-FFF2-40B4-BE49-F238E27FC236}">
                <a16:creationId xmlns:a16="http://schemas.microsoft.com/office/drawing/2014/main" id="{91F82DD1-9DC5-6E1B-E852-080FBAEC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46088" y="7058660"/>
            <a:ext cx="790866" cy="50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28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63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7E89B2-1272-89C7-C978-24F22073E26B}"/>
              </a:ext>
            </a:extLst>
          </p:cNvPr>
          <p:cNvSpPr/>
          <p:nvPr/>
        </p:nvSpPr>
        <p:spPr>
          <a:xfrm>
            <a:off x="7099300" y="3933825"/>
            <a:ext cx="1295400" cy="381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1D894-62DC-0CB7-7D58-D3F1D73265CE}"/>
              </a:ext>
            </a:extLst>
          </p:cNvPr>
          <p:cNvSpPr txBox="1"/>
          <p:nvPr/>
        </p:nvSpPr>
        <p:spPr>
          <a:xfrm>
            <a:off x="7079272" y="3862715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FF0000"/>
                </a:highlight>
              </a:rPr>
              <a:t>Collision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933CBF-0A04-F15B-A85E-95B8346E77E2}"/>
              </a:ext>
            </a:extLst>
          </p:cNvPr>
          <p:cNvSpPr/>
          <p:nvPr/>
        </p:nvSpPr>
        <p:spPr>
          <a:xfrm>
            <a:off x="88900" y="4457045"/>
            <a:ext cx="10604500" cy="2331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29610F4-DF49-219A-2C2E-44FD1D5E3D0D}"/>
              </a:ext>
            </a:extLst>
          </p:cNvPr>
          <p:cNvSpPr txBox="1">
            <a:spLocks noChangeArrowheads="1"/>
          </p:cNvSpPr>
          <p:nvPr/>
        </p:nvSpPr>
        <p:spPr>
          <a:xfrm>
            <a:off x="1793140" y="248958"/>
            <a:ext cx="8114189" cy="792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altLang="en-US" kern="0" dirty="0"/>
              <a:t>802.11 Medium Access  Overhead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A488D1-61A6-85A1-1A55-5C0E548A90C9}"/>
              </a:ext>
            </a:extLst>
          </p:cNvPr>
          <p:cNvSpPr txBox="1"/>
          <p:nvPr/>
        </p:nvSpPr>
        <p:spPr>
          <a:xfrm>
            <a:off x="2091627" y="5099774"/>
            <a:ext cx="7849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highlight>
                  <a:srgbClr val="FF0000"/>
                </a:highlight>
              </a:rPr>
              <a:t>High channel wastage due to exponential backoff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D3D91-5ABE-A9F4-3BD7-32D393CDE7F6}"/>
              </a:ext>
            </a:extLst>
          </p:cNvPr>
          <p:cNvSpPr txBox="1"/>
          <p:nvPr/>
        </p:nvSpPr>
        <p:spPr>
          <a:xfrm>
            <a:off x="1298975" y="6409254"/>
            <a:ext cx="8282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Check for More Details: </a:t>
            </a:r>
            <a:r>
              <a:rPr lang="en-US" sz="1400" dirty="0">
                <a:solidFill>
                  <a:srgbClr val="7030A0"/>
                </a:solidFill>
                <a:highlight>
                  <a:srgbClr val="FFFF00"/>
                </a:highlight>
              </a:rPr>
              <a:t>Lecture-6.2 Inefficiency of Random Access based Multiple Access Protocol.pdf </a:t>
            </a:r>
            <a:endParaRPr lang="en-US" dirty="0">
              <a:solidFill>
                <a:srgbClr val="7030A0"/>
              </a:solidFill>
              <a:highlight>
                <a:srgbClr val="FFFF00"/>
              </a:highlight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E14A36E-A64E-FF5D-0242-1AE05ECC7596}"/>
              </a:ext>
            </a:extLst>
          </p:cNvPr>
          <p:cNvSpPr txBox="1">
            <a:spLocks/>
          </p:cNvSpPr>
          <p:nvPr/>
        </p:nvSpPr>
        <p:spPr>
          <a:xfrm>
            <a:off x="1197601" y="15841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6736834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3111" y="133863"/>
            <a:ext cx="8153400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061085" marR="5080" indent="-75057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Recovery </a:t>
            </a:r>
            <a:r>
              <a:rPr spc="-125" dirty="0"/>
              <a:t>Procedure</a:t>
            </a:r>
            <a:r>
              <a:rPr spc="-705" dirty="0"/>
              <a:t> </a:t>
            </a:r>
            <a:r>
              <a:rPr spc="-95" dirty="0"/>
              <a:t>and </a:t>
            </a:r>
            <a:r>
              <a:rPr spc="-90" dirty="0"/>
              <a:t>Retransmissions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52676"/>
            <a:ext cx="7613650" cy="403764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5080" indent="-342900">
              <a:lnSpc>
                <a:spcPts val="259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10" dirty="0">
                <a:latin typeface="Trebuchet MS"/>
                <a:cs typeface="Trebuchet MS"/>
              </a:rPr>
              <a:t>When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exchange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successful,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size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70" dirty="0">
                <a:latin typeface="Trebuchet MS"/>
                <a:cs typeface="Trebuchet MS"/>
              </a:rPr>
              <a:t>frame is </a:t>
            </a:r>
            <a:r>
              <a:rPr sz="2400" spc="-45" dirty="0">
                <a:latin typeface="Trebuchet MS"/>
                <a:cs typeface="Trebuchet MS"/>
              </a:rPr>
              <a:t>compared against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45" dirty="0">
                <a:latin typeface="Trebuchet MS"/>
                <a:cs typeface="Trebuchet MS"/>
              </a:rPr>
              <a:t>threshold </a:t>
            </a:r>
            <a:r>
              <a:rPr sz="2400" spc="-80" dirty="0">
                <a:latin typeface="Trebuchet MS"/>
                <a:cs typeface="Trebuchet MS"/>
              </a:rPr>
              <a:t>value </a:t>
            </a:r>
            <a:r>
              <a:rPr sz="2400" spc="-45" dirty="0">
                <a:latin typeface="Trebuchet MS"/>
                <a:cs typeface="Trebuchet MS"/>
              </a:rPr>
              <a:t>before  </a:t>
            </a:r>
            <a:r>
              <a:rPr sz="2400" spc="-55" dirty="0">
                <a:latin typeface="Trebuchet MS"/>
                <a:cs typeface="Trebuchet MS"/>
              </a:rPr>
              <a:t>retransmission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4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If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Size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&lt;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threshold,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frame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was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RTS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7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increment</a:t>
            </a:r>
            <a:r>
              <a:rPr sz="20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SRC</a:t>
            </a:r>
            <a:r>
              <a:rPr sz="2000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rebuchet MS"/>
                <a:cs typeface="Trebuchet MS"/>
              </a:rPr>
              <a:t>(Short</a:t>
            </a:r>
            <a:r>
              <a:rPr sz="20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Retry</a:t>
            </a:r>
            <a:r>
              <a:rPr sz="20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FF0000"/>
                </a:solidFill>
                <a:latin typeface="Trebuchet MS"/>
                <a:cs typeface="Trebuchet MS"/>
              </a:rPr>
              <a:t>Counter);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4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else</a:t>
            </a:r>
            <a:r>
              <a:rPr sz="20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increment</a:t>
            </a:r>
            <a:r>
              <a:rPr sz="2000" spc="-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FF0000"/>
                </a:solidFill>
                <a:latin typeface="Trebuchet MS"/>
                <a:cs typeface="Trebuchet MS"/>
              </a:rPr>
              <a:t>LRC</a:t>
            </a:r>
            <a:r>
              <a:rPr sz="20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(Long</a:t>
            </a:r>
            <a:r>
              <a:rPr sz="20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Retry</a:t>
            </a:r>
            <a:r>
              <a:rPr sz="20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Counter).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4965" marR="176530" indent="-342900">
              <a:lnSpc>
                <a:spcPts val="259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frame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discarded</a:t>
            </a:r>
            <a:r>
              <a:rPr sz="24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when</a:t>
            </a:r>
            <a:r>
              <a:rPr sz="24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SRC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Trebuchet MS"/>
                <a:cs typeface="Trebuchet MS"/>
              </a:rPr>
              <a:t>LRC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reaches</a:t>
            </a:r>
            <a:r>
              <a:rPr sz="24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FF0000"/>
                </a:solidFill>
                <a:latin typeface="Trebuchet MS"/>
                <a:cs typeface="Trebuchet MS"/>
              </a:rPr>
              <a:t>limit  </a:t>
            </a:r>
            <a:r>
              <a:rPr sz="2400" spc="-100" dirty="0">
                <a:solidFill>
                  <a:srgbClr val="FF0000"/>
                </a:solidFill>
                <a:latin typeface="Trebuchet MS"/>
                <a:cs typeface="Trebuchet MS"/>
              </a:rPr>
              <a:t>(default: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SRC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FF0000"/>
                </a:solidFill>
                <a:latin typeface="Trebuchet MS"/>
                <a:cs typeface="Trebuchet MS"/>
              </a:rPr>
              <a:t>limit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7, 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LRC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FF0000"/>
                </a:solidFill>
                <a:latin typeface="Trebuchet MS"/>
                <a:cs typeface="Trebuchet MS"/>
              </a:rPr>
              <a:t>limit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4)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4965" marR="20955" indent="-342900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0" dirty="0">
                <a:latin typeface="Trebuchet MS"/>
                <a:cs typeface="Trebuchet MS"/>
              </a:rPr>
              <a:t>Whenever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successfully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transmitted,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SRC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  </a:t>
            </a:r>
            <a:r>
              <a:rPr sz="2400" spc="-35" dirty="0">
                <a:latin typeface="Trebuchet MS"/>
                <a:cs typeface="Trebuchet MS"/>
              </a:rPr>
              <a:t>LRC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3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reset.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4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threshold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implementation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dependent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27C76AC-3173-4C4A-891C-AEC2AA21A8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64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9BBF994-D2FA-6770-54D8-3400E0317825}"/>
              </a:ext>
            </a:extLst>
          </p:cNvPr>
          <p:cNvSpPr txBox="1">
            <a:spLocks/>
          </p:cNvSpPr>
          <p:nvPr/>
        </p:nvSpPr>
        <p:spPr>
          <a:xfrm>
            <a:off x="1338675" y="133736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9036" y="94150"/>
            <a:ext cx="29546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5" dirty="0"/>
              <a:t>Post‐backoff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8091170" cy="44145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marR="5080" indent="-342900">
              <a:lnSpc>
                <a:spcPts val="2300"/>
              </a:lnSpc>
              <a:spcBef>
                <a:spcPts val="6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0" dirty="0">
                <a:latin typeface="Trebuchet MS"/>
                <a:cs typeface="Trebuchet MS"/>
              </a:rPr>
              <a:t>After </a:t>
            </a:r>
            <a:r>
              <a:rPr sz="2400" spc="-75" dirty="0">
                <a:latin typeface="Trebuchet MS"/>
                <a:cs typeface="Trebuchet MS"/>
              </a:rPr>
              <a:t>each </a:t>
            </a:r>
            <a:r>
              <a:rPr sz="2400" spc="-50" dirty="0">
                <a:latin typeface="Trebuchet MS"/>
                <a:cs typeface="Trebuchet MS"/>
              </a:rPr>
              <a:t>successful </a:t>
            </a:r>
            <a:r>
              <a:rPr sz="2400" spc="-60" dirty="0">
                <a:latin typeface="Trebuchet MS"/>
                <a:cs typeface="Trebuchet MS"/>
              </a:rPr>
              <a:t>transmission, </a:t>
            </a:r>
            <a:r>
              <a:rPr sz="2400" spc="-130" dirty="0">
                <a:latin typeface="Trebuchet MS"/>
                <a:cs typeface="Trebuchet MS"/>
              </a:rPr>
              <a:t>it </a:t>
            </a:r>
            <a:r>
              <a:rPr sz="2400" spc="-70" dirty="0">
                <a:latin typeface="Trebuchet MS"/>
                <a:cs typeface="Trebuchet MS"/>
              </a:rPr>
              <a:t>is </a:t>
            </a:r>
            <a:r>
              <a:rPr sz="2400" spc="-50" dirty="0">
                <a:latin typeface="Trebuchet MS"/>
                <a:cs typeface="Trebuchet MS"/>
              </a:rPr>
              <a:t>mandatory </a:t>
            </a:r>
            <a:r>
              <a:rPr sz="2400" spc="-70" dirty="0">
                <a:latin typeface="Trebuchet MS"/>
                <a:cs typeface="Trebuchet MS"/>
              </a:rPr>
              <a:t>that  </a:t>
            </a:r>
            <a:r>
              <a:rPr sz="2400" spc="-45" dirty="0">
                <a:latin typeface="Trebuchet MS"/>
                <a:cs typeface="Trebuchet MS"/>
              </a:rPr>
              <a:t>another </a:t>
            </a:r>
            <a:r>
              <a:rPr sz="2400" spc="-35" dirty="0">
                <a:latin typeface="Trebuchet MS"/>
                <a:cs typeface="Trebuchet MS"/>
              </a:rPr>
              <a:t>random </a:t>
            </a:r>
            <a:r>
              <a:rPr sz="2400" spc="-50" dirty="0">
                <a:latin typeface="Trebuchet MS"/>
                <a:cs typeface="Trebuchet MS"/>
              </a:rPr>
              <a:t>backoff </a:t>
            </a:r>
            <a:r>
              <a:rPr sz="2400" spc="-70" dirty="0">
                <a:latin typeface="Trebuchet MS"/>
                <a:cs typeface="Trebuchet MS"/>
              </a:rPr>
              <a:t>is </a:t>
            </a:r>
            <a:r>
              <a:rPr sz="2400" spc="-45" dirty="0">
                <a:latin typeface="Trebuchet MS"/>
                <a:cs typeface="Trebuchet MS"/>
              </a:rPr>
              <a:t>performed </a:t>
            </a:r>
            <a:r>
              <a:rPr sz="2400" spc="-55" dirty="0">
                <a:latin typeface="Trebuchet MS"/>
                <a:cs typeface="Trebuchet MS"/>
              </a:rPr>
              <a:t>even </a:t>
            </a:r>
            <a:r>
              <a:rPr sz="2400" spc="-125" dirty="0">
                <a:latin typeface="Trebuchet MS"/>
                <a:cs typeface="Trebuchet MS"/>
              </a:rPr>
              <a:t>if </a:t>
            </a:r>
            <a:r>
              <a:rPr sz="2400" spc="-70" dirty="0">
                <a:latin typeface="Trebuchet MS"/>
                <a:cs typeface="Trebuchet MS"/>
              </a:rPr>
              <a:t>there is </a:t>
            </a:r>
            <a:r>
              <a:rPr sz="2400" spc="20" dirty="0">
                <a:latin typeface="Trebuchet MS"/>
                <a:cs typeface="Trebuchet MS"/>
              </a:rPr>
              <a:t>no  </a:t>
            </a:r>
            <a:r>
              <a:rPr sz="2400" spc="-45" dirty="0">
                <a:latin typeface="Trebuchet MS"/>
                <a:cs typeface="Trebuchet MS"/>
              </a:rPr>
              <a:t>other </a:t>
            </a:r>
            <a:r>
              <a:rPr sz="2400" spc="140" dirty="0">
                <a:latin typeface="Trebuchet MS"/>
                <a:cs typeface="Trebuchet MS"/>
              </a:rPr>
              <a:t>MSDU </a:t>
            </a:r>
            <a:r>
              <a:rPr sz="2400" spc="-20" dirty="0">
                <a:latin typeface="Trebuchet MS"/>
                <a:cs typeface="Trebuchet MS"/>
              </a:rPr>
              <a:t>to </a:t>
            </a:r>
            <a:r>
              <a:rPr sz="2400" spc="-45" dirty="0">
                <a:latin typeface="Trebuchet MS"/>
                <a:cs typeface="Trebuchet MS"/>
              </a:rPr>
              <a:t>be </a:t>
            </a:r>
            <a:r>
              <a:rPr sz="2400" spc="-85" dirty="0">
                <a:latin typeface="Trebuchet MS"/>
                <a:cs typeface="Trebuchet MS"/>
              </a:rPr>
              <a:t>delivered </a:t>
            </a:r>
            <a:r>
              <a:rPr sz="2400" spc="-90" dirty="0">
                <a:latin typeface="Trebuchet MS"/>
                <a:cs typeface="Trebuchet MS"/>
              </a:rPr>
              <a:t>at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80" dirty="0">
                <a:latin typeface="Trebuchet MS"/>
                <a:cs typeface="Trebuchet MS"/>
              </a:rPr>
              <a:t>station. This </a:t>
            </a:r>
            <a:r>
              <a:rPr sz="2400" spc="-70" dirty="0">
                <a:latin typeface="Trebuchet MS"/>
                <a:cs typeface="Trebuchet MS"/>
              </a:rPr>
              <a:t>is </a:t>
            </a:r>
            <a:r>
              <a:rPr sz="2400" spc="-80" dirty="0">
                <a:latin typeface="Trebuchet MS"/>
                <a:cs typeface="Trebuchet MS"/>
              </a:rPr>
              <a:t>referred 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b="1" spc="-80" dirty="0">
                <a:latin typeface="Trebuchet MS"/>
                <a:cs typeface="Trebuchet MS"/>
              </a:rPr>
              <a:t>post‐backoff</a:t>
            </a:r>
            <a:r>
              <a:rPr sz="2400" b="1" spc="-20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because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it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performed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after,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before, 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transmission.</a:t>
            </a:r>
            <a:endParaRPr sz="2400" dirty="0">
              <a:latin typeface="Trebuchet MS"/>
              <a:cs typeface="Trebuchet MS"/>
            </a:endParaRPr>
          </a:p>
          <a:p>
            <a:pPr marL="354965" marR="952500" indent="-342900">
              <a:lnSpc>
                <a:spcPts val="2300"/>
              </a:lnSpc>
              <a:spcBef>
                <a:spcPts val="59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It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guaranteed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that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any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will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delivered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with  </a:t>
            </a:r>
            <a:r>
              <a:rPr sz="2400" spc="-80" dirty="0">
                <a:latin typeface="Trebuchet MS"/>
                <a:cs typeface="Trebuchet MS"/>
              </a:rPr>
              <a:t>backoff.</a:t>
            </a:r>
            <a:endParaRPr sz="2400" dirty="0">
              <a:latin typeface="Trebuchet MS"/>
              <a:cs typeface="Trebuchet MS"/>
            </a:endParaRPr>
          </a:p>
          <a:p>
            <a:pPr marL="354965" marR="74930" indent="-342900">
              <a:lnSpc>
                <a:spcPts val="230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20" dirty="0">
                <a:latin typeface="Trebuchet MS"/>
                <a:cs typeface="Trebuchet MS"/>
              </a:rPr>
              <a:t>An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arriving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at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station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from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higher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layer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 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immediately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without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waiting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any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time,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if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40" dirty="0">
                <a:latin typeface="Trebuchet MS"/>
                <a:cs typeface="Trebuchet MS"/>
              </a:rPr>
              <a:t>transmission </a:t>
            </a:r>
            <a:r>
              <a:rPr sz="2400" spc="-50" dirty="0">
                <a:latin typeface="Trebuchet MS"/>
                <a:cs typeface="Trebuchet MS"/>
              </a:rPr>
              <a:t>queue </a:t>
            </a:r>
            <a:r>
              <a:rPr sz="2400" spc="-70" dirty="0">
                <a:latin typeface="Trebuchet MS"/>
                <a:cs typeface="Trebuchet MS"/>
              </a:rPr>
              <a:t>is </a:t>
            </a:r>
            <a:r>
              <a:rPr sz="2400" spc="-95" dirty="0">
                <a:latin typeface="Trebuchet MS"/>
                <a:cs typeface="Trebuchet MS"/>
              </a:rPr>
              <a:t>empty,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80" dirty="0">
                <a:latin typeface="Trebuchet MS"/>
                <a:cs typeface="Trebuchet MS"/>
              </a:rPr>
              <a:t>latest </a:t>
            </a:r>
            <a:r>
              <a:rPr sz="2400" spc="-55" dirty="0">
                <a:latin typeface="Trebuchet MS"/>
                <a:cs typeface="Trebuchet MS"/>
              </a:rPr>
              <a:t>post‐backoff </a:t>
            </a:r>
            <a:r>
              <a:rPr sz="2400" spc="-25" dirty="0">
                <a:latin typeface="Trebuchet MS"/>
                <a:cs typeface="Trebuchet MS"/>
              </a:rPr>
              <a:t>has  </a:t>
            </a:r>
            <a:r>
              <a:rPr sz="2400" spc="-50" dirty="0">
                <a:latin typeface="Trebuchet MS"/>
                <a:cs typeface="Trebuchet MS"/>
              </a:rPr>
              <a:t>been </a:t>
            </a:r>
            <a:r>
              <a:rPr sz="2400" spc="-85" dirty="0">
                <a:latin typeface="Trebuchet MS"/>
                <a:cs typeface="Trebuchet MS"/>
              </a:rPr>
              <a:t>finished, </a:t>
            </a:r>
            <a:r>
              <a:rPr sz="2400" spc="-40" dirty="0">
                <a:latin typeface="Trebuchet MS"/>
                <a:cs typeface="Trebuchet MS"/>
              </a:rPr>
              <a:t>and </a:t>
            </a:r>
            <a:r>
              <a:rPr sz="2400" spc="-90" dirty="0">
                <a:latin typeface="Trebuchet MS"/>
                <a:cs typeface="Trebuchet MS"/>
              </a:rPr>
              <a:t>at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40" dirty="0">
                <a:latin typeface="Trebuchet MS"/>
                <a:cs typeface="Trebuchet MS"/>
              </a:rPr>
              <a:t>same </a:t>
            </a:r>
            <a:r>
              <a:rPr sz="2400" spc="-130" dirty="0">
                <a:latin typeface="Trebuchet MS"/>
                <a:cs typeface="Trebuchet MS"/>
              </a:rPr>
              <a:t>time,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70" dirty="0">
                <a:latin typeface="Trebuchet MS"/>
                <a:cs typeface="Trebuchet MS"/>
              </a:rPr>
              <a:t>channel </a:t>
            </a:r>
            <a:r>
              <a:rPr sz="2400" spc="-25" dirty="0">
                <a:latin typeface="Trebuchet MS"/>
                <a:cs typeface="Trebuchet MS"/>
              </a:rPr>
              <a:t>has </a:t>
            </a:r>
            <a:r>
              <a:rPr sz="2400" spc="-50" dirty="0">
                <a:latin typeface="Trebuchet MS"/>
                <a:cs typeface="Trebuchet MS"/>
              </a:rPr>
              <a:t>been  </a:t>
            </a:r>
            <a:r>
              <a:rPr sz="2400" spc="-105" dirty="0">
                <a:latin typeface="Trebuchet MS"/>
                <a:cs typeface="Trebuchet MS"/>
              </a:rPr>
              <a:t>idle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minimum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duration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DIFS.</a:t>
            </a:r>
            <a:endParaRPr sz="2400" dirty="0">
              <a:latin typeface="Trebuchet MS"/>
              <a:cs typeface="Trebuchet MS"/>
            </a:endParaRPr>
          </a:p>
          <a:p>
            <a:pPr marL="354965" marR="720725" indent="-342900">
              <a:lnSpc>
                <a:spcPts val="2300"/>
              </a:lnSpc>
              <a:spcBef>
                <a:spcPts val="59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This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helps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reduce</a:t>
            </a:r>
            <a:r>
              <a:rPr sz="24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delivery</a:t>
            </a:r>
            <a:r>
              <a:rPr sz="24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delay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lightly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loaded  systems.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FDCE0F-7B78-496A-ACEC-8744CF0C72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65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A7C219BA-68FF-86F8-A12F-244409C80B9B}"/>
              </a:ext>
            </a:extLst>
          </p:cNvPr>
          <p:cNvSpPr txBox="1">
            <a:spLocks/>
          </p:cNvSpPr>
          <p:nvPr/>
        </p:nvSpPr>
        <p:spPr>
          <a:xfrm>
            <a:off x="1310779" y="8316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0257" y="171919"/>
            <a:ext cx="3948683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30" dirty="0"/>
              <a:t>Fragmentation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0779" y="1852676"/>
            <a:ext cx="7787640" cy="357377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96520" indent="-342900">
              <a:lnSpc>
                <a:spcPts val="259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process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partitioning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into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smaller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MPDUs  </a:t>
            </a:r>
            <a:r>
              <a:rPr sz="2400" spc="-20" dirty="0">
                <a:latin typeface="Trebuchet MS"/>
                <a:cs typeface="Trebuchet MS"/>
              </a:rPr>
              <a:t>when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its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length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exceeds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b="1" spc="-70" dirty="0">
                <a:latin typeface="Trebuchet MS"/>
                <a:cs typeface="Trebuchet MS"/>
              </a:rPr>
              <a:t>fragmentation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b="1" spc="-105" dirty="0">
                <a:latin typeface="Trebuchet MS"/>
                <a:cs typeface="Trebuchet MS"/>
              </a:rPr>
              <a:t>threshold</a:t>
            </a:r>
            <a:r>
              <a:rPr sz="2400" spc="-105" dirty="0"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75" dirty="0">
                <a:latin typeface="Trebuchet MS"/>
                <a:cs typeface="Trebuchet MS"/>
              </a:rPr>
              <a:t>benefit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55" dirty="0">
                <a:latin typeface="Trebuchet MS"/>
                <a:cs typeface="Trebuchet MS"/>
              </a:rPr>
              <a:t>fragmentation </a:t>
            </a:r>
            <a:r>
              <a:rPr sz="2400" spc="-70" dirty="0">
                <a:latin typeface="Trebuchet MS"/>
                <a:cs typeface="Trebuchet MS"/>
              </a:rPr>
              <a:t>is that </a:t>
            </a:r>
            <a:r>
              <a:rPr sz="2400" spc="-90" dirty="0">
                <a:latin typeface="Trebuchet MS"/>
                <a:cs typeface="Trebuchet MS"/>
              </a:rPr>
              <a:t>in </a:t>
            </a:r>
            <a:r>
              <a:rPr sz="2400" spc="-60" dirty="0">
                <a:latin typeface="Trebuchet MS"/>
                <a:cs typeface="Trebuchet MS"/>
              </a:rPr>
              <a:t>the case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100" dirty="0">
                <a:latin typeface="Trebuchet MS"/>
                <a:cs typeface="Trebuchet MS"/>
              </a:rPr>
              <a:t>failed  </a:t>
            </a:r>
            <a:r>
              <a:rPr sz="2400" spc="-60" dirty="0">
                <a:latin typeface="Trebuchet MS"/>
                <a:cs typeface="Trebuchet MS"/>
              </a:rPr>
              <a:t>transmission,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error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detected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earlier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there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less  </a:t>
            </a:r>
            <a:r>
              <a:rPr sz="2400" spc="-70" dirty="0">
                <a:latin typeface="Trebuchet MS"/>
                <a:cs typeface="Trebuchet MS"/>
              </a:rPr>
              <a:t>data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34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retransmit.</a:t>
            </a:r>
            <a:endParaRPr sz="2400" dirty="0">
              <a:latin typeface="Trebuchet MS"/>
              <a:cs typeface="Trebuchet MS"/>
            </a:endParaRPr>
          </a:p>
          <a:p>
            <a:pPr marL="354965" marR="9525" indent="-342900">
              <a:lnSpc>
                <a:spcPts val="259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It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also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increases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probability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successful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transmission 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140" dirty="0">
                <a:latin typeface="Trebuchet MS"/>
                <a:cs typeface="Trebuchet MS"/>
              </a:rPr>
              <a:t>MSDU </a:t>
            </a:r>
            <a:r>
              <a:rPr sz="2400" spc="-90" dirty="0">
                <a:latin typeface="Trebuchet MS"/>
                <a:cs typeface="Trebuchet MS"/>
              </a:rPr>
              <a:t>in </a:t>
            </a:r>
            <a:r>
              <a:rPr sz="2400" spc="-45" dirty="0">
                <a:latin typeface="Trebuchet MS"/>
                <a:cs typeface="Trebuchet MS"/>
              </a:rPr>
              <a:t>scenarios where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65" dirty="0">
                <a:latin typeface="Trebuchet MS"/>
                <a:cs typeface="Trebuchet MS"/>
              </a:rPr>
              <a:t>radio </a:t>
            </a:r>
            <a:r>
              <a:rPr sz="2400" spc="-70" dirty="0">
                <a:latin typeface="Trebuchet MS"/>
                <a:cs typeface="Trebuchet MS"/>
              </a:rPr>
              <a:t>channel  </a:t>
            </a:r>
            <a:r>
              <a:rPr sz="2400" spc="-80" dirty="0">
                <a:latin typeface="Trebuchet MS"/>
                <a:cs typeface="Trebuchet MS"/>
              </a:rPr>
              <a:t>characteristics </a:t>
            </a:r>
            <a:r>
              <a:rPr sz="2400" spc="-55" dirty="0">
                <a:latin typeface="Trebuchet MS"/>
                <a:cs typeface="Trebuchet MS"/>
              </a:rPr>
              <a:t>cause </a:t>
            </a:r>
            <a:r>
              <a:rPr sz="2400" spc="-45" dirty="0">
                <a:latin typeface="Trebuchet MS"/>
                <a:cs typeface="Trebuchet MS"/>
              </a:rPr>
              <a:t>higher </a:t>
            </a:r>
            <a:r>
              <a:rPr sz="2400" spc="-60" dirty="0">
                <a:latin typeface="Trebuchet MS"/>
                <a:cs typeface="Trebuchet MS"/>
              </a:rPr>
              <a:t>error </a:t>
            </a:r>
            <a:r>
              <a:rPr sz="2400" spc="-75" dirty="0">
                <a:latin typeface="Trebuchet MS"/>
                <a:cs typeface="Trebuchet MS"/>
              </a:rPr>
              <a:t>probabilities </a:t>
            </a:r>
            <a:r>
              <a:rPr sz="2400" spc="-35" dirty="0">
                <a:latin typeface="Trebuchet MS"/>
                <a:cs typeface="Trebuchet MS"/>
              </a:rPr>
              <a:t>for longer  </a:t>
            </a:r>
            <a:r>
              <a:rPr sz="2400" spc="-55" dirty="0">
                <a:latin typeface="Trebuchet MS"/>
                <a:cs typeface="Trebuchet MS"/>
              </a:rPr>
              <a:t>frames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than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shorter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ones.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4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obvious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drawback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increased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overhead.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B59BBD-D7DB-4C26-8BF2-F15DBC3A7A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66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313A4847-6546-BFBC-4429-039CA31D0774}"/>
              </a:ext>
            </a:extLst>
          </p:cNvPr>
          <p:cNvSpPr txBox="1">
            <a:spLocks/>
          </p:cNvSpPr>
          <p:nvPr/>
        </p:nvSpPr>
        <p:spPr>
          <a:xfrm>
            <a:off x="1276997" y="171919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0564" y="517132"/>
            <a:ext cx="34804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30" dirty="0"/>
              <a:t>Fragmentation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375039" y="1975104"/>
            <a:ext cx="6248400" cy="2260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91767" y="4342129"/>
            <a:ext cx="7098030" cy="183642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marR="14604" indent="-342900">
              <a:lnSpc>
                <a:spcPct val="80000"/>
              </a:lnSpc>
              <a:spcBef>
                <a:spcPts val="63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latin typeface="Trebuchet MS"/>
                <a:cs typeface="Trebuchet MS"/>
              </a:rPr>
              <a:t>The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process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of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recombining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MPDUs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into</a:t>
            </a:r>
            <a:r>
              <a:rPr sz="2200" spc="-22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a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single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130" dirty="0">
                <a:latin typeface="Trebuchet MS"/>
                <a:cs typeface="Trebuchet MS"/>
              </a:rPr>
              <a:t>MSDU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is  </a:t>
            </a:r>
            <a:r>
              <a:rPr sz="2200" spc="-95" dirty="0">
                <a:latin typeface="Trebuchet MS"/>
                <a:cs typeface="Trebuchet MS"/>
              </a:rPr>
              <a:t>called</a:t>
            </a:r>
            <a:r>
              <a:rPr sz="2200" spc="-22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defragmentation.</a:t>
            </a:r>
            <a:endParaRPr sz="2200">
              <a:latin typeface="Trebuchet MS"/>
              <a:cs typeface="Trebuchet MS"/>
            </a:endParaRPr>
          </a:p>
          <a:p>
            <a:pPr marL="355600" marR="671195" indent="-342900">
              <a:lnSpc>
                <a:spcPct val="80000"/>
              </a:lnSpc>
              <a:spcBef>
                <a:spcPts val="52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45" dirty="0">
                <a:latin typeface="Trebuchet MS"/>
                <a:cs typeface="Trebuchet MS"/>
              </a:rPr>
              <a:t>Only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MPDUs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with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a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unicast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receiver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address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may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be  </a:t>
            </a:r>
            <a:r>
              <a:rPr sz="2200" spc="-65" dirty="0">
                <a:latin typeface="Trebuchet MS"/>
                <a:cs typeface="Trebuchet MS"/>
              </a:rPr>
              <a:t>fragmented.</a:t>
            </a:r>
            <a:endParaRPr sz="2200">
              <a:latin typeface="Trebuchet MS"/>
              <a:cs typeface="Trebuchet MS"/>
            </a:endParaRPr>
          </a:p>
          <a:p>
            <a:pPr marL="355600" marR="5080" indent="-343535">
              <a:lnSpc>
                <a:spcPct val="80000"/>
              </a:lnSpc>
              <a:spcBef>
                <a:spcPts val="53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60" dirty="0">
                <a:latin typeface="Trebuchet MS"/>
                <a:cs typeface="Trebuchet MS"/>
              </a:rPr>
              <a:t>Note: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The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maximum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length</a:t>
            </a:r>
            <a:r>
              <a:rPr sz="2200" spc="-22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of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an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130" dirty="0">
                <a:latin typeface="Trebuchet MS"/>
                <a:cs typeface="Trebuchet MS"/>
              </a:rPr>
              <a:t>MSDU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is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limited</a:t>
            </a:r>
            <a:r>
              <a:rPr sz="2200" spc="-22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to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2346  </a:t>
            </a:r>
            <a:r>
              <a:rPr sz="2200" spc="-95" dirty="0">
                <a:latin typeface="Trebuchet MS"/>
                <a:cs typeface="Trebuchet MS"/>
              </a:rPr>
              <a:t>byte.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F2ADB57-3B6F-4F92-84AC-4828C25132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67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B5037D73-C370-0F68-6B67-A99B91F3F59A}"/>
              </a:ext>
            </a:extLst>
          </p:cNvPr>
          <p:cNvSpPr txBox="1">
            <a:spLocks/>
          </p:cNvSpPr>
          <p:nvPr/>
        </p:nvSpPr>
        <p:spPr>
          <a:xfrm>
            <a:off x="1302683" y="517005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07" y="174599"/>
            <a:ext cx="770368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9414" marR="5080" indent="-1190625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Hidden </a:t>
            </a:r>
            <a:r>
              <a:rPr sz="4000" spc="-70" dirty="0"/>
              <a:t>Stations</a:t>
            </a:r>
            <a:r>
              <a:rPr sz="4000" spc="-900" dirty="0"/>
              <a:t> </a:t>
            </a:r>
            <a:r>
              <a:rPr sz="4000" spc="-105" dirty="0"/>
              <a:t>and  </a:t>
            </a:r>
            <a:r>
              <a:rPr sz="4000" spc="-90" dirty="0"/>
              <a:t>RTS/CTS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06350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09242"/>
            <a:ext cx="7847965" cy="40373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marR="216535" indent="-342900">
              <a:lnSpc>
                <a:spcPct val="80000"/>
              </a:lnSpc>
              <a:spcBef>
                <a:spcPts val="7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60" dirty="0">
                <a:latin typeface="Trebuchet MS"/>
                <a:cs typeface="Trebuchet MS"/>
              </a:rPr>
              <a:t>Hidden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Stations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problem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arises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when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  </a:t>
            </a:r>
            <a:r>
              <a:rPr sz="2800" spc="-95" dirty="0">
                <a:latin typeface="Trebuchet MS"/>
                <a:cs typeface="Trebuchet MS"/>
              </a:rPr>
              <a:t>able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70" dirty="0">
                <a:latin typeface="Trebuchet MS"/>
                <a:cs typeface="Trebuchet MS"/>
              </a:rPr>
              <a:t>successfully </a:t>
            </a:r>
            <a:r>
              <a:rPr sz="2800" spc="-105" dirty="0">
                <a:latin typeface="Trebuchet MS"/>
                <a:cs typeface="Trebuchet MS"/>
              </a:rPr>
              <a:t>receive </a:t>
            </a:r>
            <a:r>
              <a:rPr sz="2800" spc="-60" dirty="0">
                <a:latin typeface="Trebuchet MS"/>
                <a:cs typeface="Trebuchet MS"/>
              </a:rPr>
              <a:t>frames </a:t>
            </a:r>
            <a:r>
              <a:rPr sz="2800" spc="-40" dirty="0">
                <a:latin typeface="Trebuchet MS"/>
                <a:cs typeface="Trebuchet MS"/>
              </a:rPr>
              <a:t>from </a:t>
            </a:r>
            <a:r>
              <a:rPr sz="2800" spc="5" dirty="0">
                <a:latin typeface="Trebuchet MS"/>
                <a:cs typeface="Trebuchet MS"/>
              </a:rPr>
              <a:t>two  </a:t>
            </a:r>
            <a:r>
              <a:rPr sz="2800" spc="-90" dirty="0">
                <a:latin typeface="Trebuchet MS"/>
                <a:cs typeface="Trebuchet MS"/>
              </a:rPr>
              <a:t>different </a:t>
            </a:r>
            <a:r>
              <a:rPr sz="2800" spc="-50" dirty="0">
                <a:latin typeface="Trebuchet MS"/>
                <a:cs typeface="Trebuchet MS"/>
              </a:rPr>
              <a:t>stations but </a:t>
            </a:r>
            <a:r>
              <a:rPr sz="2800" spc="-75" dirty="0">
                <a:latin typeface="Trebuchet MS"/>
                <a:cs typeface="Trebuchet MS"/>
              </a:rPr>
              <a:t>the </a:t>
            </a:r>
            <a:r>
              <a:rPr sz="2800" spc="5" dirty="0">
                <a:latin typeface="Trebuchet MS"/>
                <a:cs typeface="Trebuchet MS"/>
              </a:rPr>
              <a:t>two </a:t>
            </a:r>
            <a:r>
              <a:rPr sz="2800" spc="-50" dirty="0">
                <a:latin typeface="Trebuchet MS"/>
                <a:cs typeface="Trebuchet MS"/>
              </a:rPr>
              <a:t>stations cannot  </a:t>
            </a:r>
            <a:r>
              <a:rPr sz="2800" spc="-95" dirty="0">
                <a:latin typeface="Trebuchet MS"/>
                <a:cs typeface="Trebuchet MS"/>
              </a:rPr>
              <a:t>detect </a:t>
            </a:r>
            <a:r>
              <a:rPr sz="2800" spc="-80" dirty="0">
                <a:latin typeface="Trebuchet MS"/>
                <a:cs typeface="Trebuchet MS"/>
              </a:rPr>
              <a:t>each</a:t>
            </a:r>
            <a:r>
              <a:rPr sz="2800" spc="-40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other.</a:t>
            </a:r>
            <a:endParaRPr sz="2800">
              <a:latin typeface="Trebuchet MS"/>
              <a:cs typeface="Trebuchet MS"/>
            </a:endParaRPr>
          </a:p>
          <a:p>
            <a:pPr marL="354965" marR="5080" indent="-342900">
              <a:lnSpc>
                <a:spcPct val="8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5" dirty="0">
                <a:latin typeface="Trebuchet MS"/>
                <a:cs typeface="Trebuchet MS"/>
              </a:rPr>
              <a:t>To </a:t>
            </a:r>
            <a:r>
              <a:rPr sz="2800" spc="-80" dirty="0">
                <a:latin typeface="Trebuchet MS"/>
                <a:cs typeface="Trebuchet MS"/>
              </a:rPr>
              <a:t>reduce </a:t>
            </a:r>
            <a:r>
              <a:rPr sz="2800" spc="-30" dirty="0">
                <a:latin typeface="Trebuchet MS"/>
                <a:cs typeface="Trebuchet MS"/>
              </a:rPr>
              <a:t>throughput </a:t>
            </a:r>
            <a:r>
              <a:rPr sz="2800" spc="-75" dirty="0">
                <a:latin typeface="Trebuchet MS"/>
                <a:cs typeface="Trebuchet MS"/>
              </a:rPr>
              <a:t>reduction </a:t>
            </a:r>
            <a:r>
              <a:rPr sz="2800" spc="5" dirty="0">
                <a:latin typeface="Trebuchet MS"/>
                <a:cs typeface="Trebuchet MS"/>
              </a:rPr>
              <a:t>owing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70" dirty="0">
                <a:latin typeface="Trebuchet MS"/>
                <a:cs typeface="Trebuchet MS"/>
              </a:rPr>
              <a:t>this  </a:t>
            </a:r>
            <a:r>
              <a:rPr sz="2800" spc="-90" dirty="0">
                <a:latin typeface="Trebuchet MS"/>
                <a:cs typeface="Trebuchet MS"/>
              </a:rPr>
              <a:t>problem,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25" dirty="0">
                <a:latin typeface="Trebuchet MS"/>
                <a:cs typeface="Trebuchet MS"/>
              </a:rPr>
              <a:t>802.11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specifies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exchange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Request‐to‐  </a:t>
            </a:r>
            <a:r>
              <a:rPr sz="2800" spc="-120" dirty="0">
                <a:latin typeface="Trebuchet MS"/>
                <a:cs typeface="Trebuchet MS"/>
              </a:rPr>
              <a:t>Send/Clear‐to‐Send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(</a:t>
            </a:r>
            <a:r>
              <a:rPr sz="2800" b="1" spc="-120" dirty="0">
                <a:latin typeface="Trebuchet MS"/>
                <a:cs typeface="Trebuchet MS"/>
              </a:rPr>
              <a:t>RTS/CTS</a:t>
            </a:r>
            <a:r>
              <a:rPr sz="2800" spc="-120" dirty="0">
                <a:latin typeface="Trebuchet MS"/>
                <a:cs typeface="Trebuchet MS"/>
              </a:rPr>
              <a:t>)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frames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as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option  </a:t>
            </a:r>
            <a:r>
              <a:rPr sz="2800" spc="-65" dirty="0">
                <a:latin typeface="Trebuchet MS"/>
                <a:cs typeface="Trebuchet MS"/>
              </a:rPr>
              <a:t>made </a:t>
            </a:r>
            <a:r>
              <a:rPr sz="2800" spc="-45" dirty="0">
                <a:latin typeface="Trebuchet MS"/>
                <a:cs typeface="Trebuchet MS"/>
              </a:rPr>
              <a:t>by </a:t>
            </a:r>
            <a:r>
              <a:rPr sz="2800" spc="-70" dirty="0">
                <a:latin typeface="Trebuchet MS"/>
                <a:cs typeface="Trebuchet MS"/>
              </a:rPr>
              <a:t>transmitting</a:t>
            </a:r>
            <a:r>
              <a:rPr sz="2800" spc="-6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station.</a:t>
            </a:r>
            <a:endParaRPr sz="2800">
              <a:latin typeface="Trebuchet MS"/>
              <a:cs typeface="Trebuchet MS"/>
            </a:endParaRPr>
          </a:p>
          <a:p>
            <a:pPr marL="354965" marR="224154" indent="-342900" algn="just">
              <a:lnSpc>
                <a:spcPct val="8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5600" algn="l"/>
              </a:tabLst>
            </a:pPr>
            <a:r>
              <a:rPr sz="2800" spc="-70" dirty="0">
                <a:latin typeface="Trebuchet MS"/>
                <a:cs typeface="Trebuchet MS"/>
              </a:rPr>
              <a:t>Consecutive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frames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sequence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RTS,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CTS,  </a:t>
            </a:r>
            <a:r>
              <a:rPr sz="2800" spc="-80" dirty="0">
                <a:latin typeface="Trebuchet MS"/>
                <a:cs typeface="Trebuchet MS"/>
              </a:rPr>
              <a:t>data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ACK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spaced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10" dirty="0">
                <a:latin typeface="Trebuchet MS"/>
                <a:cs typeface="Trebuchet MS"/>
              </a:rPr>
              <a:t>SIFS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duration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for  </a:t>
            </a:r>
            <a:r>
              <a:rPr sz="2800" spc="-80" dirty="0">
                <a:latin typeface="Trebuchet MS"/>
                <a:cs typeface="Trebuchet MS"/>
              </a:rPr>
              <a:t>transceiver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turn‐around.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BB3EE63-47AC-457C-A9EF-8B9ABFED56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68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E1B10827-9D3B-6CC3-F19A-F1D3AB096EB2}"/>
              </a:ext>
            </a:extLst>
          </p:cNvPr>
          <p:cNvSpPr txBox="1">
            <a:spLocks/>
          </p:cNvSpPr>
          <p:nvPr/>
        </p:nvSpPr>
        <p:spPr>
          <a:xfrm>
            <a:off x="1320113" y="151258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3783" y="200025"/>
            <a:ext cx="735787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9414" marR="5080" indent="-1190625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Hidden </a:t>
            </a:r>
            <a:r>
              <a:rPr sz="4000" spc="-70" dirty="0"/>
              <a:t>Stations</a:t>
            </a:r>
            <a:r>
              <a:rPr sz="4000" spc="-900" dirty="0"/>
              <a:t> </a:t>
            </a:r>
            <a:r>
              <a:rPr sz="4000" spc="-105" dirty="0"/>
              <a:t>and  </a:t>
            </a:r>
            <a:r>
              <a:rPr sz="4000" spc="-90" dirty="0"/>
              <a:t>RTS/CTS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920758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0" y="257175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257175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43531"/>
            <a:ext cx="8155305" cy="40798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5080" indent="-342900">
              <a:lnSpc>
                <a:spcPts val="3020"/>
              </a:lnSpc>
              <a:spcBef>
                <a:spcPts val="484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 </a:t>
            </a:r>
            <a:r>
              <a:rPr sz="2800" spc="-145" dirty="0">
                <a:latin typeface="Trebuchet MS"/>
                <a:cs typeface="Trebuchet MS"/>
              </a:rPr>
              <a:t>RTS/CTS </a:t>
            </a:r>
            <a:r>
              <a:rPr sz="2800" spc="-100" dirty="0">
                <a:latin typeface="Trebuchet MS"/>
                <a:cs typeface="Trebuchet MS"/>
              </a:rPr>
              <a:t>carry </a:t>
            </a:r>
            <a:r>
              <a:rPr sz="2800" spc="-105" dirty="0">
                <a:latin typeface="Trebuchet MS"/>
                <a:cs typeface="Trebuchet MS"/>
              </a:rPr>
              <a:t>in </a:t>
            </a:r>
            <a:r>
              <a:rPr sz="2800" spc="-85" dirty="0">
                <a:latin typeface="Trebuchet MS"/>
                <a:cs typeface="Trebuchet MS"/>
              </a:rPr>
              <a:t>its </a:t>
            </a:r>
            <a:r>
              <a:rPr sz="2800" spc="-65" dirty="0">
                <a:latin typeface="Trebuchet MS"/>
                <a:cs typeface="Trebuchet MS"/>
              </a:rPr>
              <a:t>duration </a:t>
            </a:r>
            <a:r>
              <a:rPr sz="2800" spc="-95" dirty="0">
                <a:latin typeface="Trebuchet MS"/>
                <a:cs typeface="Trebuchet MS"/>
              </a:rPr>
              <a:t>fields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-90" dirty="0">
                <a:latin typeface="Trebuchet MS"/>
                <a:cs typeface="Trebuchet MS"/>
              </a:rPr>
              <a:t>information,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how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long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sequence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RTS,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CTS,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Data,  </a:t>
            </a:r>
            <a:r>
              <a:rPr sz="2800" spc="-5" dirty="0">
                <a:latin typeface="Trebuchet MS"/>
                <a:cs typeface="Trebuchet MS"/>
              </a:rPr>
              <a:t>ACK </a:t>
            </a:r>
            <a:r>
              <a:rPr sz="2800" spc="-125" dirty="0">
                <a:latin typeface="Trebuchet MS"/>
                <a:cs typeface="Trebuchet MS"/>
              </a:rPr>
              <a:t>will</a:t>
            </a:r>
            <a:r>
              <a:rPr sz="2800" spc="-48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take.</a:t>
            </a:r>
            <a:endParaRPr sz="2800">
              <a:latin typeface="Trebuchet MS"/>
              <a:cs typeface="Trebuchet MS"/>
            </a:endParaRPr>
          </a:p>
          <a:p>
            <a:pPr marL="354965" marR="435609" indent="-342900">
              <a:lnSpc>
                <a:spcPts val="3020"/>
              </a:lnSpc>
              <a:spcBef>
                <a:spcPts val="68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10" dirty="0">
                <a:latin typeface="Trebuchet MS"/>
                <a:cs typeface="Trebuchet MS"/>
              </a:rPr>
              <a:t>Hence, </a:t>
            </a:r>
            <a:r>
              <a:rPr sz="2800" spc="-50" dirty="0">
                <a:latin typeface="Trebuchet MS"/>
                <a:cs typeface="Trebuchet MS"/>
              </a:rPr>
              <a:t>other stations </a:t>
            </a:r>
            <a:r>
              <a:rPr sz="2800" spc="-60" dirty="0">
                <a:latin typeface="Trebuchet MS"/>
                <a:cs typeface="Trebuchet MS"/>
              </a:rPr>
              <a:t>close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75" dirty="0">
                <a:latin typeface="Trebuchet MS"/>
                <a:cs typeface="Trebuchet MS"/>
              </a:rPr>
              <a:t>transmitting 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hidden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stations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close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receiving 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will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not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start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any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transmissions;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their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10" dirty="0">
                <a:latin typeface="Trebuchet MS"/>
                <a:cs typeface="Trebuchet MS"/>
              </a:rPr>
              <a:t>NAV  </a:t>
            </a:r>
            <a:r>
              <a:rPr sz="2800" spc="-105" dirty="0">
                <a:latin typeface="Trebuchet MS"/>
                <a:cs typeface="Trebuchet MS"/>
              </a:rPr>
              <a:t>timer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39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set.</a:t>
            </a:r>
            <a:endParaRPr sz="2800">
              <a:latin typeface="Trebuchet MS"/>
              <a:cs typeface="Trebuchet MS"/>
            </a:endParaRPr>
          </a:p>
          <a:p>
            <a:pPr marL="354965" marR="393700" indent="-342900">
              <a:lnSpc>
                <a:spcPts val="3020"/>
              </a:lnSpc>
              <a:spcBef>
                <a:spcPts val="68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75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hidden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close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receiving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might  </a:t>
            </a:r>
            <a:r>
              <a:rPr sz="2800" spc="-20" dirty="0">
                <a:latin typeface="Trebuchet MS"/>
                <a:cs typeface="Trebuchet MS"/>
              </a:rPr>
              <a:t>not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receive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RTS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due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large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distance,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but  </a:t>
            </a:r>
            <a:r>
              <a:rPr sz="2800" spc="-125" dirty="0">
                <a:latin typeface="Trebuchet MS"/>
                <a:cs typeface="Trebuchet MS"/>
              </a:rPr>
              <a:t>will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most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cases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receive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CTS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frame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F4C1BB3-A8D2-40E8-B83A-D82D52A664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69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14B6B48-08E2-9BB8-D214-21CE483C3296}"/>
              </a:ext>
            </a:extLst>
          </p:cNvPr>
          <p:cNvSpPr txBox="1">
            <a:spLocks/>
          </p:cNvSpPr>
          <p:nvPr/>
        </p:nvSpPr>
        <p:spPr>
          <a:xfrm>
            <a:off x="1320113" y="21905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4671" y="315723"/>
            <a:ext cx="68580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20" dirty="0"/>
              <a:t>Hidden</a:t>
            </a:r>
            <a:r>
              <a:rPr sz="4400" spc="-540" dirty="0"/>
              <a:t> </a:t>
            </a:r>
            <a:r>
              <a:rPr sz="4400" spc="-80" dirty="0"/>
              <a:t>Stations</a:t>
            </a:r>
            <a:r>
              <a:rPr sz="4400" spc="-459" dirty="0"/>
              <a:t> </a:t>
            </a:r>
            <a:r>
              <a:rPr sz="4400" spc="-114" dirty="0"/>
              <a:t>and</a:t>
            </a:r>
            <a:r>
              <a:rPr sz="4400" spc="-450" dirty="0"/>
              <a:t> </a:t>
            </a:r>
            <a:r>
              <a:rPr sz="4400" spc="-105" dirty="0"/>
              <a:t>RTS/CTS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2603639" y="1946148"/>
            <a:ext cx="5486400" cy="2822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91767" y="4806950"/>
            <a:ext cx="7527925" cy="13665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4965" marR="5080" indent="-342900">
              <a:lnSpc>
                <a:spcPts val="1920"/>
              </a:lnSpc>
              <a:spcBef>
                <a:spcPts val="56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40" dirty="0">
                <a:latin typeface="Trebuchet MS"/>
                <a:cs typeface="Trebuchet MS"/>
              </a:rPr>
              <a:t>Station </a:t>
            </a:r>
            <a:r>
              <a:rPr sz="2000" spc="50" dirty="0">
                <a:latin typeface="Trebuchet MS"/>
                <a:cs typeface="Trebuchet MS"/>
              </a:rPr>
              <a:t>6 </a:t>
            </a:r>
            <a:r>
              <a:rPr sz="2000" spc="-40" dirty="0">
                <a:latin typeface="Trebuchet MS"/>
                <a:cs typeface="Trebuchet MS"/>
              </a:rPr>
              <a:t>cannot </a:t>
            </a:r>
            <a:r>
              <a:rPr sz="2000" spc="-70" dirty="0">
                <a:latin typeface="Trebuchet MS"/>
                <a:cs typeface="Trebuchet MS"/>
              </a:rPr>
              <a:t>detect </a:t>
            </a:r>
            <a:r>
              <a:rPr sz="2000" spc="-55" dirty="0">
                <a:latin typeface="Trebuchet MS"/>
                <a:cs typeface="Trebuchet MS"/>
              </a:rPr>
              <a:t>the </a:t>
            </a:r>
            <a:r>
              <a:rPr sz="2000" spc="-15" dirty="0">
                <a:latin typeface="Trebuchet MS"/>
                <a:cs typeface="Trebuchet MS"/>
              </a:rPr>
              <a:t>RTS </a:t>
            </a:r>
            <a:r>
              <a:rPr sz="2000" spc="-30" dirty="0">
                <a:latin typeface="Trebuchet MS"/>
                <a:cs typeface="Trebuchet MS"/>
              </a:rPr>
              <a:t>from </a:t>
            </a:r>
            <a:r>
              <a:rPr sz="2000" spc="-45" dirty="0">
                <a:latin typeface="Trebuchet MS"/>
                <a:cs typeface="Trebuchet MS"/>
              </a:rPr>
              <a:t>station </a:t>
            </a:r>
            <a:r>
              <a:rPr sz="2000" spc="-180" dirty="0">
                <a:latin typeface="Trebuchet MS"/>
                <a:cs typeface="Trebuchet MS"/>
              </a:rPr>
              <a:t>2, </a:t>
            </a:r>
            <a:r>
              <a:rPr sz="2000" spc="-40" dirty="0">
                <a:latin typeface="Trebuchet MS"/>
                <a:cs typeface="Trebuchet MS"/>
              </a:rPr>
              <a:t>but </a:t>
            </a:r>
            <a:r>
              <a:rPr sz="2000" spc="-60" dirty="0">
                <a:latin typeface="Trebuchet MS"/>
                <a:cs typeface="Trebuchet MS"/>
              </a:rPr>
              <a:t>can hear </a:t>
            </a:r>
            <a:r>
              <a:rPr sz="2000" spc="-55" dirty="0">
                <a:latin typeface="Trebuchet MS"/>
                <a:cs typeface="Trebuchet MS"/>
              </a:rPr>
              <a:t>the  </a:t>
            </a:r>
            <a:r>
              <a:rPr sz="2000" spc="-65" dirty="0">
                <a:latin typeface="Trebuchet MS"/>
                <a:cs typeface="Trebuchet MS"/>
              </a:rPr>
              <a:t>CTS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295" dirty="0">
                <a:latin typeface="Trebuchet MS"/>
                <a:cs typeface="Trebuchet MS"/>
              </a:rPr>
              <a:t>1.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5" dirty="0">
                <a:latin typeface="Trebuchet MS"/>
                <a:cs typeface="Trebuchet MS"/>
              </a:rPr>
              <a:t>Although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6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hidden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80" dirty="0">
                <a:latin typeface="Trebuchet MS"/>
                <a:cs typeface="Trebuchet MS"/>
              </a:rPr>
              <a:t>2,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it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refrains  </a:t>
            </a:r>
            <a:r>
              <a:rPr sz="2000" spc="-30" dirty="0">
                <a:latin typeface="Trebuchet MS"/>
                <a:cs typeface="Trebuchet MS"/>
              </a:rPr>
              <a:t>from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channel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access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because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NAV.</a:t>
            </a:r>
            <a:endParaRPr sz="2000">
              <a:latin typeface="Trebuchet MS"/>
              <a:cs typeface="Trebuchet MS"/>
            </a:endParaRPr>
          </a:p>
          <a:p>
            <a:pPr marL="354965" marR="408940" indent="-342900">
              <a:lnSpc>
                <a:spcPts val="1920"/>
              </a:lnSpc>
              <a:spcBef>
                <a:spcPts val="4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10" dirty="0">
                <a:latin typeface="Trebuchet MS"/>
                <a:cs typeface="Trebuchet MS"/>
              </a:rPr>
              <a:t>Note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that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5" dirty="0">
                <a:latin typeface="Trebuchet MS"/>
                <a:cs typeface="Trebuchet MS"/>
              </a:rPr>
              <a:t>SIFS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shorter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than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DIFS,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which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always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gives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CTS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  </a:t>
            </a:r>
            <a:r>
              <a:rPr sz="2000" spc="-10" dirty="0">
                <a:latin typeface="Trebuchet MS"/>
                <a:cs typeface="Trebuchet MS"/>
              </a:rPr>
              <a:t>ACK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highest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priority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for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access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channel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F3B2089-2FFE-4C13-AD72-3C24CF2F2A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70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BD9B736B-60E5-B433-4C45-372EC6D3D15E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7143" y="293632"/>
            <a:ext cx="53930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85" dirty="0"/>
              <a:t>Synchronization</a:t>
            </a:r>
            <a:r>
              <a:rPr sz="3200" spc="-320" dirty="0"/>
              <a:t> </a:t>
            </a:r>
            <a:r>
              <a:rPr sz="3200" spc="-85" dirty="0"/>
              <a:t>and</a:t>
            </a:r>
            <a:r>
              <a:rPr sz="3200" spc="-459" dirty="0"/>
              <a:t> </a:t>
            </a:r>
            <a:r>
              <a:rPr sz="3200" spc="-155" dirty="0"/>
              <a:t>Cell</a:t>
            </a:r>
            <a:r>
              <a:rPr sz="3200" spc="-409" dirty="0"/>
              <a:t> </a:t>
            </a:r>
            <a:r>
              <a:rPr sz="3200" spc="-75" dirty="0"/>
              <a:t>Search</a:t>
            </a:r>
            <a:endParaRPr sz="32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86204"/>
            <a:ext cx="7936230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8255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0" dirty="0">
                <a:latin typeface="Trebuchet MS"/>
                <a:cs typeface="Trebuchet MS"/>
              </a:rPr>
              <a:t>All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stations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within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single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BSS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synchronized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 </a:t>
            </a:r>
            <a:r>
              <a:rPr sz="2800" spc="-100" dirty="0">
                <a:latin typeface="Trebuchet MS"/>
                <a:cs typeface="Trebuchet MS"/>
              </a:rPr>
              <a:t>a </a:t>
            </a:r>
            <a:r>
              <a:rPr sz="2800" spc="-15" dirty="0">
                <a:latin typeface="Trebuchet MS"/>
                <a:cs typeface="Trebuchet MS"/>
              </a:rPr>
              <a:t>common </a:t>
            </a:r>
            <a:r>
              <a:rPr sz="2800" spc="-85" dirty="0">
                <a:latin typeface="Trebuchet MS"/>
                <a:cs typeface="Trebuchet MS"/>
              </a:rPr>
              <a:t>clock </a:t>
            </a:r>
            <a:r>
              <a:rPr sz="2800" spc="-110" dirty="0">
                <a:latin typeface="Trebuchet MS"/>
                <a:cs typeface="Trebuchet MS"/>
              </a:rPr>
              <a:t>via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b="1" spc="-95" dirty="0">
                <a:latin typeface="Trebuchet MS"/>
                <a:cs typeface="Trebuchet MS"/>
              </a:rPr>
              <a:t>Timing </a:t>
            </a:r>
            <a:r>
              <a:rPr sz="2800" b="1" spc="-114" dirty="0">
                <a:latin typeface="Trebuchet MS"/>
                <a:cs typeface="Trebuchet MS"/>
              </a:rPr>
              <a:t>Synchronization  </a:t>
            </a:r>
            <a:r>
              <a:rPr sz="2800" b="1" spc="-135" dirty="0">
                <a:latin typeface="Trebuchet MS"/>
                <a:cs typeface="Trebuchet MS"/>
              </a:rPr>
              <a:t>Function</a:t>
            </a:r>
            <a:r>
              <a:rPr sz="2800" b="1" spc="-250" dirty="0">
                <a:latin typeface="Trebuchet MS"/>
                <a:cs typeface="Trebuchet MS"/>
              </a:rPr>
              <a:t> </a:t>
            </a:r>
            <a:r>
              <a:rPr sz="2800" b="1" spc="-145" dirty="0">
                <a:latin typeface="Trebuchet MS"/>
                <a:cs typeface="Trebuchet MS"/>
              </a:rPr>
              <a:t>(TSF)</a:t>
            </a:r>
            <a:r>
              <a:rPr sz="2800" spc="-145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354965" marR="5080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synchronize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stations,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management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frame, 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85" dirty="0">
                <a:latin typeface="Trebuchet MS"/>
                <a:cs typeface="Trebuchet MS"/>
              </a:rPr>
              <a:t>beacon,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60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used.</a:t>
            </a:r>
            <a:endParaRPr sz="2800">
              <a:latin typeface="Trebuchet MS"/>
              <a:cs typeface="Trebuchet MS"/>
            </a:endParaRPr>
          </a:p>
          <a:p>
            <a:pPr marL="354965" marR="331470" indent="-342900">
              <a:lnSpc>
                <a:spcPct val="100000"/>
              </a:lnSpc>
              <a:spcBef>
                <a:spcPts val="6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 time </a:t>
            </a:r>
            <a:r>
              <a:rPr sz="2800" spc="-15" dirty="0">
                <a:latin typeface="Trebuchet MS"/>
                <a:cs typeface="Trebuchet MS"/>
              </a:rPr>
              <a:t>when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50" dirty="0">
                <a:latin typeface="Trebuchet MS"/>
                <a:cs typeface="Trebuchet MS"/>
              </a:rPr>
              <a:t>next </a:t>
            </a:r>
            <a:r>
              <a:rPr sz="2800" spc="-45" dirty="0">
                <a:latin typeface="Trebuchet MS"/>
                <a:cs typeface="Trebuchet MS"/>
              </a:rPr>
              <a:t>beacon </a:t>
            </a:r>
            <a:r>
              <a:rPr sz="2800" spc="-85" dirty="0">
                <a:latin typeface="Trebuchet MS"/>
                <a:cs typeface="Trebuchet MS"/>
              </a:rPr>
              <a:t>frame </a:t>
            </a:r>
            <a:r>
              <a:rPr sz="2800" spc="-100" dirty="0">
                <a:latin typeface="Trebuchet MS"/>
                <a:cs typeface="Trebuchet MS"/>
              </a:rPr>
              <a:t>arrive </a:t>
            </a:r>
            <a:r>
              <a:rPr sz="2800" spc="-75" dirty="0">
                <a:latin typeface="Trebuchet MS"/>
                <a:cs typeface="Trebuchet MS"/>
              </a:rPr>
              <a:t>is  </a:t>
            </a:r>
            <a:r>
              <a:rPr sz="2800" spc="-120" dirty="0">
                <a:latin typeface="Trebuchet MS"/>
                <a:cs typeface="Trebuchet MS"/>
              </a:rPr>
              <a:t>called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b="1" spc="-125" dirty="0">
                <a:latin typeface="Trebuchet MS"/>
                <a:cs typeface="Trebuchet MS"/>
              </a:rPr>
              <a:t>Target</a:t>
            </a:r>
            <a:r>
              <a:rPr sz="2800" b="1" spc="-250" dirty="0">
                <a:latin typeface="Trebuchet MS"/>
                <a:cs typeface="Trebuchet MS"/>
              </a:rPr>
              <a:t> </a:t>
            </a:r>
            <a:r>
              <a:rPr sz="2800" b="1" spc="-100" dirty="0">
                <a:latin typeface="Trebuchet MS"/>
                <a:cs typeface="Trebuchet MS"/>
              </a:rPr>
              <a:t>Beacon</a:t>
            </a:r>
            <a:r>
              <a:rPr sz="2800" b="1" spc="-245" dirty="0">
                <a:latin typeface="Trebuchet MS"/>
                <a:cs typeface="Trebuchet MS"/>
              </a:rPr>
              <a:t> </a:t>
            </a:r>
            <a:r>
              <a:rPr sz="2800" b="1" spc="-110" dirty="0">
                <a:latin typeface="Trebuchet MS"/>
                <a:cs typeface="Trebuchet MS"/>
              </a:rPr>
              <a:t>Transmission</a:t>
            </a:r>
            <a:r>
              <a:rPr sz="2800" b="1" spc="-254" dirty="0">
                <a:latin typeface="Trebuchet MS"/>
                <a:cs typeface="Trebuchet MS"/>
              </a:rPr>
              <a:t> </a:t>
            </a:r>
            <a:r>
              <a:rPr sz="2800" b="1" spc="-160" dirty="0">
                <a:latin typeface="Trebuchet MS"/>
                <a:cs typeface="Trebuchet MS"/>
              </a:rPr>
              <a:t>Time</a:t>
            </a:r>
            <a:r>
              <a:rPr sz="2800" b="1" spc="-240" dirty="0">
                <a:latin typeface="Trebuchet MS"/>
                <a:cs typeface="Trebuchet MS"/>
              </a:rPr>
              <a:t> </a:t>
            </a:r>
            <a:r>
              <a:rPr sz="2800" b="1" spc="-160" dirty="0">
                <a:latin typeface="Trebuchet MS"/>
                <a:cs typeface="Trebuchet MS"/>
              </a:rPr>
              <a:t>(TBTT). 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beacons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are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transmitted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periodically.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2170D47-676F-4B3E-A84C-DCCA6FE2B2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71</a:t>
            </a:fld>
            <a:endParaRPr lang="en-US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D5A158EF-BFE4-E134-1DA5-3CD60BA1A6CD}"/>
              </a:ext>
            </a:extLst>
          </p:cNvPr>
          <p:cNvSpPr txBox="1">
            <a:spLocks/>
          </p:cNvSpPr>
          <p:nvPr/>
        </p:nvSpPr>
        <p:spPr>
          <a:xfrm>
            <a:off x="1310779" y="202311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7438" y="115322"/>
            <a:ext cx="741464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0" marR="5080" indent="-1866900">
              <a:lnSpc>
                <a:spcPct val="100000"/>
              </a:lnSpc>
              <a:spcBef>
                <a:spcPts val="100"/>
              </a:spcBef>
            </a:pPr>
            <a:r>
              <a:rPr sz="4000" spc="-95" dirty="0"/>
              <a:t>Synchronization </a:t>
            </a:r>
            <a:r>
              <a:rPr sz="4000" spc="-105" dirty="0"/>
              <a:t>and</a:t>
            </a:r>
            <a:r>
              <a:rPr sz="4000" spc="-965" dirty="0"/>
              <a:t> </a:t>
            </a:r>
            <a:r>
              <a:rPr sz="4000" spc="-190" dirty="0"/>
              <a:t>Cell  </a:t>
            </a:r>
            <a:r>
              <a:rPr sz="4000" spc="-95" dirty="0"/>
              <a:t>Search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781924"/>
            <a:ext cx="7995920" cy="249555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94"/>
              </a:spcBef>
              <a:buClr>
                <a:srgbClr val="00659A"/>
              </a:buClr>
              <a:buSzPct val="89062"/>
              <a:buFont typeface="Liberation Sans"/>
              <a:buChar char="◗"/>
              <a:tabLst>
                <a:tab pos="355600" algn="l"/>
              </a:tabLst>
            </a:pPr>
            <a:r>
              <a:rPr sz="3200" spc="-120" dirty="0">
                <a:latin typeface="Trebuchet MS"/>
                <a:cs typeface="Trebuchet MS"/>
              </a:rPr>
              <a:t>TSF’s</a:t>
            </a:r>
            <a:r>
              <a:rPr sz="3200" spc="-27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function</a:t>
            </a:r>
            <a:endParaRPr sz="3200">
              <a:latin typeface="Trebuchet MS"/>
              <a:cs typeface="Trebuchet MS"/>
            </a:endParaRPr>
          </a:p>
          <a:p>
            <a:pPr marL="755015" marR="2056764" lvl="1" indent="-285750">
              <a:lnSpc>
                <a:spcPct val="100000"/>
              </a:lnSpc>
              <a:spcBef>
                <a:spcPts val="70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20" dirty="0">
                <a:latin typeface="Trebuchet MS"/>
                <a:cs typeface="Trebuchet MS"/>
              </a:rPr>
              <a:t>Support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various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PHY’s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that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require  </a:t>
            </a:r>
            <a:r>
              <a:rPr sz="2800" spc="-60" dirty="0">
                <a:latin typeface="Trebuchet MS"/>
                <a:cs typeface="Trebuchet MS"/>
              </a:rPr>
              <a:t>synchronization</a:t>
            </a:r>
            <a:endParaRPr sz="2800">
              <a:latin typeface="Trebuchet MS"/>
              <a:cs typeface="Trebuchet MS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7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650" algn="l"/>
              </a:tabLst>
            </a:pPr>
            <a:r>
              <a:rPr sz="2800" spc="-5" dirty="0">
                <a:latin typeface="Trebuchet MS"/>
                <a:cs typeface="Trebuchet MS"/>
              </a:rPr>
              <a:t>Management</a:t>
            </a:r>
            <a:r>
              <a:rPr sz="2800" spc="3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function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such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as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joining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BSS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  </a:t>
            </a:r>
            <a:r>
              <a:rPr sz="2800" spc="-30" dirty="0">
                <a:latin typeface="Trebuchet MS"/>
                <a:cs typeface="Trebuchet MS"/>
              </a:rPr>
              <a:t>saving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power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through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sleep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562CFF0-C4C6-4E9A-9C24-0304EF1436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72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93F8180A-2C55-89D1-ED5A-DDF3FEB3EF31}"/>
              </a:ext>
            </a:extLst>
          </p:cNvPr>
          <p:cNvSpPr txBox="1">
            <a:spLocks/>
          </p:cNvSpPr>
          <p:nvPr/>
        </p:nvSpPr>
        <p:spPr>
          <a:xfrm>
            <a:off x="1276997" y="129686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41538" y="228205"/>
            <a:ext cx="67392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5" dirty="0"/>
              <a:t>Synchronization</a:t>
            </a:r>
            <a:r>
              <a:rPr sz="4000" spc="-450" dirty="0"/>
              <a:t> </a:t>
            </a:r>
            <a:r>
              <a:rPr sz="4000" spc="-105" dirty="0"/>
              <a:t>and</a:t>
            </a:r>
            <a:r>
              <a:rPr sz="4000" spc="-585" dirty="0"/>
              <a:t> </a:t>
            </a:r>
            <a:r>
              <a:rPr sz="4000" spc="-185" dirty="0"/>
              <a:t>Cell</a:t>
            </a:r>
            <a:r>
              <a:rPr sz="4000" spc="-535" dirty="0"/>
              <a:t> </a:t>
            </a:r>
            <a:r>
              <a:rPr sz="4000" spc="-95" dirty="0"/>
              <a:t>Search</a:t>
            </a:r>
            <a:endParaRPr sz="4000" dirty="0"/>
          </a:p>
        </p:txBody>
      </p:sp>
      <p:grpSp>
        <p:nvGrpSpPr>
          <p:cNvPr id="7" name="object 7"/>
          <p:cNvGrpSpPr/>
          <p:nvPr/>
        </p:nvGrpSpPr>
        <p:grpSpPr>
          <a:xfrm>
            <a:off x="788376" y="1196720"/>
            <a:ext cx="9144000" cy="857250"/>
            <a:chOff x="774839" y="1206246"/>
            <a:chExt cx="9144000" cy="857250"/>
          </a:xfrm>
        </p:grpSpPr>
        <p:sp>
          <p:nvSpPr>
            <p:cNvPr id="8" name="object 8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5473" y="1491996"/>
              <a:ext cx="8276843" cy="571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3451" y="1724659"/>
            <a:ext cx="393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Trebuchet MS"/>
                <a:cs typeface="Trebuchet MS"/>
              </a:rPr>
              <a:t>BSS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75473" y="2063495"/>
            <a:ext cx="8276843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12072" y="3439159"/>
            <a:ext cx="455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latin typeface="Trebuchet MS"/>
                <a:cs typeface="Trebuchet MS"/>
              </a:rPr>
              <a:t>IBSS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75473" y="3777996"/>
            <a:ext cx="8276843" cy="2426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5" name="object 15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83055F-6838-4915-B7A9-9322EC8304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73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B82E4B-782B-2852-04D4-6F2D4342A7A7}"/>
              </a:ext>
            </a:extLst>
          </p:cNvPr>
          <p:cNvSpPr/>
          <p:nvPr/>
        </p:nvSpPr>
        <p:spPr>
          <a:xfrm>
            <a:off x="5118100" y="1482470"/>
            <a:ext cx="4786924" cy="2756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96165A6B-0793-914B-A5B9-88704E4651AB}"/>
              </a:ext>
            </a:extLst>
          </p:cNvPr>
          <p:cNvSpPr txBox="1">
            <a:spLocks/>
          </p:cNvSpPr>
          <p:nvPr/>
        </p:nvSpPr>
        <p:spPr>
          <a:xfrm>
            <a:off x="1316959" y="200025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89BBE7-C76F-7163-479E-515FEC63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0A755C-23C9-D1EE-72DC-EF0339192186}"/>
              </a:ext>
            </a:extLst>
          </p:cNvPr>
          <p:cNvSpPr/>
          <p:nvPr/>
        </p:nvSpPr>
        <p:spPr>
          <a:xfrm>
            <a:off x="10483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3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5" y="170681"/>
                </a:lnTo>
                <a:lnTo>
                  <a:pt x="284225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3" y="160013"/>
                </a:lnTo>
                <a:close/>
              </a:path>
              <a:path w="340994" h="340359">
                <a:moveTo>
                  <a:pt x="284225" y="297766"/>
                </a:moveTo>
                <a:lnTo>
                  <a:pt x="284225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5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F3107F-22A2-6F5C-4299-CE5185B9B38F}"/>
              </a:ext>
            </a:extLst>
          </p:cNvPr>
          <p:cNvSpPr/>
          <p:nvPr/>
        </p:nvSpPr>
        <p:spPr>
          <a:xfrm>
            <a:off x="1505597" y="851922"/>
            <a:ext cx="340995" cy="340360"/>
          </a:xfrm>
          <a:custGeom>
            <a:avLst/>
            <a:gdLst/>
            <a:ahLst/>
            <a:cxnLst/>
            <a:rect l="l" t="t" r="r" b="b"/>
            <a:pathLst>
              <a:path w="340994" h="340359">
                <a:moveTo>
                  <a:pt x="340614" y="160013"/>
                </a:moveTo>
                <a:lnTo>
                  <a:pt x="332734" y="119040"/>
                </a:lnTo>
                <a:lnTo>
                  <a:pt x="297887" y="55333"/>
                </a:lnTo>
                <a:lnTo>
                  <a:pt x="244664" y="15736"/>
                </a:lnTo>
                <a:lnTo>
                  <a:pt x="181553" y="0"/>
                </a:lnTo>
                <a:lnTo>
                  <a:pt x="148942" y="1002"/>
                </a:lnTo>
                <a:lnTo>
                  <a:pt x="86915" y="20590"/>
                </a:lnTo>
                <a:lnTo>
                  <a:pt x="36222" y="63416"/>
                </a:lnTo>
                <a:lnTo>
                  <a:pt x="5350" y="129231"/>
                </a:lnTo>
                <a:lnTo>
                  <a:pt x="0" y="170681"/>
                </a:lnTo>
                <a:lnTo>
                  <a:pt x="0" y="179063"/>
                </a:lnTo>
                <a:lnTo>
                  <a:pt x="8362" y="221072"/>
                </a:lnTo>
                <a:lnTo>
                  <a:pt x="23578" y="256624"/>
                </a:lnTo>
                <a:lnTo>
                  <a:pt x="44538" y="285782"/>
                </a:lnTo>
                <a:lnTo>
                  <a:pt x="57150" y="297030"/>
                </a:lnTo>
                <a:lnTo>
                  <a:pt x="57150" y="169157"/>
                </a:lnTo>
                <a:lnTo>
                  <a:pt x="65130" y="128376"/>
                </a:lnTo>
                <a:lnTo>
                  <a:pt x="83011" y="96744"/>
                </a:lnTo>
                <a:lnTo>
                  <a:pt x="108307" y="74241"/>
                </a:lnTo>
                <a:lnTo>
                  <a:pt x="138532" y="60847"/>
                </a:lnTo>
                <a:lnTo>
                  <a:pt x="171202" y="56543"/>
                </a:lnTo>
                <a:lnTo>
                  <a:pt x="203830" y="61309"/>
                </a:lnTo>
                <a:lnTo>
                  <a:pt x="233932" y="75126"/>
                </a:lnTo>
                <a:lnTo>
                  <a:pt x="259022" y="97973"/>
                </a:lnTo>
                <a:lnTo>
                  <a:pt x="276615" y="129831"/>
                </a:lnTo>
                <a:lnTo>
                  <a:pt x="284226" y="170681"/>
                </a:lnTo>
                <a:lnTo>
                  <a:pt x="284226" y="297766"/>
                </a:lnTo>
                <a:lnTo>
                  <a:pt x="285991" y="296477"/>
                </a:lnTo>
                <a:lnTo>
                  <a:pt x="308767" y="270940"/>
                </a:lnTo>
                <a:lnTo>
                  <a:pt x="326201" y="239641"/>
                </a:lnTo>
                <a:lnTo>
                  <a:pt x="337186" y="202645"/>
                </a:lnTo>
                <a:lnTo>
                  <a:pt x="340614" y="160013"/>
                </a:lnTo>
                <a:close/>
              </a:path>
              <a:path w="340994" h="340359">
                <a:moveTo>
                  <a:pt x="284226" y="297766"/>
                </a:moveTo>
                <a:lnTo>
                  <a:pt x="284226" y="170681"/>
                </a:lnTo>
                <a:lnTo>
                  <a:pt x="276371" y="210457"/>
                </a:lnTo>
                <a:lnTo>
                  <a:pt x="258948" y="241626"/>
                </a:lnTo>
                <a:lnTo>
                  <a:pt x="234306" y="264140"/>
                </a:lnTo>
                <a:lnTo>
                  <a:pt x="204796" y="277949"/>
                </a:lnTo>
                <a:lnTo>
                  <a:pt x="172769" y="283005"/>
                </a:lnTo>
                <a:lnTo>
                  <a:pt x="140575" y="279257"/>
                </a:lnTo>
                <a:lnTo>
                  <a:pt x="110566" y="266657"/>
                </a:lnTo>
                <a:lnTo>
                  <a:pt x="85091" y="245156"/>
                </a:lnTo>
                <a:lnTo>
                  <a:pt x="66502" y="214704"/>
                </a:lnTo>
                <a:lnTo>
                  <a:pt x="57150" y="175253"/>
                </a:lnTo>
                <a:lnTo>
                  <a:pt x="57150" y="297030"/>
                </a:lnTo>
                <a:lnTo>
                  <a:pt x="70134" y="308611"/>
                </a:lnTo>
                <a:lnTo>
                  <a:pt x="99257" y="325172"/>
                </a:lnTo>
                <a:lnTo>
                  <a:pt x="130799" y="335530"/>
                </a:lnTo>
                <a:lnTo>
                  <a:pt x="163651" y="339748"/>
                </a:lnTo>
                <a:lnTo>
                  <a:pt x="196705" y="337888"/>
                </a:lnTo>
                <a:lnTo>
                  <a:pt x="228852" y="330014"/>
                </a:lnTo>
                <a:lnTo>
                  <a:pt x="259022" y="316161"/>
                </a:lnTo>
                <a:lnTo>
                  <a:pt x="284226" y="29776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D10E8D1-F53C-BF64-57D0-A792AC8AEEE6}"/>
              </a:ext>
            </a:extLst>
          </p:cNvPr>
          <p:cNvSpPr/>
          <p:nvPr/>
        </p:nvSpPr>
        <p:spPr>
          <a:xfrm>
            <a:off x="88398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10656F9-B39C-6238-182F-21E6CC5408D4}"/>
              </a:ext>
            </a:extLst>
          </p:cNvPr>
          <p:cNvSpPr/>
          <p:nvPr/>
        </p:nvSpPr>
        <p:spPr>
          <a:xfrm>
            <a:off x="9297048" y="851829"/>
            <a:ext cx="339090" cy="340360"/>
          </a:xfrm>
          <a:custGeom>
            <a:avLst/>
            <a:gdLst/>
            <a:ahLst/>
            <a:cxnLst/>
            <a:rect l="l" t="t" r="r" b="b"/>
            <a:pathLst>
              <a:path w="339090" h="340359">
                <a:moveTo>
                  <a:pt x="339077" y="160105"/>
                </a:moveTo>
                <a:lnTo>
                  <a:pt x="331183" y="119117"/>
                </a:lnTo>
                <a:lnTo>
                  <a:pt x="296459" y="55379"/>
                </a:lnTo>
                <a:lnTo>
                  <a:pt x="243503" y="15754"/>
                </a:lnTo>
                <a:lnTo>
                  <a:pt x="180737" y="0"/>
                </a:lnTo>
                <a:lnTo>
                  <a:pt x="148307" y="996"/>
                </a:lnTo>
                <a:lnTo>
                  <a:pt x="86616" y="20586"/>
                </a:lnTo>
                <a:lnTo>
                  <a:pt x="36168" y="63433"/>
                </a:lnTo>
                <a:lnTo>
                  <a:pt x="5385" y="129291"/>
                </a:lnTo>
                <a:lnTo>
                  <a:pt x="0" y="170773"/>
                </a:lnTo>
                <a:lnTo>
                  <a:pt x="0" y="179155"/>
                </a:lnTo>
                <a:lnTo>
                  <a:pt x="8294" y="221188"/>
                </a:lnTo>
                <a:lnTo>
                  <a:pt x="23424" y="256753"/>
                </a:lnTo>
                <a:lnTo>
                  <a:pt x="44284" y="285916"/>
                </a:lnTo>
                <a:lnTo>
                  <a:pt x="57150" y="297439"/>
                </a:lnTo>
                <a:lnTo>
                  <a:pt x="57150" y="169249"/>
                </a:lnTo>
                <a:lnTo>
                  <a:pt x="65013" y="128662"/>
                </a:lnTo>
                <a:lnTo>
                  <a:pt x="82684" y="97097"/>
                </a:lnTo>
                <a:lnTo>
                  <a:pt x="107711" y="74567"/>
                </a:lnTo>
                <a:lnTo>
                  <a:pt x="137637" y="61082"/>
                </a:lnTo>
                <a:lnTo>
                  <a:pt x="170011" y="56654"/>
                </a:lnTo>
                <a:lnTo>
                  <a:pt x="202378" y="61295"/>
                </a:lnTo>
                <a:lnTo>
                  <a:pt x="232284" y="75016"/>
                </a:lnTo>
                <a:lnTo>
                  <a:pt x="257276" y="97829"/>
                </a:lnTo>
                <a:lnTo>
                  <a:pt x="274900" y="129744"/>
                </a:lnTo>
                <a:lnTo>
                  <a:pt x="282701" y="170773"/>
                </a:lnTo>
                <a:lnTo>
                  <a:pt x="282701" y="298026"/>
                </a:lnTo>
                <a:lnTo>
                  <a:pt x="284760" y="296516"/>
                </a:lnTo>
                <a:lnTo>
                  <a:pt x="307435" y="270978"/>
                </a:lnTo>
                <a:lnTo>
                  <a:pt x="324783" y="239687"/>
                </a:lnTo>
                <a:lnTo>
                  <a:pt x="335699" y="202708"/>
                </a:lnTo>
                <a:lnTo>
                  <a:pt x="339077" y="160105"/>
                </a:lnTo>
                <a:close/>
              </a:path>
              <a:path w="339090" h="340359">
                <a:moveTo>
                  <a:pt x="282701" y="298026"/>
                </a:moveTo>
                <a:lnTo>
                  <a:pt x="282701" y="170773"/>
                </a:lnTo>
                <a:lnTo>
                  <a:pt x="274660" y="210722"/>
                </a:lnTo>
                <a:lnTo>
                  <a:pt x="257220" y="241961"/>
                </a:lnTo>
                <a:lnTo>
                  <a:pt x="232698" y="264466"/>
                </a:lnTo>
                <a:lnTo>
                  <a:pt x="203408" y="278212"/>
                </a:lnTo>
                <a:lnTo>
                  <a:pt x="171664" y="283173"/>
                </a:lnTo>
                <a:lnTo>
                  <a:pt x="139781" y="279326"/>
                </a:lnTo>
                <a:lnTo>
                  <a:pt x="110073" y="266644"/>
                </a:lnTo>
                <a:lnTo>
                  <a:pt x="84856" y="245103"/>
                </a:lnTo>
                <a:lnTo>
                  <a:pt x="66443" y="214679"/>
                </a:lnTo>
                <a:lnTo>
                  <a:pt x="57150" y="175345"/>
                </a:lnTo>
                <a:lnTo>
                  <a:pt x="57150" y="297439"/>
                </a:lnTo>
                <a:lnTo>
                  <a:pt x="69769" y="308741"/>
                </a:lnTo>
                <a:lnTo>
                  <a:pt x="98771" y="325293"/>
                </a:lnTo>
                <a:lnTo>
                  <a:pt x="130187" y="335637"/>
                </a:lnTo>
                <a:lnTo>
                  <a:pt x="162909" y="339839"/>
                </a:lnTo>
                <a:lnTo>
                  <a:pt x="195834" y="337963"/>
                </a:lnTo>
                <a:lnTo>
                  <a:pt x="227854" y="330074"/>
                </a:lnTo>
                <a:lnTo>
                  <a:pt x="257865" y="316236"/>
                </a:lnTo>
                <a:lnTo>
                  <a:pt x="282701" y="298026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2CB3851-1794-0A7B-B88C-B37987150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7836" y="138593"/>
            <a:ext cx="67392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5" dirty="0"/>
              <a:t>Synchronization</a:t>
            </a:r>
            <a:r>
              <a:rPr sz="4000" spc="-450" dirty="0"/>
              <a:t> </a:t>
            </a:r>
            <a:r>
              <a:rPr sz="4000" spc="-105" dirty="0"/>
              <a:t>and</a:t>
            </a:r>
            <a:r>
              <a:rPr sz="4000" spc="-585" dirty="0"/>
              <a:t> </a:t>
            </a:r>
            <a:r>
              <a:rPr sz="4000" spc="-185" dirty="0"/>
              <a:t>Cell</a:t>
            </a:r>
            <a:r>
              <a:rPr sz="4000" spc="-535" dirty="0"/>
              <a:t> </a:t>
            </a:r>
            <a:r>
              <a:rPr sz="4000" spc="-95" dirty="0"/>
              <a:t>Search</a:t>
            </a:r>
            <a:endParaRPr sz="4000"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9DA662F5-45DA-3724-6129-5ED46E6FC91E}"/>
              </a:ext>
            </a:extLst>
          </p:cNvPr>
          <p:cNvGrpSpPr/>
          <p:nvPr/>
        </p:nvGrpSpPr>
        <p:grpSpPr>
          <a:xfrm>
            <a:off x="788376" y="1196720"/>
            <a:ext cx="9144000" cy="857250"/>
            <a:chOff x="774839" y="1206246"/>
            <a:chExt cx="9144000" cy="85725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844A6DD-07BE-780A-8243-37B7B76B5D58}"/>
                </a:ext>
              </a:extLst>
            </p:cNvPr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4AB3D47-052D-7D18-4D8E-3CD8F0EB5CE1}"/>
                </a:ext>
              </a:extLst>
            </p:cNvPr>
            <p:cNvSpPr/>
            <p:nvPr/>
          </p:nvSpPr>
          <p:spPr>
            <a:xfrm>
              <a:off x="1275473" y="1491996"/>
              <a:ext cx="8276843" cy="571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AC15C586-07E4-7F3C-7772-6870B6D018F7}"/>
              </a:ext>
            </a:extLst>
          </p:cNvPr>
          <p:cNvSpPr txBox="1"/>
          <p:nvPr/>
        </p:nvSpPr>
        <p:spPr>
          <a:xfrm>
            <a:off x="1353451" y="1724659"/>
            <a:ext cx="393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Trebuchet MS"/>
                <a:cs typeface="Trebuchet MS"/>
              </a:rPr>
              <a:t>BSS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7411DBD-DF4B-CC2F-131A-ABA4B171F300}"/>
              </a:ext>
            </a:extLst>
          </p:cNvPr>
          <p:cNvSpPr/>
          <p:nvPr/>
        </p:nvSpPr>
        <p:spPr>
          <a:xfrm>
            <a:off x="1275473" y="2063495"/>
            <a:ext cx="8276843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61136FA-1254-469F-5E9A-1E0100782F69}"/>
              </a:ext>
            </a:extLst>
          </p:cNvPr>
          <p:cNvSpPr txBox="1"/>
          <p:nvPr/>
        </p:nvSpPr>
        <p:spPr>
          <a:xfrm>
            <a:off x="8712072" y="3439159"/>
            <a:ext cx="455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latin typeface="Trebuchet MS"/>
                <a:cs typeface="Trebuchet MS"/>
              </a:rPr>
              <a:t>IBSS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8EFEE9D-CC83-0AEA-6021-6DD3C89D449E}"/>
              </a:ext>
            </a:extLst>
          </p:cNvPr>
          <p:cNvSpPr/>
          <p:nvPr/>
        </p:nvSpPr>
        <p:spPr>
          <a:xfrm>
            <a:off x="1275473" y="3777996"/>
            <a:ext cx="8276843" cy="2426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06980E85-559B-330B-7367-769BA52B1C32}"/>
              </a:ext>
            </a:extLst>
          </p:cNvPr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DBCC7229-B7C6-6432-A1ED-3496522BBD61}"/>
                </a:ext>
              </a:extLst>
            </p:cNvPr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AF2AF6F-272D-6336-C4D6-189FAFF0C5B0}"/>
                </a:ext>
              </a:extLst>
            </p:cNvPr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FE6489B-0B60-72A0-EA35-78CE87E3BC4A}"/>
                </a:ext>
              </a:extLst>
            </p:cNvPr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F23B5E6-D4F8-3FC4-E70B-FE10F59DB6E9}"/>
                </a:ext>
              </a:extLst>
            </p:cNvPr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86B6083F-66FE-F68E-93C7-517759BB4547}"/>
                </a:ext>
              </a:extLst>
            </p:cNvPr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A1D6E5A-9B8F-5A7D-F238-F2BE5320A1C1}"/>
                </a:ext>
              </a:extLst>
            </p:cNvPr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ECD338E-E3A2-C187-56CA-A6521C209B62}"/>
                </a:ext>
              </a:extLst>
            </p:cNvPr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69ECEECA-9504-A281-FA85-725877C72C41}"/>
                </a:ext>
              </a:extLst>
            </p:cNvPr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ED7AD92-CC0C-E154-AC88-5502E10726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74</a:t>
            </a:fld>
            <a:endParaRPr lang="en-US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E315F60C-BDE9-5B61-26D6-81C64C36DC4A}"/>
              </a:ext>
            </a:extLst>
          </p:cNvPr>
          <p:cNvSpPr txBox="1">
            <a:spLocks/>
          </p:cNvSpPr>
          <p:nvPr/>
        </p:nvSpPr>
        <p:spPr>
          <a:xfrm>
            <a:off x="1289010" y="102577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9303982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1994" y="153512"/>
            <a:ext cx="7049897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951355" marR="5080" indent="-168148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Synchronization </a:t>
            </a:r>
            <a:r>
              <a:rPr spc="-95" dirty="0"/>
              <a:t>and</a:t>
            </a:r>
            <a:r>
              <a:rPr spc="-869" dirty="0"/>
              <a:t> </a:t>
            </a:r>
            <a:r>
              <a:rPr spc="-170" dirty="0"/>
              <a:t>Cell  </a:t>
            </a:r>
            <a:r>
              <a:rPr spc="-85" dirty="0"/>
              <a:t>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43531"/>
            <a:ext cx="7971155" cy="41649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75565" indent="-342900">
              <a:lnSpc>
                <a:spcPts val="3020"/>
              </a:lnSpc>
              <a:spcBef>
                <a:spcPts val="484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" dirty="0">
                <a:latin typeface="Trebuchet MS"/>
                <a:cs typeface="Trebuchet MS"/>
              </a:rPr>
              <a:t>In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BSS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IBSS,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synchronization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maintained  </a:t>
            </a:r>
            <a:r>
              <a:rPr sz="2800" spc="-45" dirty="0">
                <a:latin typeface="Trebuchet MS"/>
                <a:cs typeface="Trebuchet MS"/>
              </a:rPr>
              <a:t>by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broadcasting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TSF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timer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beacon.</a:t>
            </a:r>
            <a:endParaRPr sz="2800">
              <a:latin typeface="Trebuchet MS"/>
              <a:cs typeface="Trebuchet MS"/>
            </a:endParaRPr>
          </a:p>
          <a:p>
            <a:pPr marL="354965" marR="803275" indent="-342900">
              <a:lnSpc>
                <a:spcPts val="3020"/>
              </a:lnSpc>
              <a:spcBef>
                <a:spcPts val="68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5" dirty="0">
                <a:latin typeface="Trebuchet MS"/>
                <a:cs typeface="Trebuchet MS"/>
              </a:rPr>
              <a:t>In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(infrastructure)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BSS,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only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AP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generates  </a:t>
            </a:r>
            <a:r>
              <a:rPr sz="2800" spc="-70" dirty="0">
                <a:latin typeface="Trebuchet MS"/>
                <a:cs typeface="Trebuchet MS"/>
              </a:rPr>
              <a:t>beacons.</a:t>
            </a:r>
            <a:endParaRPr sz="2800">
              <a:latin typeface="Trebuchet MS"/>
              <a:cs typeface="Trebuchet MS"/>
            </a:endParaRPr>
          </a:p>
          <a:p>
            <a:pPr marL="354965" marR="5080" indent="-342900">
              <a:lnSpc>
                <a:spcPts val="3020"/>
              </a:lnSpc>
              <a:spcBef>
                <a:spcPts val="68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50" dirty="0">
                <a:latin typeface="Trebuchet MS"/>
                <a:cs typeface="Trebuchet MS"/>
              </a:rPr>
              <a:t>If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channel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has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been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idle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for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least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PIFS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before  </a:t>
            </a:r>
            <a:r>
              <a:rPr sz="2800" spc="-175" dirty="0">
                <a:latin typeface="Trebuchet MS"/>
                <a:cs typeface="Trebuchet MS"/>
              </a:rPr>
              <a:t>TBTT, </a:t>
            </a:r>
            <a:r>
              <a:rPr sz="2800" spc="-75" dirty="0">
                <a:latin typeface="Trebuchet MS"/>
                <a:cs typeface="Trebuchet MS"/>
              </a:rPr>
              <a:t>the </a:t>
            </a:r>
            <a:r>
              <a:rPr sz="2800" spc="30" dirty="0">
                <a:latin typeface="Trebuchet MS"/>
                <a:cs typeface="Trebuchet MS"/>
              </a:rPr>
              <a:t>AP </a:t>
            </a:r>
            <a:r>
              <a:rPr sz="2800" spc="-65" dirty="0">
                <a:latin typeface="Trebuchet MS"/>
                <a:cs typeface="Trebuchet MS"/>
              </a:rPr>
              <a:t>transmits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45" dirty="0">
                <a:latin typeface="Trebuchet MS"/>
                <a:cs typeface="Trebuchet MS"/>
              </a:rPr>
              <a:t>beacon </a:t>
            </a:r>
            <a:r>
              <a:rPr sz="2800" spc="-105" dirty="0">
                <a:latin typeface="Trebuchet MS"/>
                <a:cs typeface="Trebuchet MS"/>
              </a:rPr>
              <a:t>at </a:t>
            </a:r>
            <a:r>
              <a:rPr sz="2800" spc="-175" dirty="0">
                <a:latin typeface="Trebuchet MS"/>
                <a:cs typeface="Trebuchet MS"/>
              </a:rPr>
              <a:t>TBTT,  </a:t>
            </a:r>
            <a:r>
              <a:rPr sz="2800" spc="-50" dirty="0">
                <a:latin typeface="Trebuchet MS"/>
                <a:cs typeface="Trebuchet MS"/>
              </a:rPr>
              <a:t>otherwise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beacon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transmitted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PIFS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after</a:t>
            </a:r>
            <a:r>
              <a:rPr sz="2800" u="heavy" spc="-25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  </a:t>
            </a:r>
            <a:r>
              <a:rPr sz="2800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current</a:t>
            </a:r>
            <a:r>
              <a:rPr sz="2800" u="heavy" spc="-2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transmission</a:t>
            </a:r>
            <a:r>
              <a:rPr sz="2800" spc="-75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354965" marR="64135" indent="-342900">
              <a:lnSpc>
                <a:spcPts val="3020"/>
              </a:lnSpc>
              <a:spcBef>
                <a:spcPts val="69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0" dirty="0">
                <a:latin typeface="Trebuchet MS"/>
                <a:cs typeface="Trebuchet MS"/>
              </a:rPr>
              <a:t>All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stations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associated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AP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update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their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local  </a:t>
            </a:r>
            <a:r>
              <a:rPr sz="2800" spc="-114" dirty="0">
                <a:latin typeface="Trebuchet MS"/>
                <a:cs typeface="Trebuchet MS"/>
              </a:rPr>
              <a:t>timers.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367CFC8-B3BC-446C-9A89-FFED2CCEB6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75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1900124D-7771-ADF8-DC09-40F6FF95128B}"/>
              </a:ext>
            </a:extLst>
          </p:cNvPr>
          <p:cNvSpPr txBox="1">
            <a:spLocks/>
          </p:cNvSpPr>
          <p:nvPr/>
        </p:nvSpPr>
        <p:spPr>
          <a:xfrm>
            <a:off x="1319883" y="20407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9573" y="172087"/>
            <a:ext cx="7041527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951355" marR="5080" indent="-168148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Synchronization </a:t>
            </a:r>
            <a:r>
              <a:rPr spc="-95" dirty="0"/>
              <a:t>and</a:t>
            </a:r>
            <a:r>
              <a:rPr lang="en-US" spc="-95" dirty="0"/>
              <a:t> </a:t>
            </a:r>
            <a:r>
              <a:rPr spc="-869" dirty="0"/>
              <a:t> </a:t>
            </a:r>
            <a:r>
              <a:rPr spc="-170" dirty="0"/>
              <a:t>Cell  </a:t>
            </a:r>
            <a:r>
              <a:rPr spc="-85" dirty="0"/>
              <a:t>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8041005" cy="41224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6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10" dirty="0">
                <a:latin typeface="Trebuchet MS"/>
                <a:cs typeface="Trebuchet MS"/>
              </a:rPr>
              <a:t>In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IBSS,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TSF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distributed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over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all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stations.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They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all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take  </a:t>
            </a:r>
            <a:r>
              <a:rPr sz="2400" spc="-65" dirty="0">
                <a:latin typeface="Trebuchet MS"/>
                <a:cs typeface="Trebuchet MS"/>
              </a:rPr>
              <a:t>part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generation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beacons.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generation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  distributed </a:t>
            </a:r>
            <a:r>
              <a:rPr sz="2400" spc="-15" dirty="0">
                <a:latin typeface="Trebuchet MS"/>
                <a:cs typeface="Trebuchet MS"/>
              </a:rPr>
              <a:t>using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55" dirty="0">
                <a:latin typeface="Trebuchet MS"/>
                <a:cs typeface="Trebuchet MS"/>
              </a:rPr>
              <a:t>mechanism </a:t>
            </a:r>
            <a:r>
              <a:rPr sz="2400" spc="-95" dirty="0">
                <a:latin typeface="Trebuchet MS"/>
                <a:cs typeface="Trebuchet MS"/>
              </a:rPr>
              <a:t>similar </a:t>
            </a:r>
            <a:r>
              <a:rPr sz="2400" spc="-20" dirty="0">
                <a:latin typeface="Trebuchet MS"/>
                <a:cs typeface="Trebuchet MS"/>
              </a:rPr>
              <a:t>to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50" dirty="0">
                <a:latin typeface="Trebuchet MS"/>
                <a:cs typeface="Trebuchet MS"/>
              </a:rPr>
              <a:t>backoff  </a:t>
            </a:r>
            <a:r>
              <a:rPr sz="2400" spc="-75" dirty="0">
                <a:latin typeface="Trebuchet MS"/>
                <a:cs typeface="Trebuchet MS"/>
              </a:rPr>
              <a:t>mechanism.</a:t>
            </a:r>
            <a:endParaRPr sz="2400">
              <a:latin typeface="Trebuchet MS"/>
              <a:cs typeface="Trebuchet MS"/>
            </a:endParaRPr>
          </a:p>
          <a:p>
            <a:pPr marL="354965" marR="308610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35" dirty="0">
                <a:latin typeface="Trebuchet MS"/>
                <a:cs typeface="Trebuchet MS"/>
              </a:rPr>
              <a:t>Stations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stop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attempting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when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they  </a:t>
            </a:r>
            <a:r>
              <a:rPr sz="2400" spc="-95" dirty="0">
                <a:latin typeface="Trebuchet MS"/>
                <a:cs typeface="Trebuchet MS"/>
              </a:rPr>
              <a:t>receive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45" dirty="0">
                <a:latin typeface="Trebuchet MS"/>
                <a:cs typeface="Trebuchet MS"/>
              </a:rPr>
              <a:t>beacon </a:t>
            </a:r>
            <a:r>
              <a:rPr sz="2400" spc="-40" dirty="0">
                <a:latin typeface="Trebuchet MS"/>
                <a:cs typeface="Trebuchet MS"/>
              </a:rPr>
              <a:t>from </a:t>
            </a:r>
            <a:r>
              <a:rPr sz="2400" spc="-45" dirty="0">
                <a:latin typeface="Trebuchet MS"/>
                <a:cs typeface="Trebuchet MS"/>
              </a:rPr>
              <a:t>another </a:t>
            </a:r>
            <a:r>
              <a:rPr sz="2400" spc="-55" dirty="0">
                <a:latin typeface="Trebuchet MS"/>
                <a:cs typeface="Trebuchet MS"/>
              </a:rPr>
              <a:t>station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20" dirty="0">
                <a:latin typeface="Trebuchet MS"/>
                <a:cs typeface="Trebuchet MS"/>
              </a:rPr>
              <a:t>IBSS.  </a:t>
            </a:r>
            <a:r>
              <a:rPr sz="2400" spc="-55" dirty="0">
                <a:latin typeface="Trebuchet MS"/>
                <a:cs typeface="Trebuchet MS"/>
              </a:rPr>
              <a:t>However,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beacons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contention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collide.  </a:t>
            </a:r>
            <a:r>
              <a:rPr sz="2400" spc="-90" dirty="0">
                <a:latin typeface="Trebuchet MS"/>
                <a:cs typeface="Trebuchet MS"/>
              </a:rPr>
              <a:t>Collided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retransmitted.</a:t>
            </a:r>
            <a:endParaRPr sz="2400">
              <a:latin typeface="Trebuchet MS"/>
              <a:cs typeface="Trebuchet MS"/>
            </a:endParaRPr>
          </a:p>
          <a:p>
            <a:pPr marL="354965" marR="286385" indent="-342900">
              <a:lnSpc>
                <a:spcPct val="80000"/>
              </a:lnSpc>
              <a:spcBef>
                <a:spcPts val="61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Station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updates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its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local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timer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only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if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received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value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in 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earlier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then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its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current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value.</a:t>
            </a:r>
            <a:endParaRPr sz="2400">
              <a:latin typeface="Trebuchet MS"/>
              <a:cs typeface="Trebuchet MS"/>
            </a:endParaRPr>
          </a:p>
          <a:p>
            <a:pPr marL="354965" marR="130175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80" dirty="0">
                <a:latin typeface="Trebuchet MS"/>
                <a:cs typeface="Trebuchet MS"/>
              </a:rPr>
              <a:t>This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distributed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synchronization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function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results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fact  </a:t>
            </a:r>
            <a:r>
              <a:rPr sz="2400" spc="-70" dirty="0">
                <a:latin typeface="Trebuchet MS"/>
                <a:cs typeface="Trebuchet MS"/>
              </a:rPr>
              <a:t>that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65" dirty="0">
                <a:latin typeface="Trebuchet MS"/>
                <a:cs typeface="Trebuchet MS"/>
              </a:rPr>
              <a:t>complete </a:t>
            </a:r>
            <a:r>
              <a:rPr sz="2400" spc="45" dirty="0">
                <a:latin typeface="Trebuchet MS"/>
                <a:cs typeface="Trebuchet MS"/>
              </a:rPr>
              <a:t>IBSS </a:t>
            </a:r>
            <a:r>
              <a:rPr sz="2400" spc="-110" dirty="0">
                <a:latin typeface="Trebuchet MS"/>
                <a:cs typeface="Trebuchet MS"/>
              </a:rPr>
              <a:t>will </a:t>
            </a:r>
            <a:r>
              <a:rPr sz="2400" u="heavy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synchronize 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 </a:t>
            </a:r>
            <a:r>
              <a:rPr sz="2400" u="heavy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fastest  </a:t>
            </a:r>
            <a:r>
              <a:rPr sz="2400" u="heavy" spc="-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running</a:t>
            </a:r>
            <a:r>
              <a:rPr sz="2400" u="heavy" spc="-2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clock</a:t>
            </a:r>
            <a:r>
              <a:rPr sz="2400" spc="-1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A060AF1-DB1F-416A-AFC4-0411E67245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76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7D232074-16D9-5365-1C09-BD968995FF64}"/>
              </a:ext>
            </a:extLst>
          </p:cNvPr>
          <p:cNvSpPr txBox="1">
            <a:spLocks/>
          </p:cNvSpPr>
          <p:nvPr/>
        </p:nvSpPr>
        <p:spPr>
          <a:xfrm>
            <a:off x="1320113" y="15332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0480" y="74442"/>
            <a:ext cx="78176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0" marR="5080" indent="-1866900">
              <a:lnSpc>
                <a:spcPct val="100000"/>
              </a:lnSpc>
              <a:spcBef>
                <a:spcPts val="100"/>
              </a:spcBef>
            </a:pPr>
            <a:r>
              <a:rPr sz="4000" spc="-95" dirty="0"/>
              <a:t>Synchronization </a:t>
            </a:r>
            <a:r>
              <a:rPr sz="4000" spc="-105" dirty="0"/>
              <a:t>and</a:t>
            </a:r>
            <a:r>
              <a:rPr sz="4000" spc="-965" dirty="0"/>
              <a:t> </a:t>
            </a:r>
            <a:r>
              <a:rPr sz="4000" spc="-190" dirty="0"/>
              <a:t>Cell  </a:t>
            </a:r>
            <a:r>
              <a:rPr sz="4000" spc="-95" dirty="0"/>
              <a:t>Search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271566" y="1636585"/>
            <a:ext cx="75742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latin typeface="Trebuchet MS"/>
                <a:cs typeface="Trebuchet MS"/>
              </a:rPr>
              <a:t>The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beacon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delivers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other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parameters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related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to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the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protocol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53667" y="1940142"/>
            <a:ext cx="463740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00"/>
              </a:lnSpc>
              <a:spcBef>
                <a:spcPts val="100"/>
              </a:spcBef>
            </a:pPr>
            <a:r>
              <a:rPr sz="2200" spc="-35" dirty="0">
                <a:latin typeface="Trebuchet MS"/>
                <a:cs typeface="Trebuchet MS"/>
              </a:rPr>
              <a:t>and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radio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regulations: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for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example</a:t>
            </a:r>
            <a:endParaRPr sz="2200" dirty="0">
              <a:latin typeface="Trebuchet MS"/>
              <a:cs typeface="Trebuchet MS"/>
            </a:endParaRPr>
          </a:p>
          <a:p>
            <a:pPr marL="412750" indent="-285750">
              <a:lnSpc>
                <a:spcPts val="192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412115" algn="l"/>
                <a:tab pos="412750" algn="l"/>
              </a:tabLst>
            </a:pP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Basic</a:t>
            </a:r>
            <a:r>
              <a:rPr sz="20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FF0000"/>
                </a:solidFill>
                <a:latin typeface="Trebuchet MS"/>
                <a:cs typeface="Trebuchet MS"/>
              </a:rPr>
              <a:t>Service</a:t>
            </a:r>
            <a:r>
              <a:rPr sz="2000" spc="-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FF0000"/>
                </a:solidFill>
                <a:latin typeface="Trebuchet MS"/>
                <a:cs typeface="Trebuchet MS"/>
              </a:rPr>
              <a:t>Set</a:t>
            </a:r>
            <a:r>
              <a:rPr sz="20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Identification</a:t>
            </a:r>
            <a:r>
              <a:rPr sz="20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(BSSID),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12750" indent="-285750">
              <a:lnSpc>
                <a:spcPts val="192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412115" algn="l"/>
                <a:tab pos="412750" algn="l"/>
              </a:tabLst>
            </a:pPr>
            <a:r>
              <a:rPr sz="2000" spc="-30" dirty="0">
                <a:solidFill>
                  <a:srgbClr val="FF0000"/>
                </a:solidFill>
                <a:latin typeface="Trebuchet MS"/>
                <a:cs typeface="Trebuchet MS"/>
              </a:rPr>
              <a:t>Beacon 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Interval</a:t>
            </a:r>
            <a:r>
              <a:rPr sz="2000" spc="-2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(BI),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12750" indent="-285750">
              <a:lnSpc>
                <a:spcPts val="216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412115" algn="l"/>
                <a:tab pos="412750" algn="l"/>
              </a:tabLst>
            </a:pPr>
            <a:r>
              <a:rPr sz="2000" spc="-20" dirty="0">
                <a:solidFill>
                  <a:srgbClr val="FF0000"/>
                </a:solidFill>
                <a:latin typeface="Trebuchet MS"/>
                <a:cs typeface="Trebuchet MS"/>
              </a:rPr>
              <a:t>PHY </a:t>
            </a:r>
            <a:r>
              <a:rPr sz="2000" spc="-35" dirty="0">
                <a:solidFill>
                  <a:srgbClr val="FF0000"/>
                </a:solidFill>
                <a:latin typeface="Trebuchet MS"/>
                <a:cs typeface="Trebuchet MS"/>
              </a:rPr>
              <a:t>depending</a:t>
            </a:r>
            <a:r>
              <a:rPr sz="2000" spc="-3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FF0000"/>
                </a:solidFill>
                <a:latin typeface="Trebuchet MS"/>
                <a:cs typeface="Trebuchet MS"/>
              </a:rPr>
              <a:t>parameters,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7967" y="2987294"/>
            <a:ext cx="244856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ts val="2160"/>
              </a:lnSpc>
              <a:spcBef>
                <a:spcPts val="9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297815" algn="l"/>
                <a:tab pos="298450" algn="l"/>
              </a:tabLst>
            </a:pP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duration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2000" spc="-4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2000" spc="-110" dirty="0">
                <a:solidFill>
                  <a:srgbClr val="FF0000"/>
                </a:solidFill>
                <a:latin typeface="Trebuchet MS"/>
                <a:cs typeface="Trebuchet MS"/>
              </a:rPr>
              <a:t>CFP,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98450" indent="-285750">
              <a:lnSpc>
                <a:spcPts val="192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297815" algn="l"/>
                <a:tab pos="298450" algn="l"/>
              </a:tabLst>
            </a:pPr>
            <a:r>
              <a:rPr sz="2000" spc="-80" dirty="0">
                <a:solidFill>
                  <a:srgbClr val="FF0000"/>
                </a:solidFill>
                <a:latin typeface="Trebuchet MS"/>
                <a:cs typeface="Trebuchet MS"/>
              </a:rPr>
              <a:t>available</a:t>
            </a:r>
            <a:r>
              <a:rPr sz="2000" spc="-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FF0000"/>
                </a:solidFill>
                <a:latin typeface="Trebuchet MS"/>
                <a:cs typeface="Trebuchet MS"/>
              </a:rPr>
              <a:t>channels,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98450" indent="-285750">
              <a:lnSpc>
                <a:spcPts val="2160"/>
              </a:lnSpc>
              <a:buClr>
                <a:srgbClr val="F0A73C"/>
              </a:buClr>
              <a:buSzPct val="90000"/>
              <a:buFont typeface="Liberation Sans"/>
              <a:buChar char="◗"/>
              <a:tabLst>
                <a:tab pos="297815" algn="l"/>
                <a:tab pos="298450" algn="l"/>
              </a:tabLst>
            </a:pPr>
            <a:r>
              <a:rPr sz="2000" spc="-15" dirty="0">
                <a:solidFill>
                  <a:srgbClr val="FF0000"/>
                </a:solidFill>
                <a:latin typeface="Trebuchet MS"/>
                <a:cs typeface="Trebuchet MS"/>
              </a:rPr>
              <a:t>power </a:t>
            </a:r>
            <a:r>
              <a:rPr sz="2000" spc="-105" dirty="0">
                <a:solidFill>
                  <a:srgbClr val="FF0000"/>
                </a:solidFill>
                <a:latin typeface="Trebuchet MS"/>
                <a:cs typeface="Trebuchet MS"/>
              </a:rPr>
              <a:t>limits,</a:t>
            </a:r>
            <a:r>
              <a:rPr sz="2000" spc="-3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FF0000"/>
                </a:solidFill>
                <a:latin typeface="Trebuchet MS"/>
                <a:cs typeface="Trebuchet MS"/>
              </a:rPr>
              <a:t>etc.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377800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10779" y="3712717"/>
            <a:ext cx="8100568" cy="196759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354965" marR="862330" indent="-342900">
              <a:lnSpc>
                <a:spcPct val="60000"/>
              </a:lnSpc>
              <a:spcBef>
                <a:spcPts val="115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20" dirty="0">
                <a:latin typeface="Trebuchet MS"/>
                <a:cs typeface="Trebuchet MS"/>
              </a:rPr>
              <a:t>Depending</a:t>
            </a:r>
            <a:r>
              <a:rPr sz="2200" spc="-225" dirty="0">
                <a:latin typeface="Trebuchet MS"/>
                <a:cs typeface="Trebuchet MS"/>
              </a:rPr>
              <a:t> </a:t>
            </a:r>
            <a:r>
              <a:rPr sz="2200" spc="15" dirty="0">
                <a:latin typeface="Trebuchet MS"/>
                <a:cs typeface="Trebuchet MS"/>
              </a:rPr>
              <a:t>on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the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type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of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BSS,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15" dirty="0">
                <a:latin typeface="Trebuchet MS"/>
                <a:cs typeface="Trebuchet MS"/>
              </a:rPr>
              <a:t>not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all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information</a:t>
            </a:r>
            <a:r>
              <a:rPr sz="2200" spc="-22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may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be  </a:t>
            </a:r>
            <a:r>
              <a:rPr sz="2200" spc="-55" dirty="0">
                <a:latin typeface="Trebuchet MS"/>
                <a:cs typeface="Trebuchet MS"/>
              </a:rPr>
              <a:t>contained </a:t>
            </a:r>
            <a:r>
              <a:rPr sz="2200" spc="-80" dirty="0">
                <a:latin typeface="Trebuchet MS"/>
                <a:cs typeface="Trebuchet MS"/>
              </a:rPr>
              <a:t>in </a:t>
            </a:r>
            <a:r>
              <a:rPr sz="2200" spc="-55" dirty="0">
                <a:latin typeface="Trebuchet MS"/>
                <a:cs typeface="Trebuchet MS"/>
              </a:rPr>
              <a:t>the</a:t>
            </a:r>
            <a:r>
              <a:rPr sz="2200" spc="-49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beacon.</a:t>
            </a:r>
            <a:endParaRPr sz="2200" dirty="0">
              <a:latin typeface="Trebuchet MS"/>
              <a:cs typeface="Trebuchet MS"/>
            </a:endParaRPr>
          </a:p>
          <a:p>
            <a:pPr marL="354965" marR="135890" indent="-342900">
              <a:lnSpc>
                <a:spcPct val="60000"/>
              </a:lnSpc>
              <a:spcBef>
                <a:spcPts val="53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0" dirty="0">
                <a:latin typeface="Trebuchet MS"/>
                <a:cs typeface="Trebuchet MS"/>
              </a:rPr>
              <a:t>In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infrastructure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BSS,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2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20" dirty="0">
                <a:solidFill>
                  <a:srgbClr val="FF0000"/>
                </a:solidFill>
                <a:latin typeface="Trebuchet MS"/>
                <a:cs typeface="Trebuchet MS"/>
              </a:rPr>
              <a:t>AP</a:t>
            </a:r>
            <a:r>
              <a:rPr sz="22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uses</a:t>
            </a:r>
            <a:r>
              <a:rPr sz="22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2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rgbClr val="FF0000"/>
                </a:solidFill>
                <a:latin typeface="Trebuchet MS"/>
                <a:cs typeface="Trebuchet MS"/>
              </a:rPr>
              <a:t>beacon</a:t>
            </a:r>
            <a:r>
              <a:rPr sz="22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rgbClr val="FF0000"/>
                </a:solidFill>
                <a:latin typeface="Trebuchet MS"/>
                <a:cs typeface="Trebuchet MS"/>
              </a:rPr>
              <a:t>for</a:t>
            </a:r>
            <a:r>
              <a:rPr sz="22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instructions</a:t>
            </a:r>
            <a:r>
              <a:rPr sz="22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rebuchet MS"/>
                <a:cs typeface="Trebuchet MS"/>
              </a:rPr>
              <a:t>to  </a:t>
            </a:r>
            <a:r>
              <a:rPr sz="2200" spc="-70" dirty="0">
                <a:solidFill>
                  <a:srgbClr val="FF0000"/>
                </a:solidFill>
                <a:latin typeface="Trebuchet MS"/>
                <a:cs typeface="Trebuchet MS"/>
              </a:rPr>
              <a:t>its </a:t>
            </a:r>
            <a:r>
              <a:rPr sz="2200" spc="-50" dirty="0">
                <a:solidFill>
                  <a:srgbClr val="FF0000"/>
                </a:solidFill>
                <a:latin typeface="Trebuchet MS"/>
                <a:cs typeface="Trebuchet MS"/>
              </a:rPr>
              <a:t>associated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stations </a:t>
            </a:r>
            <a:r>
              <a:rPr sz="2200" spc="-35" dirty="0">
                <a:solidFill>
                  <a:srgbClr val="FF0000"/>
                </a:solidFill>
                <a:latin typeface="Trebuchet MS"/>
                <a:cs typeface="Trebuchet MS"/>
              </a:rPr>
              <a:t>and announcements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of </a:t>
            </a:r>
            <a:r>
              <a:rPr sz="2200" spc="-60" dirty="0">
                <a:solidFill>
                  <a:srgbClr val="FF0000"/>
                </a:solidFill>
                <a:latin typeface="Trebuchet MS"/>
                <a:cs typeface="Trebuchet MS"/>
              </a:rPr>
              <a:t>future 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transmissions.</a:t>
            </a:r>
            <a:endParaRPr sz="22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5600" marR="161290" indent="-343535">
              <a:lnSpc>
                <a:spcPct val="60000"/>
              </a:lnSpc>
              <a:spcBef>
                <a:spcPts val="52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Knowledge</a:t>
            </a:r>
            <a:r>
              <a:rPr sz="22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Trebuchet MS"/>
                <a:cs typeface="Trebuchet MS"/>
              </a:rPr>
              <a:t>about</a:t>
            </a:r>
            <a:r>
              <a:rPr sz="22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10" dirty="0">
                <a:solidFill>
                  <a:srgbClr val="FF0000"/>
                </a:solidFill>
                <a:latin typeface="Trebuchet MS"/>
                <a:cs typeface="Trebuchet MS"/>
              </a:rPr>
              <a:t>TBTT</a:t>
            </a:r>
            <a:r>
              <a:rPr sz="22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allows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rebuchet MS"/>
                <a:cs typeface="Trebuchet MS"/>
              </a:rPr>
              <a:t>associated</a:t>
            </a:r>
            <a:r>
              <a:rPr sz="22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stations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2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Trebuchet MS"/>
                <a:cs typeface="Trebuchet MS"/>
              </a:rPr>
              <a:t>operate</a:t>
            </a:r>
            <a:r>
              <a:rPr sz="22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80" dirty="0">
                <a:solidFill>
                  <a:srgbClr val="FF0000"/>
                </a:solidFill>
                <a:latin typeface="Trebuchet MS"/>
                <a:cs typeface="Trebuchet MS"/>
              </a:rPr>
              <a:t>in 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power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save</a:t>
            </a:r>
            <a:r>
              <a:rPr sz="2200" spc="-3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rgbClr val="FF0000"/>
                </a:solidFill>
                <a:latin typeface="Trebuchet MS"/>
                <a:cs typeface="Trebuchet MS"/>
              </a:rPr>
              <a:t>mode.</a:t>
            </a:r>
            <a:endParaRPr sz="22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4965" indent="-342900">
              <a:lnSpc>
                <a:spcPts val="2110"/>
              </a:lnSpc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14" dirty="0">
                <a:latin typeface="Trebuchet MS"/>
                <a:cs typeface="Trebuchet MS"/>
              </a:rPr>
              <a:t>Traffic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indication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messages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conveyed</a:t>
            </a:r>
            <a:r>
              <a:rPr sz="2200" spc="-21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together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with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each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beacon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8615" y="5926265"/>
            <a:ext cx="8100568" cy="56842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0000"/>
              </a:lnSpc>
              <a:spcBef>
                <a:spcPts val="1155"/>
              </a:spcBef>
            </a:pPr>
            <a:r>
              <a:rPr sz="2200" spc="-50" dirty="0">
                <a:latin typeface="Trebuchet MS"/>
                <a:cs typeface="Trebuchet MS"/>
              </a:rPr>
              <a:t>inform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particular</a:t>
            </a:r>
            <a:r>
              <a:rPr sz="2200" spc="-22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stations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an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buffered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110" dirty="0">
                <a:latin typeface="Trebuchet MS"/>
                <a:cs typeface="Trebuchet MS"/>
              </a:rPr>
              <a:t>MSDUs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and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an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upcoming  </a:t>
            </a:r>
            <a:r>
              <a:rPr sz="2200" spc="-90" dirty="0">
                <a:latin typeface="Trebuchet MS"/>
                <a:cs typeface="Trebuchet MS"/>
              </a:rPr>
              <a:t>multicast/broadcast</a:t>
            </a:r>
            <a:r>
              <a:rPr sz="2200" spc="-22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messages.</a:t>
            </a:r>
            <a:endParaRPr sz="2200" dirty="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1" name="object 11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4D76E98-071E-4D27-A8CC-7420DE0004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77</a:t>
            </a:fld>
            <a:endParaRPr lang="en-US"/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896574CB-C21D-4852-0336-B23E0189D1DA}"/>
              </a:ext>
            </a:extLst>
          </p:cNvPr>
          <p:cNvSpPr txBox="1">
            <a:spLocks/>
          </p:cNvSpPr>
          <p:nvPr/>
        </p:nvSpPr>
        <p:spPr>
          <a:xfrm>
            <a:off x="1271566" y="5419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5318" y="184582"/>
            <a:ext cx="731508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3140" marR="5080" indent="-225107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Scanning</a:t>
            </a:r>
            <a:r>
              <a:rPr spc="-370" dirty="0"/>
              <a:t> </a:t>
            </a:r>
            <a:r>
              <a:rPr spc="-114" dirty="0"/>
              <a:t>Procedures</a:t>
            </a:r>
            <a:r>
              <a:rPr spc="-375" dirty="0"/>
              <a:t> </a:t>
            </a:r>
            <a:r>
              <a:rPr spc="-135" dirty="0"/>
              <a:t>in</a:t>
            </a:r>
            <a:r>
              <a:rPr spc="-575" dirty="0"/>
              <a:t> </a:t>
            </a:r>
            <a:r>
              <a:rPr spc="125" dirty="0"/>
              <a:t>WLAN  </a:t>
            </a:r>
            <a:r>
              <a:rPr spc="-190" dirty="0"/>
              <a:t>802.11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11487"/>
            <a:ext cx="7789545" cy="44121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35" dirty="0">
                <a:latin typeface="Trebuchet MS"/>
                <a:cs typeface="Trebuchet MS"/>
              </a:rPr>
              <a:t>IEEE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802.11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defines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5" dirty="0">
                <a:latin typeface="Trebuchet MS"/>
                <a:cs typeface="Trebuchet MS"/>
              </a:rPr>
              <a:t>two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scanning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modes:</a:t>
            </a:r>
            <a:endParaRPr sz="2400" dirty="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6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40" dirty="0">
                <a:latin typeface="Trebuchet MS"/>
                <a:cs typeface="Trebuchet MS"/>
              </a:rPr>
              <a:t>Passive</a:t>
            </a:r>
            <a:endParaRPr sz="2000" dirty="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4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0" dirty="0">
                <a:latin typeface="Trebuchet MS"/>
                <a:cs typeface="Trebuchet MS"/>
              </a:rPr>
              <a:t>Active</a:t>
            </a:r>
            <a:endParaRPr sz="2000" dirty="0">
              <a:latin typeface="Trebuchet MS"/>
              <a:cs typeface="Trebuchet MS"/>
            </a:endParaRPr>
          </a:p>
          <a:p>
            <a:pPr marL="354965" marR="288290" indent="-342900">
              <a:lnSpc>
                <a:spcPts val="2590"/>
              </a:lnSpc>
              <a:spcBef>
                <a:spcPts val="59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decision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15" dirty="0">
                <a:latin typeface="Trebuchet MS"/>
                <a:cs typeface="Trebuchet MS"/>
              </a:rPr>
              <a:t>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which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scanning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mode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applied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  </a:t>
            </a:r>
            <a:r>
              <a:rPr sz="2400" spc="-65" dirty="0">
                <a:latin typeface="Trebuchet MS"/>
                <a:cs typeface="Trebuchet MS"/>
              </a:rPr>
              <a:t>taken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by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b="1" spc="-75" dirty="0">
                <a:latin typeface="Trebuchet MS"/>
                <a:cs typeface="Trebuchet MS"/>
              </a:rPr>
              <a:t>Station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b="1" spc="-45" dirty="0">
                <a:latin typeface="Trebuchet MS"/>
                <a:cs typeface="Trebuchet MS"/>
              </a:rPr>
              <a:t>Management</a:t>
            </a:r>
            <a:r>
              <a:rPr sz="2400" b="1" spc="-200" dirty="0">
                <a:latin typeface="Trebuchet MS"/>
                <a:cs typeface="Trebuchet MS"/>
              </a:rPr>
              <a:t> </a:t>
            </a:r>
            <a:r>
              <a:rPr sz="2400" b="1" spc="-105" dirty="0">
                <a:latin typeface="Trebuchet MS"/>
                <a:cs typeface="Trebuchet MS"/>
              </a:rPr>
              <a:t>Entity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b="1" spc="-30" dirty="0">
                <a:latin typeface="Trebuchet MS"/>
                <a:cs typeface="Trebuchet MS"/>
              </a:rPr>
              <a:t>(SME).</a:t>
            </a:r>
            <a:endParaRPr sz="24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SME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layer‐independent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entity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that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viewed 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residing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separate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management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plane.</a:t>
            </a:r>
            <a:endParaRPr sz="2400" dirty="0">
              <a:latin typeface="Trebuchet MS"/>
              <a:cs typeface="Trebuchet MS"/>
            </a:endParaRPr>
          </a:p>
          <a:p>
            <a:pPr marL="354965" marR="330200" indent="-342900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510540" algn="l"/>
                <a:tab pos="511175" algn="l"/>
                <a:tab pos="6571615" algn="l"/>
                <a:tab pos="6810375" algn="l"/>
              </a:tabLst>
            </a:pPr>
            <a:r>
              <a:rPr lang="en-US" sz="2400" spc="-45" dirty="0">
                <a:latin typeface="Trebuchet MS"/>
                <a:cs typeface="Trebuchet MS"/>
              </a:rPr>
              <a:t>T</a:t>
            </a:r>
            <a:r>
              <a:rPr sz="2400" spc="-45" dirty="0">
                <a:latin typeface="Trebuchet MS"/>
                <a:cs typeface="Trebuchet MS"/>
              </a:rPr>
              <a:t>he </a:t>
            </a:r>
            <a:r>
              <a:rPr sz="2400" spc="-75" dirty="0">
                <a:latin typeface="Trebuchet MS"/>
                <a:cs typeface="Trebuchet MS"/>
              </a:rPr>
              <a:t>exact </a:t>
            </a:r>
            <a:r>
              <a:rPr sz="2400" spc="-45" dirty="0">
                <a:latin typeface="Trebuchet MS"/>
                <a:cs typeface="Trebuchet MS"/>
              </a:rPr>
              <a:t>functions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120" dirty="0">
                <a:latin typeface="Trebuchet MS"/>
                <a:cs typeface="Trebuchet MS"/>
              </a:rPr>
              <a:t>SME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u="heavy" spc="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lang="en-US" sz="2400" u="heavy" spc="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ot</a:t>
            </a:r>
            <a:r>
              <a:rPr sz="2400" u="heavy" spc="-2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specifie</a:t>
            </a:r>
            <a:r>
              <a:rPr lang="en-US" sz="2400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 in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70" dirty="0">
                <a:latin typeface="Trebuchet MS"/>
                <a:cs typeface="Trebuchet MS"/>
              </a:rPr>
              <a:t>standard.</a:t>
            </a:r>
            <a:endParaRPr sz="2400" dirty="0">
              <a:latin typeface="Trebuchet MS"/>
              <a:cs typeface="Trebuchet MS"/>
            </a:endParaRPr>
          </a:p>
          <a:p>
            <a:pPr marL="354965" marR="733425" indent="-342900" algn="just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SME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executes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actions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related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general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system  </a:t>
            </a:r>
            <a:r>
              <a:rPr sz="2400" spc="-65" dirty="0">
                <a:latin typeface="Trebuchet MS"/>
                <a:cs typeface="Trebuchet MS"/>
              </a:rPr>
              <a:t>management.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It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directs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150" dirty="0">
                <a:latin typeface="Trebuchet MS"/>
                <a:cs typeface="Trebuchet MS"/>
              </a:rPr>
              <a:t>MLME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perform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either  </a:t>
            </a:r>
            <a:r>
              <a:rPr sz="2400" spc="-40" dirty="0">
                <a:latin typeface="Trebuchet MS"/>
                <a:cs typeface="Trebuchet MS"/>
              </a:rPr>
              <a:t>passive </a:t>
            </a:r>
            <a:r>
              <a:rPr sz="2400" spc="-20" dirty="0">
                <a:latin typeface="Trebuchet MS"/>
                <a:cs typeface="Trebuchet MS"/>
              </a:rPr>
              <a:t>or </a:t>
            </a:r>
            <a:r>
              <a:rPr sz="2400" spc="-90" dirty="0">
                <a:latin typeface="Trebuchet MS"/>
                <a:cs typeface="Trebuchet MS"/>
              </a:rPr>
              <a:t>active</a:t>
            </a:r>
            <a:r>
              <a:rPr sz="2400" spc="-56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scanning.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4D0D888-3276-47D6-80F5-52CF2599F8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78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3645CD05-1736-9355-EB30-3A46B23F14A9}"/>
              </a:ext>
            </a:extLst>
          </p:cNvPr>
          <p:cNvSpPr txBox="1">
            <a:spLocks/>
          </p:cNvSpPr>
          <p:nvPr/>
        </p:nvSpPr>
        <p:spPr>
          <a:xfrm>
            <a:off x="1341901" y="12001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331A1CBE-7707-EB58-DE1D-314D5B54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883901" y="6400800"/>
            <a:ext cx="901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79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F18B3508-6E39-7B70-3C3B-911B77879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6700" y="200025"/>
            <a:ext cx="7481679" cy="1107996"/>
          </a:xfrm>
        </p:spPr>
        <p:txBody>
          <a:bodyPr/>
          <a:lstStyle/>
          <a:p>
            <a:pPr algn="ctr"/>
            <a:r>
              <a:rPr lang="en-US" spc="-55" dirty="0"/>
              <a:t>Scanning</a:t>
            </a:r>
            <a:r>
              <a:rPr lang="en-US" spc="-370" dirty="0"/>
              <a:t> </a:t>
            </a:r>
            <a:r>
              <a:rPr lang="en-US" spc="-114" dirty="0"/>
              <a:t>Procedures</a:t>
            </a:r>
            <a:r>
              <a:rPr lang="en-US" spc="-375" dirty="0"/>
              <a:t> </a:t>
            </a:r>
            <a:r>
              <a:rPr lang="en-US" spc="-135" dirty="0"/>
              <a:t>in</a:t>
            </a:r>
            <a:r>
              <a:rPr lang="en-US" spc="-575" dirty="0"/>
              <a:t> </a:t>
            </a:r>
            <a:r>
              <a:rPr lang="en-US" spc="125" dirty="0"/>
              <a:t>WLAN  </a:t>
            </a:r>
            <a:r>
              <a:rPr lang="en-US" spc="-190" dirty="0"/>
              <a:t>802.11</a:t>
            </a:r>
            <a:endParaRPr lang="en-US" altLang="en-US" dirty="0"/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9239E09-BA47-A94A-7C10-75AFCF68A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1621" y="2404872"/>
            <a:ext cx="7095761" cy="26236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7" dirty="0"/>
              <a:t>host must </a:t>
            </a:r>
            <a:r>
              <a:rPr lang="en-US" altLang="en-US" sz="2807" i="1" dirty="0">
                <a:solidFill>
                  <a:srgbClr val="FF0000"/>
                </a:solidFill>
              </a:rPr>
              <a:t>associate</a:t>
            </a:r>
            <a:r>
              <a:rPr lang="en-US" altLang="en-US" sz="2807" dirty="0"/>
              <a:t> with an AP</a:t>
            </a:r>
          </a:p>
          <a:p>
            <a:pPr marL="8001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56" dirty="0"/>
              <a:t>scans channels, listening for </a:t>
            </a:r>
            <a:r>
              <a:rPr lang="en-US" altLang="en-US" sz="2456" i="1" dirty="0"/>
              <a:t>beacon frames</a:t>
            </a:r>
            <a:r>
              <a:rPr lang="en-US" altLang="en-US" sz="2456" dirty="0"/>
              <a:t> containing AP’s name (SSID) and MAC address</a:t>
            </a:r>
          </a:p>
          <a:p>
            <a:pPr marL="8001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56" dirty="0"/>
              <a:t>selects AP to associate with</a:t>
            </a:r>
          </a:p>
          <a:p>
            <a:pPr marL="8001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56" dirty="0"/>
              <a:t>may perform authentication </a:t>
            </a:r>
          </a:p>
          <a:p>
            <a:pPr marL="8001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56" dirty="0"/>
              <a:t>will typically run DHCP to get IP address in AP’s subnet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69DB5D6-D04F-AF1C-67B4-5AA21377F395}"/>
              </a:ext>
            </a:extLst>
          </p:cNvPr>
          <p:cNvSpPr txBox="1">
            <a:spLocks/>
          </p:cNvSpPr>
          <p:nvPr/>
        </p:nvSpPr>
        <p:spPr>
          <a:xfrm>
            <a:off x="1308100" y="19908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E763499B-E560-6A1A-F539-6BE9FD90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883901" y="6400800"/>
            <a:ext cx="901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80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ABB4F21-55B2-511C-E3F3-2EBAC2226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8464" y="170196"/>
            <a:ext cx="7115010" cy="553998"/>
          </a:xfrm>
        </p:spPr>
        <p:txBody>
          <a:bodyPr/>
          <a:lstStyle/>
          <a:p>
            <a:r>
              <a:rPr lang="en-US" altLang="en-US" dirty="0"/>
              <a:t>802.11: passive/active scanning</a:t>
            </a:r>
          </a:p>
        </p:txBody>
      </p:sp>
      <p:sp>
        <p:nvSpPr>
          <p:cNvPr id="57348" name="Oval 6">
            <a:extLst>
              <a:ext uri="{FF2B5EF4-FFF2-40B4-BE49-F238E27FC236}">
                <a16:creationId xmlns:a16="http://schemas.microsoft.com/office/drawing/2014/main" id="{14586D26-29FC-07F5-0906-40D3139D9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048" y="2050711"/>
            <a:ext cx="2048176" cy="1950710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</a:endParaRPr>
          </a:p>
        </p:txBody>
      </p:sp>
      <p:sp>
        <p:nvSpPr>
          <p:cNvPr id="57349" name="Oval 7">
            <a:extLst>
              <a:ext uri="{FF2B5EF4-FFF2-40B4-BE49-F238E27FC236}">
                <a16:creationId xmlns:a16="http://schemas.microsoft.com/office/drawing/2014/main" id="{80F928EE-029E-737A-1461-CA4B8047D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369" y="1993622"/>
            <a:ext cx="2048176" cy="1950711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0" name="Text Box 8">
            <a:extLst>
              <a:ext uri="{FF2B5EF4-FFF2-40B4-BE49-F238E27FC236}">
                <a16:creationId xmlns:a16="http://schemas.microsoft.com/office/drawing/2014/main" id="{ABB48B6D-E1CF-BDE1-D3E5-DD82CAFFC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209" y="2813728"/>
            <a:ext cx="57419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2</a:t>
            </a:r>
          </a:p>
        </p:txBody>
      </p:sp>
      <p:sp>
        <p:nvSpPr>
          <p:cNvPr id="57351" name="Text Box 9">
            <a:extLst>
              <a:ext uri="{FF2B5EF4-FFF2-40B4-BE49-F238E27FC236}">
                <a16:creationId xmlns:a16="http://schemas.microsoft.com/office/drawing/2014/main" id="{B9EBF8F5-92FF-F062-6ADE-513D2A172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019" y="2670314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2" name="Text Box 10">
            <a:extLst>
              <a:ext uri="{FF2B5EF4-FFF2-40B4-BE49-F238E27FC236}">
                <a16:creationId xmlns:a16="http://schemas.microsoft.com/office/drawing/2014/main" id="{BF5A5600-11FF-4B07-8F9F-DF49BA2A1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406" y="2787273"/>
            <a:ext cx="54534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1</a:t>
            </a:r>
          </a:p>
        </p:txBody>
      </p:sp>
      <p:sp>
        <p:nvSpPr>
          <p:cNvPr id="57353" name="Text Box 11">
            <a:extLst>
              <a:ext uri="{FF2B5EF4-FFF2-40B4-BE49-F238E27FC236}">
                <a16:creationId xmlns:a16="http://schemas.microsoft.com/office/drawing/2014/main" id="{024D8714-E3DD-2B8E-6E34-032C8C6AB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264" y="3561431"/>
            <a:ext cx="404278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H1</a:t>
            </a:r>
          </a:p>
        </p:txBody>
      </p:sp>
      <p:sp>
        <p:nvSpPr>
          <p:cNvPr id="57354" name="Text Box 12">
            <a:extLst>
              <a:ext uri="{FF2B5EF4-FFF2-40B4-BE49-F238E27FC236}">
                <a16:creationId xmlns:a16="http://schemas.microsoft.com/office/drawing/2014/main" id="{712B3975-8A1D-2322-7FA0-A87507915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4975" y="3388777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5" name="Text Box 13">
            <a:extLst>
              <a:ext uri="{FF2B5EF4-FFF2-40B4-BE49-F238E27FC236}">
                <a16:creationId xmlns:a16="http://schemas.microsoft.com/office/drawing/2014/main" id="{078306A4-EC99-BB65-894E-DFFC15C14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8664" y="2100835"/>
            <a:ext cx="70243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2</a:t>
            </a:r>
          </a:p>
        </p:txBody>
      </p:sp>
      <p:sp>
        <p:nvSpPr>
          <p:cNvPr id="57356" name="Text Box 14">
            <a:extLst>
              <a:ext uri="{FF2B5EF4-FFF2-40B4-BE49-F238E27FC236}">
                <a16:creationId xmlns:a16="http://schemas.microsoft.com/office/drawing/2014/main" id="{159D9AFF-1946-A694-B53F-7765B3D80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792" y="2056279"/>
            <a:ext cx="67358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1</a:t>
            </a:r>
          </a:p>
        </p:txBody>
      </p:sp>
      <p:grpSp>
        <p:nvGrpSpPr>
          <p:cNvPr id="57357" name="Group 15">
            <a:extLst>
              <a:ext uri="{FF2B5EF4-FFF2-40B4-BE49-F238E27FC236}">
                <a16:creationId xmlns:a16="http://schemas.microsoft.com/office/drawing/2014/main" id="{EB89D2D2-65FC-E207-F6BB-243D3E3472DD}"/>
              </a:ext>
            </a:extLst>
          </p:cNvPr>
          <p:cNvGrpSpPr>
            <a:grpSpLocks/>
          </p:cNvGrpSpPr>
          <p:nvPr/>
        </p:nvGrpSpPr>
        <p:grpSpPr bwMode="auto">
          <a:xfrm>
            <a:off x="7850182" y="2538040"/>
            <a:ext cx="739349" cy="526316"/>
            <a:chOff x="1160" y="2192"/>
            <a:chExt cx="589" cy="440"/>
          </a:xfrm>
        </p:grpSpPr>
        <p:pic>
          <p:nvPicPr>
            <p:cNvPr id="57469" name="Picture 16" descr="31u_bnrz[1]">
              <a:extLst>
                <a:ext uri="{FF2B5EF4-FFF2-40B4-BE49-F238E27FC236}">
                  <a16:creationId xmlns:a16="http://schemas.microsoft.com/office/drawing/2014/main" id="{E807F808-9EC0-B4D9-0118-3AB46389C4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70" name="AutoShape 17">
              <a:extLst>
                <a:ext uri="{FF2B5EF4-FFF2-40B4-BE49-F238E27FC236}">
                  <a16:creationId xmlns:a16="http://schemas.microsoft.com/office/drawing/2014/main" id="{15E242C6-8235-27BC-CA6D-54BA57CEAE1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1" name="Freeform 18">
              <a:extLst>
                <a:ext uri="{FF2B5EF4-FFF2-40B4-BE49-F238E27FC236}">
                  <a16:creationId xmlns:a16="http://schemas.microsoft.com/office/drawing/2014/main" id="{11CE9508-C69D-4437-2F25-A7CDF0F03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2" name="Freeform 19">
              <a:extLst>
                <a:ext uri="{FF2B5EF4-FFF2-40B4-BE49-F238E27FC236}">
                  <a16:creationId xmlns:a16="http://schemas.microsoft.com/office/drawing/2014/main" id="{3062F572-F2E9-C306-52AE-24708C9F4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3" name="Freeform 20">
              <a:extLst>
                <a:ext uri="{FF2B5EF4-FFF2-40B4-BE49-F238E27FC236}">
                  <a16:creationId xmlns:a16="http://schemas.microsoft.com/office/drawing/2014/main" id="{CA74EC07-96E6-FB6E-CA5C-9CA8FEA74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4" name="Freeform 21">
              <a:extLst>
                <a:ext uri="{FF2B5EF4-FFF2-40B4-BE49-F238E27FC236}">
                  <a16:creationId xmlns:a16="http://schemas.microsoft.com/office/drawing/2014/main" id="{9DB28329-96DD-13D6-3854-BC3BCC39C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5" name="Freeform 22">
              <a:extLst>
                <a:ext uri="{FF2B5EF4-FFF2-40B4-BE49-F238E27FC236}">
                  <a16:creationId xmlns:a16="http://schemas.microsoft.com/office/drawing/2014/main" id="{1BB47811-E29F-8282-75F4-9C591EA89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6" name="Freeform 23">
              <a:extLst>
                <a:ext uri="{FF2B5EF4-FFF2-40B4-BE49-F238E27FC236}">
                  <a16:creationId xmlns:a16="http://schemas.microsoft.com/office/drawing/2014/main" id="{1258D1F1-736A-0F71-1486-24D238A67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7" name="Freeform 24">
              <a:extLst>
                <a:ext uri="{FF2B5EF4-FFF2-40B4-BE49-F238E27FC236}">
                  <a16:creationId xmlns:a16="http://schemas.microsoft.com/office/drawing/2014/main" id="{22D3043C-7773-A40B-9BCC-E4A4B17F5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8" name="Freeform 25">
              <a:extLst>
                <a:ext uri="{FF2B5EF4-FFF2-40B4-BE49-F238E27FC236}">
                  <a16:creationId xmlns:a16="http://schemas.microsoft.com/office/drawing/2014/main" id="{D126EB0B-8271-3CFD-C2AF-C1B14EA72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9" name="Freeform 26">
              <a:extLst>
                <a:ext uri="{FF2B5EF4-FFF2-40B4-BE49-F238E27FC236}">
                  <a16:creationId xmlns:a16="http://schemas.microsoft.com/office/drawing/2014/main" id="{35EC37AF-7D90-F69F-7E78-004A837DB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0" name="Freeform 27">
              <a:extLst>
                <a:ext uri="{FF2B5EF4-FFF2-40B4-BE49-F238E27FC236}">
                  <a16:creationId xmlns:a16="http://schemas.microsoft.com/office/drawing/2014/main" id="{5A6456E9-EFEC-12A8-951A-A040E40FB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1" name="Freeform 28">
              <a:extLst>
                <a:ext uri="{FF2B5EF4-FFF2-40B4-BE49-F238E27FC236}">
                  <a16:creationId xmlns:a16="http://schemas.microsoft.com/office/drawing/2014/main" id="{6A837811-F24B-A156-3278-5B0A287B6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2" name="Freeform 29">
              <a:extLst>
                <a:ext uri="{FF2B5EF4-FFF2-40B4-BE49-F238E27FC236}">
                  <a16:creationId xmlns:a16="http://schemas.microsoft.com/office/drawing/2014/main" id="{BF2758F0-AEA9-3291-A318-F7727AF2D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3" name="Freeform 30">
              <a:extLst>
                <a:ext uri="{FF2B5EF4-FFF2-40B4-BE49-F238E27FC236}">
                  <a16:creationId xmlns:a16="http://schemas.microsoft.com/office/drawing/2014/main" id="{156B12CC-2CC7-E381-F0FE-BBD94607B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4" name="Freeform 31">
              <a:extLst>
                <a:ext uri="{FF2B5EF4-FFF2-40B4-BE49-F238E27FC236}">
                  <a16:creationId xmlns:a16="http://schemas.microsoft.com/office/drawing/2014/main" id="{E1E69D60-608C-5A68-1FF7-FE561D2F9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5" name="Freeform 32">
              <a:extLst>
                <a:ext uri="{FF2B5EF4-FFF2-40B4-BE49-F238E27FC236}">
                  <a16:creationId xmlns:a16="http://schemas.microsoft.com/office/drawing/2014/main" id="{7496E23D-6EAA-2E09-FB55-3F91A15EF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6" name="Freeform 33">
              <a:extLst>
                <a:ext uri="{FF2B5EF4-FFF2-40B4-BE49-F238E27FC236}">
                  <a16:creationId xmlns:a16="http://schemas.microsoft.com/office/drawing/2014/main" id="{C33FD0F3-1615-56B3-E868-95419F016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58" name="Group 34">
            <a:extLst>
              <a:ext uri="{FF2B5EF4-FFF2-40B4-BE49-F238E27FC236}">
                <a16:creationId xmlns:a16="http://schemas.microsoft.com/office/drawing/2014/main" id="{23CB49A1-5267-EBCF-9C2B-F58C8989ADDC}"/>
              </a:ext>
            </a:extLst>
          </p:cNvPr>
          <p:cNvGrpSpPr>
            <a:grpSpLocks/>
          </p:cNvGrpSpPr>
          <p:nvPr/>
        </p:nvGrpSpPr>
        <p:grpSpPr bwMode="auto">
          <a:xfrm>
            <a:off x="6162629" y="2528293"/>
            <a:ext cx="740741" cy="526316"/>
            <a:chOff x="1160" y="2192"/>
            <a:chExt cx="589" cy="440"/>
          </a:xfrm>
        </p:grpSpPr>
        <p:pic>
          <p:nvPicPr>
            <p:cNvPr id="57451" name="Picture 35" descr="31u_bnrz[1]">
              <a:extLst>
                <a:ext uri="{FF2B5EF4-FFF2-40B4-BE49-F238E27FC236}">
                  <a16:creationId xmlns:a16="http://schemas.microsoft.com/office/drawing/2014/main" id="{AB477F06-FF44-67C9-DAA1-40A108A22C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52" name="AutoShape 36">
              <a:extLst>
                <a:ext uri="{FF2B5EF4-FFF2-40B4-BE49-F238E27FC236}">
                  <a16:creationId xmlns:a16="http://schemas.microsoft.com/office/drawing/2014/main" id="{768F5641-5B2F-CE71-B854-46BEAB3D18D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3" name="Freeform 37">
              <a:extLst>
                <a:ext uri="{FF2B5EF4-FFF2-40B4-BE49-F238E27FC236}">
                  <a16:creationId xmlns:a16="http://schemas.microsoft.com/office/drawing/2014/main" id="{D1B54F87-DDBF-68F1-B429-826ED2327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4" name="Freeform 38">
              <a:extLst>
                <a:ext uri="{FF2B5EF4-FFF2-40B4-BE49-F238E27FC236}">
                  <a16:creationId xmlns:a16="http://schemas.microsoft.com/office/drawing/2014/main" id="{C6DB01D4-51B5-F676-A80F-1593FB8C1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5" name="Freeform 39">
              <a:extLst>
                <a:ext uri="{FF2B5EF4-FFF2-40B4-BE49-F238E27FC236}">
                  <a16:creationId xmlns:a16="http://schemas.microsoft.com/office/drawing/2014/main" id="{342E914F-3071-2A29-15AB-62695F0D4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6" name="Freeform 40">
              <a:extLst>
                <a:ext uri="{FF2B5EF4-FFF2-40B4-BE49-F238E27FC236}">
                  <a16:creationId xmlns:a16="http://schemas.microsoft.com/office/drawing/2014/main" id="{5CB1F527-B7DC-997E-B4FC-C56057919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7" name="Freeform 41">
              <a:extLst>
                <a:ext uri="{FF2B5EF4-FFF2-40B4-BE49-F238E27FC236}">
                  <a16:creationId xmlns:a16="http://schemas.microsoft.com/office/drawing/2014/main" id="{5761636B-F606-379A-8AEC-B7FF45B0E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8" name="Freeform 42">
              <a:extLst>
                <a:ext uri="{FF2B5EF4-FFF2-40B4-BE49-F238E27FC236}">
                  <a16:creationId xmlns:a16="http://schemas.microsoft.com/office/drawing/2014/main" id="{A8B66522-CC91-88B6-1757-8DC981B88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9" name="Freeform 43">
              <a:extLst>
                <a:ext uri="{FF2B5EF4-FFF2-40B4-BE49-F238E27FC236}">
                  <a16:creationId xmlns:a16="http://schemas.microsoft.com/office/drawing/2014/main" id="{40D07F61-3964-2FED-A954-0FB79214D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0" name="Freeform 44">
              <a:extLst>
                <a:ext uri="{FF2B5EF4-FFF2-40B4-BE49-F238E27FC236}">
                  <a16:creationId xmlns:a16="http://schemas.microsoft.com/office/drawing/2014/main" id="{4F6A4D7B-D251-A1AF-B69E-77BE3AE3C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1" name="Freeform 45">
              <a:extLst>
                <a:ext uri="{FF2B5EF4-FFF2-40B4-BE49-F238E27FC236}">
                  <a16:creationId xmlns:a16="http://schemas.microsoft.com/office/drawing/2014/main" id="{78839BD6-6A06-A062-9348-32F2F5695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2" name="Freeform 46">
              <a:extLst>
                <a:ext uri="{FF2B5EF4-FFF2-40B4-BE49-F238E27FC236}">
                  <a16:creationId xmlns:a16="http://schemas.microsoft.com/office/drawing/2014/main" id="{13974D21-4C89-04EE-571D-62CE26ADA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3" name="Freeform 47">
              <a:extLst>
                <a:ext uri="{FF2B5EF4-FFF2-40B4-BE49-F238E27FC236}">
                  <a16:creationId xmlns:a16="http://schemas.microsoft.com/office/drawing/2014/main" id="{690BE0FF-5546-0A6A-DF97-270C4BCCD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4" name="Freeform 48">
              <a:extLst>
                <a:ext uri="{FF2B5EF4-FFF2-40B4-BE49-F238E27FC236}">
                  <a16:creationId xmlns:a16="http://schemas.microsoft.com/office/drawing/2014/main" id="{E24CAE5C-A002-9056-8074-F273710AE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5" name="Freeform 49">
              <a:extLst>
                <a:ext uri="{FF2B5EF4-FFF2-40B4-BE49-F238E27FC236}">
                  <a16:creationId xmlns:a16="http://schemas.microsoft.com/office/drawing/2014/main" id="{F7A0E6A3-354B-B55B-65D1-3FF1EF462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6" name="Freeform 50">
              <a:extLst>
                <a:ext uri="{FF2B5EF4-FFF2-40B4-BE49-F238E27FC236}">
                  <a16:creationId xmlns:a16="http://schemas.microsoft.com/office/drawing/2014/main" id="{F69F4C09-343A-9874-EA30-FDBBE8D4B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7" name="Freeform 51">
              <a:extLst>
                <a:ext uri="{FF2B5EF4-FFF2-40B4-BE49-F238E27FC236}">
                  <a16:creationId xmlns:a16="http://schemas.microsoft.com/office/drawing/2014/main" id="{21697329-BFAE-A8F3-25A3-B07DBFFF1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8" name="Freeform 52">
              <a:extLst>
                <a:ext uri="{FF2B5EF4-FFF2-40B4-BE49-F238E27FC236}">
                  <a16:creationId xmlns:a16="http://schemas.microsoft.com/office/drawing/2014/main" id="{9A229A91-8B9E-86B9-E121-747184E9B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59" name="Group 53">
            <a:extLst>
              <a:ext uri="{FF2B5EF4-FFF2-40B4-BE49-F238E27FC236}">
                <a16:creationId xmlns:a16="http://schemas.microsoft.com/office/drawing/2014/main" id="{A4232405-180E-3C23-5BF6-E43308016FE9}"/>
              </a:ext>
            </a:extLst>
          </p:cNvPr>
          <p:cNvGrpSpPr>
            <a:grpSpLocks/>
          </p:cNvGrpSpPr>
          <p:nvPr/>
        </p:nvGrpSpPr>
        <p:grpSpPr bwMode="auto">
          <a:xfrm>
            <a:off x="6986912" y="3078279"/>
            <a:ext cx="556948" cy="516569"/>
            <a:chOff x="2870" y="1518"/>
            <a:chExt cx="292" cy="320"/>
          </a:xfrm>
        </p:grpSpPr>
        <p:graphicFrame>
          <p:nvGraphicFramePr>
            <p:cNvPr id="57449" name="Object 54">
              <a:extLst>
                <a:ext uri="{FF2B5EF4-FFF2-40B4-BE49-F238E27FC236}">
                  <a16:creationId xmlns:a16="http://schemas.microsoft.com/office/drawing/2014/main" id="{0898A846-E371-32AE-9132-F475FD2729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57449" name="Object 54">
                          <a:extLst>
                            <a:ext uri="{FF2B5EF4-FFF2-40B4-BE49-F238E27FC236}">
                              <a16:creationId xmlns:a16="http://schemas.microsoft.com/office/drawing/2014/main" id="{0898A846-E371-32AE-9132-F475FD2729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50" name="Object 55">
              <a:extLst>
                <a:ext uri="{FF2B5EF4-FFF2-40B4-BE49-F238E27FC236}">
                  <a16:creationId xmlns:a16="http://schemas.microsoft.com/office/drawing/2014/main" id="{34BAC7E9-8A44-0BCC-7262-6C9AF6F97D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57450" name="Object 55">
                          <a:extLst>
                            <a:ext uri="{FF2B5EF4-FFF2-40B4-BE49-F238E27FC236}">
                              <a16:creationId xmlns:a16="http://schemas.microsoft.com/office/drawing/2014/main" id="{34BAC7E9-8A44-0BCC-7262-6C9AF6F97D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60" name="Freeform 56">
            <a:extLst>
              <a:ext uri="{FF2B5EF4-FFF2-40B4-BE49-F238E27FC236}">
                <a16:creationId xmlns:a16="http://schemas.microsoft.com/office/drawing/2014/main" id="{0B6E2879-E1AD-A923-0312-84533758B96F}"/>
              </a:ext>
            </a:extLst>
          </p:cNvPr>
          <p:cNvSpPr>
            <a:spLocks/>
          </p:cNvSpPr>
          <p:nvPr/>
        </p:nvSpPr>
        <p:spPr bwMode="auto">
          <a:xfrm>
            <a:off x="7333612" y="2937650"/>
            <a:ext cx="763019" cy="197717"/>
          </a:xfrm>
          <a:custGeom>
            <a:avLst/>
            <a:gdLst>
              <a:gd name="T0" fmla="*/ 0 w 548"/>
              <a:gd name="T1" fmla="*/ 2147483646 h 142"/>
              <a:gd name="T2" fmla="*/ 0 w 548"/>
              <a:gd name="T3" fmla="*/ 0 h 142"/>
              <a:gd name="T4" fmla="*/ 2147483646 w 548"/>
              <a:gd name="T5" fmla="*/ 0 h 1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8" h="142">
                <a:moveTo>
                  <a:pt x="0" y="142"/>
                </a:moveTo>
                <a:lnTo>
                  <a:pt x="0" y="0"/>
                </a:lnTo>
                <a:lnTo>
                  <a:pt x="548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1" name="Line 57">
            <a:extLst>
              <a:ext uri="{FF2B5EF4-FFF2-40B4-BE49-F238E27FC236}">
                <a16:creationId xmlns:a16="http://schemas.microsoft.com/office/drawing/2014/main" id="{A31EBD11-CA0B-6012-3918-D0452CFCE0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9580" y="2937649"/>
            <a:ext cx="72263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2" name="Line 58">
            <a:extLst>
              <a:ext uri="{FF2B5EF4-FFF2-40B4-BE49-F238E27FC236}">
                <a16:creationId xmlns:a16="http://schemas.microsoft.com/office/drawing/2014/main" id="{BA32695A-1596-C799-C2D1-E919DFF98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3883" y="3004484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3" name="Line 59">
            <a:extLst>
              <a:ext uri="{FF2B5EF4-FFF2-40B4-BE49-F238E27FC236}">
                <a16:creationId xmlns:a16="http://schemas.microsoft.com/office/drawing/2014/main" id="{3830BDB6-B1B4-EF6F-BBEA-4BCD5BC3AD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2218" y="3018407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4" name="Line 60">
            <a:extLst>
              <a:ext uri="{FF2B5EF4-FFF2-40B4-BE49-F238E27FC236}">
                <a16:creationId xmlns:a16="http://schemas.microsoft.com/office/drawing/2014/main" id="{5BD92510-1E8C-12E1-D37F-048E8D5C35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16264" y="3309413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5" name="Line 61">
            <a:extLst>
              <a:ext uri="{FF2B5EF4-FFF2-40B4-BE49-F238E27FC236}">
                <a16:creationId xmlns:a16="http://schemas.microsoft.com/office/drawing/2014/main" id="{F07A8498-5DDE-69DD-8481-ECDA9D4AC5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278" y="3152075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57366" name="Group 62">
            <a:extLst>
              <a:ext uri="{FF2B5EF4-FFF2-40B4-BE49-F238E27FC236}">
                <a16:creationId xmlns:a16="http://schemas.microsoft.com/office/drawing/2014/main" id="{DAB130D0-3CDB-82A0-6B57-8324FE661B72}"/>
              </a:ext>
            </a:extLst>
          </p:cNvPr>
          <p:cNvGrpSpPr>
            <a:grpSpLocks/>
          </p:cNvGrpSpPr>
          <p:nvPr/>
        </p:nvGrpSpPr>
        <p:grpSpPr bwMode="auto">
          <a:xfrm>
            <a:off x="7201337" y="2787276"/>
            <a:ext cx="272905" cy="281259"/>
            <a:chOff x="1255" y="3461"/>
            <a:chExt cx="196" cy="202"/>
          </a:xfrm>
        </p:grpSpPr>
        <p:sp>
          <p:nvSpPr>
            <p:cNvPr id="57447" name="Oval 63">
              <a:extLst>
                <a:ext uri="{FF2B5EF4-FFF2-40B4-BE49-F238E27FC236}">
                  <a16:creationId xmlns:a16="http://schemas.microsoft.com/office/drawing/2014/main" id="{D9C51832-00CF-B83D-DB32-D52CF791B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8" name="Text Box 64">
              <a:extLst>
                <a:ext uri="{FF2B5EF4-FFF2-40B4-BE49-F238E27FC236}">
                  <a16:creationId xmlns:a16="http://schemas.microsoft.com/office/drawing/2014/main" id="{4713A8FF-F9D6-F4EC-E411-BFA3421D0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7367" name="Group 65">
            <a:extLst>
              <a:ext uri="{FF2B5EF4-FFF2-40B4-BE49-F238E27FC236}">
                <a16:creationId xmlns:a16="http://schemas.microsoft.com/office/drawing/2014/main" id="{432A0191-ECDF-D274-B290-43A578FC009A}"/>
              </a:ext>
            </a:extLst>
          </p:cNvPr>
          <p:cNvGrpSpPr>
            <a:grpSpLocks/>
          </p:cNvGrpSpPr>
          <p:nvPr/>
        </p:nvGrpSpPr>
        <p:grpSpPr bwMode="auto">
          <a:xfrm>
            <a:off x="7702591" y="2959929"/>
            <a:ext cx="272905" cy="281259"/>
            <a:chOff x="1851" y="2490"/>
            <a:chExt cx="196" cy="202"/>
          </a:xfrm>
        </p:grpSpPr>
        <p:sp>
          <p:nvSpPr>
            <p:cNvPr id="57445" name="Oval 66">
              <a:extLst>
                <a:ext uri="{FF2B5EF4-FFF2-40B4-BE49-F238E27FC236}">
                  <a16:creationId xmlns:a16="http://schemas.microsoft.com/office/drawing/2014/main" id="{067BB89E-7581-FE9C-FFF2-C39925D6E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6" name="Text Box 67">
              <a:extLst>
                <a:ext uri="{FF2B5EF4-FFF2-40B4-BE49-F238E27FC236}">
                  <a16:creationId xmlns:a16="http://schemas.microsoft.com/office/drawing/2014/main" id="{FE4797B6-693F-7BE2-10BF-22A81EDDA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68" name="Group 68">
            <a:extLst>
              <a:ext uri="{FF2B5EF4-FFF2-40B4-BE49-F238E27FC236}">
                <a16:creationId xmlns:a16="http://schemas.microsoft.com/office/drawing/2014/main" id="{3F16F2EF-D6FB-7C54-3BE1-492807EA9717}"/>
              </a:ext>
            </a:extLst>
          </p:cNvPr>
          <p:cNvGrpSpPr>
            <a:grpSpLocks/>
          </p:cNvGrpSpPr>
          <p:nvPr/>
        </p:nvGrpSpPr>
        <p:grpSpPr bwMode="auto">
          <a:xfrm>
            <a:off x="6757173" y="2975245"/>
            <a:ext cx="272905" cy="281259"/>
            <a:chOff x="1851" y="2490"/>
            <a:chExt cx="196" cy="202"/>
          </a:xfrm>
        </p:grpSpPr>
        <p:sp>
          <p:nvSpPr>
            <p:cNvPr id="57443" name="Oval 69">
              <a:extLst>
                <a:ext uri="{FF2B5EF4-FFF2-40B4-BE49-F238E27FC236}">
                  <a16:creationId xmlns:a16="http://schemas.microsoft.com/office/drawing/2014/main" id="{293AE784-FBA2-EEFF-5819-1A131662B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4" name="Text Box 70">
              <a:extLst>
                <a:ext uri="{FF2B5EF4-FFF2-40B4-BE49-F238E27FC236}">
                  <a16:creationId xmlns:a16="http://schemas.microsoft.com/office/drawing/2014/main" id="{C7C51BF0-D686-5DE3-0EB1-AFAFC07F4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69" name="Group 71">
            <a:extLst>
              <a:ext uri="{FF2B5EF4-FFF2-40B4-BE49-F238E27FC236}">
                <a16:creationId xmlns:a16="http://schemas.microsoft.com/office/drawing/2014/main" id="{0C30DB9C-DA47-FFC7-AC23-F8FFC22F845B}"/>
              </a:ext>
            </a:extLst>
          </p:cNvPr>
          <p:cNvGrpSpPr>
            <a:grpSpLocks/>
          </p:cNvGrpSpPr>
          <p:nvPr/>
        </p:nvGrpSpPr>
        <p:grpSpPr bwMode="auto">
          <a:xfrm>
            <a:off x="7652466" y="3172962"/>
            <a:ext cx="272905" cy="281259"/>
            <a:chOff x="1851" y="2490"/>
            <a:chExt cx="196" cy="202"/>
          </a:xfrm>
        </p:grpSpPr>
        <p:sp>
          <p:nvSpPr>
            <p:cNvPr id="57441" name="Oval 72">
              <a:extLst>
                <a:ext uri="{FF2B5EF4-FFF2-40B4-BE49-F238E27FC236}">
                  <a16:creationId xmlns:a16="http://schemas.microsoft.com/office/drawing/2014/main" id="{A4A9922F-5289-78AB-A9D6-0B94BF9D6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2" name="Text Box 73">
              <a:extLst>
                <a:ext uri="{FF2B5EF4-FFF2-40B4-BE49-F238E27FC236}">
                  <a16:creationId xmlns:a16="http://schemas.microsoft.com/office/drawing/2014/main" id="{1005174D-7C66-63BA-C1CB-9F07841F0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57370" name="Group 74">
            <a:extLst>
              <a:ext uri="{FF2B5EF4-FFF2-40B4-BE49-F238E27FC236}">
                <a16:creationId xmlns:a16="http://schemas.microsoft.com/office/drawing/2014/main" id="{BF9D32D8-EA88-4481-E08A-0E283685018F}"/>
              </a:ext>
            </a:extLst>
          </p:cNvPr>
          <p:cNvGrpSpPr>
            <a:grpSpLocks/>
          </p:cNvGrpSpPr>
          <p:nvPr/>
        </p:nvGrpSpPr>
        <p:grpSpPr bwMode="auto">
          <a:xfrm>
            <a:off x="7905877" y="3253719"/>
            <a:ext cx="272905" cy="281259"/>
            <a:chOff x="1851" y="2490"/>
            <a:chExt cx="196" cy="202"/>
          </a:xfrm>
        </p:grpSpPr>
        <p:sp>
          <p:nvSpPr>
            <p:cNvPr id="57439" name="Oval 75">
              <a:extLst>
                <a:ext uri="{FF2B5EF4-FFF2-40B4-BE49-F238E27FC236}">
                  <a16:creationId xmlns:a16="http://schemas.microsoft.com/office/drawing/2014/main" id="{7E740682-C0A4-0B7B-50B6-2AADCF45B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0" name="Text Box 76">
              <a:extLst>
                <a:ext uri="{FF2B5EF4-FFF2-40B4-BE49-F238E27FC236}">
                  <a16:creationId xmlns:a16="http://schemas.microsoft.com/office/drawing/2014/main" id="{4703DB09-93ED-7E03-BDE6-718A4D99B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57371" name="Text Box 77">
            <a:extLst>
              <a:ext uri="{FF2B5EF4-FFF2-40B4-BE49-F238E27FC236}">
                <a16:creationId xmlns:a16="http://schemas.microsoft.com/office/drawing/2014/main" id="{1507682B-77FA-B218-FC09-F79E58021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079" y="4009775"/>
            <a:ext cx="3475355" cy="230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i="1" u="sng" dirty="0">
                <a:solidFill>
                  <a:srgbClr val="FF0000"/>
                </a:solidFill>
                <a:latin typeface="Arial" panose="020B0604020202020204" pitchFamily="34" charset="0"/>
              </a:rPr>
              <a:t>Active Scanning</a:t>
            </a:r>
            <a:r>
              <a:rPr lang="en-US" altLang="en-US" sz="1403" dirty="0">
                <a:solidFill>
                  <a:srgbClr val="FF0000"/>
                </a:solidFill>
                <a:latin typeface="Arial" panose="020B0604020202020204" pitchFamily="34" charset="0"/>
              </a:rPr>
              <a:t>: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Probe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broadcast from H1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Probes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 from APs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</a:t>
            </a:r>
          </a:p>
        </p:txBody>
      </p:sp>
      <p:sp>
        <p:nvSpPr>
          <p:cNvPr id="57372" name="Oval 80">
            <a:extLst>
              <a:ext uri="{FF2B5EF4-FFF2-40B4-BE49-F238E27FC236}">
                <a16:creationId xmlns:a16="http://schemas.microsoft.com/office/drawing/2014/main" id="{742B34B0-3BDA-7620-358A-6FFFC71E4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62" y="2075774"/>
            <a:ext cx="2048176" cy="1950710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</a:endParaRPr>
          </a:p>
        </p:txBody>
      </p:sp>
      <p:sp>
        <p:nvSpPr>
          <p:cNvPr id="57373" name="Oval 81">
            <a:extLst>
              <a:ext uri="{FF2B5EF4-FFF2-40B4-BE49-F238E27FC236}">
                <a16:creationId xmlns:a16="http://schemas.microsoft.com/office/drawing/2014/main" id="{FEF42347-92A7-437F-A057-3666F99CC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783" y="2018685"/>
            <a:ext cx="2048176" cy="1950711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4" name="Text Box 82">
            <a:extLst>
              <a:ext uri="{FF2B5EF4-FFF2-40B4-BE49-F238E27FC236}">
                <a16:creationId xmlns:a16="http://schemas.microsoft.com/office/drawing/2014/main" id="{17BCFC3E-670E-365A-ADF8-0590A88F4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623" y="2838791"/>
            <a:ext cx="57419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2</a:t>
            </a:r>
          </a:p>
        </p:txBody>
      </p:sp>
      <p:sp>
        <p:nvSpPr>
          <p:cNvPr id="57375" name="Text Box 83">
            <a:extLst>
              <a:ext uri="{FF2B5EF4-FFF2-40B4-BE49-F238E27FC236}">
                <a16:creationId xmlns:a16="http://schemas.microsoft.com/office/drawing/2014/main" id="{FD04681C-872E-B662-9AA9-D44728595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433" y="2695377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6" name="Text Box 84">
            <a:extLst>
              <a:ext uri="{FF2B5EF4-FFF2-40B4-BE49-F238E27FC236}">
                <a16:creationId xmlns:a16="http://schemas.microsoft.com/office/drawing/2014/main" id="{8BBE0446-2A79-FD20-8726-DB766F000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819" y="2812336"/>
            <a:ext cx="54534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1</a:t>
            </a:r>
          </a:p>
        </p:txBody>
      </p:sp>
      <p:sp>
        <p:nvSpPr>
          <p:cNvPr id="57377" name="Text Box 85">
            <a:extLst>
              <a:ext uri="{FF2B5EF4-FFF2-40B4-BE49-F238E27FC236}">
                <a16:creationId xmlns:a16="http://schemas.microsoft.com/office/drawing/2014/main" id="{524DF341-D1D3-C8BA-ADD7-F50283F38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677" y="3586493"/>
            <a:ext cx="404278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H1</a:t>
            </a:r>
          </a:p>
        </p:txBody>
      </p:sp>
      <p:sp>
        <p:nvSpPr>
          <p:cNvPr id="57378" name="Text Box 86">
            <a:extLst>
              <a:ext uri="{FF2B5EF4-FFF2-40B4-BE49-F238E27FC236}">
                <a16:creationId xmlns:a16="http://schemas.microsoft.com/office/drawing/2014/main" id="{5F4A7718-3B38-2F86-55AF-BBA48E2EC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388" y="3413839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9" name="Text Box 87">
            <a:extLst>
              <a:ext uri="{FF2B5EF4-FFF2-40B4-BE49-F238E27FC236}">
                <a16:creationId xmlns:a16="http://schemas.microsoft.com/office/drawing/2014/main" id="{45983557-30EE-71CC-853E-D871CD322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077" y="2125898"/>
            <a:ext cx="70243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2</a:t>
            </a:r>
          </a:p>
        </p:txBody>
      </p:sp>
      <p:sp>
        <p:nvSpPr>
          <p:cNvPr id="57380" name="Text Box 88">
            <a:extLst>
              <a:ext uri="{FF2B5EF4-FFF2-40B4-BE49-F238E27FC236}">
                <a16:creationId xmlns:a16="http://schemas.microsoft.com/office/drawing/2014/main" id="{CFE15551-94C1-FAE8-BCA6-C1097855F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206" y="2081342"/>
            <a:ext cx="67358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1</a:t>
            </a:r>
          </a:p>
        </p:txBody>
      </p:sp>
      <p:grpSp>
        <p:nvGrpSpPr>
          <p:cNvPr id="57381" name="Group 89">
            <a:extLst>
              <a:ext uri="{FF2B5EF4-FFF2-40B4-BE49-F238E27FC236}">
                <a16:creationId xmlns:a16="http://schemas.microsoft.com/office/drawing/2014/main" id="{ACDFA75A-EC0A-D058-A138-4502F74D783B}"/>
              </a:ext>
            </a:extLst>
          </p:cNvPr>
          <p:cNvGrpSpPr>
            <a:grpSpLocks/>
          </p:cNvGrpSpPr>
          <p:nvPr/>
        </p:nvGrpSpPr>
        <p:grpSpPr bwMode="auto">
          <a:xfrm>
            <a:off x="4015596" y="2563103"/>
            <a:ext cx="739349" cy="526316"/>
            <a:chOff x="1160" y="2192"/>
            <a:chExt cx="589" cy="440"/>
          </a:xfrm>
        </p:grpSpPr>
        <p:pic>
          <p:nvPicPr>
            <p:cNvPr id="57421" name="Picture 90" descr="31u_bnrz[1]">
              <a:extLst>
                <a:ext uri="{FF2B5EF4-FFF2-40B4-BE49-F238E27FC236}">
                  <a16:creationId xmlns:a16="http://schemas.microsoft.com/office/drawing/2014/main" id="{3C431DA3-ECD4-85C3-6BD3-D9EDB7F96D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22" name="AutoShape 91">
              <a:extLst>
                <a:ext uri="{FF2B5EF4-FFF2-40B4-BE49-F238E27FC236}">
                  <a16:creationId xmlns:a16="http://schemas.microsoft.com/office/drawing/2014/main" id="{1044D337-AEBD-D0CB-8058-DB8FCAD546F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3" name="Freeform 92">
              <a:extLst>
                <a:ext uri="{FF2B5EF4-FFF2-40B4-BE49-F238E27FC236}">
                  <a16:creationId xmlns:a16="http://schemas.microsoft.com/office/drawing/2014/main" id="{0108A9A8-3869-1160-DCE5-932EB906B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4" name="Freeform 93">
              <a:extLst>
                <a:ext uri="{FF2B5EF4-FFF2-40B4-BE49-F238E27FC236}">
                  <a16:creationId xmlns:a16="http://schemas.microsoft.com/office/drawing/2014/main" id="{3E8444D0-C5D5-F035-ED17-67C14A73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5" name="Freeform 94">
              <a:extLst>
                <a:ext uri="{FF2B5EF4-FFF2-40B4-BE49-F238E27FC236}">
                  <a16:creationId xmlns:a16="http://schemas.microsoft.com/office/drawing/2014/main" id="{4E9DCA23-F5D3-9667-718C-63BAAE181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6" name="Freeform 95">
              <a:extLst>
                <a:ext uri="{FF2B5EF4-FFF2-40B4-BE49-F238E27FC236}">
                  <a16:creationId xmlns:a16="http://schemas.microsoft.com/office/drawing/2014/main" id="{FEB6D4B2-4956-7730-BC33-E7DFDDE30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7" name="Freeform 96">
              <a:extLst>
                <a:ext uri="{FF2B5EF4-FFF2-40B4-BE49-F238E27FC236}">
                  <a16:creationId xmlns:a16="http://schemas.microsoft.com/office/drawing/2014/main" id="{6ECF648A-2BD1-E541-66FE-92BF23612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8" name="Freeform 97">
              <a:extLst>
                <a:ext uri="{FF2B5EF4-FFF2-40B4-BE49-F238E27FC236}">
                  <a16:creationId xmlns:a16="http://schemas.microsoft.com/office/drawing/2014/main" id="{73256C99-32CE-2705-E3F6-21A9CD45B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9" name="Freeform 98">
              <a:extLst>
                <a:ext uri="{FF2B5EF4-FFF2-40B4-BE49-F238E27FC236}">
                  <a16:creationId xmlns:a16="http://schemas.microsoft.com/office/drawing/2014/main" id="{900E4126-58CD-D63F-B939-7A1074BFE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0" name="Freeform 99">
              <a:extLst>
                <a:ext uri="{FF2B5EF4-FFF2-40B4-BE49-F238E27FC236}">
                  <a16:creationId xmlns:a16="http://schemas.microsoft.com/office/drawing/2014/main" id="{4F2B56C5-66AC-465C-26D8-638628928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1" name="Freeform 100">
              <a:extLst>
                <a:ext uri="{FF2B5EF4-FFF2-40B4-BE49-F238E27FC236}">
                  <a16:creationId xmlns:a16="http://schemas.microsoft.com/office/drawing/2014/main" id="{CD3ECECB-0482-2885-0046-7E2422AC7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2" name="Freeform 101">
              <a:extLst>
                <a:ext uri="{FF2B5EF4-FFF2-40B4-BE49-F238E27FC236}">
                  <a16:creationId xmlns:a16="http://schemas.microsoft.com/office/drawing/2014/main" id="{69BA8484-459D-A677-0565-3BB177D72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3" name="Freeform 102">
              <a:extLst>
                <a:ext uri="{FF2B5EF4-FFF2-40B4-BE49-F238E27FC236}">
                  <a16:creationId xmlns:a16="http://schemas.microsoft.com/office/drawing/2014/main" id="{C39E49D8-AF85-460E-A362-52A9F0342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4" name="Freeform 103">
              <a:extLst>
                <a:ext uri="{FF2B5EF4-FFF2-40B4-BE49-F238E27FC236}">
                  <a16:creationId xmlns:a16="http://schemas.microsoft.com/office/drawing/2014/main" id="{8180EDB8-AA39-DA9A-FFED-71C4BC6BC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5" name="Freeform 104">
              <a:extLst>
                <a:ext uri="{FF2B5EF4-FFF2-40B4-BE49-F238E27FC236}">
                  <a16:creationId xmlns:a16="http://schemas.microsoft.com/office/drawing/2014/main" id="{AE8554F1-A2DC-691A-08CB-619AFB93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6" name="Freeform 105">
              <a:extLst>
                <a:ext uri="{FF2B5EF4-FFF2-40B4-BE49-F238E27FC236}">
                  <a16:creationId xmlns:a16="http://schemas.microsoft.com/office/drawing/2014/main" id="{17233CF1-653A-78AC-2434-5F57419DF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7" name="Freeform 106">
              <a:extLst>
                <a:ext uri="{FF2B5EF4-FFF2-40B4-BE49-F238E27FC236}">
                  <a16:creationId xmlns:a16="http://schemas.microsoft.com/office/drawing/2014/main" id="{6F42D65E-B153-E8E7-3F65-A2F188A45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8" name="Freeform 107">
              <a:extLst>
                <a:ext uri="{FF2B5EF4-FFF2-40B4-BE49-F238E27FC236}">
                  <a16:creationId xmlns:a16="http://schemas.microsoft.com/office/drawing/2014/main" id="{618C7B22-9217-EC5E-6F08-D0F1AF303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82" name="Group 108">
            <a:extLst>
              <a:ext uri="{FF2B5EF4-FFF2-40B4-BE49-F238E27FC236}">
                <a16:creationId xmlns:a16="http://schemas.microsoft.com/office/drawing/2014/main" id="{358F6266-BC95-223F-503C-3F732F2463E4}"/>
              </a:ext>
            </a:extLst>
          </p:cNvPr>
          <p:cNvGrpSpPr>
            <a:grpSpLocks/>
          </p:cNvGrpSpPr>
          <p:nvPr/>
        </p:nvGrpSpPr>
        <p:grpSpPr bwMode="auto">
          <a:xfrm>
            <a:off x="2328042" y="2553356"/>
            <a:ext cx="740741" cy="526316"/>
            <a:chOff x="1160" y="2192"/>
            <a:chExt cx="589" cy="440"/>
          </a:xfrm>
        </p:grpSpPr>
        <p:pic>
          <p:nvPicPr>
            <p:cNvPr id="57403" name="Picture 109" descr="31u_bnrz[1]">
              <a:extLst>
                <a:ext uri="{FF2B5EF4-FFF2-40B4-BE49-F238E27FC236}">
                  <a16:creationId xmlns:a16="http://schemas.microsoft.com/office/drawing/2014/main" id="{E7616EE4-E4E4-05AB-A845-05A71A2E99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04" name="AutoShape 110">
              <a:extLst>
                <a:ext uri="{FF2B5EF4-FFF2-40B4-BE49-F238E27FC236}">
                  <a16:creationId xmlns:a16="http://schemas.microsoft.com/office/drawing/2014/main" id="{314556B1-0E0B-FF10-43A2-381E94254D9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5" name="Freeform 111">
              <a:extLst>
                <a:ext uri="{FF2B5EF4-FFF2-40B4-BE49-F238E27FC236}">
                  <a16:creationId xmlns:a16="http://schemas.microsoft.com/office/drawing/2014/main" id="{2FE6F213-6963-8812-8916-D71793D4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6" name="Freeform 112">
              <a:extLst>
                <a:ext uri="{FF2B5EF4-FFF2-40B4-BE49-F238E27FC236}">
                  <a16:creationId xmlns:a16="http://schemas.microsoft.com/office/drawing/2014/main" id="{7E4C32DA-45CA-8192-01D5-014B88760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7" name="Freeform 113">
              <a:extLst>
                <a:ext uri="{FF2B5EF4-FFF2-40B4-BE49-F238E27FC236}">
                  <a16:creationId xmlns:a16="http://schemas.microsoft.com/office/drawing/2014/main" id="{7084E408-B6A2-2F53-247D-C1B341098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8" name="Freeform 114">
              <a:extLst>
                <a:ext uri="{FF2B5EF4-FFF2-40B4-BE49-F238E27FC236}">
                  <a16:creationId xmlns:a16="http://schemas.microsoft.com/office/drawing/2014/main" id="{5D91DA4E-0942-91F8-6606-E2C2B10BB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9" name="Freeform 115">
              <a:extLst>
                <a:ext uri="{FF2B5EF4-FFF2-40B4-BE49-F238E27FC236}">
                  <a16:creationId xmlns:a16="http://schemas.microsoft.com/office/drawing/2014/main" id="{A6A5121B-A7E0-0C98-117E-96A08A1AB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0" name="Freeform 116">
              <a:extLst>
                <a:ext uri="{FF2B5EF4-FFF2-40B4-BE49-F238E27FC236}">
                  <a16:creationId xmlns:a16="http://schemas.microsoft.com/office/drawing/2014/main" id="{2F3E1D2D-6D18-A85E-7FB3-457394A60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1" name="Freeform 117">
              <a:extLst>
                <a:ext uri="{FF2B5EF4-FFF2-40B4-BE49-F238E27FC236}">
                  <a16:creationId xmlns:a16="http://schemas.microsoft.com/office/drawing/2014/main" id="{0BA03B43-6A22-E43C-876D-3AD67E530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2" name="Freeform 118">
              <a:extLst>
                <a:ext uri="{FF2B5EF4-FFF2-40B4-BE49-F238E27FC236}">
                  <a16:creationId xmlns:a16="http://schemas.microsoft.com/office/drawing/2014/main" id="{D47206E6-62C3-3192-6F50-F438510FC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3" name="Freeform 119">
              <a:extLst>
                <a:ext uri="{FF2B5EF4-FFF2-40B4-BE49-F238E27FC236}">
                  <a16:creationId xmlns:a16="http://schemas.microsoft.com/office/drawing/2014/main" id="{AC3D5E3E-669A-5AE6-ED23-BD955343B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4" name="Freeform 120">
              <a:extLst>
                <a:ext uri="{FF2B5EF4-FFF2-40B4-BE49-F238E27FC236}">
                  <a16:creationId xmlns:a16="http://schemas.microsoft.com/office/drawing/2014/main" id="{45CCDE76-336B-1100-1191-2ADCA834C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5" name="Freeform 121">
              <a:extLst>
                <a:ext uri="{FF2B5EF4-FFF2-40B4-BE49-F238E27FC236}">
                  <a16:creationId xmlns:a16="http://schemas.microsoft.com/office/drawing/2014/main" id="{97FA89EB-7571-64D2-288E-860A6EA7A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6" name="Freeform 122">
              <a:extLst>
                <a:ext uri="{FF2B5EF4-FFF2-40B4-BE49-F238E27FC236}">
                  <a16:creationId xmlns:a16="http://schemas.microsoft.com/office/drawing/2014/main" id="{1F84EA14-D560-B61D-B19F-72A86B03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7" name="Freeform 123">
              <a:extLst>
                <a:ext uri="{FF2B5EF4-FFF2-40B4-BE49-F238E27FC236}">
                  <a16:creationId xmlns:a16="http://schemas.microsoft.com/office/drawing/2014/main" id="{174FBEFE-E644-D9D5-8514-B9E1AB68F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8" name="Freeform 124">
              <a:extLst>
                <a:ext uri="{FF2B5EF4-FFF2-40B4-BE49-F238E27FC236}">
                  <a16:creationId xmlns:a16="http://schemas.microsoft.com/office/drawing/2014/main" id="{7FEB62FE-FCD2-1D46-4454-682076CC0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9" name="Freeform 125">
              <a:extLst>
                <a:ext uri="{FF2B5EF4-FFF2-40B4-BE49-F238E27FC236}">
                  <a16:creationId xmlns:a16="http://schemas.microsoft.com/office/drawing/2014/main" id="{6D1BA0CF-6DE4-BF02-CC30-C961278A8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0" name="Freeform 126">
              <a:extLst>
                <a:ext uri="{FF2B5EF4-FFF2-40B4-BE49-F238E27FC236}">
                  <a16:creationId xmlns:a16="http://schemas.microsoft.com/office/drawing/2014/main" id="{2BD1A132-047F-CE32-A817-DF98C3BE9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83" name="Group 127">
            <a:extLst>
              <a:ext uri="{FF2B5EF4-FFF2-40B4-BE49-F238E27FC236}">
                <a16:creationId xmlns:a16="http://schemas.microsoft.com/office/drawing/2014/main" id="{3B564631-1898-226F-9ED4-6D9A5ED28420}"/>
              </a:ext>
            </a:extLst>
          </p:cNvPr>
          <p:cNvGrpSpPr>
            <a:grpSpLocks/>
          </p:cNvGrpSpPr>
          <p:nvPr/>
        </p:nvGrpSpPr>
        <p:grpSpPr bwMode="auto">
          <a:xfrm>
            <a:off x="3152325" y="3103341"/>
            <a:ext cx="556948" cy="516569"/>
            <a:chOff x="2870" y="1518"/>
            <a:chExt cx="292" cy="320"/>
          </a:xfrm>
        </p:grpSpPr>
        <p:graphicFrame>
          <p:nvGraphicFramePr>
            <p:cNvPr id="57401" name="Object 128">
              <a:extLst>
                <a:ext uri="{FF2B5EF4-FFF2-40B4-BE49-F238E27FC236}">
                  <a16:creationId xmlns:a16="http://schemas.microsoft.com/office/drawing/2014/main" id="{921A2D20-C76D-00C1-5939-06E0BB2E69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57401" name="Object 128">
                          <a:extLst>
                            <a:ext uri="{FF2B5EF4-FFF2-40B4-BE49-F238E27FC236}">
                              <a16:creationId xmlns:a16="http://schemas.microsoft.com/office/drawing/2014/main" id="{921A2D20-C76D-00C1-5939-06E0BB2E69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02" name="Object 129">
              <a:extLst>
                <a:ext uri="{FF2B5EF4-FFF2-40B4-BE49-F238E27FC236}">
                  <a16:creationId xmlns:a16="http://schemas.microsoft.com/office/drawing/2014/main" id="{F417E630-4353-C782-2F93-D87E62EC5C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57402" name="Object 129">
                          <a:extLst>
                            <a:ext uri="{FF2B5EF4-FFF2-40B4-BE49-F238E27FC236}">
                              <a16:creationId xmlns:a16="http://schemas.microsoft.com/office/drawing/2014/main" id="{F417E630-4353-C782-2F93-D87E62EC5C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84" name="Line 130">
            <a:extLst>
              <a:ext uri="{FF2B5EF4-FFF2-40B4-BE49-F238E27FC236}">
                <a16:creationId xmlns:a16="http://schemas.microsoft.com/office/drawing/2014/main" id="{4E4E27AE-423B-6D25-7F24-E47DD897F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9297" y="3029546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5" name="Line 131">
            <a:extLst>
              <a:ext uri="{FF2B5EF4-FFF2-40B4-BE49-F238E27FC236}">
                <a16:creationId xmlns:a16="http://schemas.microsoft.com/office/drawing/2014/main" id="{B74B77A2-77B3-4014-44C6-9E162DF332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7632" y="3043470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6" name="Line 132">
            <a:extLst>
              <a:ext uri="{FF2B5EF4-FFF2-40B4-BE49-F238E27FC236}">
                <a16:creationId xmlns:a16="http://schemas.microsoft.com/office/drawing/2014/main" id="{7DD53E06-4099-F0BB-0B6A-6DBCCD7D53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1678" y="3334476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7" name="Line 133">
            <a:extLst>
              <a:ext uri="{FF2B5EF4-FFF2-40B4-BE49-F238E27FC236}">
                <a16:creationId xmlns:a16="http://schemas.microsoft.com/office/drawing/2014/main" id="{47EACCE0-F24A-8DEE-8B54-B2EAA6D9C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2691" y="3177138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57388" name="Group 134">
            <a:extLst>
              <a:ext uri="{FF2B5EF4-FFF2-40B4-BE49-F238E27FC236}">
                <a16:creationId xmlns:a16="http://schemas.microsoft.com/office/drawing/2014/main" id="{FCF5D599-5C03-DBFB-C8E5-56B2E97F14F6}"/>
              </a:ext>
            </a:extLst>
          </p:cNvPr>
          <p:cNvGrpSpPr>
            <a:grpSpLocks/>
          </p:cNvGrpSpPr>
          <p:nvPr/>
        </p:nvGrpSpPr>
        <p:grpSpPr bwMode="auto">
          <a:xfrm>
            <a:off x="3879143" y="2957145"/>
            <a:ext cx="272905" cy="281259"/>
            <a:chOff x="1255" y="3461"/>
            <a:chExt cx="196" cy="202"/>
          </a:xfrm>
        </p:grpSpPr>
        <p:sp>
          <p:nvSpPr>
            <p:cNvPr id="57399" name="Oval 135">
              <a:extLst>
                <a:ext uri="{FF2B5EF4-FFF2-40B4-BE49-F238E27FC236}">
                  <a16:creationId xmlns:a16="http://schemas.microsoft.com/office/drawing/2014/main" id="{5BF7C378-CBA1-6ED5-E9AE-B8FF05E28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00" name="Text Box 136">
              <a:extLst>
                <a:ext uri="{FF2B5EF4-FFF2-40B4-BE49-F238E27FC236}">
                  <a16:creationId xmlns:a16="http://schemas.microsoft.com/office/drawing/2014/main" id="{9F451363-3DBF-E150-39CF-AC23BDE97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7389" name="Group 137">
            <a:extLst>
              <a:ext uri="{FF2B5EF4-FFF2-40B4-BE49-F238E27FC236}">
                <a16:creationId xmlns:a16="http://schemas.microsoft.com/office/drawing/2014/main" id="{59CE489E-E4DB-D444-01CD-3D567CB3598C}"/>
              </a:ext>
            </a:extLst>
          </p:cNvPr>
          <p:cNvGrpSpPr>
            <a:grpSpLocks/>
          </p:cNvGrpSpPr>
          <p:nvPr/>
        </p:nvGrpSpPr>
        <p:grpSpPr bwMode="auto">
          <a:xfrm>
            <a:off x="3802564" y="3182708"/>
            <a:ext cx="272905" cy="281259"/>
            <a:chOff x="1851" y="2490"/>
            <a:chExt cx="196" cy="202"/>
          </a:xfrm>
        </p:grpSpPr>
        <p:sp>
          <p:nvSpPr>
            <p:cNvPr id="57397" name="Oval 138">
              <a:extLst>
                <a:ext uri="{FF2B5EF4-FFF2-40B4-BE49-F238E27FC236}">
                  <a16:creationId xmlns:a16="http://schemas.microsoft.com/office/drawing/2014/main" id="{FF034AF0-8426-AB98-886C-815339DC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8" name="Text Box 139">
              <a:extLst>
                <a:ext uri="{FF2B5EF4-FFF2-40B4-BE49-F238E27FC236}">
                  <a16:creationId xmlns:a16="http://schemas.microsoft.com/office/drawing/2014/main" id="{F9D9B9AA-9214-53CA-980F-F5E7189C7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90" name="Group 140">
            <a:extLst>
              <a:ext uri="{FF2B5EF4-FFF2-40B4-BE49-F238E27FC236}">
                <a16:creationId xmlns:a16="http://schemas.microsoft.com/office/drawing/2014/main" id="{1CF5051D-2840-BA63-87F3-B592222C2858}"/>
              </a:ext>
            </a:extLst>
          </p:cNvPr>
          <p:cNvGrpSpPr>
            <a:grpSpLocks/>
          </p:cNvGrpSpPr>
          <p:nvPr/>
        </p:nvGrpSpPr>
        <p:grpSpPr bwMode="auto">
          <a:xfrm>
            <a:off x="4053191" y="3275997"/>
            <a:ext cx="272905" cy="281259"/>
            <a:chOff x="1851" y="2490"/>
            <a:chExt cx="196" cy="202"/>
          </a:xfrm>
        </p:grpSpPr>
        <p:sp>
          <p:nvSpPr>
            <p:cNvPr id="57395" name="Oval 141">
              <a:extLst>
                <a:ext uri="{FF2B5EF4-FFF2-40B4-BE49-F238E27FC236}">
                  <a16:creationId xmlns:a16="http://schemas.microsoft.com/office/drawing/2014/main" id="{17836776-4826-AFE3-956A-7FC999AEE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6" name="Text Box 142">
              <a:extLst>
                <a:ext uri="{FF2B5EF4-FFF2-40B4-BE49-F238E27FC236}">
                  <a16:creationId xmlns:a16="http://schemas.microsoft.com/office/drawing/2014/main" id="{78FC617B-15C8-4F0B-5861-1186B2084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57391" name="Group 143">
            <a:extLst>
              <a:ext uri="{FF2B5EF4-FFF2-40B4-BE49-F238E27FC236}">
                <a16:creationId xmlns:a16="http://schemas.microsoft.com/office/drawing/2014/main" id="{1622D6CC-930D-C34A-75BA-B8FEFDE6031F}"/>
              </a:ext>
            </a:extLst>
          </p:cNvPr>
          <p:cNvGrpSpPr>
            <a:grpSpLocks/>
          </p:cNvGrpSpPr>
          <p:nvPr/>
        </p:nvGrpSpPr>
        <p:grpSpPr bwMode="auto">
          <a:xfrm>
            <a:off x="2855752" y="2933475"/>
            <a:ext cx="272905" cy="281259"/>
            <a:chOff x="1255" y="3461"/>
            <a:chExt cx="196" cy="202"/>
          </a:xfrm>
        </p:grpSpPr>
        <p:sp>
          <p:nvSpPr>
            <p:cNvPr id="57393" name="Oval 144">
              <a:extLst>
                <a:ext uri="{FF2B5EF4-FFF2-40B4-BE49-F238E27FC236}">
                  <a16:creationId xmlns:a16="http://schemas.microsoft.com/office/drawing/2014/main" id="{026A6924-95C8-BEB1-0845-AAB775DFF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4" name="Text Box 145">
              <a:extLst>
                <a:ext uri="{FF2B5EF4-FFF2-40B4-BE49-F238E27FC236}">
                  <a16:creationId xmlns:a16="http://schemas.microsoft.com/office/drawing/2014/main" id="{2F4E6089-8404-EE20-6FBD-FD8F0BC2A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57392" name="Text Box 146">
            <a:extLst>
              <a:ext uri="{FF2B5EF4-FFF2-40B4-BE49-F238E27FC236}">
                <a16:creationId xmlns:a16="http://schemas.microsoft.com/office/drawing/2014/main" id="{C9153A4A-6952-69BA-39AA-BF82F1748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203" y="4022306"/>
            <a:ext cx="3610414" cy="1577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i="1" u="sng" dirty="0">
                <a:solidFill>
                  <a:srgbClr val="FF0000"/>
                </a:solidFill>
                <a:latin typeface="Arial" panose="020B0604020202020204" pitchFamily="34" charset="0"/>
              </a:rPr>
              <a:t>Passive Scanning:</a:t>
            </a:r>
            <a:r>
              <a:rPr lang="en-US" altLang="en-US" sz="1403" u="sng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beacon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 frames sent from APs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3D950E-BB2F-96F6-EA7F-588FD30B4E07}"/>
              </a:ext>
            </a:extLst>
          </p:cNvPr>
          <p:cNvSpPr/>
          <p:nvPr/>
        </p:nvSpPr>
        <p:spPr>
          <a:xfrm>
            <a:off x="5387079" y="1724025"/>
            <a:ext cx="4150621" cy="5133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A565E918-55C9-B953-3367-105E12F1D2B8}"/>
              </a:ext>
            </a:extLst>
          </p:cNvPr>
          <p:cNvSpPr txBox="1">
            <a:spLocks/>
          </p:cNvSpPr>
          <p:nvPr/>
        </p:nvSpPr>
        <p:spPr>
          <a:xfrm>
            <a:off x="1316959" y="47625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1225-4A63-9226-4347-0E3EB54D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7ABEAB3D-4AF2-3A70-5BFC-DE5CB49A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883901" y="6400800"/>
            <a:ext cx="901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/>
              <a:t>6-</a:t>
            </a:r>
            <a:fld id="{1D842329-1C8B-4FF3-A2B3-7BB60168DBE7}" type="slidenum">
              <a:rPr lang="en-US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81</a:t>
            </a:fld>
            <a:endParaRPr lang="en-US" altLang="en-US" sz="122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F2C925C7-D253-DAE9-BCAE-CE126FDC6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22864" y="136795"/>
            <a:ext cx="7115010" cy="553998"/>
          </a:xfrm>
        </p:spPr>
        <p:txBody>
          <a:bodyPr/>
          <a:lstStyle/>
          <a:p>
            <a:r>
              <a:rPr lang="en-US" altLang="en-US" dirty="0"/>
              <a:t>802.11: passive/active scanning</a:t>
            </a:r>
          </a:p>
        </p:txBody>
      </p:sp>
      <p:sp>
        <p:nvSpPr>
          <p:cNvPr id="57348" name="Oval 6">
            <a:extLst>
              <a:ext uri="{FF2B5EF4-FFF2-40B4-BE49-F238E27FC236}">
                <a16:creationId xmlns:a16="http://schemas.microsoft.com/office/drawing/2014/main" id="{819997F4-7031-B9E9-9636-59AB1D21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048" y="2050711"/>
            <a:ext cx="2048176" cy="1950710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</a:endParaRPr>
          </a:p>
        </p:txBody>
      </p:sp>
      <p:sp>
        <p:nvSpPr>
          <p:cNvPr id="57349" name="Oval 7">
            <a:extLst>
              <a:ext uri="{FF2B5EF4-FFF2-40B4-BE49-F238E27FC236}">
                <a16:creationId xmlns:a16="http://schemas.microsoft.com/office/drawing/2014/main" id="{60D70A8C-A0E8-CCB0-A458-196263B5B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369" y="1993622"/>
            <a:ext cx="2048176" cy="1950711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0" name="Text Box 8">
            <a:extLst>
              <a:ext uri="{FF2B5EF4-FFF2-40B4-BE49-F238E27FC236}">
                <a16:creationId xmlns:a16="http://schemas.microsoft.com/office/drawing/2014/main" id="{E73ABBD4-996E-60A2-C9E9-4C5C826DD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209" y="2813728"/>
            <a:ext cx="57419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2</a:t>
            </a:r>
          </a:p>
        </p:txBody>
      </p:sp>
      <p:sp>
        <p:nvSpPr>
          <p:cNvPr id="57351" name="Text Box 9">
            <a:extLst>
              <a:ext uri="{FF2B5EF4-FFF2-40B4-BE49-F238E27FC236}">
                <a16:creationId xmlns:a16="http://schemas.microsoft.com/office/drawing/2014/main" id="{A8085952-8478-029D-7951-C88215442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019" y="2670314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2" name="Text Box 10">
            <a:extLst>
              <a:ext uri="{FF2B5EF4-FFF2-40B4-BE49-F238E27FC236}">
                <a16:creationId xmlns:a16="http://schemas.microsoft.com/office/drawing/2014/main" id="{DC50F748-10EC-EE58-79D2-CDA4B61D8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406" y="2787273"/>
            <a:ext cx="54534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1</a:t>
            </a:r>
          </a:p>
        </p:txBody>
      </p:sp>
      <p:sp>
        <p:nvSpPr>
          <p:cNvPr id="57353" name="Text Box 11">
            <a:extLst>
              <a:ext uri="{FF2B5EF4-FFF2-40B4-BE49-F238E27FC236}">
                <a16:creationId xmlns:a16="http://schemas.microsoft.com/office/drawing/2014/main" id="{C9542BA7-57EC-D645-42F4-2ED240720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264" y="3561431"/>
            <a:ext cx="404278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H1</a:t>
            </a:r>
          </a:p>
        </p:txBody>
      </p:sp>
      <p:sp>
        <p:nvSpPr>
          <p:cNvPr id="57354" name="Text Box 12">
            <a:extLst>
              <a:ext uri="{FF2B5EF4-FFF2-40B4-BE49-F238E27FC236}">
                <a16:creationId xmlns:a16="http://schemas.microsoft.com/office/drawing/2014/main" id="{7B4BA177-92FF-89C1-C22D-EFFDE01F2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4975" y="3388777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55" name="Text Box 13">
            <a:extLst>
              <a:ext uri="{FF2B5EF4-FFF2-40B4-BE49-F238E27FC236}">
                <a16:creationId xmlns:a16="http://schemas.microsoft.com/office/drawing/2014/main" id="{E86EDECA-0047-B924-CAEE-280B90BFD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8664" y="2100835"/>
            <a:ext cx="70243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2</a:t>
            </a:r>
          </a:p>
        </p:txBody>
      </p:sp>
      <p:sp>
        <p:nvSpPr>
          <p:cNvPr id="57356" name="Text Box 14">
            <a:extLst>
              <a:ext uri="{FF2B5EF4-FFF2-40B4-BE49-F238E27FC236}">
                <a16:creationId xmlns:a16="http://schemas.microsoft.com/office/drawing/2014/main" id="{47A42AC3-747F-48A0-1E16-13FE3DBB5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792" y="2056279"/>
            <a:ext cx="67358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1</a:t>
            </a:r>
          </a:p>
        </p:txBody>
      </p:sp>
      <p:grpSp>
        <p:nvGrpSpPr>
          <p:cNvPr id="57357" name="Group 15">
            <a:extLst>
              <a:ext uri="{FF2B5EF4-FFF2-40B4-BE49-F238E27FC236}">
                <a16:creationId xmlns:a16="http://schemas.microsoft.com/office/drawing/2014/main" id="{312D7C0B-5F25-1F02-63C3-478A05A21ADA}"/>
              </a:ext>
            </a:extLst>
          </p:cNvPr>
          <p:cNvGrpSpPr>
            <a:grpSpLocks/>
          </p:cNvGrpSpPr>
          <p:nvPr/>
        </p:nvGrpSpPr>
        <p:grpSpPr bwMode="auto">
          <a:xfrm>
            <a:off x="7850182" y="2538040"/>
            <a:ext cx="739349" cy="526316"/>
            <a:chOff x="1160" y="2192"/>
            <a:chExt cx="589" cy="440"/>
          </a:xfrm>
        </p:grpSpPr>
        <p:pic>
          <p:nvPicPr>
            <p:cNvPr id="57469" name="Picture 16" descr="31u_bnrz[1]">
              <a:extLst>
                <a:ext uri="{FF2B5EF4-FFF2-40B4-BE49-F238E27FC236}">
                  <a16:creationId xmlns:a16="http://schemas.microsoft.com/office/drawing/2014/main" id="{49D3E598-B60F-0FC3-BDD4-FA711B192E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70" name="AutoShape 17">
              <a:extLst>
                <a:ext uri="{FF2B5EF4-FFF2-40B4-BE49-F238E27FC236}">
                  <a16:creationId xmlns:a16="http://schemas.microsoft.com/office/drawing/2014/main" id="{1CF2D86E-B9EE-F95C-FAF1-11916F29FBF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1" name="Freeform 18">
              <a:extLst>
                <a:ext uri="{FF2B5EF4-FFF2-40B4-BE49-F238E27FC236}">
                  <a16:creationId xmlns:a16="http://schemas.microsoft.com/office/drawing/2014/main" id="{E4A44336-D7CE-C476-9408-E316C87AF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2" name="Freeform 19">
              <a:extLst>
                <a:ext uri="{FF2B5EF4-FFF2-40B4-BE49-F238E27FC236}">
                  <a16:creationId xmlns:a16="http://schemas.microsoft.com/office/drawing/2014/main" id="{4BF49DF7-EA57-6DAF-A272-ADA24174D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3" name="Freeform 20">
              <a:extLst>
                <a:ext uri="{FF2B5EF4-FFF2-40B4-BE49-F238E27FC236}">
                  <a16:creationId xmlns:a16="http://schemas.microsoft.com/office/drawing/2014/main" id="{B731F178-BF93-7FE9-C292-B9A2A3977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4" name="Freeform 21">
              <a:extLst>
                <a:ext uri="{FF2B5EF4-FFF2-40B4-BE49-F238E27FC236}">
                  <a16:creationId xmlns:a16="http://schemas.microsoft.com/office/drawing/2014/main" id="{63149698-A57B-476B-C4B8-BC01CA983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5" name="Freeform 22">
              <a:extLst>
                <a:ext uri="{FF2B5EF4-FFF2-40B4-BE49-F238E27FC236}">
                  <a16:creationId xmlns:a16="http://schemas.microsoft.com/office/drawing/2014/main" id="{7591ACF6-1AA0-921E-6E0B-12F3E95BC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6" name="Freeform 23">
              <a:extLst>
                <a:ext uri="{FF2B5EF4-FFF2-40B4-BE49-F238E27FC236}">
                  <a16:creationId xmlns:a16="http://schemas.microsoft.com/office/drawing/2014/main" id="{7E4C0572-A817-5666-9242-F7C0EC773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7" name="Freeform 24">
              <a:extLst>
                <a:ext uri="{FF2B5EF4-FFF2-40B4-BE49-F238E27FC236}">
                  <a16:creationId xmlns:a16="http://schemas.microsoft.com/office/drawing/2014/main" id="{9E8807B7-4E22-C53E-EACC-DAB177CE0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8" name="Freeform 25">
              <a:extLst>
                <a:ext uri="{FF2B5EF4-FFF2-40B4-BE49-F238E27FC236}">
                  <a16:creationId xmlns:a16="http://schemas.microsoft.com/office/drawing/2014/main" id="{02F5DF6B-FEE9-981F-2E7A-3BFF796D9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79" name="Freeform 26">
              <a:extLst>
                <a:ext uri="{FF2B5EF4-FFF2-40B4-BE49-F238E27FC236}">
                  <a16:creationId xmlns:a16="http://schemas.microsoft.com/office/drawing/2014/main" id="{AA585ACA-8089-66E5-5C8D-D34839868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0" name="Freeform 27">
              <a:extLst>
                <a:ext uri="{FF2B5EF4-FFF2-40B4-BE49-F238E27FC236}">
                  <a16:creationId xmlns:a16="http://schemas.microsoft.com/office/drawing/2014/main" id="{6CC03957-3200-C22B-998D-3A61CAFC4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1" name="Freeform 28">
              <a:extLst>
                <a:ext uri="{FF2B5EF4-FFF2-40B4-BE49-F238E27FC236}">
                  <a16:creationId xmlns:a16="http://schemas.microsoft.com/office/drawing/2014/main" id="{FDC35260-8758-5BC6-09F9-0460195FE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2" name="Freeform 29">
              <a:extLst>
                <a:ext uri="{FF2B5EF4-FFF2-40B4-BE49-F238E27FC236}">
                  <a16:creationId xmlns:a16="http://schemas.microsoft.com/office/drawing/2014/main" id="{CC633A0B-27C9-2532-044C-6E87CC241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3" name="Freeform 30">
              <a:extLst>
                <a:ext uri="{FF2B5EF4-FFF2-40B4-BE49-F238E27FC236}">
                  <a16:creationId xmlns:a16="http://schemas.microsoft.com/office/drawing/2014/main" id="{7056B9CF-3546-44F6-2411-BC419C81B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4" name="Freeform 31">
              <a:extLst>
                <a:ext uri="{FF2B5EF4-FFF2-40B4-BE49-F238E27FC236}">
                  <a16:creationId xmlns:a16="http://schemas.microsoft.com/office/drawing/2014/main" id="{25DE1909-FFC9-2824-3734-80CE095AF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5" name="Freeform 32">
              <a:extLst>
                <a:ext uri="{FF2B5EF4-FFF2-40B4-BE49-F238E27FC236}">
                  <a16:creationId xmlns:a16="http://schemas.microsoft.com/office/drawing/2014/main" id="{976DA266-3096-11CD-8F88-E1A31C7AB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86" name="Freeform 33">
              <a:extLst>
                <a:ext uri="{FF2B5EF4-FFF2-40B4-BE49-F238E27FC236}">
                  <a16:creationId xmlns:a16="http://schemas.microsoft.com/office/drawing/2014/main" id="{26450353-A4CB-5C34-A251-FA23556EB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58" name="Group 34">
            <a:extLst>
              <a:ext uri="{FF2B5EF4-FFF2-40B4-BE49-F238E27FC236}">
                <a16:creationId xmlns:a16="http://schemas.microsoft.com/office/drawing/2014/main" id="{79BAB503-EB38-6D6E-BBD9-C23DC748C2CD}"/>
              </a:ext>
            </a:extLst>
          </p:cNvPr>
          <p:cNvGrpSpPr>
            <a:grpSpLocks/>
          </p:cNvGrpSpPr>
          <p:nvPr/>
        </p:nvGrpSpPr>
        <p:grpSpPr bwMode="auto">
          <a:xfrm>
            <a:off x="6162629" y="2528293"/>
            <a:ext cx="740741" cy="526316"/>
            <a:chOff x="1160" y="2192"/>
            <a:chExt cx="589" cy="440"/>
          </a:xfrm>
        </p:grpSpPr>
        <p:pic>
          <p:nvPicPr>
            <p:cNvPr id="57451" name="Picture 35" descr="31u_bnrz[1]">
              <a:extLst>
                <a:ext uri="{FF2B5EF4-FFF2-40B4-BE49-F238E27FC236}">
                  <a16:creationId xmlns:a16="http://schemas.microsoft.com/office/drawing/2014/main" id="{C0EE37F5-94E9-6EB9-3794-63C9BFB37C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52" name="AutoShape 36">
              <a:extLst>
                <a:ext uri="{FF2B5EF4-FFF2-40B4-BE49-F238E27FC236}">
                  <a16:creationId xmlns:a16="http://schemas.microsoft.com/office/drawing/2014/main" id="{EFC1BB20-6174-9ADA-EF3E-792FC973D2A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3" name="Freeform 37">
              <a:extLst>
                <a:ext uri="{FF2B5EF4-FFF2-40B4-BE49-F238E27FC236}">
                  <a16:creationId xmlns:a16="http://schemas.microsoft.com/office/drawing/2014/main" id="{4A6BBCAC-05D4-35BE-B01A-EEFF3B70D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4" name="Freeform 38">
              <a:extLst>
                <a:ext uri="{FF2B5EF4-FFF2-40B4-BE49-F238E27FC236}">
                  <a16:creationId xmlns:a16="http://schemas.microsoft.com/office/drawing/2014/main" id="{C1933B77-7C34-E1F2-2A06-31B3FE6DF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5" name="Freeform 39">
              <a:extLst>
                <a:ext uri="{FF2B5EF4-FFF2-40B4-BE49-F238E27FC236}">
                  <a16:creationId xmlns:a16="http://schemas.microsoft.com/office/drawing/2014/main" id="{EA287E6C-98CF-59B5-C31B-0E68224E8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6" name="Freeform 40">
              <a:extLst>
                <a:ext uri="{FF2B5EF4-FFF2-40B4-BE49-F238E27FC236}">
                  <a16:creationId xmlns:a16="http://schemas.microsoft.com/office/drawing/2014/main" id="{2E0B0B4D-4D8A-0099-EE82-EF8B5442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7" name="Freeform 41">
              <a:extLst>
                <a:ext uri="{FF2B5EF4-FFF2-40B4-BE49-F238E27FC236}">
                  <a16:creationId xmlns:a16="http://schemas.microsoft.com/office/drawing/2014/main" id="{7B1DEC48-0E35-A37A-A44C-74E41F165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8" name="Freeform 42">
              <a:extLst>
                <a:ext uri="{FF2B5EF4-FFF2-40B4-BE49-F238E27FC236}">
                  <a16:creationId xmlns:a16="http://schemas.microsoft.com/office/drawing/2014/main" id="{57A2D7C8-D3AE-21D3-4AC0-B92536D24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59" name="Freeform 43">
              <a:extLst>
                <a:ext uri="{FF2B5EF4-FFF2-40B4-BE49-F238E27FC236}">
                  <a16:creationId xmlns:a16="http://schemas.microsoft.com/office/drawing/2014/main" id="{A7916F61-B4C3-2F42-C542-54F4DD285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0" name="Freeform 44">
              <a:extLst>
                <a:ext uri="{FF2B5EF4-FFF2-40B4-BE49-F238E27FC236}">
                  <a16:creationId xmlns:a16="http://schemas.microsoft.com/office/drawing/2014/main" id="{713652E4-2BD1-EE7D-4C03-140998A7E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1" name="Freeform 45">
              <a:extLst>
                <a:ext uri="{FF2B5EF4-FFF2-40B4-BE49-F238E27FC236}">
                  <a16:creationId xmlns:a16="http://schemas.microsoft.com/office/drawing/2014/main" id="{25AB8443-A8CD-F577-BB7D-D6AE4BE5E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2" name="Freeform 46">
              <a:extLst>
                <a:ext uri="{FF2B5EF4-FFF2-40B4-BE49-F238E27FC236}">
                  <a16:creationId xmlns:a16="http://schemas.microsoft.com/office/drawing/2014/main" id="{4CBF8428-DA19-6DF3-ACDF-7387059D3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3" name="Freeform 47">
              <a:extLst>
                <a:ext uri="{FF2B5EF4-FFF2-40B4-BE49-F238E27FC236}">
                  <a16:creationId xmlns:a16="http://schemas.microsoft.com/office/drawing/2014/main" id="{1AF8A488-F6AB-4B7E-A43F-D74382459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4" name="Freeform 48">
              <a:extLst>
                <a:ext uri="{FF2B5EF4-FFF2-40B4-BE49-F238E27FC236}">
                  <a16:creationId xmlns:a16="http://schemas.microsoft.com/office/drawing/2014/main" id="{F2EB1F67-36E4-2A7C-A673-B25621BCC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5" name="Freeform 49">
              <a:extLst>
                <a:ext uri="{FF2B5EF4-FFF2-40B4-BE49-F238E27FC236}">
                  <a16:creationId xmlns:a16="http://schemas.microsoft.com/office/drawing/2014/main" id="{A577836C-23C2-03F3-391F-933C507F6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6" name="Freeform 50">
              <a:extLst>
                <a:ext uri="{FF2B5EF4-FFF2-40B4-BE49-F238E27FC236}">
                  <a16:creationId xmlns:a16="http://schemas.microsoft.com/office/drawing/2014/main" id="{23548BBE-B05B-01BC-9B5F-0D8389039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7" name="Freeform 51">
              <a:extLst>
                <a:ext uri="{FF2B5EF4-FFF2-40B4-BE49-F238E27FC236}">
                  <a16:creationId xmlns:a16="http://schemas.microsoft.com/office/drawing/2014/main" id="{29B9B387-1E0E-E227-DADA-E511DB12B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68" name="Freeform 52">
              <a:extLst>
                <a:ext uri="{FF2B5EF4-FFF2-40B4-BE49-F238E27FC236}">
                  <a16:creationId xmlns:a16="http://schemas.microsoft.com/office/drawing/2014/main" id="{E965BE4E-185D-FBA0-C7BD-EF653F7AD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59" name="Group 53">
            <a:extLst>
              <a:ext uri="{FF2B5EF4-FFF2-40B4-BE49-F238E27FC236}">
                <a16:creationId xmlns:a16="http://schemas.microsoft.com/office/drawing/2014/main" id="{4FAE35C7-8698-6038-D8C5-B042B83FD7E7}"/>
              </a:ext>
            </a:extLst>
          </p:cNvPr>
          <p:cNvGrpSpPr>
            <a:grpSpLocks/>
          </p:cNvGrpSpPr>
          <p:nvPr/>
        </p:nvGrpSpPr>
        <p:grpSpPr bwMode="auto">
          <a:xfrm>
            <a:off x="6986912" y="3078279"/>
            <a:ext cx="556948" cy="516569"/>
            <a:chOff x="2870" y="1518"/>
            <a:chExt cx="292" cy="320"/>
          </a:xfrm>
        </p:grpSpPr>
        <p:graphicFrame>
          <p:nvGraphicFramePr>
            <p:cNvPr id="57449" name="Object 54">
              <a:extLst>
                <a:ext uri="{FF2B5EF4-FFF2-40B4-BE49-F238E27FC236}">
                  <a16:creationId xmlns:a16="http://schemas.microsoft.com/office/drawing/2014/main" id="{56E922B7-85CF-3A3E-78CD-F18FE262E9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57449" name="Object 54">
                          <a:extLst>
                            <a:ext uri="{FF2B5EF4-FFF2-40B4-BE49-F238E27FC236}">
                              <a16:creationId xmlns:a16="http://schemas.microsoft.com/office/drawing/2014/main" id="{0898A846-E371-32AE-9132-F475FD2729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50" name="Object 55">
              <a:extLst>
                <a:ext uri="{FF2B5EF4-FFF2-40B4-BE49-F238E27FC236}">
                  <a16:creationId xmlns:a16="http://schemas.microsoft.com/office/drawing/2014/main" id="{97673CEF-E43C-BAB9-A752-1555298A68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57450" name="Object 55">
                          <a:extLst>
                            <a:ext uri="{FF2B5EF4-FFF2-40B4-BE49-F238E27FC236}">
                              <a16:creationId xmlns:a16="http://schemas.microsoft.com/office/drawing/2014/main" id="{34BAC7E9-8A44-0BCC-7262-6C9AF6F97D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60" name="Freeform 56">
            <a:extLst>
              <a:ext uri="{FF2B5EF4-FFF2-40B4-BE49-F238E27FC236}">
                <a16:creationId xmlns:a16="http://schemas.microsoft.com/office/drawing/2014/main" id="{C1F30BD4-8808-3DA6-81F5-4E6E01212106}"/>
              </a:ext>
            </a:extLst>
          </p:cNvPr>
          <p:cNvSpPr>
            <a:spLocks/>
          </p:cNvSpPr>
          <p:nvPr/>
        </p:nvSpPr>
        <p:spPr bwMode="auto">
          <a:xfrm>
            <a:off x="7333612" y="2937650"/>
            <a:ext cx="763019" cy="197717"/>
          </a:xfrm>
          <a:custGeom>
            <a:avLst/>
            <a:gdLst>
              <a:gd name="T0" fmla="*/ 0 w 548"/>
              <a:gd name="T1" fmla="*/ 2147483646 h 142"/>
              <a:gd name="T2" fmla="*/ 0 w 548"/>
              <a:gd name="T3" fmla="*/ 0 h 142"/>
              <a:gd name="T4" fmla="*/ 2147483646 w 548"/>
              <a:gd name="T5" fmla="*/ 0 h 1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8" h="142">
                <a:moveTo>
                  <a:pt x="0" y="142"/>
                </a:moveTo>
                <a:lnTo>
                  <a:pt x="0" y="0"/>
                </a:lnTo>
                <a:lnTo>
                  <a:pt x="548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1" name="Line 57">
            <a:extLst>
              <a:ext uri="{FF2B5EF4-FFF2-40B4-BE49-F238E27FC236}">
                <a16:creationId xmlns:a16="http://schemas.microsoft.com/office/drawing/2014/main" id="{327E9D46-96C3-83E0-D8F0-24FF699C64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9580" y="2937649"/>
            <a:ext cx="72263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2" name="Line 58">
            <a:extLst>
              <a:ext uri="{FF2B5EF4-FFF2-40B4-BE49-F238E27FC236}">
                <a16:creationId xmlns:a16="http://schemas.microsoft.com/office/drawing/2014/main" id="{007F367A-2759-86D0-EAFA-AAAFA4820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3883" y="3004484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3" name="Line 59">
            <a:extLst>
              <a:ext uri="{FF2B5EF4-FFF2-40B4-BE49-F238E27FC236}">
                <a16:creationId xmlns:a16="http://schemas.microsoft.com/office/drawing/2014/main" id="{690321C2-8F8E-A27B-2A8C-1247EBE593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2218" y="3018407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4" name="Line 60">
            <a:extLst>
              <a:ext uri="{FF2B5EF4-FFF2-40B4-BE49-F238E27FC236}">
                <a16:creationId xmlns:a16="http://schemas.microsoft.com/office/drawing/2014/main" id="{74918906-1B62-737E-3B74-4BBB0392E4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16264" y="3309413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65" name="Line 61">
            <a:extLst>
              <a:ext uri="{FF2B5EF4-FFF2-40B4-BE49-F238E27FC236}">
                <a16:creationId xmlns:a16="http://schemas.microsoft.com/office/drawing/2014/main" id="{00712DB4-678E-D785-C48A-5A8FD500F0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278" y="3152075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57366" name="Group 62">
            <a:extLst>
              <a:ext uri="{FF2B5EF4-FFF2-40B4-BE49-F238E27FC236}">
                <a16:creationId xmlns:a16="http://schemas.microsoft.com/office/drawing/2014/main" id="{108DB7BB-02DC-504E-F4E5-B115DABED98B}"/>
              </a:ext>
            </a:extLst>
          </p:cNvPr>
          <p:cNvGrpSpPr>
            <a:grpSpLocks/>
          </p:cNvGrpSpPr>
          <p:nvPr/>
        </p:nvGrpSpPr>
        <p:grpSpPr bwMode="auto">
          <a:xfrm>
            <a:off x="7201337" y="2787276"/>
            <a:ext cx="272905" cy="281259"/>
            <a:chOff x="1255" y="3461"/>
            <a:chExt cx="196" cy="202"/>
          </a:xfrm>
        </p:grpSpPr>
        <p:sp>
          <p:nvSpPr>
            <p:cNvPr id="57447" name="Oval 63">
              <a:extLst>
                <a:ext uri="{FF2B5EF4-FFF2-40B4-BE49-F238E27FC236}">
                  <a16:creationId xmlns:a16="http://schemas.microsoft.com/office/drawing/2014/main" id="{F630306F-49AA-BBD4-7A14-784CAF1BB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8" name="Text Box 64">
              <a:extLst>
                <a:ext uri="{FF2B5EF4-FFF2-40B4-BE49-F238E27FC236}">
                  <a16:creationId xmlns:a16="http://schemas.microsoft.com/office/drawing/2014/main" id="{BC0BC2B9-6FC3-D2AB-5B66-A2B46069B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7367" name="Group 65">
            <a:extLst>
              <a:ext uri="{FF2B5EF4-FFF2-40B4-BE49-F238E27FC236}">
                <a16:creationId xmlns:a16="http://schemas.microsoft.com/office/drawing/2014/main" id="{4340A902-387F-0F0A-4976-19B7577CB574}"/>
              </a:ext>
            </a:extLst>
          </p:cNvPr>
          <p:cNvGrpSpPr>
            <a:grpSpLocks/>
          </p:cNvGrpSpPr>
          <p:nvPr/>
        </p:nvGrpSpPr>
        <p:grpSpPr bwMode="auto">
          <a:xfrm>
            <a:off x="7702591" y="2959929"/>
            <a:ext cx="272905" cy="281259"/>
            <a:chOff x="1851" y="2490"/>
            <a:chExt cx="196" cy="202"/>
          </a:xfrm>
        </p:grpSpPr>
        <p:sp>
          <p:nvSpPr>
            <p:cNvPr id="57445" name="Oval 66">
              <a:extLst>
                <a:ext uri="{FF2B5EF4-FFF2-40B4-BE49-F238E27FC236}">
                  <a16:creationId xmlns:a16="http://schemas.microsoft.com/office/drawing/2014/main" id="{FC56F60F-6676-A54F-D145-7AC04425F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6" name="Text Box 67">
              <a:extLst>
                <a:ext uri="{FF2B5EF4-FFF2-40B4-BE49-F238E27FC236}">
                  <a16:creationId xmlns:a16="http://schemas.microsoft.com/office/drawing/2014/main" id="{B4F6E2BC-D1A0-37FC-D74F-A1C98BEBD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68" name="Group 68">
            <a:extLst>
              <a:ext uri="{FF2B5EF4-FFF2-40B4-BE49-F238E27FC236}">
                <a16:creationId xmlns:a16="http://schemas.microsoft.com/office/drawing/2014/main" id="{ADA16B12-EE91-0141-20DD-59C909632357}"/>
              </a:ext>
            </a:extLst>
          </p:cNvPr>
          <p:cNvGrpSpPr>
            <a:grpSpLocks/>
          </p:cNvGrpSpPr>
          <p:nvPr/>
        </p:nvGrpSpPr>
        <p:grpSpPr bwMode="auto">
          <a:xfrm>
            <a:off x="6757173" y="2975245"/>
            <a:ext cx="272905" cy="281259"/>
            <a:chOff x="1851" y="2490"/>
            <a:chExt cx="196" cy="202"/>
          </a:xfrm>
        </p:grpSpPr>
        <p:sp>
          <p:nvSpPr>
            <p:cNvPr id="57443" name="Oval 69">
              <a:extLst>
                <a:ext uri="{FF2B5EF4-FFF2-40B4-BE49-F238E27FC236}">
                  <a16:creationId xmlns:a16="http://schemas.microsoft.com/office/drawing/2014/main" id="{37E7FA5D-0622-8709-9FB5-FD7EB789A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4" name="Text Box 70">
              <a:extLst>
                <a:ext uri="{FF2B5EF4-FFF2-40B4-BE49-F238E27FC236}">
                  <a16:creationId xmlns:a16="http://schemas.microsoft.com/office/drawing/2014/main" id="{901E9874-47DF-BF16-91EB-0553C1E9A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69" name="Group 71">
            <a:extLst>
              <a:ext uri="{FF2B5EF4-FFF2-40B4-BE49-F238E27FC236}">
                <a16:creationId xmlns:a16="http://schemas.microsoft.com/office/drawing/2014/main" id="{AC6DEC2C-33D2-AC10-7F3F-944EDEDA3536}"/>
              </a:ext>
            </a:extLst>
          </p:cNvPr>
          <p:cNvGrpSpPr>
            <a:grpSpLocks/>
          </p:cNvGrpSpPr>
          <p:nvPr/>
        </p:nvGrpSpPr>
        <p:grpSpPr bwMode="auto">
          <a:xfrm>
            <a:off x="7652466" y="3172962"/>
            <a:ext cx="272905" cy="281259"/>
            <a:chOff x="1851" y="2490"/>
            <a:chExt cx="196" cy="202"/>
          </a:xfrm>
        </p:grpSpPr>
        <p:sp>
          <p:nvSpPr>
            <p:cNvPr id="57441" name="Oval 72">
              <a:extLst>
                <a:ext uri="{FF2B5EF4-FFF2-40B4-BE49-F238E27FC236}">
                  <a16:creationId xmlns:a16="http://schemas.microsoft.com/office/drawing/2014/main" id="{4F260C4A-8EE6-C775-2485-732E4288F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2" name="Text Box 73">
              <a:extLst>
                <a:ext uri="{FF2B5EF4-FFF2-40B4-BE49-F238E27FC236}">
                  <a16:creationId xmlns:a16="http://schemas.microsoft.com/office/drawing/2014/main" id="{52E8D97D-2561-7899-B553-57882135D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57370" name="Group 74">
            <a:extLst>
              <a:ext uri="{FF2B5EF4-FFF2-40B4-BE49-F238E27FC236}">
                <a16:creationId xmlns:a16="http://schemas.microsoft.com/office/drawing/2014/main" id="{4FEBD85A-D572-777E-E04D-A38DE5708924}"/>
              </a:ext>
            </a:extLst>
          </p:cNvPr>
          <p:cNvGrpSpPr>
            <a:grpSpLocks/>
          </p:cNvGrpSpPr>
          <p:nvPr/>
        </p:nvGrpSpPr>
        <p:grpSpPr bwMode="auto">
          <a:xfrm>
            <a:off x="7905877" y="3253719"/>
            <a:ext cx="272905" cy="281259"/>
            <a:chOff x="1851" y="2490"/>
            <a:chExt cx="196" cy="202"/>
          </a:xfrm>
        </p:grpSpPr>
        <p:sp>
          <p:nvSpPr>
            <p:cNvPr id="57439" name="Oval 75">
              <a:extLst>
                <a:ext uri="{FF2B5EF4-FFF2-40B4-BE49-F238E27FC236}">
                  <a16:creationId xmlns:a16="http://schemas.microsoft.com/office/drawing/2014/main" id="{19A6377B-6624-ACD0-088E-077D8DFC5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40" name="Text Box 76">
              <a:extLst>
                <a:ext uri="{FF2B5EF4-FFF2-40B4-BE49-F238E27FC236}">
                  <a16:creationId xmlns:a16="http://schemas.microsoft.com/office/drawing/2014/main" id="{5BA84FD2-E9B5-269D-2D98-36FA0FDDA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57371" name="Text Box 77">
            <a:extLst>
              <a:ext uri="{FF2B5EF4-FFF2-40B4-BE49-F238E27FC236}">
                <a16:creationId xmlns:a16="http://schemas.microsoft.com/office/drawing/2014/main" id="{229DBDA0-B9D7-E0AB-181B-4D43B1E48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079" y="4009775"/>
            <a:ext cx="3475355" cy="230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i="1" u="sng" dirty="0">
                <a:solidFill>
                  <a:srgbClr val="FF0000"/>
                </a:solidFill>
                <a:latin typeface="Arial" panose="020B0604020202020204" pitchFamily="34" charset="0"/>
              </a:rPr>
              <a:t>Active Scanning</a:t>
            </a:r>
            <a:r>
              <a:rPr lang="en-US" altLang="en-US" sz="1403" dirty="0">
                <a:solidFill>
                  <a:srgbClr val="FF0000"/>
                </a:solidFill>
                <a:latin typeface="Arial" panose="020B0604020202020204" pitchFamily="34" charset="0"/>
              </a:rPr>
              <a:t>: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Probe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broadcast from H1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Probes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 from APs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</a:t>
            </a:r>
          </a:p>
        </p:txBody>
      </p:sp>
      <p:sp>
        <p:nvSpPr>
          <p:cNvPr id="57372" name="Oval 80">
            <a:extLst>
              <a:ext uri="{FF2B5EF4-FFF2-40B4-BE49-F238E27FC236}">
                <a16:creationId xmlns:a16="http://schemas.microsoft.com/office/drawing/2014/main" id="{B4FCA0CC-5B7B-EC11-8E80-29FFFC470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62" y="2075774"/>
            <a:ext cx="2048176" cy="1950710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</a:endParaRPr>
          </a:p>
        </p:txBody>
      </p:sp>
      <p:sp>
        <p:nvSpPr>
          <p:cNvPr id="57373" name="Oval 81">
            <a:extLst>
              <a:ext uri="{FF2B5EF4-FFF2-40B4-BE49-F238E27FC236}">
                <a16:creationId xmlns:a16="http://schemas.microsoft.com/office/drawing/2014/main" id="{3FE7F733-039B-4A79-89D1-9568366E6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783" y="2018685"/>
            <a:ext cx="2048176" cy="1950711"/>
          </a:xfrm>
          <a:prstGeom prst="ellipse">
            <a:avLst/>
          </a:prstGeom>
          <a:solidFill>
            <a:srgbClr val="00CCFF">
              <a:alpha val="4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4" name="Text Box 82">
            <a:extLst>
              <a:ext uri="{FF2B5EF4-FFF2-40B4-BE49-F238E27FC236}">
                <a16:creationId xmlns:a16="http://schemas.microsoft.com/office/drawing/2014/main" id="{26A66F96-F63E-BBD1-75D6-FB576585B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623" y="2838791"/>
            <a:ext cx="57419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2</a:t>
            </a:r>
          </a:p>
        </p:txBody>
      </p:sp>
      <p:sp>
        <p:nvSpPr>
          <p:cNvPr id="57375" name="Text Box 83">
            <a:extLst>
              <a:ext uri="{FF2B5EF4-FFF2-40B4-BE49-F238E27FC236}">
                <a16:creationId xmlns:a16="http://schemas.microsoft.com/office/drawing/2014/main" id="{59BAD60D-AEF8-36EF-69A3-665CBFC95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433" y="2695377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6" name="Text Box 84">
            <a:extLst>
              <a:ext uri="{FF2B5EF4-FFF2-40B4-BE49-F238E27FC236}">
                <a16:creationId xmlns:a16="http://schemas.microsoft.com/office/drawing/2014/main" id="{F198D7B7-90B8-BC86-C323-9B8F71F04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819" y="2812336"/>
            <a:ext cx="54534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AP 1</a:t>
            </a:r>
          </a:p>
        </p:txBody>
      </p:sp>
      <p:sp>
        <p:nvSpPr>
          <p:cNvPr id="57377" name="Text Box 85">
            <a:extLst>
              <a:ext uri="{FF2B5EF4-FFF2-40B4-BE49-F238E27FC236}">
                <a16:creationId xmlns:a16="http://schemas.microsoft.com/office/drawing/2014/main" id="{7C1D8A70-B8C9-8056-DA00-939C3391A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677" y="3586493"/>
            <a:ext cx="404278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H1</a:t>
            </a:r>
          </a:p>
        </p:txBody>
      </p:sp>
      <p:sp>
        <p:nvSpPr>
          <p:cNvPr id="57378" name="Text Box 86">
            <a:extLst>
              <a:ext uri="{FF2B5EF4-FFF2-40B4-BE49-F238E27FC236}">
                <a16:creationId xmlns:a16="http://schemas.microsoft.com/office/drawing/2014/main" id="{99E51D9B-5BA1-E255-BFD0-E4A574BE3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388" y="3413839"/>
            <a:ext cx="184731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3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79" name="Text Box 87">
            <a:extLst>
              <a:ext uri="{FF2B5EF4-FFF2-40B4-BE49-F238E27FC236}">
                <a16:creationId xmlns:a16="http://schemas.microsoft.com/office/drawing/2014/main" id="{272F1B11-291A-7473-EE58-2178BFCE9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077" y="2125898"/>
            <a:ext cx="702436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2</a:t>
            </a:r>
          </a:p>
        </p:txBody>
      </p:sp>
      <p:sp>
        <p:nvSpPr>
          <p:cNvPr id="57380" name="Text Box 88">
            <a:extLst>
              <a:ext uri="{FF2B5EF4-FFF2-40B4-BE49-F238E27FC236}">
                <a16:creationId xmlns:a16="http://schemas.microsoft.com/office/drawing/2014/main" id="{F47CA104-AF52-C2E7-6E9A-168C6FEDF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206" y="2081342"/>
            <a:ext cx="673582" cy="30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3">
                <a:solidFill>
                  <a:srgbClr val="000000"/>
                </a:solidFill>
              </a:rPr>
              <a:t>BBS 1</a:t>
            </a:r>
          </a:p>
        </p:txBody>
      </p:sp>
      <p:grpSp>
        <p:nvGrpSpPr>
          <p:cNvPr id="57381" name="Group 89">
            <a:extLst>
              <a:ext uri="{FF2B5EF4-FFF2-40B4-BE49-F238E27FC236}">
                <a16:creationId xmlns:a16="http://schemas.microsoft.com/office/drawing/2014/main" id="{FBBB893C-EC3E-A946-426E-91B8342F64B4}"/>
              </a:ext>
            </a:extLst>
          </p:cNvPr>
          <p:cNvGrpSpPr>
            <a:grpSpLocks/>
          </p:cNvGrpSpPr>
          <p:nvPr/>
        </p:nvGrpSpPr>
        <p:grpSpPr bwMode="auto">
          <a:xfrm>
            <a:off x="4015596" y="2563103"/>
            <a:ext cx="739349" cy="526316"/>
            <a:chOff x="1160" y="2192"/>
            <a:chExt cx="589" cy="440"/>
          </a:xfrm>
        </p:grpSpPr>
        <p:pic>
          <p:nvPicPr>
            <p:cNvPr id="57421" name="Picture 90" descr="31u_bnrz[1]">
              <a:extLst>
                <a:ext uri="{FF2B5EF4-FFF2-40B4-BE49-F238E27FC236}">
                  <a16:creationId xmlns:a16="http://schemas.microsoft.com/office/drawing/2014/main" id="{04C80928-2641-0FEA-8DBB-20330CCC1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22" name="AutoShape 91">
              <a:extLst>
                <a:ext uri="{FF2B5EF4-FFF2-40B4-BE49-F238E27FC236}">
                  <a16:creationId xmlns:a16="http://schemas.microsoft.com/office/drawing/2014/main" id="{E4D6BBAB-7A16-8107-828A-3D7474273DD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3" name="Freeform 92">
              <a:extLst>
                <a:ext uri="{FF2B5EF4-FFF2-40B4-BE49-F238E27FC236}">
                  <a16:creationId xmlns:a16="http://schemas.microsoft.com/office/drawing/2014/main" id="{24A30C70-D78F-88E7-429F-E109935D3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4" name="Freeform 93">
              <a:extLst>
                <a:ext uri="{FF2B5EF4-FFF2-40B4-BE49-F238E27FC236}">
                  <a16:creationId xmlns:a16="http://schemas.microsoft.com/office/drawing/2014/main" id="{C2FAC5BA-4CDE-82E5-50AA-FF6481435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5" name="Freeform 94">
              <a:extLst>
                <a:ext uri="{FF2B5EF4-FFF2-40B4-BE49-F238E27FC236}">
                  <a16:creationId xmlns:a16="http://schemas.microsoft.com/office/drawing/2014/main" id="{FEC92592-39CD-5828-F9E7-3C67D17F8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6" name="Freeform 95">
              <a:extLst>
                <a:ext uri="{FF2B5EF4-FFF2-40B4-BE49-F238E27FC236}">
                  <a16:creationId xmlns:a16="http://schemas.microsoft.com/office/drawing/2014/main" id="{BA71F80F-6640-1E2A-C874-7FCB896E7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7" name="Freeform 96">
              <a:extLst>
                <a:ext uri="{FF2B5EF4-FFF2-40B4-BE49-F238E27FC236}">
                  <a16:creationId xmlns:a16="http://schemas.microsoft.com/office/drawing/2014/main" id="{ED090840-ACC2-BA1B-D37B-772A2FFB4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8" name="Freeform 97">
              <a:extLst>
                <a:ext uri="{FF2B5EF4-FFF2-40B4-BE49-F238E27FC236}">
                  <a16:creationId xmlns:a16="http://schemas.microsoft.com/office/drawing/2014/main" id="{8D579F70-720D-7E50-8890-042FD20A4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9" name="Freeform 98">
              <a:extLst>
                <a:ext uri="{FF2B5EF4-FFF2-40B4-BE49-F238E27FC236}">
                  <a16:creationId xmlns:a16="http://schemas.microsoft.com/office/drawing/2014/main" id="{4559D139-72B7-4D7B-B6E7-E0FFE5131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0" name="Freeform 99">
              <a:extLst>
                <a:ext uri="{FF2B5EF4-FFF2-40B4-BE49-F238E27FC236}">
                  <a16:creationId xmlns:a16="http://schemas.microsoft.com/office/drawing/2014/main" id="{A8747CE3-8C17-DD27-6217-FA3087011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1" name="Freeform 100">
              <a:extLst>
                <a:ext uri="{FF2B5EF4-FFF2-40B4-BE49-F238E27FC236}">
                  <a16:creationId xmlns:a16="http://schemas.microsoft.com/office/drawing/2014/main" id="{1418A722-E525-FA53-52D8-45C007025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2" name="Freeform 101">
              <a:extLst>
                <a:ext uri="{FF2B5EF4-FFF2-40B4-BE49-F238E27FC236}">
                  <a16:creationId xmlns:a16="http://schemas.microsoft.com/office/drawing/2014/main" id="{4796A003-94D5-4522-8976-71A649AF6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3" name="Freeform 102">
              <a:extLst>
                <a:ext uri="{FF2B5EF4-FFF2-40B4-BE49-F238E27FC236}">
                  <a16:creationId xmlns:a16="http://schemas.microsoft.com/office/drawing/2014/main" id="{E7C6A953-9ED4-45BD-7364-40381B28B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4" name="Freeform 103">
              <a:extLst>
                <a:ext uri="{FF2B5EF4-FFF2-40B4-BE49-F238E27FC236}">
                  <a16:creationId xmlns:a16="http://schemas.microsoft.com/office/drawing/2014/main" id="{FA622C1F-EF9D-E8BC-3C65-A5D2ABCF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5" name="Freeform 104">
              <a:extLst>
                <a:ext uri="{FF2B5EF4-FFF2-40B4-BE49-F238E27FC236}">
                  <a16:creationId xmlns:a16="http://schemas.microsoft.com/office/drawing/2014/main" id="{27E44FB4-96C1-7A4A-DAC5-AA86909B7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6" name="Freeform 105">
              <a:extLst>
                <a:ext uri="{FF2B5EF4-FFF2-40B4-BE49-F238E27FC236}">
                  <a16:creationId xmlns:a16="http://schemas.microsoft.com/office/drawing/2014/main" id="{842D654A-68EF-85F4-70C6-53697B3DE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7" name="Freeform 106">
              <a:extLst>
                <a:ext uri="{FF2B5EF4-FFF2-40B4-BE49-F238E27FC236}">
                  <a16:creationId xmlns:a16="http://schemas.microsoft.com/office/drawing/2014/main" id="{DE942B63-EF94-B672-187B-69D0BFB32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38" name="Freeform 107">
              <a:extLst>
                <a:ext uri="{FF2B5EF4-FFF2-40B4-BE49-F238E27FC236}">
                  <a16:creationId xmlns:a16="http://schemas.microsoft.com/office/drawing/2014/main" id="{383E639D-0040-D513-6811-9776935D4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82" name="Group 108">
            <a:extLst>
              <a:ext uri="{FF2B5EF4-FFF2-40B4-BE49-F238E27FC236}">
                <a16:creationId xmlns:a16="http://schemas.microsoft.com/office/drawing/2014/main" id="{DF697386-A053-6AE8-817F-582F0261427F}"/>
              </a:ext>
            </a:extLst>
          </p:cNvPr>
          <p:cNvGrpSpPr>
            <a:grpSpLocks/>
          </p:cNvGrpSpPr>
          <p:nvPr/>
        </p:nvGrpSpPr>
        <p:grpSpPr bwMode="auto">
          <a:xfrm>
            <a:off x="2328042" y="2553356"/>
            <a:ext cx="740741" cy="526316"/>
            <a:chOff x="1160" y="2192"/>
            <a:chExt cx="589" cy="440"/>
          </a:xfrm>
        </p:grpSpPr>
        <p:pic>
          <p:nvPicPr>
            <p:cNvPr id="57403" name="Picture 109" descr="31u_bnrz[1]">
              <a:extLst>
                <a:ext uri="{FF2B5EF4-FFF2-40B4-BE49-F238E27FC236}">
                  <a16:creationId xmlns:a16="http://schemas.microsoft.com/office/drawing/2014/main" id="{B0FF8AAC-AAEE-506E-7EE6-AEA0BE3942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04" name="AutoShape 110">
              <a:extLst>
                <a:ext uri="{FF2B5EF4-FFF2-40B4-BE49-F238E27FC236}">
                  <a16:creationId xmlns:a16="http://schemas.microsoft.com/office/drawing/2014/main" id="{DE3ADDB2-1C63-2011-5BBB-B90748023A5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5" name="Freeform 111">
              <a:extLst>
                <a:ext uri="{FF2B5EF4-FFF2-40B4-BE49-F238E27FC236}">
                  <a16:creationId xmlns:a16="http://schemas.microsoft.com/office/drawing/2014/main" id="{6CDAEDFA-8337-4731-3116-69CF8B76B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6" name="Freeform 112">
              <a:extLst>
                <a:ext uri="{FF2B5EF4-FFF2-40B4-BE49-F238E27FC236}">
                  <a16:creationId xmlns:a16="http://schemas.microsoft.com/office/drawing/2014/main" id="{9EA62CCE-22DA-4E7A-748E-867EE4884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7" name="Freeform 113">
              <a:extLst>
                <a:ext uri="{FF2B5EF4-FFF2-40B4-BE49-F238E27FC236}">
                  <a16:creationId xmlns:a16="http://schemas.microsoft.com/office/drawing/2014/main" id="{F2362439-CFEF-7AB1-0475-DF89A9912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8" name="Freeform 114">
              <a:extLst>
                <a:ext uri="{FF2B5EF4-FFF2-40B4-BE49-F238E27FC236}">
                  <a16:creationId xmlns:a16="http://schemas.microsoft.com/office/drawing/2014/main" id="{AA96ACFF-C796-91C0-FD64-A7D85A580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09" name="Freeform 115">
              <a:extLst>
                <a:ext uri="{FF2B5EF4-FFF2-40B4-BE49-F238E27FC236}">
                  <a16:creationId xmlns:a16="http://schemas.microsoft.com/office/drawing/2014/main" id="{0729787A-F129-924F-1D2B-154447717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0" name="Freeform 116">
              <a:extLst>
                <a:ext uri="{FF2B5EF4-FFF2-40B4-BE49-F238E27FC236}">
                  <a16:creationId xmlns:a16="http://schemas.microsoft.com/office/drawing/2014/main" id="{9A5B06A7-A0A4-4662-190E-106883E02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1" name="Freeform 117">
              <a:extLst>
                <a:ext uri="{FF2B5EF4-FFF2-40B4-BE49-F238E27FC236}">
                  <a16:creationId xmlns:a16="http://schemas.microsoft.com/office/drawing/2014/main" id="{2AC74480-1F5E-9F5B-4336-6666074CE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2" name="Freeform 118">
              <a:extLst>
                <a:ext uri="{FF2B5EF4-FFF2-40B4-BE49-F238E27FC236}">
                  <a16:creationId xmlns:a16="http://schemas.microsoft.com/office/drawing/2014/main" id="{2F54A416-7069-092D-8511-00B73E663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3" name="Freeform 119">
              <a:extLst>
                <a:ext uri="{FF2B5EF4-FFF2-40B4-BE49-F238E27FC236}">
                  <a16:creationId xmlns:a16="http://schemas.microsoft.com/office/drawing/2014/main" id="{AE7B3B24-A920-BF31-821A-D3791C654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4" name="Freeform 120">
              <a:extLst>
                <a:ext uri="{FF2B5EF4-FFF2-40B4-BE49-F238E27FC236}">
                  <a16:creationId xmlns:a16="http://schemas.microsoft.com/office/drawing/2014/main" id="{CA823EB2-E166-3B37-FB4B-541BE0ABA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5" name="Freeform 121">
              <a:extLst>
                <a:ext uri="{FF2B5EF4-FFF2-40B4-BE49-F238E27FC236}">
                  <a16:creationId xmlns:a16="http://schemas.microsoft.com/office/drawing/2014/main" id="{A8CEEE47-7762-D92D-BD61-21F8A180D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6" name="Freeform 122">
              <a:extLst>
                <a:ext uri="{FF2B5EF4-FFF2-40B4-BE49-F238E27FC236}">
                  <a16:creationId xmlns:a16="http://schemas.microsoft.com/office/drawing/2014/main" id="{48D240E1-84D3-CACB-34A2-A93EA1067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7" name="Freeform 123">
              <a:extLst>
                <a:ext uri="{FF2B5EF4-FFF2-40B4-BE49-F238E27FC236}">
                  <a16:creationId xmlns:a16="http://schemas.microsoft.com/office/drawing/2014/main" id="{6FB28596-9BFE-A8BC-0C44-B54174435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8" name="Freeform 124">
              <a:extLst>
                <a:ext uri="{FF2B5EF4-FFF2-40B4-BE49-F238E27FC236}">
                  <a16:creationId xmlns:a16="http://schemas.microsoft.com/office/drawing/2014/main" id="{503D65BB-394D-3A69-3F93-D489E737C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19" name="Freeform 125">
              <a:extLst>
                <a:ext uri="{FF2B5EF4-FFF2-40B4-BE49-F238E27FC236}">
                  <a16:creationId xmlns:a16="http://schemas.microsoft.com/office/drawing/2014/main" id="{EC9C30BE-A7E0-5B41-7AA7-F6B786FE2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20" name="Freeform 126">
              <a:extLst>
                <a:ext uri="{FF2B5EF4-FFF2-40B4-BE49-F238E27FC236}">
                  <a16:creationId xmlns:a16="http://schemas.microsoft.com/office/drawing/2014/main" id="{267153BE-A3E6-38BB-1966-7FF2EEE4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79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383" name="Group 127">
            <a:extLst>
              <a:ext uri="{FF2B5EF4-FFF2-40B4-BE49-F238E27FC236}">
                <a16:creationId xmlns:a16="http://schemas.microsoft.com/office/drawing/2014/main" id="{8959B5EC-2708-1484-37DD-8276088FC919}"/>
              </a:ext>
            </a:extLst>
          </p:cNvPr>
          <p:cNvGrpSpPr>
            <a:grpSpLocks/>
          </p:cNvGrpSpPr>
          <p:nvPr/>
        </p:nvGrpSpPr>
        <p:grpSpPr bwMode="auto">
          <a:xfrm>
            <a:off x="3152325" y="3103341"/>
            <a:ext cx="556948" cy="516569"/>
            <a:chOff x="2870" y="1518"/>
            <a:chExt cx="292" cy="320"/>
          </a:xfrm>
        </p:grpSpPr>
        <p:graphicFrame>
          <p:nvGraphicFramePr>
            <p:cNvPr id="57401" name="Object 128">
              <a:extLst>
                <a:ext uri="{FF2B5EF4-FFF2-40B4-BE49-F238E27FC236}">
                  <a16:creationId xmlns:a16="http://schemas.microsoft.com/office/drawing/2014/main" id="{7AF16066-3B40-00DA-E454-67DF1320F5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826829" imgH="840406" progId="MS_ClipArt_Gallery.2">
                    <p:embed/>
                  </p:oleObj>
                </mc:Choice>
                <mc:Fallback>
                  <p:oleObj name="Clip" r:id="rId4" imgW="826829" imgH="840406" progId="MS_ClipArt_Gallery.2">
                    <p:embed/>
                    <p:pic>
                      <p:nvPicPr>
                        <p:cNvPr id="57401" name="Object 128">
                          <a:extLst>
                            <a:ext uri="{FF2B5EF4-FFF2-40B4-BE49-F238E27FC236}">
                              <a16:creationId xmlns:a16="http://schemas.microsoft.com/office/drawing/2014/main" id="{921A2D20-C76D-00C1-5939-06E0BB2E69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02" name="Object 129">
              <a:extLst>
                <a:ext uri="{FF2B5EF4-FFF2-40B4-BE49-F238E27FC236}">
                  <a16:creationId xmlns:a16="http://schemas.microsoft.com/office/drawing/2014/main" id="{2C8B257F-BE09-5CE4-D302-71F7E89AEC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268295" imgH="1199426" progId="MS_ClipArt_Gallery.2">
                    <p:embed/>
                  </p:oleObj>
                </mc:Choice>
                <mc:Fallback>
                  <p:oleObj name="Clip" r:id="rId6" imgW="1268295" imgH="1199426" progId="MS_ClipArt_Gallery.2">
                    <p:embed/>
                    <p:pic>
                      <p:nvPicPr>
                        <p:cNvPr id="57402" name="Object 129">
                          <a:extLst>
                            <a:ext uri="{FF2B5EF4-FFF2-40B4-BE49-F238E27FC236}">
                              <a16:creationId xmlns:a16="http://schemas.microsoft.com/office/drawing/2014/main" id="{F417E630-4353-C782-2F93-D87E62EC5C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84" name="Line 130">
            <a:extLst>
              <a:ext uri="{FF2B5EF4-FFF2-40B4-BE49-F238E27FC236}">
                <a16:creationId xmlns:a16="http://schemas.microsoft.com/office/drawing/2014/main" id="{E2FA93C3-0CCE-57D8-984D-C2663C078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9297" y="3029546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5" name="Line 131">
            <a:extLst>
              <a:ext uri="{FF2B5EF4-FFF2-40B4-BE49-F238E27FC236}">
                <a16:creationId xmlns:a16="http://schemas.microsoft.com/office/drawing/2014/main" id="{E9DE032F-5618-5663-2030-C6243D5E53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7632" y="3043470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6" name="Line 132">
            <a:extLst>
              <a:ext uri="{FF2B5EF4-FFF2-40B4-BE49-F238E27FC236}">
                <a16:creationId xmlns:a16="http://schemas.microsoft.com/office/drawing/2014/main" id="{7184E06E-C9C0-630B-AF90-D4483B6318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1678" y="3334476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7387" name="Line 133">
            <a:extLst>
              <a:ext uri="{FF2B5EF4-FFF2-40B4-BE49-F238E27FC236}">
                <a16:creationId xmlns:a16="http://schemas.microsoft.com/office/drawing/2014/main" id="{4F679959-E68D-4F4D-700C-92AAD077FB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2691" y="3177138"/>
            <a:ext cx="565302" cy="19771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79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57388" name="Group 134">
            <a:extLst>
              <a:ext uri="{FF2B5EF4-FFF2-40B4-BE49-F238E27FC236}">
                <a16:creationId xmlns:a16="http://schemas.microsoft.com/office/drawing/2014/main" id="{4E6EC61F-5285-0238-25EF-9C714D3A1BCA}"/>
              </a:ext>
            </a:extLst>
          </p:cNvPr>
          <p:cNvGrpSpPr>
            <a:grpSpLocks/>
          </p:cNvGrpSpPr>
          <p:nvPr/>
        </p:nvGrpSpPr>
        <p:grpSpPr bwMode="auto">
          <a:xfrm>
            <a:off x="3879143" y="2957145"/>
            <a:ext cx="272905" cy="281259"/>
            <a:chOff x="1255" y="3461"/>
            <a:chExt cx="196" cy="202"/>
          </a:xfrm>
        </p:grpSpPr>
        <p:sp>
          <p:nvSpPr>
            <p:cNvPr id="57399" name="Oval 135">
              <a:extLst>
                <a:ext uri="{FF2B5EF4-FFF2-40B4-BE49-F238E27FC236}">
                  <a16:creationId xmlns:a16="http://schemas.microsoft.com/office/drawing/2014/main" id="{FF6B8A71-0B2E-DCA3-7016-D3DEEE029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400" name="Text Box 136">
              <a:extLst>
                <a:ext uri="{FF2B5EF4-FFF2-40B4-BE49-F238E27FC236}">
                  <a16:creationId xmlns:a16="http://schemas.microsoft.com/office/drawing/2014/main" id="{42302C54-7C2D-C79F-0793-92F1111BF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7389" name="Group 137">
            <a:extLst>
              <a:ext uri="{FF2B5EF4-FFF2-40B4-BE49-F238E27FC236}">
                <a16:creationId xmlns:a16="http://schemas.microsoft.com/office/drawing/2014/main" id="{66ECA6C9-2DFD-6180-C47E-FD10C9A610D0}"/>
              </a:ext>
            </a:extLst>
          </p:cNvPr>
          <p:cNvGrpSpPr>
            <a:grpSpLocks/>
          </p:cNvGrpSpPr>
          <p:nvPr/>
        </p:nvGrpSpPr>
        <p:grpSpPr bwMode="auto">
          <a:xfrm>
            <a:off x="3802564" y="3182708"/>
            <a:ext cx="272905" cy="281259"/>
            <a:chOff x="1851" y="2490"/>
            <a:chExt cx="196" cy="202"/>
          </a:xfrm>
        </p:grpSpPr>
        <p:sp>
          <p:nvSpPr>
            <p:cNvPr id="57397" name="Oval 138">
              <a:extLst>
                <a:ext uri="{FF2B5EF4-FFF2-40B4-BE49-F238E27FC236}">
                  <a16:creationId xmlns:a16="http://schemas.microsoft.com/office/drawing/2014/main" id="{2BD3DEF1-24D9-A430-849F-6E64B2403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8" name="Text Box 139">
              <a:extLst>
                <a:ext uri="{FF2B5EF4-FFF2-40B4-BE49-F238E27FC236}">
                  <a16:creationId xmlns:a16="http://schemas.microsoft.com/office/drawing/2014/main" id="{589B79C3-28F5-6327-A191-A316A410C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7390" name="Group 140">
            <a:extLst>
              <a:ext uri="{FF2B5EF4-FFF2-40B4-BE49-F238E27FC236}">
                <a16:creationId xmlns:a16="http://schemas.microsoft.com/office/drawing/2014/main" id="{5DAFF7C0-EBEE-25A3-EC17-D80CE1327118}"/>
              </a:ext>
            </a:extLst>
          </p:cNvPr>
          <p:cNvGrpSpPr>
            <a:grpSpLocks/>
          </p:cNvGrpSpPr>
          <p:nvPr/>
        </p:nvGrpSpPr>
        <p:grpSpPr bwMode="auto">
          <a:xfrm>
            <a:off x="4053191" y="3275997"/>
            <a:ext cx="272905" cy="281259"/>
            <a:chOff x="1851" y="2490"/>
            <a:chExt cx="196" cy="202"/>
          </a:xfrm>
        </p:grpSpPr>
        <p:sp>
          <p:nvSpPr>
            <p:cNvPr id="57395" name="Oval 141">
              <a:extLst>
                <a:ext uri="{FF2B5EF4-FFF2-40B4-BE49-F238E27FC236}">
                  <a16:creationId xmlns:a16="http://schemas.microsoft.com/office/drawing/2014/main" id="{FF08D9E2-0630-A9D9-8F06-A860D0D4E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6" name="Text Box 142">
              <a:extLst>
                <a:ext uri="{FF2B5EF4-FFF2-40B4-BE49-F238E27FC236}">
                  <a16:creationId xmlns:a16="http://schemas.microsoft.com/office/drawing/2014/main" id="{E9F036D8-D83D-D6E9-3EAD-6343A4C88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490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57391" name="Group 143">
            <a:extLst>
              <a:ext uri="{FF2B5EF4-FFF2-40B4-BE49-F238E27FC236}">
                <a16:creationId xmlns:a16="http://schemas.microsoft.com/office/drawing/2014/main" id="{D168F3A2-8AF8-FB11-6393-DD4B808E55C4}"/>
              </a:ext>
            </a:extLst>
          </p:cNvPr>
          <p:cNvGrpSpPr>
            <a:grpSpLocks/>
          </p:cNvGrpSpPr>
          <p:nvPr/>
        </p:nvGrpSpPr>
        <p:grpSpPr bwMode="auto">
          <a:xfrm>
            <a:off x="2855752" y="2933475"/>
            <a:ext cx="272905" cy="281259"/>
            <a:chOff x="1255" y="3461"/>
            <a:chExt cx="196" cy="202"/>
          </a:xfrm>
        </p:grpSpPr>
        <p:sp>
          <p:nvSpPr>
            <p:cNvPr id="57393" name="Oval 144">
              <a:extLst>
                <a:ext uri="{FF2B5EF4-FFF2-40B4-BE49-F238E27FC236}">
                  <a16:creationId xmlns:a16="http://schemas.microsoft.com/office/drawing/2014/main" id="{9CD446D1-BCDD-F322-59E1-AC97C564D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579">
                <a:solidFill>
                  <a:srgbClr val="000000"/>
                </a:solidFill>
              </a:endParaRPr>
            </a:p>
          </p:txBody>
        </p:sp>
        <p:sp>
          <p:nvSpPr>
            <p:cNvPr id="57394" name="Text Box 145">
              <a:extLst>
                <a:ext uri="{FF2B5EF4-FFF2-40B4-BE49-F238E27FC236}">
                  <a16:creationId xmlns:a16="http://schemas.microsoft.com/office/drawing/2014/main" id="{4F04AF89-E5F4-591B-00B6-1A20C5B67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" y="3461"/>
              <a:ext cx="19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28" b="1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57392" name="Text Box 146">
            <a:extLst>
              <a:ext uri="{FF2B5EF4-FFF2-40B4-BE49-F238E27FC236}">
                <a16:creationId xmlns:a16="http://schemas.microsoft.com/office/drawing/2014/main" id="{B7FB262C-C3E4-3444-F788-2E68E7D16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203" y="4022306"/>
            <a:ext cx="3610414" cy="1577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54" i="1" u="sng" dirty="0">
                <a:solidFill>
                  <a:srgbClr val="FF0000"/>
                </a:solidFill>
                <a:latin typeface="Arial" panose="020B0604020202020204" pitchFamily="34" charset="0"/>
              </a:rPr>
              <a:t>Passive Scanning:</a:t>
            </a:r>
            <a:r>
              <a:rPr lang="en-US" altLang="en-US" sz="1403" u="sng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beacon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 frames sent from APs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Request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</a:pPr>
            <a:r>
              <a:rPr lang="en-US" altLang="en-US" sz="1579" dirty="0">
                <a:solidFill>
                  <a:srgbClr val="FF0000"/>
                </a:solidFill>
                <a:latin typeface="Arial" panose="020B0604020202020204" pitchFamily="34" charset="0"/>
              </a:rPr>
              <a:t>association Response </a:t>
            </a:r>
            <a:r>
              <a:rPr lang="en-US" altLang="en-US" sz="1579" dirty="0">
                <a:solidFill>
                  <a:srgbClr val="000000"/>
                </a:solidFill>
                <a:latin typeface="Arial" panose="020B0604020202020204" pitchFamily="34" charset="0"/>
              </a:rPr>
              <a:t>frame sent: H1 to selected AP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73F8022-03C3-5747-B225-F9776C7E80EC}"/>
              </a:ext>
            </a:extLst>
          </p:cNvPr>
          <p:cNvSpPr txBox="1">
            <a:spLocks/>
          </p:cNvSpPr>
          <p:nvPr/>
        </p:nvSpPr>
        <p:spPr>
          <a:xfrm>
            <a:off x="1306125" y="8362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17973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1373" y="197930"/>
            <a:ext cx="397065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5" dirty="0"/>
              <a:t>Passive</a:t>
            </a:r>
            <a:r>
              <a:rPr sz="4400" spc="-600" dirty="0"/>
              <a:t> </a:t>
            </a:r>
            <a:r>
              <a:rPr sz="4400" spc="-60" dirty="0"/>
              <a:t>Scanning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86204"/>
            <a:ext cx="8015605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63754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75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monitors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each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specified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channel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for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  </a:t>
            </a:r>
            <a:r>
              <a:rPr sz="2800" spc="-105" dirty="0">
                <a:latin typeface="Trebuchet MS"/>
                <a:cs typeface="Trebuchet MS"/>
              </a:rPr>
              <a:t>time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span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most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b="1" spc="-120" dirty="0">
                <a:latin typeface="Trebuchet MS"/>
                <a:cs typeface="Trebuchet MS"/>
              </a:rPr>
              <a:t>MaxChannelTime</a:t>
            </a:r>
            <a:r>
              <a:rPr sz="2800" spc="-12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5" dirty="0">
                <a:latin typeface="Trebuchet MS"/>
                <a:cs typeface="Trebuchet MS"/>
              </a:rPr>
              <a:t>During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scanning,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adds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any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received</a:t>
            </a:r>
            <a:endParaRPr sz="2800">
              <a:latin typeface="Trebuchet MS"/>
              <a:cs typeface="Trebuchet MS"/>
            </a:endParaRPr>
          </a:p>
          <a:p>
            <a:pPr marL="354965" marR="763905">
              <a:lnSpc>
                <a:spcPct val="100000"/>
              </a:lnSpc>
            </a:pPr>
            <a:r>
              <a:rPr sz="2800" spc="-229" dirty="0">
                <a:latin typeface="Trebuchet MS"/>
                <a:cs typeface="Trebuchet MS"/>
              </a:rPr>
              <a:t>802.11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beacon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or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probe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response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its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cached  </a:t>
            </a:r>
            <a:r>
              <a:rPr sz="2800" spc="60" dirty="0">
                <a:latin typeface="Trebuchet MS"/>
                <a:cs typeface="Trebuchet MS"/>
              </a:rPr>
              <a:t>BSSID </a:t>
            </a:r>
            <a:r>
              <a:rPr sz="2800" spc="-50" dirty="0">
                <a:latin typeface="Trebuchet MS"/>
                <a:cs typeface="Trebuchet MS"/>
              </a:rPr>
              <a:t>scan</a:t>
            </a:r>
            <a:r>
              <a:rPr sz="2800" spc="-54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list.</a:t>
            </a:r>
            <a:endParaRPr sz="2800">
              <a:latin typeface="Trebuchet MS"/>
              <a:cs typeface="Trebuchet MS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6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scanning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duration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may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vary,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depending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25" dirty="0">
                <a:latin typeface="Trebuchet MS"/>
                <a:cs typeface="Trebuchet MS"/>
              </a:rPr>
              <a:t>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-55" dirty="0">
                <a:latin typeface="Trebuchet MS"/>
                <a:cs typeface="Trebuchet MS"/>
              </a:rPr>
              <a:t>#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channels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scanned,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BI,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load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 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system.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5D47E-B4CE-4C2A-92E5-B188354F74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82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35001AD0-0C21-EF86-7A8F-2B16826AB032}"/>
              </a:ext>
            </a:extLst>
          </p:cNvPr>
          <p:cNvSpPr txBox="1">
            <a:spLocks/>
          </p:cNvSpPr>
          <p:nvPr/>
        </p:nvSpPr>
        <p:spPr>
          <a:xfrm>
            <a:off x="1328626" y="196861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3428" y="227013"/>
            <a:ext cx="37217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5" dirty="0"/>
              <a:t>Active</a:t>
            </a:r>
            <a:r>
              <a:rPr sz="4400" spc="-615" dirty="0"/>
              <a:t> </a:t>
            </a:r>
            <a:r>
              <a:rPr sz="4400" spc="-60" dirty="0"/>
              <a:t>Scanning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8027034" cy="352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75" dirty="0">
                <a:latin typeface="Trebuchet MS"/>
                <a:cs typeface="Trebuchet MS"/>
              </a:rPr>
              <a:t>A </a:t>
            </a:r>
            <a:r>
              <a:rPr sz="2800" spc="-60" dirty="0">
                <a:latin typeface="Trebuchet MS"/>
                <a:cs typeface="Trebuchet MS"/>
              </a:rPr>
              <a:t>station </a:t>
            </a:r>
            <a:r>
              <a:rPr sz="2800" spc="-35" dirty="0">
                <a:latin typeface="Trebuchet MS"/>
                <a:cs typeface="Trebuchet MS"/>
              </a:rPr>
              <a:t>needs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60" dirty="0">
                <a:latin typeface="Trebuchet MS"/>
                <a:cs typeface="Trebuchet MS"/>
              </a:rPr>
              <a:t>generate </a:t>
            </a:r>
            <a:r>
              <a:rPr sz="2800" spc="-95" dirty="0">
                <a:latin typeface="Trebuchet MS"/>
                <a:cs typeface="Trebuchet MS"/>
              </a:rPr>
              <a:t>specific </a:t>
            </a:r>
            <a:r>
              <a:rPr sz="2800" spc="-55" dirty="0">
                <a:latin typeface="Trebuchet MS"/>
                <a:cs typeface="Trebuchet MS"/>
              </a:rPr>
              <a:t>request  </a:t>
            </a:r>
            <a:r>
              <a:rPr sz="2800" spc="-45" dirty="0">
                <a:latin typeface="Trebuchet MS"/>
                <a:cs typeface="Trebuchet MS"/>
              </a:rPr>
              <a:t>messages,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so‐called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b="1" spc="-95" dirty="0">
                <a:latin typeface="Trebuchet MS"/>
                <a:cs typeface="Trebuchet MS"/>
              </a:rPr>
              <a:t>probe</a:t>
            </a:r>
            <a:r>
              <a:rPr sz="2800" b="1" spc="-260" dirty="0">
                <a:latin typeface="Trebuchet MS"/>
                <a:cs typeface="Trebuchet MS"/>
              </a:rPr>
              <a:t> </a:t>
            </a:r>
            <a:r>
              <a:rPr sz="2800" b="1" spc="-125" dirty="0">
                <a:latin typeface="Trebuchet MS"/>
                <a:cs typeface="Trebuchet MS"/>
              </a:rPr>
              <a:t>frames</a:t>
            </a:r>
            <a:r>
              <a:rPr sz="2800" spc="-125" dirty="0">
                <a:latin typeface="Trebuchet MS"/>
                <a:cs typeface="Trebuchet MS"/>
              </a:rPr>
              <a:t>,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then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waiting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for  </a:t>
            </a:r>
            <a:r>
              <a:rPr sz="2800" b="1" spc="-95" dirty="0">
                <a:latin typeface="Trebuchet MS"/>
                <a:cs typeface="Trebuchet MS"/>
              </a:rPr>
              <a:t>probe </a:t>
            </a:r>
            <a:r>
              <a:rPr sz="2800" b="1" spc="-120" dirty="0">
                <a:latin typeface="Trebuchet MS"/>
                <a:cs typeface="Trebuchet MS"/>
              </a:rPr>
              <a:t>response</a:t>
            </a:r>
            <a:r>
              <a:rPr sz="2800" spc="-120" dirty="0">
                <a:latin typeface="Trebuchet MS"/>
                <a:cs typeface="Trebuchet MS"/>
              </a:rPr>
              <a:t>. </a:t>
            </a:r>
            <a:r>
              <a:rPr sz="2800" spc="-105" dirty="0">
                <a:latin typeface="Trebuchet MS"/>
                <a:cs typeface="Trebuchet MS"/>
              </a:rPr>
              <a:t>The </a:t>
            </a:r>
            <a:r>
              <a:rPr sz="2800" spc="-30" dirty="0">
                <a:latin typeface="Trebuchet MS"/>
                <a:cs typeface="Trebuchet MS"/>
              </a:rPr>
              <a:t>probe </a:t>
            </a:r>
            <a:r>
              <a:rPr sz="2800" spc="-25" dirty="0">
                <a:latin typeface="Trebuchet MS"/>
                <a:cs typeface="Trebuchet MS"/>
              </a:rPr>
              <a:t>response </a:t>
            </a:r>
            <a:r>
              <a:rPr sz="2800" spc="-55" dirty="0">
                <a:latin typeface="Trebuchet MS"/>
                <a:cs typeface="Trebuchet MS"/>
              </a:rPr>
              <a:t>need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50" dirty="0">
                <a:latin typeface="Trebuchet MS"/>
                <a:cs typeface="Trebuchet MS"/>
              </a:rPr>
              <a:t>be  </a:t>
            </a:r>
            <a:r>
              <a:rPr sz="2800" spc="-45" dirty="0">
                <a:latin typeface="Trebuchet MS"/>
                <a:cs typeface="Trebuchet MS"/>
              </a:rPr>
              <a:t>acknowledged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ensure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integrity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data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delivery.</a:t>
            </a:r>
            <a:endParaRPr sz="2800">
              <a:latin typeface="Trebuchet MS"/>
              <a:cs typeface="Trebuchet MS"/>
            </a:endParaRPr>
          </a:p>
          <a:p>
            <a:pPr marL="354965" marR="706120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probe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mechanism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forces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AP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convey  </a:t>
            </a:r>
            <a:r>
              <a:rPr sz="2800" spc="-105" dirty="0">
                <a:latin typeface="Trebuchet MS"/>
                <a:cs typeface="Trebuchet MS"/>
              </a:rPr>
              <a:t>basically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same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system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information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as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done  </a:t>
            </a:r>
            <a:r>
              <a:rPr sz="2800" spc="-65" dirty="0">
                <a:latin typeface="Trebuchet MS"/>
                <a:cs typeface="Trebuchet MS"/>
              </a:rPr>
              <a:t>with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80" dirty="0">
                <a:latin typeface="Trebuchet MS"/>
                <a:cs typeface="Trebuchet MS"/>
              </a:rPr>
              <a:t>periodic </a:t>
            </a:r>
            <a:r>
              <a:rPr sz="2800" spc="-50" dirty="0">
                <a:latin typeface="Trebuchet MS"/>
                <a:cs typeface="Trebuchet MS"/>
              </a:rPr>
              <a:t>beacon </a:t>
            </a:r>
            <a:r>
              <a:rPr sz="2800" spc="-60" dirty="0">
                <a:latin typeface="Trebuchet MS"/>
                <a:cs typeface="Trebuchet MS"/>
              </a:rPr>
              <a:t>signal </a:t>
            </a:r>
            <a:r>
              <a:rPr sz="2800" spc="-45" dirty="0">
                <a:latin typeface="Trebuchet MS"/>
                <a:cs typeface="Trebuchet MS"/>
              </a:rPr>
              <a:t>without  </a:t>
            </a:r>
            <a:r>
              <a:rPr sz="2800" spc="-50" dirty="0">
                <a:latin typeface="Trebuchet MS"/>
                <a:cs typeface="Trebuchet MS"/>
              </a:rPr>
              <a:t>unnecessary </a:t>
            </a:r>
            <a:r>
              <a:rPr sz="2800" spc="-60" dirty="0">
                <a:latin typeface="Trebuchet MS"/>
                <a:cs typeface="Trebuchet MS"/>
              </a:rPr>
              <a:t>waiting</a:t>
            </a:r>
            <a:r>
              <a:rPr sz="2800" spc="-46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times.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2C6CBB7-6238-47C8-A183-ACAF1CCF4A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83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79FEDAF0-D4C6-68F5-197B-043A79E02158}"/>
              </a:ext>
            </a:extLst>
          </p:cNvPr>
          <p:cNvSpPr txBox="1">
            <a:spLocks/>
          </p:cNvSpPr>
          <p:nvPr/>
        </p:nvSpPr>
        <p:spPr>
          <a:xfrm>
            <a:off x="1320113" y="19415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42" y="3791965"/>
            <a:ext cx="6820534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135" dirty="0">
                <a:latin typeface="Trebuchet MS"/>
                <a:cs typeface="Trebuchet MS"/>
              </a:rPr>
              <a:t>MEDIUM</a:t>
            </a:r>
            <a:r>
              <a:rPr b="1" spc="-520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ACCESS</a:t>
            </a:r>
            <a:r>
              <a:rPr b="1" spc="-505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CONTROL</a:t>
            </a:r>
            <a:r>
              <a:rPr b="1" spc="-53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WITH  </a:t>
            </a:r>
            <a:r>
              <a:rPr b="1" spc="55" dirty="0">
                <a:latin typeface="Trebuchet MS"/>
                <a:cs typeface="Trebuchet MS"/>
              </a:rPr>
              <a:t>SUPPORT </a:t>
            </a:r>
            <a:r>
              <a:rPr b="1" spc="-20" dirty="0">
                <a:latin typeface="Trebuchet MS"/>
                <a:cs typeface="Trebuchet MS"/>
              </a:rPr>
              <a:t>FOR QUALITY‐OF‐  </a:t>
            </a:r>
            <a:r>
              <a:rPr b="1" spc="30" dirty="0">
                <a:latin typeface="Trebuchet MS"/>
                <a:cs typeface="Trebuchet MS"/>
              </a:rPr>
              <a:t>SERVICE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3ED7D10-8979-4E80-9A84-184F9B2E9E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231" y="2714070"/>
            <a:ext cx="9789847" cy="174022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796414" marR="5080" indent="-1400175" algn="ctr" rtl="0">
              <a:spcBef>
                <a:spcPts val="100"/>
              </a:spcBef>
            </a:pPr>
            <a:r>
              <a:rPr kumimoji="0" lang="en-US" sz="36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IEE</a:t>
            </a:r>
            <a:r>
              <a:rPr lang="en-US" kern="1200" spc="-25" dirty="0">
                <a:ea typeface="+mn-ea"/>
              </a:rPr>
              <a:t>E 802.11 </a:t>
            </a:r>
            <a:br>
              <a:rPr lang="en-US" kern="1200" spc="-25" dirty="0">
                <a:ea typeface="+mn-ea"/>
              </a:rPr>
            </a:b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Point</a:t>
            </a:r>
            <a:r>
              <a:rPr kumimoji="0" lang="en-US" sz="3600" b="0" i="0" u="none" strike="noStrike" kern="1200" cap="none" spc="-204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Coordination</a:t>
            </a:r>
            <a:r>
              <a:rPr kumimoji="0" lang="en-US" sz="3600" b="0" i="0" u="none" strike="noStrike" kern="1200" cap="none" spc="-195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lang="en-US" sz="3600" b="0" i="0" u="none" strike="noStrike" kern="1200" cap="none" spc="-20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36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  <a:t>(PCF)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Trebuchet MS"/>
              </a:rPr>
            </a:br>
            <a:endParaRPr spc="-105" dirty="0"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D4CFDB-E291-44E1-99BE-B5B697E97E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591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2696" y="115475"/>
            <a:ext cx="596200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161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Medium </a:t>
            </a:r>
            <a:r>
              <a:rPr spc="-85" dirty="0"/>
              <a:t>Access </a:t>
            </a:r>
            <a:r>
              <a:rPr spc="-110" dirty="0"/>
              <a:t>Control </a:t>
            </a:r>
            <a:r>
              <a:rPr spc="-140" dirty="0"/>
              <a:t>with  </a:t>
            </a:r>
            <a:r>
              <a:rPr spc="-65" dirty="0"/>
              <a:t>Support </a:t>
            </a:r>
            <a:r>
              <a:rPr spc="-135" dirty="0"/>
              <a:t>for</a:t>
            </a:r>
            <a:r>
              <a:rPr spc="-815" dirty="0"/>
              <a:t> </a:t>
            </a:r>
            <a:r>
              <a:rPr spc="-110" dirty="0"/>
              <a:t>Quality‐of‐Service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8021955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40" dirty="0">
                <a:latin typeface="Trebuchet MS"/>
                <a:cs typeface="Trebuchet MS"/>
              </a:rPr>
              <a:t>IEEE </a:t>
            </a:r>
            <a:r>
              <a:rPr sz="2800" spc="-225" dirty="0">
                <a:latin typeface="Trebuchet MS"/>
                <a:cs typeface="Trebuchet MS"/>
              </a:rPr>
              <a:t>802.11 </a:t>
            </a:r>
            <a:r>
              <a:rPr sz="2800" spc="-70" dirty="0">
                <a:latin typeface="Trebuchet MS"/>
                <a:cs typeface="Trebuchet MS"/>
              </a:rPr>
              <a:t>defines the </a:t>
            </a:r>
            <a:r>
              <a:rPr sz="2800" b="1" spc="-95" dirty="0">
                <a:latin typeface="Trebuchet MS"/>
                <a:cs typeface="Trebuchet MS"/>
              </a:rPr>
              <a:t>Point </a:t>
            </a:r>
            <a:r>
              <a:rPr sz="2800" b="1" spc="-100" dirty="0">
                <a:latin typeface="Trebuchet MS"/>
                <a:cs typeface="Trebuchet MS"/>
              </a:rPr>
              <a:t>Coordination  </a:t>
            </a:r>
            <a:r>
              <a:rPr sz="2800" b="1" spc="-135" dirty="0">
                <a:latin typeface="Trebuchet MS"/>
                <a:cs typeface="Trebuchet MS"/>
              </a:rPr>
              <a:t>Function</a:t>
            </a:r>
            <a:r>
              <a:rPr sz="2800" b="1" spc="-250" dirty="0">
                <a:latin typeface="Trebuchet MS"/>
                <a:cs typeface="Trebuchet MS"/>
              </a:rPr>
              <a:t> </a:t>
            </a:r>
            <a:r>
              <a:rPr sz="2800" b="1" spc="-120" dirty="0">
                <a:latin typeface="Trebuchet MS"/>
                <a:cs typeface="Trebuchet MS"/>
              </a:rPr>
              <a:t>(PCF)</a:t>
            </a:r>
            <a:r>
              <a:rPr sz="2800" b="1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let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have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priority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access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 </a:t>
            </a:r>
            <a:r>
              <a:rPr sz="2800" spc="-70" dirty="0">
                <a:latin typeface="Trebuchet MS"/>
                <a:cs typeface="Trebuchet MS"/>
              </a:rPr>
              <a:t>the radio </a:t>
            </a:r>
            <a:r>
              <a:rPr sz="2800" spc="-110" dirty="0">
                <a:latin typeface="Trebuchet MS"/>
                <a:cs typeface="Trebuchet MS"/>
              </a:rPr>
              <a:t>channel, </a:t>
            </a:r>
            <a:r>
              <a:rPr sz="2800" spc="-65" dirty="0">
                <a:latin typeface="Trebuchet MS"/>
                <a:cs typeface="Trebuchet MS"/>
              </a:rPr>
              <a:t>coordinated </a:t>
            </a:r>
            <a:r>
              <a:rPr sz="2800" spc="-45" dirty="0">
                <a:latin typeface="Trebuchet MS"/>
                <a:cs typeface="Trebuchet MS"/>
              </a:rPr>
              <a:t>by </a:t>
            </a:r>
            <a:r>
              <a:rPr sz="2800" spc="-100" dirty="0">
                <a:latin typeface="Trebuchet MS"/>
                <a:cs typeface="Trebuchet MS"/>
              </a:rPr>
              <a:t>a </a:t>
            </a:r>
            <a:r>
              <a:rPr sz="2800" spc="-60" dirty="0">
                <a:latin typeface="Trebuchet MS"/>
                <a:cs typeface="Trebuchet MS"/>
              </a:rPr>
              <a:t>station </a:t>
            </a:r>
            <a:r>
              <a:rPr sz="2800" spc="-120" dirty="0">
                <a:latin typeface="Trebuchet MS"/>
                <a:cs typeface="Trebuchet MS"/>
              </a:rPr>
              <a:t>called  </a:t>
            </a:r>
            <a:r>
              <a:rPr sz="2800" b="1" spc="-90" dirty="0">
                <a:latin typeface="Trebuchet MS"/>
                <a:cs typeface="Trebuchet MS"/>
              </a:rPr>
              <a:t>Point </a:t>
            </a:r>
            <a:r>
              <a:rPr sz="2800" b="1" spc="-100" dirty="0">
                <a:latin typeface="Trebuchet MS"/>
                <a:cs typeface="Trebuchet MS"/>
              </a:rPr>
              <a:t>Coordinator</a:t>
            </a:r>
            <a:r>
              <a:rPr sz="2800" b="1" spc="-425" dirty="0">
                <a:latin typeface="Trebuchet MS"/>
                <a:cs typeface="Trebuchet MS"/>
              </a:rPr>
              <a:t> </a:t>
            </a:r>
            <a:r>
              <a:rPr sz="2800" b="1" spc="-135" dirty="0">
                <a:latin typeface="Trebuchet MS"/>
                <a:cs typeface="Trebuchet MS"/>
              </a:rPr>
              <a:t>(PC)</a:t>
            </a:r>
            <a:r>
              <a:rPr sz="2800" spc="-135" dirty="0">
                <a:latin typeface="Trebuchet MS"/>
                <a:cs typeface="Trebuchet MS"/>
              </a:rPr>
              <a:t>.</a:t>
            </a:r>
            <a:endParaRPr sz="28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80" dirty="0">
                <a:latin typeface="Trebuchet MS"/>
                <a:cs typeface="Trebuchet MS"/>
              </a:rPr>
              <a:t>PC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typically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resides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AP.</a:t>
            </a:r>
            <a:endParaRPr sz="2800" dirty="0">
              <a:latin typeface="Trebuchet MS"/>
              <a:cs typeface="Trebuchet MS"/>
            </a:endParaRPr>
          </a:p>
          <a:p>
            <a:pPr marL="354965" marR="223520" indent="-342900">
              <a:lnSpc>
                <a:spcPct val="100000"/>
              </a:lnSpc>
              <a:spcBef>
                <a:spcPts val="675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PCF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has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higher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priority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than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DCF,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because 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60" dirty="0">
                <a:latin typeface="Trebuchet MS"/>
                <a:cs typeface="Trebuchet MS"/>
              </a:rPr>
              <a:t>period </a:t>
            </a:r>
            <a:r>
              <a:rPr sz="2800" spc="-40" dirty="0">
                <a:latin typeface="Trebuchet MS"/>
                <a:cs typeface="Trebuchet MS"/>
              </a:rPr>
              <a:t>during </a:t>
            </a:r>
            <a:r>
              <a:rPr sz="2800" spc="-55" dirty="0">
                <a:latin typeface="Trebuchet MS"/>
                <a:cs typeface="Trebuchet MS"/>
              </a:rPr>
              <a:t>which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85" dirty="0">
                <a:latin typeface="Trebuchet MS"/>
                <a:cs typeface="Trebuchet MS"/>
              </a:rPr>
              <a:t>PCF </a:t>
            </a:r>
            <a:r>
              <a:rPr sz="2800" spc="-75" dirty="0">
                <a:latin typeface="Trebuchet MS"/>
                <a:cs typeface="Trebuchet MS"/>
              </a:rPr>
              <a:t>is </a:t>
            </a:r>
            <a:r>
              <a:rPr sz="2800" spc="-25" dirty="0">
                <a:latin typeface="Trebuchet MS"/>
                <a:cs typeface="Trebuchet MS"/>
              </a:rPr>
              <a:t>used </a:t>
            </a:r>
            <a:r>
              <a:rPr sz="2800" spc="-75" dirty="0">
                <a:latin typeface="Trebuchet MS"/>
                <a:cs typeface="Trebuchet MS"/>
              </a:rPr>
              <a:t>is  </a:t>
            </a:r>
            <a:r>
              <a:rPr sz="2800" spc="-70" dirty="0">
                <a:latin typeface="Trebuchet MS"/>
                <a:cs typeface="Trebuchet MS"/>
              </a:rPr>
              <a:t>protected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from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DCF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access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by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NAV.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8B13F6-6D25-4C43-BFDF-994663811B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t>86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10E9336A-66AA-22A8-2EA4-F4D9F85EC529}"/>
              </a:ext>
            </a:extLst>
          </p:cNvPr>
          <p:cNvSpPr txBox="1">
            <a:spLocks/>
          </p:cNvSpPr>
          <p:nvPr/>
        </p:nvSpPr>
        <p:spPr>
          <a:xfrm>
            <a:off x="1320113" y="67364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6227" y="635000"/>
            <a:ext cx="7609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chemeClr val="bg1">
                    <a:lumMod val="65000"/>
                  </a:schemeClr>
                </a:solidFill>
              </a:rPr>
              <a:t>Medium</a:t>
            </a:r>
            <a:r>
              <a:rPr spc="-535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85" dirty="0">
                <a:solidFill>
                  <a:schemeClr val="bg1">
                    <a:lumMod val="65000"/>
                  </a:schemeClr>
                </a:solidFill>
              </a:rPr>
              <a:t>Access</a:t>
            </a:r>
            <a:r>
              <a:rPr spc="-525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110" dirty="0">
                <a:solidFill>
                  <a:schemeClr val="bg1">
                    <a:lumMod val="65000"/>
                  </a:schemeClr>
                </a:solidFill>
              </a:rPr>
              <a:t>Control</a:t>
            </a:r>
            <a:r>
              <a:rPr spc="-35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140" dirty="0">
                <a:solidFill>
                  <a:schemeClr val="bg1">
                    <a:lumMod val="65000"/>
                  </a:schemeClr>
                </a:solidFill>
              </a:rPr>
              <a:t>with</a:t>
            </a:r>
            <a:r>
              <a:rPr spc="-45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65" dirty="0">
                <a:solidFill>
                  <a:schemeClr val="bg1">
                    <a:lumMod val="65000"/>
                  </a:schemeClr>
                </a:solidFill>
              </a:rPr>
              <a:t>Support</a:t>
            </a:r>
            <a:r>
              <a:rPr spc="-36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pc="-135" dirty="0">
                <a:solidFill>
                  <a:schemeClr val="bg1">
                    <a:lumMod val="65000"/>
                  </a:schemeClr>
                </a:solidFill>
              </a:rPr>
              <a:t>for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26663" y="1183640"/>
            <a:ext cx="34880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Quality‐of‐Service</a:t>
            </a:r>
            <a:endParaRPr sz="36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2226858"/>
            <a:ext cx="9144000" cy="1551305"/>
            <a:chOff x="774839" y="2226858"/>
            <a:chExt cx="9144000" cy="1551305"/>
          </a:xfrm>
        </p:grpSpPr>
        <p:sp>
          <p:nvSpPr>
            <p:cNvPr id="6" name="object 6"/>
            <p:cNvSpPr/>
            <p:nvPr/>
          </p:nvSpPr>
          <p:spPr>
            <a:xfrm>
              <a:off x="2511057" y="2226858"/>
              <a:ext cx="947789" cy="6938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4839" y="29207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16599" y="1969011"/>
            <a:ext cx="5565297" cy="138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735"/>
              </a:lnSpc>
              <a:spcBef>
                <a:spcPts val="10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time 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during</a:t>
            </a:r>
            <a:r>
              <a:rPr sz="2400" spc="-43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which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5600" marR="5080">
              <a:lnSpc>
                <a:spcPts val="2590"/>
              </a:lnSpc>
              <a:spcBef>
                <a:spcPts val="180"/>
              </a:spcBef>
            </a:pP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802.11 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stations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operate</a:t>
            </a:r>
            <a:r>
              <a:rPr sz="2400" spc="-4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is  </a:t>
            </a:r>
            <a:r>
              <a:rPr sz="2400" spc="-75" dirty="0">
                <a:solidFill>
                  <a:srgbClr val="FF0000"/>
                </a:solidFill>
                <a:latin typeface="Trebuchet MS"/>
                <a:cs typeface="Trebuchet MS"/>
              </a:rPr>
              <a:t>divided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into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repeated  periods, </a:t>
            </a:r>
            <a:r>
              <a:rPr sz="2400" spc="-100" dirty="0">
                <a:solidFill>
                  <a:srgbClr val="FF0000"/>
                </a:solidFill>
                <a:latin typeface="Trebuchet MS"/>
                <a:cs typeface="Trebuchet MS"/>
              </a:rPr>
              <a:t>called  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superframes</a:t>
            </a:r>
            <a:r>
              <a:rPr sz="2400" spc="-65" dirty="0">
                <a:latin typeface="Trebuchet MS"/>
                <a:cs typeface="Trebuchet MS"/>
              </a:rPr>
              <a:t>.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It</a:t>
            </a:r>
            <a:r>
              <a:rPr sz="2400" spc="-36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starts</a:t>
            </a:r>
            <a:r>
              <a:rPr lang="en-US" sz="2400" spc="-5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lang="en-US" sz="2400" spc="-55" dirty="0">
                <a:solidFill>
                  <a:srgbClr val="0070C0"/>
                </a:solidFill>
                <a:latin typeface="Trebuchet MS"/>
                <a:cs typeface="Trebuchet MS"/>
              </a:rPr>
              <a:t>with </a:t>
            </a:r>
            <a:r>
              <a:rPr lang="en-US" sz="2400" spc="-85" dirty="0">
                <a:solidFill>
                  <a:srgbClr val="0070C0"/>
                </a:solidFill>
                <a:latin typeface="Trebuchet MS"/>
                <a:cs typeface="Trebuchet MS"/>
              </a:rPr>
              <a:t>a </a:t>
            </a:r>
            <a:r>
              <a:rPr lang="en-US" sz="2400" spc="-75" dirty="0">
                <a:solidFill>
                  <a:srgbClr val="0070C0"/>
                </a:solidFill>
                <a:latin typeface="Trebuchet MS"/>
                <a:cs typeface="Trebuchet MS"/>
              </a:rPr>
              <a:t>beacon,</a:t>
            </a:r>
            <a:r>
              <a:rPr lang="en-US" sz="2400" spc="-49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lang="en-US" sz="2400" spc="-70" dirty="0">
                <a:solidFill>
                  <a:srgbClr val="0070C0"/>
                </a:solidFill>
                <a:latin typeface="Trebuchet MS"/>
                <a:cs typeface="Trebuchet MS"/>
              </a:rPr>
              <a:t>includes </a:t>
            </a:r>
            <a:endParaRPr sz="2400" dirty="0">
              <a:solidFill>
                <a:srgbClr val="0070C0"/>
              </a:solidFill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41639" y="2920745"/>
            <a:ext cx="3028950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73793" y="3848100"/>
            <a:ext cx="414020" cy="18415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ts val="1410"/>
              </a:lnSpc>
              <a:spcBef>
                <a:spcPts val="35"/>
              </a:spcBef>
            </a:pPr>
            <a:r>
              <a:rPr sz="1200" b="1" spc="5" dirty="0">
                <a:latin typeface="Arial"/>
                <a:cs typeface="Arial"/>
              </a:rPr>
              <a:t>(PCF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080" y="4022852"/>
            <a:ext cx="83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41639" y="4635246"/>
            <a:ext cx="3588385" cy="1423035"/>
            <a:chOff x="1841639" y="4635246"/>
            <a:chExt cx="3588385" cy="1423035"/>
          </a:xfrm>
        </p:grpSpPr>
        <p:sp>
          <p:nvSpPr>
            <p:cNvPr id="13" name="object 13"/>
            <p:cNvSpPr/>
            <p:nvPr/>
          </p:nvSpPr>
          <p:spPr>
            <a:xfrm>
              <a:off x="1841639" y="4635246"/>
              <a:ext cx="3028950" cy="13594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25559" y="5524500"/>
              <a:ext cx="2697480" cy="527685"/>
            </a:xfrm>
            <a:custGeom>
              <a:avLst/>
              <a:gdLst/>
              <a:ahLst/>
              <a:cxnLst/>
              <a:rect l="l" t="t" r="r" b="b"/>
              <a:pathLst>
                <a:path w="2697479" h="527685">
                  <a:moveTo>
                    <a:pt x="2697480" y="527303"/>
                  </a:moveTo>
                  <a:lnTo>
                    <a:pt x="2697479" y="0"/>
                  </a:lnTo>
                  <a:lnTo>
                    <a:pt x="0" y="0"/>
                  </a:lnTo>
                  <a:lnTo>
                    <a:pt x="0" y="527303"/>
                  </a:lnTo>
                  <a:lnTo>
                    <a:pt x="2697480" y="5273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18701" y="5518404"/>
              <a:ext cx="2711450" cy="539750"/>
            </a:xfrm>
            <a:custGeom>
              <a:avLst/>
              <a:gdLst/>
              <a:ahLst/>
              <a:cxnLst/>
              <a:rect l="l" t="t" r="r" b="b"/>
              <a:pathLst>
                <a:path w="2711450" h="539750">
                  <a:moveTo>
                    <a:pt x="2711196" y="539496"/>
                  </a:moveTo>
                  <a:lnTo>
                    <a:pt x="2711195" y="0"/>
                  </a:lnTo>
                  <a:lnTo>
                    <a:pt x="0" y="0"/>
                  </a:lnTo>
                  <a:lnTo>
                    <a:pt x="0" y="539496"/>
                  </a:lnTo>
                  <a:lnTo>
                    <a:pt x="6857" y="539496"/>
                  </a:lnTo>
                  <a:lnTo>
                    <a:pt x="6857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2698241" y="12192"/>
                  </a:lnTo>
                  <a:lnTo>
                    <a:pt x="2698241" y="6096"/>
                  </a:lnTo>
                  <a:lnTo>
                    <a:pt x="2704338" y="12192"/>
                  </a:lnTo>
                  <a:lnTo>
                    <a:pt x="2704338" y="539496"/>
                  </a:lnTo>
                  <a:lnTo>
                    <a:pt x="2711196" y="539496"/>
                  </a:lnTo>
                  <a:close/>
                </a:path>
                <a:path w="2711450" h="539750">
                  <a:moveTo>
                    <a:pt x="12954" y="12192"/>
                  </a:moveTo>
                  <a:lnTo>
                    <a:pt x="12954" y="6096"/>
                  </a:lnTo>
                  <a:lnTo>
                    <a:pt x="6857" y="12192"/>
                  </a:lnTo>
                  <a:lnTo>
                    <a:pt x="12954" y="12192"/>
                  </a:lnTo>
                  <a:close/>
                </a:path>
                <a:path w="2711450" h="539750">
                  <a:moveTo>
                    <a:pt x="12954" y="526542"/>
                  </a:moveTo>
                  <a:lnTo>
                    <a:pt x="12954" y="12192"/>
                  </a:lnTo>
                  <a:lnTo>
                    <a:pt x="6857" y="12192"/>
                  </a:lnTo>
                  <a:lnTo>
                    <a:pt x="6857" y="526542"/>
                  </a:lnTo>
                  <a:lnTo>
                    <a:pt x="12954" y="526542"/>
                  </a:lnTo>
                  <a:close/>
                </a:path>
                <a:path w="2711450" h="539750">
                  <a:moveTo>
                    <a:pt x="2704338" y="526542"/>
                  </a:moveTo>
                  <a:lnTo>
                    <a:pt x="6857" y="526542"/>
                  </a:lnTo>
                  <a:lnTo>
                    <a:pt x="12954" y="533400"/>
                  </a:lnTo>
                  <a:lnTo>
                    <a:pt x="12953" y="539496"/>
                  </a:lnTo>
                  <a:lnTo>
                    <a:pt x="2698242" y="539496"/>
                  </a:lnTo>
                  <a:lnTo>
                    <a:pt x="2698242" y="533400"/>
                  </a:lnTo>
                  <a:lnTo>
                    <a:pt x="2704338" y="526542"/>
                  </a:lnTo>
                  <a:close/>
                </a:path>
                <a:path w="2711450" h="539750">
                  <a:moveTo>
                    <a:pt x="12953" y="539496"/>
                  </a:moveTo>
                  <a:lnTo>
                    <a:pt x="12954" y="533400"/>
                  </a:lnTo>
                  <a:lnTo>
                    <a:pt x="6857" y="526542"/>
                  </a:lnTo>
                  <a:lnTo>
                    <a:pt x="6857" y="539496"/>
                  </a:lnTo>
                  <a:lnTo>
                    <a:pt x="12953" y="539496"/>
                  </a:lnTo>
                  <a:close/>
                </a:path>
                <a:path w="2711450" h="539750">
                  <a:moveTo>
                    <a:pt x="2704338" y="12192"/>
                  </a:moveTo>
                  <a:lnTo>
                    <a:pt x="2698241" y="6096"/>
                  </a:lnTo>
                  <a:lnTo>
                    <a:pt x="2698241" y="12192"/>
                  </a:lnTo>
                  <a:lnTo>
                    <a:pt x="2704338" y="12192"/>
                  </a:lnTo>
                  <a:close/>
                </a:path>
                <a:path w="2711450" h="539750">
                  <a:moveTo>
                    <a:pt x="2704338" y="526542"/>
                  </a:moveTo>
                  <a:lnTo>
                    <a:pt x="2704338" y="12192"/>
                  </a:lnTo>
                  <a:lnTo>
                    <a:pt x="2698241" y="12192"/>
                  </a:lnTo>
                  <a:lnTo>
                    <a:pt x="2698242" y="526542"/>
                  </a:lnTo>
                  <a:lnTo>
                    <a:pt x="2704338" y="526542"/>
                  </a:lnTo>
                  <a:close/>
                </a:path>
                <a:path w="2711450" h="539750">
                  <a:moveTo>
                    <a:pt x="2704338" y="539496"/>
                  </a:moveTo>
                  <a:lnTo>
                    <a:pt x="2704338" y="526542"/>
                  </a:lnTo>
                  <a:lnTo>
                    <a:pt x="2698242" y="533400"/>
                  </a:lnTo>
                  <a:lnTo>
                    <a:pt x="2698242" y="539496"/>
                  </a:lnTo>
                  <a:lnTo>
                    <a:pt x="2704338" y="539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30151" y="3648861"/>
            <a:ext cx="4874134" cy="18498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812165" marR="186055" indent="-457200" algn="just">
              <a:lnSpc>
                <a:spcPts val="2590"/>
              </a:lnSpc>
              <a:spcBef>
                <a:spcPts val="425"/>
              </a:spcBef>
              <a:buFont typeface="+mj-lt"/>
              <a:buAutoNum type="arabicPeriod"/>
            </a:pPr>
            <a:r>
              <a:rPr lang="en-US" sz="2400" spc="-70" dirty="0">
                <a:solidFill>
                  <a:srgbClr val="0070C0"/>
                </a:solidFill>
                <a:latin typeface="Trebuchet MS"/>
                <a:cs typeface="Trebuchet MS"/>
              </a:rPr>
              <a:t>Contention Free Period (</a:t>
            </a:r>
            <a:r>
              <a:rPr sz="2400" spc="-125" dirty="0">
                <a:solidFill>
                  <a:srgbClr val="0070C0"/>
                </a:solidFill>
                <a:latin typeface="Trebuchet MS"/>
                <a:cs typeface="Trebuchet MS"/>
              </a:rPr>
              <a:t>CFP</a:t>
            </a:r>
            <a:r>
              <a:rPr lang="en-US" sz="2400" spc="-125" dirty="0">
                <a:solidFill>
                  <a:srgbClr val="0070C0"/>
                </a:solidFill>
                <a:latin typeface="Trebuchet MS"/>
                <a:cs typeface="Trebuchet MS"/>
              </a:rPr>
              <a:t>), </a:t>
            </a:r>
          </a:p>
          <a:p>
            <a:pPr marL="812165" marR="186055" indent="-457200" algn="just">
              <a:lnSpc>
                <a:spcPts val="2590"/>
              </a:lnSpc>
              <a:spcBef>
                <a:spcPts val="425"/>
              </a:spcBef>
              <a:buFont typeface="+mj-lt"/>
              <a:buAutoNum type="arabicPeriod"/>
            </a:pPr>
            <a:r>
              <a:rPr lang="en-US" sz="2400" spc="-125" dirty="0">
                <a:solidFill>
                  <a:srgbClr val="0070C0"/>
                </a:solidFill>
                <a:latin typeface="Trebuchet MS"/>
                <a:cs typeface="Trebuchet MS"/>
              </a:rPr>
              <a:t>Contention period</a:t>
            </a:r>
            <a:r>
              <a:rPr sz="2400" spc="-22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lang="en-US" sz="2400" spc="-140" dirty="0">
                <a:solidFill>
                  <a:srgbClr val="0070C0"/>
                </a:solidFill>
                <a:latin typeface="Trebuchet MS"/>
                <a:cs typeface="Trebuchet MS"/>
              </a:rPr>
              <a:t>(CP)</a:t>
            </a:r>
            <a:r>
              <a:rPr sz="2400" spc="-140" dirty="0">
                <a:solidFill>
                  <a:srgbClr val="0070C0"/>
                </a:solidFill>
                <a:latin typeface="Trebuchet MS"/>
                <a:cs typeface="Trebuchet MS"/>
              </a:rPr>
              <a:t>.</a:t>
            </a:r>
            <a:endParaRPr sz="2400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ts val="259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5600" algn="l"/>
              </a:tabLst>
            </a:pPr>
            <a:r>
              <a:rPr sz="2400" spc="-25" dirty="0">
                <a:latin typeface="Trebuchet MS"/>
                <a:cs typeface="Trebuchet MS"/>
              </a:rPr>
              <a:t>During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125" dirty="0">
                <a:latin typeface="Trebuchet MS"/>
                <a:cs typeface="Trebuchet MS"/>
              </a:rPr>
              <a:t>CFP,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75" dirty="0">
                <a:latin typeface="Trebuchet MS"/>
                <a:cs typeface="Trebuchet MS"/>
              </a:rPr>
              <a:t>PCF 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used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accessing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95" dirty="0">
                <a:latin typeface="Trebuchet MS"/>
                <a:cs typeface="Trebuchet MS"/>
              </a:rPr>
              <a:t>channel,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while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DCF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  </a:t>
            </a:r>
            <a:r>
              <a:rPr sz="2400" spc="-25" dirty="0">
                <a:latin typeface="Trebuchet MS"/>
                <a:cs typeface="Trebuchet MS"/>
              </a:rPr>
              <a:t>used </a:t>
            </a:r>
            <a:r>
              <a:rPr sz="2400" spc="-40" dirty="0">
                <a:latin typeface="Trebuchet MS"/>
                <a:cs typeface="Trebuchet MS"/>
              </a:rPr>
              <a:t>during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54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CP.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03525" y="5562853"/>
            <a:ext cx="19500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114" dirty="0">
                <a:solidFill>
                  <a:srgbClr val="009ACC"/>
                </a:solidFill>
                <a:latin typeface="Times New Roman"/>
                <a:cs typeface="Times New Roman"/>
              </a:rPr>
              <a:t>Dependent </a:t>
            </a:r>
            <a:r>
              <a:rPr sz="1400" spc="100" dirty="0">
                <a:solidFill>
                  <a:srgbClr val="009ACC"/>
                </a:solidFill>
                <a:latin typeface="Times New Roman"/>
                <a:cs typeface="Times New Roman"/>
              </a:rPr>
              <a:t>on </a:t>
            </a:r>
            <a:r>
              <a:rPr sz="1400" spc="120" dirty="0">
                <a:solidFill>
                  <a:srgbClr val="009ACC"/>
                </a:solidFill>
                <a:latin typeface="Times New Roman"/>
                <a:cs typeface="Times New Roman"/>
              </a:rPr>
              <a:t>network  standard</a:t>
            </a:r>
            <a:r>
              <a:rPr sz="1400" spc="125" dirty="0">
                <a:solidFill>
                  <a:srgbClr val="009ACC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009ACC"/>
                </a:solidFill>
                <a:latin typeface="Times New Roman"/>
                <a:cs typeface="Times New Roman"/>
              </a:rPr>
              <a:t>choice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19" name="object 19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9938A69-7627-46D1-B2B6-80DF1D2B43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87</a:t>
            </a:fld>
            <a:endParaRPr lang="en-US"/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394171EC-3346-02A9-086B-B8FFAD92C2DA}"/>
              </a:ext>
            </a:extLst>
          </p:cNvPr>
          <p:cNvSpPr txBox="1">
            <a:spLocks/>
          </p:cNvSpPr>
          <p:nvPr/>
        </p:nvSpPr>
        <p:spPr>
          <a:xfrm>
            <a:off x="1229427" y="1190412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3998" y="841501"/>
            <a:ext cx="64909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40" dirty="0"/>
              <a:t>Point </a:t>
            </a:r>
            <a:r>
              <a:rPr sz="4400" spc="-125" dirty="0"/>
              <a:t>Coordination</a:t>
            </a:r>
            <a:r>
              <a:rPr sz="4400" spc="-950" dirty="0"/>
              <a:t> </a:t>
            </a:r>
            <a:r>
              <a:rPr sz="4400" spc="-145" dirty="0"/>
              <a:t>Function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971926" y="1928113"/>
            <a:ext cx="958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P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5733" y="1928113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1978" y="1928113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1046" y="1928113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82077" y="1928113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4839" y="1949195"/>
            <a:ext cx="9144000" cy="971550"/>
            <a:chOff x="774839" y="1949195"/>
            <a:chExt cx="9144000" cy="971550"/>
          </a:xfrm>
        </p:grpSpPr>
        <p:sp>
          <p:nvSpPr>
            <p:cNvPr id="9" name="object 9"/>
            <p:cNvSpPr/>
            <p:nvPr/>
          </p:nvSpPr>
          <p:spPr>
            <a:xfrm>
              <a:off x="5035943" y="1949208"/>
              <a:ext cx="2908935" cy="114300"/>
            </a:xfrm>
            <a:custGeom>
              <a:avLst/>
              <a:gdLst/>
              <a:ahLst/>
              <a:cxnLst/>
              <a:rect l="l" t="t" r="r" b="b"/>
              <a:pathLst>
                <a:path w="2908934" h="114300">
                  <a:moveTo>
                    <a:pt x="12954" y="89154"/>
                  </a:moveTo>
                  <a:lnTo>
                    <a:pt x="0" y="89154"/>
                  </a:lnTo>
                  <a:lnTo>
                    <a:pt x="0" y="114300"/>
                  </a:lnTo>
                  <a:lnTo>
                    <a:pt x="12954" y="114300"/>
                  </a:lnTo>
                  <a:lnTo>
                    <a:pt x="12954" y="89154"/>
                  </a:lnTo>
                  <a:close/>
                </a:path>
                <a:path w="2908934" h="114300">
                  <a:moveTo>
                    <a:pt x="12954" y="0"/>
                  </a:moveTo>
                  <a:lnTo>
                    <a:pt x="0" y="0"/>
                  </a:lnTo>
                  <a:lnTo>
                    <a:pt x="0" y="51054"/>
                  </a:lnTo>
                  <a:lnTo>
                    <a:pt x="12954" y="51054"/>
                  </a:lnTo>
                  <a:lnTo>
                    <a:pt x="12954" y="0"/>
                  </a:lnTo>
                  <a:close/>
                </a:path>
                <a:path w="2908934" h="114300">
                  <a:moveTo>
                    <a:pt x="2451354" y="89154"/>
                  </a:moveTo>
                  <a:lnTo>
                    <a:pt x="2438400" y="89154"/>
                  </a:lnTo>
                  <a:lnTo>
                    <a:pt x="2438400" y="114300"/>
                  </a:lnTo>
                  <a:lnTo>
                    <a:pt x="2451354" y="114300"/>
                  </a:lnTo>
                  <a:lnTo>
                    <a:pt x="2451354" y="89154"/>
                  </a:lnTo>
                  <a:close/>
                </a:path>
                <a:path w="2908934" h="114300">
                  <a:moveTo>
                    <a:pt x="2451354" y="0"/>
                  </a:moveTo>
                  <a:lnTo>
                    <a:pt x="2438400" y="0"/>
                  </a:lnTo>
                  <a:lnTo>
                    <a:pt x="2438400" y="51054"/>
                  </a:lnTo>
                  <a:lnTo>
                    <a:pt x="2451354" y="51054"/>
                  </a:lnTo>
                  <a:lnTo>
                    <a:pt x="2451354" y="0"/>
                  </a:lnTo>
                  <a:close/>
                </a:path>
                <a:path w="2908934" h="114300">
                  <a:moveTo>
                    <a:pt x="2908554" y="89154"/>
                  </a:moveTo>
                  <a:lnTo>
                    <a:pt x="2895600" y="89154"/>
                  </a:lnTo>
                  <a:lnTo>
                    <a:pt x="2895600" y="114300"/>
                  </a:lnTo>
                  <a:lnTo>
                    <a:pt x="2908554" y="114300"/>
                  </a:lnTo>
                  <a:lnTo>
                    <a:pt x="2908554" y="89154"/>
                  </a:lnTo>
                  <a:close/>
                </a:path>
                <a:path w="2908934" h="114300">
                  <a:moveTo>
                    <a:pt x="2908554" y="0"/>
                  </a:moveTo>
                  <a:lnTo>
                    <a:pt x="2895600" y="0"/>
                  </a:lnTo>
                  <a:lnTo>
                    <a:pt x="2895600" y="51054"/>
                  </a:lnTo>
                  <a:lnTo>
                    <a:pt x="2908554" y="51054"/>
                  </a:lnTo>
                  <a:lnTo>
                    <a:pt x="29085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20634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76526" y="2231390"/>
            <a:ext cx="633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latin typeface="Trebuchet MS"/>
                <a:cs typeface="Trebuchet MS"/>
              </a:rPr>
              <a:t>Sta.1</a:t>
            </a:r>
            <a:r>
              <a:rPr sz="1200" spc="-17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(PC)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75039" y="2171700"/>
            <a:ext cx="7086600" cy="394335"/>
            <a:chOff x="2375039" y="2171700"/>
            <a:chExt cx="7086600" cy="394335"/>
          </a:xfrm>
        </p:grpSpPr>
        <p:sp>
          <p:nvSpPr>
            <p:cNvPr id="13" name="object 13"/>
            <p:cNvSpPr/>
            <p:nvPr/>
          </p:nvSpPr>
          <p:spPr>
            <a:xfrm>
              <a:off x="2375039" y="2552712"/>
              <a:ext cx="7086600" cy="13335"/>
            </a:xfrm>
            <a:custGeom>
              <a:avLst/>
              <a:gdLst/>
              <a:ahLst/>
              <a:cxnLst/>
              <a:rect l="l" t="t" r="r" b="b"/>
              <a:pathLst>
                <a:path w="7086600" h="13335">
                  <a:moveTo>
                    <a:pt x="7086600" y="0"/>
                  </a:moveTo>
                  <a:lnTo>
                    <a:pt x="6248387" y="0"/>
                  </a:lnTo>
                  <a:lnTo>
                    <a:pt x="6248387" y="6096"/>
                  </a:lnTo>
                  <a:lnTo>
                    <a:pt x="5714987" y="6096"/>
                  </a:lnTo>
                  <a:lnTo>
                    <a:pt x="5714987" y="0"/>
                  </a:lnTo>
                  <a:lnTo>
                    <a:pt x="4952987" y="0"/>
                  </a:lnTo>
                  <a:lnTo>
                    <a:pt x="4952987" y="6096"/>
                  </a:lnTo>
                  <a:lnTo>
                    <a:pt x="3886187" y="6096"/>
                  </a:lnTo>
                  <a:lnTo>
                    <a:pt x="3886187" y="0"/>
                  </a:lnTo>
                  <a:lnTo>
                    <a:pt x="2514600" y="0"/>
                  </a:lnTo>
                  <a:lnTo>
                    <a:pt x="2514600" y="6096"/>
                  </a:lnTo>
                  <a:lnTo>
                    <a:pt x="1447800" y="6096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12954"/>
                  </a:lnTo>
                  <a:lnTo>
                    <a:pt x="2667000" y="12954"/>
                  </a:lnTo>
                  <a:lnTo>
                    <a:pt x="2667000" y="6096"/>
                  </a:lnTo>
                  <a:lnTo>
                    <a:pt x="3733800" y="6096"/>
                  </a:lnTo>
                  <a:lnTo>
                    <a:pt x="3733800" y="12954"/>
                  </a:lnTo>
                  <a:lnTo>
                    <a:pt x="5105387" y="12954"/>
                  </a:lnTo>
                  <a:lnTo>
                    <a:pt x="5105387" y="6096"/>
                  </a:lnTo>
                  <a:lnTo>
                    <a:pt x="5562587" y="6096"/>
                  </a:lnTo>
                  <a:lnTo>
                    <a:pt x="5562587" y="12954"/>
                  </a:lnTo>
                  <a:lnTo>
                    <a:pt x="7086600" y="12954"/>
                  </a:lnTo>
                  <a:lnTo>
                    <a:pt x="7086600" y="6096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7039" y="21777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399" y="381000"/>
                  </a:moveTo>
                  <a:lnTo>
                    <a:pt x="5333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399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0943" y="21717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5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533400" y="12953"/>
                  </a:lnTo>
                  <a:lnTo>
                    <a:pt x="533400" y="6095"/>
                  </a:lnTo>
                  <a:lnTo>
                    <a:pt x="539496" y="12953"/>
                  </a:lnTo>
                  <a:lnTo>
                    <a:pt x="539496" y="393953"/>
                  </a:lnTo>
                  <a:lnTo>
                    <a:pt x="546353" y="393953"/>
                  </a:lnTo>
                  <a:close/>
                </a:path>
                <a:path w="546735" h="394335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546735" h="394335">
                  <a:moveTo>
                    <a:pt x="12953" y="380999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380999"/>
                  </a:lnTo>
                  <a:lnTo>
                    <a:pt x="12953" y="380999"/>
                  </a:lnTo>
                  <a:close/>
                </a:path>
                <a:path w="546735" h="394335">
                  <a:moveTo>
                    <a:pt x="539496" y="380999"/>
                  </a:moveTo>
                  <a:lnTo>
                    <a:pt x="6095" y="380999"/>
                  </a:lnTo>
                  <a:lnTo>
                    <a:pt x="12953" y="387095"/>
                  </a:lnTo>
                  <a:lnTo>
                    <a:pt x="12953" y="393953"/>
                  </a:lnTo>
                  <a:lnTo>
                    <a:pt x="533400" y="393953"/>
                  </a:lnTo>
                  <a:lnTo>
                    <a:pt x="533400" y="387095"/>
                  </a:lnTo>
                  <a:lnTo>
                    <a:pt x="539496" y="380999"/>
                  </a:lnTo>
                  <a:close/>
                </a:path>
                <a:path w="546735" h="394335">
                  <a:moveTo>
                    <a:pt x="12953" y="393953"/>
                  </a:moveTo>
                  <a:lnTo>
                    <a:pt x="12953" y="387095"/>
                  </a:lnTo>
                  <a:lnTo>
                    <a:pt x="6095" y="380999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546735" h="394335">
                  <a:moveTo>
                    <a:pt x="539496" y="12953"/>
                  </a:moveTo>
                  <a:lnTo>
                    <a:pt x="533400" y="6095"/>
                  </a:lnTo>
                  <a:lnTo>
                    <a:pt x="533400" y="12953"/>
                  </a:lnTo>
                  <a:lnTo>
                    <a:pt x="539496" y="12953"/>
                  </a:lnTo>
                  <a:close/>
                </a:path>
                <a:path w="546735" h="394335">
                  <a:moveTo>
                    <a:pt x="539496" y="380999"/>
                  </a:moveTo>
                  <a:lnTo>
                    <a:pt x="539496" y="12953"/>
                  </a:lnTo>
                  <a:lnTo>
                    <a:pt x="533400" y="12953"/>
                  </a:lnTo>
                  <a:lnTo>
                    <a:pt x="533400" y="380999"/>
                  </a:lnTo>
                  <a:lnTo>
                    <a:pt x="539496" y="380999"/>
                  </a:lnTo>
                  <a:close/>
                </a:path>
                <a:path w="546735" h="394335">
                  <a:moveTo>
                    <a:pt x="539496" y="393953"/>
                  </a:moveTo>
                  <a:lnTo>
                    <a:pt x="539496" y="380999"/>
                  </a:lnTo>
                  <a:lnTo>
                    <a:pt x="533400" y="387095"/>
                  </a:lnTo>
                  <a:lnTo>
                    <a:pt x="533400" y="393953"/>
                  </a:lnTo>
                  <a:lnTo>
                    <a:pt x="5394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137039" y="2177795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700"/>
              </a:spcBef>
            </a:pPr>
            <a:r>
              <a:rPr sz="1200" spc="-20" dirty="0">
                <a:latin typeface="Trebuchet MS"/>
                <a:cs typeface="Trebuchet MS"/>
              </a:rPr>
              <a:t>beacon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16743" y="2171700"/>
            <a:ext cx="1080135" cy="394335"/>
            <a:chOff x="3816743" y="2171700"/>
            <a:chExt cx="1080135" cy="394335"/>
          </a:xfrm>
        </p:grpSpPr>
        <p:sp>
          <p:nvSpPr>
            <p:cNvPr id="18" name="object 18"/>
            <p:cNvSpPr/>
            <p:nvPr/>
          </p:nvSpPr>
          <p:spPr>
            <a:xfrm>
              <a:off x="3822839" y="217779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6743" y="2171700"/>
              <a:ext cx="1080135" cy="394335"/>
            </a:xfrm>
            <a:custGeom>
              <a:avLst/>
              <a:gdLst/>
              <a:ahLst/>
              <a:cxnLst/>
              <a:rect l="l" t="t" r="r" b="b"/>
              <a:pathLst>
                <a:path w="1080135" h="394335">
                  <a:moveTo>
                    <a:pt x="1079753" y="393953"/>
                  </a:moveTo>
                  <a:lnTo>
                    <a:pt x="10797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6" y="393953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066800" y="12953"/>
                  </a:lnTo>
                  <a:lnTo>
                    <a:pt x="1066800" y="6095"/>
                  </a:lnTo>
                  <a:lnTo>
                    <a:pt x="1072896" y="12953"/>
                  </a:lnTo>
                  <a:lnTo>
                    <a:pt x="1072896" y="393953"/>
                  </a:lnTo>
                  <a:lnTo>
                    <a:pt x="1079753" y="393953"/>
                  </a:lnTo>
                  <a:close/>
                </a:path>
                <a:path w="1080135" h="394335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1080135" h="394335">
                  <a:moveTo>
                    <a:pt x="12953" y="380999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80999"/>
                  </a:lnTo>
                  <a:lnTo>
                    <a:pt x="12953" y="380999"/>
                  </a:lnTo>
                  <a:close/>
                </a:path>
                <a:path w="1080135" h="394335">
                  <a:moveTo>
                    <a:pt x="1072896" y="380999"/>
                  </a:moveTo>
                  <a:lnTo>
                    <a:pt x="6096" y="380999"/>
                  </a:lnTo>
                  <a:lnTo>
                    <a:pt x="12953" y="387095"/>
                  </a:lnTo>
                  <a:lnTo>
                    <a:pt x="12953" y="393953"/>
                  </a:lnTo>
                  <a:lnTo>
                    <a:pt x="1066800" y="393953"/>
                  </a:lnTo>
                  <a:lnTo>
                    <a:pt x="1066800" y="387095"/>
                  </a:lnTo>
                  <a:lnTo>
                    <a:pt x="1072896" y="380999"/>
                  </a:lnTo>
                  <a:close/>
                </a:path>
                <a:path w="1080135" h="394335">
                  <a:moveTo>
                    <a:pt x="12953" y="393953"/>
                  </a:moveTo>
                  <a:lnTo>
                    <a:pt x="12953" y="387095"/>
                  </a:lnTo>
                  <a:lnTo>
                    <a:pt x="6096" y="380999"/>
                  </a:lnTo>
                  <a:lnTo>
                    <a:pt x="6096" y="393953"/>
                  </a:lnTo>
                  <a:lnTo>
                    <a:pt x="12953" y="393953"/>
                  </a:lnTo>
                  <a:close/>
                </a:path>
                <a:path w="1080135" h="394335">
                  <a:moveTo>
                    <a:pt x="1072896" y="12953"/>
                  </a:moveTo>
                  <a:lnTo>
                    <a:pt x="1066800" y="6095"/>
                  </a:lnTo>
                  <a:lnTo>
                    <a:pt x="1066800" y="12953"/>
                  </a:lnTo>
                  <a:lnTo>
                    <a:pt x="1072896" y="12953"/>
                  </a:lnTo>
                  <a:close/>
                </a:path>
                <a:path w="1080135" h="394335">
                  <a:moveTo>
                    <a:pt x="1072896" y="380999"/>
                  </a:moveTo>
                  <a:lnTo>
                    <a:pt x="1072896" y="12953"/>
                  </a:lnTo>
                  <a:lnTo>
                    <a:pt x="1066800" y="12953"/>
                  </a:lnTo>
                  <a:lnTo>
                    <a:pt x="1066800" y="380999"/>
                  </a:lnTo>
                  <a:lnTo>
                    <a:pt x="1072896" y="380999"/>
                  </a:lnTo>
                  <a:close/>
                </a:path>
                <a:path w="1080135" h="394335">
                  <a:moveTo>
                    <a:pt x="1072896" y="393953"/>
                  </a:moveTo>
                  <a:lnTo>
                    <a:pt x="1072896" y="380999"/>
                  </a:lnTo>
                  <a:lnTo>
                    <a:pt x="1066800" y="387095"/>
                  </a:lnTo>
                  <a:lnTo>
                    <a:pt x="1066800" y="393953"/>
                  </a:lnTo>
                  <a:lnTo>
                    <a:pt x="10728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22839" y="2177795"/>
            <a:ext cx="10668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700"/>
              </a:spcBef>
            </a:pPr>
            <a:r>
              <a:rPr sz="1200" spc="-25" dirty="0">
                <a:latin typeface="Trebuchet MS"/>
                <a:cs typeface="Trebuchet MS"/>
              </a:rPr>
              <a:t>Data +</a:t>
            </a:r>
            <a:r>
              <a:rPr sz="1200" spc="-240" dirty="0">
                <a:latin typeface="Trebuchet MS"/>
                <a:cs typeface="Trebuchet MS"/>
              </a:rPr>
              <a:t> </a:t>
            </a: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55143" y="2171700"/>
            <a:ext cx="1080135" cy="394335"/>
            <a:chOff x="6255143" y="2171700"/>
            <a:chExt cx="1080135" cy="394335"/>
          </a:xfrm>
        </p:grpSpPr>
        <p:sp>
          <p:nvSpPr>
            <p:cNvPr id="22" name="object 22"/>
            <p:cNvSpPr/>
            <p:nvPr/>
          </p:nvSpPr>
          <p:spPr>
            <a:xfrm>
              <a:off x="6261227" y="217779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5143" y="2171700"/>
              <a:ext cx="1080135" cy="394335"/>
            </a:xfrm>
            <a:custGeom>
              <a:avLst/>
              <a:gdLst/>
              <a:ahLst/>
              <a:cxnLst/>
              <a:rect l="l" t="t" r="r" b="b"/>
              <a:pathLst>
                <a:path w="1080134" h="394335">
                  <a:moveTo>
                    <a:pt x="1079754" y="393953"/>
                  </a:moveTo>
                  <a:lnTo>
                    <a:pt x="10797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066799" y="12953"/>
                  </a:lnTo>
                  <a:lnTo>
                    <a:pt x="1066799" y="6095"/>
                  </a:lnTo>
                  <a:lnTo>
                    <a:pt x="1072883" y="12953"/>
                  </a:lnTo>
                  <a:lnTo>
                    <a:pt x="1072883" y="393953"/>
                  </a:lnTo>
                  <a:lnTo>
                    <a:pt x="1079754" y="393953"/>
                  </a:lnTo>
                  <a:close/>
                </a:path>
                <a:path w="1080134" h="394335">
                  <a:moveTo>
                    <a:pt x="12953" y="12953"/>
                  </a:moveTo>
                  <a:lnTo>
                    <a:pt x="12953" y="6095"/>
                  </a:lnTo>
                  <a:lnTo>
                    <a:pt x="6083" y="12953"/>
                  </a:lnTo>
                  <a:lnTo>
                    <a:pt x="12953" y="12953"/>
                  </a:lnTo>
                  <a:close/>
                </a:path>
                <a:path w="1080134" h="394335">
                  <a:moveTo>
                    <a:pt x="12953" y="380999"/>
                  </a:moveTo>
                  <a:lnTo>
                    <a:pt x="12953" y="12953"/>
                  </a:lnTo>
                  <a:lnTo>
                    <a:pt x="6083" y="12953"/>
                  </a:lnTo>
                  <a:lnTo>
                    <a:pt x="6083" y="380999"/>
                  </a:lnTo>
                  <a:lnTo>
                    <a:pt x="12953" y="380999"/>
                  </a:lnTo>
                  <a:close/>
                </a:path>
                <a:path w="1080134" h="394335">
                  <a:moveTo>
                    <a:pt x="1072883" y="380999"/>
                  </a:moveTo>
                  <a:lnTo>
                    <a:pt x="6083" y="380999"/>
                  </a:lnTo>
                  <a:lnTo>
                    <a:pt x="12953" y="387095"/>
                  </a:lnTo>
                  <a:lnTo>
                    <a:pt x="12953" y="393953"/>
                  </a:lnTo>
                  <a:lnTo>
                    <a:pt x="1066799" y="393953"/>
                  </a:lnTo>
                  <a:lnTo>
                    <a:pt x="1066799" y="387095"/>
                  </a:lnTo>
                  <a:lnTo>
                    <a:pt x="1072883" y="380999"/>
                  </a:lnTo>
                  <a:close/>
                </a:path>
                <a:path w="1080134" h="394335">
                  <a:moveTo>
                    <a:pt x="12953" y="393953"/>
                  </a:moveTo>
                  <a:lnTo>
                    <a:pt x="12953" y="387095"/>
                  </a:lnTo>
                  <a:lnTo>
                    <a:pt x="6083" y="380999"/>
                  </a:lnTo>
                  <a:lnTo>
                    <a:pt x="6083" y="393953"/>
                  </a:lnTo>
                  <a:lnTo>
                    <a:pt x="12953" y="393953"/>
                  </a:lnTo>
                  <a:close/>
                </a:path>
                <a:path w="1080134" h="394335">
                  <a:moveTo>
                    <a:pt x="1072883" y="12953"/>
                  </a:moveTo>
                  <a:lnTo>
                    <a:pt x="1066799" y="6095"/>
                  </a:lnTo>
                  <a:lnTo>
                    <a:pt x="1066799" y="12953"/>
                  </a:lnTo>
                  <a:lnTo>
                    <a:pt x="1072883" y="12953"/>
                  </a:lnTo>
                  <a:close/>
                </a:path>
                <a:path w="1080134" h="394335">
                  <a:moveTo>
                    <a:pt x="1072883" y="380999"/>
                  </a:moveTo>
                  <a:lnTo>
                    <a:pt x="1072883" y="12953"/>
                  </a:lnTo>
                  <a:lnTo>
                    <a:pt x="1066799" y="12953"/>
                  </a:lnTo>
                  <a:lnTo>
                    <a:pt x="1066799" y="380999"/>
                  </a:lnTo>
                  <a:lnTo>
                    <a:pt x="1072883" y="380999"/>
                  </a:lnTo>
                  <a:close/>
                </a:path>
                <a:path w="1080134" h="394335">
                  <a:moveTo>
                    <a:pt x="1072883" y="393953"/>
                  </a:moveTo>
                  <a:lnTo>
                    <a:pt x="1072883" y="380999"/>
                  </a:lnTo>
                  <a:lnTo>
                    <a:pt x="1066799" y="387095"/>
                  </a:lnTo>
                  <a:lnTo>
                    <a:pt x="1066799" y="393953"/>
                  </a:lnTo>
                  <a:lnTo>
                    <a:pt x="10728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261227" y="2177795"/>
            <a:ext cx="10668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700"/>
              </a:spcBef>
            </a:pPr>
            <a:r>
              <a:rPr sz="1200" spc="-25" dirty="0">
                <a:latin typeface="Trebuchet MS"/>
                <a:cs typeface="Trebuchet MS"/>
              </a:rPr>
              <a:t>Data +</a:t>
            </a:r>
            <a:r>
              <a:rPr sz="1200" spc="-240" dirty="0">
                <a:latin typeface="Trebuchet MS"/>
                <a:cs typeface="Trebuchet MS"/>
              </a:rPr>
              <a:t> </a:t>
            </a: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035943" y="2552700"/>
            <a:ext cx="1080135" cy="368300"/>
            <a:chOff x="5035943" y="2552700"/>
            <a:chExt cx="1080135" cy="368300"/>
          </a:xfrm>
        </p:grpSpPr>
        <p:sp>
          <p:nvSpPr>
            <p:cNvPr id="26" name="object 26"/>
            <p:cNvSpPr/>
            <p:nvPr/>
          </p:nvSpPr>
          <p:spPr>
            <a:xfrm>
              <a:off x="5042039" y="2558795"/>
              <a:ext cx="1066800" cy="361950"/>
            </a:xfrm>
            <a:custGeom>
              <a:avLst/>
              <a:gdLst/>
              <a:ahLst/>
              <a:cxnLst/>
              <a:rect l="l" t="t" r="r" b="b"/>
              <a:pathLst>
                <a:path w="1066800" h="361950">
                  <a:moveTo>
                    <a:pt x="1066800" y="36195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1066800" y="3619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35943" y="2552700"/>
              <a:ext cx="1080135" cy="368300"/>
            </a:xfrm>
            <a:custGeom>
              <a:avLst/>
              <a:gdLst/>
              <a:ahLst/>
              <a:cxnLst/>
              <a:rect l="l" t="t" r="r" b="b"/>
              <a:pathLst>
                <a:path w="1080135" h="368300">
                  <a:moveTo>
                    <a:pt x="1079753" y="368045"/>
                  </a:moveTo>
                  <a:lnTo>
                    <a:pt x="1079753" y="0"/>
                  </a:lnTo>
                  <a:lnTo>
                    <a:pt x="0" y="0"/>
                  </a:lnTo>
                  <a:lnTo>
                    <a:pt x="0" y="368045"/>
                  </a:lnTo>
                  <a:lnTo>
                    <a:pt x="6096" y="3680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066800" y="12953"/>
                  </a:lnTo>
                  <a:lnTo>
                    <a:pt x="1066800" y="6095"/>
                  </a:lnTo>
                  <a:lnTo>
                    <a:pt x="1072896" y="12953"/>
                  </a:lnTo>
                  <a:lnTo>
                    <a:pt x="1072896" y="368045"/>
                  </a:lnTo>
                  <a:lnTo>
                    <a:pt x="1079753" y="368045"/>
                  </a:lnTo>
                  <a:close/>
                </a:path>
                <a:path w="1080135" h="3683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1080135" h="368300">
                  <a:moveTo>
                    <a:pt x="12953" y="3680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68045"/>
                  </a:lnTo>
                  <a:lnTo>
                    <a:pt x="12953" y="368045"/>
                  </a:lnTo>
                  <a:close/>
                </a:path>
                <a:path w="1080135" h="368300">
                  <a:moveTo>
                    <a:pt x="1072896" y="12953"/>
                  </a:moveTo>
                  <a:lnTo>
                    <a:pt x="1066800" y="6095"/>
                  </a:lnTo>
                  <a:lnTo>
                    <a:pt x="1066800" y="12953"/>
                  </a:lnTo>
                  <a:lnTo>
                    <a:pt x="1072896" y="12953"/>
                  </a:lnTo>
                  <a:close/>
                </a:path>
                <a:path w="1080135" h="368300">
                  <a:moveTo>
                    <a:pt x="1072896" y="368045"/>
                  </a:moveTo>
                  <a:lnTo>
                    <a:pt x="1072896" y="12953"/>
                  </a:lnTo>
                  <a:lnTo>
                    <a:pt x="1066800" y="12953"/>
                  </a:lnTo>
                  <a:lnTo>
                    <a:pt x="1066800" y="368045"/>
                  </a:lnTo>
                  <a:lnTo>
                    <a:pt x="1072896" y="368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42039" y="2558795"/>
            <a:ext cx="10668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700"/>
              </a:spcBef>
            </a:pPr>
            <a:r>
              <a:rPr sz="1200" spc="-25" dirty="0">
                <a:latin typeface="Trebuchet MS"/>
                <a:cs typeface="Trebuchet MS"/>
              </a:rPr>
              <a:t>Data +</a:t>
            </a:r>
            <a:r>
              <a:rPr sz="1200" spc="-240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CF‐Ack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474343" y="2552700"/>
            <a:ext cx="470534" cy="368300"/>
            <a:chOff x="7474343" y="2552700"/>
            <a:chExt cx="470534" cy="368300"/>
          </a:xfrm>
        </p:grpSpPr>
        <p:sp>
          <p:nvSpPr>
            <p:cNvPr id="30" name="object 30"/>
            <p:cNvSpPr/>
            <p:nvPr/>
          </p:nvSpPr>
          <p:spPr>
            <a:xfrm>
              <a:off x="7480427" y="2558795"/>
              <a:ext cx="457200" cy="361950"/>
            </a:xfrm>
            <a:custGeom>
              <a:avLst/>
              <a:gdLst/>
              <a:ahLst/>
              <a:cxnLst/>
              <a:rect l="l" t="t" r="r" b="b"/>
              <a:pathLst>
                <a:path w="457200" h="361950">
                  <a:moveTo>
                    <a:pt x="457200" y="36195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457200" y="3619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74343" y="2552700"/>
              <a:ext cx="470534" cy="368300"/>
            </a:xfrm>
            <a:custGeom>
              <a:avLst/>
              <a:gdLst/>
              <a:ahLst/>
              <a:cxnLst/>
              <a:rect l="l" t="t" r="r" b="b"/>
              <a:pathLst>
                <a:path w="470534" h="368300">
                  <a:moveTo>
                    <a:pt x="470153" y="368045"/>
                  </a:moveTo>
                  <a:lnTo>
                    <a:pt x="470153" y="0"/>
                  </a:lnTo>
                  <a:lnTo>
                    <a:pt x="0" y="0"/>
                  </a:lnTo>
                  <a:lnTo>
                    <a:pt x="0" y="368045"/>
                  </a:lnTo>
                  <a:lnTo>
                    <a:pt x="6083" y="368045"/>
                  </a:lnTo>
                  <a:lnTo>
                    <a:pt x="6083" y="12953"/>
                  </a:lnTo>
                  <a:lnTo>
                    <a:pt x="12954" y="6095"/>
                  </a:lnTo>
                  <a:lnTo>
                    <a:pt x="12954" y="12953"/>
                  </a:lnTo>
                  <a:lnTo>
                    <a:pt x="457200" y="12953"/>
                  </a:lnTo>
                  <a:lnTo>
                    <a:pt x="457200" y="6095"/>
                  </a:lnTo>
                  <a:lnTo>
                    <a:pt x="463283" y="12953"/>
                  </a:lnTo>
                  <a:lnTo>
                    <a:pt x="463283" y="368045"/>
                  </a:lnTo>
                  <a:lnTo>
                    <a:pt x="470153" y="368045"/>
                  </a:lnTo>
                  <a:close/>
                </a:path>
                <a:path w="470534" h="368300">
                  <a:moveTo>
                    <a:pt x="12954" y="12953"/>
                  </a:moveTo>
                  <a:lnTo>
                    <a:pt x="12954" y="6095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470534" h="368300">
                  <a:moveTo>
                    <a:pt x="12954" y="368045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368045"/>
                  </a:lnTo>
                  <a:lnTo>
                    <a:pt x="12954" y="368045"/>
                  </a:lnTo>
                  <a:close/>
                </a:path>
                <a:path w="470534" h="368300">
                  <a:moveTo>
                    <a:pt x="463283" y="12953"/>
                  </a:moveTo>
                  <a:lnTo>
                    <a:pt x="457200" y="6095"/>
                  </a:lnTo>
                  <a:lnTo>
                    <a:pt x="457200" y="12953"/>
                  </a:lnTo>
                  <a:lnTo>
                    <a:pt x="463283" y="12953"/>
                  </a:lnTo>
                  <a:close/>
                </a:path>
                <a:path w="470534" h="368300">
                  <a:moveTo>
                    <a:pt x="463283" y="368045"/>
                  </a:moveTo>
                  <a:lnTo>
                    <a:pt x="463283" y="12953"/>
                  </a:lnTo>
                  <a:lnTo>
                    <a:pt x="457200" y="12953"/>
                  </a:lnTo>
                  <a:lnTo>
                    <a:pt x="457200" y="368045"/>
                  </a:lnTo>
                  <a:lnTo>
                    <a:pt x="463283" y="368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480427" y="2558795"/>
            <a:ext cx="4572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latin typeface="Trebuchet MS"/>
                <a:cs typeface="Trebuchet MS"/>
              </a:rPr>
              <a:t>CF</a:t>
            </a:r>
            <a:r>
              <a:rPr sz="1200" spc="-145" dirty="0">
                <a:latin typeface="Trebuchet MS"/>
                <a:cs typeface="Trebuchet MS"/>
              </a:rPr>
              <a:t>‐</a:t>
            </a:r>
            <a:r>
              <a:rPr sz="1200" spc="-20" dirty="0">
                <a:latin typeface="Trebuchet MS"/>
                <a:cs typeface="Trebuchet MS"/>
              </a:rPr>
              <a:t>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083943" y="2171700"/>
            <a:ext cx="546735" cy="394335"/>
            <a:chOff x="8083943" y="2171700"/>
            <a:chExt cx="546735" cy="394335"/>
          </a:xfrm>
        </p:grpSpPr>
        <p:sp>
          <p:nvSpPr>
            <p:cNvPr id="34" name="object 34"/>
            <p:cNvSpPr/>
            <p:nvPr/>
          </p:nvSpPr>
          <p:spPr>
            <a:xfrm>
              <a:off x="8090027" y="21777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3943" y="21717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4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3"/>
                  </a:lnTo>
                  <a:lnTo>
                    <a:pt x="12954" y="6095"/>
                  </a:lnTo>
                  <a:lnTo>
                    <a:pt x="12954" y="12953"/>
                  </a:lnTo>
                  <a:lnTo>
                    <a:pt x="533400" y="12953"/>
                  </a:lnTo>
                  <a:lnTo>
                    <a:pt x="533400" y="6095"/>
                  </a:lnTo>
                  <a:lnTo>
                    <a:pt x="539483" y="12953"/>
                  </a:lnTo>
                  <a:lnTo>
                    <a:pt x="539483" y="393953"/>
                  </a:lnTo>
                  <a:lnTo>
                    <a:pt x="546353" y="393953"/>
                  </a:lnTo>
                  <a:close/>
                </a:path>
                <a:path w="546734" h="394335">
                  <a:moveTo>
                    <a:pt x="12954" y="12953"/>
                  </a:moveTo>
                  <a:lnTo>
                    <a:pt x="12954" y="6095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546734" h="394335">
                  <a:moveTo>
                    <a:pt x="12954" y="380999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380999"/>
                  </a:lnTo>
                  <a:lnTo>
                    <a:pt x="12954" y="380999"/>
                  </a:lnTo>
                  <a:close/>
                </a:path>
                <a:path w="546734" h="394335">
                  <a:moveTo>
                    <a:pt x="539483" y="380999"/>
                  </a:moveTo>
                  <a:lnTo>
                    <a:pt x="6083" y="380999"/>
                  </a:lnTo>
                  <a:lnTo>
                    <a:pt x="12954" y="387095"/>
                  </a:lnTo>
                  <a:lnTo>
                    <a:pt x="12954" y="393953"/>
                  </a:lnTo>
                  <a:lnTo>
                    <a:pt x="533400" y="393953"/>
                  </a:lnTo>
                  <a:lnTo>
                    <a:pt x="533400" y="387095"/>
                  </a:lnTo>
                  <a:lnTo>
                    <a:pt x="539483" y="380999"/>
                  </a:lnTo>
                  <a:close/>
                </a:path>
                <a:path w="546734" h="394335">
                  <a:moveTo>
                    <a:pt x="12954" y="393953"/>
                  </a:moveTo>
                  <a:lnTo>
                    <a:pt x="12954" y="387095"/>
                  </a:lnTo>
                  <a:lnTo>
                    <a:pt x="6083" y="380999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546734" h="394335">
                  <a:moveTo>
                    <a:pt x="539483" y="12953"/>
                  </a:moveTo>
                  <a:lnTo>
                    <a:pt x="533400" y="6095"/>
                  </a:lnTo>
                  <a:lnTo>
                    <a:pt x="533400" y="12953"/>
                  </a:lnTo>
                  <a:lnTo>
                    <a:pt x="539483" y="12953"/>
                  </a:lnTo>
                  <a:close/>
                </a:path>
                <a:path w="546734" h="394335">
                  <a:moveTo>
                    <a:pt x="539483" y="380999"/>
                  </a:moveTo>
                  <a:lnTo>
                    <a:pt x="539483" y="12953"/>
                  </a:lnTo>
                  <a:lnTo>
                    <a:pt x="533400" y="12953"/>
                  </a:lnTo>
                  <a:lnTo>
                    <a:pt x="533400" y="380999"/>
                  </a:lnTo>
                  <a:lnTo>
                    <a:pt x="539483" y="380999"/>
                  </a:lnTo>
                  <a:close/>
                </a:path>
                <a:path w="546734" h="394335">
                  <a:moveTo>
                    <a:pt x="539483" y="393953"/>
                  </a:moveTo>
                  <a:lnTo>
                    <a:pt x="539483" y="380999"/>
                  </a:lnTo>
                  <a:lnTo>
                    <a:pt x="533400" y="387095"/>
                  </a:lnTo>
                  <a:lnTo>
                    <a:pt x="533400" y="393953"/>
                  </a:lnTo>
                  <a:lnTo>
                    <a:pt x="5394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090027" y="2177795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700"/>
              </a:spcBef>
            </a:pPr>
            <a:r>
              <a:rPr sz="1200" spc="-50" dirty="0">
                <a:latin typeface="Trebuchet MS"/>
                <a:cs typeface="Trebuchet MS"/>
              </a:rPr>
              <a:t>CF‐end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02331" y="2254008"/>
            <a:ext cx="13335" cy="673735"/>
          </a:xfrm>
          <a:custGeom>
            <a:avLst/>
            <a:gdLst/>
            <a:ahLst/>
            <a:cxnLst/>
            <a:rect l="l" t="t" r="r" b="b"/>
            <a:pathLst>
              <a:path w="13335" h="673735">
                <a:moveTo>
                  <a:pt x="12966" y="622554"/>
                </a:moveTo>
                <a:lnTo>
                  <a:pt x="12" y="622554"/>
                </a:lnTo>
                <a:lnTo>
                  <a:pt x="12" y="673608"/>
                </a:lnTo>
                <a:lnTo>
                  <a:pt x="12966" y="673608"/>
                </a:lnTo>
                <a:lnTo>
                  <a:pt x="12966" y="622554"/>
                </a:lnTo>
                <a:close/>
              </a:path>
              <a:path w="13335" h="673735">
                <a:moveTo>
                  <a:pt x="12966" y="533400"/>
                </a:moveTo>
                <a:lnTo>
                  <a:pt x="0" y="533400"/>
                </a:lnTo>
                <a:lnTo>
                  <a:pt x="0" y="584454"/>
                </a:lnTo>
                <a:lnTo>
                  <a:pt x="12966" y="584454"/>
                </a:lnTo>
                <a:lnTo>
                  <a:pt x="12966" y="533400"/>
                </a:lnTo>
                <a:close/>
              </a:path>
              <a:path w="13335" h="673735">
                <a:moveTo>
                  <a:pt x="12966" y="445008"/>
                </a:moveTo>
                <a:lnTo>
                  <a:pt x="0" y="445008"/>
                </a:lnTo>
                <a:lnTo>
                  <a:pt x="0" y="495300"/>
                </a:lnTo>
                <a:lnTo>
                  <a:pt x="12966" y="495300"/>
                </a:lnTo>
                <a:lnTo>
                  <a:pt x="12966" y="445008"/>
                </a:lnTo>
                <a:close/>
              </a:path>
              <a:path w="13335" h="673735">
                <a:moveTo>
                  <a:pt x="12966" y="355854"/>
                </a:moveTo>
                <a:lnTo>
                  <a:pt x="0" y="355854"/>
                </a:lnTo>
                <a:lnTo>
                  <a:pt x="0" y="406908"/>
                </a:lnTo>
                <a:lnTo>
                  <a:pt x="12966" y="406908"/>
                </a:lnTo>
                <a:lnTo>
                  <a:pt x="12966" y="355854"/>
                </a:lnTo>
                <a:close/>
              </a:path>
              <a:path w="13335" h="673735">
                <a:moveTo>
                  <a:pt x="12966" y="266700"/>
                </a:moveTo>
                <a:lnTo>
                  <a:pt x="0" y="266700"/>
                </a:lnTo>
                <a:lnTo>
                  <a:pt x="0" y="317754"/>
                </a:lnTo>
                <a:lnTo>
                  <a:pt x="12966" y="317754"/>
                </a:lnTo>
                <a:lnTo>
                  <a:pt x="12966" y="266700"/>
                </a:lnTo>
                <a:close/>
              </a:path>
              <a:path w="13335" h="673735">
                <a:moveTo>
                  <a:pt x="12966" y="178308"/>
                </a:moveTo>
                <a:lnTo>
                  <a:pt x="0" y="178308"/>
                </a:lnTo>
                <a:lnTo>
                  <a:pt x="0" y="228600"/>
                </a:lnTo>
                <a:lnTo>
                  <a:pt x="12966" y="228600"/>
                </a:lnTo>
                <a:lnTo>
                  <a:pt x="12966" y="178308"/>
                </a:lnTo>
                <a:close/>
              </a:path>
              <a:path w="13335" h="673735">
                <a:moveTo>
                  <a:pt x="12966" y="89154"/>
                </a:moveTo>
                <a:lnTo>
                  <a:pt x="0" y="89154"/>
                </a:lnTo>
                <a:lnTo>
                  <a:pt x="0" y="140208"/>
                </a:lnTo>
                <a:lnTo>
                  <a:pt x="12966" y="140208"/>
                </a:lnTo>
                <a:lnTo>
                  <a:pt x="12966" y="89154"/>
                </a:lnTo>
                <a:close/>
              </a:path>
              <a:path w="13335" h="673735">
                <a:moveTo>
                  <a:pt x="12966" y="0"/>
                </a:moveTo>
                <a:lnTo>
                  <a:pt x="0" y="0"/>
                </a:lnTo>
                <a:lnTo>
                  <a:pt x="0" y="51054"/>
                </a:lnTo>
                <a:lnTo>
                  <a:pt x="12966" y="51054"/>
                </a:lnTo>
                <a:lnTo>
                  <a:pt x="12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971926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05733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11978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61046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82077" y="2080513"/>
            <a:ext cx="908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527439" y="2063508"/>
            <a:ext cx="6477000" cy="857250"/>
          </a:xfrm>
          <a:custGeom>
            <a:avLst/>
            <a:gdLst/>
            <a:ahLst/>
            <a:cxnLst/>
            <a:rect l="l" t="t" r="r" b="b"/>
            <a:pathLst>
              <a:path w="6477000" h="857250">
                <a:moveTo>
                  <a:pt x="1066800" y="647700"/>
                </a:moveTo>
                <a:lnTo>
                  <a:pt x="990600" y="609600"/>
                </a:lnTo>
                <a:lnTo>
                  <a:pt x="990600" y="635508"/>
                </a:lnTo>
                <a:lnTo>
                  <a:pt x="622541" y="635508"/>
                </a:lnTo>
                <a:lnTo>
                  <a:pt x="622541" y="495300"/>
                </a:lnTo>
                <a:lnTo>
                  <a:pt x="597408" y="495300"/>
                </a:lnTo>
                <a:lnTo>
                  <a:pt x="597408" y="635508"/>
                </a:lnTo>
                <a:lnTo>
                  <a:pt x="76200" y="635508"/>
                </a:lnTo>
                <a:lnTo>
                  <a:pt x="76200" y="609600"/>
                </a:lnTo>
                <a:lnTo>
                  <a:pt x="0" y="647700"/>
                </a:lnTo>
                <a:lnTo>
                  <a:pt x="64008" y="679704"/>
                </a:lnTo>
                <a:lnTo>
                  <a:pt x="76200" y="685800"/>
                </a:lnTo>
                <a:lnTo>
                  <a:pt x="76200" y="660654"/>
                </a:lnTo>
                <a:lnTo>
                  <a:pt x="597408" y="660654"/>
                </a:lnTo>
                <a:lnTo>
                  <a:pt x="597408" y="857250"/>
                </a:lnTo>
                <a:lnTo>
                  <a:pt x="622541" y="857250"/>
                </a:lnTo>
                <a:lnTo>
                  <a:pt x="622541" y="660654"/>
                </a:lnTo>
                <a:lnTo>
                  <a:pt x="990600" y="660654"/>
                </a:lnTo>
                <a:lnTo>
                  <a:pt x="990600" y="685800"/>
                </a:lnTo>
                <a:lnTo>
                  <a:pt x="1003554" y="679323"/>
                </a:lnTo>
                <a:lnTo>
                  <a:pt x="1066800" y="647700"/>
                </a:lnTo>
                <a:close/>
              </a:path>
              <a:path w="6477000" h="857250">
                <a:moveTo>
                  <a:pt x="2521458" y="419100"/>
                </a:moveTo>
                <a:lnTo>
                  <a:pt x="2508504" y="419100"/>
                </a:lnTo>
                <a:lnTo>
                  <a:pt x="2508504" y="470154"/>
                </a:lnTo>
                <a:lnTo>
                  <a:pt x="2521458" y="470154"/>
                </a:lnTo>
                <a:lnTo>
                  <a:pt x="2521458" y="419100"/>
                </a:lnTo>
                <a:close/>
              </a:path>
              <a:path w="6477000" h="857250">
                <a:moveTo>
                  <a:pt x="2521458" y="330708"/>
                </a:moveTo>
                <a:lnTo>
                  <a:pt x="2508504" y="330708"/>
                </a:lnTo>
                <a:lnTo>
                  <a:pt x="2508504" y="381000"/>
                </a:lnTo>
                <a:lnTo>
                  <a:pt x="2521458" y="381000"/>
                </a:lnTo>
                <a:lnTo>
                  <a:pt x="2521458" y="330708"/>
                </a:lnTo>
                <a:close/>
              </a:path>
              <a:path w="6477000" h="857250">
                <a:moveTo>
                  <a:pt x="2521458" y="241554"/>
                </a:moveTo>
                <a:lnTo>
                  <a:pt x="2508504" y="241554"/>
                </a:lnTo>
                <a:lnTo>
                  <a:pt x="2508504" y="292608"/>
                </a:lnTo>
                <a:lnTo>
                  <a:pt x="2521458" y="292608"/>
                </a:lnTo>
                <a:lnTo>
                  <a:pt x="2521458" y="241554"/>
                </a:lnTo>
                <a:close/>
              </a:path>
              <a:path w="6477000" h="857250">
                <a:moveTo>
                  <a:pt x="2521458" y="152400"/>
                </a:moveTo>
                <a:lnTo>
                  <a:pt x="2508504" y="152400"/>
                </a:lnTo>
                <a:lnTo>
                  <a:pt x="2508504" y="203454"/>
                </a:lnTo>
                <a:lnTo>
                  <a:pt x="2521458" y="203454"/>
                </a:lnTo>
                <a:lnTo>
                  <a:pt x="2521458" y="152400"/>
                </a:lnTo>
                <a:close/>
              </a:path>
              <a:path w="6477000" h="857250">
                <a:moveTo>
                  <a:pt x="2521458" y="64008"/>
                </a:moveTo>
                <a:lnTo>
                  <a:pt x="2508504" y="64008"/>
                </a:lnTo>
                <a:lnTo>
                  <a:pt x="2508504" y="114300"/>
                </a:lnTo>
                <a:lnTo>
                  <a:pt x="2521458" y="114300"/>
                </a:lnTo>
                <a:lnTo>
                  <a:pt x="2521458" y="64008"/>
                </a:lnTo>
                <a:close/>
              </a:path>
              <a:path w="6477000" h="857250">
                <a:moveTo>
                  <a:pt x="2521458" y="0"/>
                </a:moveTo>
                <a:lnTo>
                  <a:pt x="2508504" y="0"/>
                </a:lnTo>
                <a:lnTo>
                  <a:pt x="2508504" y="25908"/>
                </a:lnTo>
                <a:lnTo>
                  <a:pt x="2521458" y="25908"/>
                </a:lnTo>
                <a:lnTo>
                  <a:pt x="2521458" y="0"/>
                </a:lnTo>
                <a:close/>
              </a:path>
              <a:path w="6477000" h="857250">
                <a:moveTo>
                  <a:pt x="3740658" y="851154"/>
                </a:moveTo>
                <a:lnTo>
                  <a:pt x="3727704" y="851154"/>
                </a:lnTo>
                <a:lnTo>
                  <a:pt x="3727704" y="857250"/>
                </a:lnTo>
                <a:lnTo>
                  <a:pt x="3740658" y="857250"/>
                </a:lnTo>
                <a:lnTo>
                  <a:pt x="3740658" y="851154"/>
                </a:lnTo>
                <a:close/>
              </a:path>
              <a:path w="6477000" h="857250">
                <a:moveTo>
                  <a:pt x="3740658" y="762000"/>
                </a:moveTo>
                <a:lnTo>
                  <a:pt x="3727704" y="762000"/>
                </a:lnTo>
                <a:lnTo>
                  <a:pt x="3727704" y="813054"/>
                </a:lnTo>
                <a:lnTo>
                  <a:pt x="3740658" y="813054"/>
                </a:lnTo>
                <a:lnTo>
                  <a:pt x="3740658" y="762000"/>
                </a:lnTo>
                <a:close/>
              </a:path>
              <a:path w="6477000" h="857250">
                <a:moveTo>
                  <a:pt x="3740658" y="673608"/>
                </a:moveTo>
                <a:lnTo>
                  <a:pt x="3727704" y="673608"/>
                </a:lnTo>
                <a:lnTo>
                  <a:pt x="3727704" y="723900"/>
                </a:lnTo>
                <a:lnTo>
                  <a:pt x="3740658" y="723900"/>
                </a:lnTo>
                <a:lnTo>
                  <a:pt x="3740658" y="673608"/>
                </a:lnTo>
                <a:close/>
              </a:path>
              <a:path w="6477000" h="857250">
                <a:moveTo>
                  <a:pt x="3740658" y="584454"/>
                </a:moveTo>
                <a:lnTo>
                  <a:pt x="3727704" y="584454"/>
                </a:lnTo>
                <a:lnTo>
                  <a:pt x="3727704" y="635508"/>
                </a:lnTo>
                <a:lnTo>
                  <a:pt x="3740658" y="635508"/>
                </a:lnTo>
                <a:lnTo>
                  <a:pt x="3740658" y="584454"/>
                </a:lnTo>
                <a:close/>
              </a:path>
              <a:path w="6477000" h="857250">
                <a:moveTo>
                  <a:pt x="3740658" y="495300"/>
                </a:moveTo>
                <a:lnTo>
                  <a:pt x="3727704" y="495300"/>
                </a:lnTo>
                <a:lnTo>
                  <a:pt x="3727704" y="546354"/>
                </a:lnTo>
                <a:lnTo>
                  <a:pt x="3740658" y="546354"/>
                </a:lnTo>
                <a:lnTo>
                  <a:pt x="3740658" y="495300"/>
                </a:lnTo>
                <a:close/>
              </a:path>
              <a:path w="6477000" h="857250">
                <a:moveTo>
                  <a:pt x="4959858" y="419100"/>
                </a:moveTo>
                <a:lnTo>
                  <a:pt x="4946904" y="419100"/>
                </a:lnTo>
                <a:lnTo>
                  <a:pt x="4946904" y="470154"/>
                </a:lnTo>
                <a:lnTo>
                  <a:pt x="4959858" y="470154"/>
                </a:lnTo>
                <a:lnTo>
                  <a:pt x="4959858" y="419100"/>
                </a:lnTo>
                <a:close/>
              </a:path>
              <a:path w="6477000" h="857250">
                <a:moveTo>
                  <a:pt x="4959858" y="330708"/>
                </a:moveTo>
                <a:lnTo>
                  <a:pt x="4946904" y="330708"/>
                </a:lnTo>
                <a:lnTo>
                  <a:pt x="4946904" y="381000"/>
                </a:lnTo>
                <a:lnTo>
                  <a:pt x="4959858" y="381000"/>
                </a:lnTo>
                <a:lnTo>
                  <a:pt x="4959858" y="330708"/>
                </a:lnTo>
                <a:close/>
              </a:path>
              <a:path w="6477000" h="857250">
                <a:moveTo>
                  <a:pt x="4959858" y="241554"/>
                </a:moveTo>
                <a:lnTo>
                  <a:pt x="4946904" y="241554"/>
                </a:lnTo>
                <a:lnTo>
                  <a:pt x="4946904" y="292608"/>
                </a:lnTo>
                <a:lnTo>
                  <a:pt x="4959858" y="292608"/>
                </a:lnTo>
                <a:lnTo>
                  <a:pt x="4959858" y="241554"/>
                </a:lnTo>
                <a:close/>
              </a:path>
              <a:path w="6477000" h="857250">
                <a:moveTo>
                  <a:pt x="4959858" y="152400"/>
                </a:moveTo>
                <a:lnTo>
                  <a:pt x="4946904" y="152400"/>
                </a:lnTo>
                <a:lnTo>
                  <a:pt x="4946904" y="203454"/>
                </a:lnTo>
                <a:lnTo>
                  <a:pt x="4959858" y="203454"/>
                </a:lnTo>
                <a:lnTo>
                  <a:pt x="4959858" y="152400"/>
                </a:lnTo>
                <a:close/>
              </a:path>
              <a:path w="6477000" h="857250">
                <a:moveTo>
                  <a:pt x="4959858" y="64008"/>
                </a:moveTo>
                <a:lnTo>
                  <a:pt x="4946904" y="64008"/>
                </a:lnTo>
                <a:lnTo>
                  <a:pt x="4946904" y="114300"/>
                </a:lnTo>
                <a:lnTo>
                  <a:pt x="4959858" y="114300"/>
                </a:lnTo>
                <a:lnTo>
                  <a:pt x="4959858" y="64008"/>
                </a:lnTo>
                <a:close/>
              </a:path>
              <a:path w="6477000" h="857250">
                <a:moveTo>
                  <a:pt x="4959858" y="0"/>
                </a:moveTo>
                <a:lnTo>
                  <a:pt x="4946904" y="0"/>
                </a:lnTo>
                <a:lnTo>
                  <a:pt x="4946904" y="25908"/>
                </a:lnTo>
                <a:lnTo>
                  <a:pt x="4959858" y="25908"/>
                </a:lnTo>
                <a:lnTo>
                  <a:pt x="4959858" y="0"/>
                </a:lnTo>
                <a:close/>
              </a:path>
              <a:path w="6477000" h="857250">
                <a:moveTo>
                  <a:pt x="5417058" y="419100"/>
                </a:moveTo>
                <a:lnTo>
                  <a:pt x="5404104" y="419100"/>
                </a:lnTo>
                <a:lnTo>
                  <a:pt x="5404104" y="470154"/>
                </a:lnTo>
                <a:lnTo>
                  <a:pt x="5417058" y="470154"/>
                </a:lnTo>
                <a:lnTo>
                  <a:pt x="5417058" y="419100"/>
                </a:lnTo>
                <a:close/>
              </a:path>
              <a:path w="6477000" h="857250">
                <a:moveTo>
                  <a:pt x="5417058" y="330708"/>
                </a:moveTo>
                <a:lnTo>
                  <a:pt x="5404104" y="330708"/>
                </a:lnTo>
                <a:lnTo>
                  <a:pt x="5404104" y="381000"/>
                </a:lnTo>
                <a:lnTo>
                  <a:pt x="5417058" y="381000"/>
                </a:lnTo>
                <a:lnTo>
                  <a:pt x="5417058" y="330708"/>
                </a:lnTo>
                <a:close/>
              </a:path>
              <a:path w="6477000" h="857250">
                <a:moveTo>
                  <a:pt x="5417058" y="241554"/>
                </a:moveTo>
                <a:lnTo>
                  <a:pt x="5404104" y="241554"/>
                </a:lnTo>
                <a:lnTo>
                  <a:pt x="5404104" y="292608"/>
                </a:lnTo>
                <a:lnTo>
                  <a:pt x="5417058" y="292608"/>
                </a:lnTo>
                <a:lnTo>
                  <a:pt x="5417058" y="241554"/>
                </a:lnTo>
                <a:close/>
              </a:path>
              <a:path w="6477000" h="857250">
                <a:moveTo>
                  <a:pt x="5417058" y="152400"/>
                </a:moveTo>
                <a:lnTo>
                  <a:pt x="5404104" y="152400"/>
                </a:lnTo>
                <a:lnTo>
                  <a:pt x="5404104" y="203454"/>
                </a:lnTo>
                <a:lnTo>
                  <a:pt x="5417058" y="203454"/>
                </a:lnTo>
                <a:lnTo>
                  <a:pt x="5417058" y="152400"/>
                </a:lnTo>
                <a:close/>
              </a:path>
              <a:path w="6477000" h="857250">
                <a:moveTo>
                  <a:pt x="5417058" y="64008"/>
                </a:moveTo>
                <a:lnTo>
                  <a:pt x="5404104" y="64008"/>
                </a:lnTo>
                <a:lnTo>
                  <a:pt x="5404104" y="114300"/>
                </a:lnTo>
                <a:lnTo>
                  <a:pt x="5417058" y="114300"/>
                </a:lnTo>
                <a:lnTo>
                  <a:pt x="5417058" y="64008"/>
                </a:lnTo>
                <a:close/>
              </a:path>
              <a:path w="6477000" h="857250">
                <a:moveTo>
                  <a:pt x="5417058" y="0"/>
                </a:moveTo>
                <a:lnTo>
                  <a:pt x="5404104" y="0"/>
                </a:lnTo>
                <a:lnTo>
                  <a:pt x="5404104" y="25908"/>
                </a:lnTo>
                <a:lnTo>
                  <a:pt x="5417058" y="25908"/>
                </a:lnTo>
                <a:lnTo>
                  <a:pt x="5417058" y="0"/>
                </a:lnTo>
                <a:close/>
              </a:path>
              <a:path w="6477000" h="857250">
                <a:moveTo>
                  <a:pt x="6476987" y="800100"/>
                </a:moveTo>
                <a:lnTo>
                  <a:pt x="6400787" y="762000"/>
                </a:lnTo>
                <a:lnTo>
                  <a:pt x="6400787" y="787908"/>
                </a:lnTo>
                <a:lnTo>
                  <a:pt x="6108954" y="787908"/>
                </a:lnTo>
                <a:lnTo>
                  <a:pt x="6108954" y="495300"/>
                </a:lnTo>
                <a:lnTo>
                  <a:pt x="6083808" y="495300"/>
                </a:lnTo>
                <a:lnTo>
                  <a:pt x="6083808" y="857250"/>
                </a:lnTo>
                <a:lnTo>
                  <a:pt x="6108954" y="857250"/>
                </a:lnTo>
                <a:lnTo>
                  <a:pt x="6108954" y="813054"/>
                </a:lnTo>
                <a:lnTo>
                  <a:pt x="6400787" y="813054"/>
                </a:lnTo>
                <a:lnTo>
                  <a:pt x="6400787" y="838200"/>
                </a:lnTo>
                <a:lnTo>
                  <a:pt x="6413741" y="831723"/>
                </a:lnTo>
                <a:lnTo>
                  <a:pt x="6476987" y="800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667126" y="2734309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Trebuchet MS"/>
                <a:cs typeface="Trebuchet MS"/>
              </a:rPr>
              <a:t>CP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76526" y="2688590"/>
            <a:ext cx="340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latin typeface="Trebuchet MS"/>
                <a:cs typeface="Trebuchet MS"/>
              </a:rPr>
              <a:t>Sta.2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74839" y="2558795"/>
            <a:ext cx="9144000" cy="1219200"/>
            <a:chOff x="774839" y="2558795"/>
            <a:chExt cx="9144000" cy="1219200"/>
          </a:xfrm>
        </p:grpSpPr>
        <p:sp>
          <p:nvSpPr>
            <p:cNvPr id="47" name="object 47"/>
            <p:cNvSpPr/>
            <p:nvPr/>
          </p:nvSpPr>
          <p:spPr>
            <a:xfrm>
              <a:off x="3664343" y="2558808"/>
              <a:ext cx="13335" cy="140335"/>
            </a:xfrm>
            <a:custGeom>
              <a:avLst/>
              <a:gdLst/>
              <a:ahLst/>
              <a:cxnLst/>
              <a:rect l="l" t="t" r="r" b="b"/>
              <a:pathLst>
                <a:path w="13335" h="140335">
                  <a:moveTo>
                    <a:pt x="12954" y="89154"/>
                  </a:moveTo>
                  <a:lnTo>
                    <a:pt x="0" y="89154"/>
                  </a:lnTo>
                  <a:lnTo>
                    <a:pt x="0" y="140208"/>
                  </a:lnTo>
                  <a:lnTo>
                    <a:pt x="12954" y="140208"/>
                  </a:lnTo>
                  <a:lnTo>
                    <a:pt x="12954" y="89154"/>
                  </a:lnTo>
                  <a:close/>
                </a:path>
                <a:path w="13335" h="140335">
                  <a:moveTo>
                    <a:pt x="12954" y="0"/>
                  </a:moveTo>
                  <a:lnTo>
                    <a:pt x="0" y="0"/>
                  </a:lnTo>
                  <a:lnTo>
                    <a:pt x="0" y="51054"/>
                  </a:lnTo>
                  <a:lnTo>
                    <a:pt x="12954" y="51054"/>
                  </a:lnTo>
                  <a:lnTo>
                    <a:pt x="12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02331" y="2920758"/>
              <a:ext cx="5042535" cy="704850"/>
            </a:xfrm>
            <a:custGeom>
              <a:avLst/>
              <a:gdLst/>
              <a:ahLst/>
              <a:cxnLst/>
              <a:rect l="l" t="t" r="r" b="b"/>
              <a:pathLst>
                <a:path w="5042534" h="704850">
                  <a:moveTo>
                    <a:pt x="12966" y="666750"/>
                  </a:moveTo>
                  <a:lnTo>
                    <a:pt x="6108" y="666750"/>
                  </a:lnTo>
                  <a:lnTo>
                    <a:pt x="6108" y="704850"/>
                  </a:lnTo>
                  <a:lnTo>
                    <a:pt x="12966" y="704850"/>
                  </a:lnTo>
                  <a:lnTo>
                    <a:pt x="12966" y="666750"/>
                  </a:lnTo>
                  <a:close/>
                </a:path>
                <a:path w="5042534" h="704850">
                  <a:moveTo>
                    <a:pt x="12966" y="578358"/>
                  </a:moveTo>
                  <a:lnTo>
                    <a:pt x="12" y="578358"/>
                  </a:lnTo>
                  <a:lnTo>
                    <a:pt x="12" y="628650"/>
                  </a:lnTo>
                  <a:lnTo>
                    <a:pt x="12966" y="628650"/>
                  </a:lnTo>
                  <a:lnTo>
                    <a:pt x="12966" y="578358"/>
                  </a:lnTo>
                  <a:close/>
                </a:path>
                <a:path w="5042534" h="704850">
                  <a:moveTo>
                    <a:pt x="12966" y="489204"/>
                  </a:moveTo>
                  <a:lnTo>
                    <a:pt x="12" y="489204"/>
                  </a:lnTo>
                  <a:lnTo>
                    <a:pt x="12" y="540258"/>
                  </a:lnTo>
                  <a:lnTo>
                    <a:pt x="12966" y="540258"/>
                  </a:lnTo>
                  <a:lnTo>
                    <a:pt x="12966" y="489204"/>
                  </a:lnTo>
                  <a:close/>
                </a:path>
                <a:path w="5042534" h="704850">
                  <a:moveTo>
                    <a:pt x="12966" y="400050"/>
                  </a:moveTo>
                  <a:lnTo>
                    <a:pt x="12" y="400050"/>
                  </a:lnTo>
                  <a:lnTo>
                    <a:pt x="12" y="451104"/>
                  </a:lnTo>
                  <a:lnTo>
                    <a:pt x="12966" y="451104"/>
                  </a:lnTo>
                  <a:lnTo>
                    <a:pt x="12966" y="400050"/>
                  </a:lnTo>
                  <a:close/>
                </a:path>
                <a:path w="5042534" h="704850">
                  <a:moveTo>
                    <a:pt x="12966" y="311658"/>
                  </a:moveTo>
                  <a:lnTo>
                    <a:pt x="12" y="311658"/>
                  </a:lnTo>
                  <a:lnTo>
                    <a:pt x="12" y="361950"/>
                  </a:lnTo>
                  <a:lnTo>
                    <a:pt x="12966" y="361950"/>
                  </a:lnTo>
                  <a:lnTo>
                    <a:pt x="12966" y="311658"/>
                  </a:lnTo>
                  <a:close/>
                </a:path>
                <a:path w="5042534" h="704850">
                  <a:moveTo>
                    <a:pt x="12966" y="222504"/>
                  </a:moveTo>
                  <a:lnTo>
                    <a:pt x="12" y="222504"/>
                  </a:lnTo>
                  <a:lnTo>
                    <a:pt x="12" y="273558"/>
                  </a:lnTo>
                  <a:lnTo>
                    <a:pt x="12966" y="273558"/>
                  </a:lnTo>
                  <a:lnTo>
                    <a:pt x="12966" y="222504"/>
                  </a:lnTo>
                  <a:close/>
                </a:path>
                <a:path w="5042534" h="704850">
                  <a:moveTo>
                    <a:pt x="12966" y="133350"/>
                  </a:moveTo>
                  <a:lnTo>
                    <a:pt x="12" y="133350"/>
                  </a:lnTo>
                  <a:lnTo>
                    <a:pt x="12" y="184404"/>
                  </a:lnTo>
                  <a:lnTo>
                    <a:pt x="12966" y="184404"/>
                  </a:lnTo>
                  <a:lnTo>
                    <a:pt x="12966" y="133350"/>
                  </a:lnTo>
                  <a:close/>
                </a:path>
                <a:path w="5042534" h="704850">
                  <a:moveTo>
                    <a:pt x="12966" y="44958"/>
                  </a:moveTo>
                  <a:lnTo>
                    <a:pt x="0" y="44958"/>
                  </a:lnTo>
                  <a:lnTo>
                    <a:pt x="0" y="95250"/>
                  </a:lnTo>
                  <a:lnTo>
                    <a:pt x="12966" y="95250"/>
                  </a:lnTo>
                  <a:lnTo>
                    <a:pt x="12966" y="44958"/>
                  </a:lnTo>
                  <a:close/>
                </a:path>
                <a:path w="5042534" h="704850">
                  <a:moveTo>
                    <a:pt x="3213366" y="0"/>
                  </a:moveTo>
                  <a:lnTo>
                    <a:pt x="3200412" y="0"/>
                  </a:lnTo>
                  <a:lnTo>
                    <a:pt x="3200412" y="12954"/>
                  </a:lnTo>
                  <a:lnTo>
                    <a:pt x="2146566" y="12954"/>
                  </a:lnTo>
                  <a:lnTo>
                    <a:pt x="2146566" y="0"/>
                  </a:lnTo>
                  <a:lnTo>
                    <a:pt x="2133612" y="0"/>
                  </a:lnTo>
                  <a:lnTo>
                    <a:pt x="2133612" y="25908"/>
                  </a:lnTo>
                  <a:lnTo>
                    <a:pt x="2139708" y="25908"/>
                  </a:lnTo>
                  <a:lnTo>
                    <a:pt x="2146566" y="25908"/>
                  </a:lnTo>
                  <a:lnTo>
                    <a:pt x="3200412" y="25908"/>
                  </a:lnTo>
                  <a:lnTo>
                    <a:pt x="3206508" y="25908"/>
                  </a:lnTo>
                  <a:lnTo>
                    <a:pt x="3213366" y="25908"/>
                  </a:lnTo>
                  <a:lnTo>
                    <a:pt x="3213366" y="0"/>
                  </a:lnTo>
                  <a:close/>
                </a:path>
                <a:path w="5042534" h="704850">
                  <a:moveTo>
                    <a:pt x="5042154" y="0"/>
                  </a:moveTo>
                  <a:lnTo>
                    <a:pt x="5029212" y="0"/>
                  </a:lnTo>
                  <a:lnTo>
                    <a:pt x="5029212" y="12954"/>
                  </a:lnTo>
                  <a:lnTo>
                    <a:pt x="4584966" y="12954"/>
                  </a:lnTo>
                  <a:lnTo>
                    <a:pt x="4584966" y="0"/>
                  </a:lnTo>
                  <a:lnTo>
                    <a:pt x="4572012" y="0"/>
                  </a:lnTo>
                  <a:lnTo>
                    <a:pt x="4572012" y="25908"/>
                  </a:lnTo>
                  <a:lnTo>
                    <a:pt x="4578096" y="25908"/>
                  </a:lnTo>
                  <a:lnTo>
                    <a:pt x="4584966" y="25908"/>
                  </a:lnTo>
                  <a:lnTo>
                    <a:pt x="5029212" y="25908"/>
                  </a:lnTo>
                  <a:lnTo>
                    <a:pt x="5035296" y="25908"/>
                  </a:lnTo>
                  <a:lnTo>
                    <a:pt x="5042154" y="25908"/>
                  </a:lnTo>
                  <a:lnTo>
                    <a:pt x="5042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135755" y="2613911"/>
            <a:ext cx="908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124847" y="2920758"/>
            <a:ext cx="5511800" cy="323850"/>
          </a:xfrm>
          <a:custGeom>
            <a:avLst/>
            <a:gdLst/>
            <a:ahLst/>
            <a:cxnLst/>
            <a:rect l="l" t="t" r="r" b="b"/>
            <a:pathLst>
              <a:path w="5511800" h="323850">
                <a:moveTo>
                  <a:pt x="25133" y="0"/>
                </a:moveTo>
                <a:lnTo>
                  <a:pt x="0" y="0"/>
                </a:lnTo>
                <a:lnTo>
                  <a:pt x="0" y="95250"/>
                </a:lnTo>
                <a:lnTo>
                  <a:pt x="25133" y="95250"/>
                </a:lnTo>
                <a:lnTo>
                  <a:pt x="25133" y="0"/>
                </a:lnTo>
                <a:close/>
              </a:path>
              <a:path w="5511800" h="323850">
                <a:moveTo>
                  <a:pt x="3143250" y="171450"/>
                </a:moveTo>
                <a:lnTo>
                  <a:pt x="3130296" y="171450"/>
                </a:lnTo>
                <a:lnTo>
                  <a:pt x="3130296" y="222504"/>
                </a:lnTo>
                <a:lnTo>
                  <a:pt x="3143250" y="222504"/>
                </a:lnTo>
                <a:lnTo>
                  <a:pt x="3143250" y="171450"/>
                </a:lnTo>
                <a:close/>
              </a:path>
              <a:path w="5511800" h="323850">
                <a:moveTo>
                  <a:pt x="3143250" y="83058"/>
                </a:moveTo>
                <a:lnTo>
                  <a:pt x="3130296" y="83058"/>
                </a:lnTo>
                <a:lnTo>
                  <a:pt x="3130296" y="133350"/>
                </a:lnTo>
                <a:lnTo>
                  <a:pt x="3143250" y="133350"/>
                </a:lnTo>
                <a:lnTo>
                  <a:pt x="3143250" y="83058"/>
                </a:lnTo>
                <a:close/>
              </a:path>
              <a:path w="5511800" h="323850">
                <a:moveTo>
                  <a:pt x="3143250" y="0"/>
                </a:moveTo>
                <a:lnTo>
                  <a:pt x="3130296" y="0"/>
                </a:lnTo>
                <a:lnTo>
                  <a:pt x="3130296" y="44958"/>
                </a:lnTo>
                <a:lnTo>
                  <a:pt x="3143250" y="44958"/>
                </a:lnTo>
                <a:lnTo>
                  <a:pt x="3143250" y="0"/>
                </a:lnTo>
                <a:close/>
              </a:path>
              <a:path w="5511800" h="323850">
                <a:moveTo>
                  <a:pt x="5511546" y="0"/>
                </a:moveTo>
                <a:lnTo>
                  <a:pt x="5486400" y="0"/>
                </a:lnTo>
                <a:lnTo>
                  <a:pt x="5486400" y="323850"/>
                </a:lnTo>
                <a:lnTo>
                  <a:pt x="5511546" y="323850"/>
                </a:lnTo>
                <a:lnTo>
                  <a:pt x="5511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8763127" y="2917190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Trebuchet MS"/>
                <a:cs typeface="Trebuchet MS"/>
              </a:rPr>
              <a:t>CP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76526" y="3572509"/>
            <a:ext cx="344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latin typeface="Trebuchet MS"/>
                <a:cs typeface="Trebuchet MS"/>
              </a:rPr>
              <a:t>Sta.3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597543" y="3543300"/>
            <a:ext cx="318135" cy="234950"/>
            <a:chOff x="2597543" y="3543300"/>
            <a:chExt cx="318135" cy="234950"/>
          </a:xfrm>
        </p:grpSpPr>
        <p:sp>
          <p:nvSpPr>
            <p:cNvPr id="55" name="object 55"/>
            <p:cNvSpPr/>
            <p:nvPr/>
          </p:nvSpPr>
          <p:spPr>
            <a:xfrm>
              <a:off x="2603639" y="3549395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304800" y="22860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304800" y="2286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97543" y="3543300"/>
              <a:ext cx="318135" cy="234950"/>
            </a:xfrm>
            <a:custGeom>
              <a:avLst/>
              <a:gdLst/>
              <a:ahLst/>
              <a:cxnLst/>
              <a:rect l="l" t="t" r="r" b="b"/>
              <a:pathLst>
                <a:path w="318135" h="234950">
                  <a:moveTo>
                    <a:pt x="317754" y="234696"/>
                  </a:moveTo>
                  <a:lnTo>
                    <a:pt x="317754" y="0"/>
                  </a:lnTo>
                  <a:lnTo>
                    <a:pt x="0" y="0"/>
                  </a:lnTo>
                  <a:lnTo>
                    <a:pt x="0" y="234696"/>
                  </a:lnTo>
                  <a:lnTo>
                    <a:pt x="6095" y="234696"/>
                  </a:lnTo>
                  <a:lnTo>
                    <a:pt x="6095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304800" y="12953"/>
                  </a:lnTo>
                  <a:lnTo>
                    <a:pt x="304800" y="6096"/>
                  </a:lnTo>
                  <a:lnTo>
                    <a:pt x="310895" y="12953"/>
                  </a:lnTo>
                  <a:lnTo>
                    <a:pt x="310895" y="234696"/>
                  </a:lnTo>
                  <a:lnTo>
                    <a:pt x="317754" y="234696"/>
                  </a:lnTo>
                  <a:close/>
                </a:path>
                <a:path w="318135" h="234950">
                  <a:moveTo>
                    <a:pt x="12953" y="12953"/>
                  </a:moveTo>
                  <a:lnTo>
                    <a:pt x="12953" y="6096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318135" h="234950">
                  <a:moveTo>
                    <a:pt x="12953" y="234696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234696"/>
                  </a:lnTo>
                  <a:lnTo>
                    <a:pt x="12953" y="234696"/>
                  </a:lnTo>
                  <a:close/>
                </a:path>
                <a:path w="318135" h="234950">
                  <a:moveTo>
                    <a:pt x="310895" y="12953"/>
                  </a:moveTo>
                  <a:lnTo>
                    <a:pt x="304800" y="6096"/>
                  </a:lnTo>
                  <a:lnTo>
                    <a:pt x="304800" y="12953"/>
                  </a:lnTo>
                  <a:lnTo>
                    <a:pt x="310895" y="12953"/>
                  </a:lnTo>
                  <a:close/>
                </a:path>
                <a:path w="318135" h="234950">
                  <a:moveTo>
                    <a:pt x="310895" y="234696"/>
                  </a:moveTo>
                  <a:lnTo>
                    <a:pt x="310895" y="12953"/>
                  </a:lnTo>
                  <a:lnTo>
                    <a:pt x="304800" y="12953"/>
                  </a:lnTo>
                  <a:lnTo>
                    <a:pt x="304800" y="234696"/>
                  </a:lnTo>
                  <a:lnTo>
                    <a:pt x="310895" y="2346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971926" y="2673350"/>
            <a:ext cx="692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0660" indent="228600">
              <a:lnSpc>
                <a:spcPct val="15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CFP  </a:t>
            </a:r>
            <a:r>
              <a:rPr sz="1200" spc="-60" dirty="0">
                <a:latin typeface="Trebuchet MS"/>
                <a:cs typeface="Trebuchet MS"/>
              </a:rPr>
              <a:t>TBTT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445143" y="3549408"/>
            <a:ext cx="13335" cy="228600"/>
          </a:xfrm>
          <a:custGeom>
            <a:avLst/>
            <a:gdLst/>
            <a:ahLst/>
            <a:cxnLst/>
            <a:rect l="l" t="t" r="r" b="b"/>
            <a:pathLst>
              <a:path w="13335" h="228600">
                <a:moveTo>
                  <a:pt x="12954" y="178308"/>
                </a:moveTo>
                <a:lnTo>
                  <a:pt x="0" y="178308"/>
                </a:lnTo>
                <a:lnTo>
                  <a:pt x="0" y="228600"/>
                </a:lnTo>
                <a:lnTo>
                  <a:pt x="12954" y="228600"/>
                </a:lnTo>
                <a:lnTo>
                  <a:pt x="12954" y="178308"/>
                </a:lnTo>
                <a:close/>
              </a:path>
              <a:path w="13335" h="228600">
                <a:moveTo>
                  <a:pt x="12954" y="89154"/>
                </a:moveTo>
                <a:lnTo>
                  <a:pt x="0" y="89154"/>
                </a:lnTo>
                <a:lnTo>
                  <a:pt x="0" y="140208"/>
                </a:lnTo>
                <a:lnTo>
                  <a:pt x="12954" y="140208"/>
                </a:lnTo>
                <a:lnTo>
                  <a:pt x="12954" y="89154"/>
                </a:lnTo>
                <a:close/>
              </a:path>
              <a:path w="13335" h="228600">
                <a:moveTo>
                  <a:pt x="12954" y="0"/>
                </a:moveTo>
                <a:lnTo>
                  <a:pt x="0" y="0"/>
                </a:lnTo>
                <a:lnTo>
                  <a:pt x="0" y="51054"/>
                </a:lnTo>
                <a:lnTo>
                  <a:pt x="12954" y="51054"/>
                </a:lnTo>
                <a:lnTo>
                  <a:pt x="12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489580" y="3299714"/>
            <a:ext cx="908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464180" y="3625850"/>
            <a:ext cx="4483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-52" baseline="19444" dirty="0">
                <a:latin typeface="Trebuchet MS"/>
                <a:cs typeface="Trebuchet MS"/>
              </a:rPr>
              <a:t>F</a:t>
            </a:r>
            <a:r>
              <a:rPr sz="1500" spc="315" baseline="19444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130943" y="2730436"/>
            <a:ext cx="5499735" cy="1047750"/>
            <a:chOff x="3130943" y="2730436"/>
            <a:chExt cx="5499735" cy="1047750"/>
          </a:xfrm>
        </p:grpSpPr>
        <p:sp>
          <p:nvSpPr>
            <p:cNvPr id="62" name="object 62"/>
            <p:cNvSpPr/>
            <p:nvPr/>
          </p:nvSpPr>
          <p:spPr>
            <a:xfrm>
              <a:off x="3130931" y="3016008"/>
              <a:ext cx="5499735" cy="762000"/>
            </a:xfrm>
            <a:custGeom>
              <a:avLst/>
              <a:gdLst/>
              <a:ahLst/>
              <a:cxnLst/>
              <a:rect l="l" t="t" r="r" b="b"/>
              <a:pathLst>
                <a:path w="5499734" h="762000">
                  <a:moveTo>
                    <a:pt x="12966" y="711708"/>
                  </a:moveTo>
                  <a:lnTo>
                    <a:pt x="12" y="711708"/>
                  </a:lnTo>
                  <a:lnTo>
                    <a:pt x="12" y="762000"/>
                  </a:lnTo>
                  <a:lnTo>
                    <a:pt x="12966" y="762000"/>
                  </a:lnTo>
                  <a:lnTo>
                    <a:pt x="12966" y="711708"/>
                  </a:lnTo>
                  <a:close/>
                </a:path>
                <a:path w="5499734" h="762000">
                  <a:moveTo>
                    <a:pt x="12966" y="622554"/>
                  </a:moveTo>
                  <a:lnTo>
                    <a:pt x="12" y="622554"/>
                  </a:lnTo>
                  <a:lnTo>
                    <a:pt x="12" y="673608"/>
                  </a:lnTo>
                  <a:lnTo>
                    <a:pt x="12966" y="673608"/>
                  </a:lnTo>
                  <a:lnTo>
                    <a:pt x="12966" y="622554"/>
                  </a:lnTo>
                  <a:close/>
                </a:path>
                <a:path w="5499734" h="762000">
                  <a:moveTo>
                    <a:pt x="12966" y="533400"/>
                  </a:moveTo>
                  <a:lnTo>
                    <a:pt x="12" y="533400"/>
                  </a:lnTo>
                  <a:lnTo>
                    <a:pt x="12" y="584454"/>
                  </a:lnTo>
                  <a:lnTo>
                    <a:pt x="12966" y="584454"/>
                  </a:lnTo>
                  <a:lnTo>
                    <a:pt x="12966" y="533400"/>
                  </a:lnTo>
                  <a:close/>
                </a:path>
                <a:path w="5499734" h="762000">
                  <a:moveTo>
                    <a:pt x="12966" y="445008"/>
                  </a:moveTo>
                  <a:lnTo>
                    <a:pt x="12" y="445008"/>
                  </a:lnTo>
                  <a:lnTo>
                    <a:pt x="12" y="495300"/>
                  </a:lnTo>
                  <a:lnTo>
                    <a:pt x="12966" y="495300"/>
                  </a:lnTo>
                  <a:lnTo>
                    <a:pt x="12966" y="445008"/>
                  </a:lnTo>
                  <a:close/>
                </a:path>
                <a:path w="5499734" h="762000">
                  <a:moveTo>
                    <a:pt x="12966" y="355854"/>
                  </a:moveTo>
                  <a:lnTo>
                    <a:pt x="12" y="355854"/>
                  </a:lnTo>
                  <a:lnTo>
                    <a:pt x="12" y="406908"/>
                  </a:lnTo>
                  <a:lnTo>
                    <a:pt x="12966" y="406908"/>
                  </a:lnTo>
                  <a:lnTo>
                    <a:pt x="12966" y="355854"/>
                  </a:lnTo>
                  <a:close/>
                </a:path>
                <a:path w="5499734" h="762000">
                  <a:moveTo>
                    <a:pt x="12966" y="266700"/>
                  </a:moveTo>
                  <a:lnTo>
                    <a:pt x="12" y="266700"/>
                  </a:lnTo>
                  <a:lnTo>
                    <a:pt x="12" y="317754"/>
                  </a:lnTo>
                  <a:lnTo>
                    <a:pt x="12966" y="317754"/>
                  </a:lnTo>
                  <a:lnTo>
                    <a:pt x="12966" y="266700"/>
                  </a:lnTo>
                  <a:close/>
                </a:path>
                <a:path w="5499734" h="762000">
                  <a:moveTo>
                    <a:pt x="12966" y="178308"/>
                  </a:moveTo>
                  <a:lnTo>
                    <a:pt x="12" y="178308"/>
                  </a:lnTo>
                  <a:lnTo>
                    <a:pt x="12" y="228600"/>
                  </a:lnTo>
                  <a:lnTo>
                    <a:pt x="12966" y="228600"/>
                  </a:lnTo>
                  <a:lnTo>
                    <a:pt x="12966" y="178308"/>
                  </a:lnTo>
                  <a:close/>
                </a:path>
                <a:path w="5499734" h="762000">
                  <a:moveTo>
                    <a:pt x="12966" y="89154"/>
                  </a:moveTo>
                  <a:lnTo>
                    <a:pt x="12" y="89154"/>
                  </a:lnTo>
                  <a:lnTo>
                    <a:pt x="12" y="140208"/>
                  </a:lnTo>
                  <a:lnTo>
                    <a:pt x="12966" y="140208"/>
                  </a:lnTo>
                  <a:lnTo>
                    <a:pt x="12966" y="89154"/>
                  </a:lnTo>
                  <a:close/>
                </a:path>
                <a:path w="5499734" h="762000">
                  <a:moveTo>
                    <a:pt x="12966" y="0"/>
                  </a:moveTo>
                  <a:lnTo>
                    <a:pt x="0" y="0"/>
                  </a:lnTo>
                  <a:lnTo>
                    <a:pt x="12" y="51054"/>
                  </a:lnTo>
                  <a:lnTo>
                    <a:pt x="12966" y="51054"/>
                  </a:lnTo>
                  <a:lnTo>
                    <a:pt x="12966" y="0"/>
                  </a:lnTo>
                  <a:close/>
                </a:path>
                <a:path w="5499734" h="762000">
                  <a:moveTo>
                    <a:pt x="5499366" y="711708"/>
                  </a:moveTo>
                  <a:lnTo>
                    <a:pt x="5486412" y="711708"/>
                  </a:lnTo>
                  <a:lnTo>
                    <a:pt x="5486412" y="762000"/>
                  </a:lnTo>
                  <a:lnTo>
                    <a:pt x="5499366" y="762000"/>
                  </a:lnTo>
                  <a:lnTo>
                    <a:pt x="5499366" y="711708"/>
                  </a:lnTo>
                  <a:close/>
                </a:path>
                <a:path w="5499734" h="762000">
                  <a:moveTo>
                    <a:pt x="5499366" y="622554"/>
                  </a:moveTo>
                  <a:lnTo>
                    <a:pt x="5486412" y="622554"/>
                  </a:lnTo>
                  <a:lnTo>
                    <a:pt x="5486412" y="673608"/>
                  </a:lnTo>
                  <a:lnTo>
                    <a:pt x="5499366" y="673608"/>
                  </a:lnTo>
                  <a:lnTo>
                    <a:pt x="5499366" y="622554"/>
                  </a:lnTo>
                  <a:close/>
                </a:path>
                <a:path w="5499734" h="762000">
                  <a:moveTo>
                    <a:pt x="5499366" y="533400"/>
                  </a:moveTo>
                  <a:lnTo>
                    <a:pt x="5486412" y="533400"/>
                  </a:lnTo>
                  <a:lnTo>
                    <a:pt x="5486412" y="584454"/>
                  </a:lnTo>
                  <a:lnTo>
                    <a:pt x="5499366" y="584454"/>
                  </a:lnTo>
                  <a:lnTo>
                    <a:pt x="5499366" y="533400"/>
                  </a:lnTo>
                  <a:close/>
                </a:path>
                <a:path w="5499734" h="762000">
                  <a:moveTo>
                    <a:pt x="5499366" y="445008"/>
                  </a:moveTo>
                  <a:lnTo>
                    <a:pt x="5486412" y="445008"/>
                  </a:lnTo>
                  <a:lnTo>
                    <a:pt x="5486412" y="495300"/>
                  </a:lnTo>
                  <a:lnTo>
                    <a:pt x="5499366" y="495300"/>
                  </a:lnTo>
                  <a:lnTo>
                    <a:pt x="5499366" y="445008"/>
                  </a:lnTo>
                  <a:close/>
                </a:path>
                <a:path w="5499734" h="762000">
                  <a:moveTo>
                    <a:pt x="5499366" y="355854"/>
                  </a:moveTo>
                  <a:lnTo>
                    <a:pt x="5486412" y="355854"/>
                  </a:lnTo>
                  <a:lnTo>
                    <a:pt x="5486412" y="406908"/>
                  </a:lnTo>
                  <a:lnTo>
                    <a:pt x="5499366" y="406908"/>
                  </a:lnTo>
                  <a:lnTo>
                    <a:pt x="5499366" y="355854"/>
                  </a:lnTo>
                  <a:close/>
                </a:path>
                <a:path w="5499734" h="762000">
                  <a:moveTo>
                    <a:pt x="5499366" y="266700"/>
                  </a:moveTo>
                  <a:lnTo>
                    <a:pt x="5486412" y="266700"/>
                  </a:lnTo>
                  <a:lnTo>
                    <a:pt x="5486412" y="317754"/>
                  </a:lnTo>
                  <a:lnTo>
                    <a:pt x="5499366" y="317754"/>
                  </a:lnTo>
                  <a:lnTo>
                    <a:pt x="5499366" y="266700"/>
                  </a:lnTo>
                  <a:close/>
                </a:path>
                <a:path w="5499734" h="762000">
                  <a:moveTo>
                    <a:pt x="5499366" y="178308"/>
                  </a:moveTo>
                  <a:lnTo>
                    <a:pt x="5486412" y="178308"/>
                  </a:lnTo>
                  <a:lnTo>
                    <a:pt x="5486412" y="228600"/>
                  </a:lnTo>
                  <a:lnTo>
                    <a:pt x="5499366" y="228600"/>
                  </a:lnTo>
                  <a:lnTo>
                    <a:pt x="5499366" y="178308"/>
                  </a:lnTo>
                  <a:close/>
                </a:path>
                <a:path w="5499734" h="762000">
                  <a:moveTo>
                    <a:pt x="5499366" y="89154"/>
                  </a:moveTo>
                  <a:lnTo>
                    <a:pt x="5486412" y="89154"/>
                  </a:lnTo>
                  <a:lnTo>
                    <a:pt x="5486412" y="140208"/>
                  </a:lnTo>
                  <a:lnTo>
                    <a:pt x="5499366" y="140208"/>
                  </a:lnTo>
                  <a:lnTo>
                    <a:pt x="5499366" y="89154"/>
                  </a:lnTo>
                  <a:close/>
                </a:path>
                <a:path w="5499734" h="762000">
                  <a:moveTo>
                    <a:pt x="5499366" y="0"/>
                  </a:moveTo>
                  <a:lnTo>
                    <a:pt x="5486412" y="0"/>
                  </a:lnTo>
                  <a:lnTo>
                    <a:pt x="5486412" y="51054"/>
                  </a:lnTo>
                  <a:lnTo>
                    <a:pt x="5499366" y="51054"/>
                  </a:lnTo>
                  <a:lnTo>
                    <a:pt x="54993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70820" y="2737103"/>
              <a:ext cx="0" cy="1028700"/>
            </a:xfrm>
            <a:custGeom>
              <a:avLst/>
              <a:gdLst/>
              <a:ahLst/>
              <a:cxnLst/>
              <a:rect l="l" t="t" r="r" b="b"/>
              <a:pathLst>
                <a:path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ln w="1295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37039" y="3549395"/>
              <a:ext cx="2148832" cy="228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30943" y="3542537"/>
              <a:ext cx="2213610" cy="235585"/>
            </a:xfrm>
            <a:custGeom>
              <a:avLst/>
              <a:gdLst/>
              <a:ahLst/>
              <a:cxnLst/>
              <a:rect l="l" t="t" r="r" b="b"/>
              <a:pathLst>
                <a:path w="2213610" h="235585">
                  <a:moveTo>
                    <a:pt x="2213212" y="235458"/>
                  </a:moveTo>
                  <a:lnTo>
                    <a:pt x="0" y="0"/>
                  </a:lnTo>
                  <a:lnTo>
                    <a:pt x="0" y="235458"/>
                  </a:lnTo>
                  <a:lnTo>
                    <a:pt x="6095" y="235458"/>
                  </a:lnTo>
                  <a:lnTo>
                    <a:pt x="6095" y="13715"/>
                  </a:lnTo>
                  <a:lnTo>
                    <a:pt x="12953" y="6858"/>
                  </a:lnTo>
                  <a:lnTo>
                    <a:pt x="12953" y="14445"/>
                  </a:lnTo>
                  <a:lnTo>
                    <a:pt x="2090463" y="235458"/>
                  </a:lnTo>
                  <a:lnTo>
                    <a:pt x="2213212" y="235458"/>
                  </a:lnTo>
                  <a:close/>
                </a:path>
                <a:path w="2213610" h="235585">
                  <a:moveTo>
                    <a:pt x="12953" y="14445"/>
                  </a:moveTo>
                  <a:lnTo>
                    <a:pt x="12953" y="6858"/>
                  </a:lnTo>
                  <a:lnTo>
                    <a:pt x="6095" y="13715"/>
                  </a:lnTo>
                  <a:lnTo>
                    <a:pt x="12953" y="14445"/>
                  </a:lnTo>
                  <a:close/>
                </a:path>
                <a:path w="2213610" h="235585">
                  <a:moveTo>
                    <a:pt x="12953" y="235458"/>
                  </a:moveTo>
                  <a:lnTo>
                    <a:pt x="12953" y="14445"/>
                  </a:lnTo>
                  <a:lnTo>
                    <a:pt x="6095" y="13715"/>
                  </a:lnTo>
                  <a:lnTo>
                    <a:pt x="6095" y="235458"/>
                  </a:lnTo>
                  <a:lnTo>
                    <a:pt x="12953" y="235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670439" y="3549395"/>
              <a:ext cx="2971792" cy="228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664343" y="3542537"/>
              <a:ext cx="3060065" cy="235585"/>
            </a:xfrm>
            <a:custGeom>
              <a:avLst/>
              <a:gdLst/>
              <a:ahLst/>
              <a:cxnLst/>
              <a:rect l="l" t="t" r="r" b="b"/>
              <a:pathLst>
                <a:path w="3060065" h="235585">
                  <a:moveTo>
                    <a:pt x="3059558" y="235457"/>
                  </a:moveTo>
                  <a:lnTo>
                    <a:pt x="0" y="0"/>
                  </a:lnTo>
                  <a:lnTo>
                    <a:pt x="0" y="235458"/>
                  </a:lnTo>
                  <a:lnTo>
                    <a:pt x="6096" y="235458"/>
                  </a:lnTo>
                  <a:lnTo>
                    <a:pt x="6096" y="13715"/>
                  </a:lnTo>
                  <a:lnTo>
                    <a:pt x="12953" y="6858"/>
                  </a:lnTo>
                  <a:lnTo>
                    <a:pt x="12953" y="14243"/>
                  </a:lnTo>
                  <a:lnTo>
                    <a:pt x="2888734" y="235457"/>
                  </a:lnTo>
                  <a:lnTo>
                    <a:pt x="3059558" y="235457"/>
                  </a:lnTo>
                  <a:close/>
                </a:path>
                <a:path w="3060065" h="235585">
                  <a:moveTo>
                    <a:pt x="12953" y="14243"/>
                  </a:moveTo>
                  <a:lnTo>
                    <a:pt x="12953" y="6858"/>
                  </a:lnTo>
                  <a:lnTo>
                    <a:pt x="6096" y="13715"/>
                  </a:lnTo>
                  <a:lnTo>
                    <a:pt x="12953" y="14243"/>
                  </a:lnTo>
                  <a:close/>
                </a:path>
                <a:path w="3060065" h="235585">
                  <a:moveTo>
                    <a:pt x="12953" y="235458"/>
                  </a:moveTo>
                  <a:lnTo>
                    <a:pt x="12953" y="14243"/>
                  </a:lnTo>
                  <a:lnTo>
                    <a:pt x="6096" y="13715"/>
                  </a:lnTo>
                  <a:lnTo>
                    <a:pt x="6096" y="235458"/>
                  </a:lnTo>
                  <a:lnTo>
                    <a:pt x="12953" y="235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191127" y="3374390"/>
            <a:ext cx="3498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latin typeface="Trebuchet MS"/>
                <a:cs typeface="Trebuchet MS"/>
              </a:rPr>
              <a:t>Sta.3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15" dirty="0">
                <a:latin typeface="Trebuchet MS"/>
                <a:cs typeface="Trebuchet MS"/>
              </a:rPr>
              <a:t>sets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NAV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at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75" dirty="0">
                <a:latin typeface="Trebuchet MS"/>
                <a:cs typeface="Trebuchet MS"/>
              </a:rPr>
              <a:t>TBTT,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update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after</a:t>
            </a:r>
            <a:r>
              <a:rPr sz="1200" spc="-114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beacon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reception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1676526" y="3953509"/>
            <a:ext cx="351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latin typeface="Trebuchet MS"/>
                <a:cs typeface="Trebuchet MS"/>
              </a:rPr>
              <a:t>Sta.4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292743" y="3777996"/>
            <a:ext cx="7092950" cy="540385"/>
            <a:chOff x="2292743" y="3777996"/>
            <a:chExt cx="7092950" cy="540385"/>
          </a:xfrm>
        </p:grpSpPr>
        <p:sp>
          <p:nvSpPr>
            <p:cNvPr id="72" name="object 72"/>
            <p:cNvSpPr/>
            <p:nvPr/>
          </p:nvSpPr>
          <p:spPr>
            <a:xfrm>
              <a:off x="2298839" y="3924312"/>
              <a:ext cx="7086600" cy="13335"/>
            </a:xfrm>
            <a:custGeom>
              <a:avLst/>
              <a:gdLst/>
              <a:ahLst/>
              <a:cxnLst/>
              <a:rect l="l" t="t" r="r" b="b"/>
              <a:pathLst>
                <a:path w="7086600" h="13335">
                  <a:moveTo>
                    <a:pt x="7086600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152400" y="6096"/>
                  </a:lnTo>
                  <a:lnTo>
                    <a:pt x="152400" y="12954"/>
                  </a:lnTo>
                  <a:lnTo>
                    <a:pt x="7086600" y="12954"/>
                  </a:lnTo>
                  <a:lnTo>
                    <a:pt x="7086600" y="6096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603639" y="3777996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304800" y="15240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304800" y="1524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445143" y="3778008"/>
              <a:ext cx="470534" cy="266700"/>
            </a:xfrm>
            <a:custGeom>
              <a:avLst/>
              <a:gdLst/>
              <a:ahLst/>
              <a:cxnLst/>
              <a:rect l="l" t="t" r="r" b="b"/>
              <a:pathLst>
                <a:path w="470535" h="266700">
                  <a:moveTo>
                    <a:pt x="12954" y="216408"/>
                  </a:moveTo>
                  <a:lnTo>
                    <a:pt x="6096" y="216408"/>
                  </a:lnTo>
                  <a:lnTo>
                    <a:pt x="6096" y="266700"/>
                  </a:lnTo>
                  <a:lnTo>
                    <a:pt x="12954" y="266700"/>
                  </a:lnTo>
                  <a:lnTo>
                    <a:pt x="12954" y="216408"/>
                  </a:lnTo>
                  <a:close/>
                </a:path>
                <a:path w="470535" h="266700">
                  <a:moveTo>
                    <a:pt x="12954" y="127254"/>
                  </a:moveTo>
                  <a:lnTo>
                    <a:pt x="0" y="127254"/>
                  </a:lnTo>
                  <a:lnTo>
                    <a:pt x="0" y="152400"/>
                  </a:lnTo>
                  <a:lnTo>
                    <a:pt x="0" y="178308"/>
                  </a:lnTo>
                  <a:lnTo>
                    <a:pt x="12954" y="178308"/>
                  </a:lnTo>
                  <a:lnTo>
                    <a:pt x="12954" y="152400"/>
                  </a:lnTo>
                  <a:lnTo>
                    <a:pt x="12954" y="127254"/>
                  </a:lnTo>
                  <a:close/>
                </a:path>
                <a:path w="470535" h="266700">
                  <a:moveTo>
                    <a:pt x="12954" y="38100"/>
                  </a:moveTo>
                  <a:lnTo>
                    <a:pt x="0" y="38100"/>
                  </a:lnTo>
                  <a:lnTo>
                    <a:pt x="0" y="89154"/>
                  </a:lnTo>
                  <a:lnTo>
                    <a:pt x="12954" y="89154"/>
                  </a:lnTo>
                  <a:lnTo>
                    <a:pt x="12954" y="38100"/>
                  </a:lnTo>
                  <a:close/>
                </a:path>
                <a:path w="470535" h="266700">
                  <a:moveTo>
                    <a:pt x="470154" y="0"/>
                  </a:moveTo>
                  <a:lnTo>
                    <a:pt x="457200" y="0"/>
                  </a:lnTo>
                  <a:lnTo>
                    <a:pt x="457200" y="146304"/>
                  </a:lnTo>
                  <a:lnTo>
                    <a:pt x="165354" y="146304"/>
                  </a:lnTo>
                  <a:lnTo>
                    <a:pt x="165354" y="0"/>
                  </a:lnTo>
                  <a:lnTo>
                    <a:pt x="152400" y="0"/>
                  </a:lnTo>
                  <a:lnTo>
                    <a:pt x="152400" y="159258"/>
                  </a:lnTo>
                  <a:lnTo>
                    <a:pt x="158496" y="159258"/>
                  </a:lnTo>
                  <a:lnTo>
                    <a:pt x="165354" y="159258"/>
                  </a:lnTo>
                  <a:lnTo>
                    <a:pt x="457200" y="159258"/>
                  </a:lnTo>
                  <a:lnTo>
                    <a:pt x="463296" y="159258"/>
                  </a:lnTo>
                  <a:lnTo>
                    <a:pt x="470154" y="159258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298839" y="3930396"/>
              <a:ext cx="152400" cy="381000"/>
            </a:xfrm>
            <a:custGeom>
              <a:avLst/>
              <a:gdLst/>
              <a:ahLst/>
              <a:cxnLst/>
              <a:rect l="l" t="t" r="r" b="b"/>
              <a:pathLst>
                <a:path w="152400" h="381000">
                  <a:moveTo>
                    <a:pt x="152400" y="3810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52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292743" y="3924300"/>
              <a:ext cx="165735" cy="394335"/>
            </a:xfrm>
            <a:custGeom>
              <a:avLst/>
              <a:gdLst/>
              <a:ahLst/>
              <a:cxnLst/>
              <a:rect l="l" t="t" r="r" b="b"/>
              <a:pathLst>
                <a:path w="165735" h="394335">
                  <a:moveTo>
                    <a:pt x="165354" y="393953"/>
                  </a:moveTo>
                  <a:lnTo>
                    <a:pt x="165354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5" y="393953"/>
                  </a:lnTo>
                  <a:lnTo>
                    <a:pt x="6095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152400" y="12953"/>
                  </a:lnTo>
                  <a:lnTo>
                    <a:pt x="152400" y="6096"/>
                  </a:lnTo>
                  <a:lnTo>
                    <a:pt x="158495" y="12953"/>
                  </a:lnTo>
                  <a:lnTo>
                    <a:pt x="158495" y="393953"/>
                  </a:lnTo>
                  <a:lnTo>
                    <a:pt x="165354" y="393953"/>
                  </a:lnTo>
                  <a:close/>
                </a:path>
                <a:path w="165735" h="394335">
                  <a:moveTo>
                    <a:pt x="12953" y="12953"/>
                  </a:moveTo>
                  <a:lnTo>
                    <a:pt x="12953" y="6096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165735" h="394335">
                  <a:moveTo>
                    <a:pt x="12953" y="381000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381000"/>
                  </a:lnTo>
                  <a:lnTo>
                    <a:pt x="12953" y="381000"/>
                  </a:lnTo>
                  <a:close/>
                </a:path>
                <a:path w="165735" h="394335">
                  <a:moveTo>
                    <a:pt x="158495" y="381000"/>
                  </a:moveTo>
                  <a:lnTo>
                    <a:pt x="6095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152400" y="393953"/>
                  </a:lnTo>
                  <a:lnTo>
                    <a:pt x="152400" y="387096"/>
                  </a:lnTo>
                  <a:lnTo>
                    <a:pt x="158495" y="381000"/>
                  </a:lnTo>
                  <a:close/>
                </a:path>
                <a:path w="1657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5" y="381000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165735" h="394335">
                  <a:moveTo>
                    <a:pt x="158495" y="12953"/>
                  </a:moveTo>
                  <a:lnTo>
                    <a:pt x="152400" y="6096"/>
                  </a:lnTo>
                  <a:lnTo>
                    <a:pt x="152400" y="12953"/>
                  </a:lnTo>
                  <a:lnTo>
                    <a:pt x="158495" y="12953"/>
                  </a:lnTo>
                  <a:close/>
                </a:path>
                <a:path w="165735" h="394335">
                  <a:moveTo>
                    <a:pt x="158495" y="381000"/>
                  </a:moveTo>
                  <a:lnTo>
                    <a:pt x="158495" y="12953"/>
                  </a:lnTo>
                  <a:lnTo>
                    <a:pt x="152400" y="12953"/>
                  </a:lnTo>
                  <a:lnTo>
                    <a:pt x="152400" y="381000"/>
                  </a:lnTo>
                  <a:lnTo>
                    <a:pt x="158495" y="381000"/>
                  </a:lnTo>
                  <a:close/>
                </a:path>
                <a:path w="165735" h="394335">
                  <a:moveTo>
                    <a:pt x="158495" y="393953"/>
                  </a:moveTo>
                  <a:lnTo>
                    <a:pt x="158495" y="381000"/>
                  </a:lnTo>
                  <a:lnTo>
                    <a:pt x="152400" y="387096"/>
                  </a:lnTo>
                  <a:lnTo>
                    <a:pt x="152400" y="393953"/>
                  </a:lnTo>
                  <a:lnTo>
                    <a:pt x="158495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451239" y="4044696"/>
              <a:ext cx="228600" cy="76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489580" y="3756914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130943" y="3816108"/>
            <a:ext cx="13335" cy="114300"/>
          </a:xfrm>
          <a:custGeom>
            <a:avLst/>
            <a:gdLst/>
            <a:ahLst/>
            <a:cxnLst/>
            <a:rect l="l" t="t" r="r" b="b"/>
            <a:pathLst>
              <a:path w="13335" h="114300">
                <a:moveTo>
                  <a:pt x="12954" y="89154"/>
                </a:moveTo>
                <a:lnTo>
                  <a:pt x="0" y="89154"/>
                </a:lnTo>
                <a:lnTo>
                  <a:pt x="0" y="114300"/>
                </a:lnTo>
                <a:lnTo>
                  <a:pt x="12954" y="114300"/>
                </a:lnTo>
                <a:lnTo>
                  <a:pt x="12954" y="89154"/>
                </a:lnTo>
                <a:close/>
              </a:path>
              <a:path w="13335" h="114300">
                <a:moveTo>
                  <a:pt x="12954" y="0"/>
                </a:moveTo>
                <a:lnTo>
                  <a:pt x="0" y="0"/>
                </a:lnTo>
                <a:lnTo>
                  <a:pt x="0" y="51054"/>
                </a:lnTo>
                <a:lnTo>
                  <a:pt x="12954" y="51054"/>
                </a:lnTo>
                <a:lnTo>
                  <a:pt x="12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2743314" y="3971036"/>
            <a:ext cx="7067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Trebuchet MS"/>
                <a:cs typeface="Trebuchet MS"/>
              </a:rPr>
              <a:t>DCF </a:t>
            </a:r>
            <a:r>
              <a:rPr sz="1000" spc="-30" dirty="0">
                <a:latin typeface="Trebuchet MS"/>
                <a:cs typeface="Trebuchet MS"/>
              </a:rPr>
              <a:t>data  </a:t>
            </a:r>
            <a:r>
              <a:rPr sz="1000" spc="-20" dirty="0">
                <a:latin typeface="Trebuchet MS"/>
                <a:cs typeface="Trebuchet MS"/>
              </a:rPr>
              <a:t>transmission  during</a:t>
            </a:r>
            <a:r>
              <a:rPr sz="1000" spc="-114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CP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3130943" y="3777996"/>
            <a:ext cx="5543550" cy="159385"/>
            <a:chOff x="3130943" y="3777996"/>
            <a:chExt cx="5543550" cy="159385"/>
          </a:xfrm>
        </p:grpSpPr>
        <p:sp>
          <p:nvSpPr>
            <p:cNvPr id="82" name="object 82"/>
            <p:cNvSpPr/>
            <p:nvPr/>
          </p:nvSpPr>
          <p:spPr>
            <a:xfrm>
              <a:off x="3664343" y="3803916"/>
              <a:ext cx="4966335" cy="127000"/>
            </a:xfrm>
            <a:custGeom>
              <a:avLst/>
              <a:gdLst/>
              <a:ahLst/>
              <a:cxnLst/>
              <a:rect l="l" t="t" r="r" b="b"/>
              <a:pathLst>
                <a:path w="4966334" h="127000">
                  <a:moveTo>
                    <a:pt x="12954" y="88392"/>
                  </a:moveTo>
                  <a:lnTo>
                    <a:pt x="0" y="88392"/>
                  </a:lnTo>
                  <a:lnTo>
                    <a:pt x="0" y="126492"/>
                  </a:lnTo>
                  <a:lnTo>
                    <a:pt x="12954" y="126492"/>
                  </a:lnTo>
                  <a:lnTo>
                    <a:pt x="12954" y="88392"/>
                  </a:lnTo>
                  <a:close/>
                </a:path>
                <a:path w="4966334" h="127000">
                  <a:moveTo>
                    <a:pt x="12954" y="0"/>
                  </a:moveTo>
                  <a:lnTo>
                    <a:pt x="0" y="0"/>
                  </a:lnTo>
                  <a:lnTo>
                    <a:pt x="0" y="50292"/>
                  </a:lnTo>
                  <a:lnTo>
                    <a:pt x="12954" y="50292"/>
                  </a:lnTo>
                  <a:lnTo>
                    <a:pt x="12954" y="0"/>
                  </a:lnTo>
                  <a:close/>
                </a:path>
                <a:path w="4966334" h="127000">
                  <a:moveTo>
                    <a:pt x="4965954" y="101346"/>
                  </a:moveTo>
                  <a:lnTo>
                    <a:pt x="4953000" y="101346"/>
                  </a:lnTo>
                  <a:lnTo>
                    <a:pt x="4953000" y="126492"/>
                  </a:lnTo>
                  <a:lnTo>
                    <a:pt x="4965954" y="126492"/>
                  </a:lnTo>
                  <a:lnTo>
                    <a:pt x="4965954" y="101346"/>
                  </a:lnTo>
                  <a:close/>
                </a:path>
                <a:path w="4966334" h="127000">
                  <a:moveTo>
                    <a:pt x="4965954" y="12192"/>
                  </a:moveTo>
                  <a:lnTo>
                    <a:pt x="4953000" y="12192"/>
                  </a:lnTo>
                  <a:lnTo>
                    <a:pt x="4953000" y="63246"/>
                  </a:lnTo>
                  <a:lnTo>
                    <a:pt x="4965954" y="63246"/>
                  </a:lnTo>
                  <a:lnTo>
                    <a:pt x="4965954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137039" y="3777996"/>
              <a:ext cx="3581387" cy="1524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130943" y="3777996"/>
              <a:ext cx="3638550" cy="159385"/>
            </a:xfrm>
            <a:custGeom>
              <a:avLst/>
              <a:gdLst/>
              <a:ahLst/>
              <a:cxnLst/>
              <a:rect l="l" t="t" r="r" b="b"/>
              <a:pathLst>
                <a:path w="3638550" h="159385">
                  <a:moveTo>
                    <a:pt x="12953" y="14630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159257"/>
                  </a:lnTo>
                  <a:lnTo>
                    <a:pt x="6095" y="159257"/>
                  </a:lnTo>
                  <a:lnTo>
                    <a:pt x="6095" y="146303"/>
                  </a:lnTo>
                  <a:lnTo>
                    <a:pt x="12953" y="146303"/>
                  </a:lnTo>
                  <a:close/>
                </a:path>
                <a:path w="3638550" h="159385">
                  <a:moveTo>
                    <a:pt x="3587483" y="159257"/>
                  </a:moveTo>
                  <a:lnTo>
                    <a:pt x="3465716" y="146303"/>
                  </a:lnTo>
                  <a:lnTo>
                    <a:pt x="6095" y="146303"/>
                  </a:lnTo>
                  <a:lnTo>
                    <a:pt x="12953" y="152400"/>
                  </a:lnTo>
                  <a:lnTo>
                    <a:pt x="12953" y="159257"/>
                  </a:lnTo>
                  <a:lnTo>
                    <a:pt x="3587483" y="159257"/>
                  </a:lnTo>
                  <a:close/>
                </a:path>
                <a:path w="3638550" h="159385">
                  <a:moveTo>
                    <a:pt x="12953" y="159257"/>
                  </a:moveTo>
                  <a:lnTo>
                    <a:pt x="12953" y="152400"/>
                  </a:lnTo>
                  <a:lnTo>
                    <a:pt x="6095" y="146303"/>
                  </a:lnTo>
                  <a:lnTo>
                    <a:pt x="6095" y="159257"/>
                  </a:lnTo>
                  <a:lnTo>
                    <a:pt x="12953" y="159257"/>
                  </a:lnTo>
                  <a:close/>
                </a:path>
                <a:path w="3638550" h="159385">
                  <a:moveTo>
                    <a:pt x="3638549" y="159257"/>
                  </a:moveTo>
                  <a:lnTo>
                    <a:pt x="3638549" y="151637"/>
                  </a:lnTo>
                  <a:lnTo>
                    <a:pt x="2213212" y="0"/>
                  </a:lnTo>
                  <a:lnTo>
                    <a:pt x="2090463" y="0"/>
                  </a:lnTo>
                  <a:lnTo>
                    <a:pt x="3465716" y="146303"/>
                  </a:lnTo>
                  <a:lnTo>
                    <a:pt x="3587483" y="146303"/>
                  </a:lnTo>
                  <a:lnTo>
                    <a:pt x="3587483" y="159257"/>
                  </a:lnTo>
                  <a:lnTo>
                    <a:pt x="3638549" y="159257"/>
                  </a:lnTo>
                  <a:close/>
                </a:path>
                <a:path w="3638550" h="159385">
                  <a:moveTo>
                    <a:pt x="3587483" y="159257"/>
                  </a:moveTo>
                  <a:lnTo>
                    <a:pt x="3587483" y="146303"/>
                  </a:lnTo>
                  <a:lnTo>
                    <a:pt x="3465716" y="146303"/>
                  </a:lnTo>
                  <a:lnTo>
                    <a:pt x="3587483" y="1592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670439" y="3777996"/>
              <a:ext cx="4952987" cy="1524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664343" y="3777996"/>
              <a:ext cx="5010150" cy="159385"/>
            </a:xfrm>
            <a:custGeom>
              <a:avLst/>
              <a:gdLst/>
              <a:ahLst/>
              <a:cxnLst/>
              <a:rect l="l" t="t" r="r" b="b"/>
              <a:pathLst>
                <a:path w="5010150" h="159385">
                  <a:moveTo>
                    <a:pt x="12953" y="146304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159258"/>
                  </a:lnTo>
                  <a:lnTo>
                    <a:pt x="6096" y="159258"/>
                  </a:lnTo>
                  <a:lnTo>
                    <a:pt x="6096" y="146304"/>
                  </a:lnTo>
                  <a:lnTo>
                    <a:pt x="12953" y="146304"/>
                  </a:lnTo>
                  <a:close/>
                </a:path>
                <a:path w="5010150" h="159385">
                  <a:moveTo>
                    <a:pt x="4959083" y="159257"/>
                  </a:moveTo>
                  <a:lnTo>
                    <a:pt x="4790681" y="146303"/>
                  </a:lnTo>
                  <a:lnTo>
                    <a:pt x="6096" y="146304"/>
                  </a:lnTo>
                  <a:lnTo>
                    <a:pt x="12953" y="152400"/>
                  </a:lnTo>
                  <a:lnTo>
                    <a:pt x="12954" y="159258"/>
                  </a:lnTo>
                  <a:lnTo>
                    <a:pt x="4959083" y="159257"/>
                  </a:lnTo>
                  <a:close/>
                </a:path>
                <a:path w="5010150" h="159385">
                  <a:moveTo>
                    <a:pt x="12954" y="159258"/>
                  </a:moveTo>
                  <a:lnTo>
                    <a:pt x="12953" y="152400"/>
                  </a:lnTo>
                  <a:lnTo>
                    <a:pt x="6096" y="146304"/>
                  </a:lnTo>
                  <a:lnTo>
                    <a:pt x="6096" y="159258"/>
                  </a:lnTo>
                  <a:lnTo>
                    <a:pt x="12954" y="159258"/>
                  </a:lnTo>
                  <a:close/>
                </a:path>
                <a:path w="5010150" h="159385">
                  <a:moveTo>
                    <a:pt x="5010149" y="159257"/>
                  </a:moveTo>
                  <a:lnTo>
                    <a:pt x="5010149" y="150113"/>
                  </a:lnTo>
                  <a:lnTo>
                    <a:pt x="3059558" y="0"/>
                  </a:lnTo>
                  <a:lnTo>
                    <a:pt x="2888734" y="0"/>
                  </a:lnTo>
                  <a:lnTo>
                    <a:pt x="4790681" y="146303"/>
                  </a:lnTo>
                  <a:lnTo>
                    <a:pt x="4959083" y="146303"/>
                  </a:lnTo>
                  <a:lnTo>
                    <a:pt x="4959083" y="159257"/>
                  </a:lnTo>
                  <a:lnTo>
                    <a:pt x="5010149" y="159257"/>
                  </a:lnTo>
                  <a:close/>
                </a:path>
                <a:path w="5010150" h="159385">
                  <a:moveTo>
                    <a:pt x="4959083" y="159257"/>
                  </a:moveTo>
                  <a:lnTo>
                    <a:pt x="4959083" y="146303"/>
                  </a:lnTo>
                  <a:lnTo>
                    <a:pt x="4790681" y="146303"/>
                  </a:lnTo>
                  <a:lnTo>
                    <a:pt x="4959083" y="1592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8305927" y="3528314"/>
            <a:ext cx="3003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0" dirty="0">
                <a:latin typeface="Trebuchet MS"/>
                <a:cs typeface="Trebuchet MS"/>
              </a:rPr>
              <a:t>NAV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-25" dirty="0">
                <a:latin typeface="Trebuchet MS"/>
                <a:cs typeface="Trebuchet MS"/>
              </a:rPr>
              <a:t>reset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038727" y="3983990"/>
            <a:ext cx="3876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latin typeface="Trebuchet MS"/>
                <a:cs typeface="Trebuchet MS"/>
              </a:rPr>
              <a:t>Sta.4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is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hidden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to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the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70" dirty="0">
                <a:latin typeface="Trebuchet MS"/>
                <a:cs typeface="Trebuchet MS"/>
              </a:rPr>
              <a:t>PC,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65" dirty="0">
                <a:latin typeface="Trebuchet MS"/>
                <a:cs typeface="Trebuchet MS"/>
              </a:rPr>
              <a:t>it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5" dirty="0">
                <a:latin typeface="Trebuchet MS"/>
                <a:cs typeface="Trebuchet MS"/>
              </a:rPr>
              <a:t>does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not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set</a:t>
            </a:r>
            <a:r>
              <a:rPr sz="1200" spc="-114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its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NAV.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This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station  </a:t>
            </a:r>
            <a:r>
              <a:rPr sz="1200" spc="-15" dirty="0">
                <a:latin typeface="Trebuchet MS"/>
                <a:cs typeface="Trebuchet MS"/>
              </a:rPr>
              <a:t>should</a:t>
            </a:r>
            <a:r>
              <a:rPr sz="1200" spc="-114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not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be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part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of</a:t>
            </a:r>
            <a:r>
              <a:rPr sz="1200" spc="-95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the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25" dirty="0">
                <a:latin typeface="Trebuchet MS"/>
                <a:cs typeface="Trebuchet MS"/>
              </a:rPr>
              <a:t>BSS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coordinated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by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the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PC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65" dirty="0">
                <a:latin typeface="Trebuchet MS"/>
                <a:cs typeface="Trebuchet MS"/>
              </a:rPr>
              <a:t>(sta.1)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8852027" y="4273296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46353" y="44957"/>
                </a:moveTo>
                <a:lnTo>
                  <a:pt x="546353" y="32003"/>
                </a:lnTo>
                <a:lnTo>
                  <a:pt x="0" y="32003"/>
                </a:lnTo>
                <a:lnTo>
                  <a:pt x="0" y="44957"/>
                </a:lnTo>
                <a:lnTo>
                  <a:pt x="546353" y="44957"/>
                </a:lnTo>
                <a:close/>
              </a:path>
              <a:path w="609600" h="76200">
                <a:moveTo>
                  <a:pt x="609600" y="38100"/>
                </a:moveTo>
                <a:lnTo>
                  <a:pt x="533400" y="0"/>
                </a:lnTo>
                <a:lnTo>
                  <a:pt x="533400" y="32003"/>
                </a:lnTo>
                <a:lnTo>
                  <a:pt x="546353" y="32003"/>
                </a:lnTo>
                <a:lnTo>
                  <a:pt x="546353" y="69723"/>
                </a:lnTo>
                <a:lnTo>
                  <a:pt x="609600" y="38100"/>
                </a:lnTo>
                <a:close/>
              </a:path>
              <a:path w="609600" h="76200">
                <a:moveTo>
                  <a:pt x="546353" y="69723"/>
                </a:moveTo>
                <a:lnTo>
                  <a:pt x="546353" y="44957"/>
                </a:lnTo>
                <a:lnTo>
                  <a:pt x="533400" y="44957"/>
                </a:lnTo>
                <a:lnTo>
                  <a:pt x="533400" y="76200"/>
                </a:lnTo>
                <a:lnTo>
                  <a:pt x="546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8991727" y="4334509"/>
            <a:ext cx="317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latin typeface="Trebuchet MS"/>
                <a:cs typeface="Trebuchet MS"/>
              </a:rPr>
              <a:t>time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375039" y="4991100"/>
            <a:ext cx="7086600" cy="501650"/>
            <a:chOff x="2375039" y="4991100"/>
            <a:chExt cx="7086600" cy="501650"/>
          </a:xfrm>
        </p:grpSpPr>
        <p:sp>
          <p:nvSpPr>
            <p:cNvPr id="92" name="object 92"/>
            <p:cNvSpPr/>
            <p:nvPr/>
          </p:nvSpPr>
          <p:spPr>
            <a:xfrm>
              <a:off x="2375039" y="4997208"/>
              <a:ext cx="7086600" cy="495300"/>
            </a:xfrm>
            <a:custGeom>
              <a:avLst/>
              <a:gdLst/>
              <a:ahLst/>
              <a:cxnLst/>
              <a:rect l="l" t="t" r="r" b="b"/>
              <a:pathLst>
                <a:path w="7086600" h="495300">
                  <a:moveTo>
                    <a:pt x="1378458" y="445008"/>
                  </a:moveTo>
                  <a:lnTo>
                    <a:pt x="1371600" y="445008"/>
                  </a:lnTo>
                  <a:lnTo>
                    <a:pt x="1371600" y="495300"/>
                  </a:lnTo>
                  <a:lnTo>
                    <a:pt x="1378458" y="495300"/>
                  </a:lnTo>
                  <a:lnTo>
                    <a:pt x="1378458" y="445008"/>
                  </a:lnTo>
                  <a:close/>
                </a:path>
                <a:path w="7086600" h="495300">
                  <a:moveTo>
                    <a:pt x="1378458" y="266700"/>
                  </a:moveTo>
                  <a:lnTo>
                    <a:pt x="1365504" y="266700"/>
                  </a:lnTo>
                  <a:lnTo>
                    <a:pt x="1365504" y="317754"/>
                  </a:lnTo>
                  <a:lnTo>
                    <a:pt x="1378458" y="317754"/>
                  </a:lnTo>
                  <a:lnTo>
                    <a:pt x="1378458" y="266700"/>
                  </a:lnTo>
                  <a:close/>
                </a:path>
                <a:path w="7086600" h="495300">
                  <a:moveTo>
                    <a:pt x="1378458" y="178308"/>
                  </a:moveTo>
                  <a:lnTo>
                    <a:pt x="1365504" y="178308"/>
                  </a:lnTo>
                  <a:lnTo>
                    <a:pt x="1365504" y="228600"/>
                  </a:lnTo>
                  <a:lnTo>
                    <a:pt x="1378458" y="228600"/>
                  </a:lnTo>
                  <a:lnTo>
                    <a:pt x="1378458" y="178308"/>
                  </a:lnTo>
                  <a:close/>
                </a:path>
                <a:path w="7086600" h="495300">
                  <a:moveTo>
                    <a:pt x="1378458" y="89154"/>
                  </a:moveTo>
                  <a:lnTo>
                    <a:pt x="1365504" y="89154"/>
                  </a:lnTo>
                  <a:lnTo>
                    <a:pt x="1365504" y="140208"/>
                  </a:lnTo>
                  <a:lnTo>
                    <a:pt x="1378458" y="140208"/>
                  </a:lnTo>
                  <a:lnTo>
                    <a:pt x="1378458" y="89154"/>
                  </a:lnTo>
                  <a:close/>
                </a:path>
                <a:path w="7086600" h="495300">
                  <a:moveTo>
                    <a:pt x="1378458" y="0"/>
                  </a:moveTo>
                  <a:lnTo>
                    <a:pt x="1365504" y="0"/>
                  </a:lnTo>
                  <a:lnTo>
                    <a:pt x="1365504" y="51054"/>
                  </a:lnTo>
                  <a:lnTo>
                    <a:pt x="1378458" y="51054"/>
                  </a:lnTo>
                  <a:lnTo>
                    <a:pt x="1378458" y="0"/>
                  </a:lnTo>
                  <a:close/>
                </a:path>
                <a:path w="7086600" h="495300">
                  <a:moveTo>
                    <a:pt x="7086600" y="374904"/>
                  </a:moveTo>
                  <a:lnTo>
                    <a:pt x="6781787" y="374904"/>
                  </a:lnTo>
                  <a:lnTo>
                    <a:pt x="6781787" y="381000"/>
                  </a:lnTo>
                  <a:lnTo>
                    <a:pt x="6248387" y="381000"/>
                  </a:lnTo>
                  <a:lnTo>
                    <a:pt x="6248387" y="374904"/>
                  </a:lnTo>
                  <a:lnTo>
                    <a:pt x="5410187" y="374904"/>
                  </a:lnTo>
                  <a:lnTo>
                    <a:pt x="5410187" y="381000"/>
                  </a:lnTo>
                  <a:lnTo>
                    <a:pt x="4876787" y="381000"/>
                  </a:lnTo>
                  <a:lnTo>
                    <a:pt x="4876787" y="374904"/>
                  </a:lnTo>
                  <a:lnTo>
                    <a:pt x="3581400" y="374904"/>
                  </a:lnTo>
                  <a:lnTo>
                    <a:pt x="3581400" y="381000"/>
                  </a:lnTo>
                  <a:lnTo>
                    <a:pt x="3048000" y="381000"/>
                  </a:lnTo>
                  <a:lnTo>
                    <a:pt x="3048000" y="374904"/>
                  </a:lnTo>
                  <a:lnTo>
                    <a:pt x="2819400" y="374904"/>
                  </a:lnTo>
                  <a:lnTo>
                    <a:pt x="2819400" y="381000"/>
                  </a:lnTo>
                  <a:lnTo>
                    <a:pt x="2286000" y="381000"/>
                  </a:lnTo>
                  <a:lnTo>
                    <a:pt x="2286000" y="374904"/>
                  </a:lnTo>
                  <a:lnTo>
                    <a:pt x="1378458" y="374904"/>
                  </a:lnTo>
                  <a:lnTo>
                    <a:pt x="1378458" y="355854"/>
                  </a:lnTo>
                  <a:lnTo>
                    <a:pt x="1365504" y="355854"/>
                  </a:lnTo>
                  <a:lnTo>
                    <a:pt x="1365504" y="374904"/>
                  </a:lnTo>
                  <a:lnTo>
                    <a:pt x="0" y="374904"/>
                  </a:lnTo>
                  <a:lnTo>
                    <a:pt x="0" y="381000"/>
                  </a:lnTo>
                  <a:lnTo>
                    <a:pt x="914387" y="381000"/>
                  </a:lnTo>
                  <a:lnTo>
                    <a:pt x="914387" y="387858"/>
                  </a:lnTo>
                  <a:lnTo>
                    <a:pt x="1066800" y="387858"/>
                  </a:lnTo>
                  <a:lnTo>
                    <a:pt x="1066800" y="381000"/>
                  </a:lnTo>
                  <a:lnTo>
                    <a:pt x="1365504" y="381000"/>
                  </a:lnTo>
                  <a:lnTo>
                    <a:pt x="1365504" y="406908"/>
                  </a:lnTo>
                  <a:lnTo>
                    <a:pt x="1378458" y="406908"/>
                  </a:lnTo>
                  <a:lnTo>
                    <a:pt x="1378458" y="387858"/>
                  </a:lnTo>
                  <a:lnTo>
                    <a:pt x="3733800" y="387858"/>
                  </a:lnTo>
                  <a:lnTo>
                    <a:pt x="3733800" y="381000"/>
                  </a:lnTo>
                  <a:lnTo>
                    <a:pt x="4724400" y="381000"/>
                  </a:lnTo>
                  <a:lnTo>
                    <a:pt x="4724400" y="387858"/>
                  </a:lnTo>
                  <a:lnTo>
                    <a:pt x="5562587" y="387858"/>
                  </a:lnTo>
                  <a:lnTo>
                    <a:pt x="5562587" y="381000"/>
                  </a:lnTo>
                  <a:lnTo>
                    <a:pt x="6095987" y="381000"/>
                  </a:lnTo>
                  <a:lnTo>
                    <a:pt x="6095987" y="387858"/>
                  </a:lnTo>
                  <a:lnTo>
                    <a:pt x="7086600" y="387858"/>
                  </a:lnTo>
                  <a:lnTo>
                    <a:pt x="7086600" y="381000"/>
                  </a:lnTo>
                  <a:lnTo>
                    <a:pt x="7086600" y="3749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975239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9691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5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6" y="393953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96" y="12953"/>
                  </a:lnTo>
                  <a:lnTo>
                    <a:pt x="539496" y="393953"/>
                  </a:lnTo>
                  <a:lnTo>
                    <a:pt x="546353" y="393953"/>
                  </a:lnTo>
                  <a:close/>
                </a:path>
                <a:path w="546735" h="394335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546735" h="394335">
                  <a:moveTo>
                    <a:pt x="12953" y="381000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81000"/>
                  </a:lnTo>
                  <a:lnTo>
                    <a:pt x="12953" y="381000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6096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6" y="381000"/>
                  </a:lnTo>
                  <a:lnTo>
                    <a:pt x="6096" y="393953"/>
                  </a:lnTo>
                  <a:lnTo>
                    <a:pt x="12953" y="393953"/>
                  </a:lnTo>
                  <a:close/>
                </a:path>
                <a:path w="546735" h="394335">
                  <a:moveTo>
                    <a:pt x="539496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96" y="12953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539496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539496" y="393953"/>
                  </a:moveTo>
                  <a:lnTo>
                    <a:pt x="539496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1676526" y="5050790"/>
            <a:ext cx="633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latin typeface="Trebuchet MS"/>
                <a:cs typeface="Trebuchet MS"/>
              </a:rPr>
              <a:t>Sta.1</a:t>
            </a:r>
            <a:r>
              <a:rPr sz="1200" spc="-17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(PC)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975239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700"/>
              </a:spcBef>
            </a:pPr>
            <a:r>
              <a:rPr sz="1200" spc="-20" dirty="0">
                <a:latin typeface="Trebuchet MS"/>
                <a:cs typeface="Trebuchet MS"/>
              </a:rPr>
              <a:t>beacon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4654943" y="4991100"/>
            <a:ext cx="546735" cy="394335"/>
            <a:chOff x="4654943" y="4991100"/>
            <a:chExt cx="546735" cy="394335"/>
          </a:xfrm>
        </p:grpSpPr>
        <p:sp>
          <p:nvSpPr>
            <p:cNvPr id="98" name="object 98"/>
            <p:cNvSpPr/>
            <p:nvPr/>
          </p:nvSpPr>
          <p:spPr>
            <a:xfrm>
              <a:off x="4661039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6549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5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96" y="393953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96" y="12953"/>
                  </a:lnTo>
                  <a:lnTo>
                    <a:pt x="539496" y="393953"/>
                  </a:lnTo>
                  <a:lnTo>
                    <a:pt x="546353" y="393953"/>
                  </a:lnTo>
                  <a:close/>
                </a:path>
                <a:path w="546735" h="394335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546735" h="394335">
                  <a:moveTo>
                    <a:pt x="12953" y="381000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81000"/>
                  </a:lnTo>
                  <a:lnTo>
                    <a:pt x="12953" y="381000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6096" y="381000"/>
                  </a:lnTo>
                  <a:lnTo>
                    <a:pt x="12953" y="387096"/>
                  </a:lnTo>
                  <a:lnTo>
                    <a:pt x="12953" y="393953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12953" y="393953"/>
                  </a:moveTo>
                  <a:lnTo>
                    <a:pt x="12953" y="387096"/>
                  </a:lnTo>
                  <a:lnTo>
                    <a:pt x="6096" y="381000"/>
                  </a:lnTo>
                  <a:lnTo>
                    <a:pt x="6096" y="393953"/>
                  </a:lnTo>
                  <a:lnTo>
                    <a:pt x="12953" y="393953"/>
                  </a:lnTo>
                  <a:close/>
                </a:path>
                <a:path w="546735" h="394335">
                  <a:moveTo>
                    <a:pt x="539496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96" y="12953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539496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539496" y="393953"/>
                  </a:moveTo>
                  <a:lnTo>
                    <a:pt x="539496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4661039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245743" y="4991100"/>
            <a:ext cx="546735" cy="394335"/>
            <a:chOff x="7245743" y="4991100"/>
            <a:chExt cx="546735" cy="394335"/>
          </a:xfrm>
        </p:grpSpPr>
        <p:sp>
          <p:nvSpPr>
            <p:cNvPr id="102" name="object 102"/>
            <p:cNvSpPr/>
            <p:nvPr/>
          </p:nvSpPr>
          <p:spPr>
            <a:xfrm>
              <a:off x="7251827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2457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4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83" y="12953"/>
                  </a:lnTo>
                  <a:lnTo>
                    <a:pt x="539483" y="393953"/>
                  </a:lnTo>
                  <a:lnTo>
                    <a:pt x="546353" y="393953"/>
                  </a:lnTo>
                  <a:close/>
                </a:path>
                <a:path w="546734" h="394335">
                  <a:moveTo>
                    <a:pt x="12954" y="12953"/>
                  </a:moveTo>
                  <a:lnTo>
                    <a:pt x="12954" y="6096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546734" h="394335">
                  <a:moveTo>
                    <a:pt x="12954" y="381000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546734" h="394335">
                  <a:moveTo>
                    <a:pt x="5394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83" y="381000"/>
                  </a:lnTo>
                  <a:close/>
                </a:path>
                <a:path w="5467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546734" h="394335">
                  <a:moveTo>
                    <a:pt x="539483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83" y="12953"/>
                  </a:lnTo>
                  <a:close/>
                </a:path>
                <a:path w="546734" h="394335">
                  <a:moveTo>
                    <a:pt x="539483" y="381000"/>
                  </a:moveTo>
                  <a:lnTo>
                    <a:pt x="539483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83" y="381000"/>
                  </a:lnTo>
                  <a:close/>
                </a:path>
                <a:path w="546734" h="394335">
                  <a:moveTo>
                    <a:pt x="539483" y="393953"/>
                  </a:moveTo>
                  <a:lnTo>
                    <a:pt x="539483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7251827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102743" y="4991100"/>
            <a:ext cx="3061335" cy="501650"/>
            <a:chOff x="6102743" y="4991100"/>
            <a:chExt cx="3061335" cy="501650"/>
          </a:xfrm>
        </p:grpSpPr>
        <p:sp>
          <p:nvSpPr>
            <p:cNvPr id="106" name="object 106"/>
            <p:cNvSpPr/>
            <p:nvPr/>
          </p:nvSpPr>
          <p:spPr>
            <a:xfrm>
              <a:off x="6108839" y="5378195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990599" y="114300"/>
                  </a:moveTo>
                  <a:lnTo>
                    <a:pt x="990599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990599" y="1143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102743" y="5372100"/>
              <a:ext cx="1003935" cy="120650"/>
            </a:xfrm>
            <a:custGeom>
              <a:avLst/>
              <a:gdLst/>
              <a:ahLst/>
              <a:cxnLst/>
              <a:rect l="l" t="t" r="r" b="b"/>
              <a:pathLst>
                <a:path w="1003934" h="120650">
                  <a:moveTo>
                    <a:pt x="1003554" y="120396"/>
                  </a:moveTo>
                  <a:lnTo>
                    <a:pt x="1003554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6096" y="120396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990599" y="12953"/>
                  </a:lnTo>
                  <a:lnTo>
                    <a:pt x="990599" y="6096"/>
                  </a:lnTo>
                  <a:lnTo>
                    <a:pt x="996683" y="12953"/>
                  </a:lnTo>
                  <a:lnTo>
                    <a:pt x="996683" y="120396"/>
                  </a:lnTo>
                  <a:lnTo>
                    <a:pt x="1003554" y="120396"/>
                  </a:lnTo>
                  <a:close/>
                </a:path>
                <a:path w="1003934" h="12065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1003934" h="120650">
                  <a:moveTo>
                    <a:pt x="12953" y="120396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120396"/>
                  </a:lnTo>
                  <a:lnTo>
                    <a:pt x="12953" y="120396"/>
                  </a:lnTo>
                  <a:close/>
                </a:path>
                <a:path w="1003934" h="120650">
                  <a:moveTo>
                    <a:pt x="996683" y="12953"/>
                  </a:moveTo>
                  <a:lnTo>
                    <a:pt x="990599" y="6096"/>
                  </a:lnTo>
                  <a:lnTo>
                    <a:pt x="990599" y="12953"/>
                  </a:lnTo>
                  <a:lnTo>
                    <a:pt x="996683" y="12953"/>
                  </a:lnTo>
                  <a:close/>
                </a:path>
                <a:path w="1003934" h="120650">
                  <a:moveTo>
                    <a:pt x="996683" y="120396"/>
                  </a:moveTo>
                  <a:lnTo>
                    <a:pt x="996683" y="12953"/>
                  </a:lnTo>
                  <a:lnTo>
                    <a:pt x="990599" y="12953"/>
                  </a:lnTo>
                  <a:lnTo>
                    <a:pt x="990599" y="120396"/>
                  </a:lnTo>
                  <a:lnTo>
                    <a:pt x="996683" y="120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937627" y="5378195"/>
              <a:ext cx="533400" cy="114300"/>
            </a:xfrm>
            <a:custGeom>
              <a:avLst/>
              <a:gdLst/>
              <a:ahLst/>
              <a:cxnLst/>
              <a:rect l="l" t="t" r="r" b="b"/>
              <a:pathLst>
                <a:path w="533400" h="114300">
                  <a:moveTo>
                    <a:pt x="533400" y="1143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533400" y="1143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31543" y="5372100"/>
              <a:ext cx="546735" cy="120650"/>
            </a:xfrm>
            <a:custGeom>
              <a:avLst/>
              <a:gdLst/>
              <a:ahLst/>
              <a:cxnLst/>
              <a:rect l="l" t="t" r="r" b="b"/>
              <a:pathLst>
                <a:path w="546734" h="120650">
                  <a:moveTo>
                    <a:pt x="546353" y="120396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6083" y="120396"/>
                  </a:lnTo>
                  <a:lnTo>
                    <a:pt x="6083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83" y="12953"/>
                  </a:lnTo>
                  <a:lnTo>
                    <a:pt x="539483" y="120396"/>
                  </a:lnTo>
                  <a:lnTo>
                    <a:pt x="546353" y="120396"/>
                  </a:lnTo>
                  <a:close/>
                </a:path>
                <a:path w="546734" h="120650">
                  <a:moveTo>
                    <a:pt x="12954" y="12953"/>
                  </a:moveTo>
                  <a:lnTo>
                    <a:pt x="12954" y="6096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546734" h="120650">
                  <a:moveTo>
                    <a:pt x="12954" y="120396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120396"/>
                  </a:lnTo>
                  <a:lnTo>
                    <a:pt x="12954" y="120396"/>
                  </a:lnTo>
                  <a:close/>
                </a:path>
                <a:path w="546734" h="120650">
                  <a:moveTo>
                    <a:pt x="539483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83" y="12953"/>
                  </a:lnTo>
                  <a:close/>
                </a:path>
                <a:path w="546734" h="120650">
                  <a:moveTo>
                    <a:pt x="539483" y="120396"/>
                  </a:moveTo>
                  <a:lnTo>
                    <a:pt x="539483" y="12953"/>
                  </a:lnTo>
                  <a:lnTo>
                    <a:pt x="533400" y="12953"/>
                  </a:lnTo>
                  <a:lnTo>
                    <a:pt x="533400" y="120396"/>
                  </a:lnTo>
                  <a:lnTo>
                    <a:pt x="539483" y="120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623427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6173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4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3"/>
                  </a:lnTo>
                  <a:lnTo>
                    <a:pt x="6083" y="393953"/>
                  </a:lnTo>
                  <a:lnTo>
                    <a:pt x="6083" y="12953"/>
                  </a:lnTo>
                  <a:lnTo>
                    <a:pt x="12954" y="6096"/>
                  </a:lnTo>
                  <a:lnTo>
                    <a:pt x="12954" y="12953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83" y="12953"/>
                  </a:lnTo>
                  <a:lnTo>
                    <a:pt x="539483" y="393953"/>
                  </a:lnTo>
                  <a:lnTo>
                    <a:pt x="546353" y="393953"/>
                  </a:lnTo>
                  <a:close/>
                </a:path>
                <a:path w="546734" h="394335">
                  <a:moveTo>
                    <a:pt x="12954" y="12953"/>
                  </a:moveTo>
                  <a:lnTo>
                    <a:pt x="12954" y="6096"/>
                  </a:lnTo>
                  <a:lnTo>
                    <a:pt x="6083" y="12953"/>
                  </a:lnTo>
                  <a:lnTo>
                    <a:pt x="12954" y="12953"/>
                  </a:lnTo>
                  <a:close/>
                </a:path>
                <a:path w="546734" h="394335">
                  <a:moveTo>
                    <a:pt x="12954" y="381000"/>
                  </a:moveTo>
                  <a:lnTo>
                    <a:pt x="12954" y="12953"/>
                  </a:lnTo>
                  <a:lnTo>
                    <a:pt x="6083" y="12953"/>
                  </a:lnTo>
                  <a:lnTo>
                    <a:pt x="6083" y="381000"/>
                  </a:lnTo>
                  <a:lnTo>
                    <a:pt x="12954" y="381000"/>
                  </a:lnTo>
                  <a:close/>
                </a:path>
                <a:path w="546734" h="394335">
                  <a:moveTo>
                    <a:pt x="539483" y="381000"/>
                  </a:moveTo>
                  <a:lnTo>
                    <a:pt x="6083" y="381000"/>
                  </a:lnTo>
                  <a:lnTo>
                    <a:pt x="12954" y="387096"/>
                  </a:lnTo>
                  <a:lnTo>
                    <a:pt x="12954" y="393953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83" y="381000"/>
                  </a:lnTo>
                  <a:close/>
                </a:path>
                <a:path w="546734" h="394335">
                  <a:moveTo>
                    <a:pt x="12954" y="393953"/>
                  </a:moveTo>
                  <a:lnTo>
                    <a:pt x="12954" y="387096"/>
                  </a:lnTo>
                  <a:lnTo>
                    <a:pt x="6083" y="381000"/>
                  </a:lnTo>
                  <a:lnTo>
                    <a:pt x="6083" y="393953"/>
                  </a:lnTo>
                  <a:lnTo>
                    <a:pt x="12954" y="393953"/>
                  </a:lnTo>
                  <a:close/>
                </a:path>
                <a:path w="546734" h="394335">
                  <a:moveTo>
                    <a:pt x="539483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83" y="12953"/>
                  </a:lnTo>
                  <a:close/>
                </a:path>
                <a:path w="546734" h="394335">
                  <a:moveTo>
                    <a:pt x="539483" y="381000"/>
                  </a:moveTo>
                  <a:lnTo>
                    <a:pt x="539483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83" y="381000"/>
                  </a:lnTo>
                  <a:close/>
                </a:path>
                <a:path w="546734" h="394335">
                  <a:moveTo>
                    <a:pt x="539483" y="393953"/>
                  </a:moveTo>
                  <a:lnTo>
                    <a:pt x="539483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83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8623427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700"/>
              </a:spcBef>
            </a:pPr>
            <a:r>
              <a:rPr sz="1200" spc="-50" dirty="0">
                <a:latin typeface="Trebuchet MS"/>
                <a:cs typeface="Trebuchet MS"/>
              </a:rPr>
              <a:t>CF‐end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810127" y="4671314"/>
            <a:ext cx="958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P   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543937" y="4671314"/>
            <a:ext cx="908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257934" y="4671314"/>
            <a:ext cx="958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P   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019927" y="5357114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515477" y="4671314"/>
            <a:ext cx="908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5950344" y="4768608"/>
            <a:ext cx="3219450" cy="723900"/>
          </a:xfrm>
          <a:custGeom>
            <a:avLst/>
            <a:gdLst/>
            <a:ahLst/>
            <a:cxnLst/>
            <a:rect l="l" t="t" r="r" b="b"/>
            <a:pathLst>
              <a:path w="3219450" h="723900">
                <a:moveTo>
                  <a:pt x="12954" y="698754"/>
                </a:moveTo>
                <a:lnTo>
                  <a:pt x="0" y="698754"/>
                </a:lnTo>
                <a:lnTo>
                  <a:pt x="0" y="723900"/>
                </a:lnTo>
                <a:lnTo>
                  <a:pt x="12954" y="723900"/>
                </a:lnTo>
                <a:lnTo>
                  <a:pt x="12954" y="698754"/>
                </a:lnTo>
                <a:close/>
              </a:path>
              <a:path w="3219450" h="723900">
                <a:moveTo>
                  <a:pt x="12954" y="609600"/>
                </a:moveTo>
                <a:lnTo>
                  <a:pt x="0" y="609600"/>
                </a:lnTo>
                <a:lnTo>
                  <a:pt x="0" y="660654"/>
                </a:lnTo>
                <a:lnTo>
                  <a:pt x="12954" y="660654"/>
                </a:lnTo>
                <a:lnTo>
                  <a:pt x="12954" y="609600"/>
                </a:lnTo>
                <a:close/>
              </a:path>
              <a:path w="3219450" h="723900">
                <a:moveTo>
                  <a:pt x="1841754" y="698754"/>
                </a:moveTo>
                <a:lnTo>
                  <a:pt x="1828800" y="698754"/>
                </a:lnTo>
                <a:lnTo>
                  <a:pt x="1828800" y="723900"/>
                </a:lnTo>
                <a:lnTo>
                  <a:pt x="1841754" y="723900"/>
                </a:lnTo>
                <a:lnTo>
                  <a:pt x="1841754" y="698754"/>
                </a:lnTo>
                <a:close/>
              </a:path>
              <a:path w="3219450" h="723900">
                <a:moveTo>
                  <a:pt x="1841754" y="609600"/>
                </a:moveTo>
                <a:lnTo>
                  <a:pt x="1828800" y="609600"/>
                </a:lnTo>
                <a:lnTo>
                  <a:pt x="1828800" y="660654"/>
                </a:lnTo>
                <a:lnTo>
                  <a:pt x="1841754" y="660654"/>
                </a:lnTo>
                <a:lnTo>
                  <a:pt x="1841754" y="609600"/>
                </a:lnTo>
                <a:close/>
              </a:path>
              <a:path w="3219450" h="723900">
                <a:moveTo>
                  <a:pt x="2527554" y="533400"/>
                </a:moveTo>
                <a:lnTo>
                  <a:pt x="2514600" y="533400"/>
                </a:lnTo>
                <a:lnTo>
                  <a:pt x="2514600" y="584454"/>
                </a:lnTo>
                <a:lnTo>
                  <a:pt x="2527554" y="584454"/>
                </a:lnTo>
                <a:lnTo>
                  <a:pt x="2527554" y="533400"/>
                </a:lnTo>
                <a:close/>
              </a:path>
              <a:path w="3219450" h="723900">
                <a:moveTo>
                  <a:pt x="2527554" y="445008"/>
                </a:moveTo>
                <a:lnTo>
                  <a:pt x="2514600" y="445008"/>
                </a:lnTo>
                <a:lnTo>
                  <a:pt x="2514600" y="495300"/>
                </a:lnTo>
                <a:lnTo>
                  <a:pt x="2527554" y="495300"/>
                </a:lnTo>
                <a:lnTo>
                  <a:pt x="2527554" y="445008"/>
                </a:lnTo>
                <a:close/>
              </a:path>
              <a:path w="3219450" h="723900">
                <a:moveTo>
                  <a:pt x="2527554" y="355854"/>
                </a:moveTo>
                <a:lnTo>
                  <a:pt x="2514600" y="355854"/>
                </a:lnTo>
                <a:lnTo>
                  <a:pt x="2514600" y="406908"/>
                </a:lnTo>
                <a:lnTo>
                  <a:pt x="2527554" y="406908"/>
                </a:lnTo>
                <a:lnTo>
                  <a:pt x="2527554" y="355854"/>
                </a:lnTo>
                <a:close/>
              </a:path>
              <a:path w="3219450" h="723900">
                <a:moveTo>
                  <a:pt x="2527554" y="266700"/>
                </a:moveTo>
                <a:lnTo>
                  <a:pt x="2514600" y="266700"/>
                </a:lnTo>
                <a:lnTo>
                  <a:pt x="2514600" y="317754"/>
                </a:lnTo>
                <a:lnTo>
                  <a:pt x="2527554" y="317754"/>
                </a:lnTo>
                <a:lnTo>
                  <a:pt x="2527554" y="266700"/>
                </a:lnTo>
                <a:close/>
              </a:path>
              <a:path w="3219450" h="723900">
                <a:moveTo>
                  <a:pt x="2527554" y="178308"/>
                </a:moveTo>
                <a:lnTo>
                  <a:pt x="2514600" y="178308"/>
                </a:lnTo>
                <a:lnTo>
                  <a:pt x="2514600" y="228600"/>
                </a:lnTo>
                <a:lnTo>
                  <a:pt x="2527554" y="228600"/>
                </a:lnTo>
                <a:lnTo>
                  <a:pt x="2527554" y="178308"/>
                </a:lnTo>
                <a:close/>
              </a:path>
              <a:path w="3219450" h="723900">
                <a:moveTo>
                  <a:pt x="2527554" y="89154"/>
                </a:moveTo>
                <a:lnTo>
                  <a:pt x="2514600" y="89154"/>
                </a:lnTo>
                <a:lnTo>
                  <a:pt x="2514600" y="140208"/>
                </a:lnTo>
                <a:lnTo>
                  <a:pt x="2527554" y="140208"/>
                </a:lnTo>
                <a:lnTo>
                  <a:pt x="2527554" y="89154"/>
                </a:lnTo>
                <a:close/>
              </a:path>
              <a:path w="3219450" h="723900">
                <a:moveTo>
                  <a:pt x="2527554" y="0"/>
                </a:moveTo>
                <a:lnTo>
                  <a:pt x="2514600" y="0"/>
                </a:lnTo>
                <a:lnTo>
                  <a:pt x="2514600" y="51054"/>
                </a:lnTo>
                <a:lnTo>
                  <a:pt x="2527554" y="51054"/>
                </a:lnTo>
                <a:lnTo>
                  <a:pt x="2527554" y="0"/>
                </a:lnTo>
                <a:close/>
              </a:path>
              <a:path w="3219450" h="723900">
                <a:moveTo>
                  <a:pt x="3219450" y="609600"/>
                </a:moveTo>
                <a:lnTo>
                  <a:pt x="3194304" y="609600"/>
                </a:lnTo>
                <a:lnTo>
                  <a:pt x="3194304" y="723900"/>
                </a:lnTo>
                <a:lnTo>
                  <a:pt x="3219450" y="723900"/>
                </a:lnTo>
                <a:lnTo>
                  <a:pt x="3219450" y="60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2590926" y="4791709"/>
            <a:ext cx="347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latin typeface="Trebuchet MS"/>
                <a:cs typeface="Trebuchet MS"/>
              </a:rPr>
              <a:t>TBTT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2368943" y="5372100"/>
            <a:ext cx="1384935" cy="120650"/>
            <a:chOff x="2368943" y="5372100"/>
            <a:chExt cx="1384935" cy="120650"/>
          </a:xfrm>
        </p:grpSpPr>
        <p:sp>
          <p:nvSpPr>
            <p:cNvPr id="121" name="object 121"/>
            <p:cNvSpPr/>
            <p:nvPr/>
          </p:nvSpPr>
          <p:spPr>
            <a:xfrm>
              <a:off x="3441839" y="5378195"/>
              <a:ext cx="304800" cy="114300"/>
            </a:xfrm>
            <a:custGeom>
              <a:avLst/>
              <a:gdLst/>
              <a:ahLst/>
              <a:cxnLst/>
              <a:rect l="l" t="t" r="r" b="b"/>
              <a:pathLst>
                <a:path w="304800" h="114300">
                  <a:moveTo>
                    <a:pt x="304800" y="11430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304800" y="1143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435743" y="5372100"/>
              <a:ext cx="318135" cy="120650"/>
            </a:xfrm>
            <a:custGeom>
              <a:avLst/>
              <a:gdLst/>
              <a:ahLst/>
              <a:cxnLst/>
              <a:rect l="l" t="t" r="r" b="b"/>
              <a:pathLst>
                <a:path w="318135" h="120650">
                  <a:moveTo>
                    <a:pt x="317753" y="120396"/>
                  </a:moveTo>
                  <a:lnTo>
                    <a:pt x="317753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6096" y="120396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304800" y="12953"/>
                  </a:lnTo>
                  <a:lnTo>
                    <a:pt x="304800" y="6096"/>
                  </a:lnTo>
                  <a:lnTo>
                    <a:pt x="310896" y="12953"/>
                  </a:lnTo>
                  <a:lnTo>
                    <a:pt x="310896" y="120396"/>
                  </a:lnTo>
                  <a:lnTo>
                    <a:pt x="317753" y="120396"/>
                  </a:lnTo>
                  <a:close/>
                </a:path>
                <a:path w="318135" h="12065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318135" h="120650">
                  <a:moveTo>
                    <a:pt x="12953" y="120396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120396"/>
                  </a:lnTo>
                  <a:lnTo>
                    <a:pt x="12953" y="120396"/>
                  </a:lnTo>
                  <a:close/>
                </a:path>
                <a:path w="318135" h="120650">
                  <a:moveTo>
                    <a:pt x="310896" y="12953"/>
                  </a:moveTo>
                  <a:lnTo>
                    <a:pt x="304800" y="6096"/>
                  </a:lnTo>
                  <a:lnTo>
                    <a:pt x="304800" y="12953"/>
                  </a:lnTo>
                  <a:lnTo>
                    <a:pt x="310896" y="12953"/>
                  </a:lnTo>
                  <a:close/>
                </a:path>
                <a:path w="318135" h="120650">
                  <a:moveTo>
                    <a:pt x="310896" y="120396"/>
                  </a:moveTo>
                  <a:lnTo>
                    <a:pt x="310896" y="12953"/>
                  </a:lnTo>
                  <a:lnTo>
                    <a:pt x="304800" y="12953"/>
                  </a:lnTo>
                  <a:lnTo>
                    <a:pt x="304800" y="120396"/>
                  </a:lnTo>
                  <a:lnTo>
                    <a:pt x="310896" y="120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375039" y="5378195"/>
              <a:ext cx="914400" cy="114300"/>
            </a:xfrm>
            <a:custGeom>
              <a:avLst/>
              <a:gdLst/>
              <a:ahLst/>
              <a:cxnLst/>
              <a:rect l="l" t="t" r="r" b="b"/>
              <a:pathLst>
                <a:path w="914400" h="114300">
                  <a:moveTo>
                    <a:pt x="914399" y="114300"/>
                  </a:moveTo>
                  <a:lnTo>
                    <a:pt x="914399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914399" y="1143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368943" y="5372100"/>
              <a:ext cx="927735" cy="120650"/>
            </a:xfrm>
            <a:custGeom>
              <a:avLst/>
              <a:gdLst/>
              <a:ahLst/>
              <a:cxnLst/>
              <a:rect l="l" t="t" r="r" b="b"/>
              <a:pathLst>
                <a:path w="927735" h="120650">
                  <a:moveTo>
                    <a:pt x="927353" y="120396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6095" y="120396"/>
                  </a:lnTo>
                  <a:lnTo>
                    <a:pt x="6095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914399" y="12953"/>
                  </a:lnTo>
                  <a:lnTo>
                    <a:pt x="914399" y="6096"/>
                  </a:lnTo>
                  <a:lnTo>
                    <a:pt x="920483" y="12953"/>
                  </a:lnTo>
                  <a:lnTo>
                    <a:pt x="920483" y="120396"/>
                  </a:lnTo>
                  <a:lnTo>
                    <a:pt x="927353" y="120396"/>
                  </a:lnTo>
                  <a:close/>
                </a:path>
                <a:path w="927735" h="120650">
                  <a:moveTo>
                    <a:pt x="12953" y="12953"/>
                  </a:moveTo>
                  <a:lnTo>
                    <a:pt x="12953" y="6096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927735" h="120650">
                  <a:moveTo>
                    <a:pt x="12953" y="120396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120396"/>
                  </a:lnTo>
                  <a:lnTo>
                    <a:pt x="12953" y="120396"/>
                  </a:lnTo>
                  <a:close/>
                </a:path>
                <a:path w="927735" h="120650">
                  <a:moveTo>
                    <a:pt x="920483" y="12953"/>
                  </a:moveTo>
                  <a:lnTo>
                    <a:pt x="914399" y="6096"/>
                  </a:lnTo>
                  <a:lnTo>
                    <a:pt x="914399" y="12953"/>
                  </a:lnTo>
                  <a:lnTo>
                    <a:pt x="920483" y="12953"/>
                  </a:lnTo>
                  <a:close/>
                </a:path>
                <a:path w="927735" h="120650">
                  <a:moveTo>
                    <a:pt x="920483" y="120396"/>
                  </a:moveTo>
                  <a:lnTo>
                    <a:pt x="920483" y="12953"/>
                  </a:lnTo>
                  <a:lnTo>
                    <a:pt x="914399" y="12953"/>
                  </a:lnTo>
                  <a:lnTo>
                    <a:pt x="914399" y="120396"/>
                  </a:lnTo>
                  <a:lnTo>
                    <a:pt x="920483" y="120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3327780" y="5357114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5416943" y="4991100"/>
            <a:ext cx="546735" cy="394335"/>
            <a:chOff x="5416943" y="4991100"/>
            <a:chExt cx="546735" cy="394335"/>
          </a:xfrm>
        </p:grpSpPr>
        <p:sp>
          <p:nvSpPr>
            <p:cNvPr id="127" name="object 127"/>
            <p:cNvSpPr/>
            <p:nvPr/>
          </p:nvSpPr>
          <p:spPr>
            <a:xfrm>
              <a:off x="5423039" y="4997195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3810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416943" y="4991100"/>
              <a:ext cx="546735" cy="394335"/>
            </a:xfrm>
            <a:custGeom>
              <a:avLst/>
              <a:gdLst/>
              <a:ahLst/>
              <a:cxnLst/>
              <a:rect l="l" t="t" r="r" b="b"/>
              <a:pathLst>
                <a:path w="546735" h="394335">
                  <a:moveTo>
                    <a:pt x="546353" y="393953"/>
                  </a:moveTo>
                  <a:lnTo>
                    <a:pt x="546353" y="0"/>
                  </a:lnTo>
                  <a:lnTo>
                    <a:pt x="0" y="0"/>
                  </a:lnTo>
                  <a:lnTo>
                    <a:pt x="0" y="393954"/>
                  </a:lnTo>
                  <a:lnTo>
                    <a:pt x="6096" y="393954"/>
                  </a:lnTo>
                  <a:lnTo>
                    <a:pt x="6096" y="12954"/>
                  </a:lnTo>
                  <a:lnTo>
                    <a:pt x="12953" y="6096"/>
                  </a:lnTo>
                  <a:lnTo>
                    <a:pt x="12953" y="12954"/>
                  </a:lnTo>
                  <a:lnTo>
                    <a:pt x="533400" y="12953"/>
                  </a:lnTo>
                  <a:lnTo>
                    <a:pt x="533400" y="6096"/>
                  </a:lnTo>
                  <a:lnTo>
                    <a:pt x="539496" y="12953"/>
                  </a:lnTo>
                  <a:lnTo>
                    <a:pt x="539496" y="393953"/>
                  </a:lnTo>
                  <a:lnTo>
                    <a:pt x="546353" y="393953"/>
                  </a:lnTo>
                  <a:close/>
                </a:path>
                <a:path w="546735" h="394335">
                  <a:moveTo>
                    <a:pt x="12953" y="12954"/>
                  </a:moveTo>
                  <a:lnTo>
                    <a:pt x="12953" y="6096"/>
                  </a:lnTo>
                  <a:lnTo>
                    <a:pt x="6096" y="12954"/>
                  </a:lnTo>
                  <a:lnTo>
                    <a:pt x="12953" y="12954"/>
                  </a:lnTo>
                  <a:close/>
                </a:path>
                <a:path w="546735" h="394335">
                  <a:moveTo>
                    <a:pt x="12953" y="381000"/>
                  </a:moveTo>
                  <a:lnTo>
                    <a:pt x="12953" y="12954"/>
                  </a:lnTo>
                  <a:lnTo>
                    <a:pt x="6096" y="12954"/>
                  </a:lnTo>
                  <a:lnTo>
                    <a:pt x="6096" y="381000"/>
                  </a:lnTo>
                  <a:lnTo>
                    <a:pt x="12953" y="381000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6096" y="381000"/>
                  </a:lnTo>
                  <a:lnTo>
                    <a:pt x="12953" y="387096"/>
                  </a:lnTo>
                  <a:lnTo>
                    <a:pt x="12953" y="393954"/>
                  </a:lnTo>
                  <a:lnTo>
                    <a:pt x="533400" y="393953"/>
                  </a:lnTo>
                  <a:lnTo>
                    <a:pt x="533400" y="387096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12953" y="393954"/>
                  </a:moveTo>
                  <a:lnTo>
                    <a:pt x="12953" y="387096"/>
                  </a:lnTo>
                  <a:lnTo>
                    <a:pt x="6096" y="381000"/>
                  </a:lnTo>
                  <a:lnTo>
                    <a:pt x="6096" y="393954"/>
                  </a:lnTo>
                  <a:lnTo>
                    <a:pt x="12953" y="393954"/>
                  </a:lnTo>
                  <a:close/>
                </a:path>
                <a:path w="546735" h="394335">
                  <a:moveTo>
                    <a:pt x="539496" y="12953"/>
                  </a:moveTo>
                  <a:lnTo>
                    <a:pt x="533400" y="6096"/>
                  </a:lnTo>
                  <a:lnTo>
                    <a:pt x="533400" y="12953"/>
                  </a:lnTo>
                  <a:lnTo>
                    <a:pt x="539496" y="12953"/>
                  </a:lnTo>
                  <a:close/>
                </a:path>
                <a:path w="546735" h="394335">
                  <a:moveTo>
                    <a:pt x="539496" y="381000"/>
                  </a:moveTo>
                  <a:lnTo>
                    <a:pt x="539496" y="12953"/>
                  </a:lnTo>
                  <a:lnTo>
                    <a:pt x="533400" y="12953"/>
                  </a:lnTo>
                  <a:lnTo>
                    <a:pt x="533400" y="381000"/>
                  </a:lnTo>
                  <a:lnTo>
                    <a:pt x="539496" y="381000"/>
                  </a:lnTo>
                  <a:close/>
                </a:path>
                <a:path w="546735" h="394335">
                  <a:moveTo>
                    <a:pt x="539496" y="393953"/>
                  </a:moveTo>
                  <a:lnTo>
                    <a:pt x="539496" y="381000"/>
                  </a:lnTo>
                  <a:lnTo>
                    <a:pt x="533400" y="387096"/>
                  </a:lnTo>
                  <a:lnTo>
                    <a:pt x="533400" y="393953"/>
                  </a:lnTo>
                  <a:lnTo>
                    <a:pt x="539496" y="393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5423039" y="4997196"/>
            <a:ext cx="533400" cy="381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latin typeface="Trebuchet MS"/>
                <a:cs typeface="Trebuchet MS"/>
              </a:rPr>
              <a:t>CF‐Poll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7162927" y="4671314"/>
            <a:ext cx="908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20" dirty="0">
                <a:latin typeface="Trebuchet MS"/>
                <a:cs typeface="Trebuchet MS"/>
              </a:rPr>
              <a:t>S   </a:t>
            </a: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25" dirty="0">
                <a:latin typeface="Trebuchet MS"/>
                <a:cs typeface="Trebuchet MS"/>
              </a:rPr>
              <a:t>F  </a:t>
            </a: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774839" y="4768596"/>
            <a:ext cx="9144000" cy="1581150"/>
            <a:chOff x="774839" y="4768596"/>
            <a:chExt cx="9144000" cy="1581150"/>
          </a:xfrm>
        </p:grpSpPr>
        <p:sp>
          <p:nvSpPr>
            <p:cNvPr id="132" name="object 132"/>
            <p:cNvSpPr/>
            <p:nvPr/>
          </p:nvSpPr>
          <p:spPr>
            <a:xfrm>
              <a:off x="2743847" y="4768608"/>
              <a:ext cx="4362450" cy="723900"/>
            </a:xfrm>
            <a:custGeom>
              <a:avLst/>
              <a:gdLst/>
              <a:ahLst/>
              <a:cxnLst/>
              <a:rect l="l" t="t" r="r" b="b"/>
              <a:pathLst>
                <a:path w="4362450" h="723900">
                  <a:moveTo>
                    <a:pt x="25146" y="228600"/>
                  </a:moveTo>
                  <a:lnTo>
                    <a:pt x="0" y="228600"/>
                  </a:lnTo>
                  <a:lnTo>
                    <a:pt x="0" y="723900"/>
                  </a:lnTo>
                  <a:lnTo>
                    <a:pt x="25146" y="723900"/>
                  </a:lnTo>
                  <a:lnTo>
                    <a:pt x="25146" y="228600"/>
                  </a:lnTo>
                  <a:close/>
                </a:path>
                <a:path w="4362450" h="723900">
                  <a:moveTo>
                    <a:pt x="1244346" y="609600"/>
                  </a:moveTo>
                  <a:lnTo>
                    <a:pt x="1219200" y="609600"/>
                  </a:lnTo>
                  <a:lnTo>
                    <a:pt x="1219200" y="723900"/>
                  </a:lnTo>
                  <a:lnTo>
                    <a:pt x="1244346" y="723900"/>
                  </a:lnTo>
                  <a:lnTo>
                    <a:pt x="1244346" y="609600"/>
                  </a:lnTo>
                  <a:close/>
                </a:path>
                <a:path w="4362450" h="723900">
                  <a:moveTo>
                    <a:pt x="4362450" y="533400"/>
                  </a:moveTo>
                  <a:lnTo>
                    <a:pt x="4349496" y="533400"/>
                  </a:lnTo>
                  <a:lnTo>
                    <a:pt x="4349496" y="584454"/>
                  </a:lnTo>
                  <a:lnTo>
                    <a:pt x="4362450" y="584454"/>
                  </a:lnTo>
                  <a:lnTo>
                    <a:pt x="4362450" y="533400"/>
                  </a:lnTo>
                  <a:close/>
                </a:path>
                <a:path w="4362450" h="723900">
                  <a:moveTo>
                    <a:pt x="4362450" y="445008"/>
                  </a:moveTo>
                  <a:lnTo>
                    <a:pt x="4349496" y="445008"/>
                  </a:lnTo>
                  <a:lnTo>
                    <a:pt x="4349496" y="495300"/>
                  </a:lnTo>
                  <a:lnTo>
                    <a:pt x="4362450" y="495300"/>
                  </a:lnTo>
                  <a:lnTo>
                    <a:pt x="4362450" y="445008"/>
                  </a:lnTo>
                  <a:close/>
                </a:path>
                <a:path w="4362450" h="723900">
                  <a:moveTo>
                    <a:pt x="4362450" y="355854"/>
                  </a:moveTo>
                  <a:lnTo>
                    <a:pt x="4349496" y="355854"/>
                  </a:lnTo>
                  <a:lnTo>
                    <a:pt x="4349496" y="406908"/>
                  </a:lnTo>
                  <a:lnTo>
                    <a:pt x="4362450" y="406908"/>
                  </a:lnTo>
                  <a:lnTo>
                    <a:pt x="4362450" y="355854"/>
                  </a:lnTo>
                  <a:close/>
                </a:path>
                <a:path w="4362450" h="723900">
                  <a:moveTo>
                    <a:pt x="4362450" y="266700"/>
                  </a:moveTo>
                  <a:lnTo>
                    <a:pt x="4349496" y="266700"/>
                  </a:lnTo>
                  <a:lnTo>
                    <a:pt x="4349496" y="317754"/>
                  </a:lnTo>
                  <a:lnTo>
                    <a:pt x="4362450" y="317754"/>
                  </a:lnTo>
                  <a:lnTo>
                    <a:pt x="4362450" y="266700"/>
                  </a:lnTo>
                  <a:close/>
                </a:path>
                <a:path w="4362450" h="723900">
                  <a:moveTo>
                    <a:pt x="4362450" y="178308"/>
                  </a:moveTo>
                  <a:lnTo>
                    <a:pt x="4349496" y="178308"/>
                  </a:lnTo>
                  <a:lnTo>
                    <a:pt x="4349496" y="228600"/>
                  </a:lnTo>
                  <a:lnTo>
                    <a:pt x="4362450" y="228600"/>
                  </a:lnTo>
                  <a:lnTo>
                    <a:pt x="4362450" y="178308"/>
                  </a:lnTo>
                  <a:close/>
                </a:path>
                <a:path w="4362450" h="723900">
                  <a:moveTo>
                    <a:pt x="4362450" y="89154"/>
                  </a:moveTo>
                  <a:lnTo>
                    <a:pt x="4349496" y="89154"/>
                  </a:lnTo>
                  <a:lnTo>
                    <a:pt x="4349496" y="140208"/>
                  </a:lnTo>
                  <a:lnTo>
                    <a:pt x="4362450" y="140208"/>
                  </a:lnTo>
                  <a:lnTo>
                    <a:pt x="4362450" y="89154"/>
                  </a:lnTo>
                  <a:close/>
                </a:path>
                <a:path w="4362450" h="723900">
                  <a:moveTo>
                    <a:pt x="4362450" y="0"/>
                  </a:moveTo>
                  <a:lnTo>
                    <a:pt x="4349496" y="0"/>
                  </a:lnTo>
                  <a:lnTo>
                    <a:pt x="4349496" y="51054"/>
                  </a:lnTo>
                  <a:lnTo>
                    <a:pt x="4362450" y="51054"/>
                  </a:lnTo>
                  <a:lnTo>
                    <a:pt x="4362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105084" y="5378196"/>
              <a:ext cx="24175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74839" y="549249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746639" y="5530596"/>
              <a:ext cx="6985" cy="51435"/>
            </a:xfrm>
            <a:custGeom>
              <a:avLst/>
              <a:gdLst/>
              <a:ahLst/>
              <a:cxnLst/>
              <a:rect l="l" t="t" r="r" b="b"/>
              <a:pathLst>
                <a:path w="6985" h="51435">
                  <a:moveTo>
                    <a:pt x="0" y="51053"/>
                  </a:moveTo>
                  <a:lnTo>
                    <a:pt x="6857" y="51053"/>
                  </a:lnTo>
                  <a:lnTo>
                    <a:pt x="6857" y="0"/>
                  </a:lnTo>
                  <a:lnTo>
                    <a:pt x="0" y="0"/>
                  </a:lnTo>
                  <a:lnTo>
                    <a:pt x="0" y="510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108839" y="5492496"/>
              <a:ext cx="990600" cy="266700"/>
            </a:xfrm>
            <a:custGeom>
              <a:avLst/>
              <a:gdLst/>
              <a:ahLst/>
              <a:cxnLst/>
              <a:rect l="l" t="t" r="r" b="b"/>
              <a:pathLst>
                <a:path w="990600" h="266700">
                  <a:moveTo>
                    <a:pt x="990599" y="266700"/>
                  </a:moveTo>
                  <a:lnTo>
                    <a:pt x="990599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990599" y="2667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102743" y="5492496"/>
              <a:ext cx="1003935" cy="273685"/>
            </a:xfrm>
            <a:custGeom>
              <a:avLst/>
              <a:gdLst/>
              <a:ahLst/>
              <a:cxnLst/>
              <a:rect l="l" t="t" r="r" b="b"/>
              <a:pathLst>
                <a:path w="1003934" h="273685">
                  <a:moveTo>
                    <a:pt x="12953" y="26060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273557"/>
                  </a:lnTo>
                  <a:lnTo>
                    <a:pt x="6096" y="273557"/>
                  </a:lnTo>
                  <a:lnTo>
                    <a:pt x="6096" y="260603"/>
                  </a:lnTo>
                  <a:lnTo>
                    <a:pt x="12953" y="260603"/>
                  </a:lnTo>
                  <a:close/>
                </a:path>
                <a:path w="1003934" h="273685">
                  <a:moveTo>
                    <a:pt x="996683" y="260603"/>
                  </a:moveTo>
                  <a:lnTo>
                    <a:pt x="6096" y="260603"/>
                  </a:lnTo>
                  <a:lnTo>
                    <a:pt x="12953" y="266700"/>
                  </a:lnTo>
                  <a:lnTo>
                    <a:pt x="12953" y="273557"/>
                  </a:lnTo>
                  <a:lnTo>
                    <a:pt x="990599" y="273557"/>
                  </a:lnTo>
                  <a:lnTo>
                    <a:pt x="990599" y="266700"/>
                  </a:lnTo>
                  <a:lnTo>
                    <a:pt x="996683" y="260603"/>
                  </a:lnTo>
                  <a:close/>
                </a:path>
                <a:path w="1003934" h="273685">
                  <a:moveTo>
                    <a:pt x="12953" y="273557"/>
                  </a:moveTo>
                  <a:lnTo>
                    <a:pt x="12953" y="266700"/>
                  </a:lnTo>
                  <a:lnTo>
                    <a:pt x="6096" y="260603"/>
                  </a:lnTo>
                  <a:lnTo>
                    <a:pt x="6096" y="273557"/>
                  </a:lnTo>
                  <a:lnTo>
                    <a:pt x="12953" y="273557"/>
                  </a:lnTo>
                  <a:close/>
                </a:path>
                <a:path w="1003934" h="273685">
                  <a:moveTo>
                    <a:pt x="1003554" y="273557"/>
                  </a:moveTo>
                  <a:lnTo>
                    <a:pt x="1003554" y="0"/>
                  </a:lnTo>
                  <a:lnTo>
                    <a:pt x="990599" y="0"/>
                  </a:lnTo>
                  <a:lnTo>
                    <a:pt x="990599" y="260603"/>
                  </a:lnTo>
                  <a:lnTo>
                    <a:pt x="996683" y="260603"/>
                  </a:lnTo>
                  <a:lnTo>
                    <a:pt x="996683" y="273557"/>
                  </a:lnTo>
                  <a:lnTo>
                    <a:pt x="1003554" y="273557"/>
                  </a:lnTo>
                  <a:close/>
                </a:path>
                <a:path w="1003934" h="273685">
                  <a:moveTo>
                    <a:pt x="996683" y="273557"/>
                  </a:moveTo>
                  <a:lnTo>
                    <a:pt x="996683" y="260603"/>
                  </a:lnTo>
                  <a:lnTo>
                    <a:pt x="990599" y="266700"/>
                  </a:lnTo>
                  <a:lnTo>
                    <a:pt x="990599" y="273557"/>
                  </a:lnTo>
                  <a:lnTo>
                    <a:pt x="996683" y="273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6108839" y="5492496"/>
            <a:ext cx="991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>
              <a:lnSpc>
                <a:spcPts val="1240"/>
              </a:lnSpc>
            </a:pPr>
            <a:r>
              <a:rPr sz="1200" spc="-25" dirty="0">
                <a:latin typeface="Trebuchet MS"/>
                <a:cs typeface="Trebuchet MS"/>
              </a:rPr>
              <a:t>Data +</a:t>
            </a:r>
            <a:r>
              <a:rPr sz="1200" spc="-250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CF‐Ack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7931543" y="5492496"/>
            <a:ext cx="546735" cy="273685"/>
            <a:chOff x="7931543" y="5492496"/>
            <a:chExt cx="546735" cy="273685"/>
          </a:xfrm>
        </p:grpSpPr>
        <p:sp>
          <p:nvSpPr>
            <p:cNvPr id="140" name="object 140"/>
            <p:cNvSpPr/>
            <p:nvPr/>
          </p:nvSpPr>
          <p:spPr>
            <a:xfrm>
              <a:off x="7937627" y="5492496"/>
              <a:ext cx="533400" cy="266700"/>
            </a:xfrm>
            <a:custGeom>
              <a:avLst/>
              <a:gdLst/>
              <a:ahLst/>
              <a:cxnLst/>
              <a:rect l="l" t="t" r="r" b="b"/>
              <a:pathLst>
                <a:path w="533400" h="266700">
                  <a:moveTo>
                    <a:pt x="533400" y="266700"/>
                  </a:moveTo>
                  <a:lnTo>
                    <a:pt x="533400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533400" y="2667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931543" y="5492496"/>
              <a:ext cx="546735" cy="273685"/>
            </a:xfrm>
            <a:custGeom>
              <a:avLst/>
              <a:gdLst/>
              <a:ahLst/>
              <a:cxnLst/>
              <a:rect l="l" t="t" r="r" b="b"/>
              <a:pathLst>
                <a:path w="546734" h="273685">
                  <a:moveTo>
                    <a:pt x="12954" y="260603"/>
                  </a:moveTo>
                  <a:lnTo>
                    <a:pt x="12954" y="0"/>
                  </a:lnTo>
                  <a:lnTo>
                    <a:pt x="0" y="0"/>
                  </a:lnTo>
                  <a:lnTo>
                    <a:pt x="0" y="273557"/>
                  </a:lnTo>
                  <a:lnTo>
                    <a:pt x="6083" y="273557"/>
                  </a:lnTo>
                  <a:lnTo>
                    <a:pt x="6083" y="260603"/>
                  </a:lnTo>
                  <a:lnTo>
                    <a:pt x="12954" y="260603"/>
                  </a:lnTo>
                  <a:close/>
                </a:path>
                <a:path w="546734" h="273685">
                  <a:moveTo>
                    <a:pt x="539483" y="260603"/>
                  </a:moveTo>
                  <a:lnTo>
                    <a:pt x="6083" y="260603"/>
                  </a:lnTo>
                  <a:lnTo>
                    <a:pt x="12954" y="266700"/>
                  </a:lnTo>
                  <a:lnTo>
                    <a:pt x="12954" y="273557"/>
                  </a:lnTo>
                  <a:lnTo>
                    <a:pt x="533400" y="273557"/>
                  </a:lnTo>
                  <a:lnTo>
                    <a:pt x="533400" y="266700"/>
                  </a:lnTo>
                  <a:lnTo>
                    <a:pt x="539483" y="260603"/>
                  </a:lnTo>
                  <a:close/>
                </a:path>
                <a:path w="546734" h="273685">
                  <a:moveTo>
                    <a:pt x="12954" y="273557"/>
                  </a:moveTo>
                  <a:lnTo>
                    <a:pt x="12954" y="266700"/>
                  </a:lnTo>
                  <a:lnTo>
                    <a:pt x="6083" y="260603"/>
                  </a:lnTo>
                  <a:lnTo>
                    <a:pt x="6083" y="273557"/>
                  </a:lnTo>
                  <a:lnTo>
                    <a:pt x="12954" y="273557"/>
                  </a:lnTo>
                  <a:close/>
                </a:path>
                <a:path w="546734" h="273685">
                  <a:moveTo>
                    <a:pt x="546353" y="273557"/>
                  </a:moveTo>
                  <a:lnTo>
                    <a:pt x="546353" y="0"/>
                  </a:lnTo>
                  <a:lnTo>
                    <a:pt x="533400" y="0"/>
                  </a:lnTo>
                  <a:lnTo>
                    <a:pt x="533400" y="260603"/>
                  </a:lnTo>
                  <a:lnTo>
                    <a:pt x="539483" y="260603"/>
                  </a:lnTo>
                  <a:lnTo>
                    <a:pt x="539483" y="273557"/>
                  </a:lnTo>
                  <a:lnTo>
                    <a:pt x="546353" y="273557"/>
                  </a:lnTo>
                  <a:close/>
                </a:path>
                <a:path w="546734" h="273685">
                  <a:moveTo>
                    <a:pt x="539483" y="273557"/>
                  </a:moveTo>
                  <a:lnTo>
                    <a:pt x="539483" y="260603"/>
                  </a:lnTo>
                  <a:lnTo>
                    <a:pt x="533400" y="266700"/>
                  </a:lnTo>
                  <a:lnTo>
                    <a:pt x="533400" y="273557"/>
                  </a:lnTo>
                  <a:lnTo>
                    <a:pt x="539483" y="273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7811896" y="5363209"/>
            <a:ext cx="636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44" baseline="13888" dirty="0">
                <a:latin typeface="Trebuchet MS"/>
                <a:cs typeface="Trebuchet MS"/>
              </a:rPr>
              <a:t>S </a:t>
            </a:r>
            <a:r>
              <a:rPr sz="1200" spc="-25" dirty="0">
                <a:latin typeface="Trebuchet MS"/>
                <a:cs typeface="Trebuchet MS"/>
              </a:rPr>
              <a:t>Data</a:t>
            </a:r>
            <a:r>
              <a:rPr sz="1200" spc="-19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+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975231" y="5546090"/>
            <a:ext cx="458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latin typeface="Trebuchet MS"/>
                <a:cs typeface="Trebuchet MS"/>
              </a:rPr>
              <a:t>CF</a:t>
            </a:r>
            <a:r>
              <a:rPr sz="1200" spc="-145" dirty="0">
                <a:latin typeface="Trebuchet MS"/>
                <a:cs typeface="Trebuchet MS"/>
              </a:rPr>
              <a:t>‐</a:t>
            </a:r>
            <a:r>
              <a:rPr sz="1200" spc="-20" dirty="0">
                <a:latin typeface="Trebuchet MS"/>
                <a:cs typeface="Trebuchet MS"/>
              </a:rPr>
              <a:t>Ack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019927" y="5509514"/>
            <a:ext cx="88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35" dirty="0">
                <a:latin typeface="Trebuchet MS"/>
                <a:cs typeface="Trebuchet MS"/>
              </a:rPr>
              <a:t>F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6019927" y="5814312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837296" y="5509514"/>
            <a:ext cx="88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35" dirty="0">
                <a:latin typeface="Trebuchet MS"/>
                <a:cs typeface="Trebuchet MS"/>
              </a:rPr>
              <a:t>F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7837296" y="5814312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3670439" y="5492508"/>
            <a:ext cx="5867400" cy="470534"/>
          </a:xfrm>
          <a:custGeom>
            <a:avLst/>
            <a:gdLst/>
            <a:ahLst/>
            <a:cxnLst/>
            <a:rect l="l" t="t" r="r" b="b"/>
            <a:pathLst>
              <a:path w="5867400" h="470535">
                <a:moveTo>
                  <a:pt x="1066800" y="419100"/>
                </a:moveTo>
                <a:lnTo>
                  <a:pt x="990600" y="381000"/>
                </a:lnTo>
                <a:lnTo>
                  <a:pt x="990600" y="406908"/>
                </a:lnTo>
                <a:lnTo>
                  <a:pt x="304800" y="406908"/>
                </a:lnTo>
                <a:lnTo>
                  <a:pt x="76200" y="406908"/>
                </a:lnTo>
                <a:lnTo>
                  <a:pt x="76200" y="381000"/>
                </a:lnTo>
                <a:lnTo>
                  <a:pt x="0" y="419100"/>
                </a:lnTo>
                <a:lnTo>
                  <a:pt x="64008" y="451104"/>
                </a:lnTo>
                <a:lnTo>
                  <a:pt x="76200" y="457200"/>
                </a:lnTo>
                <a:lnTo>
                  <a:pt x="76200" y="432054"/>
                </a:lnTo>
                <a:lnTo>
                  <a:pt x="304800" y="432054"/>
                </a:lnTo>
                <a:lnTo>
                  <a:pt x="990600" y="432054"/>
                </a:lnTo>
                <a:lnTo>
                  <a:pt x="990600" y="457200"/>
                </a:lnTo>
                <a:lnTo>
                  <a:pt x="1003554" y="450723"/>
                </a:lnTo>
                <a:lnTo>
                  <a:pt x="1066800" y="419100"/>
                </a:lnTo>
                <a:close/>
              </a:path>
              <a:path w="5867400" h="470535">
                <a:moveTo>
                  <a:pt x="2292858" y="419100"/>
                </a:moveTo>
                <a:lnTo>
                  <a:pt x="2279904" y="419100"/>
                </a:lnTo>
                <a:lnTo>
                  <a:pt x="2279904" y="470154"/>
                </a:lnTo>
                <a:lnTo>
                  <a:pt x="2292858" y="470154"/>
                </a:lnTo>
                <a:lnTo>
                  <a:pt x="2292858" y="419100"/>
                </a:lnTo>
                <a:close/>
              </a:path>
              <a:path w="5867400" h="470535">
                <a:moveTo>
                  <a:pt x="2292858" y="330708"/>
                </a:moveTo>
                <a:lnTo>
                  <a:pt x="2279904" y="330708"/>
                </a:lnTo>
                <a:lnTo>
                  <a:pt x="2279904" y="381000"/>
                </a:lnTo>
                <a:lnTo>
                  <a:pt x="2292858" y="381000"/>
                </a:lnTo>
                <a:lnTo>
                  <a:pt x="2292858" y="330708"/>
                </a:lnTo>
                <a:close/>
              </a:path>
              <a:path w="5867400" h="470535">
                <a:moveTo>
                  <a:pt x="2292858" y="241554"/>
                </a:moveTo>
                <a:lnTo>
                  <a:pt x="2279904" y="241554"/>
                </a:lnTo>
                <a:lnTo>
                  <a:pt x="2279904" y="292608"/>
                </a:lnTo>
                <a:lnTo>
                  <a:pt x="2292858" y="292608"/>
                </a:lnTo>
                <a:lnTo>
                  <a:pt x="2292858" y="241554"/>
                </a:lnTo>
                <a:close/>
              </a:path>
              <a:path w="5867400" h="470535">
                <a:moveTo>
                  <a:pt x="2292858" y="152400"/>
                </a:moveTo>
                <a:lnTo>
                  <a:pt x="2279904" y="152400"/>
                </a:lnTo>
                <a:lnTo>
                  <a:pt x="2279904" y="203454"/>
                </a:lnTo>
                <a:lnTo>
                  <a:pt x="2292858" y="203454"/>
                </a:lnTo>
                <a:lnTo>
                  <a:pt x="2292858" y="152400"/>
                </a:lnTo>
                <a:close/>
              </a:path>
              <a:path w="5867400" h="470535">
                <a:moveTo>
                  <a:pt x="2292858" y="64008"/>
                </a:moveTo>
                <a:lnTo>
                  <a:pt x="2279904" y="64008"/>
                </a:lnTo>
                <a:lnTo>
                  <a:pt x="2279904" y="114300"/>
                </a:lnTo>
                <a:lnTo>
                  <a:pt x="2292858" y="114300"/>
                </a:lnTo>
                <a:lnTo>
                  <a:pt x="2292858" y="64008"/>
                </a:lnTo>
                <a:close/>
              </a:path>
              <a:path w="5867400" h="470535">
                <a:moveTo>
                  <a:pt x="2292858" y="0"/>
                </a:moveTo>
                <a:lnTo>
                  <a:pt x="2279904" y="0"/>
                </a:lnTo>
                <a:lnTo>
                  <a:pt x="2279904" y="25908"/>
                </a:lnTo>
                <a:lnTo>
                  <a:pt x="2292858" y="25908"/>
                </a:lnTo>
                <a:lnTo>
                  <a:pt x="2292858" y="0"/>
                </a:lnTo>
                <a:close/>
              </a:path>
              <a:path w="5867400" h="470535">
                <a:moveTo>
                  <a:pt x="4121658" y="419100"/>
                </a:moveTo>
                <a:lnTo>
                  <a:pt x="4108704" y="419100"/>
                </a:lnTo>
                <a:lnTo>
                  <a:pt x="4108704" y="470154"/>
                </a:lnTo>
                <a:lnTo>
                  <a:pt x="4121658" y="470154"/>
                </a:lnTo>
                <a:lnTo>
                  <a:pt x="4121658" y="419100"/>
                </a:lnTo>
                <a:close/>
              </a:path>
              <a:path w="5867400" h="470535">
                <a:moveTo>
                  <a:pt x="4121658" y="330708"/>
                </a:moveTo>
                <a:lnTo>
                  <a:pt x="4108704" y="330708"/>
                </a:lnTo>
                <a:lnTo>
                  <a:pt x="4108704" y="381000"/>
                </a:lnTo>
                <a:lnTo>
                  <a:pt x="4121658" y="381000"/>
                </a:lnTo>
                <a:lnTo>
                  <a:pt x="4121658" y="330708"/>
                </a:lnTo>
                <a:close/>
              </a:path>
              <a:path w="5867400" h="470535">
                <a:moveTo>
                  <a:pt x="4121658" y="241554"/>
                </a:moveTo>
                <a:lnTo>
                  <a:pt x="4108704" y="241554"/>
                </a:lnTo>
                <a:lnTo>
                  <a:pt x="4108704" y="292608"/>
                </a:lnTo>
                <a:lnTo>
                  <a:pt x="4121658" y="292608"/>
                </a:lnTo>
                <a:lnTo>
                  <a:pt x="4121658" y="241554"/>
                </a:lnTo>
                <a:close/>
              </a:path>
              <a:path w="5867400" h="470535">
                <a:moveTo>
                  <a:pt x="4121658" y="152400"/>
                </a:moveTo>
                <a:lnTo>
                  <a:pt x="4108704" y="152400"/>
                </a:lnTo>
                <a:lnTo>
                  <a:pt x="4108704" y="203454"/>
                </a:lnTo>
                <a:lnTo>
                  <a:pt x="4121658" y="203454"/>
                </a:lnTo>
                <a:lnTo>
                  <a:pt x="4121658" y="152400"/>
                </a:lnTo>
                <a:close/>
              </a:path>
              <a:path w="5867400" h="470535">
                <a:moveTo>
                  <a:pt x="4121658" y="64008"/>
                </a:moveTo>
                <a:lnTo>
                  <a:pt x="4108704" y="64008"/>
                </a:lnTo>
                <a:lnTo>
                  <a:pt x="4108704" y="114300"/>
                </a:lnTo>
                <a:lnTo>
                  <a:pt x="4121658" y="114300"/>
                </a:lnTo>
                <a:lnTo>
                  <a:pt x="4121658" y="64008"/>
                </a:lnTo>
                <a:close/>
              </a:path>
              <a:path w="5867400" h="470535">
                <a:moveTo>
                  <a:pt x="4121658" y="0"/>
                </a:moveTo>
                <a:lnTo>
                  <a:pt x="4108704" y="0"/>
                </a:lnTo>
                <a:lnTo>
                  <a:pt x="4108704" y="25908"/>
                </a:lnTo>
                <a:lnTo>
                  <a:pt x="4121658" y="25908"/>
                </a:lnTo>
                <a:lnTo>
                  <a:pt x="4121658" y="0"/>
                </a:lnTo>
                <a:close/>
              </a:path>
              <a:path w="5867400" h="470535">
                <a:moveTo>
                  <a:pt x="5867387" y="190500"/>
                </a:moveTo>
                <a:lnTo>
                  <a:pt x="5791187" y="152400"/>
                </a:lnTo>
                <a:lnTo>
                  <a:pt x="5791187" y="178308"/>
                </a:lnTo>
                <a:lnTo>
                  <a:pt x="5486387" y="178308"/>
                </a:lnTo>
                <a:lnTo>
                  <a:pt x="5486387" y="203454"/>
                </a:lnTo>
                <a:lnTo>
                  <a:pt x="5791187" y="203454"/>
                </a:lnTo>
                <a:lnTo>
                  <a:pt x="5791187" y="228600"/>
                </a:lnTo>
                <a:lnTo>
                  <a:pt x="5804141" y="222123"/>
                </a:lnTo>
                <a:lnTo>
                  <a:pt x="5867387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 txBox="1"/>
          <p:nvPr/>
        </p:nvSpPr>
        <p:spPr>
          <a:xfrm>
            <a:off x="9220327" y="5736590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Trebuchet MS"/>
                <a:cs typeface="Trebuchet MS"/>
              </a:rPr>
              <a:t>CP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676526" y="5507990"/>
            <a:ext cx="340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latin typeface="Trebuchet MS"/>
                <a:cs typeface="Trebuchet MS"/>
              </a:rPr>
              <a:t>Sta.2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3435743" y="5492496"/>
            <a:ext cx="5734050" cy="495300"/>
            <a:chOff x="3435743" y="5492496"/>
            <a:chExt cx="5734050" cy="495300"/>
          </a:xfrm>
        </p:grpSpPr>
        <p:sp>
          <p:nvSpPr>
            <p:cNvPr id="152" name="object 152"/>
            <p:cNvSpPr/>
            <p:nvPr/>
          </p:nvSpPr>
          <p:spPr>
            <a:xfrm>
              <a:off x="9144647" y="5492496"/>
              <a:ext cx="25400" cy="495300"/>
            </a:xfrm>
            <a:custGeom>
              <a:avLst/>
              <a:gdLst/>
              <a:ahLst/>
              <a:cxnLst/>
              <a:rect l="l" t="t" r="r" b="b"/>
              <a:pathLst>
                <a:path w="25400" h="495300">
                  <a:moveTo>
                    <a:pt x="25146" y="495300"/>
                  </a:moveTo>
                  <a:lnTo>
                    <a:pt x="25146" y="0"/>
                  </a:lnTo>
                  <a:lnTo>
                    <a:pt x="0" y="0"/>
                  </a:lnTo>
                  <a:lnTo>
                    <a:pt x="0" y="495300"/>
                  </a:lnTo>
                  <a:lnTo>
                    <a:pt x="25146" y="495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441839" y="5492496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304800" y="26670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304800" y="2667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435743" y="5492496"/>
              <a:ext cx="318135" cy="273685"/>
            </a:xfrm>
            <a:custGeom>
              <a:avLst/>
              <a:gdLst/>
              <a:ahLst/>
              <a:cxnLst/>
              <a:rect l="l" t="t" r="r" b="b"/>
              <a:pathLst>
                <a:path w="318135" h="273685">
                  <a:moveTo>
                    <a:pt x="12953" y="26060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273557"/>
                  </a:lnTo>
                  <a:lnTo>
                    <a:pt x="6096" y="273557"/>
                  </a:lnTo>
                  <a:lnTo>
                    <a:pt x="6096" y="260603"/>
                  </a:lnTo>
                  <a:lnTo>
                    <a:pt x="12953" y="260603"/>
                  </a:lnTo>
                  <a:close/>
                </a:path>
                <a:path w="318135" h="273685">
                  <a:moveTo>
                    <a:pt x="310896" y="260603"/>
                  </a:moveTo>
                  <a:lnTo>
                    <a:pt x="6096" y="260603"/>
                  </a:lnTo>
                  <a:lnTo>
                    <a:pt x="12953" y="266700"/>
                  </a:lnTo>
                  <a:lnTo>
                    <a:pt x="12953" y="273557"/>
                  </a:lnTo>
                  <a:lnTo>
                    <a:pt x="304800" y="273557"/>
                  </a:lnTo>
                  <a:lnTo>
                    <a:pt x="304800" y="266700"/>
                  </a:lnTo>
                  <a:lnTo>
                    <a:pt x="310896" y="260603"/>
                  </a:lnTo>
                  <a:close/>
                </a:path>
                <a:path w="318135" h="273685">
                  <a:moveTo>
                    <a:pt x="12953" y="273557"/>
                  </a:moveTo>
                  <a:lnTo>
                    <a:pt x="12953" y="266700"/>
                  </a:lnTo>
                  <a:lnTo>
                    <a:pt x="6096" y="260603"/>
                  </a:lnTo>
                  <a:lnTo>
                    <a:pt x="6096" y="273557"/>
                  </a:lnTo>
                  <a:lnTo>
                    <a:pt x="12953" y="273557"/>
                  </a:lnTo>
                  <a:close/>
                </a:path>
                <a:path w="318135" h="273685">
                  <a:moveTo>
                    <a:pt x="317753" y="273557"/>
                  </a:moveTo>
                  <a:lnTo>
                    <a:pt x="317753" y="0"/>
                  </a:lnTo>
                  <a:lnTo>
                    <a:pt x="304800" y="0"/>
                  </a:lnTo>
                  <a:lnTo>
                    <a:pt x="304800" y="260603"/>
                  </a:lnTo>
                  <a:lnTo>
                    <a:pt x="310896" y="260603"/>
                  </a:lnTo>
                  <a:lnTo>
                    <a:pt x="310896" y="273557"/>
                  </a:lnTo>
                  <a:lnTo>
                    <a:pt x="317753" y="273557"/>
                  </a:lnTo>
                  <a:close/>
                </a:path>
                <a:path w="318135" h="273685">
                  <a:moveTo>
                    <a:pt x="310896" y="273557"/>
                  </a:moveTo>
                  <a:lnTo>
                    <a:pt x="310896" y="260603"/>
                  </a:lnTo>
                  <a:lnTo>
                    <a:pt x="304800" y="266700"/>
                  </a:lnTo>
                  <a:lnTo>
                    <a:pt x="304800" y="273557"/>
                  </a:lnTo>
                  <a:lnTo>
                    <a:pt x="310896" y="273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3441839" y="5454650"/>
            <a:ext cx="304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rebuchet MS"/>
                <a:cs typeface="Trebuchet MS"/>
              </a:rPr>
              <a:t>Ack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2368943" y="5492496"/>
            <a:ext cx="927735" cy="273685"/>
            <a:chOff x="2368943" y="5492496"/>
            <a:chExt cx="927735" cy="273685"/>
          </a:xfrm>
        </p:grpSpPr>
        <p:sp>
          <p:nvSpPr>
            <p:cNvPr id="157" name="object 157"/>
            <p:cNvSpPr/>
            <p:nvPr/>
          </p:nvSpPr>
          <p:spPr>
            <a:xfrm>
              <a:off x="2375039" y="5492496"/>
              <a:ext cx="914400" cy="266700"/>
            </a:xfrm>
            <a:custGeom>
              <a:avLst/>
              <a:gdLst/>
              <a:ahLst/>
              <a:cxnLst/>
              <a:rect l="l" t="t" r="r" b="b"/>
              <a:pathLst>
                <a:path w="914400" h="266700">
                  <a:moveTo>
                    <a:pt x="914399" y="266700"/>
                  </a:moveTo>
                  <a:lnTo>
                    <a:pt x="914399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914399" y="26670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2368943" y="5492496"/>
              <a:ext cx="927735" cy="273685"/>
            </a:xfrm>
            <a:custGeom>
              <a:avLst/>
              <a:gdLst/>
              <a:ahLst/>
              <a:cxnLst/>
              <a:rect l="l" t="t" r="r" b="b"/>
              <a:pathLst>
                <a:path w="927735" h="273685">
                  <a:moveTo>
                    <a:pt x="12953" y="26060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273557"/>
                  </a:lnTo>
                  <a:lnTo>
                    <a:pt x="6095" y="273557"/>
                  </a:lnTo>
                  <a:lnTo>
                    <a:pt x="6095" y="260603"/>
                  </a:lnTo>
                  <a:lnTo>
                    <a:pt x="12953" y="260603"/>
                  </a:lnTo>
                  <a:close/>
                </a:path>
                <a:path w="927735" h="273685">
                  <a:moveTo>
                    <a:pt x="920483" y="260603"/>
                  </a:moveTo>
                  <a:lnTo>
                    <a:pt x="6095" y="260603"/>
                  </a:lnTo>
                  <a:lnTo>
                    <a:pt x="12953" y="266700"/>
                  </a:lnTo>
                  <a:lnTo>
                    <a:pt x="12953" y="273557"/>
                  </a:lnTo>
                  <a:lnTo>
                    <a:pt x="914399" y="273557"/>
                  </a:lnTo>
                  <a:lnTo>
                    <a:pt x="914399" y="266700"/>
                  </a:lnTo>
                  <a:lnTo>
                    <a:pt x="920483" y="260603"/>
                  </a:lnTo>
                  <a:close/>
                </a:path>
                <a:path w="927735" h="273685">
                  <a:moveTo>
                    <a:pt x="12953" y="273557"/>
                  </a:moveTo>
                  <a:lnTo>
                    <a:pt x="12953" y="266700"/>
                  </a:lnTo>
                  <a:lnTo>
                    <a:pt x="6095" y="260603"/>
                  </a:lnTo>
                  <a:lnTo>
                    <a:pt x="6095" y="273557"/>
                  </a:lnTo>
                  <a:lnTo>
                    <a:pt x="12953" y="273557"/>
                  </a:lnTo>
                  <a:close/>
                </a:path>
                <a:path w="927735" h="273685">
                  <a:moveTo>
                    <a:pt x="927353" y="273557"/>
                  </a:moveTo>
                  <a:lnTo>
                    <a:pt x="927353" y="0"/>
                  </a:lnTo>
                  <a:lnTo>
                    <a:pt x="914399" y="0"/>
                  </a:lnTo>
                  <a:lnTo>
                    <a:pt x="914399" y="260603"/>
                  </a:lnTo>
                  <a:lnTo>
                    <a:pt x="920483" y="260603"/>
                  </a:lnTo>
                  <a:lnTo>
                    <a:pt x="920483" y="273557"/>
                  </a:lnTo>
                  <a:lnTo>
                    <a:pt x="927353" y="273557"/>
                  </a:lnTo>
                  <a:close/>
                </a:path>
                <a:path w="927735" h="273685">
                  <a:moveTo>
                    <a:pt x="920483" y="273557"/>
                  </a:moveTo>
                  <a:lnTo>
                    <a:pt x="920483" y="260603"/>
                  </a:lnTo>
                  <a:lnTo>
                    <a:pt x="914399" y="266700"/>
                  </a:lnTo>
                  <a:lnTo>
                    <a:pt x="914399" y="273557"/>
                  </a:lnTo>
                  <a:lnTo>
                    <a:pt x="920483" y="273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2667889" y="5363209"/>
            <a:ext cx="328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Data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2559685" y="5546090"/>
            <a:ext cx="544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rebuchet MS"/>
                <a:cs typeface="Trebuchet MS"/>
              </a:rPr>
              <a:t>(</a:t>
            </a:r>
            <a:r>
              <a:rPr sz="1200" spc="100" dirty="0">
                <a:latin typeface="Trebuchet MS"/>
                <a:cs typeface="Trebuchet MS"/>
              </a:rPr>
              <a:t>MS</a:t>
            </a:r>
            <a:r>
              <a:rPr sz="1200" spc="15" dirty="0">
                <a:latin typeface="Trebuchet MS"/>
                <a:cs typeface="Trebuchet MS"/>
              </a:rPr>
              <a:t>DU)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327780" y="5509514"/>
            <a:ext cx="88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rebuchet MS"/>
                <a:cs typeface="Trebuchet MS"/>
              </a:rPr>
              <a:t>I  </a:t>
            </a:r>
            <a:r>
              <a:rPr sz="1000" spc="-35" dirty="0">
                <a:latin typeface="Trebuchet MS"/>
                <a:cs typeface="Trebuchet MS"/>
              </a:rPr>
              <a:t>F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3327780" y="5814312"/>
            <a:ext cx="908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3" name="object 163"/>
          <p:cNvSpPr/>
          <p:nvPr/>
        </p:nvSpPr>
        <p:spPr>
          <a:xfrm>
            <a:off x="2743847" y="5492508"/>
            <a:ext cx="1244600" cy="876300"/>
          </a:xfrm>
          <a:custGeom>
            <a:avLst/>
            <a:gdLst/>
            <a:ahLst/>
            <a:cxnLst/>
            <a:rect l="l" t="t" r="r" b="b"/>
            <a:pathLst>
              <a:path w="1244600" h="876300">
                <a:moveTo>
                  <a:pt x="25146" y="0"/>
                </a:moveTo>
                <a:lnTo>
                  <a:pt x="0" y="0"/>
                </a:lnTo>
                <a:lnTo>
                  <a:pt x="0" y="876300"/>
                </a:lnTo>
                <a:lnTo>
                  <a:pt x="25146" y="876300"/>
                </a:lnTo>
                <a:lnTo>
                  <a:pt x="25146" y="0"/>
                </a:lnTo>
                <a:close/>
              </a:path>
              <a:path w="1244600" h="876300">
                <a:moveTo>
                  <a:pt x="1244346" y="0"/>
                </a:moveTo>
                <a:lnTo>
                  <a:pt x="1219187" y="0"/>
                </a:lnTo>
                <a:lnTo>
                  <a:pt x="1219200" y="876300"/>
                </a:lnTo>
                <a:lnTo>
                  <a:pt x="1244346" y="876300"/>
                </a:lnTo>
                <a:lnTo>
                  <a:pt x="1244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 txBox="1"/>
          <p:nvPr/>
        </p:nvSpPr>
        <p:spPr>
          <a:xfrm>
            <a:off x="3657727" y="5934709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latin typeface="Trebuchet MS"/>
                <a:cs typeface="Trebuchet MS"/>
              </a:rPr>
              <a:t>CP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114838" y="5934709"/>
            <a:ext cx="268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latin typeface="Trebuchet MS"/>
                <a:cs typeface="Trebuchet MS"/>
              </a:rPr>
              <a:t>CFP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4267327" y="5509514"/>
            <a:ext cx="11049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latin typeface="Trebuchet MS"/>
                <a:cs typeface="Trebuchet MS"/>
              </a:rPr>
              <a:t>No</a:t>
            </a:r>
            <a:r>
              <a:rPr sz="1000" spc="-114" dirty="0">
                <a:latin typeface="Trebuchet MS"/>
                <a:cs typeface="Trebuchet MS"/>
              </a:rPr>
              <a:t> </a:t>
            </a:r>
            <a:r>
              <a:rPr sz="1000" spc="-15" dirty="0">
                <a:latin typeface="Trebuchet MS"/>
                <a:cs typeface="Trebuchet MS"/>
              </a:rPr>
              <a:t>response</a:t>
            </a:r>
            <a:r>
              <a:rPr sz="1000" spc="-11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to</a:t>
            </a:r>
            <a:r>
              <a:rPr sz="1000" spc="-100" dirty="0">
                <a:latin typeface="Trebuchet MS"/>
                <a:cs typeface="Trebuchet MS"/>
              </a:rPr>
              <a:t> </a:t>
            </a:r>
            <a:r>
              <a:rPr sz="1000" spc="-50" dirty="0">
                <a:latin typeface="Trebuchet MS"/>
                <a:cs typeface="Trebuchet MS"/>
              </a:rPr>
              <a:t>poll,  </a:t>
            </a:r>
            <a:r>
              <a:rPr sz="1000" spc="-30" dirty="0">
                <a:latin typeface="Trebuchet MS"/>
                <a:cs typeface="Trebuchet MS"/>
              </a:rPr>
              <a:t>recover </a:t>
            </a:r>
            <a:r>
              <a:rPr sz="1000" spc="-35" dirty="0">
                <a:latin typeface="Trebuchet MS"/>
                <a:cs typeface="Trebuchet MS"/>
              </a:rPr>
              <a:t>after</a:t>
            </a:r>
            <a:r>
              <a:rPr sz="1000" spc="-21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PIFS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2756039" y="5492508"/>
            <a:ext cx="2377440" cy="762000"/>
          </a:xfrm>
          <a:custGeom>
            <a:avLst/>
            <a:gdLst/>
            <a:ahLst/>
            <a:cxnLst/>
            <a:rect l="l" t="t" r="r" b="b"/>
            <a:pathLst>
              <a:path w="2377440" h="762000">
                <a:moveTo>
                  <a:pt x="1219200" y="723900"/>
                </a:moveTo>
                <a:lnTo>
                  <a:pt x="1143000" y="685800"/>
                </a:lnTo>
                <a:lnTo>
                  <a:pt x="1143000" y="717804"/>
                </a:lnTo>
                <a:lnTo>
                  <a:pt x="0" y="717804"/>
                </a:lnTo>
                <a:lnTo>
                  <a:pt x="0" y="730758"/>
                </a:lnTo>
                <a:lnTo>
                  <a:pt x="1143000" y="730758"/>
                </a:lnTo>
                <a:lnTo>
                  <a:pt x="1143000" y="762000"/>
                </a:lnTo>
                <a:lnTo>
                  <a:pt x="1155954" y="755523"/>
                </a:lnTo>
                <a:lnTo>
                  <a:pt x="1219200" y="723900"/>
                </a:lnTo>
                <a:close/>
              </a:path>
              <a:path w="2377440" h="762000">
                <a:moveTo>
                  <a:pt x="2377427" y="0"/>
                </a:moveTo>
                <a:lnTo>
                  <a:pt x="2349042" y="0"/>
                </a:lnTo>
                <a:lnTo>
                  <a:pt x="2283714" y="32766"/>
                </a:lnTo>
                <a:lnTo>
                  <a:pt x="2289048" y="44196"/>
                </a:lnTo>
                <a:lnTo>
                  <a:pt x="23774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 txBox="1"/>
          <p:nvPr/>
        </p:nvSpPr>
        <p:spPr>
          <a:xfrm>
            <a:off x="6248527" y="6195314"/>
            <a:ext cx="24034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Trebuchet MS"/>
                <a:cs typeface="Trebuchet MS"/>
              </a:rPr>
              <a:t>Duration</a:t>
            </a:r>
            <a:r>
              <a:rPr sz="1000" spc="-11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of</a:t>
            </a:r>
            <a:r>
              <a:rPr sz="1000" spc="-90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data</a:t>
            </a:r>
            <a:r>
              <a:rPr sz="1000" spc="-100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frame</a:t>
            </a:r>
            <a:r>
              <a:rPr sz="1000" spc="-100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is</a:t>
            </a:r>
            <a:r>
              <a:rPr sz="1000" spc="-9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unknown</a:t>
            </a:r>
            <a:r>
              <a:rPr sz="1000" spc="-10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to</a:t>
            </a:r>
            <a:r>
              <a:rPr sz="1000" spc="-85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the</a:t>
            </a:r>
            <a:r>
              <a:rPr sz="1000" spc="-90" dirty="0">
                <a:latin typeface="Trebuchet MS"/>
                <a:cs typeface="Trebuchet MS"/>
              </a:rPr>
              <a:t> </a:t>
            </a:r>
            <a:r>
              <a:rPr sz="1000" spc="-35" dirty="0">
                <a:latin typeface="Trebuchet MS"/>
                <a:cs typeface="Trebuchet MS"/>
              </a:rPr>
              <a:t>PC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774839" y="5759196"/>
            <a:ext cx="9144000" cy="1447800"/>
            <a:chOff x="774839" y="5759196"/>
            <a:chExt cx="9144000" cy="1447800"/>
          </a:xfrm>
        </p:grpSpPr>
        <p:sp>
          <p:nvSpPr>
            <p:cNvPr id="170" name="object 170"/>
            <p:cNvSpPr/>
            <p:nvPr/>
          </p:nvSpPr>
          <p:spPr>
            <a:xfrm>
              <a:off x="6566027" y="5759208"/>
              <a:ext cx="1600200" cy="460375"/>
            </a:xfrm>
            <a:custGeom>
              <a:avLst/>
              <a:gdLst/>
              <a:ahLst/>
              <a:cxnLst/>
              <a:rect l="l" t="t" r="r" b="b"/>
              <a:pathLst>
                <a:path w="1600200" h="460375">
                  <a:moveTo>
                    <a:pt x="234696" y="454914"/>
                  </a:moveTo>
                  <a:lnTo>
                    <a:pt x="40106" y="65722"/>
                  </a:lnTo>
                  <a:lnTo>
                    <a:pt x="68580" y="51816"/>
                  </a:lnTo>
                  <a:lnTo>
                    <a:pt x="0" y="0"/>
                  </a:lnTo>
                  <a:lnTo>
                    <a:pt x="0" y="85344"/>
                  </a:lnTo>
                  <a:lnTo>
                    <a:pt x="22847" y="74168"/>
                  </a:lnTo>
                  <a:lnTo>
                    <a:pt x="28473" y="71412"/>
                  </a:lnTo>
                  <a:lnTo>
                    <a:pt x="223278" y="460248"/>
                  </a:lnTo>
                  <a:lnTo>
                    <a:pt x="234696" y="454914"/>
                  </a:lnTo>
                  <a:close/>
                </a:path>
                <a:path w="1600200" h="460375">
                  <a:moveTo>
                    <a:pt x="1600200" y="0"/>
                  </a:moveTo>
                  <a:lnTo>
                    <a:pt x="1532394" y="51816"/>
                  </a:lnTo>
                  <a:lnTo>
                    <a:pt x="1560791" y="65849"/>
                  </a:lnTo>
                  <a:lnTo>
                    <a:pt x="1366278" y="454914"/>
                  </a:lnTo>
                  <a:lnTo>
                    <a:pt x="1377696" y="460248"/>
                  </a:lnTo>
                  <a:lnTo>
                    <a:pt x="1572399" y="71589"/>
                  </a:lnTo>
                  <a:lnTo>
                    <a:pt x="1578114" y="74422"/>
                  </a:lnTo>
                  <a:lnTo>
                    <a:pt x="1600200" y="85344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74839" y="63497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74839" y="6578346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75601" y="6818376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276997" y="6739128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834019" y="6899148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780417" y="6673596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942467" y="6702552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9191891" y="6710172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8938146" y="6711696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2971926" y="6195314"/>
            <a:ext cx="7664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30" dirty="0">
                <a:latin typeface="Trebuchet MS"/>
                <a:cs typeface="Trebuchet MS"/>
              </a:rPr>
              <a:t>Start</a:t>
            </a:r>
            <a:r>
              <a:rPr sz="1000" spc="-12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of</a:t>
            </a:r>
            <a:r>
              <a:rPr sz="1000" spc="-105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CFP</a:t>
            </a:r>
            <a:r>
              <a:rPr sz="1000" spc="-120" dirty="0">
                <a:latin typeface="Trebuchet MS"/>
                <a:cs typeface="Trebuchet MS"/>
              </a:rPr>
              <a:t> </a:t>
            </a:r>
            <a:r>
              <a:rPr sz="1000" spc="-35" dirty="0">
                <a:latin typeface="Trebuchet MS"/>
                <a:cs typeface="Trebuchet MS"/>
              </a:rPr>
              <a:t>is  delayed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81" name="Slide Number Placeholder 180">
            <a:extLst>
              <a:ext uri="{FF2B5EF4-FFF2-40B4-BE49-F238E27FC236}">
                <a16:creationId xmlns:a16="http://schemas.microsoft.com/office/drawing/2014/main" id="{1CC8275E-42FD-404A-BCEF-6BD6E52291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88</a:t>
            </a:fld>
            <a:endParaRPr lang="en-US"/>
          </a:p>
        </p:txBody>
      </p:sp>
      <p:sp>
        <p:nvSpPr>
          <p:cNvPr id="182" name="object 2">
            <a:extLst>
              <a:ext uri="{FF2B5EF4-FFF2-40B4-BE49-F238E27FC236}">
                <a16:creationId xmlns:a16="http://schemas.microsoft.com/office/drawing/2014/main" id="{6E539DE0-8FBE-36B2-67F3-35ABD6149FC7}"/>
              </a:ext>
            </a:extLst>
          </p:cNvPr>
          <p:cNvSpPr txBox="1">
            <a:spLocks/>
          </p:cNvSpPr>
          <p:nvPr/>
        </p:nvSpPr>
        <p:spPr>
          <a:xfrm>
            <a:off x="1401195" y="805433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413" y="230652"/>
            <a:ext cx="679361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0210" marR="5080" indent="-1046480">
              <a:lnSpc>
                <a:spcPct val="100000"/>
              </a:lnSpc>
              <a:spcBef>
                <a:spcPts val="100"/>
              </a:spcBef>
            </a:pPr>
            <a:r>
              <a:rPr sz="4000" spc="-125" dirty="0"/>
              <a:t>Point</a:t>
            </a:r>
            <a:r>
              <a:rPr sz="4000" spc="-625" dirty="0"/>
              <a:t> </a:t>
            </a:r>
            <a:r>
              <a:rPr sz="4000" spc="-114" dirty="0"/>
              <a:t>Coordination  </a:t>
            </a:r>
            <a:r>
              <a:rPr sz="4000" spc="-130" dirty="0"/>
              <a:t>Function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7884795" cy="36957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marR="282575" indent="-342900">
              <a:lnSpc>
                <a:spcPts val="2300"/>
              </a:lnSpc>
              <a:spcBef>
                <a:spcPts val="6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80" dirty="0">
                <a:latin typeface="Trebuchet MS"/>
                <a:cs typeface="Trebuchet MS"/>
              </a:rPr>
              <a:t>This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previous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figure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example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PCF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operation.  </a:t>
            </a:r>
            <a:r>
              <a:rPr sz="2400" spc="-50" dirty="0">
                <a:latin typeface="Trebuchet MS"/>
                <a:cs typeface="Trebuchet MS"/>
              </a:rPr>
              <a:t>Station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420" dirty="0">
                <a:latin typeface="Trebuchet MS"/>
                <a:cs typeface="Trebuchet MS"/>
              </a:rPr>
              <a:t>1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PC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polls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station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15" dirty="0">
                <a:latin typeface="Trebuchet MS"/>
                <a:cs typeface="Trebuchet MS"/>
              </a:rPr>
              <a:t>2.</a:t>
            </a:r>
            <a:endParaRPr sz="2400" dirty="0">
              <a:latin typeface="Trebuchet MS"/>
              <a:cs typeface="Trebuchet MS"/>
            </a:endParaRPr>
          </a:p>
          <a:p>
            <a:pPr marL="354965" marR="217170" indent="-342900">
              <a:lnSpc>
                <a:spcPts val="230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Station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3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detects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beacon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updates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5" dirty="0">
                <a:latin typeface="Trebuchet MS"/>
                <a:cs typeface="Trebuchet MS"/>
              </a:rPr>
              <a:t>NAV  </a:t>
            </a:r>
            <a:r>
              <a:rPr sz="2400" spc="-40" dirty="0">
                <a:latin typeface="Trebuchet MS"/>
                <a:cs typeface="Trebuchet MS"/>
              </a:rPr>
              <a:t>for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35" dirty="0">
                <a:latin typeface="Trebuchet MS"/>
                <a:cs typeface="Trebuchet MS"/>
              </a:rPr>
              <a:t>whole</a:t>
            </a:r>
            <a:r>
              <a:rPr sz="2400" spc="-51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CFP.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75" dirty="0">
                <a:latin typeface="Trebuchet MS"/>
                <a:cs typeface="Trebuchet MS"/>
              </a:rPr>
              <a:t>CFP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delayed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(lower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part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figure).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5" dirty="0">
                <a:latin typeface="Trebuchet MS"/>
                <a:cs typeface="Trebuchet MS"/>
              </a:rPr>
              <a:t>PC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has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data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pending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station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2</a:t>
            </a:r>
            <a:endParaRPr sz="2400" dirty="0">
              <a:latin typeface="Trebuchet MS"/>
              <a:cs typeface="Trebuchet MS"/>
            </a:endParaRPr>
          </a:p>
          <a:p>
            <a:pPr marL="755015" lvl="1" indent="-286385">
              <a:lnSpc>
                <a:spcPts val="2390"/>
              </a:lnSpc>
              <a:spcBef>
                <a:spcPts val="2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45" dirty="0">
                <a:latin typeface="Trebuchet MS"/>
                <a:cs typeface="Trebuchet MS"/>
              </a:rPr>
              <a:t>combine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data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and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poll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frame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into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data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frame.</a:t>
            </a:r>
            <a:endParaRPr sz="20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ct val="80000"/>
              </a:lnSpc>
              <a:spcBef>
                <a:spcPts val="56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65" dirty="0">
                <a:latin typeface="Trebuchet MS"/>
                <a:cs typeface="Trebuchet MS"/>
              </a:rPr>
              <a:t>PC </a:t>
            </a:r>
            <a:r>
              <a:rPr sz="2400" spc="-45" dirty="0">
                <a:latin typeface="Trebuchet MS"/>
                <a:cs typeface="Trebuchet MS"/>
              </a:rPr>
              <a:t>continues </a:t>
            </a:r>
            <a:r>
              <a:rPr sz="2400" spc="-55" dirty="0">
                <a:latin typeface="Trebuchet MS"/>
                <a:cs typeface="Trebuchet MS"/>
              </a:rPr>
              <a:t>polling </a:t>
            </a:r>
            <a:r>
              <a:rPr sz="2400" spc="-45" dirty="0">
                <a:latin typeface="Trebuchet MS"/>
                <a:cs typeface="Trebuchet MS"/>
              </a:rPr>
              <a:t>other </a:t>
            </a:r>
            <a:r>
              <a:rPr sz="2400" spc="-40" dirty="0">
                <a:latin typeface="Trebuchet MS"/>
                <a:cs typeface="Trebuchet MS"/>
              </a:rPr>
              <a:t>stations </a:t>
            </a:r>
            <a:r>
              <a:rPr sz="2400" spc="-90" dirty="0">
                <a:latin typeface="Trebuchet MS"/>
                <a:cs typeface="Trebuchet MS"/>
              </a:rPr>
              <a:t>until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75" dirty="0">
                <a:latin typeface="Trebuchet MS"/>
                <a:cs typeface="Trebuchet MS"/>
              </a:rPr>
              <a:t>CFP  </a:t>
            </a:r>
            <a:r>
              <a:rPr sz="2400" spc="-85" dirty="0">
                <a:latin typeface="Trebuchet MS"/>
                <a:cs typeface="Trebuchet MS"/>
              </a:rPr>
              <a:t>expires.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No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idle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period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longer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than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PIFS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occurs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during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CFP.</a:t>
            </a:r>
            <a:endParaRPr sz="2400" dirty="0">
              <a:latin typeface="Trebuchet MS"/>
              <a:cs typeface="Trebuchet MS"/>
            </a:endParaRPr>
          </a:p>
          <a:p>
            <a:pPr marL="354965" marR="156210" indent="-342900">
              <a:lnSpc>
                <a:spcPct val="80000"/>
              </a:lnSpc>
              <a:spcBef>
                <a:spcPts val="5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60" dirty="0">
                <a:latin typeface="Trebuchet MS"/>
                <a:cs typeface="Trebuchet MS"/>
              </a:rPr>
              <a:t>A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CF‐End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control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signal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end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of 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CFP.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3999" y="857250"/>
                </a:moveTo>
                <a:lnTo>
                  <a:pt x="9143999" y="0"/>
                </a:lnTo>
                <a:lnTo>
                  <a:pt x="0" y="0"/>
                </a:lnTo>
                <a:lnTo>
                  <a:pt x="0" y="857250"/>
                </a:lnTo>
                <a:lnTo>
                  <a:pt x="9143999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3A95C75-7463-467D-A43C-B7D59EA9BF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t>89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3A37F10C-EA6A-4570-CC20-2A8C3B6CB27C}"/>
              </a:ext>
            </a:extLst>
          </p:cNvPr>
          <p:cNvSpPr txBox="1">
            <a:spLocks/>
          </p:cNvSpPr>
          <p:nvPr/>
        </p:nvSpPr>
        <p:spPr>
          <a:xfrm>
            <a:off x="1328626" y="196861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519" y="646430"/>
            <a:ext cx="51822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185" dirty="0"/>
              <a:t>QoS</a:t>
            </a:r>
            <a:r>
              <a:rPr sz="4400" spc="-590" dirty="0"/>
              <a:t> </a:t>
            </a:r>
            <a:r>
              <a:rPr sz="4400" spc="-75" dirty="0"/>
              <a:t>Support</a:t>
            </a:r>
            <a:r>
              <a:rPr sz="4400" spc="-470" dirty="0"/>
              <a:t> </a:t>
            </a:r>
            <a:r>
              <a:rPr sz="4400" spc="-170" dirty="0"/>
              <a:t>with</a:t>
            </a:r>
            <a:r>
              <a:rPr sz="4400" spc="-465" dirty="0"/>
              <a:t> </a:t>
            </a:r>
            <a:r>
              <a:rPr sz="4400" spc="-35" dirty="0"/>
              <a:t>PCF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9141321" cy="3118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1717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 time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45" dirty="0">
                <a:latin typeface="Trebuchet MS"/>
                <a:cs typeface="Trebuchet MS"/>
              </a:rPr>
              <a:t>beacon </a:t>
            </a:r>
            <a:r>
              <a:rPr sz="2800" spc="-75" dirty="0">
                <a:latin typeface="Trebuchet MS"/>
                <a:cs typeface="Trebuchet MS"/>
              </a:rPr>
              <a:t>is </a:t>
            </a:r>
            <a:r>
              <a:rPr sz="2800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delayed </a:t>
            </a:r>
            <a:r>
              <a:rPr sz="2800" u="heavy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from </a:t>
            </a:r>
            <a:r>
              <a:rPr sz="2800" u="heavy" spc="-1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TBTT 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determines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delay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transmission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time‐  </a:t>
            </a:r>
            <a:r>
              <a:rPr sz="2800" spc="-20" dirty="0">
                <a:latin typeface="Trebuchet MS"/>
                <a:cs typeface="Trebuchet MS"/>
              </a:rPr>
              <a:t>bounded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140" dirty="0">
                <a:latin typeface="Trebuchet MS"/>
                <a:cs typeface="Trebuchet MS"/>
              </a:rPr>
              <a:t>MSDUs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that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have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delivered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-150" dirty="0">
                <a:latin typeface="Trebuchet MS"/>
                <a:cs typeface="Trebuchet MS"/>
              </a:rPr>
              <a:t>CFP.</a:t>
            </a:r>
            <a:endParaRPr sz="28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u="heavy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duration</a:t>
            </a:r>
            <a:r>
              <a:rPr sz="2800" u="heavy" spc="-2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of</a:t>
            </a:r>
            <a:r>
              <a:rPr sz="2800" u="heavy" spc="-2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</a:t>
            </a:r>
            <a:r>
              <a:rPr sz="2800" u="heavy" spc="-2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1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MSDU</a:t>
            </a:r>
            <a:r>
              <a:rPr sz="2800" u="heavy" spc="-2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delivery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after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polling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is  </a:t>
            </a:r>
            <a:r>
              <a:rPr sz="2800" spc="-20" dirty="0">
                <a:latin typeface="Trebuchet MS"/>
                <a:cs typeface="Trebuchet MS"/>
              </a:rPr>
              <a:t>not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under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control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PC,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which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reduces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65" dirty="0">
                <a:latin typeface="Trebuchet MS"/>
                <a:cs typeface="Trebuchet MS"/>
              </a:rPr>
              <a:t>QoS </a:t>
            </a:r>
            <a:r>
              <a:rPr sz="2800" spc="-50" dirty="0">
                <a:latin typeface="Trebuchet MS"/>
                <a:cs typeface="Trebuchet MS"/>
              </a:rPr>
              <a:t>provided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50" dirty="0">
                <a:latin typeface="Trebuchet MS"/>
                <a:cs typeface="Trebuchet MS"/>
              </a:rPr>
              <a:t>other stations </a:t>
            </a:r>
            <a:r>
              <a:rPr sz="2800" spc="-80" dirty="0">
                <a:latin typeface="Trebuchet MS"/>
                <a:cs typeface="Trebuchet MS"/>
              </a:rPr>
              <a:t>that </a:t>
            </a:r>
            <a:r>
              <a:rPr sz="2800" spc="-95" dirty="0">
                <a:latin typeface="Trebuchet MS"/>
                <a:cs typeface="Trebuchet MS"/>
              </a:rPr>
              <a:t>are </a:t>
            </a:r>
            <a:r>
              <a:rPr sz="2800" spc="-70" dirty="0">
                <a:latin typeface="Trebuchet MS"/>
                <a:cs typeface="Trebuchet MS"/>
              </a:rPr>
              <a:t>polled  </a:t>
            </a:r>
            <a:r>
              <a:rPr sz="2800" spc="-40" dirty="0">
                <a:latin typeface="Trebuchet MS"/>
                <a:cs typeface="Trebuchet MS"/>
              </a:rPr>
              <a:t>during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rest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CFP.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8B5F85-D11A-43C0-9BA9-320CE66343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t>90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ED155A90-B04E-B718-2A2B-C4C1C060FEBC}"/>
              </a:ext>
            </a:extLst>
          </p:cNvPr>
          <p:cNvSpPr txBox="1">
            <a:spLocks/>
          </p:cNvSpPr>
          <p:nvPr/>
        </p:nvSpPr>
        <p:spPr>
          <a:xfrm>
            <a:off x="1320113" y="681387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1917" y="2867025"/>
            <a:ext cx="54095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5325" marR="5080" indent="-195326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QoS</a:t>
            </a:r>
            <a:r>
              <a:rPr spc="-459" dirty="0"/>
              <a:t> </a:t>
            </a:r>
            <a:r>
              <a:rPr spc="-65" dirty="0"/>
              <a:t>Support</a:t>
            </a:r>
            <a:r>
              <a:rPr spc="-370" dirty="0"/>
              <a:t> </a:t>
            </a:r>
            <a:r>
              <a:rPr spc="-45" dirty="0"/>
              <a:t>Mechanisms</a:t>
            </a:r>
            <a:r>
              <a:rPr spc="-380" dirty="0"/>
              <a:t> </a:t>
            </a:r>
            <a:r>
              <a:rPr spc="-105" dirty="0"/>
              <a:t>of  </a:t>
            </a:r>
            <a:r>
              <a:rPr spc="-155" dirty="0"/>
              <a:t>802.11E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DF120E3-7798-41B5-896F-8860954B5D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669" y="234246"/>
            <a:ext cx="739000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5325" marR="5080" indent="-195326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QoS</a:t>
            </a:r>
            <a:r>
              <a:rPr spc="-459" dirty="0"/>
              <a:t> </a:t>
            </a:r>
            <a:r>
              <a:rPr spc="-65" dirty="0"/>
              <a:t>Support</a:t>
            </a:r>
            <a:r>
              <a:rPr spc="-370" dirty="0"/>
              <a:t> </a:t>
            </a:r>
            <a:r>
              <a:rPr spc="-45" dirty="0"/>
              <a:t>Mechanisms</a:t>
            </a:r>
            <a:r>
              <a:rPr spc="-380" dirty="0"/>
              <a:t> </a:t>
            </a:r>
            <a:r>
              <a:rPr spc="-105" dirty="0"/>
              <a:t>of  </a:t>
            </a:r>
            <a:r>
              <a:rPr spc="-155" dirty="0">
                <a:solidFill>
                  <a:srgbClr val="FF0000"/>
                </a:solidFill>
              </a:rPr>
              <a:t>802.11E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52676"/>
            <a:ext cx="7943850" cy="435824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176530" indent="-342900">
              <a:lnSpc>
                <a:spcPts val="259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802.11e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extension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introduces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Hybrid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Coordination 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Function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(HCF)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70C0"/>
                </a:solidFill>
                <a:latin typeface="Trebuchet MS"/>
                <a:cs typeface="Trebuchet MS"/>
              </a:rPr>
              <a:t>for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rgbClr val="0070C0"/>
                </a:solidFill>
                <a:latin typeface="Trebuchet MS"/>
                <a:cs typeface="Trebuchet MS"/>
              </a:rPr>
              <a:t>QoS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70C0"/>
                </a:solidFill>
                <a:latin typeface="Trebuchet MS"/>
                <a:cs typeface="Trebuchet MS"/>
              </a:rPr>
              <a:t>support</a:t>
            </a:r>
            <a:r>
              <a:rPr sz="2400" spc="-55" dirty="0"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54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HCF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defines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2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access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mechanisms:</a:t>
            </a:r>
            <a:endParaRPr sz="2400" dirty="0">
              <a:latin typeface="Trebuchet MS"/>
              <a:cs typeface="Trebuchet MS"/>
            </a:endParaRPr>
          </a:p>
          <a:p>
            <a:pPr marL="755015" marR="226060" lvl="1" indent="-285750">
              <a:lnSpc>
                <a:spcPts val="2160"/>
              </a:lnSpc>
              <a:spcBef>
                <a:spcPts val="540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65" dirty="0">
                <a:latin typeface="Trebuchet MS"/>
                <a:cs typeface="Trebuchet MS"/>
              </a:rPr>
              <a:t>(i)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contention‐based</a:t>
            </a:r>
            <a:r>
              <a:rPr sz="2000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FF0000"/>
                </a:solidFill>
                <a:latin typeface="Trebuchet MS"/>
                <a:cs typeface="Trebuchet MS"/>
              </a:rPr>
              <a:t>channel</a:t>
            </a:r>
            <a:r>
              <a:rPr sz="2000" spc="-1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access</a:t>
            </a:r>
            <a:r>
              <a:rPr sz="2000" spc="-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(referred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FF0000"/>
                </a:solidFill>
                <a:latin typeface="Trebuchet MS"/>
                <a:cs typeface="Trebuchet MS"/>
              </a:rPr>
              <a:t>Enhanced  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Distributed </a:t>
            </a:r>
            <a:r>
              <a:rPr sz="2000" spc="-60" dirty="0">
                <a:solidFill>
                  <a:srgbClr val="FF0000"/>
                </a:solidFill>
                <a:latin typeface="Trebuchet MS"/>
                <a:cs typeface="Trebuchet MS"/>
              </a:rPr>
              <a:t>Channel</a:t>
            </a:r>
            <a:r>
              <a:rPr sz="2000" spc="-2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Access‐EDCA</a:t>
            </a:r>
            <a:r>
              <a:rPr sz="2000" spc="-55" dirty="0">
                <a:latin typeface="Trebuchet MS"/>
                <a:cs typeface="Trebuchet MS"/>
              </a:rPr>
              <a:t>);</a:t>
            </a:r>
            <a:endParaRPr sz="2000" dirty="0">
              <a:latin typeface="Trebuchet MS"/>
              <a:cs typeface="Trebuchet MS"/>
            </a:endParaRPr>
          </a:p>
          <a:p>
            <a:pPr marL="755015" marR="611505">
              <a:lnSpc>
                <a:spcPts val="2160"/>
              </a:lnSpc>
              <a:spcBef>
                <a:spcPts val="480"/>
              </a:spcBef>
            </a:pPr>
            <a:r>
              <a:rPr sz="2000" spc="-85" dirty="0">
                <a:latin typeface="Trebuchet MS"/>
                <a:cs typeface="Trebuchet MS"/>
              </a:rPr>
              <a:t>(ii)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0070C0"/>
                </a:solidFill>
                <a:latin typeface="Trebuchet MS"/>
                <a:cs typeface="Trebuchet MS"/>
              </a:rPr>
              <a:t>controlled</a:t>
            </a:r>
            <a:r>
              <a:rPr sz="2000" spc="-15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0070C0"/>
                </a:solidFill>
                <a:latin typeface="Trebuchet MS"/>
                <a:cs typeface="Trebuchet MS"/>
              </a:rPr>
              <a:t>channel</a:t>
            </a:r>
            <a:r>
              <a:rPr sz="2000" spc="-14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0070C0"/>
                </a:solidFill>
                <a:latin typeface="Trebuchet MS"/>
                <a:cs typeface="Trebuchet MS"/>
              </a:rPr>
              <a:t>access</a:t>
            </a:r>
            <a:r>
              <a:rPr sz="2000" spc="-75" dirty="0">
                <a:latin typeface="Trebuchet MS"/>
                <a:cs typeface="Trebuchet MS"/>
              </a:rPr>
              <a:t>,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which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0070C0"/>
                </a:solidFill>
                <a:latin typeface="Trebuchet MS"/>
                <a:cs typeface="Trebuchet MS"/>
              </a:rPr>
              <a:t>includes</a:t>
            </a:r>
            <a:r>
              <a:rPr sz="2000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0070C0"/>
                </a:solidFill>
                <a:latin typeface="Trebuchet MS"/>
                <a:cs typeface="Trebuchet MS"/>
              </a:rPr>
              <a:t>polling</a:t>
            </a:r>
            <a:r>
              <a:rPr sz="2000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(</a:t>
            </a:r>
            <a:r>
              <a:rPr sz="2000" spc="-55" dirty="0">
                <a:solidFill>
                  <a:srgbClr val="0070C0"/>
                </a:solidFill>
                <a:latin typeface="Trebuchet MS"/>
                <a:cs typeface="Trebuchet MS"/>
              </a:rPr>
              <a:t>HCF  </a:t>
            </a:r>
            <a:r>
              <a:rPr sz="2000" spc="-60" dirty="0">
                <a:solidFill>
                  <a:srgbClr val="0070C0"/>
                </a:solidFill>
                <a:latin typeface="Trebuchet MS"/>
                <a:cs typeface="Trebuchet MS"/>
              </a:rPr>
              <a:t>Controlled Channel</a:t>
            </a:r>
            <a:r>
              <a:rPr sz="2000" spc="-23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0070C0"/>
                </a:solidFill>
                <a:latin typeface="Trebuchet MS"/>
                <a:cs typeface="Trebuchet MS"/>
              </a:rPr>
              <a:t>Access‐HCCA</a:t>
            </a:r>
            <a:r>
              <a:rPr sz="2000" spc="-65" dirty="0">
                <a:latin typeface="Trebuchet MS"/>
                <a:cs typeface="Trebuchet MS"/>
              </a:rPr>
              <a:t>).</a:t>
            </a:r>
            <a:endParaRPr sz="2000" dirty="0">
              <a:latin typeface="Trebuchet MS"/>
              <a:cs typeface="Trebuchet MS"/>
            </a:endParaRPr>
          </a:p>
          <a:p>
            <a:pPr marL="354965" marR="291465" indent="-342900">
              <a:lnSpc>
                <a:spcPts val="2590"/>
              </a:lnSpc>
              <a:spcBef>
                <a:spcPts val="55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0" dirty="0">
                <a:latin typeface="Trebuchet MS"/>
                <a:cs typeface="Trebuchet MS"/>
              </a:rPr>
              <a:t>With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802.11e,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there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70C0"/>
                </a:solidFill>
                <a:latin typeface="Trebuchet MS"/>
                <a:cs typeface="Trebuchet MS"/>
              </a:rPr>
              <a:t>still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70C0"/>
                </a:solidFill>
                <a:latin typeface="Trebuchet MS"/>
                <a:cs typeface="Trebuchet MS"/>
              </a:rPr>
              <a:t>be</a:t>
            </a:r>
            <a:r>
              <a:rPr sz="2400" spc="-19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070C0"/>
                </a:solidFill>
                <a:latin typeface="Trebuchet MS"/>
                <a:cs typeface="Trebuchet MS"/>
              </a:rPr>
              <a:t>the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070C0"/>
                </a:solidFill>
                <a:latin typeface="Trebuchet MS"/>
                <a:cs typeface="Trebuchet MS"/>
              </a:rPr>
              <a:t>2</a:t>
            </a:r>
            <a:r>
              <a:rPr sz="2400" spc="-19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70C0"/>
                </a:solidFill>
                <a:latin typeface="Trebuchet MS"/>
                <a:cs typeface="Trebuchet MS"/>
              </a:rPr>
              <a:t>phases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0070C0"/>
                </a:solidFill>
                <a:latin typeface="Trebuchet MS"/>
                <a:cs typeface="Trebuchet MS"/>
              </a:rPr>
              <a:t>of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70C0"/>
                </a:solidFill>
                <a:latin typeface="Trebuchet MS"/>
                <a:cs typeface="Trebuchet MS"/>
              </a:rPr>
              <a:t>operation  </a:t>
            </a:r>
            <a:r>
              <a:rPr sz="2400" spc="-70" dirty="0">
                <a:solidFill>
                  <a:srgbClr val="0070C0"/>
                </a:solidFill>
                <a:latin typeface="Trebuchet MS"/>
                <a:cs typeface="Trebuchet MS"/>
              </a:rPr>
              <a:t>within </a:t>
            </a:r>
            <a:r>
              <a:rPr sz="2400" spc="-85" dirty="0">
                <a:solidFill>
                  <a:srgbClr val="0070C0"/>
                </a:solidFill>
                <a:latin typeface="Trebuchet MS"/>
                <a:cs typeface="Trebuchet MS"/>
              </a:rPr>
              <a:t>a </a:t>
            </a:r>
            <a:r>
              <a:rPr sz="2400" spc="-75" dirty="0">
                <a:solidFill>
                  <a:srgbClr val="0070C0"/>
                </a:solidFill>
                <a:latin typeface="Trebuchet MS"/>
                <a:cs typeface="Trebuchet MS"/>
              </a:rPr>
              <a:t>superframe:</a:t>
            </a:r>
            <a:r>
              <a:rPr sz="2400" spc="-530" dirty="0">
                <a:latin typeface="Trebuchet MS"/>
                <a:cs typeface="Trebuchet MS"/>
              </a:rPr>
              <a:t> </a:t>
            </a:r>
            <a:endParaRPr lang="en-US" sz="2400" spc="-530" dirty="0">
              <a:latin typeface="Trebuchet MS"/>
              <a:cs typeface="Trebuchet MS"/>
            </a:endParaRPr>
          </a:p>
          <a:p>
            <a:pPr marL="812165" marR="291465" lvl="1" indent="-342900">
              <a:lnSpc>
                <a:spcPts val="2590"/>
              </a:lnSpc>
              <a:spcBef>
                <a:spcPts val="55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lang="en-US" sz="2400" spc="-125" dirty="0">
                <a:solidFill>
                  <a:srgbClr val="FF0000"/>
                </a:solidFill>
                <a:latin typeface="Trebuchet MS"/>
                <a:cs typeface="Trebuchet MS"/>
              </a:rPr>
              <a:t>Contention period</a:t>
            </a:r>
            <a:r>
              <a:rPr lang="en-US" sz="24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140" dirty="0">
                <a:solidFill>
                  <a:srgbClr val="FF0000"/>
                </a:solidFill>
                <a:latin typeface="Trebuchet MS"/>
                <a:cs typeface="Trebuchet MS"/>
              </a:rPr>
              <a:t>(CP)</a:t>
            </a:r>
          </a:p>
          <a:p>
            <a:pPr marL="812165" marR="291465" lvl="1" indent="-342900">
              <a:lnSpc>
                <a:spcPts val="2590"/>
              </a:lnSpc>
              <a:spcBef>
                <a:spcPts val="55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lang="en-US" sz="2400" spc="-70" dirty="0">
                <a:solidFill>
                  <a:srgbClr val="0070C0"/>
                </a:solidFill>
                <a:latin typeface="Trebuchet MS"/>
                <a:cs typeface="Trebuchet MS"/>
              </a:rPr>
              <a:t>Contention Free Period (</a:t>
            </a:r>
            <a:r>
              <a:rPr lang="en-US" sz="2400" spc="-125" dirty="0">
                <a:solidFill>
                  <a:srgbClr val="0070C0"/>
                </a:solidFill>
                <a:latin typeface="Trebuchet MS"/>
                <a:cs typeface="Trebuchet MS"/>
              </a:rPr>
              <a:t>CFP) </a:t>
            </a:r>
          </a:p>
          <a:p>
            <a:pPr marL="354965" indent="-342900">
              <a:lnSpc>
                <a:spcPct val="100000"/>
              </a:lnSpc>
              <a:spcBef>
                <a:spcPts val="25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EDCA</a:t>
            </a:r>
            <a:r>
              <a:rPr sz="24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used</a:t>
            </a:r>
            <a:r>
              <a:rPr sz="24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80" dirty="0">
                <a:solidFill>
                  <a:srgbClr val="FF0000"/>
                </a:solidFill>
                <a:latin typeface="Trebuchet MS"/>
                <a:cs typeface="Trebuchet MS"/>
              </a:rPr>
              <a:t>only</a:t>
            </a:r>
            <a:r>
              <a:rPr sz="2400" b="1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4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FF0000"/>
                </a:solidFill>
                <a:latin typeface="Trebuchet MS"/>
                <a:cs typeface="Trebuchet MS"/>
              </a:rPr>
              <a:t>CP,</a:t>
            </a:r>
            <a:r>
              <a:rPr sz="24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while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70C0"/>
                </a:solidFill>
                <a:latin typeface="Trebuchet MS"/>
                <a:cs typeface="Trebuchet MS"/>
              </a:rPr>
              <a:t>HCCA</a:t>
            </a:r>
            <a:r>
              <a:rPr sz="2400" spc="-22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70C0"/>
                </a:solidFill>
                <a:latin typeface="Trebuchet MS"/>
                <a:cs typeface="Trebuchet MS"/>
              </a:rPr>
              <a:t>is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70C0"/>
                </a:solidFill>
                <a:latin typeface="Trebuchet MS"/>
                <a:cs typeface="Trebuchet MS"/>
              </a:rPr>
              <a:t>used</a:t>
            </a:r>
            <a:r>
              <a:rPr sz="2400" spc="-19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70C0"/>
                </a:solidFill>
                <a:latin typeface="Trebuchet MS"/>
                <a:cs typeface="Trebuchet MS"/>
              </a:rPr>
              <a:t>in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b="1" spc="-75" dirty="0">
                <a:solidFill>
                  <a:srgbClr val="0070C0"/>
                </a:solidFill>
                <a:latin typeface="Trebuchet MS"/>
                <a:cs typeface="Trebuchet MS"/>
              </a:rPr>
              <a:t>both</a:t>
            </a:r>
            <a:r>
              <a:rPr sz="2400" b="1" spc="-18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70C0"/>
                </a:solidFill>
                <a:latin typeface="Trebuchet MS"/>
                <a:cs typeface="Trebuchet MS"/>
              </a:rPr>
              <a:t>phases</a:t>
            </a:r>
            <a:r>
              <a:rPr sz="2400" spc="-55" dirty="0"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DF120E3-7798-41B5-896F-8860954B5D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92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B3384965-EDA8-61AE-0D41-EE18C50AE630}"/>
              </a:ext>
            </a:extLst>
          </p:cNvPr>
          <p:cNvSpPr txBox="1">
            <a:spLocks/>
          </p:cNvSpPr>
          <p:nvPr/>
        </p:nvSpPr>
        <p:spPr>
          <a:xfrm>
            <a:off x="1338675" y="14377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96179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0158" y="909320"/>
            <a:ext cx="6980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QoS</a:t>
            </a:r>
            <a:r>
              <a:rPr spc="-450" dirty="0"/>
              <a:t> </a:t>
            </a:r>
            <a:r>
              <a:rPr spc="-65" dirty="0"/>
              <a:t>Support</a:t>
            </a:r>
            <a:r>
              <a:rPr spc="-365" dirty="0"/>
              <a:t> </a:t>
            </a:r>
            <a:r>
              <a:rPr spc="-45" dirty="0"/>
              <a:t>Mechanisms</a:t>
            </a:r>
            <a:r>
              <a:rPr spc="-370" dirty="0"/>
              <a:t> </a:t>
            </a:r>
            <a:r>
              <a:rPr spc="-105" dirty="0"/>
              <a:t>of</a:t>
            </a:r>
            <a:r>
              <a:rPr spc="-345" dirty="0"/>
              <a:t> </a:t>
            </a:r>
            <a:r>
              <a:rPr spc="-160" dirty="0"/>
              <a:t>802.11E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30743" y="2400300"/>
            <a:ext cx="3899535" cy="520700"/>
            <a:chOff x="1530743" y="2400300"/>
            <a:chExt cx="3899535" cy="520700"/>
          </a:xfrm>
        </p:grpSpPr>
        <p:sp>
          <p:nvSpPr>
            <p:cNvPr id="4" name="object 4"/>
            <p:cNvSpPr/>
            <p:nvPr/>
          </p:nvSpPr>
          <p:spPr>
            <a:xfrm>
              <a:off x="1536839" y="2406395"/>
              <a:ext cx="1295400" cy="5143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0743" y="2400300"/>
              <a:ext cx="1308735" cy="520700"/>
            </a:xfrm>
            <a:custGeom>
              <a:avLst/>
              <a:gdLst/>
              <a:ahLst/>
              <a:cxnLst/>
              <a:rect l="l" t="t" r="r" b="b"/>
              <a:pathLst>
                <a:path w="1308735" h="520700">
                  <a:moveTo>
                    <a:pt x="1308353" y="520446"/>
                  </a:moveTo>
                  <a:lnTo>
                    <a:pt x="1308353" y="0"/>
                  </a:lnTo>
                  <a:lnTo>
                    <a:pt x="0" y="0"/>
                  </a:lnTo>
                  <a:lnTo>
                    <a:pt x="0" y="520446"/>
                  </a:lnTo>
                  <a:lnTo>
                    <a:pt x="6095" y="520446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1295399" y="12954"/>
                  </a:lnTo>
                  <a:lnTo>
                    <a:pt x="1295399" y="6095"/>
                  </a:lnTo>
                  <a:lnTo>
                    <a:pt x="1301495" y="12954"/>
                  </a:lnTo>
                  <a:lnTo>
                    <a:pt x="1301495" y="520446"/>
                  </a:lnTo>
                  <a:lnTo>
                    <a:pt x="1308353" y="520446"/>
                  </a:lnTo>
                  <a:close/>
                </a:path>
                <a:path w="1308735" h="520700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1308735" h="520700">
                  <a:moveTo>
                    <a:pt x="12953" y="520446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520446"/>
                  </a:lnTo>
                  <a:lnTo>
                    <a:pt x="12953" y="520446"/>
                  </a:lnTo>
                  <a:close/>
                </a:path>
                <a:path w="1308735" h="520700">
                  <a:moveTo>
                    <a:pt x="1301495" y="12954"/>
                  </a:moveTo>
                  <a:lnTo>
                    <a:pt x="1295399" y="6095"/>
                  </a:lnTo>
                  <a:lnTo>
                    <a:pt x="1295399" y="12954"/>
                  </a:lnTo>
                  <a:lnTo>
                    <a:pt x="1301495" y="12954"/>
                  </a:lnTo>
                  <a:close/>
                </a:path>
                <a:path w="1308735" h="520700">
                  <a:moveTo>
                    <a:pt x="1301495" y="520446"/>
                  </a:moveTo>
                  <a:lnTo>
                    <a:pt x="1301495" y="12954"/>
                  </a:lnTo>
                  <a:lnTo>
                    <a:pt x="1295399" y="12954"/>
                  </a:lnTo>
                  <a:lnTo>
                    <a:pt x="1295399" y="520446"/>
                  </a:lnTo>
                  <a:lnTo>
                    <a:pt x="1301495" y="5204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08439" y="2406395"/>
              <a:ext cx="1219200" cy="5143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02343" y="2400300"/>
              <a:ext cx="1232535" cy="520700"/>
            </a:xfrm>
            <a:custGeom>
              <a:avLst/>
              <a:gdLst/>
              <a:ahLst/>
              <a:cxnLst/>
              <a:rect l="l" t="t" r="r" b="b"/>
              <a:pathLst>
                <a:path w="1232535" h="520700">
                  <a:moveTo>
                    <a:pt x="1232153" y="520445"/>
                  </a:moveTo>
                  <a:lnTo>
                    <a:pt x="1232153" y="0"/>
                  </a:lnTo>
                  <a:lnTo>
                    <a:pt x="0" y="0"/>
                  </a:lnTo>
                  <a:lnTo>
                    <a:pt x="0" y="520446"/>
                  </a:lnTo>
                  <a:lnTo>
                    <a:pt x="6095" y="520446"/>
                  </a:lnTo>
                  <a:lnTo>
                    <a:pt x="6095" y="12954"/>
                  </a:lnTo>
                  <a:lnTo>
                    <a:pt x="12953" y="6095"/>
                  </a:lnTo>
                  <a:lnTo>
                    <a:pt x="12953" y="12954"/>
                  </a:lnTo>
                  <a:lnTo>
                    <a:pt x="1219200" y="12953"/>
                  </a:lnTo>
                  <a:lnTo>
                    <a:pt x="1219200" y="6095"/>
                  </a:lnTo>
                  <a:lnTo>
                    <a:pt x="1225296" y="12953"/>
                  </a:lnTo>
                  <a:lnTo>
                    <a:pt x="1225296" y="520445"/>
                  </a:lnTo>
                  <a:lnTo>
                    <a:pt x="1232153" y="520445"/>
                  </a:lnTo>
                  <a:close/>
                </a:path>
                <a:path w="1232535" h="520700">
                  <a:moveTo>
                    <a:pt x="12953" y="12954"/>
                  </a:moveTo>
                  <a:lnTo>
                    <a:pt x="12953" y="6095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1232535" h="520700">
                  <a:moveTo>
                    <a:pt x="12953" y="520446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5" y="520446"/>
                  </a:lnTo>
                  <a:lnTo>
                    <a:pt x="12953" y="520446"/>
                  </a:lnTo>
                  <a:close/>
                </a:path>
                <a:path w="1232535" h="520700">
                  <a:moveTo>
                    <a:pt x="1225296" y="12953"/>
                  </a:moveTo>
                  <a:lnTo>
                    <a:pt x="1219200" y="6095"/>
                  </a:lnTo>
                  <a:lnTo>
                    <a:pt x="1219200" y="12953"/>
                  </a:lnTo>
                  <a:lnTo>
                    <a:pt x="1225296" y="12953"/>
                  </a:lnTo>
                  <a:close/>
                </a:path>
                <a:path w="1232535" h="520700">
                  <a:moveTo>
                    <a:pt x="1225296" y="520445"/>
                  </a:moveTo>
                  <a:lnTo>
                    <a:pt x="1225296" y="12953"/>
                  </a:lnTo>
                  <a:lnTo>
                    <a:pt x="1219200" y="12953"/>
                  </a:lnTo>
                  <a:lnTo>
                    <a:pt x="1219200" y="520445"/>
                  </a:lnTo>
                  <a:lnTo>
                    <a:pt x="1225296" y="5204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03839" y="2711195"/>
              <a:ext cx="1218437" cy="2095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97743" y="2705100"/>
              <a:ext cx="1232535" cy="215900"/>
            </a:xfrm>
            <a:custGeom>
              <a:avLst/>
              <a:gdLst/>
              <a:ahLst/>
              <a:cxnLst/>
              <a:rect l="l" t="t" r="r" b="b"/>
              <a:pathLst>
                <a:path w="1232535" h="215900">
                  <a:moveTo>
                    <a:pt x="1232153" y="215645"/>
                  </a:moveTo>
                  <a:lnTo>
                    <a:pt x="1232153" y="0"/>
                  </a:lnTo>
                  <a:lnTo>
                    <a:pt x="0" y="0"/>
                  </a:lnTo>
                  <a:lnTo>
                    <a:pt x="0" y="215645"/>
                  </a:lnTo>
                  <a:lnTo>
                    <a:pt x="6096" y="215645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219200" y="12953"/>
                  </a:lnTo>
                  <a:lnTo>
                    <a:pt x="1219200" y="6095"/>
                  </a:lnTo>
                  <a:lnTo>
                    <a:pt x="1225296" y="12953"/>
                  </a:lnTo>
                  <a:lnTo>
                    <a:pt x="1225296" y="215645"/>
                  </a:lnTo>
                  <a:lnTo>
                    <a:pt x="1232153" y="215645"/>
                  </a:lnTo>
                  <a:close/>
                </a:path>
                <a:path w="1232535" h="215900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1232535" h="215900">
                  <a:moveTo>
                    <a:pt x="12953" y="215645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215645"/>
                  </a:lnTo>
                  <a:lnTo>
                    <a:pt x="12953" y="215645"/>
                  </a:lnTo>
                  <a:close/>
                </a:path>
                <a:path w="1232535" h="215900">
                  <a:moveTo>
                    <a:pt x="1225296" y="12953"/>
                  </a:moveTo>
                  <a:lnTo>
                    <a:pt x="1219200" y="6095"/>
                  </a:lnTo>
                  <a:lnTo>
                    <a:pt x="1219200" y="12953"/>
                  </a:lnTo>
                  <a:lnTo>
                    <a:pt x="1225296" y="12953"/>
                  </a:lnTo>
                  <a:close/>
                </a:path>
                <a:path w="1232535" h="215900">
                  <a:moveTo>
                    <a:pt x="1225296" y="215645"/>
                  </a:moveTo>
                  <a:lnTo>
                    <a:pt x="1225296" y="12953"/>
                  </a:lnTo>
                  <a:lnTo>
                    <a:pt x="1219200" y="12953"/>
                  </a:lnTo>
                  <a:lnTo>
                    <a:pt x="1219200" y="215645"/>
                  </a:lnTo>
                  <a:lnTo>
                    <a:pt x="1225296" y="215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33798" y="2734309"/>
            <a:ext cx="1159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Required </a:t>
            </a:r>
            <a:r>
              <a:rPr sz="1200" spc="-20" dirty="0">
                <a:latin typeface="Trebuchet MS"/>
                <a:cs typeface="Trebuchet MS"/>
              </a:rPr>
              <a:t>for</a:t>
            </a:r>
            <a:r>
              <a:rPr sz="1200" spc="-235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time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54166" y="2264155"/>
            <a:ext cx="29781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25" dirty="0">
                <a:latin typeface="Trebuchet MS"/>
                <a:cs typeface="Trebuchet MS"/>
              </a:rPr>
              <a:t>Main </a:t>
            </a:r>
            <a:r>
              <a:rPr sz="2800" spc="-75" dirty="0">
                <a:latin typeface="Trebuchet MS"/>
                <a:cs typeface="Trebuchet MS"/>
              </a:rPr>
              <a:t>elements</a:t>
            </a:r>
            <a:r>
              <a:rPr sz="2800" spc="-60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  </a:t>
            </a:r>
            <a:r>
              <a:rPr sz="2800" spc="-204" dirty="0">
                <a:latin typeface="Trebuchet MS"/>
                <a:cs typeface="Trebuchet MS"/>
              </a:rPr>
              <a:t>802.11e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MAC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30743" y="2920745"/>
            <a:ext cx="3899535" cy="857250"/>
            <a:chOff x="1530743" y="2920745"/>
            <a:chExt cx="3899535" cy="857250"/>
          </a:xfrm>
        </p:grpSpPr>
        <p:sp>
          <p:nvSpPr>
            <p:cNvPr id="14" name="object 14"/>
            <p:cNvSpPr/>
            <p:nvPr/>
          </p:nvSpPr>
          <p:spPr>
            <a:xfrm>
              <a:off x="4661039" y="3625595"/>
              <a:ext cx="762000" cy="1524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4943" y="3619499"/>
              <a:ext cx="775335" cy="158750"/>
            </a:xfrm>
            <a:custGeom>
              <a:avLst/>
              <a:gdLst/>
              <a:ahLst/>
              <a:cxnLst/>
              <a:rect l="l" t="t" r="r" b="b"/>
              <a:pathLst>
                <a:path w="775335" h="158750">
                  <a:moveTo>
                    <a:pt x="774953" y="158496"/>
                  </a:moveTo>
                  <a:lnTo>
                    <a:pt x="774953" y="0"/>
                  </a:lnTo>
                  <a:lnTo>
                    <a:pt x="0" y="0"/>
                  </a:lnTo>
                  <a:lnTo>
                    <a:pt x="0" y="158496"/>
                  </a:lnTo>
                  <a:lnTo>
                    <a:pt x="6096" y="158496"/>
                  </a:lnTo>
                  <a:lnTo>
                    <a:pt x="6096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762000" y="12953"/>
                  </a:lnTo>
                  <a:lnTo>
                    <a:pt x="762000" y="6096"/>
                  </a:lnTo>
                  <a:lnTo>
                    <a:pt x="768096" y="12953"/>
                  </a:lnTo>
                  <a:lnTo>
                    <a:pt x="768096" y="158496"/>
                  </a:lnTo>
                  <a:lnTo>
                    <a:pt x="774953" y="158496"/>
                  </a:lnTo>
                  <a:close/>
                </a:path>
                <a:path w="775335" h="158750">
                  <a:moveTo>
                    <a:pt x="12953" y="12953"/>
                  </a:moveTo>
                  <a:lnTo>
                    <a:pt x="12953" y="6096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775335" h="158750">
                  <a:moveTo>
                    <a:pt x="12953" y="158496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158496"/>
                  </a:lnTo>
                  <a:lnTo>
                    <a:pt x="12953" y="158496"/>
                  </a:lnTo>
                  <a:close/>
                </a:path>
                <a:path w="775335" h="158750">
                  <a:moveTo>
                    <a:pt x="768096" y="12953"/>
                  </a:moveTo>
                  <a:lnTo>
                    <a:pt x="762000" y="6096"/>
                  </a:lnTo>
                  <a:lnTo>
                    <a:pt x="762000" y="12953"/>
                  </a:lnTo>
                  <a:lnTo>
                    <a:pt x="768096" y="12953"/>
                  </a:lnTo>
                  <a:close/>
                </a:path>
                <a:path w="775335" h="158750">
                  <a:moveTo>
                    <a:pt x="768096" y="158496"/>
                  </a:moveTo>
                  <a:lnTo>
                    <a:pt x="768096" y="12953"/>
                  </a:lnTo>
                  <a:lnTo>
                    <a:pt x="762000" y="12953"/>
                  </a:lnTo>
                  <a:lnTo>
                    <a:pt x="762000" y="158496"/>
                  </a:lnTo>
                  <a:lnTo>
                    <a:pt x="768096" y="158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6839" y="2920745"/>
              <a:ext cx="1295400" cy="8572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0743" y="2920745"/>
              <a:ext cx="1308735" cy="857250"/>
            </a:xfrm>
            <a:custGeom>
              <a:avLst/>
              <a:gdLst/>
              <a:ahLst/>
              <a:cxnLst/>
              <a:rect l="l" t="t" r="r" b="b"/>
              <a:pathLst>
                <a:path w="1308735" h="857250">
                  <a:moveTo>
                    <a:pt x="12953" y="3939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406907"/>
                  </a:lnTo>
                  <a:lnTo>
                    <a:pt x="6095" y="406907"/>
                  </a:lnTo>
                  <a:lnTo>
                    <a:pt x="6095" y="393953"/>
                  </a:lnTo>
                  <a:lnTo>
                    <a:pt x="12953" y="393953"/>
                  </a:lnTo>
                  <a:close/>
                </a:path>
                <a:path w="1308735" h="857250">
                  <a:moveTo>
                    <a:pt x="279403" y="857250"/>
                  </a:moveTo>
                  <a:lnTo>
                    <a:pt x="227838" y="393953"/>
                  </a:lnTo>
                  <a:lnTo>
                    <a:pt x="6095" y="393953"/>
                  </a:lnTo>
                  <a:lnTo>
                    <a:pt x="12953" y="400050"/>
                  </a:lnTo>
                  <a:lnTo>
                    <a:pt x="12953" y="406907"/>
                  </a:lnTo>
                  <a:lnTo>
                    <a:pt x="216408" y="406907"/>
                  </a:lnTo>
                  <a:lnTo>
                    <a:pt x="216408" y="400812"/>
                  </a:lnTo>
                  <a:lnTo>
                    <a:pt x="222503" y="406907"/>
                  </a:lnTo>
                  <a:lnTo>
                    <a:pt x="222503" y="455675"/>
                  </a:lnTo>
                  <a:lnTo>
                    <a:pt x="267123" y="857250"/>
                  </a:lnTo>
                  <a:lnTo>
                    <a:pt x="279403" y="857250"/>
                  </a:lnTo>
                  <a:close/>
                </a:path>
                <a:path w="1308735" h="857250">
                  <a:moveTo>
                    <a:pt x="12953" y="406907"/>
                  </a:moveTo>
                  <a:lnTo>
                    <a:pt x="12953" y="400050"/>
                  </a:lnTo>
                  <a:lnTo>
                    <a:pt x="6095" y="393953"/>
                  </a:lnTo>
                  <a:lnTo>
                    <a:pt x="6095" y="406907"/>
                  </a:lnTo>
                  <a:lnTo>
                    <a:pt x="12953" y="406907"/>
                  </a:lnTo>
                  <a:close/>
                </a:path>
                <a:path w="1308735" h="857250">
                  <a:moveTo>
                    <a:pt x="222503" y="406907"/>
                  </a:moveTo>
                  <a:lnTo>
                    <a:pt x="216408" y="400812"/>
                  </a:lnTo>
                  <a:lnTo>
                    <a:pt x="217085" y="406907"/>
                  </a:lnTo>
                  <a:lnTo>
                    <a:pt x="222503" y="406907"/>
                  </a:lnTo>
                  <a:close/>
                </a:path>
                <a:path w="1308735" h="857250">
                  <a:moveTo>
                    <a:pt x="217085" y="406907"/>
                  </a:moveTo>
                  <a:lnTo>
                    <a:pt x="216408" y="400812"/>
                  </a:lnTo>
                  <a:lnTo>
                    <a:pt x="216408" y="406907"/>
                  </a:lnTo>
                  <a:lnTo>
                    <a:pt x="217085" y="406907"/>
                  </a:lnTo>
                  <a:close/>
                </a:path>
                <a:path w="1308735" h="857250">
                  <a:moveTo>
                    <a:pt x="222503" y="455675"/>
                  </a:moveTo>
                  <a:lnTo>
                    <a:pt x="222503" y="406907"/>
                  </a:lnTo>
                  <a:lnTo>
                    <a:pt x="217085" y="406907"/>
                  </a:lnTo>
                  <a:lnTo>
                    <a:pt x="222503" y="455675"/>
                  </a:lnTo>
                  <a:close/>
                </a:path>
                <a:path w="1308735" h="857250">
                  <a:moveTo>
                    <a:pt x="1301496" y="393953"/>
                  </a:moveTo>
                  <a:lnTo>
                    <a:pt x="541020" y="393953"/>
                  </a:lnTo>
                  <a:lnTo>
                    <a:pt x="423111" y="857250"/>
                  </a:lnTo>
                  <a:lnTo>
                    <a:pt x="436454" y="857250"/>
                  </a:lnTo>
                  <a:lnTo>
                    <a:pt x="546354" y="426243"/>
                  </a:lnTo>
                  <a:lnTo>
                    <a:pt x="546354" y="406907"/>
                  </a:lnTo>
                  <a:lnTo>
                    <a:pt x="552450" y="402336"/>
                  </a:lnTo>
                  <a:lnTo>
                    <a:pt x="552450" y="406907"/>
                  </a:lnTo>
                  <a:lnTo>
                    <a:pt x="1295400" y="406907"/>
                  </a:lnTo>
                  <a:lnTo>
                    <a:pt x="1295400" y="400050"/>
                  </a:lnTo>
                  <a:lnTo>
                    <a:pt x="1301496" y="393953"/>
                  </a:lnTo>
                  <a:close/>
                </a:path>
                <a:path w="1308735" h="857250">
                  <a:moveTo>
                    <a:pt x="552450" y="402336"/>
                  </a:moveTo>
                  <a:lnTo>
                    <a:pt x="546354" y="406907"/>
                  </a:lnTo>
                  <a:lnTo>
                    <a:pt x="551284" y="406907"/>
                  </a:lnTo>
                  <a:lnTo>
                    <a:pt x="552450" y="402336"/>
                  </a:lnTo>
                  <a:close/>
                </a:path>
                <a:path w="1308735" h="857250">
                  <a:moveTo>
                    <a:pt x="551284" y="406907"/>
                  </a:moveTo>
                  <a:lnTo>
                    <a:pt x="546354" y="406907"/>
                  </a:lnTo>
                  <a:lnTo>
                    <a:pt x="546354" y="426243"/>
                  </a:lnTo>
                  <a:lnTo>
                    <a:pt x="551284" y="406907"/>
                  </a:lnTo>
                  <a:close/>
                </a:path>
                <a:path w="1308735" h="857250">
                  <a:moveTo>
                    <a:pt x="552450" y="406907"/>
                  </a:moveTo>
                  <a:lnTo>
                    <a:pt x="552450" y="402336"/>
                  </a:lnTo>
                  <a:lnTo>
                    <a:pt x="551284" y="406907"/>
                  </a:lnTo>
                  <a:lnTo>
                    <a:pt x="552450" y="406907"/>
                  </a:lnTo>
                  <a:close/>
                </a:path>
                <a:path w="1308735" h="857250">
                  <a:moveTo>
                    <a:pt x="1308354" y="406907"/>
                  </a:moveTo>
                  <a:lnTo>
                    <a:pt x="1308353" y="0"/>
                  </a:lnTo>
                  <a:lnTo>
                    <a:pt x="1295399" y="0"/>
                  </a:lnTo>
                  <a:lnTo>
                    <a:pt x="1295400" y="393953"/>
                  </a:lnTo>
                  <a:lnTo>
                    <a:pt x="1301496" y="393953"/>
                  </a:lnTo>
                  <a:lnTo>
                    <a:pt x="1301496" y="406907"/>
                  </a:lnTo>
                  <a:lnTo>
                    <a:pt x="1308354" y="406907"/>
                  </a:lnTo>
                  <a:close/>
                </a:path>
                <a:path w="1308735" h="857250">
                  <a:moveTo>
                    <a:pt x="1301496" y="406907"/>
                  </a:moveTo>
                  <a:lnTo>
                    <a:pt x="1301496" y="393953"/>
                  </a:lnTo>
                  <a:lnTo>
                    <a:pt x="1295400" y="400050"/>
                  </a:lnTo>
                  <a:lnTo>
                    <a:pt x="1295400" y="406907"/>
                  </a:lnTo>
                  <a:lnTo>
                    <a:pt x="1301496" y="406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24901" y="2429509"/>
            <a:ext cx="1319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Contention </a:t>
            </a:r>
            <a:r>
              <a:rPr sz="1200" spc="-40" dirty="0">
                <a:latin typeface="Trebuchet MS"/>
                <a:cs typeface="Trebuchet MS"/>
              </a:rPr>
              <a:t>free  </a:t>
            </a:r>
            <a:r>
              <a:rPr sz="1200" spc="-30" dirty="0">
                <a:latin typeface="Trebuchet MS"/>
                <a:cs typeface="Trebuchet MS"/>
              </a:rPr>
              <a:t>services </a:t>
            </a:r>
            <a:r>
              <a:rPr sz="1200" spc="-20" dirty="0">
                <a:latin typeface="Trebuchet MS"/>
                <a:cs typeface="Trebuchet MS"/>
              </a:rPr>
              <a:t>for </a:t>
            </a:r>
            <a:r>
              <a:rPr sz="1200" spc="-35" dirty="0">
                <a:latin typeface="Trebuchet MS"/>
                <a:cs typeface="Trebuchet MS"/>
              </a:rPr>
              <a:t>non‐  </a:t>
            </a:r>
            <a:r>
              <a:rPr sz="1200" spc="25" dirty="0">
                <a:latin typeface="Trebuchet MS"/>
                <a:cs typeface="Trebuchet MS"/>
              </a:rPr>
              <a:t>QoS</a:t>
            </a:r>
            <a:r>
              <a:rPr sz="1200" spc="-28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STAs </a:t>
            </a:r>
            <a:r>
              <a:rPr sz="1200" spc="-20" dirty="0">
                <a:latin typeface="Trebuchet MS"/>
                <a:cs typeface="Trebuchet MS"/>
              </a:rPr>
              <a:t>otherwise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03615" y="2978150"/>
            <a:ext cx="561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optional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02343" y="2920745"/>
            <a:ext cx="1232535" cy="857250"/>
            <a:chOff x="2902343" y="2920745"/>
            <a:chExt cx="1232535" cy="857250"/>
          </a:xfrm>
        </p:grpSpPr>
        <p:sp>
          <p:nvSpPr>
            <p:cNvPr id="21" name="object 21"/>
            <p:cNvSpPr/>
            <p:nvPr/>
          </p:nvSpPr>
          <p:spPr>
            <a:xfrm>
              <a:off x="2908439" y="2920745"/>
              <a:ext cx="1219200" cy="85725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02343" y="2920745"/>
              <a:ext cx="1232535" cy="857250"/>
            </a:xfrm>
            <a:custGeom>
              <a:avLst/>
              <a:gdLst/>
              <a:ahLst/>
              <a:cxnLst/>
              <a:rect l="l" t="t" r="r" b="b"/>
              <a:pathLst>
                <a:path w="1232535" h="857250">
                  <a:moveTo>
                    <a:pt x="12954" y="3939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406907"/>
                  </a:lnTo>
                  <a:lnTo>
                    <a:pt x="6096" y="406907"/>
                  </a:lnTo>
                  <a:lnTo>
                    <a:pt x="6096" y="393953"/>
                  </a:lnTo>
                  <a:lnTo>
                    <a:pt x="12954" y="393953"/>
                  </a:lnTo>
                  <a:close/>
                </a:path>
                <a:path w="1232535" h="857250">
                  <a:moveTo>
                    <a:pt x="217932" y="393953"/>
                  </a:moveTo>
                  <a:lnTo>
                    <a:pt x="6096" y="393953"/>
                  </a:lnTo>
                  <a:lnTo>
                    <a:pt x="12954" y="400050"/>
                  </a:lnTo>
                  <a:lnTo>
                    <a:pt x="12954" y="406907"/>
                  </a:lnTo>
                  <a:lnTo>
                    <a:pt x="200906" y="406907"/>
                  </a:lnTo>
                  <a:lnTo>
                    <a:pt x="203454" y="398525"/>
                  </a:lnTo>
                  <a:lnTo>
                    <a:pt x="209550" y="406907"/>
                  </a:lnTo>
                  <a:lnTo>
                    <a:pt x="209550" y="421565"/>
                  </a:lnTo>
                  <a:lnTo>
                    <a:pt x="217932" y="393953"/>
                  </a:lnTo>
                  <a:close/>
                </a:path>
                <a:path w="1232535" h="857250">
                  <a:moveTo>
                    <a:pt x="12954" y="406907"/>
                  </a:moveTo>
                  <a:lnTo>
                    <a:pt x="12954" y="400050"/>
                  </a:lnTo>
                  <a:lnTo>
                    <a:pt x="6096" y="393953"/>
                  </a:lnTo>
                  <a:lnTo>
                    <a:pt x="6096" y="406907"/>
                  </a:lnTo>
                  <a:lnTo>
                    <a:pt x="12954" y="406907"/>
                  </a:lnTo>
                  <a:close/>
                </a:path>
                <a:path w="1232535" h="857250">
                  <a:moveTo>
                    <a:pt x="209550" y="421565"/>
                  </a:moveTo>
                  <a:lnTo>
                    <a:pt x="209550" y="406907"/>
                  </a:lnTo>
                  <a:lnTo>
                    <a:pt x="200906" y="406907"/>
                  </a:lnTo>
                  <a:lnTo>
                    <a:pt x="64044" y="857250"/>
                  </a:lnTo>
                  <a:lnTo>
                    <a:pt x="77288" y="857250"/>
                  </a:lnTo>
                  <a:lnTo>
                    <a:pt x="209550" y="421565"/>
                  </a:lnTo>
                  <a:close/>
                </a:path>
                <a:path w="1232535" h="857250">
                  <a:moveTo>
                    <a:pt x="209550" y="406907"/>
                  </a:moveTo>
                  <a:lnTo>
                    <a:pt x="203454" y="398525"/>
                  </a:lnTo>
                  <a:lnTo>
                    <a:pt x="200906" y="406907"/>
                  </a:lnTo>
                  <a:lnTo>
                    <a:pt x="209550" y="406907"/>
                  </a:lnTo>
                  <a:close/>
                </a:path>
                <a:path w="1232535" h="857250">
                  <a:moveTo>
                    <a:pt x="1225296" y="393953"/>
                  </a:moveTo>
                  <a:lnTo>
                    <a:pt x="511301" y="393953"/>
                  </a:lnTo>
                  <a:lnTo>
                    <a:pt x="218574" y="857250"/>
                  </a:lnTo>
                  <a:lnTo>
                    <a:pt x="233332" y="857250"/>
                  </a:lnTo>
                  <a:lnTo>
                    <a:pt x="514350" y="412305"/>
                  </a:lnTo>
                  <a:lnTo>
                    <a:pt x="514350" y="406907"/>
                  </a:lnTo>
                  <a:lnTo>
                    <a:pt x="519684" y="403859"/>
                  </a:lnTo>
                  <a:lnTo>
                    <a:pt x="519684" y="406907"/>
                  </a:lnTo>
                  <a:lnTo>
                    <a:pt x="1219200" y="406907"/>
                  </a:lnTo>
                  <a:lnTo>
                    <a:pt x="1219200" y="400050"/>
                  </a:lnTo>
                  <a:lnTo>
                    <a:pt x="1225296" y="393953"/>
                  </a:lnTo>
                  <a:close/>
                </a:path>
                <a:path w="1232535" h="857250">
                  <a:moveTo>
                    <a:pt x="519684" y="403859"/>
                  </a:moveTo>
                  <a:lnTo>
                    <a:pt x="514350" y="406907"/>
                  </a:lnTo>
                  <a:lnTo>
                    <a:pt x="517758" y="406907"/>
                  </a:lnTo>
                  <a:lnTo>
                    <a:pt x="519684" y="403859"/>
                  </a:lnTo>
                  <a:close/>
                </a:path>
                <a:path w="1232535" h="857250">
                  <a:moveTo>
                    <a:pt x="517758" y="406907"/>
                  </a:moveTo>
                  <a:lnTo>
                    <a:pt x="514350" y="406907"/>
                  </a:lnTo>
                  <a:lnTo>
                    <a:pt x="514350" y="412305"/>
                  </a:lnTo>
                  <a:lnTo>
                    <a:pt x="517758" y="406907"/>
                  </a:lnTo>
                  <a:close/>
                </a:path>
                <a:path w="1232535" h="857250">
                  <a:moveTo>
                    <a:pt x="519684" y="406907"/>
                  </a:moveTo>
                  <a:lnTo>
                    <a:pt x="519684" y="403859"/>
                  </a:lnTo>
                  <a:lnTo>
                    <a:pt x="517758" y="406907"/>
                  </a:lnTo>
                  <a:lnTo>
                    <a:pt x="519684" y="406907"/>
                  </a:lnTo>
                  <a:close/>
                </a:path>
                <a:path w="1232535" h="857250">
                  <a:moveTo>
                    <a:pt x="1232153" y="406907"/>
                  </a:moveTo>
                  <a:lnTo>
                    <a:pt x="1232153" y="0"/>
                  </a:lnTo>
                  <a:lnTo>
                    <a:pt x="1219200" y="0"/>
                  </a:lnTo>
                  <a:lnTo>
                    <a:pt x="1219200" y="393953"/>
                  </a:lnTo>
                  <a:lnTo>
                    <a:pt x="1225296" y="393953"/>
                  </a:lnTo>
                  <a:lnTo>
                    <a:pt x="1225296" y="406907"/>
                  </a:lnTo>
                  <a:lnTo>
                    <a:pt x="1232153" y="406907"/>
                  </a:lnTo>
                  <a:close/>
                </a:path>
                <a:path w="1232535" h="857250">
                  <a:moveTo>
                    <a:pt x="1225296" y="406907"/>
                  </a:moveTo>
                  <a:lnTo>
                    <a:pt x="1225296" y="393953"/>
                  </a:lnTo>
                  <a:lnTo>
                    <a:pt x="1219200" y="400050"/>
                  </a:lnTo>
                  <a:lnTo>
                    <a:pt x="1219200" y="406907"/>
                  </a:lnTo>
                  <a:lnTo>
                    <a:pt x="1225296" y="406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53460" y="2429509"/>
            <a:ext cx="929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Required </a:t>
            </a:r>
            <a:r>
              <a:rPr sz="1200" spc="-20" dirty="0">
                <a:latin typeface="Trebuchet MS"/>
                <a:cs typeface="Trebuchet MS"/>
              </a:rPr>
              <a:t>for  </a:t>
            </a:r>
            <a:r>
              <a:rPr sz="1200" spc="-45" dirty="0">
                <a:latin typeface="Trebuchet MS"/>
                <a:cs typeface="Trebuchet MS"/>
              </a:rPr>
              <a:t>time</a:t>
            </a:r>
            <a:r>
              <a:rPr sz="1200" spc="-19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bounded </a:t>
            </a:r>
            <a:r>
              <a:rPr sz="1200" spc="-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sevices</a:t>
            </a:r>
            <a:r>
              <a:rPr sz="1200" spc="-13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with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2980" y="2978150"/>
            <a:ext cx="989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5" dirty="0">
                <a:latin typeface="Trebuchet MS"/>
                <a:cs typeface="Trebuchet MS"/>
              </a:rPr>
              <a:t>QoS</a:t>
            </a:r>
            <a:r>
              <a:rPr sz="1200" spc="-16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guarantee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197743" y="2920745"/>
            <a:ext cx="1232535" cy="857250"/>
            <a:chOff x="4197743" y="2920745"/>
            <a:chExt cx="1232535" cy="857250"/>
          </a:xfrm>
        </p:grpSpPr>
        <p:sp>
          <p:nvSpPr>
            <p:cNvPr id="26" name="object 26"/>
            <p:cNvSpPr/>
            <p:nvPr/>
          </p:nvSpPr>
          <p:spPr>
            <a:xfrm>
              <a:off x="4203839" y="2920745"/>
              <a:ext cx="1218437" cy="85725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97743" y="2920745"/>
              <a:ext cx="1232535" cy="857250"/>
            </a:xfrm>
            <a:custGeom>
              <a:avLst/>
              <a:gdLst/>
              <a:ahLst/>
              <a:cxnLst/>
              <a:rect l="l" t="t" r="r" b="b"/>
              <a:pathLst>
                <a:path w="1232535" h="857250">
                  <a:moveTo>
                    <a:pt x="12953" y="4701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483107"/>
                  </a:lnTo>
                  <a:lnTo>
                    <a:pt x="6096" y="483107"/>
                  </a:lnTo>
                  <a:lnTo>
                    <a:pt x="6096" y="470153"/>
                  </a:lnTo>
                  <a:lnTo>
                    <a:pt x="12953" y="470153"/>
                  </a:lnTo>
                  <a:close/>
                </a:path>
                <a:path w="1232535" h="857250">
                  <a:moveTo>
                    <a:pt x="217169" y="470153"/>
                  </a:moveTo>
                  <a:lnTo>
                    <a:pt x="6096" y="470153"/>
                  </a:lnTo>
                  <a:lnTo>
                    <a:pt x="12953" y="476250"/>
                  </a:lnTo>
                  <a:lnTo>
                    <a:pt x="12953" y="483107"/>
                  </a:lnTo>
                  <a:lnTo>
                    <a:pt x="201905" y="483107"/>
                  </a:lnTo>
                  <a:lnTo>
                    <a:pt x="203453" y="475488"/>
                  </a:lnTo>
                  <a:lnTo>
                    <a:pt x="209550" y="483107"/>
                  </a:lnTo>
                  <a:lnTo>
                    <a:pt x="209550" y="507803"/>
                  </a:lnTo>
                  <a:lnTo>
                    <a:pt x="217169" y="470153"/>
                  </a:lnTo>
                  <a:close/>
                </a:path>
                <a:path w="1232535" h="857250">
                  <a:moveTo>
                    <a:pt x="12953" y="483107"/>
                  </a:moveTo>
                  <a:lnTo>
                    <a:pt x="12953" y="476250"/>
                  </a:lnTo>
                  <a:lnTo>
                    <a:pt x="6096" y="470153"/>
                  </a:lnTo>
                  <a:lnTo>
                    <a:pt x="6096" y="483107"/>
                  </a:lnTo>
                  <a:lnTo>
                    <a:pt x="12953" y="483107"/>
                  </a:lnTo>
                  <a:close/>
                </a:path>
                <a:path w="1232535" h="857250">
                  <a:moveTo>
                    <a:pt x="209550" y="507803"/>
                  </a:moveTo>
                  <a:lnTo>
                    <a:pt x="209550" y="483107"/>
                  </a:lnTo>
                  <a:lnTo>
                    <a:pt x="201905" y="483107"/>
                  </a:lnTo>
                  <a:lnTo>
                    <a:pt x="125882" y="857250"/>
                  </a:lnTo>
                  <a:lnTo>
                    <a:pt x="138824" y="857250"/>
                  </a:lnTo>
                  <a:lnTo>
                    <a:pt x="209550" y="507803"/>
                  </a:lnTo>
                  <a:close/>
                </a:path>
                <a:path w="1232535" h="857250">
                  <a:moveTo>
                    <a:pt x="209550" y="483107"/>
                  </a:moveTo>
                  <a:lnTo>
                    <a:pt x="203453" y="475488"/>
                  </a:lnTo>
                  <a:lnTo>
                    <a:pt x="201905" y="483107"/>
                  </a:lnTo>
                  <a:lnTo>
                    <a:pt x="209550" y="483107"/>
                  </a:lnTo>
                  <a:close/>
                </a:path>
                <a:path w="1232535" h="857250">
                  <a:moveTo>
                    <a:pt x="1225296" y="470153"/>
                  </a:moveTo>
                  <a:lnTo>
                    <a:pt x="510539" y="470153"/>
                  </a:lnTo>
                  <a:lnTo>
                    <a:pt x="288165" y="857250"/>
                  </a:lnTo>
                  <a:lnTo>
                    <a:pt x="302993" y="857250"/>
                  </a:lnTo>
                  <a:lnTo>
                    <a:pt x="514350" y="489344"/>
                  </a:lnTo>
                  <a:lnTo>
                    <a:pt x="514350" y="483107"/>
                  </a:lnTo>
                  <a:lnTo>
                    <a:pt x="519684" y="480059"/>
                  </a:lnTo>
                  <a:lnTo>
                    <a:pt x="519684" y="483107"/>
                  </a:lnTo>
                  <a:lnTo>
                    <a:pt x="1219200" y="483107"/>
                  </a:lnTo>
                  <a:lnTo>
                    <a:pt x="1219200" y="476250"/>
                  </a:lnTo>
                  <a:lnTo>
                    <a:pt x="1225296" y="470153"/>
                  </a:lnTo>
                  <a:close/>
                </a:path>
                <a:path w="1232535" h="857250">
                  <a:moveTo>
                    <a:pt x="519684" y="480059"/>
                  </a:moveTo>
                  <a:lnTo>
                    <a:pt x="514350" y="483107"/>
                  </a:lnTo>
                  <a:lnTo>
                    <a:pt x="517932" y="483107"/>
                  </a:lnTo>
                  <a:lnTo>
                    <a:pt x="519684" y="480059"/>
                  </a:lnTo>
                  <a:close/>
                </a:path>
                <a:path w="1232535" h="857250">
                  <a:moveTo>
                    <a:pt x="517932" y="483107"/>
                  </a:moveTo>
                  <a:lnTo>
                    <a:pt x="514350" y="483107"/>
                  </a:lnTo>
                  <a:lnTo>
                    <a:pt x="514350" y="489344"/>
                  </a:lnTo>
                  <a:lnTo>
                    <a:pt x="517932" y="483107"/>
                  </a:lnTo>
                  <a:close/>
                </a:path>
                <a:path w="1232535" h="857250">
                  <a:moveTo>
                    <a:pt x="519684" y="483107"/>
                  </a:moveTo>
                  <a:lnTo>
                    <a:pt x="519684" y="480059"/>
                  </a:lnTo>
                  <a:lnTo>
                    <a:pt x="517932" y="483107"/>
                  </a:lnTo>
                  <a:lnTo>
                    <a:pt x="519684" y="483107"/>
                  </a:lnTo>
                  <a:close/>
                </a:path>
                <a:path w="1232535" h="857250">
                  <a:moveTo>
                    <a:pt x="1232153" y="483107"/>
                  </a:moveTo>
                  <a:lnTo>
                    <a:pt x="1232153" y="0"/>
                  </a:lnTo>
                  <a:lnTo>
                    <a:pt x="1219200" y="0"/>
                  </a:lnTo>
                  <a:lnTo>
                    <a:pt x="1219200" y="470153"/>
                  </a:lnTo>
                  <a:lnTo>
                    <a:pt x="1225296" y="470153"/>
                  </a:lnTo>
                  <a:lnTo>
                    <a:pt x="1225296" y="483107"/>
                  </a:lnTo>
                  <a:lnTo>
                    <a:pt x="1232153" y="483107"/>
                  </a:lnTo>
                  <a:close/>
                </a:path>
                <a:path w="1232535" h="857250">
                  <a:moveTo>
                    <a:pt x="1225296" y="483107"/>
                  </a:moveTo>
                  <a:lnTo>
                    <a:pt x="1225296" y="470153"/>
                  </a:lnTo>
                  <a:lnTo>
                    <a:pt x="1219200" y="476250"/>
                  </a:lnTo>
                  <a:lnTo>
                    <a:pt x="1219200" y="483107"/>
                  </a:lnTo>
                  <a:lnTo>
                    <a:pt x="1225296" y="483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278757" y="2917190"/>
            <a:ext cx="1069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marR="5080" indent="-26543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latin typeface="Trebuchet MS"/>
                <a:cs typeface="Trebuchet MS"/>
              </a:rPr>
              <a:t>prioritiezed</a:t>
            </a:r>
            <a:r>
              <a:rPr sz="1200" spc="-185" dirty="0">
                <a:latin typeface="Trebuchet MS"/>
                <a:cs typeface="Trebuchet MS"/>
              </a:rPr>
              <a:t> </a:t>
            </a:r>
            <a:r>
              <a:rPr sz="1200" spc="25" dirty="0">
                <a:latin typeface="Trebuchet MS"/>
                <a:cs typeface="Trebuchet MS"/>
              </a:rPr>
              <a:t>QoS  </a:t>
            </a:r>
            <a:r>
              <a:rPr sz="1200" spc="-30" dirty="0">
                <a:latin typeface="Trebuchet MS"/>
                <a:cs typeface="Trebuchet MS"/>
              </a:rPr>
              <a:t>services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530743" y="3467100"/>
            <a:ext cx="3061335" cy="311150"/>
          </a:xfrm>
          <a:custGeom>
            <a:avLst/>
            <a:gdLst/>
            <a:ahLst/>
            <a:cxnLst/>
            <a:rect l="l" t="t" r="r" b="b"/>
            <a:pathLst>
              <a:path w="3061335" h="311150">
                <a:moveTo>
                  <a:pt x="3060954" y="310896"/>
                </a:moveTo>
                <a:lnTo>
                  <a:pt x="3060954" y="0"/>
                </a:lnTo>
                <a:lnTo>
                  <a:pt x="0" y="0"/>
                </a:lnTo>
                <a:lnTo>
                  <a:pt x="0" y="310896"/>
                </a:lnTo>
                <a:lnTo>
                  <a:pt x="6095" y="310896"/>
                </a:lnTo>
                <a:lnTo>
                  <a:pt x="6095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3048000" y="12953"/>
                </a:lnTo>
                <a:lnTo>
                  <a:pt x="3048000" y="6096"/>
                </a:lnTo>
                <a:lnTo>
                  <a:pt x="3054096" y="12953"/>
                </a:lnTo>
                <a:lnTo>
                  <a:pt x="3054096" y="310896"/>
                </a:lnTo>
                <a:lnTo>
                  <a:pt x="3060954" y="310896"/>
                </a:lnTo>
                <a:close/>
              </a:path>
              <a:path w="3061335" h="311150">
                <a:moveTo>
                  <a:pt x="12953" y="12953"/>
                </a:moveTo>
                <a:lnTo>
                  <a:pt x="12953" y="6096"/>
                </a:lnTo>
                <a:lnTo>
                  <a:pt x="6095" y="12953"/>
                </a:lnTo>
                <a:lnTo>
                  <a:pt x="12953" y="12953"/>
                </a:lnTo>
                <a:close/>
              </a:path>
              <a:path w="3061335" h="311150">
                <a:moveTo>
                  <a:pt x="12953" y="310896"/>
                </a:moveTo>
                <a:lnTo>
                  <a:pt x="12953" y="12953"/>
                </a:lnTo>
                <a:lnTo>
                  <a:pt x="6095" y="12953"/>
                </a:lnTo>
                <a:lnTo>
                  <a:pt x="6095" y="310896"/>
                </a:lnTo>
                <a:lnTo>
                  <a:pt x="12953" y="310896"/>
                </a:lnTo>
                <a:close/>
              </a:path>
              <a:path w="3061335" h="311150">
                <a:moveTo>
                  <a:pt x="3054096" y="12953"/>
                </a:moveTo>
                <a:lnTo>
                  <a:pt x="3048000" y="6096"/>
                </a:lnTo>
                <a:lnTo>
                  <a:pt x="3048000" y="12953"/>
                </a:lnTo>
                <a:lnTo>
                  <a:pt x="3054096" y="12953"/>
                </a:lnTo>
                <a:close/>
              </a:path>
              <a:path w="3061335" h="311150">
                <a:moveTo>
                  <a:pt x="3054096" y="310896"/>
                </a:moveTo>
                <a:lnTo>
                  <a:pt x="3054096" y="12953"/>
                </a:lnTo>
                <a:lnTo>
                  <a:pt x="3048000" y="12953"/>
                </a:lnTo>
                <a:lnTo>
                  <a:pt x="3048000" y="310896"/>
                </a:lnTo>
                <a:lnTo>
                  <a:pt x="3054096" y="310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591944" y="3494023"/>
            <a:ext cx="29400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latin typeface="Trebuchet MS"/>
                <a:cs typeface="Trebuchet MS"/>
              </a:rPr>
              <a:t>Hybrid </a:t>
            </a:r>
            <a:r>
              <a:rPr sz="1500" b="1" spc="-55" dirty="0">
                <a:latin typeface="Trebuchet MS"/>
                <a:cs typeface="Trebuchet MS"/>
              </a:rPr>
              <a:t>Coordination </a:t>
            </a:r>
            <a:r>
              <a:rPr sz="1500" b="1" spc="-75" dirty="0">
                <a:latin typeface="Trebuchet MS"/>
                <a:cs typeface="Trebuchet MS"/>
              </a:rPr>
              <a:t>Function</a:t>
            </a:r>
            <a:r>
              <a:rPr sz="1500" b="1" spc="-290" dirty="0">
                <a:latin typeface="Trebuchet MS"/>
                <a:cs typeface="Trebuchet MS"/>
              </a:rPr>
              <a:t> </a:t>
            </a:r>
            <a:r>
              <a:rPr sz="1500" b="1" spc="-70" dirty="0">
                <a:latin typeface="Trebuchet MS"/>
                <a:cs typeface="Trebuchet MS"/>
              </a:rPr>
              <a:t>(HCF)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97066" y="3117595"/>
            <a:ext cx="277939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100" dirty="0">
                <a:latin typeface="Trebuchet MS"/>
                <a:cs typeface="Trebuchet MS"/>
              </a:rPr>
              <a:t>architecture </a:t>
            </a:r>
            <a:r>
              <a:rPr sz="2800" spc="-105" dirty="0">
                <a:latin typeface="Trebuchet MS"/>
                <a:cs typeface="Trebuchet MS"/>
              </a:rPr>
              <a:t>in</a:t>
            </a:r>
            <a:r>
              <a:rPr sz="2800" spc="-48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  </a:t>
            </a:r>
            <a:r>
              <a:rPr sz="2800" spc="-55" dirty="0">
                <a:latin typeface="Trebuchet MS"/>
                <a:cs typeface="Trebuchet MS"/>
              </a:rPr>
              <a:t>context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480" dirty="0">
                <a:latin typeface="Trebuchet MS"/>
                <a:cs typeface="Trebuchet MS"/>
              </a:rPr>
              <a:t> </a:t>
            </a:r>
            <a:r>
              <a:rPr sz="2800" spc="-240" dirty="0">
                <a:latin typeface="Trebuchet MS"/>
                <a:cs typeface="Trebuchet MS"/>
              </a:rPr>
              <a:t>802.11.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06943" y="4019550"/>
            <a:ext cx="1003935" cy="615950"/>
          </a:xfrm>
          <a:custGeom>
            <a:avLst/>
            <a:gdLst/>
            <a:ahLst/>
            <a:cxnLst/>
            <a:rect l="l" t="t" r="r" b="b"/>
            <a:pathLst>
              <a:path w="1003935" h="615950">
                <a:moveTo>
                  <a:pt x="12954" y="615696"/>
                </a:moveTo>
                <a:lnTo>
                  <a:pt x="12954" y="584454"/>
                </a:lnTo>
                <a:lnTo>
                  <a:pt x="0" y="584454"/>
                </a:lnTo>
                <a:lnTo>
                  <a:pt x="0" y="615696"/>
                </a:lnTo>
                <a:lnTo>
                  <a:pt x="12954" y="615696"/>
                </a:lnTo>
                <a:close/>
              </a:path>
              <a:path w="1003935" h="615950">
                <a:moveTo>
                  <a:pt x="12954" y="546353"/>
                </a:moveTo>
                <a:lnTo>
                  <a:pt x="12954" y="495300"/>
                </a:lnTo>
                <a:lnTo>
                  <a:pt x="0" y="495300"/>
                </a:lnTo>
                <a:lnTo>
                  <a:pt x="0" y="546353"/>
                </a:lnTo>
                <a:lnTo>
                  <a:pt x="12954" y="546353"/>
                </a:lnTo>
                <a:close/>
              </a:path>
              <a:path w="1003935" h="615950">
                <a:moveTo>
                  <a:pt x="12954" y="457200"/>
                </a:moveTo>
                <a:lnTo>
                  <a:pt x="12954" y="406146"/>
                </a:lnTo>
                <a:lnTo>
                  <a:pt x="0" y="406146"/>
                </a:lnTo>
                <a:lnTo>
                  <a:pt x="0" y="457200"/>
                </a:lnTo>
                <a:lnTo>
                  <a:pt x="12954" y="457200"/>
                </a:lnTo>
                <a:close/>
              </a:path>
              <a:path w="1003935" h="615950">
                <a:moveTo>
                  <a:pt x="12953" y="368046"/>
                </a:moveTo>
                <a:lnTo>
                  <a:pt x="12953" y="317754"/>
                </a:lnTo>
                <a:lnTo>
                  <a:pt x="0" y="317754"/>
                </a:lnTo>
                <a:lnTo>
                  <a:pt x="0" y="368046"/>
                </a:lnTo>
                <a:lnTo>
                  <a:pt x="12953" y="368046"/>
                </a:lnTo>
                <a:close/>
              </a:path>
              <a:path w="1003935" h="615950">
                <a:moveTo>
                  <a:pt x="12953" y="279653"/>
                </a:moveTo>
                <a:lnTo>
                  <a:pt x="12953" y="228600"/>
                </a:lnTo>
                <a:lnTo>
                  <a:pt x="0" y="228600"/>
                </a:lnTo>
                <a:lnTo>
                  <a:pt x="0" y="279653"/>
                </a:lnTo>
                <a:lnTo>
                  <a:pt x="12953" y="279653"/>
                </a:lnTo>
                <a:close/>
              </a:path>
              <a:path w="1003935" h="615950">
                <a:moveTo>
                  <a:pt x="12953" y="190500"/>
                </a:moveTo>
                <a:lnTo>
                  <a:pt x="12953" y="139446"/>
                </a:lnTo>
                <a:lnTo>
                  <a:pt x="0" y="139446"/>
                </a:lnTo>
                <a:lnTo>
                  <a:pt x="0" y="190500"/>
                </a:lnTo>
                <a:lnTo>
                  <a:pt x="12953" y="190500"/>
                </a:lnTo>
                <a:close/>
              </a:path>
              <a:path w="1003935" h="615950">
                <a:moveTo>
                  <a:pt x="12953" y="101346"/>
                </a:moveTo>
                <a:lnTo>
                  <a:pt x="12953" y="51054"/>
                </a:lnTo>
                <a:lnTo>
                  <a:pt x="0" y="51054"/>
                </a:lnTo>
                <a:lnTo>
                  <a:pt x="0" y="101346"/>
                </a:lnTo>
                <a:lnTo>
                  <a:pt x="12953" y="101346"/>
                </a:lnTo>
                <a:close/>
              </a:path>
              <a:path w="1003935" h="615950">
                <a:moveTo>
                  <a:pt x="51053" y="12953"/>
                </a:moveTo>
                <a:lnTo>
                  <a:pt x="51053" y="0"/>
                </a:lnTo>
                <a:lnTo>
                  <a:pt x="0" y="0"/>
                </a:lnTo>
                <a:lnTo>
                  <a:pt x="0" y="12953"/>
                </a:lnTo>
                <a:lnTo>
                  <a:pt x="6095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51053" y="12953"/>
                </a:lnTo>
                <a:close/>
              </a:path>
              <a:path w="1003935" h="615950">
                <a:moveTo>
                  <a:pt x="12953" y="12953"/>
                </a:moveTo>
                <a:lnTo>
                  <a:pt x="12953" y="6096"/>
                </a:lnTo>
                <a:lnTo>
                  <a:pt x="6095" y="12953"/>
                </a:lnTo>
                <a:lnTo>
                  <a:pt x="12953" y="12953"/>
                </a:lnTo>
                <a:close/>
              </a:path>
              <a:path w="1003935" h="615950">
                <a:moveTo>
                  <a:pt x="139446" y="12953"/>
                </a:moveTo>
                <a:lnTo>
                  <a:pt x="139446" y="0"/>
                </a:lnTo>
                <a:lnTo>
                  <a:pt x="89153" y="0"/>
                </a:lnTo>
                <a:lnTo>
                  <a:pt x="89153" y="12953"/>
                </a:lnTo>
                <a:lnTo>
                  <a:pt x="139446" y="12953"/>
                </a:lnTo>
                <a:close/>
              </a:path>
              <a:path w="1003935" h="615950">
                <a:moveTo>
                  <a:pt x="228600" y="12953"/>
                </a:moveTo>
                <a:lnTo>
                  <a:pt x="228600" y="0"/>
                </a:lnTo>
                <a:lnTo>
                  <a:pt x="177546" y="0"/>
                </a:lnTo>
                <a:lnTo>
                  <a:pt x="177546" y="12953"/>
                </a:lnTo>
                <a:lnTo>
                  <a:pt x="228600" y="12953"/>
                </a:lnTo>
                <a:close/>
              </a:path>
              <a:path w="1003935" h="615950">
                <a:moveTo>
                  <a:pt x="317754" y="12953"/>
                </a:moveTo>
                <a:lnTo>
                  <a:pt x="317754" y="0"/>
                </a:lnTo>
                <a:lnTo>
                  <a:pt x="266700" y="0"/>
                </a:lnTo>
                <a:lnTo>
                  <a:pt x="266700" y="12953"/>
                </a:lnTo>
                <a:lnTo>
                  <a:pt x="317754" y="12953"/>
                </a:lnTo>
                <a:close/>
              </a:path>
              <a:path w="1003935" h="615950">
                <a:moveTo>
                  <a:pt x="406146" y="12953"/>
                </a:moveTo>
                <a:lnTo>
                  <a:pt x="406146" y="0"/>
                </a:lnTo>
                <a:lnTo>
                  <a:pt x="355853" y="0"/>
                </a:lnTo>
                <a:lnTo>
                  <a:pt x="355853" y="12953"/>
                </a:lnTo>
                <a:lnTo>
                  <a:pt x="406146" y="12953"/>
                </a:lnTo>
                <a:close/>
              </a:path>
              <a:path w="1003935" h="615950">
                <a:moveTo>
                  <a:pt x="495300" y="12953"/>
                </a:moveTo>
                <a:lnTo>
                  <a:pt x="495300" y="0"/>
                </a:lnTo>
                <a:lnTo>
                  <a:pt x="444246" y="0"/>
                </a:lnTo>
                <a:lnTo>
                  <a:pt x="444246" y="12953"/>
                </a:lnTo>
                <a:lnTo>
                  <a:pt x="495300" y="12953"/>
                </a:lnTo>
                <a:close/>
              </a:path>
              <a:path w="1003935" h="615950">
                <a:moveTo>
                  <a:pt x="584454" y="12953"/>
                </a:moveTo>
                <a:lnTo>
                  <a:pt x="584454" y="0"/>
                </a:lnTo>
                <a:lnTo>
                  <a:pt x="533400" y="0"/>
                </a:lnTo>
                <a:lnTo>
                  <a:pt x="533400" y="12953"/>
                </a:lnTo>
                <a:lnTo>
                  <a:pt x="584454" y="12953"/>
                </a:lnTo>
                <a:close/>
              </a:path>
              <a:path w="1003935" h="615950">
                <a:moveTo>
                  <a:pt x="672846" y="12953"/>
                </a:moveTo>
                <a:lnTo>
                  <a:pt x="672846" y="0"/>
                </a:lnTo>
                <a:lnTo>
                  <a:pt x="622554" y="0"/>
                </a:lnTo>
                <a:lnTo>
                  <a:pt x="622554" y="12953"/>
                </a:lnTo>
                <a:lnTo>
                  <a:pt x="672846" y="12953"/>
                </a:lnTo>
                <a:close/>
              </a:path>
              <a:path w="1003935" h="615950">
                <a:moveTo>
                  <a:pt x="762000" y="12953"/>
                </a:moveTo>
                <a:lnTo>
                  <a:pt x="762000" y="0"/>
                </a:lnTo>
                <a:lnTo>
                  <a:pt x="710946" y="0"/>
                </a:lnTo>
                <a:lnTo>
                  <a:pt x="710946" y="12953"/>
                </a:lnTo>
                <a:lnTo>
                  <a:pt x="762000" y="12953"/>
                </a:lnTo>
                <a:close/>
              </a:path>
              <a:path w="1003935" h="615950">
                <a:moveTo>
                  <a:pt x="851154" y="12953"/>
                </a:moveTo>
                <a:lnTo>
                  <a:pt x="851154" y="0"/>
                </a:lnTo>
                <a:lnTo>
                  <a:pt x="800100" y="0"/>
                </a:lnTo>
                <a:lnTo>
                  <a:pt x="800100" y="12953"/>
                </a:lnTo>
                <a:lnTo>
                  <a:pt x="851154" y="12953"/>
                </a:lnTo>
                <a:close/>
              </a:path>
              <a:path w="1003935" h="615950">
                <a:moveTo>
                  <a:pt x="939546" y="12953"/>
                </a:moveTo>
                <a:lnTo>
                  <a:pt x="939546" y="0"/>
                </a:lnTo>
                <a:lnTo>
                  <a:pt x="889254" y="0"/>
                </a:lnTo>
                <a:lnTo>
                  <a:pt x="889254" y="12953"/>
                </a:lnTo>
                <a:lnTo>
                  <a:pt x="939546" y="12953"/>
                </a:lnTo>
                <a:close/>
              </a:path>
              <a:path w="1003935" h="615950">
                <a:moveTo>
                  <a:pt x="1003554" y="38100"/>
                </a:moveTo>
                <a:lnTo>
                  <a:pt x="1003554" y="0"/>
                </a:lnTo>
                <a:lnTo>
                  <a:pt x="977646" y="0"/>
                </a:lnTo>
                <a:lnTo>
                  <a:pt x="977646" y="12953"/>
                </a:lnTo>
                <a:lnTo>
                  <a:pt x="990600" y="12953"/>
                </a:lnTo>
                <a:lnTo>
                  <a:pt x="990600" y="6096"/>
                </a:lnTo>
                <a:lnTo>
                  <a:pt x="996696" y="12953"/>
                </a:lnTo>
                <a:lnTo>
                  <a:pt x="996696" y="38100"/>
                </a:lnTo>
                <a:lnTo>
                  <a:pt x="1003554" y="38100"/>
                </a:lnTo>
                <a:close/>
              </a:path>
              <a:path w="1003935" h="615950">
                <a:moveTo>
                  <a:pt x="996696" y="12953"/>
                </a:moveTo>
                <a:lnTo>
                  <a:pt x="990600" y="6096"/>
                </a:lnTo>
                <a:lnTo>
                  <a:pt x="990600" y="12953"/>
                </a:lnTo>
                <a:lnTo>
                  <a:pt x="996696" y="12953"/>
                </a:lnTo>
                <a:close/>
              </a:path>
              <a:path w="1003935" h="615950">
                <a:moveTo>
                  <a:pt x="996696" y="38100"/>
                </a:moveTo>
                <a:lnTo>
                  <a:pt x="996696" y="12953"/>
                </a:lnTo>
                <a:lnTo>
                  <a:pt x="990600" y="12953"/>
                </a:lnTo>
                <a:lnTo>
                  <a:pt x="990600" y="38100"/>
                </a:lnTo>
                <a:lnTo>
                  <a:pt x="996696" y="38100"/>
                </a:lnTo>
                <a:close/>
              </a:path>
              <a:path w="1003935" h="615950">
                <a:moveTo>
                  <a:pt x="1003554" y="127253"/>
                </a:moveTo>
                <a:lnTo>
                  <a:pt x="1003554" y="76200"/>
                </a:lnTo>
                <a:lnTo>
                  <a:pt x="990599" y="76200"/>
                </a:lnTo>
                <a:lnTo>
                  <a:pt x="990599" y="127253"/>
                </a:lnTo>
                <a:lnTo>
                  <a:pt x="1003554" y="127253"/>
                </a:lnTo>
                <a:close/>
              </a:path>
              <a:path w="1003935" h="615950">
                <a:moveTo>
                  <a:pt x="1003554" y="215645"/>
                </a:moveTo>
                <a:lnTo>
                  <a:pt x="1003554" y="165353"/>
                </a:lnTo>
                <a:lnTo>
                  <a:pt x="990599" y="165353"/>
                </a:lnTo>
                <a:lnTo>
                  <a:pt x="990599" y="215645"/>
                </a:lnTo>
                <a:lnTo>
                  <a:pt x="1003554" y="215645"/>
                </a:lnTo>
                <a:close/>
              </a:path>
              <a:path w="1003935" h="615950">
                <a:moveTo>
                  <a:pt x="1003554" y="304800"/>
                </a:moveTo>
                <a:lnTo>
                  <a:pt x="1003554" y="253746"/>
                </a:lnTo>
                <a:lnTo>
                  <a:pt x="990599" y="253746"/>
                </a:lnTo>
                <a:lnTo>
                  <a:pt x="990599" y="304800"/>
                </a:lnTo>
                <a:lnTo>
                  <a:pt x="1003554" y="304800"/>
                </a:lnTo>
                <a:close/>
              </a:path>
              <a:path w="1003935" h="615950">
                <a:moveTo>
                  <a:pt x="1003554" y="393953"/>
                </a:moveTo>
                <a:lnTo>
                  <a:pt x="1003554" y="342900"/>
                </a:lnTo>
                <a:lnTo>
                  <a:pt x="990599" y="342900"/>
                </a:lnTo>
                <a:lnTo>
                  <a:pt x="990599" y="393953"/>
                </a:lnTo>
                <a:lnTo>
                  <a:pt x="1003554" y="393953"/>
                </a:lnTo>
                <a:close/>
              </a:path>
              <a:path w="1003935" h="615950">
                <a:moveTo>
                  <a:pt x="1003554" y="482345"/>
                </a:moveTo>
                <a:lnTo>
                  <a:pt x="1003554" y="432053"/>
                </a:lnTo>
                <a:lnTo>
                  <a:pt x="990599" y="432053"/>
                </a:lnTo>
                <a:lnTo>
                  <a:pt x="990599" y="482345"/>
                </a:lnTo>
                <a:lnTo>
                  <a:pt x="1003554" y="482345"/>
                </a:lnTo>
                <a:close/>
              </a:path>
              <a:path w="1003935" h="615950">
                <a:moveTo>
                  <a:pt x="1003554" y="571500"/>
                </a:moveTo>
                <a:lnTo>
                  <a:pt x="1003554" y="520446"/>
                </a:lnTo>
                <a:lnTo>
                  <a:pt x="990599" y="520446"/>
                </a:lnTo>
                <a:lnTo>
                  <a:pt x="990599" y="571500"/>
                </a:lnTo>
                <a:lnTo>
                  <a:pt x="1003554" y="571500"/>
                </a:lnTo>
                <a:close/>
              </a:path>
              <a:path w="1003935" h="615950">
                <a:moveTo>
                  <a:pt x="1003554" y="615696"/>
                </a:moveTo>
                <a:lnTo>
                  <a:pt x="1003554" y="609600"/>
                </a:lnTo>
                <a:lnTo>
                  <a:pt x="990599" y="609600"/>
                </a:lnTo>
                <a:lnTo>
                  <a:pt x="990599" y="615696"/>
                </a:lnTo>
                <a:lnTo>
                  <a:pt x="1003554" y="615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582798" y="4047998"/>
            <a:ext cx="105156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35560" algn="ctr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Trebuchet MS"/>
                <a:cs typeface="Trebuchet MS"/>
              </a:rPr>
              <a:t>Point  </a:t>
            </a:r>
            <a:r>
              <a:rPr sz="1300" spc="-35" dirty="0">
                <a:latin typeface="Trebuchet MS"/>
                <a:cs typeface="Trebuchet MS"/>
              </a:rPr>
              <a:t>Coordination  Function</a:t>
            </a:r>
            <a:r>
              <a:rPr sz="1300" spc="-16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(PCF)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673743" y="4019550"/>
            <a:ext cx="775335" cy="615950"/>
          </a:xfrm>
          <a:custGeom>
            <a:avLst/>
            <a:gdLst/>
            <a:ahLst/>
            <a:cxnLst/>
            <a:rect l="l" t="t" r="r" b="b"/>
            <a:pathLst>
              <a:path w="775335" h="615950">
                <a:moveTo>
                  <a:pt x="774953" y="615696"/>
                </a:moveTo>
                <a:lnTo>
                  <a:pt x="774953" y="0"/>
                </a:lnTo>
                <a:lnTo>
                  <a:pt x="0" y="0"/>
                </a:lnTo>
                <a:lnTo>
                  <a:pt x="0" y="615696"/>
                </a:lnTo>
                <a:lnTo>
                  <a:pt x="6095" y="615696"/>
                </a:lnTo>
                <a:lnTo>
                  <a:pt x="6095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761999" y="12953"/>
                </a:lnTo>
                <a:lnTo>
                  <a:pt x="761999" y="6096"/>
                </a:lnTo>
                <a:lnTo>
                  <a:pt x="768095" y="12953"/>
                </a:lnTo>
                <a:lnTo>
                  <a:pt x="768095" y="615696"/>
                </a:lnTo>
                <a:lnTo>
                  <a:pt x="774953" y="615696"/>
                </a:lnTo>
                <a:close/>
              </a:path>
              <a:path w="775335" h="615950">
                <a:moveTo>
                  <a:pt x="12953" y="12953"/>
                </a:moveTo>
                <a:lnTo>
                  <a:pt x="12953" y="6096"/>
                </a:lnTo>
                <a:lnTo>
                  <a:pt x="6095" y="12953"/>
                </a:lnTo>
                <a:lnTo>
                  <a:pt x="12953" y="12953"/>
                </a:lnTo>
                <a:close/>
              </a:path>
              <a:path w="775335" h="615950">
                <a:moveTo>
                  <a:pt x="12953" y="615696"/>
                </a:moveTo>
                <a:lnTo>
                  <a:pt x="12953" y="12953"/>
                </a:lnTo>
                <a:lnTo>
                  <a:pt x="6095" y="12953"/>
                </a:lnTo>
                <a:lnTo>
                  <a:pt x="6095" y="615696"/>
                </a:lnTo>
                <a:lnTo>
                  <a:pt x="12953" y="615696"/>
                </a:lnTo>
                <a:close/>
              </a:path>
              <a:path w="775335" h="615950">
                <a:moveTo>
                  <a:pt x="768095" y="12953"/>
                </a:moveTo>
                <a:lnTo>
                  <a:pt x="761999" y="6096"/>
                </a:lnTo>
                <a:lnTo>
                  <a:pt x="761999" y="12953"/>
                </a:lnTo>
                <a:lnTo>
                  <a:pt x="768095" y="12953"/>
                </a:lnTo>
                <a:close/>
              </a:path>
              <a:path w="775335" h="615950">
                <a:moveTo>
                  <a:pt x="768095" y="615696"/>
                </a:moveTo>
                <a:lnTo>
                  <a:pt x="768095" y="12953"/>
                </a:lnTo>
                <a:lnTo>
                  <a:pt x="761999" y="12953"/>
                </a:lnTo>
                <a:lnTo>
                  <a:pt x="761999" y="615696"/>
                </a:lnTo>
                <a:lnTo>
                  <a:pt x="768095" y="615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88462" y="4047998"/>
            <a:ext cx="74549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spc="-45" dirty="0">
                <a:latin typeface="Trebuchet MS"/>
                <a:cs typeface="Trebuchet MS"/>
              </a:rPr>
              <a:t>HCF</a:t>
            </a:r>
            <a:endParaRPr sz="130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</a:pPr>
            <a:r>
              <a:rPr sz="1300" spc="-30" dirty="0">
                <a:latin typeface="Trebuchet MS"/>
                <a:cs typeface="Trebuchet MS"/>
              </a:rPr>
              <a:t>controlled  </a:t>
            </a:r>
            <a:r>
              <a:rPr sz="1300" spc="-35" dirty="0">
                <a:latin typeface="Trebuchet MS"/>
                <a:cs typeface="Trebuchet MS"/>
              </a:rPr>
              <a:t>access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11943" y="4019550"/>
            <a:ext cx="1003935" cy="615950"/>
          </a:xfrm>
          <a:custGeom>
            <a:avLst/>
            <a:gdLst/>
            <a:ahLst/>
            <a:cxnLst/>
            <a:rect l="l" t="t" r="r" b="b"/>
            <a:pathLst>
              <a:path w="1003935" h="615950">
                <a:moveTo>
                  <a:pt x="1003553" y="615696"/>
                </a:moveTo>
                <a:lnTo>
                  <a:pt x="1003553" y="0"/>
                </a:lnTo>
                <a:lnTo>
                  <a:pt x="0" y="0"/>
                </a:lnTo>
                <a:lnTo>
                  <a:pt x="0" y="615696"/>
                </a:lnTo>
                <a:lnTo>
                  <a:pt x="6096" y="615696"/>
                </a:lnTo>
                <a:lnTo>
                  <a:pt x="6096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990600" y="12953"/>
                </a:lnTo>
                <a:lnTo>
                  <a:pt x="990600" y="6096"/>
                </a:lnTo>
                <a:lnTo>
                  <a:pt x="996696" y="12953"/>
                </a:lnTo>
                <a:lnTo>
                  <a:pt x="996696" y="615696"/>
                </a:lnTo>
                <a:lnTo>
                  <a:pt x="1003553" y="615696"/>
                </a:lnTo>
                <a:close/>
              </a:path>
              <a:path w="1003935" h="615950">
                <a:moveTo>
                  <a:pt x="12953" y="12953"/>
                </a:moveTo>
                <a:lnTo>
                  <a:pt x="12953" y="6096"/>
                </a:lnTo>
                <a:lnTo>
                  <a:pt x="6096" y="12953"/>
                </a:lnTo>
                <a:lnTo>
                  <a:pt x="12953" y="12953"/>
                </a:lnTo>
                <a:close/>
              </a:path>
              <a:path w="1003935" h="615950">
                <a:moveTo>
                  <a:pt x="12953" y="615696"/>
                </a:moveTo>
                <a:lnTo>
                  <a:pt x="12953" y="12953"/>
                </a:lnTo>
                <a:lnTo>
                  <a:pt x="6096" y="12953"/>
                </a:lnTo>
                <a:lnTo>
                  <a:pt x="6096" y="615696"/>
                </a:lnTo>
                <a:lnTo>
                  <a:pt x="12953" y="615696"/>
                </a:lnTo>
                <a:close/>
              </a:path>
              <a:path w="1003935" h="615950">
                <a:moveTo>
                  <a:pt x="996696" y="12953"/>
                </a:moveTo>
                <a:lnTo>
                  <a:pt x="990600" y="6096"/>
                </a:lnTo>
                <a:lnTo>
                  <a:pt x="990600" y="12953"/>
                </a:lnTo>
                <a:lnTo>
                  <a:pt x="996696" y="12953"/>
                </a:lnTo>
                <a:close/>
              </a:path>
              <a:path w="1003935" h="615950">
                <a:moveTo>
                  <a:pt x="996696" y="615696"/>
                </a:moveTo>
                <a:lnTo>
                  <a:pt x="996696" y="12953"/>
                </a:lnTo>
                <a:lnTo>
                  <a:pt x="990600" y="12953"/>
                </a:lnTo>
                <a:lnTo>
                  <a:pt x="990600" y="615696"/>
                </a:lnTo>
                <a:lnTo>
                  <a:pt x="996696" y="615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547223" y="4047998"/>
            <a:ext cx="932815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spc="-45" dirty="0">
                <a:latin typeface="Trebuchet MS"/>
                <a:cs typeface="Trebuchet MS"/>
              </a:rPr>
              <a:t>HCF</a:t>
            </a:r>
            <a:endParaRPr sz="130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00000"/>
              </a:lnSpc>
            </a:pPr>
            <a:r>
              <a:rPr sz="1300" spc="-45" dirty="0">
                <a:latin typeface="Trebuchet MS"/>
                <a:cs typeface="Trebuchet MS"/>
              </a:rPr>
              <a:t>contention‐  </a:t>
            </a:r>
            <a:r>
              <a:rPr sz="1300" spc="-20" dirty="0">
                <a:latin typeface="Trebuchet MS"/>
                <a:cs typeface="Trebuchet MS"/>
              </a:rPr>
              <a:t>based</a:t>
            </a:r>
            <a:r>
              <a:rPr sz="1300" spc="-18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access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654943" y="3777996"/>
            <a:ext cx="775335" cy="857250"/>
            <a:chOff x="4654943" y="3777996"/>
            <a:chExt cx="775335" cy="857250"/>
          </a:xfrm>
        </p:grpSpPr>
        <p:sp>
          <p:nvSpPr>
            <p:cNvPr id="39" name="object 39"/>
            <p:cNvSpPr/>
            <p:nvPr/>
          </p:nvSpPr>
          <p:spPr>
            <a:xfrm>
              <a:off x="4661039" y="3777996"/>
              <a:ext cx="762000" cy="8572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54943" y="3778008"/>
              <a:ext cx="775335" cy="857250"/>
            </a:xfrm>
            <a:custGeom>
              <a:avLst/>
              <a:gdLst/>
              <a:ahLst/>
              <a:cxnLst/>
              <a:rect l="l" t="t" r="r" b="b"/>
              <a:pathLst>
                <a:path w="775335" h="857250">
                  <a:moveTo>
                    <a:pt x="12954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954" y="857250"/>
                  </a:lnTo>
                  <a:lnTo>
                    <a:pt x="12954" y="0"/>
                  </a:lnTo>
                  <a:close/>
                </a:path>
                <a:path w="775335" h="857250">
                  <a:moveTo>
                    <a:pt x="774954" y="0"/>
                  </a:moveTo>
                  <a:lnTo>
                    <a:pt x="762000" y="0"/>
                  </a:lnTo>
                  <a:lnTo>
                    <a:pt x="762000" y="857250"/>
                  </a:lnTo>
                  <a:lnTo>
                    <a:pt x="774954" y="857250"/>
                  </a:lnTo>
                  <a:lnTo>
                    <a:pt x="774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751959" y="3648709"/>
            <a:ext cx="579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rebuchet MS"/>
                <a:cs typeface="Trebuchet MS"/>
              </a:rPr>
              <a:t>Used</a:t>
            </a:r>
            <a:r>
              <a:rPr sz="1200" spc="-170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for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74839" y="3777996"/>
            <a:ext cx="9144000" cy="1714500"/>
            <a:chOff x="774839" y="3777996"/>
            <a:chExt cx="9144000" cy="1714500"/>
          </a:xfrm>
        </p:grpSpPr>
        <p:sp>
          <p:nvSpPr>
            <p:cNvPr id="43" name="object 43"/>
            <p:cNvSpPr/>
            <p:nvPr/>
          </p:nvSpPr>
          <p:spPr>
            <a:xfrm>
              <a:off x="1804047" y="3777996"/>
              <a:ext cx="156485" cy="42748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97867" y="3777996"/>
              <a:ext cx="169545" cy="462915"/>
            </a:xfrm>
            <a:custGeom>
              <a:avLst/>
              <a:gdLst/>
              <a:ahLst/>
              <a:cxnLst/>
              <a:rect l="l" t="t" r="r" b="b"/>
              <a:pathLst>
                <a:path w="169544" h="462914">
                  <a:moveTo>
                    <a:pt x="56006" y="392860"/>
                  </a:moveTo>
                  <a:lnTo>
                    <a:pt x="12280" y="0"/>
                  </a:lnTo>
                  <a:lnTo>
                    <a:pt x="0" y="0"/>
                  </a:lnTo>
                  <a:lnTo>
                    <a:pt x="47582" y="428244"/>
                  </a:lnTo>
                  <a:lnTo>
                    <a:pt x="47582" y="425957"/>
                  </a:lnTo>
                  <a:lnTo>
                    <a:pt x="56006" y="392860"/>
                  </a:lnTo>
                  <a:close/>
                </a:path>
                <a:path w="169544" h="462914">
                  <a:moveTo>
                    <a:pt x="59774" y="426719"/>
                  </a:moveTo>
                  <a:lnTo>
                    <a:pt x="56006" y="392860"/>
                  </a:lnTo>
                  <a:lnTo>
                    <a:pt x="47582" y="425957"/>
                  </a:lnTo>
                  <a:lnTo>
                    <a:pt x="59774" y="426719"/>
                  </a:lnTo>
                  <a:close/>
                </a:path>
                <a:path w="169544" h="462914">
                  <a:moveTo>
                    <a:pt x="59774" y="429661"/>
                  </a:moveTo>
                  <a:lnTo>
                    <a:pt x="59774" y="426719"/>
                  </a:lnTo>
                  <a:lnTo>
                    <a:pt x="47582" y="425957"/>
                  </a:lnTo>
                  <a:lnTo>
                    <a:pt x="47582" y="428244"/>
                  </a:lnTo>
                  <a:lnTo>
                    <a:pt x="51392" y="462533"/>
                  </a:lnTo>
                  <a:lnTo>
                    <a:pt x="59774" y="429661"/>
                  </a:lnTo>
                  <a:close/>
                </a:path>
                <a:path w="169544" h="462914">
                  <a:moveTo>
                    <a:pt x="169331" y="0"/>
                  </a:moveTo>
                  <a:lnTo>
                    <a:pt x="155988" y="0"/>
                  </a:lnTo>
                  <a:lnTo>
                    <a:pt x="56006" y="392860"/>
                  </a:lnTo>
                  <a:lnTo>
                    <a:pt x="59774" y="426719"/>
                  </a:lnTo>
                  <a:lnTo>
                    <a:pt x="59774" y="429661"/>
                  </a:lnTo>
                  <a:lnTo>
                    <a:pt x="169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29191" y="3777996"/>
              <a:ext cx="298803" cy="47320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09379" y="3777996"/>
              <a:ext cx="326390" cy="516890"/>
            </a:xfrm>
            <a:custGeom>
              <a:avLst/>
              <a:gdLst/>
              <a:ahLst/>
              <a:cxnLst/>
              <a:rect l="l" t="t" r="r" b="b"/>
              <a:pathLst>
                <a:path w="326389" h="516889">
                  <a:moveTo>
                    <a:pt x="170252" y="0"/>
                  </a:moveTo>
                  <a:lnTo>
                    <a:pt x="157008" y="0"/>
                  </a:lnTo>
                  <a:lnTo>
                    <a:pt x="0" y="516636"/>
                  </a:lnTo>
                  <a:lnTo>
                    <a:pt x="14477" y="493712"/>
                  </a:lnTo>
                  <a:lnTo>
                    <a:pt x="14477" y="470153"/>
                  </a:lnTo>
                  <a:lnTo>
                    <a:pt x="39594" y="430401"/>
                  </a:lnTo>
                  <a:lnTo>
                    <a:pt x="170252" y="0"/>
                  </a:lnTo>
                  <a:close/>
                </a:path>
                <a:path w="326389" h="516889">
                  <a:moveTo>
                    <a:pt x="39594" y="430401"/>
                  </a:moveTo>
                  <a:lnTo>
                    <a:pt x="14477" y="470153"/>
                  </a:lnTo>
                  <a:lnTo>
                    <a:pt x="25907" y="475488"/>
                  </a:lnTo>
                  <a:lnTo>
                    <a:pt x="39594" y="430401"/>
                  </a:lnTo>
                  <a:close/>
                </a:path>
                <a:path w="326389" h="516889">
                  <a:moveTo>
                    <a:pt x="326296" y="0"/>
                  </a:moveTo>
                  <a:lnTo>
                    <a:pt x="311538" y="0"/>
                  </a:lnTo>
                  <a:lnTo>
                    <a:pt x="39594" y="430401"/>
                  </a:lnTo>
                  <a:lnTo>
                    <a:pt x="25907" y="475488"/>
                  </a:lnTo>
                  <a:lnTo>
                    <a:pt x="14477" y="470153"/>
                  </a:lnTo>
                  <a:lnTo>
                    <a:pt x="14477" y="493712"/>
                  </a:lnTo>
                  <a:lnTo>
                    <a:pt x="3262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40415" y="3777996"/>
              <a:ext cx="252903" cy="4404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30743" y="3778008"/>
              <a:ext cx="3061335" cy="857250"/>
            </a:xfrm>
            <a:custGeom>
              <a:avLst/>
              <a:gdLst/>
              <a:ahLst/>
              <a:cxnLst/>
              <a:rect l="l" t="t" r="r" b="b"/>
              <a:pathLst>
                <a:path w="3061335" h="857250">
                  <a:moveTo>
                    <a:pt x="12954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954" y="857250"/>
                  </a:lnTo>
                  <a:lnTo>
                    <a:pt x="12954" y="0"/>
                  </a:lnTo>
                  <a:close/>
                </a:path>
                <a:path w="3061335" h="857250">
                  <a:moveTo>
                    <a:pt x="2969984" y="0"/>
                  </a:moveTo>
                  <a:lnTo>
                    <a:pt x="2955163" y="0"/>
                  </a:lnTo>
                  <a:lnTo>
                    <a:pt x="2724581" y="401370"/>
                  </a:lnTo>
                  <a:lnTo>
                    <a:pt x="2805823" y="0"/>
                  </a:lnTo>
                  <a:lnTo>
                    <a:pt x="2792869" y="0"/>
                  </a:lnTo>
                  <a:lnTo>
                    <a:pt x="2695956" y="477012"/>
                  </a:lnTo>
                  <a:lnTo>
                    <a:pt x="2704338" y="462419"/>
                  </a:lnTo>
                  <a:lnTo>
                    <a:pt x="2716517" y="441198"/>
                  </a:lnTo>
                  <a:lnTo>
                    <a:pt x="2969984" y="0"/>
                  </a:lnTo>
                  <a:close/>
                </a:path>
                <a:path w="3061335" h="857250">
                  <a:moveTo>
                    <a:pt x="3060954" y="0"/>
                  </a:moveTo>
                  <a:lnTo>
                    <a:pt x="3048000" y="0"/>
                  </a:lnTo>
                  <a:lnTo>
                    <a:pt x="3048000" y="857250"/>
                  </a:lnTo>
                  <a:lnTo>
                    <a:pt x="3060954" y="857250"/>
                  </a:lnTo>
                  <a:lnTo>
                    <a:pt x="3060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74839" y="4635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654166" y="4056379"/>
            <a:ext cx="3586479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45" dirty="0">
                <a:latin typeface="Trebuchet MS"/>
                <a:cs typeface="Trebuchet MS"/>
              </a:rPr>
              <a:t>DCF </a:t>
            </a:r>
            <a:r>
              <a:rPr sz="2800" spc="-75" dirty="0">
                <a:latin typeface="Trebuchet MS"/>
                <a:cs typeface="Trebuchet MS"/>
              </a:rPr>
              <a:t>is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45" dirty="0">
                <a:latin typeface="Trebuchet MS"/>
                <a:cs typeface="Trebuchet MS"/>
              </a:rPr>
              <a:t>basis </a:t>
            </a:r>
            <a:r>
              <a:rPr sz="2800" spc="-40" dirty="0">
                <a:latin typeface="Trebuchet MS"/>
                <a:cs typeface="Trebuchet MS"/>
              </a:rPr>
              <a:t>for 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contention‐based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530743" y="4991100"/>
            <a:ext cx="3899535" cy="501650"/>
          </a:xfrm>
          <a:custGeom>
            <a:avLst/>
            <a:gdLst/>
            <a:ahLst/>
            <a:cxnLst/>
            <a:rect l="l" t="t" r="r" b="b"/>
            <a:pathLst>
              <a:path w="3899535" h="501650">
                <a:moveTo>
                  <a:pt x="3899154" y="501396"/>
                </a:moveTo>
                <a:lnTo>
                  <a:pt x="3899154" y="0"/>
                </a:lnTo>
                <a:lnTo>
                  <a:pt x="0" y="0"/>
                </a:lnTo>
                <a:lnTo>
                  <a:pt x="0" y="501396"/>
                </a:lnTo>
                <a:lnTo>
                  <a:pt x="6095" y="501396"/>
                </a:lnTo>
                <a:lnTo>
                  <a:pt x="6095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3886200" y="12953"/>
                </a:lnTo>
                <a:lnTo>
                  <a:pt x="3886200" y="6096"/>
                </a:lnTo>
                <a:lnTo>
                  <a:pt x="3892296" y="12953"/>
                </a:lnTo>
                <a:lnTo>
                  <a:pt x="3892296" y="501396"/>
                </a:lnTo>
                <a:lnTo>
                  <a:pt x="3899154" y="501396"/>
                </a:lnTo>
                <a:close/>
              </a:path>
              <a:path w="3899535" h="501650">
                <a:moveTo>
                  <a:pt x="12953" y="12953"/>
                </a:moveTo>
                <a:lnTo>
                  <a:pt x="12953" y="6096"/>
                </a:lnTo>
                <a:lnTo>
                  <a:pt x="6095" y="12953"/>
                </a:lnTo>
                <a:lnTo>
                  <a:pt x="12953" y="12953"/>
                </a:lnTo>
                <a:close/>
              </a:path>
              <a:path w="3899535" h="501650">
                <a:moveTo>
                  <a:pt x="12953" y="501396"/>
                </a:moveTo>
                <a:lnTo>
                  <a:pt x="12953" y="12953"/>
                </a:lnTo>
                <a:lnTo>
                  <a:pt x="6095" y="12953"/>
                </a:lnTo>
                <a:lnTo>
                  <a:pt x="6095" y="501396"/>
                </a:lnTo>
                <a:lnTo>
                  <a:pt x="12953" y="501396"/>
                </a:lnTo>
                <a:close/>
              </a:path>
              <a:path w="3899535" h="501650">
                <a:moveTo>
                  <a:pt x="3892296" y="12953"/>
                </a:moveTo>
                <a:lnTo>
                  <a:pt x="3886200" y="6096"/>
                </a:lnTo>
                <a:lnTo>
                  <a:pt x="3886200" y="12953"/>
                </a:lnTo>
                <a:lnTo>
                  <a:pt x="3892296" y="12953"/>
                </a:lnTo>
                <a:close/>
              </a:path>
              <a:path w="3899535" h="501650">
                <a:moveTo>
                  <a:pt x="3892296" y="501396"/>
                </a:moveTo>
                <a:lnTo>
                  <a:pt x="3892296" y="12953"/>
                </a:lnTo>
                <a:lnTo>
                  <a:pt x="3886200" y="12953"/>
                </a:lnTo>
                <a:lnTo>
                  <a:pt x="3886200" y="501396"/>
                </a:lnTo>
                <a:lnTo>
                  <a:pt x="3892296" y="501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654875" y="4966680"/>
            <a:ext cx="36768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6680" marR="5080" indent="-136398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Distributed Coordination</a:t>
            </a:r>
            <a:r>
              <a:rPr sz="1800" spc="-28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Function  </a:t>
            </a:r>
            <a:r>
              <a:rPr sz="1800" spc="-30" dirty="0">
                <a:latin typeface="Trebuchet MS"/>
                <a:cs typeface="Trebuchet MS"/>
              </a:rPr>
              <a:t>(DCF)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606943" y="4635258"/>
            <a:ext cx="2908935" cy="292735"/>
          </a:xfrm>
          <a:custGeom>
            <a:avLst/>
            <a:gdLst/>
            <a:ahLst/>
            <a:cxnLst/>
            <a:rect l="l" t="t" r="r" b="b"/>
            <a:pathLst>
              <a:path w="2908935" h="292735">
                <a:moveTo>
                  <a:pt x="12954" y="146304"/>
                </a:moveTo>
                <a:lnTo>
                  <a:pt x="0" y="146304"/>
                </a:lnTo>
                <a:lnTo>
                  <a:pt x="0" y="197358"/>
                </a:lnTo>
                <a:lnTo>
                  <a:pt x="12954" y="197358"/>
                </a:lnTo>
                <a:lnTo>
                  <a:pt x="12954" y="146304"/>
                </a:lnTo>
                <a:close/>
              </a:path>
              <a:path w="2908935" h="292735">
                <a:moveTo>
                  <a:pt x="12954" y="57150"/>
                </a:moveTo>
                <a:lnTo>
                  <a:pt x="0" y="57150"/>
                </a:lnTo>
                <a:lnTo>
                  <a:pt x="0" y="108204"/>
                </a:lnTo>
                <a:lnTo>
                  <a:pt x="12954" y="108204"/>
                </a:lnTo>
                <a:lnTo>
                  <a:pt x="12954" y="57150"/>
                </a:lnTo>
                <a:close/>
              </a:path>
              <a:path w="2908935" h="292735">
                <a:moveTo>
                  <a:pt x="12954" y="0"/>
                </a:moveTo>
                <a:lnTo>
                  <a:pt x="0" y="0"/>
                </a:lnTo>
                <a:lnTo>
                  <a:pt x="0" y="19050"/>
                </a:lnTo>
                <a:lnTo>
                  <a:pt x="12954" y="19050"/>
                </a:lnTo>
                <a:lnTo>
                  <a:pt x="12954" y="0"/>
                </a:lnTo>
                <a:close/>
              </a:path>
              <a:path w="2908935" h="292735">
                <a:moveTo>
                  <a:pt x="44196" y="279654"/>
                </a:moveTo>
                <a:lnTo>
                  <a:pt x="12954" y="279654"/>
                </a:lnTo>
                <a:lnTo>
                  <a:pt x="12954" y="235458"/>
                </a:lnTo>
                <a:lnTo>
                  <a:pt x="0" y="235458"/>
                </a:lnTo>
                <a:lnTo>
                  <a:pt x="0" y="285750"/>
                </a:lnTo>
                <a:lnTo>
                  <a:pt x="6096" y="285750"/>
                </a:lnTo>
                <a:lnTo>
                  <a:pt x="6096" y="292608"/>
                </a:lnTo>
                <a:lnTo>
                  <a:pt x="12954" y="292608"/>
                </a:lnTo>
                <a:lnTo>
                  <a:pt x="44196" y="292608"/>
                </a:lnTo>
                <a:lnTo>
                  <a:pt x="44196" y="279654"/>
                </a:lnTo>
                <a:close/>
              </a:path>
              <a:path w="2908935" h="292735">
                <a:moveTo>
                  <a:pt x="133350" y="279654"/>
                </a:moveTo>
                <a:lnTo>
                  <a:pt x="82296" y="279654"/>
                </a:lnTo>
                <a:lnTo>
                  <a:pt x="82296" y="292608"/>
                </a:lnTo>
                <a:lnTo>
                  <a:pt x="133350" y="292608"/>
                </a:lnTo>
                <a:lnTo>
                  <a:pt x="133350" y="279654"/>
                </a:lnTo>
                <a:close/>
              </a:path>
              <a:path w="2908935" h="292735">
                <a:moveTo>
                  <a:pt x="222504" y="279654"/>
                </a:moveTo>
                <a:lnTo>
                  <a:pt x="171450" y="279654"/>
                </a:lnTo>
                <a:lnTo>
                  <a:pt x="171450" y="292608"/>
                </a:lnTo>
                <a:lnTo>
                  <a:pt x="222504" y="292608"/>
                </a:lnTo>
                <a:lnTo>
                  <a:pt x="222504" y="279654"/>
                </a:lnTo>
                <a:close/>
              </a:path>
              <a:path w="2908935" h="292735">
                <a:moveTo>
                  <a:pt x="310896" y="279654"/>
                </a:moveTo>
                <a:lnTo>
                  <a:pt x="260604" y="279654"/>
                </a:lnTo>
                <a:lnTo>
                  <a:pt x="260604" y="292608"/>
                </a:lnTo>
                <a:lnTo>
                  <a:pt x="310896" y="292608"/>
                </a:lnTo>
                <a:lnTo>
                  <a:pt x="310896" y="279654"/>
                </a:lnTo>
                <a:close/>
              </a:path>
              <a:path w="2908935" h="292735">
                <a:moveTo>
                  <a:pt x="400050" y="279654"/>
                </a:moveTo>
                <a:lnTo>
                  <a:pt x="348996" y="279654"/>
                </a:lnTo>
                <a:lnTo>
                  <a:pt x="348996" y="292608"/>
                </a:lnTo>
                <a:lnTo>
                  <a:pt x="400050" y="292608"/>
                </a:lnTo>
                <a:lnTo>
                  <a:pt x="400050" y="279654"/>
                </a:lnTo>
                <a:close/>
              </a:path>
              <a:path w="2908935" h="292735">
                <a:moveTo>
                  <a:pt x="489204" y="279654"/>
                </a:moveTo>
                <a:lnTo>
                  <a:pt x="438150" y="279654"/>
                </a:lnTo>
                <a:lnTo>
                  <a:pt x="438150" y="292608"/>
                </a:lnTo>
                <a:lnTo>
                  <a:pt x="489204" y="292608"/>
                </a:lnTo>
                <a:lnTo>
                  <a:pt x="489204" y="279654"/>
                </a:lnTo>
                <a:close/>
              </a:path>
              <a:path w="2908935" h="292735">
                <a:moveTo>
                  <a:pt x="577596" y="279654"/>
                </a:moveTo>
                <a:lnTo>
                  <a:pt x="527304" y="279654"/>
                </a:lnTo>
                <a:lnTo>
                  <a:pt x="527304" y="292608"/>
                </a:lnTo>
                <a:lnTo>
                  <a:pt x="577596" y="292608"/>
                </a:lnTo>
                <a:lnTo>
                  <a:pt x="577596" y="279654"/>
                </a:lnTo>
                <a:close/>
              </a:path>
              <a:path w="2908935" h="292735">
                <a:moveTo>
                  <a:pt x="666750" y="279654"/>
                </a:moveTo>
                <a:lnTo>
                  <a:pt x="615696" y="279654"/>
                </a:lnTo>
                <a:lnTo>
                  <a:pt x="615696" y="292608"/>
                </a:lnTo>
                <a:lnTo>
                  <a:pt x="666750" y="292608"/>
                </a:lnTo>
                <a:lnTo>
                  <a:pt x="666750" y="279654"/>
                </a:lnTo>
                <a:close/>
              </a:path>
              <a:path w="2908935" h="292735">
                <a:moveTo>
                  <a:pt x="755904" y="279654"/>
                </a:moveTo>
                <a:lnTo>
                  <a:pt x="704850" y="279654"/>
                </a:lnTo>
                <a:lnTo>
                  <a:pt x="704850" y="292608"/>
                </a:lnTo>
                <a:lnTo>
                  <a:pt x="755904" y="292608"/>
                </a:lnTo>
                <a:lnTo>
                  <a:pt x="755904" y="279654"/>
                </a:lnTo>
                <a:close/>
              </a:path>
              <a:path w="2908935" h="292735">
                <a:moveTo>
                  <a:pt x="844296" y="279654"/>
                </a:moveTo>
                <a:lnTo>
                  <a:pt x="794004" y="279654"/>
                </a:lnTo>
                <a:lnTo>
                  <a:pt x="794004" y="292608"/>
                </a:lnTo>
                <a:lnTo>
                  <a:pt x="844296" y="292608"/>
                </a:lnTo>
                <a:lnTo>
                  <a:pt x="844296" y="279654"/>
                </a:lnTo>
                <a:close/>
              </a:path>
              <a:path w="2908935" h="292735">
                <a:moveTo>
                  <a:pt x="933450" y="279654"/>
                </a:moveTo>
                <a:lnTo>
                  <a:pt x="882396" y="279654"/>
                </a:lnTo>
                <a:lnTo>
                  <a:pt x="882396" y="292608"/>
                </a:lnTo>
                <a:lnTo>
                  <a:pt x="933450" y="292608"/>
                </a:lnTo>
                <a:lnTo>
                  <a:pt x="933450" y="279654"/>
                </a:lnTo>
                <a:close/>
              </a:path>
              <a:path w="2908935" h="292735">
                <a:moveTo>
                  <a:pt x="1003554" y="260604"/>
                </a:moveTo>
                <a:lnTo>
                  <a:pt x="990600" y="260604"/>
                </a:lnTo>
                <a:lnTo>
                  <a:pt x="990600" y="279654"/>
                </a:lnTo>
                <a:lnTo>
                  <a:pt x="971550" y="279654"/>
                </a:lnTo>
                <a:lnTo>
                  <a:pt x="971550" y="292608"/>
                </a:lnTo>
                <a:lnTo>
                  <a:pt x="990600" y="292608"/>
                </a:lnTo>
                <a:lnTo>
                  <a:pt x="996696" y="292608"/>
                </a:lnTo>
                <a:lnTo>
                  <a:pt x="1003554" y="292608"/>
                </a:lnTo>
                <a:lnTo>
                  <a:pt x="1003554" y="260604"/>
                </a:lnTo>
                <a:close/>
              </a:path>
              <a:path w="2908935" h="292735">
                <a:moveTo>
                  <a:pt x="1003554" y="171450"/>
                </a:moveTo>
                <a:lnTo>
                  <a:pt x="990600" y="171450"/>
                </a:lnTo>
                <a:lnTo>
                  <a:pt x="990600" y="222504"/>
                </a:lnTo>
                <a:lnTo>
                  <a:pt x="1003554" y="222504"/>
                </a:lnTo>
                <a:lnTo>
                  <a:pt x="1003554" y="171450"/>
                </a:lnTo>
                <a:close/>
              </a:path>
              <a:path w="2908935" h="292735">
                <a:moveTo>
                  <a:pt x="1003554" y="83058"/>
                </a:moveTo>
                <a:lnTo>
                  <a:pt x="990600" y="83058"/>
                </a:lnTo>
                <a:lnTo>
                  <a:pt x="990600" y="133350"/>
                </a:lnTo>
                <a:lnTo>
                  <a:pt x="1003554" y="133350"/>
                </a:lnTo>
                <a:lnTo>
                  <a:pt x="1003554" y="83058"/>
                </a:lnTo>
                <a:close/>
              </a:path>
              <a:path w="2908935" h="292735">
                <a:moveTo>
                  <a:pt x="1003554" y="0"/>
                </a:moveTo>
                <a:lnTo>
                  <a:pt x="990600" y="0"/>
                </a:lnTo>
                <a:lnTo>
                  <a:pt x="990600" y="44958"/>
                </a:lnTo>
                <a:lnTo>
                  <a:pt x="1003554" y="44958"/>
                </a:lnTo>
                <a:lnTo>
                  <a:pt x="1003554" y="0"/>
                </a:lnTo>
                <a:close/>
              </a:path>
              <a:path w="2908935" h="292735">
                <a:moveTo>
                  <a:pt x="1841754" y="0"/>
                </a:moveTo>
                <a:lnTo>
                  <a:pt x="1828800" y="0"/>
                </a:lnTo>
                <a:lnTo>
                  <a:pt x="1828800" y="279654"/>
                </a:lnTo>
                <a:lnTo>
                  <a:pt x="1079754" y="279654"/>
                </a:lnTo>
                <a:lnTo>
                  <a:pt x="1079754" y="0"/>
                </a:lnTo>
                <a:lnTo>
                  <a:pt x="1066800" y="0"/>
                </a:lnTo>
                <a:lnTo>
                  <a:pt x="1066800" y="292608"/>
                </a:lnTo>
                <a:lnTo>
                  <a:pt x="1072896" y="292608"/>
                </a:lnTo>
                <a:lnTo>
                  <a:pt x="1079754" y="292608"/>
                </a:lnTo>
                <a:lnTo>
                  <a:pt x="1828800" y="292608"/>
                </a:lnTo>
                <a:lnTo>
                  <a:pt x="1834896" y="292608"/>
                </a:lnTo>
                <a:lnTo>
                  <a:pt x="1841754" y="292608"/>
                </a:lnTo>
                <a:lnTo>
                  <a:pt x="1841754" y="0"/>
                </a:lnTo>
                <a:close/>
              </a:path>
              <a:path w="2908935" h="292735">
                <a:moveTo>
                  <a:pt x="2908554" y="0"/>
                </a:moveTo>
                <a:lnTo>
                  <a:pt x="2895600" y="0"/>
                </a:lnTo>
                <a:lnTo>
                  <a:pt x="2895600" y="279654"/>
                </a:lnTo>
                <a:lnTo>
                  <a:pt x="1917954" y="279654"/>
                </a:lnTo>
                <a:lnTo>
                  <a:pt x="1917954" y="0"/>
                </a:lnTo>
                <a:lnTo>
                  <a:pt x="1905000" y="0"/>
                </a:lnTo>
                <a:lnTo>
                  <a:pt x="1905000" y="292608"/>
                </a:lnTo>
                <a:lnTo>
                  <a:pt x="1911096" y="292608"/>
                </a:lnTo>
                <a:lnTo>
                  <a:pt x="1917954" y="292608"/>
                </a:lnTo>
                <a:lnTo>
                  <a:pt x="2895600" y="292608"/>
                </a:lnTo>
                <a:lnTo>
                  <a:pt x="2901696" y="292608"/>
                </a:lnTo>
                <a:lnTo>
                  <a:pt x="2908554" y="292608"/>
                </a:lnTo>
                <a:lnTo>
                  <a:pt x="29085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793619" y="4642358"/>
            <a:ext cx="14839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7105" algn="l"/>
              </a:tabLst>
            </a:pPr>
            <a:r>
              <a:rPr sz="1300" spc="-30" dirty="0">
                <a:latin typeface="Trebuchet MS"/>
                <a:cs typeface="Trebuchet MS"/>
              </a:rPr>
              <a:t>(HCCA</a:t>
            </a:r>
            <a:r>
              <a:rPr sz="1300" spc="-15" dirty="0">
                <a:latin typeface="Trebuchet MS"/>
                <a:cs typeface="Trebuchet MS"/>
              </a:rPr>
              <a:t>)</a:t>
            </a:r>
            <a:r>
              <a:rPr sz="1300" dirty="0">
                <a:latin typeface="Trebuchet MS"/>
                <a:cs typeface="Trebuchet MS"/>
              </a:rPr>
              <a:t>	(E</a:t>
            </a:r>
            <a:r>
              <a:rPr sz="1300" spc="5" dirty="0">
                <a:latin typeface="Trebuchet MS"/>
                <a:cs typeface="Trebuchet MS"/>
              </a:rPr>
              <a:t>D</a:t>
            </a:r>
            <a:r>
              <a:rPr sz="1300" spc="-70" dirty="0">
                <a:latin typeface="Trebuchet MS"/>
                <a:cs typeface="Trebuchet MS"/>
              </a:rPr>
              <a:t>C</a:t>
            </a:r>
            <a:r>
              <a:rPr sz="1300" spc="5" dirty="0">
                <a:latin typeface="Trebuchet MS"/>
                <a:cs typeface="Trebuchet MS"/>
              </a:rPr>
              <a:t>A)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654943" y="4635246"/>
            <a:ext cx="775335" cy="520700"/>
            <a:chOff x="4654943" y="4635246"/>
            <a:chExt cx="775335" cy="520700"/>
          </a:xfrm>
        </p:grpSpPr>
        <p:sp>
          <p:nvSpPr>
            <p:cNvPr id="56" name="object 56"/>
            <p:cNvSpPr/>
            <p:nvPr/>
          </p:nvSpPr>
          <p:spPr>
            <a:xfrm>
              <a:off x="4661039" y="4635246"/>
              <a:ext cx="762000" cy="49758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54943" y="4635246"/>
              <a:ext cx="775335" cy="520700"/>
            </a:xfrm>
            <a:custGeom>
              <a:avLst/>
              <a:gdLst/>
              <a:ahLst/>
              <a:cxnLst/>
              <a:rect l="l" t="t" r="r" b="b"/>
              <a:pathLst>
                <a:path w="775335" h="520700">
                  <a:moveTo>
                    <a:pt x="12953" y="2034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216407"/>
                  </a:lnTo>
                  <a:lnTo>
                    <a:pt x="6096" y="216407"/>
                  </a:lnTo>
                  <a:lnTo>
                    <a:pt x="6096" y="203453"/>
                  </a:lnTo>
                  <a:lnTo>
                    <a:pt x="12953" y="203453"/>
                  </a:lnTo>
                  <a:close/>
                </a:path>
                <a:path w="775335" h="520700">
                  <a:moveTo>
                    <a:pt x="141731" y="203453"/>
                  </a:moveTo>
                  <a:lnTo>
                    <a:pt x="6096" y="203453"/>
                  </a:lnTo>
                  <a:lnTo>
                    <a:pt x="12953" y="209550"/>
                  </a:lnTo>
                  <a:lnTo>
                    <a:pt x="12953" y="216407"/>
                  </a:lnTo>
                  <a:lnTo>
                    <a:pt x="124616" y="216407"/>
                  </a:lnTo>
                  <a:lnTo>
                    <a:pt x="127253" y="208025"/>
                  </a:lnTo>
                  <a:lnTo>
                    <a:pt x="133350" y="216407"/>
                  </a:lnTo>
                  <a:lnTo>
                    <a:pt x="133350" y="230111"/>
                  </a:lnTo>
                  <a:lnTo>
                    <a:pt x="141731" y="203453"/>
                  </a:lnTo>
                  <a:close/>
                </a:path>
                <a:path w="775335" h="520700">
                  <a:moveTo>
                    <a:pt x="12953" y="216407"/>
                  </a:moveTo>
                  <a:lnTo>
                    <a:pt x="12953" y="209550"/>
                  </a:lnTo>
                  <a:lnTo>
                    <a:pt x="6096" y="203453"/>
                  </a:lnTo>
                  <a:lnTo>
                    <a:pt x="6096" y="216407"/>
                  </a:lnTo>
                  <a:lnTo>
                    <a:pt x="12953" y="216407"/>
                  </a:lnTo>
                  <a:close/>
                </a:path>
                <a:path w="775335" h="520700">
                  <a:moveTo>
                    <a:pt x="133350" y="230111"/>
                  </a:moveTo>
                  <a:lnTo>
                    <a:pt x="133350" y="216407"/>
                  </a:lnTo>
                  <a:lnTo>
                    <a:pt x="124616" y="216407"/>
                  </a:lnTo>
                  <a:lnTo>
                    <a:pt x="28955" y="520445"/>
                  </a:lnTo>
                  <a:lnTo>
                    <a:pt x="38100" y="511092"/>
                  </a:lnTo>
                  <a:lnTo>
                    <a:pt x="38100" y="493013"/>
                  </a:lnTo>
                  <a:lnTo>
                    <a:pt x="56639" y="474075"/>
                  </a:lnTo>
                  <a:lnTo>
                    <a:pt x="133350" y="230111"/>
                  </a:lnTo>
                  <a:close/>
                </a:path>
                <a:path w="775335" h="520700">
                  <a:moveTo>
                    <a:pt x="56639" y="474075"/>
                  </a:moveTo>
                  <a:lnTo>
                    <a:pt x="38100" y="493013"/>
                  </a:lnTo>
                  <a:lnTo>
                    <a:pt x="48767" y="499109"/>
                  </a:lnTo>
                  <a:lnTo>
                    <a:pt x="56639" y="474075"/>
                  </a:lnTo>
                  <a:close/>
                </a:path>
                <a:path w="775335" h="520700">
                  <a:moveTo>
                    <a:pt x="768096" y="203453"/>
                  </a:moveTo>
                  <a:lnTo>
                    <a:pt x="321563" y="203453"/>
                  </a:lnTo>
                  <a:lnTo>
                    <a:pt x="56639" y="474075"/>
                  </a:lnTo>
                  <a:lnTo>
                    <a:pt x="48767" y="499109"/>
                  </a:lnTo>
                  <a:lnTo>
                    <a:pt x="38100" y="493013"/>
                  </a:lnTo>
                  <a:lnTo>
                    <a:pt x="38100" y="511092"/>
                  </a:lnTo>
                  <a:lnTo>
                    <a:pt x="323850" y="218798"/>
                  </a:lnTo>
                  <a:lnTo>
                    <a:pt x="323850" y="216407"/>
                  </a:lnTo>
                  <a:lnTo>
                    <a:pt x="328422" y="214121"/>
                  </a:lnTo>
                  <a:lnTo>
                    <a:pt x="328422" y="216407"/>
                  </a:lnTo>
                  <a:lnTo>
                    <a:pt x="762000" y="216407"/>
                  </a:lnTo>
                  <a:lnTo>
                    <a:pt x="762000" y="209550"/>
                  </a:lnTo>
                  <a:lnTo>
                    <a:pt x="768096" y="203453"/>
                  </a:lnTo>
                  <a:close/>
                </a:path>
                <a:path w="775335" h="520700">
                  <a:moveTo>
                    <a:pt x="133350" y="216407"/>
                  </a:moveTo>
                  <a:lnTo>
                    <a:pt x="127253" y="208025"/>
                  </a:lnTo>
                  <a:lnTo>
                    <a:pt x="124616" y="216407"/>
                  </a:lnTo>
                  <a:lnTo>
                    <a:pt x="133350" y="216407"/>
                  </a:lnTo>
                  <a:close/>
                </a:path>
                <a:path w="775335" h="520700">
                  <a:moveTo>
                    <a:pt x="328422" y="214121"/>
                  </a:moveTo>
                  <a:lnTo>
                    <a:pt x="323850" y="216407"/>
                  </a:lnTo>
                  <a:lnTo>
                    <a:pt x="326187" y="216407"/>
                  </a:lnTo>
                  <a:lnTo>
                    <a:pt x="328422" y="214121"/>
                  </a:lnTo>
                  <a:close/>
                </a:path>
                <a:path w="775335" h="520700">
                  <a:moveTo>
                    <a:pt x="326187" y="216407"/>
                  </a:moveTo>
                  <a:lnTo>
                    <a:pt x="323850" y="216407"/>
                  </a:lnTo>
                  <a:lnTo>
                    <a:pt x="323850" y="218798"/>
                  </a:lnTo>
                  <a:lnTo>
                    <a:pt x="326187" y="216407"/>
                  </a:lnTo>
                  <a:close/>
                </a:path>
                <a:path w="775335" h="520700">
                  <a:moveTo>
                    <a:pt x="328422" y="216407"/>
                  </a:moveTo>
                  <a:lnTo>
                    <a:pt x="328422" y="214121"/>
                  </a:lnTo>
                  <a:lnTo>
                    <a:pt x="326187" y="216407"/>
                  </a:lnTo>
                  <a:lnTo>
                    <a:pt x="328422" y="216407"/>
                  </a:lnTo>
                  <a:close/>
                </a:path>
                <a:path w="775335" h="520700">
                  <a:moveTo>
                    <a:pt x="774953" y="216407"/>
                  </a:moveTo>
                  <a:lnTo>
                    <a:pt x="774953" y="0"/>
                  </a:lnTo>
                  <a:lnTo>
                    <a:pt x="762000" y="0"/>
                  </a:lnTo>
                  <a:lnTo>
                    <a:pt x="762000" y="203453"/>
                  </a:lnTo>
                  <a:lnTo>
                    <a:pt x="768096" y="203453"/>
                  </a:lnTo>
                  <a:lnTo>
                    <a:pt x="768096" y="216407"/>
                  </a:lnTo>
                  <a:lnTo>
                    <a:pt x="774953" y="216407"/>
                  </a:lnTo>
                  <a:close/>
                </a:path>
                <a:path w="775335" h="520700">
                  <a:moveTo>
                    <a:pt x="768096" y="216407"/>
                  </a:moveTo>
                  <a:lnTo>
                    <a:pt x="768096" y="203453"/>
                  </a:lnTo>
                  <a:lnTo>
                    <a:pt x="762000" y="209550"/>
                  </a:lnTo>
                  <a:lnTo>
                    <a:pt x="762000" y="216407"/>
                  </a:lnTo>
                  <a:lnTo>
                    <a:pt x="768096" y="2164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655946" y="3831590"/>
            <a:ext cx="7721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contentio</a:t>
            </a:r>
            <a:r>
              <a:rPr sz="1200" spc="-40" dirty="0">
                <a:latin typeface="Trebuchet MS"/>
                <a:cs typeface="Trebuchet MS"/>
              </a:rPr>
              <a:t>n</a:t>
            </a:r>
            <a:r>
              <a:rPr sz="1200" spc="-125" dirty="0">
                <a:latin typeface="Trebuchet MS"/>
                <a:cs typeface="Trebuchet MS"/>
              </a:rPr>
              <a:t>‐  </a:t>
            </a:r>
            <a:r>
              <a:rPr sz="1200" spc="-15" dirty="0">
                <a:latin typeface="Trebuchet MS"/>
                <a:cs typeface="Trebuchet MS"/>
              </a:rPr>
              <a:t>based  </a:t>
            </a:r>
            <a:r>
              <a:rPr sz="1200" spc="-45" dirty="0">
                <a:latin typeface="Trebuchet MS"/>
                <a:cs typeface="Trebuchet MS"/>
              </a:rPr>
              <a:t>services;  </a:t>
            </a:r>
            <a:r>
              <a:rPr sz="1200" spc="-20" dirty="0">
                <a:latin typeface="Trebuchet MS"/>
                <a:cs typeface="Trebuchet MS"/>
              </a:rPr>
              <a:t>basis for  </a:t>
            </a:r>
            <a:r>
              <a:rPr sz="1200" spc="-40" dirty="0">
                <a:latin typeface="Trebuchet MS"/>
                <a:cs typeface="Trebuchet MS"/>
              </a:rPr>
              <a:t>PCF </a:t>
            </a:r>
            <a:r>
              <a:rPr sz="1200" spc="-30" dirty="0">
                <a:latin typeface="Trebuchet MS"/>
                <a:cs typeface="Trebuchet MS"/>
              </a:rPr>
              <a:t>&amp;</a:t>
            </a:r>
            <a:r>
              <a:rPr sz="1200" spc="-229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HCF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74839" y="4635246"/>
            <a:ext cx="9144000" cy="1714500"/>
            <a:chOff x="774839" y="4635246"/>
            <a:chExt cx="9144000" cy="1714500"/>
          </a:xfrm>
        </p:grpSpPr>
        <p:sp>
          <p:nvSpPr>
            <p:cNvPr id="60" name="object 60"/>
            <p:cNvSpPr/>
            <p:nvPr/>
          </p:nvSpPr>
          <p:spPr>
            <a:xfrm>
              <a:off x="1530743" y="4635246"/>
              <a:ext cx="3061335" cy="368935"/>
            </a:xfrm>
            <a:custGeom>
              <a:avLst/>
              <a:gdLst/>
              <a:ahLst/>
              <a:cxnLst/>
              <a:rect l="l" t="t" r="r" b="b"/>
              <a:pathLst>
                <a:path w="3061335" h="368935">
                  <a:moveTo>
                    <a:pt x="12953" y="355853"/>
                  </a:moveTo>
                  <a:lnTo>
                    <a:pt x="12953" y="0"/>
                  </a:lnTo>
                  <a:lnTo>
                    <a:pt x="0" y="0"/>
                  </a:lnTo>
                  <a:lnTo>
                    <a:pt x="0" y="368807"/>
                  </a:lnTo>
                  <a:lnTo>
                    <a:pt x="6096" y="368807"/>
                  </a:lnTo>
                  <a:lnTo>
                    <a:pt x="6095" y="355853"/>
                  </a:lnTo>
                  <a:lnTo>
                    <a:pt x="12953" y="355853"/>
                  </a:lnTo>
                  <a:close/>
                </a:path>
                <a:path w="3061335" h="368935">
                  <a:moveTo>
                    <a:pt x="3054096" y="355853"/>
                  </a:moveTo>
                  <a:lnTo>
                    <a:pt x="6095" y="355853"/>
                  </a:lnTo>
                  <a:lnTo>
                    <a:pt x="12953" y="361950"/>
                  </a:lnTo>
                  <a:lnTo>
                    <a:pt x="12954" y="368807"/>
                  </a:lnTo>
                  <a:lnTo>
                    <a:pt x="3047999" y="368807"/>
                  </a:lnTo>
                  <a:lnTo>
                    <a:pt x="3047999" y="361950"/>
                  </a:lnTo>
                  <a:lnTo>
                    <a:pt x="3054096" y="355853"/>
                  </a:lnTo>
                  <a:close/>
                </a:path>
                <a:path w="3061335" h="368935">
                  <a:moveTo>
                    <a:pt x="12954" y="368807"/>
                  </a:moveTo>
                  <a:lnTo>
                    <a:pt x="12953" y="361950"/>
                  </a:lnTo>
                  <a:lnTo>
                    <a:pt x="6095" y="355853"/>
                  </a:lnTo>
                  <a:lnTo>
                    <a:pt x="6096" y="368807"/>
                  </a:lnTo>
                  <a:lnTo>
                    <a:pt x="12954" y="368807"/>
                  </a:lnTo>
                  <a:close/>
                </a:path>
                <a:path w="3061335" h="368935">
                  <a:moveTo>
                    <a:pt x="3060954" y="368807"/>
                  </a:moveTo>
                  <a:lnTo>
                    <a:pt x="3060954" y="0"/>
                  </a:lnTo>
                  <a:lnTo>
                    <a:pt x="3047999" y="0"/>
                  </a:lnTo>
                  <a:lnTo>
                    <a:pt x="3047999" y="355853"/>
                  </a:lnTo>
                  <a:lnTo>
                    <a:pt x="3054096" y="355853"/>
                  </a:lnTo>
                  <a:lnTo>
                    <a:pt x="3054096" y="368807"/>
                  </a:lnTo>
                  <a:lnTo>
                    <a:pt x="3060954" y="368807"/>
                  </a:lnTo>
                  <a:close/>
                </a:path>
                <a:path w="3061335" h="368935">
                  <a:moveTo>
                    <a:pt x="3054096" y="368807"/>
                  </a:moveTo>
                  <a:lnTo>
                    <a:pt x="3054096" y="355853"/>
                  </a:lnTo>
                  <a:lnTo>
                    <a:pt x="3047999" y="361950"/>
                  </a:lnTo>
                  <a:lnTo>
                    <a:pt x="3047999" y="368807"/>
                  </a:lnTo>
                  <a:lnTo>
                    <a:pt x="3054096" y="3688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4839" y="549249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3999" y="857250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3999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997066" y="4909820"/>
            <a:ext cx="32981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60" dirty="0">
                <a:latin typeface="Trebuchet MS"/>
                <a:cs typeface="Trebuchet MS"/>
              </a:rPr>
              <a:t>access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HCF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and  </a:t>
            </a:r>
            <a:r>
              <a:rPr sz="2800" spc="-145" dirty="0">
                <a:latin typeface="Trebuchet MS"/>
                <a:cs typeface="Trebuchet MS"/>
              </a:rPr>
              <a:t>PCF.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530743" y="5492496"/>
            <a:ext cx="3899535" cy="121285"/>
          </a:xfrm>
          <a:custGeom>
            <a:avLst/>
            <a:gdLst/>
            <a:ahLst/>
            <a:cxnLst/>
            <a:rect l="l" t="t" r="r" b="b"/>
            <a:pathLst>
              <a:path w="3899535" h="121285">
                <a:moveTo>
                  <a:pt x="12953" y="108203"/>
                </a:moveTo>
                <a:lnTo>
                  <a:pt x="12953" y="0"/>
                </a:lnTo>
                <a:lnTo>
                  <a:pt x="0" y="0"/>
                </a:lnTo>
                <a:lnTo>
                  <a:pt x="0" y="121157"/>
                </a:lnTo>
                <a:lnTo>
                  <a:pt x="6096" y="121157"/>
                </a:lnTo>
                <a:lnTo>
                  <a:pt x="6095" y="108203"/>
                </a:lnTo>
                <a:lnTo>
                  <a:pt x="12953" y="108203"/>
                </a:lnTo>
                <a:close/>
              </a:path>
              <a:path w="3899535" h="121285">
                <a:moveTo>
                  <a:pt x="3892296" y="108203"/>
                </a:moveTo>
                <a:lnTo>
                  <a:pt x="6095" y="108203"/>
                </a:lnTo>
                <a:lnTo>
                  <a:pt x="12953" y="114300"/>
                </a:lnTo>
                <a:lnTo>
                  <a:pt x="12953" y="121157"/>
                </a:lnTo>
                <a:lnTo>
                  <a:pt x="3886199" y="121157"/>
                </a:lnTo>
                <a:lnTo>
                  <a:pt x="3886199" y="114300"/>
                </a:lnTo>
                <a:lnTo>
                  <a:pt x="3892296" y="108203"/>
                </a:lnTo>
                <a:close/>
              </a:path>
              <a:path w="3899535" h="121285">
                <a:moveTo>
                  <a:pt x="12953" y="121157"/>
                </a:moveTo>
                <a:lnTo>
                  <a:pt x="12953" y="114300"/>
                </a:lnTo>
                <a:lnTo>
                  <a:pt x="6095" y="108203"/>
                </a:lnTo>
                <a:lnTo>
                  <a:pt x="6096" y="121157"/>
                </a:lnTo>
                <a:lnTo>
                  <a:pt x="12953" y="121157"/>
                </a:lnTo>
                <a:close/>
              </a:path>
              <a:path w="3899535" h="121285">
                <a:moveTo>
                  <a:pt x="3899154" y="121157"/>
                </a:moveTo>
                <a:lnTo>
                  <a:pt x="3899154" y="0"/>
                </a:lnTo>
                <a:lnTo>
                  <a:pt x="3886199" y="0"/>
                </a:lnTo>
                <a:lnTo>
                  <a:pt x="3886199" y="108203"/>
                </a:lnTo>
                <a:lnTo>
                  <a:pt x="3892296" y="108203"/>
                </a:lnTo>
                <a:lnTo>
                  <a:pt x="3892296" y="121157"/>
                </a:lnTo>
                <a:lnTo>
                  <a:pt x="3899154" y="121157"/>
                </a:lnTo>
                <a:close/>
              </a:path>
              <a:path w="3899535" h="121285">
                <a:moveTo>
                  <a:pt x="3892296" y="121157"/>
                </a:moveTo>
                <a:lnTo>
                  <a:pt x="3892296" y="108203"/>
                </a:lnTo>
                <a:lnTo>
                  <a:pt x="3886199" y="114300"/>
                </a:lnTo>
                <a:lnTo>
                  <a:pt x="3886199" y="121157"/>
                </a:lnTo>
                <a:lnTo>
                  <a:pt x="3892296" y="121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4" name="object 64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5" name="object 65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A4987EA4-D442-4A69-836E-237F370130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93</a:t>
            </a:fld>
            <a:endParaRPr lang="en-US"/>
          </a:p>
        </p:txBody>
      </p:sp>
      <p:sp>
        <p:nvSpPr>
          <p:cNvPr id="74" name="object 2">
            <a:extLst>
              <a:ext uri="{FF2B5EF4-FFF2-40B4-BE49-F238E27FC236}">
                <a16:creationId xmlns:a16="http://schemas.microsoft.com/office/drawing/2014/main" id="{4E1EB54F-676E-09B4-91F7-66921EF05C48}"/>
              </a:ext>
            </a:extLst>
          </p:cNvPr>
          <p:cNvSpPr txBox="1">
            <a:spLocks/>
          </p:cNvSpPr>
          <p:nvPr/>
        </p:nvSpPr>
        <p:spPr>
          <a:xfrm>
            <a:off x="1294721" y="82981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2901" y="237138"/>
            <a:ext cx="7848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5325" marR="5080" indent="-195326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QoS</a:t>
            </a:r>
            <a:r>
              <a:rPr spc="-459" dirty="0"/>
              <a:t> </a:t>
            </a:r>
            <a:r>
              <a:rPr spc="-65" dirty="0"/>
              <a:t>Support</a:t>
            </a:r>
            <a:r>
              <a:rPr spc="-375" dirty="0"/>
              <a:t> </a:t>
            </a:r>
            <a:r>
              <a:rPr spc="-45" dirty="0"/>
              <a:t>Mechanisms</a:t>
            </a:r>
            <a:r>
              <a:rPr spc="-385" dirty="0"/>
              <a:t> </a:t>
            </a:r>
            <a:r>
              <a:rPr spc="-105" dirty="0"/>
              <a:t>of  </a:t>
            </a:r>
            <a:r>
              <a:rPr spc="-155" dirty="0"/>
              <a:t>802.11E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779" y="1811487"/>
            <a:ext cx="7747000" cy="17799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70" dirty="0">
                <a:latin typeface="Trebuchet MS"/>
                <a:cs typeface="Trebuchet MS"/>
              </a:rPr>
              <a:t>Concepts:</a:t>
            </a:r>
            <a:endParaRPr sz="2400" dirty="0">
              <a:latin typeface="Trebuchet MS"/>
              <a:cs typeface="Trebuchet MS"/>
            </a:endParaRPr>
          </a:p>
          <a:p>
            <a:pPr marL="755015" lvl="1" indent="-286385">
              <a:lnSpc>
                <a:spcPct val="100000"/>
              </a:lnSpc>
              <a:spcBef>
                <a:spcPts val="26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15" dirty="0">
                <a:solidFill>
                  <a:srgbClr val="0070C0"/>
                </a:solidFill>
                <a:latin typeface="Trebuchet MS"/>
                <a:cs typeface="Trebuchet MS"/>
              </a:rPr>
              <a:t>QBSS:</a:t>
            </a:r>
            <a:r>
              <a:rPr sz="2000" spc="-16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0070C0"/>
                </a:solidFill>
                <a:latin typeface="Trebuchet MS"/>
                <a:cs typeface="Trebuchet MS"/>
              </a:rPr>
              <a:t>a</a:t>
            </a:r>
            <a:r>
              <a:rPr sz="2000" spc="-15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0070C0"/>
                </a:solidFill>
                <a:latin typeface="Trebuchet MS"/>
                <a:cs typeface="Trebuchet MS"/>
              </a:rPr>
              <a:t>QoS</a:t>
            </a:r>
            <a:r>
              <a:rPr sz="2000" spc="-17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0070C0"/>
                </a:solidFill>
                <a:latin typeface="Trebuchet MS"/>
                <a:cs typeface="Trebuchet MS"/>
              </a:rPr>
              <a:t>supporting</a:t>
            </a:r>
            <a:r>
              <a:rPr sz="2000" spc="-16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0070C0"/>
                </a:solidFill>
                <a:latin typeface="Trebuchet MS"/>
                <a:cs typeface="Trebuchet MS"/>
              </a:rPr>
              <a:t>BSS</a:t>
            </a:r>
            <a:r>
              <a:rPr sz="2000" spc="-25" dirty="0">
                <a:latin typeface="Trebuchet MS"/>
                <a:cs typeface="Trebuchet MS"/>
              </a:rPr>
              <a:t>,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including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an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802.11e‐compliant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HC.</a:t>
            </a:r>
            <a:endParaRPr sz="2000" dirty="0">
              <a:latin typeface="Trebuchet MS"/>
              <a:cs typeface="Trebuchet MS"/>
            </a:endParaRPr>
          </a:p>
          <a:p>
            <a:pPr marL="755015" marR="90805" lvl="1" indent="-285750">
              <a:lnSpc>
                <a:spcPts val="2160"/>
              </a:lnSpc>
              <a:spcBef>
                <a:spcPts val="515"/>
              </a:spcBef>
              <a:buClr>
                <a:srgbClr val="F0A73C"/>
              </a:buClr>
              <a:buSzPct val="90000"/>
              <a:buFont typeface="Liberation Sans"/>
              <a:buChar char="◗"/>
              <a:tabLst>
                <a:tab pos="755015" algn="l"/>
                <a:tab pos="755650" algn="l"/>
              </a:tabLst>
            </a:pPr>
            <a:r>
              <a:rPr sz="2000" spc="-55" dirty="0">
                <a:solidFill>
                  <a:srgbClr val="0070C0"/>
                </a:solidFill>
                <a:latin typeface="Trebuchet MS"/>
                <a:cs typeface="Trebuchet MS"/>
              </a:rPr>
              <a:t>HC</a:t>
            </a:r>
            <a:r>
              <a:rPr sz="2000" spc="-17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0070C0"/>
                </a:solidFill>
                <a:latin typeface="Trebuchet MS"/>
                <a:cs typeface="Trebuchet MS"/>
              </a:rPr>
              <a:t>(Hybrid</a:t>
            </a:r>
            <a:r>
              <a:rPr sz="2000" spc="-17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0070C0"/>
                </a:solidFill>
                <a:latin typeface="Trebuchet MS"/>
                <a:cs typeface="Trebuchet MS"/>
              </a:rPr>
              <a:t>Coordinator):</a:t>
            </a:r>
            <a:r>
              <a:rPr sz="2000" spc="-15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that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operates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central  </a:t>
            </a:r>
            <a:r>
              <a:rPr sz="2000" spc="-40" dirty="0">
                <a:latin typeface="Trebuchet MS"/>
                <a:cs typeface="Trebuchet MS"/>
              </a:rPr>
              <a:t>coordinator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for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other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stations,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similar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to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PC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BSS.</a:t>
            </a:r>
            <a:endParaRPr sz="2000" dirty="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22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85" dirty="0">
                <a:latin typeface="Trebuchet MS"/>
                <a:cs typeface="Trebuchet MS"/>
              </a:rPr>
              <a:t>There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multiple</a:t>
            </a:r>
            <a:r>
              <a:rPr sz="24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backoff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processes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operating</a:t>
            </a:r>
            <a:r>
              <a:rPr sz="24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4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0000"/>
                </a:solidFill>
                <a:latin typeface="Trebuchet MS"/>
                <a:cs typeface="Trebuchet MS"/>
              </a:rPr>
              <a:t>parallel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60953" y="3529076"/>
            <a:ext cx="1513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3670" algn="l"/>
              </a:tabLst>
            </a:pPr>
            <a:r>
              <a:rPr sz="2400" spc="-280" dirty="0">
                <a:latin typeface="Trebuchet MS"/>
                <a:cs typeface="Trebuchet MS"/>
              </a:rPr>
              <a:t>.	,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8510" y="3529076"/>
            <a:ext cx="102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8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6997" y="4003347"/>
            <a:ext cx="8861108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(Therefore,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Trebuchet MS"/>
                <a:cs typeface="Trebuchet MS"/>
              </a:rPr>
              <a:t>following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FF0000"/>
                </a:solidFill>
                <a:latin typeface="Trebuchet MS"/>
                <a:cs typeface="Trebuchet MS"/>
              </a:rPr>
              <a:t>we’ll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refer</a:t>
            </a:r>
            <a:r>
              <a:rPr sz="24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backoff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entities 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that</a:t>
            </a:r>
            <a:r>
              <a:rPr sz="24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attempt</a:t>
            </a:r>
            <a:r>
              <a:rPr sz="2400" spc="-20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deliver</a:t>
            </a:r>
            <a:r>
              <a:rPr sz="2400" spc="-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Trebuchet MS"/>
                <a:cs typeface="Trebuchet MS"/>
              </a:rPr>
              <a:t>MSDUs,</a:t>
            </a:r>
            <a:r>
              <a:rPr sz="24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instead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24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stations)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7ABD3E-A62F-4E2A-8470-0170CBF84CA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94</a:t>
            </a:fld>
            <a:endParaRPr lang="en-US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F79BA157-49EF-9FB0-DAAB-660DD9917445}"/>
              </a:ext>
            </a:extLst>
          </p:cNvPr>
          <p:cNvSpPr txBox="1">
            <a:spLocks/>
          </p:cNvSpPr>
          <p:nvPr/>
        </p:nvSpPr>
        <p:spPr>
          <a:xfrm>
            <a:off x="1338552" y="17353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0551" y="439928"/>
            <a:ext cx="5433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Improvements</a:t>
            </a:r>
            <a:r>
              <a:rPr spc="-385" dirty="0"/>
              <a:t> </a:t>
            </a:r>
            <a:r>
              <a:rPr spc="-105" dirty="0"/>
              <a:t>of</a:t>
            </a:r>
            <a:r>
              <a:rPr spc="-370" dirty="0"/>
              <a:t> </a:t>
            </a:r>
            <a:r>
              <a:rPr spc="-140" dirty="0"/>
              <a:t>the</a:t>
            </a:r>
            <a:r>
              <a:rPr spc="-375" dirty="0"/>
              <a:t> </a:t>
            </a:r>
            <a:r>
              <a:rPr spc="-70" dirty="0"/>
              <a:t>Legacy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988567"/>
            <a:ext cx="9382621" cy="3813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1475">
              <a:lnSpc>
                <a:spcPct val="100000"/>
              </a:lnSpc>
              <a:spcBef>
                <a:spcPts val="100"/>
              </a:spcBef>
            </a:pPr>
            <a:r>
              <a:rPr sz="3600" spc="-190" dirty="0">
                <a:latin typeface="Trebuchet MS"/>
                <a:cs typeface="Trebuchet MS"/>
              </a:rPr>
              <a:t>802.11</a:t>
            </a:r>
            <a:r>
              <a:rPr sz="3600" spc="-380" dirty="0">
                <a:latin typeface="Trebuchet MS"/>
                <a:cs typeface="Trebuchet MS"/>
              </a:rPr>
              <a:t> </a:t>
            </a:r>
            <a:r>
              <a:rPr sz="3600" spc="165" dirty="0">
                <a:latin typeface="Trebuchet MS"/>
                <a:cs typeface="Trebuchet MS"/>
              </a:rPr>
              <a:t>MAC</a:t>
            </a:r>
            <a:endParaRPr sz="3600" dirty="0">
              <a:latin typeface="Trebuchet MS"/>
              <a:cs typeface="Trebuchet MS"/>
            </a:endParaRPr>
          </a:p>
          <a:p>
            <a:pPr marL="354965" marR="308610" indent="-342900">
              <a:lnSpc>
                <a:spcPct val="80000"/>
              </a:lnSpc>
              <a:spcBef>
                <a:spcPts val="283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6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b="1" spc="-85" dirty="0">
                <a:solidFill>
                  <a:srgbClr val="FF0000"/>
                </a:solidFill>
                <a:latin typeface="Trebuchet MS"/>
                <a:cs typeface="Trebuchet MS"/>
              </a:rPr>
              <a:t>TXOP</a:t>
            </a:r>
            <a:r>
              <a:rPr sz="2400" b="1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70" dirty="0">
                <a:solidFill>
                  <a:srgbClr val="FF0000"/>
                </a:solidFill>
                <a:latin typeface="Trebuchet MS"/>
                <a:cs typeface="Trebuchet MS"/>
              </a:rPr>
              <a:t>(transmission</a:t>
            </a:r>
            <a:r>
              <a:rPr sz="2400" b="1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75" dirty="0">
                <a:solidFill>
                  <a:srgbClr val="FF0000"/>
                </a:solidFill>
                <a:latin typeface="Trebuchet MS"/>
                <a:cs typeface="Trebuchet MS"/>
              </a:rPr>
              <a:t>opportunity)</a:t>
            </a:r>
            <a:r>
              <a:rPr sz="2400" b="1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interval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time,  </a:t>
            </a:r>
            <a:r>
              <a:rPr sz="2400" spc="-40" dirty="0">
                <a:latin typeface="Trebuchet MS"/>
                <a:cs typeface="Trebuchet MS"/>
              </a:rPr>
              <a:t>during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which </a:t>
            </a:r>
            <a:r>
              <a:rPr sz="2400" spc="-85" dirty="0">
                <a:solidFill>
                  <a:srgbClr val="0070C0"/>
                </a:solidFill>
                <a:latin typeface="Trebuchet MS"/>
                <a:cs typeface="Trebuchet MS"/>
              </a:rPr>
              <a:t>a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backoff </a:t>
            </a:r>
            <a:r>
              <a:rPr sz="2400" spc="-85" dirty="0">
                <a:solidFill>
                  <a:srgbClr val="0070C0"/>
                </a:solidFill>
                <a:latin typeface="Trebuchet MS"/>
                <a:cs typeface="Trebuchet MS"/>
              </a:rPr>
              <a:t>entity </a:t>
            </a:r>
            <a:r>
              <a:rPr sz="2400" spc="-25" dirty="0">
                <a:solidFill>
                  <a:srgbClr val="0070C0"/>
                </a:solidFill>
                <a:latin typeface="Trebuchet MS"/>
                <a:cs typeface="Trebuchet MS"/>
              </a:rPr>
              <a:t>has </a:t>
            </a:r>
            <a:r>
              <a:rPr sz="2400" spc="-60" dirty="0">
                <a:solidFill>
                  <a:srgbClr val="0070C0"/>
                </a:solidFill>
                <a:latin typeface="Trebuchet MS"/>
                <a:cs typeface="Trebuchet MS"/>
              </a:rPr>
              <a:t>the right </a:t>
            </a:r>
            <a:r>
              <a:rPr sz="2400" spc="-20" dirty="0">
                <a:solidFill>
                  <a:srgbClr val="0070C0"/>
                </a:solidFill>
                <a:latin typeface="Trebuchet MS"/>
                <a:cs typeface="Trebuchet MS"/>
              </a:rPr>
              <a:t>to </a:t>
            </a:r>
            <a:r>
              <a:rPr sz="2400" spc="-90" dirty="0">
                <a:solidFill>
                  <a:srgbClr val="0070C0"/>
                </a:solidFill>
                <a:latin typeface="Trebuchet MS"/>
                <a:cs typeface="Trebuchet MS"/>
              </a:rPr>
              <a:t>deliver  </a:t>
            </a:r>
            <a:r>
              <a:rPr sz="2400" spc="50" dirty="0">
                <a:solidFill>
                  <a:srgbClr val="0070C0"/>
                </a:solidFill>
                <a:latin typeface="Trebuchet MS"/>
                <a:cs typeface="Trebuchet MS"/>
              </a:rPr>
              <a:t>MSDUs,</a:t>
            </a:r>
            <a:r>
              <a:rPr sz="2400" spc="-229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70C0"/>
                </a:solidFill>
                <a:latin typeface="Trebuchet MS"/>
                <a:cs typeface="Trebuchet MS"/>
              </a:rPr>
              <a:t>is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70C0"/>
                </a:solidFill>
                <a:latin typeface="Trebuchet MS"/>
                <a:cs typeface="Trebuchet MS"/>
              </a:rPr>
              <a:t>defined</a:t>
            </a:r>
            <a:r>
              <a:rPr sz="2400" spc="-17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70C0"/>
                </a:solidFill>
                <a:latin typeface="Trebuchet MS"/>
                <a:cs typeface="Trebuchet MS"/>
              </a:rPr>
              <a:t>by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070C0"/>
                </a:solidFill>
                <a:latin typeface="Trebuchet MS"/>
                <a:cs typeface="Trebuchet MS"/>
              </a:rPr>
              <a:t>its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70C0"/>
                </a:solidFill>
                <a:latin typeface="Trebuchet MS"/>
                <a:cs typeface="Trebuchet MS"/>
              </a:rPr>
              <a:t>starting</a:t>
            </a:r>
            <a:r>
              <a:rPr sz="24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70C0"/>
                </a:solidFill>
                <a:latin typeface="Trebuchet MS"/>
                <a:cs typeface="Trebuchet MS"/>
              </a:rPr>
              <a:t>time</a:t>
            </a:r>
            <a:r>
              <a:rPr sz="2400" spc="-19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70C0"/>
                </a:solidFill>
                <a:latin typeface="Trebuchet MS"/>
                <a:cs typeface="Trebuchet MS"/>
              </a:rPr>
              <a:t>and</a:t>
            </a:r>
            <a:r>
              <a:rPr sz="24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070C0"/>
                </a:solidFill>
                <a:latin typeface="Trebuchet MS"/>
                <a:cs typeface="Trebuchet MS"/>
              </a:rPr>
              <a:t>duration.</a:t>
            </a:r>
            <a:endParaRPr sz="2400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354965" marR="5080" indent="-342900">
              <a:lnSpc>
                <a:spcPct val="80000"/>
              </a:lnSpc>
              <a:spcBef>
                <a:spcPts val="5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TXOPs</a:t>
            </a:r>
            <a:r>
              <a:rPr sz="2400" spc="-65" dirty="0">
                <a:latin typeface="Trebuchet MS"/>
                <a:cs typeface="Trebuchet MS"/>
              </a:rPr>
              <a:t>, </a:t>
            </a:r>
            <a:r>
              <a:rPr sz="2400" spc="-50" dirty="0">
                <a:latin typeface="Trebuchet MS"/>
                <a:cs typeface="Trebuchet MS"/>
              </a:rPr>
              <a:t>which </a:t>
            </a:r>
            <a:r>
              <a:rPr sz="2400" spc="-85" dirty="0">
                <a:latin typeface="Trebuchet MS"/>
                <a:cs typeface="Trebuchet MS"/>
              </a:rPr>
              <a:t>are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obtained </a:t>
            </a:r>
            <a:r>
              <a:rPr sz="2400" spc="-95" dirty="0">
                <a:solidFill>
                  <a:srgbClr val="FF0000"/>
                </a:solidFill>
                <a:latin typeface="Trebuchet MS"/>
                <a:cs typeface="Trebuchet MS"/>
              </a:rPr>
              <a:t>via 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the contention‐based  medium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access</a:t>
            </a:r>
            <a:r>
              <a:rPr sz="2400" spc="-85" dirty="0">
                <a:latin typeface="Trebuchet MS"/>
                <a:cs typeface="Trebuchet MS"/>
              </a:rPr>
              <a:t>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referred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b="1" spc="-100" dirty="0">
                <a:latin typeface="Trebuchet MS"/>
                <a:cs typeface="Trebuchet MS"/>
              </a:rPr>
              <a:t>EDCA‐TXOP</a:t>
            </a:r>
            <a:r>
              <a:rPr sz="2400" spc="-100" dirty="0">
                <a:latin typeface="Trebuchet MS"/>
                <a:cs typeface="Trebuchet MS"/>
              </a:rPr>
              <a:t>s,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limited  </a:t>
            </a:r>
            <a:r>
              <a:rPr sz="2400" spc="-40" dirty="0">
                <a:latin typeface="Trebuchet MS"/>
                <a:cs typeface="Trebuchet MS"/>
              </a:rPr>
              <a:t>by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b="1" spc="-90" dirty="0">
                <a:latin typeface="Trebuchet MS"/>
                <a:cs typeface="Trebuchet MS"/>
              </a:rPr>
              <a:t>TXOPlimit</a:t>
            </a:r>
            <a:endParaRPr sz="2400" dirty="0">
              <a:latin typeface="Trebuchet MS"/>
              <a:cs typeface="Trebuchet MS"/>
            </a:endParaRPr>
          </a:p>
          <a:p>
            <a:pPr marL="354965" marR="210185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b="1" spc="-100" dirty="0">
                <a:latin typeface="Trebuchet MS"/>
                <a:cs typeface="Trebuchet MS"/>
              </a:rPr>
              <a:t>HCCA‐TXOP</a:t>
            </a:r>
            <a:r>
              <a:rPr sz="2400" spc="-100" dirty="0">
                <a:latin typeface="Trebuchet MS"/>
                <a:cs typeface="Trebuchet MS"/>
              </a:rPr>
              <a:t>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(or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polled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TXOPs)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obtained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by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via 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controlled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access,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protected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by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NAV.</a:t>
            </a:r>
            <a:endParaRPr sz="2400" dirty="0">
              <a:latin typeface="Trebuchet MS"/>
              <a:cs typeface="Trebuchet MS"/>
            </a:endParaRPr>
          </a:p>
          <a:p>
            <a:pPr marL="354965" marR="62230" indent="-342900">
              <a:lnSpc>
                <a:spcPts val="230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6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time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period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which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has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control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over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wireless 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called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Controlled</a:t>
            </a:r>
            <a:r>
              <a:rPr sz="2400" b="1" spc="-175" dirty="0">
                <a:latin typeface="Trebuchet MS"/>
                <a:cs typeface="Trebuchet MS"/>
              </a:rPr>
              <a:t> </a:t>
            </a:r>
            <a:r>
              <a:rPr sz="2400" b="1" spc="-90" dirty="0">
                <a:latin typeface="Trebuchet MS"/>
                <a:cs typeface="Trebuchet MS"/>
              </a:rPr>
              <a:t>Access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Phase</a:t>
            </a:r>
            <a:r>
              <a:rPr sz="2400" b="1" spc="-195" dirty="0">
                <a:latin typeface="Trebuchet MS"/>
                <a:cs typeface="Trebuchet MS"/>
              </a:rPr>
              <a:t> </a:t>
            </a:r>
            <a:r>
              <a:rPr sz="2400" b="1" spc="-65" dirty="0">
                <a:latin typeface="Trebuchet MS"/>
                <a:cs typeface="Trebuchet MS"/>
              </a:rPr>
              <a:t>(CAP)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4FBCA51-D1A9-42D7-BFD5-C7160F5278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95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F21045E3-F4BE-7CF9-6F58-0D871432BE1D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8926" y="457137"/>
            <a:ext cx="71608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10" dirty="0"/>
              <a:t>Contention‐based </a:t>
            </a:r>
            <a:r>
              <a:rPr sz="4000" spc="-30" dirty="0"/>
              <a:t>Medium</a:t>
            </a:r>
            <a:r>
              <a:rPr sz="4000" spc="-955" dirty="0"/>
              <a:t> </a:t>
            </a:r>
            <a:r>
              <a:rPr sz="4000" spc="-95" dirty="0"/>
              <a:t>Access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654166" y="2240533"/>
            <a:ext cx="3551554" cy="34696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57150" indent="-342900">
              <a:lnSpc>
                <a:spcPts val="2160"/>
              </a:lnSpc>
              <a:spcBef>
                <a:spcPts val="37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75" dirty="0">
                <a:latin typeface="Trebuchet MS"/>
                <a:cs typeface="Trebuchet MS"/>
              </a:rPr>
              <a:t>There are </a:t>
            </a:r>
            <a:r>
              <a:rPr sz="2000" spc="-35" dirty="0">
                <a:latin typeface="Trebuchet MS"/>
                <a:cs typeface="Trebuchet MS"/>
              </a:rPr>
              <a:t>four </a:t>
            </a:r>
            <a:r>
              <a:rPr sz="2000" spc="-30" dirty="0">
                <a:latin typeface="Trebuchet MS"/>
                <a:cs typeface="Trebuchet MS"/>
              </a:rPr>
              <a:t>Access  </a:t>
            </a:r>
            <a:r>
              <a:rPr sz="2000" spc="-45" dirty="0">
                <a:latin typeface="Trebuchet MS"/>
                <a:cs typeface="Trebuchet MS"/>
              </a:rPr>
              <a:t>Categories </a:t>
            </a:r>
            <a:r>
              <a:rPr sz="2000" spc="-70" dirty="0">
                <a:latin typeface="Trebuchet MS"/>
                <a:cs typeface="Trebuchet MS"/>
              </a:rPr>
              <a:t>(AC), </a:t>
            </a:r>
            <a:r>
              <a:rPr sz="2000" spc="-65" dirty="0">
                <a:latin typeface="Trebuchet MS"/>
                <a:cs typeface="Trebuchet MS"/>
              </a:rPr>
              <a:t>thus, 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four  </a:t>
            </a:r>
            <a:r>
              <a:rPr sz="2000" u="heavy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backoff</a:t>
            </a:r>
            <a:r>
              <a:rPr sz="2000" u="heavy" spc="-1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entities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exist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every  </a:t>
            </a:r>
            <a:r>
              <a:rPr sz="2000" spc="-155" dirty="0">
                <a:latin typeface="Trebuchet MS"/>
                <a:cs typeface="Trebuchet MS"/>
              </a:rPr>
              <a:t>802.11e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stations.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ts val="2160"/>
              </a:lnSpc>
              <a:spcBef>
                <a:spcPts val="4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10" dirty="0">
                <a:latin typeface="Trebuchet MS"/>
                <a:cs typeface="Trebuchet MS"/>
              </a:rPr>
              <a:t>ACs </a:t>
            </a:r>
            <a:r>
              <a:rPr sz="2000" spc="-75" dirty="0">
                <a:latin typeface="Trebuchet MS"/>
                <a:cs typeface="Trebuchet MS"/>
              </a:rPr>
              <a:t>are labeled </a:t>
            </a:r>
            <a:r>
              <a:rPr sz="2000" spc="-45" dirty="0">
                <a:latin typeface="Trebuchet MS"/>
                <a:cs typeface="Trebuchet MS"/>
              </a:rPr>
              <a:t>according </a:t>
            </a:r>
            <a:r>
              <a:rPr sz="2000" spc="-20" dirty="0">
                <a:latin typeface="Trebuchet MS"/>
                <a:cs typeface="Trebuchet MS"/>
              </a:rPr>
              <a:t>to  </a:t>
            </a:r>
            <a:r>
              <a:rPr sz="2000" spc="-75" dirty="0">
                <a:latin typeface="Trebuchet MS"/>
                <a:cs typeface="Trebuchet MS"/>
              </a:rPr>
              <a:t>their </a:t>
            </a:r>
            <a:r>
              <a:rPr sz="2000" spc="-50" dirty="0">
                <a:latin typeface="Trebuchet MS"/>
                <a:cs typeface="Trebuchet MS"/>
              </a:rPr>
              <a:t>target </a:t>
            </a:r>
            <a:r>
              <a:rPr sz="2000" spc="-80" dirty="0">
                <a:latin typeface="Trebuchet MS"/>
                <a:cs typeface="Trebuchet MS"/>
              </a:rPr>
              <a:t>application:  </a:t>
            </a:r>
            <a:r>
              <a:rPr sz="2000" spc="-30" dirty="0">
                <a:latin typeface="Trebuchet MS"/>
                <a:cs typeface="Trebuchet MS"/>
              </a:rPr>
              <a:t>AC_VO </a:t>
            </a:r>
            <a:r>
              <a:rPr sz="2000" spc="-70" dirty="0">
                <a:latin typeface="Trebuchet MS"/>
                <a:cs typeface="Trebuchet MS"/>
              </a:rPr>
              <a:t>(voice), </a:t>
            </a:r>
            <a:r>
              <a:rPr sz="2000" spc="-40" dirty="0">
                <a:latin typeface="Trebuchet MS"/>
                <a:cs typeface="Trebuchet MS"/>
              </a:rPr>
              <a:t>AC_VI</a:t>
            </a:r>
            <a:r>
              <a:rPr sz="2000" spc="-40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(video),  </a:t>
            </a:r>
            <a:r>
              <a:rPr sz="2000" spc="-25" dirty="0">
                <a:latin typeface="Trebuchet MS"/>
                <a:cs typeface="Trebuchet MS"/>
              </a:rPr>
              <a:t>AC_BE </a:t>
            </a:r>
            <a:r>
              <a:rPr sz="2000" spc="-30" dirty="0">
                <a:latin typeface="Trebuchet MS"/>
                <a:cs typeface="Trebuchet MS"/>
              </a:rPr>
              <a:t>(best </a:t>
            </a:r>
            <a:r>
              <a:rPr sz="2000" spc="-70" dirty="0">
                <a:latin typeface="Trebuchet MS"/>
                <a:cs typeface="Trebuchet MS"/>
              </a:rPr>
              <a:t>effort), </a:t>
            </a:r>
            <a:r>
              <a:rPr sz="2000" spc="-10" dirty="0">
                <a:latin typeface="Trebuchet MS"/>
                <a:cs typeface="Trebuchet MS"/>
              </a:rPr>
              <a:t>AC_BK  </a:t>
            </a:r>
            <a:r>
              <a:rPr sz="2000" spc="-40" dirty="0">
                <a:latin typeface="Trebuchet MS"/>
                <a:cs typeface="Trebuchet MS"/>
              </a:rPr>
              <a:t>(background).</a:t>
            </a:r>
            <a:endParaRPr sz="2000">
              <a:latin typeface="Trebuchet MS"/>
              <a:cs typeface="Trebuchet MS"/>
            </a:endParaRPr>
          </a:p>
          <a:p>
            <a:pPr marL="354965" marR="219710" indent="-342900">
              <a:lnSpc>
                <a:spcPts val="2160"/>
              </a:lnSpc>
              <a:spcBef>
                <a:spcPts val="4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55" dirty="0">
                <a:latin typeface="Trebuchet MS"/>
                <a:cs typeface="Trebuchet MS"/>
              </a:rPr>
              <a:t>Each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backoff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entity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within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  </a:t>
            </a:r>
            <a:r>
              <a:rPr sz="2000" spc="-45" dirty="0">
                <a:latin typeface="Trebuchet MS"/>
                <a:cs typeface="Trebuchet MS"/>
              </a:rPr>
              <a:t>station </a:t>
            </a:r>
            <a:r>
              <a:rPr sz="2000" u="heavy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independently  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contends</a:t>
            </a:r>
            <a:r>
              <a:rPr sz="2000" spc="-30" dirty="0">
                <a:latin typeface="Trebuchet MS"/>
                <a:cs typeface="Trebuchet MS"/>
              </a:rPr>
              <a:t> for </a:t>
            </a:r>
            <a:r>
              <a:rPr sz="2000" spc="-75" dirty="0">
                <a:latin typeface="Trebuchet MS"/>
                <a:cs typeface="Trebuchet MS"/>
              </a:rPr>
              <a:t>a</a:t>
            </a:r>
            <a:r>
              <a:rPr sz="2000" spc="-459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TXOP.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13039" y="2253995"/>
            <a:ext cx="3810000" cy="4114800"/>
            <a:chOff x="1613039" y="2253995"/>
            <a:chExt cx="3810000" cy="4114800"/>
          </a:xfrm>
        </p:grpSpPr>
        <p:sp>
          <p:nvSpPr>
            <p:cNvPr id="5" name="object 5"/>
            <p:cNvSpPr/>
            <p:nvPr/>
          </p:nvSpPr>
          <p:spPr>
            <a:xfrm>
              <a:off x="1613039" y="2253995"/>
              <a:ext cx="3810000" cy="40957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13039" y="6351269"/>
              <a:ext cx="3810000" cy="0"/>
            </a:xfrm>
            <a:custGeom>
              <a:avLst/>
              <a:gdLst/>
              <a:ahLst/>
              <a:cxnLst/>
              <a:rect l="l" t="t" r="r" b="b"/>
              <a:pathLst>
                <a:path w="3810000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ln w="3505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8" name="object 8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F489911-480A-4FB8-8B52-B3C653ABD0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96</a:t>
            </a:fld>
            <a:endParaRPr lang="en-US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31073C75-A48D-A5A9-61B9-F847E42D9F8B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252" y="377395"/>
            <a:ext cx="71608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10" dirty="0"/>
              <a:t>Contention‐based </a:t>
            </a:r>
            <a:r>
              <a:rPr sz="4000" spc="-30" dirty="0"/>
              <a:t>Medium</a:t>
            </a:r>
            <a:r>
              <a:rPr sz="4000" spc="-955" dirty="0"/>
              <a:t> </a:t>
            </a:r>
            <a:r>
              <a:rPr sz="4000" spc="-95" dirty="0"/>
              <a:t>Access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2375039" y="1960626"/>
            <a:ext cx="6096000" cy="28841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91767" y="4973066"/>
            <a:ext cx="7555865" cy="92201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104139" indent="-342900">
              <a:lnSpc>
                <a:spcPct val="80000"/>
              </a:lnSpc>
              <a:spcBef>
                <a:spcPts val="484"/>
              </a:spcBef>
              <a:buClr>
                <a:srgbClr val="00659A"/>
              </a:buClr>
              <a:buSzPct val="875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1600" spc="-35" dirty="0">
                <a:latin typeface="Trebuchet MS"/>
                <a:cs typeface="Trebuchet MS"/>
              </a:rPr>
              <a:t>After </a:t>
            </a:r>
            <a:r>
              <a:rPr sz="1600" spc="-40" dirty="0">
                <a:latin typeface="Trebuchet MS"/>
                <a:cs typeface="Trebuchet MS"/>
              </a:rPr>
              <a:t>detecting the medium </a:t>
            </a:r>
            <a:r>
              <a:rPr sz="1600" spc="-25" dirty="0">
                <a:latin typeface="Trebuchet MS"/>
                <a:cs typeface="Trebuchet MS"/>
              </a:rPr>
              <a:t>being </a:t>
            </a:r>
            <a:r>
              <a:rPr sz="1600" spc="-75" dirty="0">
                <a:latin typeface="Trebuchet MS"/>
                <a:cs typeface="Trebuchet MS"/>
              </a:rPr>
              <a:t>idle </a:t>
            </a:r>
            <a:r>
              <a:rPr sz="1600" spc="-30" dirty="0">
                <a:latin typeface="Trebuchet MS"/>
                <a:cs typeface="Trebuchet MS"/>
              </a:rPr>
              <a:t>for </a:t>
            </a:r>
            <a:r>
              <a:rPr sz="1600" spc="-55" dirty="0">
                <a:latin typeface="Trebuchet MS"/>
                <a:cs typeface="Trebuchet MS"/>
              </a:rPr>
              <a:t>a </a:t>
            </a:r>
            <a:r>
              <a:rPr sz="1600" spc="-40" dirty="0">
                <a:latin typeface="Trebuchet MS"/>
                <a:cs typeface="Trebuchet MS"/>
              </a:rPr>
              <a:t>duration </a:t>
            </a:r>
            <a:r>
              <a:rPr sz="1600" spc="-10" dirty="0">
                <a:latin typeface="Trebuchet MS"/>
                <a:cs typeface="Trebuchet MS"/>
              </a:rPr>
              <a:t>of AIFS[AC] </a:t>
            </a:r>
            <a:r>
              <a:rPr sz="1600" spc="-40" dirty="0">
                <a:latin typeface="Trebuchet MS"/>
                <a:cs typeface="Trebuchet MS"/>
              </a:rPr>
              <a:t>(Arbitration  </a:t>
            </a:r>
            <a:r>
              <a:rPr sz="1600" spc="-45" dirty="0">
                <a:latin typeface="Trebuchet MS"/>
                <a:cs typeface="Trebuchet MS"/>
              </a:rPr>
              <a:t>Interframe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Space),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backoff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entity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start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down‐counting.</a:t>
            </a:r>
            <a:r>
              <a:rPr sz="1600" spc="-155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AIFS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is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calculated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as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follow:</a:t>
            </a:r>
            <a:endParaRPr sz="1600">
              <a:latin typeface="Trebuchet MS"/>
              <a:cs typeface="Trebuchet MS"/>
            </a:endParaRPr>
          </a:p>
          <a:p>
            <a:pPr marL="755650" lvl="1" indent="-285750">
              <a:lnSpc>
                <a:spcPts val="1675"/>
              </a:lnSpc>
              <a:spcBef>
                <a:spcPts val="10"/>
              </a:spcBef>
              <a:buClr>
                <a:srgbClr val="F0A73C"/>
              </a:buClr>
              <a:buSzPct val="89285"/>
              <a:buFont typeface="Liberation Sans"/>
              <a:buChar char="◗"/>
              <a:tabLst>
                <a:tab pos="755015" algn="l"/>
                <a:tab pos="755650" algn="l"/>
                <a:tab pos="4773930" algn="l"/>
              </a:tabLst>
            </a:pPr>
            <a:r>
              <a:rPr sz="1400" spc="-15" dirty="0">
                <a:latin typeface="Trebuchet MS"/>
                <a:cs typeface="Trebuchet MS"/>
              </a:rPr>
              <a:t>AIFS[AC] </a:t>
            </a:r>
            <a:r>
              <a:rPr sz="1400" spc="-30" dirty="0">
                <a:latin typeface="Trebuchet MS"/>
                <a:cs typeface="Trebuchet MS"/>
              </a:rPr>
              <a:t>= </a:t>
            </a:r>
            <a:r>
              <a:rPr sz="1400" dirty="0">
                <a:latin typeface="Trebuchet MS"/>
                <a:cs typeface="Trebuchet MS"/>
              </a:rPr>
              <a:t>SIFS</a:t>
            </a:r>
            <a:r>
              <a:rPr sz="1400" spc="-27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+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AIFSN[AC]</a:t>
            </a:r>
            <a:r>
              <a:rPr sz="1400" spc="-20" dirty="0">
                <a:latin typeface="Arial Black"/>
                <a:cs typeface="Arial Black"/>
              </a:rPr>
              <a:t>∙</a:t>
            </a:r>
            <a:r>
              <a:rPr sz="1400" spc="-20" dirty="0">
                <a:latin typeface="Trebuchet MS"/>
                <a:cs typeface="Trebuchet MS"/>
              </a:rPr>
              <a:t>aSlotTime	</a:t>
            </a:r>
            <a:r>
              <a:rPr sz="1400" spc="-30" dirty="0">
                <a:latin typeface="Trebuchet MS"/>
                <a:cs typeface="Trebuchet MS"/>
              </a:rPr>
              <a:t>&gt;=</a:t>
            </a:r>
            <a:r>
              <a:rPr sz="1400" spc="-140" dirty="0">
                <a:latin typeface="Trebuchet MS"/>
                <a:cs typeface="Trebuchet MS"/>
              </a:rPr>
              <a:t> </a:t>
            </a:r>
            <a:r>
              <a:rPr sz="1400" spc="-90" dirty="0"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  <a:p>
            <a:pPr marL="355600" indent="-342900">
              <a:lnSpc>
                <a:spcPts val="1914"/>
              </a:lnSpc>
              <a:buClr>
                <a:srgbClr val="00659A"/>
              </a:buClr>
              <a:buSzPct val="875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1600" spc="35" dirty="0">
                <a:latin typeface="Trebuchet MS"/>
                <a:cs typeface="Trebuchet MS"/>
              </a:rPr>
              <a:t>Min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and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60" dirty="0">
                <a:latin typeface="Trebuchet MS"/>
                <a:cs typeface="Trebuchet MS"/>
              </a:rPr>
              <a:t>Max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of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the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contention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window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are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the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other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parameters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dependent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on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AC.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382371-FE3A-49F7-8475-0A2D310235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97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E61F77A8-2302-9369-795D-1E83F5DAA61E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784" y="288409"/>
            <a:ext cx="6969391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961514" marR="5080" indent="-1895475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Contention‐based</a:t>
            </a:r>
            <a:r>
              <a:rPr spc="-390" dirty="0"/>
              <a:t> </a:t>
            </a:r>
            <a:r>
              <a:rPr spc="-25" dirty="0"/>
              <a:t>Medium  </a:t>
            </a:r>
            <a:r>
              <a:rPr spc="-85" dirty="0"/>
              <a:t>Access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47279" y="1823720"/>
            <a:ext cx="8005445" cy="38417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18465" marR="1085215" indent="-342900" algn="just">
              <a:lnSpc>
                <a:spcPts val="2300"/>
              </a:lnSpc>
              <a:spcBef>
                <a:spcPts val="6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4191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size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CW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backoff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stage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i,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after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90" dirty="0">
                <a:latin typeface="Trebuchet MS"/>
                <a:cs typeface="Trebuchet MS"/>
              </a:rPr>
              <a:t>i‐1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times  </a:t>
            </a:r>
            <a:r>
              <a:rPr sz="2400" spc="-45" dirty="0">
                <a:latin typeface="Trebuchet MS"/>
                <a:cs typeface="Trebuchet MS"/>
              </a:rPr>
              <a:t>unsuccessful </a:t>
            </a:r>
            <a:r>
              <a:rPr sz="2400" spc="-40" dirty="0">
                <a:latin typeface="Trebuchet MS"/>
                <a:cs typeface="Trebuchet MS"/>
              </a:rPr>
              <a:t>transmission</a:t>
            </a:r>
            <a:r>
              <a:rPr sz="2400" spc="-40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is:</a:t>
            </a:r>
            <a:endParaRPr sz="2400" dirty="0">
              <a:latin typeface="Trebuchet MS"/>
              <a:cs typeface="Trebuchet MS"/>
            </a:endParaRPr>
          </a:p>
          <a:p>
            <a:pPr marL="1819275" algn="just">
              <a:lnSpc>
                <a:spcPts val="2390"/>
              </a:lnSpc>
              <a:spcBef>
                <a:spcPts val="40"/>
              </a:spcBef>
            </a:pPr>
            <a:r>
              <a:rPr sz="2000" spc="-40" dirty="0">
                <a:solidFill>
                  <a:srgbClr val="FF0000"/>
                </a:solidFill>
                <a:latin typeface="Trebuchet MS"/>
                <a:cs typeface="Trebuchet MS"/>
              </a:rPr>
              <a:t>CWi[AC] 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sz="2000" spc="-2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0000"/>
                </a:solidFill>
                <a:latin typeface="Trebuchet MS"/>
                <a:cs typeface="Trebuchet MS"/>
              </a:rPr>
              <a:t>min[2</a:t>
            </a:r>
            <a:r>
              <a:rPr sz="1950" spc="-112" baseline="25641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000" spc="-75" dirty="0">
                <a:solidFill>
                  <a:srgbClr val="FF0000"/>
                </a:solidFill>
                <a:latin typeface="Trebuchet MS"/>
                <a:cs typeface="Trebuchet MS"/>
              </a:rPr>
              <a:t>(CWmin[AC]+1)‐1,CWmax[AC]]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18465" marR="57150" indent="-342900" algn="just">
              <a:lnSpc>
                <a:spcPct val="80000"/>
              </a:lnSpc>
              <a:spcBef>
                <a:spcPts val="56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4191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collision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probability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increases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with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smaller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CWmin[AC]  </a:t>
            </a:r>
            <a:r>
              <a:rPr sz="2400" spc="-125" dirty="0">
                <a:latin typeface="Trebuchet MS"/>
                <a:cs typeface="Trebuchet MS"/>
              </a:rPr>
              <a:t>if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there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than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20" dirty="0">
                <a:latin typeface="Trebuchet MS"/>
                <a:cs typeface="Trebuchet MS"/>
              </a:rPr>
              <a:t>1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backoff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entity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respective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AC  </a:t>
            </a:r>
            <a:r>
              <a:rPr sz="2400" spc="-45" dirty="0">
                <a:latin typeface="Trebuchet MS"/>
                <a:cs typeface="Trebuchet MS"/>
              </a:rPr>
              <a:t>operating </a:t>
            </a:r>
            <a:r>
              <a:rPr sz="2400" spc="-90" dirty="0">
                <a:latin typeface="Trebuchet MS"/>
                <a:cs typeface="Trebuchet MS"/>
              </a:rPr>
              <a:t>in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4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QBSS.</a:t>
            </a:r>
            <a:endParaRPr sz="2400" dirty="0">
              <a:latin typeface="Trebuchet MS"/>
              <a:cs typeface="Trebuchet MS"/>
            </a:endParaRPr>
          </a:p>
          <a:p>
            <a:pPr marL="418465" marR="441325" indent="-342900" algn="just">
              <a:lnSpc>
                <a:spcPct val="80000"/>
              </a:lnSpc>
              <a:spcBef>
                <a:spcPts val="58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419100" algn="l"/>
              </a:tabLst>
            </a:pP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smaller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CWmax[AC],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higher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access  </a:t>
            </a:r>
            <a:r>
              <a:rPr sz="2400" spc="-100" dirty="0">
                <a:latin typeface="Trebuchet MS"/>
                <a:cs typeface="Trebuchet MS"/>
              </a:rPr>
              <a:t>priority.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However,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small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CWmax[AC]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increase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70" dirty="0">
                <a:latin typeface="Trebuchet MS"/>
                <a:cs typeface="Trebuchet MS"/>
              </a:rPr>
              <a:t>collision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probability.</a:t>
            </a:r>
            <a:endParaRPr sz="2400" dirty="0">
              <a:latin typeface="Trebuchet MS"/>
              <a:cs typeface="Trebuchet MS"/>
            </a:endParaRPr>
          </a:p>
          <a:p>
            <a:pPr marL="418465" marR="60960" indent="-342900" algn="just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419100" algn="l"/>
              </a:tabLst>
            </a:pPr>
            <a:r>
              <a:rPr sz="2400" spc="-40" dirty="0">
                <a:latin typeface="Trebuchet MS"/>
                <a:cs typeface="Trebuchet MS"/>
              </a:rPr>
              <a:t>Besides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retry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counters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similar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legacy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4" dirty="0">
                <a:latin typeface="Trebuchet MS"/>
                <a:cs typeface="Trebuchet MS"/>
              </a:rPr>
              <a:t>802.11,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802.11e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also  </a:t>
            </a:r>
            <a:r>
              <a:rPr sz="2400" spc="-60" dirty="0">
                <a:latin typeface="Trebuchet MS"/>
                <a:cs typeface="Trebuchet MS"/>
              </a:rPr>
              <a:t>defines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maximum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lifetime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AC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allow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frame  </a:t>
            </a:r>
            <a:r>
              <a:rPr sz="2400" spc="-80" dirty="0">
                <a:latin typeface="Trebuchet MS"/>
                <a:cs typeface="Trebuchet MS"/>
              </a:rPr>
              <a:t>remain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3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MAC.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2F62021-FA69-497B-9022-9DBA840A6F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98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17F05001-B232-7CD1-1067-09079040FECF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440" y="242950"/>
            <a:ext cx="7426591" cy="63222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961514" marR="5080" indent="-1895475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Contention‐based</a:t>
            </a:r>
            <a:r>
              <a:rPr spc="-390" dirty="0"/>
              <a:t> </a:t>
            </a:r>
            <a:r>
              <a:rPr spc="-25" dirty="0"/>
              <a:t>Medium  </a:t>
            </a:r>
            <a:r>
              <a:rPr spc="-85" dirty="0"/>
              <a:t>Access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8" y="1823720"/>
            <a:ext cx="9143999" cy="356392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6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0" dirty="0">
                <a:latin typeface="Trebuchet MS"/>
                <a:cs typeface="Trebuchet MS"/>
              </a:rPr>
              <a:t>Once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TXOP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obtained,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backoff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entity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continue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  </a:t>
            </a:r>
            <a:r>
              <a:rPr sz="2400" spc="-90" dirty="0">
                <a:latin typeface="Trebuchet MS"/>
                <a:cs typeface="Trebuchet MS"/>
              </a:rPr>
              <a:t>deliver </a:t>
            </a:r>
            <a:r>
              <a:rPr sz="2400" spc="-35" dirty="0">
                <a:latin typeface="Trebuchet MS"/>
                <a:cs typeface="Trebuchet MS"/>
              </a:rPr>
              <a:t>more </a:t>
            </a:r>
            <a:r>
              <a:rPr sz="2400" spc="-50" dirty="0">
                <a:latin typeface="Trebuchet MS"/>
                <a:cs typeface="Trebuchet MS"/>
              </a:rPr>
              <a:t>than </a:t>
            </a:r>
            <a:r>
              <a:rPr sz="2400" spc="-420" dirty="0">
                <a:latin typeface="Trebuchet MS"/>
                <a:cs typeface="Trebuchet MS"/>
              </a:rPr>
              <a:t>1 </a:t>
            </a:r>
            <a:r>
              <a:rPr sz="2400" spc="140" dirty="0">
                <a:latin typeface="Trebuchet MS"/>
                <a:cs typeface="Trebuchet MS"/>
              </a:rPr>
              <a:t>MSDU </a:t>
            </a:r>
            <a:r>
              <a:rPr sz="2400" spc="-65" dirty="0">
                <a:latin typeface="Trebuchet MS"/>
                <a:cs typeface="Trebuchet MS"/>
              </a:rPr>
              <a:t>consecutively </a:t>
            </a:r>
            <a:r>
              <a:rPr sz="2400" spc="-40" dirty="0">
                <a:latin typeface="Trebuchet MS"/>
                <a:cs typeface="Trebuchet MS"/>
              </a:rPr>
              <a:t>during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40" dirty="0">
                <a:latin typeface="Trebuchet MS"/>
                <a:cs typeface="Trebuchet MS"/>
              </a:rPr>
              <a:t>same  </a:t>
            </a:r>
            <a:r>
              <a:rPr sz="2400" spc="-85" dirty="0">
                <a:latin typeface="Trebuchet MS"/>
                <a:cs typeface="Trebuchet MS"/>
              </a:rPr>
              <a:t>TXOP,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which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take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up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b="1" spc="-110" dirty="0">
                <a:latin typeface="Trebuchet MS"/>
                <a:cs typeface="Trebuchet MS"/>
              </a:rPr>
              <a:t>TXOPlimit[AC]</a:t>
            </a:r>
            <a:r>
              <a:rPr sz="2400" spc="-110" dirty="0">
                <a:latin typeface="Trebuchet MS"/>
                <a:cs typeface="Trebuchet MS"/>
              </a:rPr>
              <a:t>.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concept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  </a:t>
            </a:r>
            <a:r>
              <a:rPr sz="2400" spc="-80" dirty="0">
                <a:latin typeface="Trebuchet MS"/>
                <a:cs typeface="Trebuchet MS"/>
              </a:rPr>
              <a:t>referred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continuation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EDCF‐TXOP.</a:t>
            </a:r>
            <a:endParaRPr sz="2400" dirty="0">
              <a:latin typeface="Trebuchet MS"/>
              <a:cs typeface="Trebuchet MS"/>
            </a:endParaRPr>
          </a:p>
          <a:p>
            <a:pPr marL="354965" marR="461645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0" dirty="0">
                <a:latin typeface="Trebuchet MS"/>
                <a:cs typeface="Trebuchet MS"/>
              </a:rPr>
              <a:t>Each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AC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has: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QSRC[AC],</a:t>
            </a:r>
            <a:r>
              <a:rPr sz="2400" b="1" spc="-210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QLRC[AC]</a:t>
            </a:r>
            <a:r>
              <a:rPr sz="2400" b="1" spc="-2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(short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long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retry  </a:t>
            </a:r>
            <a:r>
              <a:rPr sz="2400" spc="-65" dirty="0">
                <a:latin typeface="Trebuchet MS"/>
                <a:cs typeface="Trebuchet MS"/>
              </a:rPr>
              <a:t>counters). </a:t>
            </a:r>
            <a:r>
              <a:rPr sz="2400" spc="-90" dirty="0">
                <a:latin typeface="Trebuchet MS"/>
                <a:cs typeface="Trebuchet MS"/>
              </a:rPr>
              <a:t>They </a:t>
            </a:r>
            <a:r>
              <a:rPr sz="2400" spc="-85" dirty="0">
                <a:latin typeface="Trebuchet MS"/>
                <a:cs typeface="Trebuchet MS"/>
              </a:rPr>
              <a:t>are </a:t>
            </a:r>
            <a:r>
              <a:rPr sz="2400" spc="-25" dirty="0">
                <a:latin typeface="Trebuchet MS"/>
                <a:cs typeface="Trebuchet MS"/>
              </a:rPr>
              <a:t>used </a:t>
            </a:r>
            <a:r>
              <a:rPr sz="2400" spc="-35" dirty="0">
                <a:latin typeface="Trebuchet MS"/>
                <a:cs typeface="Trebuchet MS"/>
              </a:rPr>
              <a:t>for </a:t>
            </a:r>
            <a:r>
              <a:rPr sz="2400" spc="90" dirty="0">
                <a:latin typeface="Trebuchet MS"/>
                <a:cs typeface="Trebuchet MS"/>
              </a:rPr>
              <a:t>MAC </a:t>
            </a:r>
            <a:r>
              <a:rPr sz="2400" spc="-55" dirty="0">
                <a:latin typeface="Trebuchet MS"/>
                <a:cs typeface="Trebuchet MS"/>
              </a:rPr>
              <a:t>frames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75" dirty="0">
                <a:latin typeface="Trebuchet MS"/>
                <a:cs typeface="Trebuchet MS"/>
              </a:rPr>
              <a:t>different  </a:t>
            </a:r>
            <a:r>
              <a:rPr sz="2400" spc="-65" dirty="0">
                <a:latin typeface="Trebuchet MS"/>
                <a:cs typeface="Trebuchet MS"/>
              </a:rPr>
              <a:t>lengths.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Their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default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values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given.</a:t>
            </a:r>
            <a:endParaRPr sz="2400" dirty="0">
              <a:latin typeface="Trebuchet MS"/>
              <a:cs typeface="Trebuchet MS"/>
            </a:endParaRPr>
          </a:p>
          <a:p>
            <a:pPr marL="354965" marR="384810" indent="-342900">
              <a:lnSpc>
                <a:spcPts val="230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10" dirty="0">
                <a:latin typeface="Trebuchet MS"/>
                <a:cs typeface="Trebuchet MS"/>
              </a:rPr>
              <a:t>When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than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20" dirty="0">
                <a:latin typeface="Trebuchet MS"/>
                <a:cs typeface="Trebuchet MS"/>
              </a:rPr>
              <a:t>1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entities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same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station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reach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0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at 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same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time,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virtual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collision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occurs.</a:t>
            </a:r>
            <a:endParaRPr sz="2400" dirty="0">
              <a:latin typeface="Trebuchet MS"/>
              <a:cs typeface="Trebuchet MS"/>
            </a:endParaRPr>
          </a:p>
          <a:p>
            <a:pPr marL="354965" marR="64135" indent="-342900">
              <a:lnSpc>
                <a:spcPts val="2300"/>
              </a:lnSpc>
              <a:spcBef>
                <a:spcPts val="58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50" dirty="0">
                <a:latin typeface="Trebuchet MS"/>
                <a:cs typeface="Trebuchet MS"/>
              </a:rPr>
              <a:t>backoff </a:t>
            </a:r>
            <a:r>
              <a:rPr sz="2400" spc="-85" dirty="0">
                <a:latin typeface="Trebuchet MS"/>
                <a:cs typeface="Trebuchet MS"/>
              </a:rPr>
              <a:t>entity </a:t>
            </a:r>
            <a:r>
              <a:rPr sz="2400" spc="-55" dirty="0">
                <a:latin typeface="Trebuchet MS"/>
                <a:cs typeface="Trebuchet MS"/>
              </a:rPr>
              <a:t>with </a:t>
            </a:r>
            <a:r>
              <a:rPr sz="2400" spc="-45" dirty="0">
                <a:latin typeface="Trebuchet MS"/>
                <a:cs typeface="Trebuchet MS"/>
              </a:rPr>
              <a:t>higher </a:t>
            </a:r>
            <a:r>
              <a:rPr sz="2400" spc="-75" dirty="0">
                <a:latin typeface="Trebuchet MS"/>
                <a:cs typeface="Trebuchet MS"/>
              </a:rPr>
              <a:t>priority </a:t>
            </a:r>
            <a:r>
              <a:rPr sz="2400" spc="-110" dirty="0">
                <a:latin typeface="Trebuchet MS"/>
                <a:cs typeface="Trebuchet MS"/>
              </a:rPr>
              <a:t>will </a:t>
            </a:r>
            <a:r>
              <a:rPr sz="2400" spc="-90" dirty="0">
                <a:latin typeface="Trebuchet MS"/>
                <a:cs typeface="Trebuchet MS"/>
              </a:rPr>
              <a:t>transmit,  </a:t>
            </a:r>
            <a:r>
              <a:rPr sz="2400" spc="-40" dirty="0">
                <a:latin typeface="Trebuchet MS"/>
                <a:cs typeface="Trebuchet MS"/>
              </a:rPr>
              <a:t>whereas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others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act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if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real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collision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occurred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15" dirty="0">
                <a:latin typeface="Trebuchet MS"/>
                <a:cs typeface="Trebuchet MS"/>
              </a:rPr>
              <a:t>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90" dirty="0">
                <a:latin typeface="Trebuchet MS"/>
                <a:cs typeface="Trebuchet MS"/>
              </a:rPr>
              <a:t>medium.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BB8E70-9B57-42D8-B44E-7C7E3B693E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99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2065" y="405192"/>
            <a:ext cx="5589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35" dirty="0"/>
              <a:t>Controlled </a:t>
            </a:r>
            <a:r>
              <a:rPr sz="4000" spc="-30" dirty="0"/>
              <a:t>Medium</a:t>
            </a:r>
            <a:r>
              <a:rPr sz="4000" spc="-955" dirty="0"/>
              <a:t> </a:t>
            </a:r>
            <a:r>
              <a:rPr sz="4000" spc="-90" dirty="0"/>
              <a:t>Access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0779" y="1823720"/>
            <a:ext cx="7869555" cy="35369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86360" indent="-342900">
              <a:lnSpc>
                <a:spcPct val="80000"/>
              </a:lnSpc>
              <a:spcBef>
                <a:spcPts val="6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The </a:t>
            </a:r>
            <a:r>
              <a:rPr sz="2400" spc="-60" dirty="0">
                <a:latin typeface="Trebuchet MS"/>
                <a:cs typeface="Trebuchet MS"/>
              </a:rPr>
              <a:t>controlled medium </a:t>
            </a:r>
            <a:r>
              <a:rPr sz="2400" spc="-55" dirty="0">
                <a:latin typeface="Trebuchet MS"/>
                <a:cs typeface="Trebuchet MS"/>
              </a:rPr>
              <a:t>access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125" dirty="0">
                <a:latin typeface="Trebuchet MS"/>
                <a:cs typeface="Trebuchet MS"/>
              </a:rPr>
              <a:t>HCF, </a:t>
            </a:r>
            <a:r>
              <a:rPr sz="2400" spc="-80" dirty="0">
                <a:latin typeface="Trebuchet MS"/>
                <a:cs typeface="Trebuchet MS"/>
              </a:rPr>
              <a:t>referred </a:t>
            </a:r>
            <a:r>
              <a:rPr sz="2400" spc="-20" dirty="0">
                <a:latin typeface="Trebuchet MS"/>
                <a:cs typeface="Trebuchet MS"/>
              </a:rPr>
              <a:t>to </a:t>
            </a:r>
            <a:r>
              <a:rPr sz="2400" spc="-30" dirty="0">
                <a:latin typeface="Trebuchet MS"/>
                <a:cs typeface="Trebuchet MS"/>
              </a:rPr>
              <a:t>as  </a:t>
            </a:r>
            <a:r>
              <a:rPr sz="2400" spc="-45" dirty="0">
                <a:latin typeface="Trebuchet MS"/>
                <a:cs typeface="Trebuchet MS"/>
              </a:rPr>
              <a:t>HCCA </a:t>
            </a:r>
            <a:r>
              <a:rPr sz="2400" spc="-35" dirty="0">
                <a:latin typeface="Trebuchet MS"/>
                <a:cs typeface="Trebuchet MS"/>
              </a:rPr>
              <a:t>extends </a:t>
            </a:r>
            <a:r>
              <a:rPr sz="2400" spc="-60" dirty="0">
                <a:latin typeface="Trebuchet MS"/>
                <a:cs typeface="Trebuchet MS"/>
              </a:rPr>
              <a:t>the </a:t>
            </a:r>
            <a:r>
              <a:rPr sz="2400" spc="-5" dirty="0">
                <a:latin typeface="Trebuchet MS"/>
                <a:cs typeface="Trebuchet MS"/>
              </a:rPr>
              <a:t>EDCA </a:t>
            </a:r>
            <a:r>
              <a:rPr sz="2400" spc="-55" dirty="0">
                <a:latin typeface="Trebuchet MS"/>
                <a:cs typeface="Trebuchet MS"/>
              </a:rPr>
              <a:t>access </a:t>
            </a:r>
            <a:r>
              <a:rPr sz="2400" spc="-70" dirty="0">
                <a:latin typeface="Trebuchet MS"/>
                <a:cs typeface="Trebuchet MS"/>
              </a:rPr>
              <a:t>rules </a:t>
            </a:r>
            <a:r>
              <a:rPr sz="2400" spc="-40" dirty="0">
                <a:latin typeface="Trebuchet MS"/>
                <a:cs typeface="Trebuchet MS"/>
              </a:rPr>
              <a:t>by </a:t>
            </a:r>
            <a:r>
              <a:rPr sz="2400" spc="-50" dirty="0">
                <a:latin typeface="Trebuchet MS"/>
                <a:cs typeface="Trebuchet MS"/>
              </a:rPr>
              <a:t>allowing </a:t>
            </a:r>
            <a:r>
              <a:rPr sz="2400" spc="-60" dirty="0">
                <a:latin typeface="Trebuchet MS"/>
                <a:cs typeface="Trebuchet MS"/>
              </a:rPr>
              <a:t>the  </a:t>
            </a:r>
            <a:r>
              <a:rPr sz="2400" spc="-35" dirty="0">
                <a:latin typeface="Trebuchet MS"/>
                <a:cs typeface="Trebuchet MS"/>
              </a:rPr>
              <a:t>highest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access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during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both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CFP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CP.</a:t>
            </a:r>
            <a:endParaRPr sz="2400">
              <a:latin typeface="Trebuchet MS"/>
              <a:cs typeface="Trebuchet MS"/>
            </a:endParaRPr>
          </a:p>
          <a:p>
            <a:pPr marL="354965" marR="33655" indent="-342900">
              <a:lnSpc>
                <a:spcPct val="80000"/>
              </a:lnSpc>
              <a:spcBef>
                <a:spcPts val="57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may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allocate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TXOPs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itself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initiate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MSDU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deliveries  </a:t>
            </a:r>
            <a:r>
              <a:rPr sz="2400" spc="-45" dirty="0">
                <a:latin typeface="Trebuchet MS"/>
                <a:cs typeface="Trebuchet MS"/>
              </a:rPr>
              <a:t>whenever </a:t>
            </a:r>
            <a:r>
              <a:rPr sz="2400" spc="-95" dirty="0">
                <a:latin typeface="Trebuchet MS"/>
                <a:cs typeface="Trebuchet MS"/>
              </a:rPr>
              <a:t>required, </a:t>
            </a:r>
            <a:r>
              <a:rPr sz="2400" spc="-85" dirty="0">
                <a:latin typeface="Trebuchet MS"/>
                <a:cs typeface="Trebuchet MS"/>
              </a:rPr>
              <a:t>after </a:t>
            </a:r>
            <a:r>
              <a:rPr sz="2400" spc="-60" dirty="0">
                <a:latin typeface="Trebuchet MS"/>
                <a:cs typeface="Trebuchet MS"/>
              </a:rPr>
              <a:t>detecting the medium </a:t>
            </a:r>
            <a:r>
              <a:rPr sz="2400" spc="-105" dirty="0">
                <a:latin typeface="Trebuchet MS"/>
                <a:cs typeface="Trebuchet MS"/>
              </a:rPr>
              <a:t>idle </a:t>
            </a:r>
            <a:r>
              <a:rPr sz="2400" spc="-35" dirty="0">
                <a:latin typeface="Trebuchet MS"/>
                <a:cs typeface="Trebuchet MS"/>
              </a:rPr>
              <a:t>for  </a:t>
            </a:r>
            <a:r>
              <a:rPr sz="2400" spc="-10" dirty="0">
                <a:latin typeface="Trebuchet MS"/>
                <a:cs typeface="Trebuchet MS"/>
              </a:rPr>
              <a:t>PIFS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duration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without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backoff.</a:t>
            </a:r>
            <a:endParaRPr sz="2400">
              <a:latin typeface="Trebuchet MS"/>
              <a:cs typeface="Trebuchet MS"/>
            </a:endParaRPr>
          </a:p>
          <a:p>
            <a:pPr marL="354965" marR="5080" indent="-342900">
              <a:lnSpc>
                <a:spcPts val="2300"/>
              </a:lnSpc>
              <a:spcBef>
                <a:spcPts val="56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135" dirty="0">
                <a:latin typeface="Trebuchet MS"/>
                <a:cs typeface="Trebuchet MS"/>
              </a:rPr>
              <a:t>To </a:t>
            </a:r>
            <a:r>
              <a:rPr sz="2400" spc="-45" dirty="0">
                <a:latin typeface="Trebuchet MS"/>
                <a:cs typeface="Trebuchet MS"/>
              </a:rPr>
              <a:t>give </a:t>
            </a:r>
            <a:r>
              <a:rPr sz="2400" spc="-65" dirty="0">
                <a:latin typeface="Trebuchet MS"/>
                <a:cs typeface="Trebuchet MS"/>
              </a:rPr>
              <a:t>HC </a:t>
            </a:r>
            <a:r>
              <a:rPr sz="2400" spc="-45" dirty="0">
                <a:latin typeface="Trebuchet MS"/>
                <a:cs typeface="Trebuchet MS"/>
              </a:rPr>
              <a:t>higher </a:t>
            </a:r>
            <a:r>
              <a:rPr sz="2400" spc="-75" dirty="0">
                <a:latin typeface="Trebuchet MS"/>
                <a:cs typeface="Trebuchet MS"/>
              </a:rPr>
              <a:t>priority </a:t>
            </a:r>
            <a:r>
              <a:rPr sz="2400" spc="-40" dirty="0">
                <a:latin typeface="Trebuchet MS"/>
                <a:cs typeface="Trebuchet MS"/>
              </a:rPr>
              <a:t>over </a:t>
            </a:r>
            <a:r>
              <a:rPr sz="2400" spc="-70" dirty="0">
                <a:latin typeface="Trebuchet MS"/>
                <a:cs typeface="Trebuchet MS"/>
              </a:rPr>
              <a:t>legacy </a:t>
            </a:r>
            <a:r>
              <a:rPr sz="2400" spc="-40" dirty="0">
                <a:latin typeface="Trebuchet MS"/>
                <a:cs typeface="Trebuchet MS"/>
              </a:rPr>
              <a:t>DCF and </a:t>
            </a:r>
            <a:r>
              <a:rPr sz="2400" spc="-60" dirty="0">
                <a:latin typeface="Trebuchet MS"/>
                <a:cs typeface="Trebuchet MS"/>
              </a:rPr>
              <a:t>EDCA,  </a:t>
            </a:r>
            <a:r>
              <a:rPr sz="2400" spc="-5" dirty="0">
                <a:latin typeface="Trebuchet MS"/>
                <a:cs typeface="Trebuchet MS"/>
              </a:rPr>
              <a:t>AIFSN[AC]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must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selected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such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that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earliest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medium  </a:t>
            </a:r>
            <a:r>
              <a:rPr sz="2400" spc="-55" dirty="0">
                <a:latin typeface="Trebuchet MS"/>
                <a:cs typeface="Trebuchet MS"/>
              </a:rPr>
              <a:t>access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EDCA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10" dirty="0">
                <a:latin typeface="Trebuchet MS"/>
                <a:cs typeface="Trebuchet MS"/>
              </a:rPr>
              <a:t>DIFS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for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any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AC.</a:t>
            </a:r>
            <a:endParaRPr sz="2400">
              <a:latin typeface="Trebuchet MS"/>
              <a:cs typeface="Trebuchet MS"/>
            </a:endParaRPr>
          </a:p>
          <a:p>
            <a:pPr marL="354965" marR="344805" indent="-342900">
              <a:lnSpc>
                <a:spcPct val="80000"/>
              </a:lnSpc>
              <a:spcBef>
                <a:spcPts val="605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55" dirty="0">
                <a:latin typeface="Trebuchet MS"/>
                <a:cs typeface="Trebuchet MS"/>
              </a:rPr>
              <a:t>QoS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CF‐Poll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from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HC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be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after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PIFS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idle  </a:t>
            </a:r>
            <a:r>
              <a:rPr sz="2400" spc="-85" dirty="0">
                <a:latin typeface="Trebuchet MS"/>
                <a:cs typeface="Trebuchet MS"/>
              </a:rPr>
              <a:t>period, </a:t>
            </a:r>
            <a:r>
              <a:rPr sz="2400" spc="-45" dirty="0">
                <a:latin typeface="Trebuchet MS"/>
                <a:cs typeface="Trebuchet MS"/>
              </a:rPr>
              <a:t>without</a:t>
            </a:r>
            <a:r>
              <a:rPr sz="2400" spc="-3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backoff.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719C628-D216-4BC1-AF35-277D461523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100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FABE00FD-9CD7-5570-F7FD-4060E0C8058E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7637" y="197168"/>
            <a:ext cx="5589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35" dirty="0"/>
              <a:t>Controlled </a:t>
            </a:r>
            <a:r>
              <a:rPr sz="4000" spc="-30" dirty="0"/>
              <a:t>Medium</a:t>
            </a:r>
            <a:r>
              <a:rPr sz="4000" spc="-955" dirty="0"/>
              <a:t> </a:t>
            </a:r>
            <a:r>
              <a:rPr sz="4000" spc="-90" dirty="0"/>
              <a:t>Access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779" y="1886204"/>
            <a:ext cx="8988921" cy="352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5" dirty="0">
                <a:latin typeface="Trebuchet MS"/>
                <a:cs typeface="Trebuchet MS"/>
              </a:rPr>
              <a:t>During </a:t>
            </a:r>
            <a:r>
              <a:rPr sz="2800" spc="-145" dirty="0">
                <a:latin typeface="Trebuchet MS"/>
                <a:cs typeface="Trebuchet MS"/>
              </a:rPr>
              <a:t>CFP, </a:t>
            </a:r>
            <a:r>
              <a:rPr sz="2800" spc="-210" dirty="0">
                <a:latin typeface="Trebuchet MS"/>
                <a:cs typeface="Trebuchet MS"/>
              </a:rPr>
              <a:t>802.11e </a:t>
            </a:r>
            <a:r>
              <a:rPr sz="2800" spc="-60" dirty="0">
                <a:latin typeface="Trebuchet MS"/>
                <a:cs typeface="Trebuchet MS"/>
              </a:rPr>
              <a:t>backoff </a:t>
            </a:r>
            <a:r>
              <a:rPr sz="2800" spc="-95" dirty="0">
                <a:latin typeface="Trebuchet MS"/>
                <a:cs typeface="Trebuchet MS"/>
              </a:rPr>
              <a:t>entities </a:t>
            </a:r>
            <a:r>
              <a:rPr sz="2800" spc="-125" dirty="0">
                <a:latin typeface="Trebuchet MS"/>
                <a:cs typeface="Trebuchet MS"/>
              </a:rPr>
              <a:t>will </a:t>
            </a:r>
            <a:r>
              <a:rPr sz="2800" spc="-20" dirty="0">
                <a:latin typeface="Trebuchet MS"/>
                <a:cs typeface="Trebuchet MS"/>
              </a:rPr>
              <a:t>not  </a:t>
            </a:r>
            <a:r>
              <a:rPr sz="2800" spc="-85" dirty="0">
                <a:latin typeface="Trebuchet MS"/>
                <a:cs typeface="Trebuchet MS"/>
              </a:rPr>
              <a:t>attempt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60" dirty="0">
                <a:latin typeface="Trebuchet MS"/>
                <a:cs typeface="Trebuchet MS"/>
              </a:rPr>
              <a:t>access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65" dirty="0">
                <a:latin typeface="Trebuchet MS"/>
                <a:cs typeface="Trebuchet MS"/>
              </a:rPr>
              <a:t>medium </a:t>
            </a:r>
            <a:r>
              <a:rPr sz="2800" spc="-45" dirty="0">
                <a:latin typeface="Trebuchet MS"/>
                <a:cs typeface="Trebuchet MS"/>
              </a:rPr>
              <a:t>without </a:t>
            </a:r>
            <a:r>
              <a:rPr sz="2800" spc="-40" dirty="0">
                <a:latin typeface="Trebuchet MS"/>
                <a:cs typeface="Trebuchet MS"/>
              </a:rPr>
              <a:t>being  </a:t>
            </a:r>
            <a:r>
              <a:rPr sz="2800" spc="-120" dirty="0">
                <a:latin typeface="Trebuchet MS"/>
                <a:cs typeface="Trebuchet MS"/>
              </a:rPr>
              <a:t>explicitly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polled,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hence,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only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HC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can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allocate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TXOPs  </a:t>
            </a:r>
            <a:r>
              <a:rPr sz="2800" spc="-45" dirty="0">
                <a:latin typeface="Trebuchet MS"/>
                <a:cs typeface="Trebuchet MS"/>
              </a:rPr>
              <a:t>by </a:t>
            </a:r>
            <a:r>
              <a:rPr sz="2800" spc="-75" dirty="0">
                <a:latin typeface="Trebuchet MS"/>
                <a:cs typeface="Trebuchet MS"/>
              </a:rPr>
              <a:t>transmitting </a:t>
            </a:r>
            <a:r>
              <a:rPr sz="2800" spc="65" dirty="0">
                <a:latin typeface="Trebuchet MS"/>
                <a:cs typeface="Trebuchet MS"/>
              </a:rPr>
              <a:t>QoS</a:t>
            </a:r>
            <a:r>
              <a:rPr sz="2800" spc="-63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CF‐Poll.</a:t>
            </a:r>
            <a:endParaRPr sz="2800" dirty="0">
              <a:latin typeface="Trebuchet MS"/>
              <a:cs typeface="Trebuchet MS"/>
            </a:endParaRPr>
          </a:p>
          <a:p>
            <a:pPr marL="354965" marR="43180" indent="-342900">
              <a:lnSpc>
                <a:spcPct val="100000"/>
              </a:lnSpc>
              <a:spcBef>
                <a:spcPts val="670"/>
              </a:spcBef>
              <a:buClr>
                <a:srgbClr val="00659A"/>
              </a:buClr>
              <a:buSzPct val="89285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800" spc="-25" dirty="0">
                <a:latin typeface="Trebuchet MS"/>
                <a:cs typeface="Trebuchet MS"/>
              </a:rPr>
              <a:t>During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polled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TXOP,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polled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station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can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transmit  </a:t>
            </a:r>
            <a:r>
              <a:rPr sz="2800" spc="-110" dirty="0">
                <a:latin typeface="Trebuchet MS"/>
                <a:cs typeface="Trebuchet MS"/>
              </a:rPr>
              <a:t>multiple </a:t>
            </a:r>
            <a:r>
              <a:rPr sz="2800" spc="-105" dirty="0">
                <a:latin typeface="Trebuchet MS"/>
                <a:cs typeface="Trebuchet MS"/>
              </a:rPr>
              <a:t>frames, </a:t>
            </a:r>
            <a:r>
              <a:rPr sz="2800" spc="-65" dirty="0">
                <a:latin typeface="Trebuchet MS"/>
                <a:cs typeface="Trebuchet MS"/>
              </a:rPr>
              <a:t>with </a:t>
            </a:r>
            <a:r>
              <a:rPr sz="2800" spc="10" dirty="0">
                <a:latin typeface="Trebuchet MS"/>
                <a:cs typeface="Trebuchet MS"/>
              </a:rPr>
              <a:t>SIFS </a:t>
            </a:r>
            <a:r>
              <a:rPr sz="2800" spc="-50" dirty="0">
                <a:latin typeface="Trebuchet MS"/>
                <a:cs typeface="Trebuchet MS"/>
              </a:rPr>
              <a:t>between </a:t>
            </a:r>
            <a:r>
              <a:rPr sz="2800" spc="-175" dirty="0">
                <a:latin typeface="Trebuchet MS"/>
                <a:cs typeface="Trebuchet MS"/>
              </a:rPr>
              <a:t>2 </a:t>
            </a:r>
            <a:r>
              <a:rPr sz="2800" spc="-65" dirty="0">
                <a:latin typeface="Trebuchet MS"/>
                <a:cs typeface="Trebuchet MS"/>
              </a:rPr>
              <a:t>consecutive  </a:t>
            </a:r>
            <a:r>
              <a:rPr sz="2800" spc="-60" dirty="0">
                <a:latin typeface="Trebuchet MS"/>
                <a:cs typeface="Trebuchet MS"/>
              </a:rPr>
              <a:t>frames </a:t>
            </a:r>
            <a:r>
              <a:rPr sz="2800" spc="-35" dirty="0">
                <a:latin typeface="Trebuchet MS"/>
                <a:cs typeface="Trebuchet MS"/>
              </a:rPr>
              <a:t>as </a:t>
            </a:r>
            <a:r>
              <a:rPr sz="2800" spc="-10" dirty="0">
                <a:latin typeface="Trebuchet MS"/>
                <a:cs typeface="Trebuchet MS"/>
              </a:rPr>
              <a:t>long </a:t>
            </a:r>
            <a:r>
              <a:rPr sz="2800" spc="-35" dirty="0">
                <a:latin typeface="Trebuchet MS"/>
                <a:cs typeface="Trebuchet MS"/>
              </a:rPr>
              <a:t>as </a:t>
            </a:r>
            <a:r>
              <a:rPr sz="2800" spc="-70" dirty="0">
                <a:latin typeface="Trebuchet MS"/>
                <a:cs typeface="Trebuchet MS"/>
              </a:rPr>
              <a:t>the </a:t>
            </a:r>
            <a:r>
              <a:rPr sz="2800" spc="-100" dirty="0">
                <a:latin typeface="Trebuchet MS"/>
                <a:cs typeface="Trebuchet MS"/>
              </a:rPr>
              <a:t>entire </a:t>
            </a:r>
            <a:r>
              <a:rPr sz="2800" spc="-45" dirty="0">
                <a:latin typeface="Trebuchet MS"/>
                <a:cs typeface="Trebuchet MS"/>
              </a:rPr>
              <a:t>exchange </a:t>
            </a:r>
            <a:r>
              <a:rPr sz="2800" spc="-65" dirty="0">
                <a:latin typeface="Trebuchet MS"/>
                <a:cs typeface="Trebuchet MS"/>
              </a:rPr>
              <a:t>duration  </a:t>
            </a:r>
            <a:r>
              <a:rPr sz="2800" spc="-5" dirty="0">
                <a:latin typeface="Trebuchet MS"/>
                <a:cs typeface="Trebuchet MS"/>
              </a:rPr>
              <a:t>does</a:t>
            </a:r>
            <a:r>
              <a:rPr sz="2800" spc="-65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not </a:t>
            </a:r>
            <a:r>
              <a:rPr sz="2800" spc="-70" dirty="0">
                <a:latin typeface="Trebuchet MS"/>
                <a:cs typeface="Trebuchet MS"/>
              </a:rPr>
              <a:t>exceed </a:t>
            </a:r>
            <a:r>
              <a:rPr sz="2800" spc="-120" dirty="0">
                <a:latin typeface="Trebuchet MS"/>
                <a:cs typeface="Trebuchet MS"/>
              </a:rPr>
              <a:t>TXOPlimit.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3BE7D3C-A621-45E4-8210-B0805DCFDC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101</a:t>
            </a:fld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A3B57445-A633-B7D0-B004-8122B5606DB3}"/>
              </a:ext>
            </a:extLst>
          </p:cNvPr>
          <p:cNvSpPr txBox="1">
            <a:spLocks/>
          </p:cNvSpPr>
          <p:nvPr/>
        </p:nvSpPr>
        <p:spPr>
          <a:xfrm>
            <a:off x="1310779" y="15125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0639" y="379700"/>
            <a:ext cx="580898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000" spc="-135" dirty="0"/>
              <a:t>IEEE 802.11e Superframe</a:t>
            </a:r>
          </a:p>
        </p:txBody>
      </p:sp>
      <p:sp>
        <p:nvSpPr>
          <p:cNvPr id="3" name="object 3"/>
          <p:cNvSpPr/>
          <p:nvPr/>
        </p:nvSpPr>
        <p:spPr>
          <a:xfrm>
            <a:off x="2042045" y="2011679"/>
            <a:ext cx="6733793" cy="22235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91766" y="4343348"/>
            <a:ext cx="8684133" cy="132600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4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80" dirty="0">
                <a:latin typeface="Trebuchet MS"/>
                <a:cs typeface="Trebuchet MS"/>
              </a:rPr>
              <a:t>The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superframe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starts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with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beacon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transmitted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by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HC.</a:t>
            </a:r>
            <a:endParaRPr sz="2000" dirty="0">
              <a:latin typeface="Trebuchet MS"/>
              <a:cs typeface="Trebuchet MS"/>
            </a:endParaRPr>
          </a:p>
          <a:p>
            <a:pPr marL="354965" marR="38735" indent="-342900">
              <a:lnSpc>
                <a:spcPts val="2160"/>
              </a:lnSpc>
              <a:spcBef>
                <a:spcPts val="509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20" dirty="0">
                <a:latin typeface="Trebuchet MS"/>
                <a:cs typeface="Trebuchet MS"/>
              </a:rPr>
              <a:t>During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CFP,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backoff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entites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only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transmit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upon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being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polled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by </a:t>
            </a:r>
            <a:r>
              <a:rPr sz="2000" spc="-114" dirty="0">
                <a:latin typeface="Trebuchet MS"/>
                <a:cs typeface="Trebuchet MS"/>
              </a:rPr>
              <a:t>HC.</a:t>
            </a:r>
            <a:endParaRPr sz="200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ts val="2160"/>
              </a:lnSpc>
              <a:spcBef>
                <a:spcPts val="480"/>
              </a:spcBef>
              <a:buClr>
                <a:srgbClr val="00659A"/>
              </a:buClr>
              <a:buSzPct val="90000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000" spc="-20" dirty="0">
                <a:latin typeface="Trebuchet MS"/>
                <a:cs typeface="Trebuchet MS"/>
              </a:rPr>
              <a:t>During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CP,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HC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may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poll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station,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which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is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different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from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PCF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of  </a:t>
            </a:r>
            <a:r>
              <a:rPr sz="2000" spc="-55" dirty="0">
                <a:latin typeface="Trebuchet MS"/>
                <a:cs typeface="Trebuchet MS"/>
              </a:rPr>
              <a:t>the </a:t>
            </a:r>
            <a:r>
              <a:rPr sz="2000" spc="-65" dirty="0">
                <a:latin typeface="Trebuchet MS"/>
                <a:cs typeface="Trebuchet MS"/>
              </a:rPr>
              <a:t>legacy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802.11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C21AFEB-0E7D-42B2-8CEB-A56D10F271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173" y="409142"/>
            <a:ext cx="548259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35" dirty="0"/>
              <a:t>Block Acknowledgment</a:t>
            </a:r>
          </a:p>
        </p:txBody>
      </p:sp>
      <p:sp>
        <p:nvSpPr>
          <p:cNvPr id="3" name="object 3"/>
          <p:cNvSpPr/>
          <p:nvPr/>
        </p:nvSpPr>
        <p:spPr>
          <a:xfrm>
            <a:off x="2451239" y="2100072"/>
            <a:ext cx="6210300" cy="2211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58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1714500"/>
                </a:lnTo>
                <a:lnTo>
                  <a:pt x="9144000" y="1714500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91767" y="4400804"/>
            <a:ext cx="7569834" cy="1491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2900">
              <a:lnSpc>
                <a:spcPct val="100299"/>
              </a:lnSpc>
              <a:spcBef>
                <a:spcPts val="90"/>
              </a:spcBef>
              <a:buClr>
                <a:srgbClr val="00659A"/>
              </a:buClr>
              <a:buSzPct val="89583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400" spc="-45" dirty="0">
                <a:latin typeface="Trebuchet MS"/>
                <a:cs typeface="Trebuchet MS"/>
              </a:rPr>
              <a:t>Block </a:t>
            </a:r>
            <a:r>
              <a:rPr sz="2400" spc="-35" dirty="0">
                <a:latin typeface="Trebuchet MS"/>
                <a:cs typeface="Trebuchet MS"/>
              </a:rPr>
              <a:t>acknowledgments </a:t>
            </a:r>
            <a:r>
              <a:rPr sz="2400" spc="-60" dirty="0">
                <a:latin typeface="Trebuchet MS"/>
                <a:cs typeface="Trebuchet MS"/>
              </a:rPr>
              <a:t>allow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50" dirty="0">
                <a:latin typeface="Trebuchet MS"/>
                <a:cs typeface="Trebuchet MS"/>
              </a:rPr>
              <a:t>backoff </a:t>
            </a:r>
            <a:r>
              <a:rPr sz="2400" spc="-85" dirty="0">
                <a:latin typeface="Trebuchet MS"/>
                <a:cs typeface="Trebuchet MS"/>
              </a:rPr>
              <a:t>entity </a:t>
            </a:r>
            <a:r>
              <a:rPr sz="2400" spc="-20" dirty="0">
                <a:latin typeface="Trebuchet MS"/>
                <a:cs typeface="Trebuchet MS"/>
              </a:rPr>
              <a:t>to  </a:t>
            </a:r>
            <a:r>
              <a:rPr sz="2400" spc="-90" dirty="0">
                <a:latin typeface="Trebuchet MS"/>
                <a:cs typeface="Trebuchet MS"/>
              </a:rPr>
              <a:t>deliver </a:t>
            </a:r>
            <a:r>
              <a:rPr sz="2400" spc="-85" dirty="0">
                <a:latin typeface="Trebuchet MS"/>
                <a:cs typeface="Trebuchet MS"/>
              </a:rPr>
              <a:t>a </a:t>
            </a:r>
            <a:r>
              <a:rPr sz="2400" spc="-40" dirty="0">
                <a:latin typeface="Trebuchet MS"/>
                <a:cs typeface="Trebuchet MS"/>
              </a:rPr>
              <a:t>number </a:t>
            </a:r>
            <a:r>
              <a:rPr sz="2400" spc="-15" dirty="0">
                <a:latin typeface="Trebuchet MS"/>
                <a:cs typeface="Trebuchet MS"/>
              </a:rPr>
              <a:t>of </a:t>
            </a:r>
            <a:r>
              <a:rPr sz="2400" spc="120" dirty="0">
                <a:latin typeface="Trebuchet MS"/>
                <a:cs typeface="Trebuchet MS"/>
              </a:rPr>
              <a:t>MSDUs </a:t>
            </a:r>
            <a:r>
              <a:rPr sz="2400" spc="-35" dirty="0">
                <a:latin typeface="Trebuchet MS"/>
                <a:cs typeface="Trebuchet MS"/>
              </a:rPr>
              <a:t>being </a:t>
            </a:r>
            <a:r>
              <a:rPr sz="2400" spc="-85" dirty="0">
                <a:latin typeface="Trebuchet MS"/>
                <a:cs typeface="Trebuchet MS"/>
              </a:rPr>
              <a:t>delivered  </a:t>
            </a:r>
            <a:r>
              <a:rPr sz="2400" spc="-65" dirty="0">
                <a:latin typeface="Trebuchet MS"/>
                <a:cs typeface="Trebuchet MS"/>
              </a:rPr>
              <a:t>consecutively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during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one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TXOP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transmitted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without  </a:t>
            </a:r>
            <a:r>
              <a:rPr sz="2400" spc="-90" dirty="0">
                <a:latin typeface="Trebuchet MS"/>
                <a:cs typeface="Trebuchet MS"/>
              </a:rPr>
              <a:t>individual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ACK.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4035" dirty="0">
                <a:latin typeface="Wingdings"/>
                <a:cs typeface="Wingdings"/>
              </a:rPr>
              <a:t>€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Throughput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efficiency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improved.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F023101-27F6-469A-B2B5-A767D42F0C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103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550F2772-91BB-6A07-FB7F-24CCF336FA41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7300" y="3171825"/>
            <a:ext cx="6043930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50" dirty="0"/>
              <a:t>Direct</a:t>
            </a:r>
            <a:r>
              <a:rPr sz="4400" spc="-475" dirty="0"/>
              <a:t> </a:t>
            </a:r>
            <a:r>
              <a:rPr sz="4400" spc="-85" dirty="0"/>
              <a:t>Link</a:t>
            </a:r>
            <a:r>
              <a:rPr sz="4400" spc="-480" dirty="0"/>
              <a:t> </a:t>
            </a:r>
            <a:r>
              <a:rPr sz="4400" spc="-130" dirty="0"/>
              <a:t>Protocol</a:t>
            </a:r>
            <a:r>
              <a:rPr sz="4400" spc="-430" dirty="0"/>
              <a:t> </a:t>
            </a:r>
            <a:r>
              <a:rPr sz="4400" spc="-50" dirty="0"/>
              <a:t>(DLP)</a:t>
            </a:r>
            <a:r>
              <a:rPr lang="en-US" sz="4400" spc="-50" dirty="0"/>
              <a:t> for IEEE 802.11 WLAN</a:t>
            </a:r>
            <a:endParaRPr sz="4400" dirty="0"/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F9AAF82-0EEA-43D7-8F65-F8B92AB2C0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500" y="345439"/>
            <a:ext cx="60439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50" dirty="0"/>
              <a:t>Direct</a:t>
            </a:r>
            <a:r>
              <a:rPr sz="4400" spc="-475" dirty="0"/>
              <a:t> </a:t>
            </a:r>
            <a:r>
              <a:rPr sz="4400" spc="-85" dirty="0"/>
              <a:t>Link</a:t>
            </a:r>
            <a:r>
              <a:rPr sz="4400" spc="-480" dirty="0"/>
              <a:t> </a:t>
            </a:r>
            <a:r>
              <a:rPr sz="4400" spc="-130" dirty="0"/>
              <a:t>Protocol</a:t>
            </a:r>
            <a:r>
              <a:rPr sz="4400" spc="-430" dirty="0"/>
              <a:t> </a:t>
            </a:r>
            <a:r>
              <a:rPr sz="4400" spc="-50" dirty="0"/>
              <a:t>(DLP)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041900" y="2208530"/>
            <a:ext cx="5651500" cy="3246273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marR="328930" indent="-342900">
              <a:lnSpc>
                <a:spcPct val="80000"/>
              </a:lnSpc>
              <a:spcBef>
                <a:spcPts val="630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10" dirty="0">
                <a:latin typeface="Trebuchet MS"/>
                <a:cs typeface="Trebuchet MS"/>
              </a:rPr>
              <a:t>In</a:t>
            </a:r>
            <a:r>
              <a:rPr sz="2200" spc="-204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the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rgbClr val="FF0000"/>
                </a:solidFill>
                <a:latin typeface="Trebuchet MS"/>
                <a:cs typeface="Trebuchet MS"/>
              </a:rPr>
              <a:t>legacy</a:t>
            </a:r>
            <a:r>
              <a:rPr sz="22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90" dirty="0">
                <a:solidFill>
                  <a:srgbClr val="FF0000"/>
                </a:solidFill>
                <a:latin typeface="Trebuchet MS"/>
                <a:cs typeface="Trebuchet MS"/>
              </a:rPr>
              <a:t>802.11,</a:t>
            </a:r>
            <a:r>
              <a:rPr sz="22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within</a:t>
            </a:r>
            <a:r>
              <a:rPr sz="2200" spc="-21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an  </a:t>
            </a:r>
            <a:r>
              <a:rPr sz="2200" spc="-70" dirty="0">
                <a:latin typeface="Trebuchet MS"/>
                <a:cs typeface="Trebuchet MS"/>
              </a:rPr>
              <a:t>infrastructure‐based </a:t>
            </a:r>
            <a:r>
              <a:rPr sz="2200" spc="-20" dirty="0">
                <a:latin typeface="Trebuchet MS"/>
                <a:cs typeface="Trebuchet MS"/>
              </a:rPr>
              <a:t>BSS, </a:t>
            </a:r>
            <a:r>
              <a:rPr sz="2200" spc="15" dirty="0">
                <a:solidFill>
                  <a:srgbClr val="FF0000"/>
                </a:solidFill>
                <a:latin typeface="Trebuchet MS"/>
                <a:cs typeface="Trebuchet MS"/>
              </a:rPr>
              <a:t>AP  </a:t>
            </a:r>
            <a:r>
              <a:rPr sz="2200" spc="-70" dirty="0">
                <a:solidFill>
                  <a:srgbClr val="FF0000"/>
                </a:solidFill>
                <a:latin typeface="Trebuchet MS"/>
                <a:cs typeface="Trebuchet MS"/>
              </a:rPr>
              <a:t>relays </a:t>
            </a:r>
            <a:r>
              <a:rPr sz="2200" spc="-125" dirty="0">
                <a:solidFill>
                  <a:srgbClr val="FF0000"/>
                </a:solidFill>
                <a:latin typeface="Trebuchet MS"/>
                <a:cs typeface="Trebuchet MS"/>
              </a:rPr>
              <a:t>all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2200" spc="-80" dirty="0">
                <a:solidFill>
                  <a:srgbClr val="FF0000"/>
                </a:solidFill>
                <a:latin typeface="Trebuchet MS"/>
                <a:cs typeface="Trebuchet MS"/>
              </a:rPr>
              <a:t>frames. </a:t>
            </a:r>
            <a:r>
              <a:rPr sz="2200" spc="-75" dirty="0">
                <a:solidFill>
                  <a:srgbClr val="FF0000"/>
                </a:solidFill>
                <a:latin typeface="Trebuchet MS"/>
                <a:cs typeface="Trebuchet MS"/>
              </a:rPr>
              <a:t>This  </a:t>
            </a:r>
            <a:r>
              <a:rPr sz="2200" spc="-25" dirty="0">
                <a:solidFill>
                  <a:srgbClr val="FF0000"/>
                </a:solidFill>
                <a:latin typeface="Trebuchet MS"/>
                <a:cs typeface="Trebuchet MS"/>
              </a:rPr>
              <a:t>wastes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2200" spc="-65" dirty="0">
                <a:solidFill>
                  <a:srgbClr val="FF0000"/>
                </a:solidFill>
                <a:latin typeface="Trebuchet MS"/>
                <a:cs typeface="Trebuchet MS"/>
              </a:rPr>
              <a:t>channel </a:t>
            </a:r>
            <a:r>
              <a:rPr sz="2200" spc="-85" dirty="0">
                <a:solidFill>
                  <a:srgbClr val="FF0000"/>
                </a:solidFill>
                <a:latin typeface="Trebuchet MS"/>
                <a:cs typeface="Trebuchet MS"/>
              </a:rPr>
              <a:t>capacity  </a:t>
            </a:r>
            <a:r>
              <a:rPr sz="2200" spc="-45" dirty="0">
                <a:solidFill>
                  <a:srgbClr val="FF0000"/>
                </a:solidFill>
                <a:latin typeface="Trebuchet MS"/>
                <a:cs typeface="Trebuchet MS"/>
              </a:rPr>
              <a:t>compared</a:t>
            </a:r>
            <a:r>
              <a:rPr sz="22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200" spc="-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90" dirty="0">
                <a:solidFill>
                  <a:srgbClr val="FF0000"/>
                </a:solidFill>
                <a:latin typeface="Trebuchet MS"/>
                <a:cs typeface="Trebuchet MS"/>
              </a:rPr>
              <a:t>direct</a:t>
            </a:r>
            <a:endParaRPr sz="22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185035">
              <a:lnSpc>
                <a:spcPts val="2110"/>
              </a:lnSpc>
            </a:pPr>
            <a:r>
              <a:rPr sz="2200" spc="-254" dirty="0">
                <a:latin typeface="Trebuchet MS"/>
                <a:cs typeface="Trebuchet MS"/>
              </a:rPr>
              <a:t>.</a:t>
            </a:r>
            <a:endParaRPr sz="2200" dirty="0">
              <a:latin typeface="Trebuchet MS"/>
              <a:cs typeface="Trebuchet MS"/>
            </a:endParaRPr>
          </a:p>
          <a:p>
            <a:pPr marL="355600" marR="282575" indent="-342900">
              <a:lnSpc>
                <a:spcPct val="80000"/>
              </a:lnSpc>
              <a:spcBef>
                <a:spcPts val="52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-80" dirty="0">
                <a:latin typeface="Trebuchet MS"/>
                <a:cs typeface="Trebuchet MS"/>
              </a:rPr>
              <a:t>The </a:t>
            </a:r>
            <a:r>
              <a:rPr sz="2200" spc="-85" dirty="0">
                <a:solidFill>
                  <a:srgbClr val="0070C0"/>
                </a:solidFill>
                <a:latin typeface="Trebuchet MS"/>
                <a:cs typeface="Trebuchet MS"/>
              </a:rPr>
              <a:t>direct </a:t>
            </a:r>
            <a:r>
              <a:rPr sz="2200" spc="-55" dirty="0">
                <a:solidFill>
                  <a:srgbClr val="0070C0"/>
                </a:solidFill>
                <a:latin typeface="Trebuchet MS"/>
                <a:cs typeface="Trebuchet MS"/>
              </a:rPr>
              <a:t>communication </a:t>
            </a:r>
            <a:r>
              <a:rPr sz="2200" spc="-80" dirty="0">
                <a:solidFill>
                  <a:srgbClr val="0070C0"/>
                </a:solidFill>
                <a:latin typeface="Trebuchet MS"/>
                <a:cs typeface="Trebuchet MS"/>
              </a:rPr>
              <a:t>in  </a:t>
            </a:r>
            <a:r>
              <a:rPr sz="2200" spc="-165" dirty="0">
                <a:solidFill>
                  <a:srgbClr val="0070C0"/>
                </a:solidFill>
                <a:latin typeface="Trebuchet MS"/>
                <a:cs typeface="Trebuchet MS"/>
              </a:rPr>
              <a:t>802.11e</a:t>
            </a:r>
            <a:r>
              <a:rPr sz="2200" spc="-2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solidFill>
                  <a:srgbClr val="0070C0"/>
                </a:solidFill>
                <a:latin typeface="Trebuchet MS"/>
                <a:cs typeface="Trebuchet MS"/>
              </a:rPr>
              <a:t>is</a:t>
            </a:r>
            <a:r>
              <a:rPr sz="22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70" dirty="0">
                <a:solidFill>
                  <a:srgbClr val="0070C0"/>
                </a:solidFill>
                <a:latin typeface="Trebuchet MS"/>
                <a:cs typeface="Trebuchet MS"/>
              </a:rPr>
              <a:t>referred</a:t>
            </a:r>
            <a:r>
              <a:rPr sz="22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0070C0"/>
                </a:solidFill>
                <a:latin typeface="Trebuchet MS"/>
                <a:cs typeface="Trebuchet MS"/>
              </a:rPr>
              <a:t>to</a:t>
            </a:r>
            <a:r>
              <a:rPr sz="2200" spc="-21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0070C0"/>
                </a:solidFill>
                <a:latin typeface="Trebuchet MS"/>
                <a:cs typeface="Trebuchet MS"/>
              </a:rPr>
              <a:t>as</a:t>
            </a:r>
            <a:r>
              <a:rPr sz="2200" spc="-20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70" dirty="0">
                <a:solidFill>
                  <a:srgbClr val="0070C0"/>
                </a:solidFill>
                <a:latin typeface="Trebuchet MS"/>
                <a:cs typeface="Trebuchet MS"/>
              </a:rPr>
              <a:t>Direct  </a:t>
            </a:r>
            <a:r>
              <a:rPr sz="2200" spc="-60" dirty="0">
                <a:solidFill>
                  <a:srgbClr val="0070C0"/>
                </a:solidFill>
                <a:latin typeface="Trebuchet MS"/>
                <a:cs typeface="Trebuchet MS"/>
              </a:rPr>
              <a:t>Link</a:t>
            </a:r>
            <a:r>
              <a:rPr sz="2200" spc="-21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rgbClr val="0070C0"/>
                </a:solidFill>
                <a:latin typeface="Trebuchet MS"/>
                <a:cs typeface="Trebuchet MS"/>
              </a:rPr>
              <a:t>(</a:t>
            </a:r>
            <a:r>
              <a:rPr sz="2200" spc="-75" dirty="0" err="1">
                <a:solidFill>
                  <a:srgbClr val="0070C0"/>
                </a:solidFill>
                <a:latin typeface="Trebuchet MS"/>
                <a:cs typeface="Trebuchet MS"/>
              </a:rPr>
              <a:t>DiL</a:t>
            </a:r>
            <a:r>
              <a:rPr sz="2200" spc="-75" dirty="0">
                <a:solidFill>
                  <a:srgbClr val="0070C0"/>
                </a:solidFill>
                <a:latin typeface="Trebuchet MS"/>
                <a:cs typeface="Trebuchet MS"/>
              </a:rPr>
              <a:t>).</a:t>
            </a:r>
            <a:endParaRPr lang="en-US" sz="2200" spc="-75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12700" marR="282575">
              <a:lnSpc>
                <a:spcPct val="80000"/>
              </a:lnSpc>
              <a:spcBef>
                <a:spcPts val="525"/>
              </a:spcBef>
              <a:buClr>
                <a:srgbClr val="00659A"/>
              </a:buClr>
              <a:buSzPct val="88636"/>
              <a:tabLst>
                <a:tab pos="354965" algn="l"/>
                <a:tab pos="355600" algn="l"/>
              </a:tabLst>
            </a:pPr>
            <a:endParaRPr sz="2200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354965" marR="5080" indent="-342900">
              <a:lnSpc>
                <a:spcPts val="2110"/>
              </a:lnSpc>
              <a:spcBef>
                <a:spcPts val="515"/>
              </a:spcBef>
              <a:buClr>
                <a:srgbClr val="00659A"/>
              </a:buClr>
              <a:buSzPct val="88636"/>
              <a:buFont typeface="Liberation Sans"/>
              <a:buChar char="◗"/>
              <a:tabLst>
                <a:tab pos="354965" algn="l"/>
                <a:tab pos="355600" algn="l"/>
              </a:tabLst>
            </a:pPr>
            <a:r>
              <a:rPr sz="2200" spc="55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2200" spc="-45" dirty="0">
                <a:solidFill>
                  <a:srgbClr val="FF0000"/>
                </a:solidFill>
                <a:latin typeface="Trebuchet MS"/>
                <a:cs typeface="Trebuchet MS"/>
              </a:rPr>
              <a:t>set </a:t>
            </a:r>
            <a:r>
              <a:rPr sz="2200" spc="-15" dirty="0">
                <a:solidFill>
                  <a:srgbClr val="FF0000"/>
                </a:solidFill>
                <a:latin typeface="Trebuchet MS"/>
                <a:cs typeface="Trebuchet MS"/>
              </a:rPr>
              <a:t>up </a:t>
            </a:r>
            <a:r>
              <a:rPr sz="2200" spc="-70" dirty="0">
                <a:solidFill>
                  <a:srgbClr val="FF0000"/>
                </a:solidFill>
                <a:latin typeface="Trebuchet MS"/>
                <a:cs typeface="Trebuchet MS"/>
              </a:rPr>
              <a:t>procedure</a:t>
            </a:r>
            <a:r>
              <a:rPr sz="2200" spc="-70" dirty="0">
                <a:latin typeface="Trebuchet MS"/>
                <a:cs typeface="Trebuchet MS"/>
              </a:rPr>
              <a:t>, </a:t>
            </a:r>
            <a:r>
              <a:rPr sz="2200" spc="-55" dirty="0">
                <a:latin typeface="Trebuchet MS"/>
                <a:cs typeface="Trebuchet MS"/>
              </a:rPr>
              <a:t>the </a:t>
            </a:r>
            <a:r>
              <a:rPr sz="2200" spc="-70" dirty="0">
                <a:solidFill>
                  <a:srgbClr val="FF0000"/>
                </a:solidFill>
                <a:latin typeface="Trebuchet MS"/>
                <a:cs typeface="Trebuchet MS"/>
              </a:rPr>
              <a:t>Direct  </a:t>
            </a:r>
            <a:r>
              <a:rPr sz="2200" spc="-60" dirty="0">
                <a:solidFill>
                  <a:srgbClr val="FF0000"/>
                </a:solidFill>
                <a:latin typeface="Trebuchet MS"/>
                <a:cs typeface="Trebuchet MS"/>
              </a:rPr>
              <a:t>Link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Protocol</a:t>
            </a:r>
            <a:r>
              <a:rPr sz="2200" spc="-2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(DLP)</a:t>
            </a:r>
            <a:r>
              <a:rPr sz="22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is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defined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to  </a:t>
            </a:r>
            <a:r>
              <a:rPr sz="2200" spc="-55" dirty="0">
                <a:latin typeface="Trebuchet MS"/>
                <a:cs typeface="Trebuchet MS"/>
              </a:rPr>
              <a:t>establish </a:t>
            </a:r>
            <a:r>
              <a:rPr sz="2200" spc="-80" dirty="0">
                <a:latin typeface="Trebuchet MS"/>
                <a:cs typeface="Trebuchet MS"/>
              </a:rPr>
              <a:t>a </a:t>
            </a:r>
            <a:r>
              <a:rPr sz="2200" spc="-40" dirty="0">
                <a:latin typeface="Trebuchet MS"/>
                <a:cs typeface="Trebuchet MS"/>
              </a:rPr>
              <a:t>DiL </a:t>
            </a:r>
            <a:r>
              <a:rPr sz="2200" spc="-45" dirty="0">
                <a:latin typeface="Trebuchet MS"/>
                <a:cs typeface="Trebuchet MS"/>
              </a:rPr>
              <a:t>between </a:t>
            </a:r>
            <a:r>
              <a:rPr sz="2200" spc="-165" dirty="0">
                <a:solidFill>
                  <a:srgbClr val="FF0000"/>
                </a:solidFill>
                <a:latin typeface="Trebuchet MS"/>
                <a:cs typeface="Trebuchet MS"/>
              </a:rPr>
              <a:t>802.11e  </a:t>
            </a:r>
            <a:r>
              <a:rPr sz="2200" spc="-45" dirty="0">
                <a:solidFill>
                  <a:srgbClr val="FF0000"/>
                </a:solidFill>
                <a:latin typeface="Trebuchet MS"/>
                <a:cs typeface="Trebuchet MS"/>
              </a:rPr>
              <a:t>backoff</a:t>
            </a:r>
            <a:r>
              <a:rPr sz="2200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rgbClr val="FF0000"/>
                </a:solidFill>
                <a:latin typeface="Trebuchet MS"/>
                <a:cs typeface="Trebuchet MS"/>
              </a:rPr>
              <a:t>entities.</a:t>
            </a:r>
            <a:endParaRPr sz="22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2211" y="2849879"/>
            <a:ext cx="3795521" cy="19758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77479" y="4992116"/>
            <a:ext cx="277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rebuchet MS"/>
                <a:cs typeface="Trebuchet MS"/>
              </a:rPr>
              <a:t>Overview</a:t>
            </a:r>
            <a:r>
              <a:rPr sz="1200" spc="-114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of</a:t>
            </a:r>
            <a:r>
              <a:rPr sz="1200" spc="-9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DLP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for</a:t>
            </a:r>
            <a:r>
              <a:rPr sz="1200" spc="-9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setting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up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a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direct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link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F9AAF82-0EEA-43D7-8F65-F8B92AB2C0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105</a:t>
            </a:fld>
            <a:endParaRPr lang="en-US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08742163-431D-75C0-2B1C-6901BB4795B1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76805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C4CA28D5-01F4-2345-A696-7D9B62331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21185" y="14968"/>
            <a:ext cx="7021830" cy="1260475"/>
          </a:xfrm>
        </p:spPr>
        <p:txBody>
          <a:bodyPr/>
          <a:lstStyle/>
          <a:p>
            <a:r>
              <a:rPr lang="en-US" altLang="en-US" sz="4400" u="none" spc="-150" dirty="0">
                <a:solidFill>
                  <a:schemeClr val="tx1"/>
                </a:solidFill>
                <a:latin typeface="Trebuchet MS"/>
              </a:rPr>
              <a:t>802.11 Unicast vs. Broadcast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96C12BB1-9569-D7C1-F0AF-7BAEDCAD40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1754" dirty="0"/>
          </a:p>
          <a:p>
            <a:pPr lvl="1"/>
            <a:r>
              <a:rPr lang="en-US" altLang="en-US" sz="2105" dirty="0">
                <a:solidFill>
                  <a:srgbClr val="FF0000"/>
                </a:solidFill>
              </a:rPr>
              <a:t>802.11 Unicast</a:t>
            </a:r>
          </a:p>
        </p:txBody>
      </p:sp>
      <p:sp>
        <p:nvSpPr>
          <p:cNvPr id="77828" name="Content Placeholder 6">
            <a:extLst>
              <a:ext uri="{FF2B5EF4-FFF2-40B4-BE49-F238E27FC236}">
                <a16:creationId xmlns:a16="http://schemas.microsoft.com/office/drawing/2014/main" id="{61DFC003-80E3-ECB0-CBD3-0464E9398CF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dirty="0"/>
              <a:t>RTS/CTS</a:t>
            </a:r>
          </a:p>
          <a:p>
            <a:endParaRPr lang="en-US" altLang="en-US" dirty="0"/>
          </a:p>
          <a:p>
            <a:r>
              <a:rPr lang="en-US" altLang="en-US" dirty="0"/>
              <a:t>ACK/Re-</a:t>
            </a:r>
            <a:r>
              <a:rPr lang="en-US" altLang="en-US" dirty="0" err="1"/>
              <a:t>tx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Exponential backoff</a:t>
            </a:r>
          </a:p>
          <a:p>
            <a:endParaRPr lang="en-US" altLang="en-US" dirty="0"/>
          </a:p>
          <a:p>
            <a:r>
              <a:rPr lang="en-US" altLang="en-US" dirty="0"/>
              <a:t>Auto-rate adaptation</a:t>
            </a:r>
          </a:p>
        </p:txBody>
      </p:sp>
      <p:sp>
        <p:nvSpPr>
          <p:cNvPr id="77829" name="Text Placeholder 7">
            <a:extLst>
              <a:ext uri="{FF2B5EF4-FFF2-40B4-BE49-F238E27FC236}">
                <a16:creationId xmlns:a16="http://schemas.microsoft.com/office/drawing/2014/main" id="{629BC71F-3F81-F7A9-C615-A84AB056729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en-US" dirty="0">
                <a:solidFill>
                  <a:srgbClr val="0070C0"/>
                </a:solidFill>
              </a:rPr>
              <a:t>802.11 Broadcast</a:t>
            </a:r>
          </a:p>
        </p:txBody>
      </p:sp>
      <p:sp>
        <p:nvSpPr>
          <p:cNvPr id="77830" name="Content Placeholder 8">
            <a:extLst>
              <a:ext uri="{FF2B5EF4-FFF2-40B4-BE49-F238E27FC236}">
                <a16:creationId xmlns:a16="http://schemas.microsoft.com/office/drawing/2014/main" id="{867DBE9B-FF6E-FD17-6490-DD0BA58AA122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No RTS/CTS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rgbClr val="FF0000"/>
                </a:solidFill>
              </a:rPr>
              <a:t>No ACK/Re-</a:t>
            </a:r>
            <a:r>
              <a:rPr lang="en-US" altLang="en-US" dirty="0" err="1">
                <a:solidFill>
                  <a:srgbClr val="FF0000"/>
                </a:solidFill>
              </a:rPr>
              <a:t>tx</a:t>
            </a:r>
            <a:endParaRPr lang="en-US" altLang="en-US" dirty="0">
              <a:solidFill>
                <a:srgbClr val="FF0000"/>
              </a:solidFill>
            </a:endParaRPr>
          </a:p>
          <a:p>
            <a:endParaRPr lang="en-US" altLang="en-US" dirty="0"/>
          </a:p>
          <a:p>
            <a:r>
              <a:rPr lang="en-US" altLang="en-US" dirty="0">
                <a:solidFill>
                  <a:srgbClr val="FF0000"/>
                </a:solidFill>
              </a:rPr>
              <a:t>No exponential backoff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rgbClr val="FF0000"/>
                </a:solidFill>
              </a:rPr>
              <a:t>Single (low) rate</a:t>
            </a:r>
          </a:p>
        </p:txBody>
      </p:sp>
      <p:sp>
        <p:nvSpPr>
          <p:cNvPr id="77831" name="Slide Number Placeholder 5">
            <a:extLst>
              <a:ext uri="{FF2B5EF4-FFF2-40B4-BE49-F238E27FC236}">
                <a16:creationId xmlns:a16="http://schemas.microsoft.com/office/drawing/2014/main" id="{11E8F127-8AAB-8BB1-767F-D1CCCD48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56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51641" indent="-250631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105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02525" indent="-200505">
              <a:spcBef>
                <a:spcPct val="20000"/>
              </a:spcBef>
              <a:buChar char="•"/>
              <a:defRPr sz="1754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403535" indent="-200505">
              <a:spcBef>
                <a:spcPct val="20000"/>
              </a:spcBef>
              <a:buChar char="–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04546" indent="-200505">
              <a:spcBef>
                <a:spcPct val="20000"/>
              </a:spcBef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0555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0656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0757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08586" indent="-2005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54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80202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D1F22ED6-011F-4502-BC38-3CA4D84D1E5F}" type="slidenum">
              <a:rPr lang="en-US" altLang="en-US" sz="1228">
                <a:solidFill>
                  <a:srgbClr val="000000"/>
                </a:solidFill>
                <a:latin typeface="Times New Roman" panose="02020603050405020304" pitchFamily="18" charset="0"/>
              </a:rPr>
              <a:pPr defTabSz="80202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106</a:t>
            </a:fld>
            <a:endParaRPr lang="en-US" altLang="en-US" sz="1228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2248C7E-4960-F8F8-577B-AAD05EBBF730}"/>
              </a:ext>
            </a:extLst>
          </p:cNvPr>
          <p:cNvSpPr txBox="1">
            <a:spLocks/>
          </p:cNvSpPr>
          <p:nvPr/>
        </p:nvSpPr>
        <p:spPr>
          <a:xfrm>
            <a:off x="1316959" y="3750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55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2797" y="3421892"/>
            <a:ext cx="340614" cy="33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9997" y="3421892"/>
            <a:ext cx="340614" cy="338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5955" y="3788155"/>
            <a:ext cx="420116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9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RADIO</a:t>
            </a:r>
            <a:r>
              <a:rPr sz="4000" b="1" spc="-57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4000" b="1" spc="60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SPECTRUM  </a:t>
            </a:r>
            <a:r>
              <a:rPr sz="4000" b="1" spc="105" dirty="0">
                <a:solidFill>
                  <a:schemeClr val="bg1">
                    <a:lumMod val="65000"/>
                  </a:schemeClr>
                </a:solidFill>
                <a:latin typeface="Trebuchet MS"/>
                <a:cs typeface="Trebuchet MS"/>
              </a:rPr>
              <a:t>MANAGEMENT</a:t>
            </a:r>
            <a:endParaRPr sz="4000" dirty="0">
              <a:solidFill>
                <a:schemeClr val="bg1">
                  <a:lumMod val="65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7" name="object 7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BFF158E-D0A7-459B-B38B-D9E535103D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2810" y="626394"/>
            <a:ext cx="432777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en-US" sz="4400" dirty="0"/>
              <a:t>802.11: Channels</a:t>
            </a:r>
            <a:endParaRPr sz="4400" spc="-13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5221" y="1852549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9144000" y="857250"/>
                </a:moveTo>
                <a:lnTo>
                  <a:pt x="9144000" y="0"/>
                </a:lnTo>
                <a:lnTo>
                  <a:pt x="0" y="0"/>
                </a:lnTo>
                <a:lnTo>
                  <a:pt x="0" y="857250"/>
                </a:lnTo>
                <a:lnTo>
                  <a:pt x="914400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4839" y="6578345"/>
            <a:ext cx="9144000" cy="628650"/>
            <a:chOff x="774839" y="6578345"/>
            <a:chExt cx="9144000" cy="628650"/>
          </a:xfrm>
        </p:grpSpPr>
        <p:sp>
          <p:nvSpPr>
            <p:cNvPr id="6" name="object 6"/>
            <p:cNvSpPr/>
            <p:nvPr/>
          </p:nvSpPr>
          <p:spPr>
            <a:xfrm>
              <a:off x="774839" y="6578345"/>
              <a:ext cx="1367155" cy="209550"/>
            </a:xfrm>
            <a:custGeom>
              <a:avLst/>
              <a:gdLst/>
              <a:ahLst/>
              <a:cxnLst/>
              <a:rect l="l" t="t" r="r" b="b"/>
              <a:pathLst>
                <a:path w="1367155" h="209550">
                  <a:moveTo>
                    <a:pt x="1367028" y="144018"/>
                  </a:moveTo>
                  <a:lnTo>
                    <a:pt x="1229868" y="22098"/>
                  </a:lnTo>
                  <a:lnTo>
                    <a:pt x="0" y="0"/>
                  </a:lnTo>
                  <a:lnTo>
                    <a:pt x="2286" y="208025"/>
                  </a:lnTo>
                  <a:lnTo>
                    <a:pt x="508254" y="209550"/>
                  </a:lnTo>
                  <a:lnTo>
                    <a:pt x="521970" y="146303"/>
                  </a:lnTo>
                  <a:lnTo>
                    <a:pt x="1367028" y="14401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5601" y="6818375"/>
              <a:ext cx="1089025" cy="388620"/>
            </a:xfrm>
            <a:custGeom>
              <a:avLst/>
              <a:gdLst/>
              <a:ahLst/>
              <a:cxnLst/>
              <a:rect l="l" t="t" r="r" b="b"/>
              <a:pathLst>
                <a:path w="1089025" h="388620">
                  <a:moveTo>
                    <a:pt x="1088898" y="388620"/>
                  </a:moveTo>
                  <a:lnTo>
                    <a:pt x="1027938" y="104394"/>
                  </a:lnTo>
                  <a:lnTo>
                    <a:pt x="464058" y="105155"/>
                  </a:lnTo>
                  <a:lnTo>
                    <a:pt x="497586" y="0"/>
                  </a:lnTo>
                  <a:lnTo>
                    <a:pt x="0" y="762"/>
                  </a:lnTo>
                  <a:lnTo>
                    <a:pt x="189" y="49241"/>
                  </a:lnTo>
                  <a:lnTo>
                    <a:pt x="107" y="290298"/>
                  </a:lnTo>
                  <a:lnTo>
                    <a:pt x="762" y="387096"/>
                  </a:lnTo>
                  <a:lnTo>
                    <a:pt x="1088898" y="38862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76997" y="6739127"/>
              <a:ext cx="4537075" cy="160020"/>
            </a:xfrm>
            <a:custGeom>
              <a:avLst/>
              <a:gdLst/>
              <a:ahLst/>
              <a:cxnLst/>
              <a:rect l="l" t="t" r="r" b="b"/>
              <a:pathLst>
                <a:path w="4537075" h="160020">
                  <a:moveTo>
                    <a:pt x="4536948" y="11429"/>
                  </a:moveTo>
                  <a:lnTo>
                    <a:pt x="48006" y="0"/>
                  </a:lnTo>
                  <a:lnTo>
                    <a:pt x="0" y="160020"/>
                  </a:lnTo>
                  <a:lnTo>
                    <a:pt x="4472940" y="129540"/>
                  </a:lnTo>
                  <a:lnTo>
                    <a:pt x="4536948" y="11429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34019" y="6899147"/>
              <a:ext cx="7139305" cy="307975"/>
            </a:xfrm>
            <a:custGeom>
              <a:avLst/>
              <a:gdLst/>
              <a:ahLst/>
              <a:cxnLst/>
              <a:rect l="l" t="t" r="r" b="b"/>
              <a:pathLst>
                <a:path w="7139305" h="307975">
                  <a:moveTo>
                    <a:pt x="7139178" y="0"/>
                  </a:moveTo>
                  <a:lnTo>
                    <a:pt x="0" y="28955"/>
                  </a:lnTo>
                  <a:lnTo>
                    <a:pt x="48312" y="307848"/>
                  </a:lnTo>
                  <a:lnTo>
                    <a:pt x="7062030" y="307848"/>
                  </a:lnTo>
                  <a:lnTo>
                    <a:pt x="7139178" y="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780417" y="6673595"/>
              <a:ext cx="1176655" cy="200660"/>
            </a:xfrm>
            <a:custGeom>
              <a:avLst/>
              <a:gdLst/>
              <a:ahLst/>
              <a:cxnLst/>
              <a:rect l="l" t="t" r="r" b="b"/>
              <a:pathLst>
                <a:path w="1176654" h="200659">
                  <a:moveTo>
                    <a:pt x="1176527" y="192785"/>
                  </a:moveTo>
                  <a:lnTo>
                    <a:pt x="1145285" y="33527"/>
                  </a:lnTo>
                  <a:lnTo>
                    <a:pt x="96012" y="0"/>
                  </a:lnTo>
                  <a:lnTo>
                    <a:pt x="0" y="200405"/>
                  </a:lnTo>
                  <a:lnTo>
                    <a:pt x="1176527" y="192785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942467" y="6702551"/>
              <a:ext cx="2468880" cy="167005"/>
            </a:xfrm>
            <a:custGeom>
              <a:avLst/>
              <a:gdLst/>
              <a:ahLst/>
              <a:cxnLst/>
              <a:rect l="l" t="t" r="r" b="b"/>
              <a:pathLst>
                <a:path w="2468879" h="167004">
                  <a:moveTo>
                    <a:pt x="2468880" y="13716"/>
                  </a:moveTo>
                  <a:lnTo>
                    <a:pt x="0" y="0"/>
                  </a:lnTo>
                  <a:lnTo>
                    <a:pt x="42659" y="166877"/>
                  </a:lnTo>
                  <a:lnTo>
                    <a:pt x="2200656" y="147066"/>
                  </a:lnTo>
                  <a:lnTo>
                    <a:pt x="2468880" y="13716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1891" y="6710171"/>
              <a:ext cx="593725" cy="149860"/>
            </a:xfrm>
            <a:custGeom>
              <a:avLst/>
              <a:gdLst/>
              <a:ahLst/>
              <a:cxnLst/>
              <a:rect l="l" t="t" r="r" b="b"/>
              <a:pathLst>
                <a:path w="593725" h="149859">
                  <a:moveTo>
                    <a:pt x="593585" y="4572"/>
                  </a:moveTo>
                  <a:lnTo>
                    <a:pt x="272034" y="0"/>
                  </a:lnTo>
                  <a:lnTo>
                    <a:pt x="0" y="147827"/>
                  </a:lnTo>
                  <a:lnTo>
                    <a:pt x="309359" y="149351"/>
                  </a:lnTo>
                  <a:lnTo>
                    <a:pt x="593585" y="4572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938146" y="6711695"/>
              <a:ext cx="981075" cy="495300"/>
            </a:xfrm>
            <a:custGeom>
              <a:avLst/>
              <a:gdLst/>
              <a:ahLst/>
              <a:cxnLst/>
              <a:rect l="l" t="t" r="r" b="b"/>
              <a:pathLst>
                <a:path w="981075" h="495300">
                  <a:moveTo>
                    <a:pt x="980681" y="495300"/>
                  </a:moveTo>
                  <a:lnTo>
                    <a:pt x="979169" y="0"/>
                  </a:lnTo>
                  <a:lnTo>
                    <a:pt x="915161" y="3048"/>
                  </a:lnTo>
                  <a:lnTo>
                    <a:pt x="576833" y="182118"/>
                  </a:lnTo>
                  <a:lnTo>
                    <a:pt x="73901" y="179831"/>
                  </a:lnTo>
                  <a:lnTo>
                    <a:pt x="0" y="495300"/>
                  </a:lnTo>
                  <a:lnTo>
                    <a:pt x="980681" y="49530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CACF922F-A109-0C7E-2DFA-B6C901720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3782" y="1764665"/>
            <a:ext cx="9089390" cy="476579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5" dirty="0"/>
              <a:t>802.11b/g: 2.4GHz-2.485GHz spectrum divided into 11 channels at different frequencies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AP admin chooses frequency for AP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interference possible: channel can be same as that chosen by neighboring AP!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802.11a: 8 non-overlapping channels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15" name="Picture 4" descr="http://www.wireless-nets.com/resources/tutorials/ap_channels.jpg">
            <a:extLst>
              <a:ext uri="{FF2B5EF4-FFF2-40B4-BE49-F238E27FC236}">
                <a16:creationId xmlns:a16="http://schemas.microsoft.com/office/drawing/2014/main" id="{4BB17D15-5E96-3C3E-01C6-6402F09FD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804" y="3400425"/>
            <a:ext cx="4257867" cy="175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052A87FD-3AAE-C655-E9E0-C750ACCFF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942" y="4120661"/>
            <a:ext cx="2428293" cy="5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80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r>
              <a:rPr kumimoji="0" lang="en-US" altLang="en-US" sz="1579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Only 3 non-overlapping channels!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0C10-EB25-4138-AB8E-80595F17E1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6666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C80C50BB-5E1E-1BC5-4EF6-A2BCD9EDE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089" y="375157"/>
            <a:ext cx="5205221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802.11: Channels</a:t>
            </a:r>
            <a:endParaRPr lang="en-US" altLang="en-US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16739" name="Slide Number Placeholder 1">
            <a:extLst>
              <a:ext uri="{FF2B5EF4-FFF2-40B4-BE49-F238E27FC236}">
                <a16:creationId xmlns:a16="http://schemas.microsoft.com/office/drawing/2014/main" id="{11095325-48A1-63D7-56F4-DC5C2ACC48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24D070-A8AF-4AED-8A39-7985914E83CC}" type="slidenum">
              <a:rPr lang="en-US" altLang="en-US" smtClean="0"/>
              <a:pPr>
                <a:spcBef>
                  <a:spcPct val="0"/>
                </a:spcBef>
                <a:buFontTx/>
                <a:buNone/>
                <a:defRPr/>
              </a:pPr>
              <a:t>109</a:t>
            </a:fld>
            <a:endParaRPr lang="en-US" altLang="en-US" sz="1323">
              <a:solidFill>
                <a:srgbClr val="898989"/>
              </a:solidFill>
            </a:endParaRPr>
          </a:p>
        </p:txBody>
      </p:sp>
      <p:pic>
        <p:nvPicPr>
          <p:cNvPr id="116740" name="Picture 3" descr="A diagram of a wifi network&#10;&#10;AI-generated content may be incorrect.">
            <a:extLst>
              <a:ext uri="{FF2B5EF4-FFF2-40B4-BE49-F238E27FC236}">
                <a16:creationId xmlns:a16="http://schemas.microsoft.com/office/drawing/2014/main" id="{9AC1E600-F68E-D7A4-0235-1CA85741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3275"/>
            <a:ext cx="10083800" cy="567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1AC309-E1C1-841E-A364-1DE54FF9BABF}"/>
              </a:ext>
            </a:extLst>
          </p:cNvPr>
          <p:cNvSpPr/>
          <p:nvPr/>
        </p:nvSpPr>
        <p:spPr>
          <a:xfrm>
            <a:off x="3123362" y="1563339"/>
            <a:ext cx="4049276" cy="630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985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57469E83-EC4A-D961-C276-9AD1FA88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089" y="375157"/>
            <a:ext cx="5205221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802.11: Channels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117763" name="Slide Number Placeholder 1">
            <a:extLst>
              <a:ext uri="{FF2B5EF4-FFF2-40B4-BE49-F238E27FC236}">
                <a16:creationId xmlns:a16="http://schemas.microsoft.com/office/drawing/2014/main" id="{41A752CC-B376-A08C-79E6-4A0354D588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24D070-A8AF-4AED-8A39-7985914E83CC}" type="slidenum">
              <a:rPr lang="en-US" altLang="en-US" smtClean="0"/>
              <a:pPr>
                <a:spcBef>
                  <a:spcPct val="0"/>
                </a:spcBef>
                <a:buFontTx/>
                <a:buNone/>
                <a:defRPr/>
              </a:pPr>
              <a:t>110</a:t>
            </a:fld>
            <a:endParaRPr lang="en-US" altLang="en-US" sz="1323">
              <a:solidFill>
                <a:srgbClr val="898989"/>
              </a:solidFill>
            </a:endParaRPr>
          </a:p>
        </p:txBody>
      </p:sp>
      <p:pic>
        <p:nvPicPr>
          <p:cNvPr id="117764" name="Picture 5" descr="A diagram of wi-fi spectrum&#10;&#10;AI-generated content may be incorrect.">
            <a:extLst>
              <a:ext uri="{FF2B5EF4-FFF2-40B4-BE49-F238E27FC236}">
                <a16:creationId xmlns:a16="http://schemas.microsoft.com/office/drawing/2014/main" id="{5EB3C8D5-0569-072A-99E8-F7993A7B0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473" y="1586098"/>
            <a:ext cx="6512454" cy="5423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239B5C-1A85-A5A4-68C5-8FC0D0938334}"/>
              </a:ext>
            </a:extLst>
          </p:cNvPr>
          <p:cNvSpPr txBox="1"/>
          <p:nvPr/>
        </p:nvSpPr>
        <p:spPr>
          <a:xfrm>
            <a:off x="5803900" y="4543425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</a:rPr>
              <a:t>OFDM Channels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3083560" cy="857250"/>
            <a:chOff x="774839" y="348995"/>
            <a:chExt cx="3083560" cy="857250"/>
          </a:xfrm>
        </p:grpSpPr>
        <p:sp>
          <p:nvSpPr>
            <p:cNvPr id="3" name="object 3"/>
            <p:cNvSpPr/>
            <p:nvPr/>
          </p:nvSpPr>
          <p:spPr>
            <a:xfrm>
              <a:off x="2548775" y="348995"/>
              <a:ext cx="1309370" cy="857250"/>
            </a:xfrm>
            <a:custGeom>
              <a:avLst/>
              <a:gdLst/>
              <a:ahLst/>
              <a:cxnLst/>
              <a:rect l="l" t="t" r="r" b="b"/>
              <a:pathLst>
                <a:path w="1309370" h="857250">
                  <a:moveTo>
                    <a:pt x="1309116" y="645414"/>
                  </a:moveTo>
                  <a:lnTo>
                    <a:pt x="1220724" y="0"/>
                  </a:lnTo>
                  <a:lnTo>
                    <a:pt x="0" y="0"/>
                  </a:lnTo>
                  <a:lnTo>
                    <a:pt x="333537" y="857250"/>
                  </a:lnTo>
                  <a:lnTo>
                    <a:pt x="915608" y="857250"/>
                  </a:lnTo>
                  <a:lnTo>
                    <a:pt x="1309116" y="645414"/>
                  </a:lnTo>
                  <a:close/>
                </a:path>
              </a:pathLst>
            </a:custGeom>
            <a:solidFill>
              <a:srgbClr val="F0A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8995"/>
              <a:ext cx="2014220" cy="857250"/>
            </a:xfrm>
            <a:custGeom>
              <a:avLst/>
              <a:gdLst/>
              <a:ahLst/>
              <a:cxnLst/>
              <a:rect l="l" t="t" r="r" b="b"/>
              <a:pathLst>
                <a:path w="2014220" h="857250">
                  <a:moveTo>
                    <a:pt x="2013966" y="794765"/>
                  </a:moveTo>
                  <a:lnTo>
                    <a:pt x="1687068" y="0"/>
                  </a:lnTo>
                  <a:lnTo>
                    <a:pt x="0" y="2285"/>
                  </a:lnTo>
                  <a:lnTo>
                    <a:pt x="0" y="857250"/>
                  </a:lnTo>
                  <a:lnTo>
                    <a:pt x="1822247" y="857249"/>
                  </a:lnTo>
                  <a:lnTo>
                    <a:pt x="2013966" y="794765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336165" y="605775"/>
            <a:ext cx="339851" cy="338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93365" y="605775"/>
            <a:ext cx="339851" cy="338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50565" y="605775"/>
            <a:ext cx="339851" cy="338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82313" y="1206246"/>
            <a:ext cx="582295" cy="259079"/>
          </a:xfrm>
          <a:custGeom>
            <a:avLst/>
            <a:gdLst/>
            <a:ahLst/>
            <a:cxnLst/>
            <a:rect l="l" t="t" r="r" b="b"/>
            <a:pathLst>
              <a:path w="582295" h="259080">
                <a:moveTo>
                  <a:pt x="582070" y="0"/>
                </a:moveTo>
                <a:lnTo>
                  <a:pt x="0" y="0"/>
                </a:lnTo>
                <a:lnTo>
                  <a:pt x="100802" y="259079"/>
                </a:lnTo>
                <a:lnTo>
                  <a:pt x="582070" y="0"/>
                </a:lnTo>
                <a:close/>
              </a:path>
            </a:pathLst>
          </a:custGeom>
          <a:solidFill>
            <a:srgbClr val="F0A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74839" y="1206246"/>
            <a:ext cx="2153920" cy="1436370"/>
            <a:chOff x="774839" y="1206246"/>
            <a:chExt cx="2153920" cy="1436370"/>
          </a:xfrm>
        </p:grpSpPr>
        <p:sp>
          <p:nvSpPr>
            <p:cNvPr id="10" name="object 10"/>
            <p:cNvSpPr/>
            <p:nvPr/>
          </p:nvSpPr>
          <p:spPr>
            <a:xfrm>
              <a:off x="774839" y="1206246"/>
              <a:ext cx="1822450" cy="594360"/>
            </a:xfrm>
            <a:custGeom>
              <a:avLst/>
              <a:gdLst/>
              <a:ahLst/>
              <a:cxnLst/>
              <a:rect l="l" t="t" r="r" b="b"/>
              <a:pathLst>
                <a:path w="1822450" h="594360">
                  <a:moveTo>
                    <a:pt x="1822247" y="0"/>
                  </a:moveTo>
                  <a:lnTo>
                    <a:pt x="0" y="0"/>
                  </a:lnTo>
                  <a:lnTo>
                    <a:pt x="0" y="593897"/>
                  </a:lnTo>
                  <a:lnTo>
                    <a:pt x="1822247" y="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4839" y="1244358"/>
              <a:ext cx="2153920" cy="1398270"/>
            </a:xfrm>
            <a:custGeom>
              <a:avLst/>
              <a:gdLst/>
              <a:ahLst/>
              <a:cxnLst/>
              <a:rect l="l" t="t" r="r" b="b"/>
              <a:pathLst>
                <a:path w="2153920" h="1398270">
                  <a:moveTo>
                    <a:pt x="2153412" y="247650"/>
                  </a:moveTo>
                  <a:lnTo>
                    <a:pt x="2057400" y="0"/>
                  </a:lnTo>
                  <a:lnTo>
                    <a:pt x="0" y="675652"/>
                  </a:lnTo>
                  <a:lnTo>
                    <a:pt x="0" y="819150"/>
                  </a:lnTo>
                  <a:lnTo>
                    <a:pt x="0" y="1398155"/>
                  </a:lnTo>
                  <a:lnTo>
                    <a:pt x="1083729" y="819150"/>
                  </a:lnTo>
                  <a:lnTo>
                    <a:pt x="2153412" y="24765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74839" y="2920745"/>
            <a:ext cx="9144000" cy="4286250"/>
            <a:chOff x="774839" y="2920745"/>
            <a:chExt cx="9144000" cy="4286250"/>
          </a:xfrm>
        </p:grpSpPr>
        <p:sp>
          <p:nvSpPr>
            <p:cNvPr id="14" name="object 14"/>
            <p:cNvSpPr/>
            <p:nvPr/>
          </p:nvSpPr>
          <p:spPr>
            <a:xfrm>
              <a:off x="774839" y="292074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80767" y="3027438"/>
              <a:ext cx="1338580" cy="2465070"/>
            </a:xfrm>
            <a:custGeom>
              <a:avLst/>
              <a:gdLst/>
              <a:ahLst/>
              <a:cxnLst/>
              <a:rect l="l" t="t" r="r" b="b"/>
              <a:pathLst>
                <a:path w="1338579" h="2465070">
                  <a:moveTo>
                    <a:pt x="1338072" y="1550860"/>
                  </a:moveTo>
                  <a:lnTo>
                    <a:pt x="1336979" y="750570"/>
                  </a:lnTo>
                  <a:lnTo>
                    <a:pt x="1336979" y="559066"/>
                  </a:lnTo>
                  <a:lnTo>
                    <a:pt x="1338059" y="0"/>
                  </a:lnTo>
                  <a:lnTo>
                    <a:pt x="0" y="207264"/>
                  </a:lnTo>
                  <a:lnTo>
                    <a:pt x="126149" y="750570"/>
                  </a:lnTo>
                  <a:lnTo>
                    <a:pt x="325196" y="1607820"/>
                  </a:lnTo>
                  <a:lnTo>
                    <a:pt x="524230" y="2465070"/>
                  </a:lnTo>
                  <a:lnTo>
                    <a:pt x="1338072" y="2465070"/>
                  </a:lnTo>
                  <a:lnTo>
                    <a:pt x="1338072" y="1607820"/>
                  </a:lnTo>
                  <a:lnTo>
                    <a:pt x="1338072" y="1550860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519297" y="6223254"/>
              <a:ext cx="398145" cy="127000"/>
            </a:xfrm>
            <a:custGeom>
              <a:avLst/>
              <a:gdLst/>
              <a:ahLst/>
              <a:cxnLst/>
              <a:rect l="l" t="t" r="r" b="b"/>
              <a:pathLst>
                <a:path w="398145" h="127000">
                  <a:moveTo>
                    <a:pt x="397584" y="126492"/>
                  </a:moveTo>
                  <a:lnTo>
                    <a:pt x="397256" y="0"/>
                  </a:lnTo>
                  <a:lnTo>
                    <a:pt x="0" y="126492"/>
                  </a:lnTo>
                  <a:lnTo>
                    <a:pt x="397584" y="126492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05010" y="5492495"/>
              <a:ext cx="814069" cy="833755"/>
            </a:xfrm>
            <a:custGeom>
              <a:avLst/>
              <a:gdLst/>
              <a:ahLst/>
              <a:cxnLst/>
              <a:rect l="l" t="t" r="r" b="b"/>
              <a:pathLst>
                <a:path w="814070" h="833754">
                  <a:moveTo>
                    <a:pt x="813829" y="629611"/>
                  </a:moveTo>
                  <a:lnTo>
                    <a:pt x="813829" y="0"/>
                  </a:lnTo>
                  <a:lnTo>
                    <a:pt x="0" y="0"/>
                  </a:lnTo>
                  <a:lnTo>
                    <a:pt x="193561" y="833627"/>
                  </a:lnTo>
                  <a:lnTo>
                    <a:pt x="813816" y="633221"/>
                  </a:lnTo>
                  <a:lnTo>
                    <a:pt x="813829" y="629611"/>
                  </a:lnTo>
                  <a:close/>
                </a:path>
              </a:pathLst>
            </a:custGeom>
            <a:solidFill>
              <a:srgbClr val="21A6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4839" y="3267455"/>
              <a:ext cx="8620493" cy="39395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20670" y="6349745"/>
              <a:ext cx="598170" cy="857250"/>
            </a:xfrm>
            <a:custGeom>
              <a:avLst/>
              <a:gdLst/>
              <a:ahLst/>
              <a:cxnLst/>
              <a:rect l="l" t="t" r="r" b="b"/>
              <a:pathLst>
                <a:path w="598170" h="857250">
                  <a:moveTo>
                    <a:pt x="598170" y="857250"/>
                  </a:moveTo>
                  <a:lnTo>
                    <a:pt x="598170" y="591411"/>
                  </a:lnTo>
                  <a:lnTo>
                    <a:pt x="596212" y="0"/>
                  </a:lnTo>
                  <a:lnTo>
                    <a:pt x="198627" y="0"/>
                  </a:lnTo>
                  <a:lnTo>
                    <a:pt x="0" y="63245"/>
                  </a:lnTo>
                  <a:lnTo>
                    <a:pt x="179144" y="857250"/>
                  </a:lnTo>
                  <a:lnTo>
                    <a:pt x="598170" y="857250"/>
                  </a:lnTo>
                  <a:close/>
                </a:path>
              </a:pathLst>
            </a:custGeom>
            <a:solidFill>
              <a:srgbClr val="DF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9A4556A-E354-491E-A00F-05772A76FE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742</TotalTime>
  <Words>6472</Words>
  <Application>Microsoft Office PowerPoint</Application>
  <PresentationFormat>Custom</PresentationFormat>
  <Paragraphs>971</Paragraphs>
  <Slides>111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30" baseType="lpstr">
      <vt:lpstr>STXinwei</vt:lpstr>
      <vt:lpstr>Aharoni</vt:lpstr>
      <vt:lpstr>Amasis MT Pro Medium</vt:lpstr>
      <vt:lpstr>Arial</vt:lpstr>
      <vt:lpstr>Arial Black</vt:lpstr>
      <vt:lpstr>Arial MT</vt:lpstr>
      <vt:lpstr>Calibri</vt:lpstr>
      <vt:lpstr>Comic Sans MS</vt:lpstr>
      <vt:lpstr>Gill Sans MT</vt:lpstr>
      <vt:lpstr>Liberation Sans</vt:lpstr>
      <vt:lpstr>Symbol</vt:lpstr>
      <vt:lpstr>Times New Roman</vt:lpstr>
      <vt:lpstr>Trebuchet MS</vt:lpstr>
      <vt:lpstr>Wingdings</vt:lpstr>
      <vt:lpstr>ZapfDingbats</vt:lpstr>
      <vt:lpstr>Office Theme</vt:lpstr>
      <vt:lpstr>Default Design</vt:lpstr>
      <vt:lpstr>1_Office Theme</vt:lpstr>
      <vt:lpstr>Clip</vt:lpstr>
      <vt:lpstr>CSE 4615:: Wireless Networks</vt:lpstr>
      <vt:lpstr>IEEE 802.11 Wireless Local Area Networks</vt:lpstr>
      <vt:lpstr>Contents</vt:lpstr>
      <vt:lpstr>SCOPE OF 802.11</vt:lpstr>
      <vt:lpstr>Scope of 802.11</vt:lpstr>
      <vt:lpstr>REFERENCE MODELS,  ARCHITECTURE, SERVICES, FRAME  FORMATS</vt:lpstr>
      <vt:lpstr>Reference Model</vt:lpstr>
      <vt:lpstr>Reference Model</vt:lpstr>
      <vt:lpstr>Architecture</vt:lpstr>
      <vt:lpstr>Architecture</vt:lpstr>
      <vt:lpstr>Architecture</vt:lpstr>
      <vt:lpstr>Services</vt:lpstr>
      <vt:lpstr>Services</vt:lpstr>
      <vt:lpstr>PowerPoint Presentation</vt:lpstr>
      <vt:lpstr>802.11 Frame Formats</vt:lpstr>
      <vt:lpstr>802.11 Frame Formats</vt:lpstr>
      <vt:lpstr>802.11 MAC Frames (MSDU)</vt:lpstr>
      <vt:lpstr>PHYSICAL LAYER</vt:lpstr>
      <vt:lpstr>Physical Layer</vt:lpstr>
      <vt:lpstr>Physical Layer</vt:lpstr>
      <vt:lpstr>Physical Layer</vt:lpstr>
      <vt:lpstr>MEDIUM ACCESS CONTROL  PROTOCOL</vt:lpstr>
      <vt:lpstr>Listen Before Talk</vt:lpstr>
      <vt:lpstr>Listen Before Talk</vt:lpstr>
      <vt:lpstr>Listen Before Talk</vt:lpstr>
      <vt:lpstr>Listen Before Talk</vt:lpstr>
      <vt:lpstr>Listen Before Talk</vt:lpstr>
      <vt:lpstr>802.11 Medium Access Control  Protocol</vt:lpstr>
      <vt:lpstr>IEEE 802.11  Distributed Coordination Function (DCF) </vt:lpstr>
      <vt:lpstr>Distributed Coordination Function (DCF) </vt:lpstr>
      <vt:lpstr>Timing and Interframe Spaces</vt:lpstr>
      <vt:lpstr>Timing and Interframe Spaces</vt:lpstr>
      <vt:lpstr>Timing and Interframe Spaces</vt:lpstr>
      <vt:lpstr>Timing and Interframe  Spaces</vt:lpstr>
      <vt:lpstr>Timing and Interframe Spaces</vt:lpstr>
      <vt:lpstr>Timing and Interframe  Spaces</vt:lpstr>
      <vt:lpstr>Timing and Interframe  Spaces</vt:lpstr>
      <vt:lpstr>Timing and Interframe  Spaces</vt:lpstr>
      <vt:lpstr>Timing and Interframe  Spaces</vt:lpstr>
      <vt:lpstr>Timing and Interframe  Spaces</vt:lpstr>
      <vt:lpstr>Collision Avoidance</vt:lpstr>
      <vt:lpstr>Collision Avoidance</vt:lpstr>
      <vt:lpstr>Collision Avoidance</vt:lpstr>
      <vt:lpstr>Avoiding collisions (more)</vt:lpstr>
      <vt:lpstr>Collision Avoidance: RTS-CTS exchange</vt:lpstr>
      <vt:lpstr>Collision Avoidance</vt:lpstr>
      <vt:lpstr>Collision Avoidance</vt:lpstr>
      <vt:lpstr>Collision Avoidance</vt:lpstr>
      <vt:lpstr>Collision Avoidance</vt:lpstr>
      <vt:lpstr>Collision Avoidance</vt:lpstr>
      <vt:lpstr>Collision Avoidance</vt:lpstr>
      <vt:lpstr>Collision Avoidance</vt:lpstr>
      <vt:lpstr>802.11 Backoff Example</vt:lpstr>
      <vt:lpstr>802.11 Backoff Example</vt:lpstr>
      <vt:lpstr>802.11 Backoff Example</vt:lpstr>
      <vt:lpstr>802.11 Backoff Example</vt:lpstr>
      <vt:lpstr>802.11 Backoff Example</vt:lpstr>
      <vt:lpstr>Distributed Coordination Function (DCF) </vt:lpstr>
      <vt:lpstr>802.11 Medium Access  Overhead</vt:lpstr>
      <vt:lpstr>802.11 Medium Access  Overhead</vt:lpstr>
      <vt:lpstr>PowerPoint Presentation</vt:lpstr>
      <vt:lpstr>802.11 Medium Access  Overhead</vt:lpstr>
      <vt:lpstr>PowerPoint Presentation</vt:lpstr>
      <vt:lpstr>Recovery Procedure and Retransmissions</vt:lpstr>
      <vt:lpstr>Post‐backoff</vt:lpstr>
      <vt:lpstr>Fragmentation</vt:lpstr>
      <vt:lpstr>Fragmentation</vt:lpstr>
      <vt:lpstr>Hidden Stations and  RTS/CTS</vt:lpstr>
      <vt:lpstr>Hidden Stations and  RTS/CTS</vt:lpstr>
      <vt:lpstr>Hidden Stations and RTS/CTS</vt:lpstr>
      <vt:lpstr>Synchronization and Cell Search</vt:lpstr>
      <vt:lpstr>Synchronization and Cell  Search</vt:lpstr>
      <vt:lpstr>Synchronization and Cell Search</vt:lpstr>
      <vt:lpstr>Synchronization and Cell Search</vt:lpstr>
      <vt:lpstr>Synchronization and Cell  Search</vt:lpstr>
      <vt:lpstr>Synchronization and  Cell  Search</vt:lpstr>
      <vt:lpstr>Synchronization and Cell  Search</vt:lpstr>
      <vt:lpstr>Scanning Procedures in WLAN  802.11</vt:lpstr>
      <vt:lpstr>Scanning Procedures in WLAN  802.11</vt:lpstr>
      <vt:lpstr>802.11: passive/active scanning</vt:lpstr>
      <vt:lpstr>802.11: passive/active scanning</vt:lpstr>
      <vt:lpstr>Passive Scanning</vt:lpstr>
      <vt:lpstr>Active Scanning</vt:lpstr>
      <vt:lpstr>MEDIUM ACCESS CONTROL WITH  SUPPORT FOR QUALITY‐OF‐  SERVICE</vt:lpstr>
      <vt:lpstr>IEEE 802.11  Point Coordination Function (PCF) </vt:lpstr>
      <vt:lpstr>Medium Access Control with  Support for Quality‐of‐Service</vt:lpstr>
      <vt:lpstr>Medium Access Control with Support for</vt:lpstr>
      <vt:lpstr>Point Coordination Function</vt:lpstr>
      <vt:lpstr>Point Coordination  Function</vt:lpstr>
      <vt:lpstr>QoS Support with PCF</vt:lpstr>
      <vt:lpstr>QoS Support Mechanisms of  802.11E</vt:lpstr>
      <vt:lpstr>QoS Support Mechanisms of  802.11E</vt:lpstr>
      <vt:lpstr>QoS Support Mechanisms of 802.11E</vt:lpstr>
      <vt:lpstr>QoS Support Mechanisms of  802.11E</vt:lpstr>
      <vt:lpstr>Improvements of the Legacy</vt:lpstr>
      <vt:lpstr>Contention‐based Medium Access</vt:lpstr>
      <vt:lpstr>Contention‐based Medium Access</vt:lpstr>
      <vt:lpstr>Contention‐based Medium  Access</vt:lpstr>
      <vt:lpstr>Contention‐based Medium  Access</vt:lpstr>
      <vt:lpstr>Controlled Medium Access</vt:lpstr>
      <vt:lpstr>Controlled Medium Access</vt:lpstr>
      <vt:lpstr>IEEE 802.11e Superframe</vt:lpstr>
      <vt:lpstr>Block Acknowledgment</vt:lpstr>
      <vt:lpstr>Direct Link Protocol (DLP) for IEEE 802.11 WLAN</vt:lpstr>
      <vt:lpstr>Direct Link Protocol (DLP)</vt:lpstr>
      <vt:lpstr>802.11 Unicast vs. Broadcast</vt:lpstr>
      <vt:lpstr>RADIO SPECTRUM  MANAGEMENT</vt:lpstr>
      <vt:lpstr>802.11: Channels</vt:lpstr>
      <vt:lpstr>802.11: Channels</vt:lpstr>
      <vt:lpstr>802.11: Channels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Chap5 - IEEE 802-11WLANs-new [호환 모드]</dc:title>
  <dc:creator>jeong</dc:creator>
  <cp:lastModifiedBy>ASUS</cp:lastModifiedBy>
  <cp:revision>48</cp:revision>
  <dcterms:created xsi:type="dcterms:W3CDTF">2023-01-30T04:15:46Z</dcterms:created>
  <dcterms:modified xsi:type="dcterms:W3CDTF">2025-06-29T13:05:02Z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2008-03-31T00:00:00Z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2023-01-30T00:00:00Z</vt:filetime>
  </property>
</Properties>
</file>