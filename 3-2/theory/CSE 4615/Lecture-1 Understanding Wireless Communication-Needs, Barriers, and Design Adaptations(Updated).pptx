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4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4" r:id="rId2"/>
    <p:sldMasterId id="2147483713" r:id="rId3"/>
    <p:sldMasterId id="2147483725" r:id="rId4"/>
    <p:sldMasterId id="2147483738" r:id="rId5"/>
  </p:sldMasterIdLst>
  <p:notesMasterIdLst>
    <p:notesMasterId r:id="rId86"/>
  </p:notesMasterIdLst>
  <p:sldIdLst>
    <p:sldId id="256" r:id="rId6"/>
    <p:sldId id="312" r:id="rId7"/>
    <p:sldId id="313" r:id="rId8"/>
    <p:sldId id="321" r:id="rId9"/>
    <p:sldId id="322" r:id="rId10"/>
    <p:sldId id="257" r:id="rId11"/>
    <p:sldId id="342" r:id="rId12"/>
    <p:sldId id="4489" r:id="rId13"/>
    <p:sldId id="4509" r:id="rId14"/>
    <p:sldId id="4510" r:id="rId15"/>
    <p:sldId id="4511" r:id="rId16"/>
    <p:sldId id="4512" r:id="rId17"/>
    <p:sldId id="4513" r:id="rId18"/>
    <p:sldId id="4517" r:id="rId19"/>
    <p:sldId id="4518" r:id="rId20"/>
    <p:sldId id="4519" r:id="rId21"/>
    <p:sldId id="4520" r:id="rId22"/>
    <p:sldId id="336" r:id="rId23"/>
    <p:sldId id="341" r:id="rId24"/>
    <p:sldId id="337" r:id="rId25"/>
    <p:sldId id="613" r:id="rId26"/>
    <p:sldId id="344" r:id="rId27"/>
    <p:sldId id="839" r:id="rId28"/>
    <p:sldId id="844" r:id="rId29"/>
    <p:sldId id="840" r:id="rId30"/>
    <p:sldId id="490" r:id="rId31"/>
    <p:sldId id="609" r:id="rId32"/>
    <p:sldId id="611" r:id="rId33"/>
    <p:sldId id="348" r:id="rId34"/>
    <p:sldId id="4521" r:id="rId35"/>
    <p:sldId id="612" r:id="rId36"/>
    <p:sldId id="4223" r:id="rId37"/>
    <p:sldId id="4454" r:id="rId38"/>
    <p:sldId id="610" r:id="rId39"/>
    <p:sldId id="660" r:id="rId40"/>
    <p:sldId id="661" r:id="rId41"/>
    <p:sldId id="536" r:id="rId42"/>
    <p:sldId id="655" r:id="rId43"/>
    <p:sldId id="4501" r:id="rId44"/>
    <p:sldId id="258" r:id="rId45"/>
    <p:sldId id="259" r:id="rId46"/>
    <p:sldId id="317" r:id="rId47"/>
    <p:sldId id="319" r:id="rId48"/>
    <p:sldId id="4491" r:id="rId49"/>
    <p:sldId id="329" r:id="rId50"/>
    <p:sldId id="328" r:id="rId51"/>
    <p:sldId id="330" r:id="rId52"/>
    <p:sldId id="4507" r:id="rId53"/>
    <p:sldId id="4508" r:id="rId54"/>
    <p:sldId id="347" r:id="rId55"/>
    <p:sldId id="4492" r:id="rId56"/>
    <p:sldId id="4490" r:id="rId57"/>
    <p:sldId id="339" r:id="rId58"/>
    <p:sldId id="345" r:id="rId59"/>
    <p:sldId id="4504" r:id="rId60"/>
    <p:sldId id="4503" r:id="rId61"/>
    <p:sldId id="4493" r:id="rId62"/>
    <p:sldId id="349" r:id="rId63"/>
    <p:sldId id="318" r:id="rId64"/>
    <p:sldId id="346" r:id="rId65"/>
    <p:sldId id="333" r:id="rId66"/>
    <p:sldId id="4494" r:id="rId67"/>
    <p:sldId id="4496" r:id="rId68"/>
    <p:sldId id="4500" r:id="rId69"/>
    <p:sldId id="4495" r:id="rId70"/>
    <p:sldId id="263" r:id="rId71"/>
    <p:sldId id="320" r:id="rId72"/>
    <p:sldId id="327" r:id="rId73"/>
    <p:sldId id="325" r:id="rId74"/>
    <p:sldId id="326" r:id="rId75"/>
    <p:sldId id="4499" r:id="rId76"/>
    <p:sldId id="4502" r:id="rId77"/>
    <p:sldId id="323" r:id="rId78"/>
    <p:sldId id="306" r:id="rId79"/>
    <p:sldId id="4506" r:id="rId80"/>
    <p:sldId id="264" r:id="rId81"/>
    <p:sldId id="316" r:id="rId82"/>
    <p:sldId id="315" r:id="rId83"/>
    <p:sldId id="4488" r:id="rId84"/>
    <p:sldId id="4487" r:id="rId85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>
      <p:cViewPr varScale="1">
        <p:scale>
          <a:sx n="105" d="100"/>
          <a:sy n="105" d="100"/>
        </p:scale>
        <p:origin x="1830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76" Type="http://schemas.openxmlformats.org/officeDocument/2006/relationships/slide" Target="slides/slide71.xml"/><Relationship Id="rId84" Type="http://schemas.openxmlformats.org/officeDocument/2006/relationships/slide" Target="slides/slide79.xml"/><Relationship Id="rId89" Type="http://schemas.openxmlformats.org/officeDocument/2006/relationships/theme" Target="theme/theme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87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90" Type="http://schemas.openxmlformats.org/officeDocument/2006/relationships/tableStyles" Target="tableStyles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slide" Target="slides/slide72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slide" Target="slides/slide78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DEB7E-B727-431B-9087-F446C272FBF1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60BD94-07A0-4CBB-9294-E0B777CC0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041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54DF211-1547-A0F9-6555-DFDACF1D68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F8DA3C-1196-45E8-8F4F-BE6056B1BC10}" type="slidenum">
              <a:rPr kumimoji="0" lang="en-US" alt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27042" name="Rectangle 2">
            <a:extLst>
              <a:ext uri="{FF2B5EF4-FFF2-40B4-BE49-F238E27FC236}">
                <a16:creationId xmlns:a16="http://schemas.microsoft.com/office/drawing/2014/main" id="{EEB4C3E3-4C20-4396-128E-8896D3CA4A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43" name="Rectangle 3">
            <a:extLst>
              <a:ext uri="{FF2B5EF4-FFF2-40B4-BE49-F238E27FC236}">
                <a16:creationId xmlns:a16="http://schemas.microsoft.com/office/drawing/2014/main" id="{62131632-448B-E518-2E71-DD71E79EEC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A08B583-EBB7-5486-2B3A-64B8E7CBA2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3BD01-1660-4CAA-BBA4-3FC64265E0EC}" type="slidenum">
              <a:rPr kumimoji="0" lang="en-US" alt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28066" name="Rectangle 2">
            <a:extLst>
              <a:ext uri="{FF2B5EF4-FFF2-40B4-BE49-F238E27FC236}">
                <a16:creationId xmlns:a16="http://schemas.microsoft.com/office/drawing/2014/main" id="{AC3D154B-A296-94B0-4704-11B5175445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8067" name="Rectangle 3">
            <a:extLst>
              <a:ext uri="{FF2B5EF4-FFF2-40B4-BE49-F238E27FC236}">
                <a16:creationId xmlns:a16="http://schemas.microsoft.com/office/drawing/2014/main" id="{76669BDB-F4DC-1194-F4D3-061FEF4CA2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3657E-093C-8929-1921-A98D347E5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09DAB96-B59A-FB83-2A28-5EAEFCD1B3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3BD01-1660-4CAA-BBA4-3FC64265E0EC}" type="slidenum">
              <a:rPr kumimoji="0" lang="en-US" alt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28066" name="Rectangle 2">
            <a:extLst>
              <a:ext uri="{FF2B5EF4-FFF2-40B4-BE49-F238E27FC236}">
                <a16:creationId xmlns:a16="http://schemas.microsoft.com/office/drawing/2014/main" id="{03BF9600-7D2F-91F5-F7AE-8C0DD7B1B4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8067" name="Rectangle 3">
            <a:extLst>
              <a:ext uri="{FF2B5EF4-FFF2-40B4-BE49-F238E27FC236}">
                <a16:creationId xmlns:a16="http://schemas.microsoft.com/office/drawing/2014/main" id="{1265C835-9FB3-3429-D78D-304BA35B7D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5541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DEA11-6593-0B66-5754-E0099AA3F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759C4EC2-CF9B-31A7-D20A-FE24A4E6FC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9B3BA7-224A-4BA2-99E4-26CDC31135A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D457E07E-3338-B0FA-C795-00E855D51C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690563"/>
            <a:ext cx="4556125" cy="3416300"/>
          </a:xfrm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8D583F63-68CA-2AF0-7628-DEFBFBF5D9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933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CB341-C37B-59B3-7F3E-9E185AEB4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06E3371-4951-B1B0-8A3A-76F1F41B24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F8DA3C-1196-45E8-8F4F-BE6056B1BC10}" type="slidenum">
              <a:rPr kumimoji="0" lang="en-US" alt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27042" name="Rectangle 2">
            <a:extLst>
              <a:ext uri="{FF2B5EF4-FFF2-40B4-BE49-F238E27FC236}">
                <a16:creationId xmlns:a16="http://schemas.microsoft.com/office/drawing/2014/main" id="{3F21CA9E-29B7-8414-90D6-883B9250D7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43" name="Rectangle 3">
            <a:extLst>
              <a:ext uri="{FF2B5EF4-FFF2-40B4-BE49-F238E27FC236}">
                <a16:creationId xmlns:a16="http://schemas.microsoft.com/office/drawing/2014/main" id="{D8ADC1D4-DBE6-58F7-C42F-292496218D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85519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62EA7-789D-4ED8-A094-609D41133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149538E-E24E-C128-6A49-1F05B5CB1D6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CS 698T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5215C9D-0DC6-7AFE-3D82-E01C73C096B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P. Bhagwat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89B96C6-2D12-AB21-F68D-D4E5F7C675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183BD6-CD95-48E0-AC35-7513CF5F8913}" type="slidenum">
              <a:rPr kumimoji="0" lang="en-US" alt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275FE2C1-36F7-6031-76C7-59F0C1ABE4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7413"/>
          </a:xfrm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5D446EE5-4459-374E-1DFD-6151ED7E0F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1813"/>
            <a:ext cx="5029200" cy="4116387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0623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055E2-F95F-72D2-C608-69B1DB8FD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E158F78-7502-7238-57E2-E961E266C2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F8DA3C-1196-45E8-8F4F-BE6056B1BC10}" type="slidenum">
              <a:rPr kumimoji="0" lang="en-US" alt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27042" name="Rectangle 2">
            <a:extLst>
              <a:ext uri="{FF2B5EF4-FFF2-40B4-BE49-F238E27FC236}">
                <a16:creationId xmlns:a16="http://schemas.microsoft.com/office/drawing/2014/main" id="{16422EAB-5ECD-F47C-188F-C29DF5375D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43" name="Rectangle 3">
            <a:extLst>
              <a:ext uri="{FF2B5EF4-FFF2-40B4-BE49-F238E27FC236}">
                <a16:creationId xmlns:a16="http://schemas.microsoft.com/office/drawing/2014/main" id="{948FFE03-DEBA-E64C-0276-0653F6110B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02811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id="{9E9150FD-2CB1-EFC8-6208-0D1A4E3BD3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id="{8737350B-753F-C091-8637-2730A7753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4276" name="Slide Number Placeholder 3">
            <a:extLst>
              <a:ext uri="{FF2B5EF4-FFF2-40B4-BE49-F238E27FC236}">
                <a16:creationId xmlns:a16="http://schemas.microsoft.com/office/drawing/2014/main" id="{624E5183-3737-4126-C951-83E5B9ECA0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B91CE2-9D80-494C-A7CA-976302667A7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0AB71EF4-BA4E-0E4D-894C-FE5C7AD8DC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D6A483-20A8-4EA3-8900-67559CF2B86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9B70ED70-8F6A-7189-8BE8-CA18F23F04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F3E3EA0E-4218-EFEE-BED7-266A2EF478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4ACBA994-CE5F-57B6-5527-ED044EB5DF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F4EE59-C470-4B07-922E-E35F87C6961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6FC1E79C-D5E9-C1E2-01DF-B0430CF8B9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3BC04AF8-66EF-8B2C-FFFA-7530017EDD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E621F9E6-FD2B-8BE9-A0A6-D892A315E4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D1D18F-7BAF-4C6C-BE4E-7F0E388C9CB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9AD7A1A4-2941-5FF7-0232-DE345C8183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57658E3F-17D8-4F2D-D6E2-AC8237C41E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1D0EA32D-4A97-C4E4-9CD3-649F56F0EC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71CD1F2-5A31-409D-A58E-DD84F1AC914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6AD8B7E5-4B16-50EC-E16E-340303B278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F2B65716-C763-C395-03C2-87BAF82D01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0FF39F92-4748-8602-1A44-374E4193DE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AFCE21B-698F-4062-A1CF-E3AD37AECDF5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65AD33A5-44E8-0A4B-077B-2B6BBAC789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78275BE4-3953-0B5C-4431-782DF5EA64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1EFD7634-8C0A-6620-A799-9B71695C1E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667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56CDF45-ED81-4FE4-B145-C5AE8BA31456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667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F9901DD3-C446-3D7C-86C5-80F14F40C2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6513" y="752475"/>
            <a:ext cx="4719637" cy="3541713"/>
          </a:xfrm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89A3BE48-EAAC-32A5-70DB-FF6228B8CC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9488" y="4562475"/>
            <a:ext cx="5359400" cy="4318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Fast fading: usually observed over distances of about half a wavelength. For VHF and UHF, a vehicle traveling at 30 miles per hour can pass through several fast fades in a second</a:t>
            </a:r>
          </a:p>
          <a:p>
            <a:pPr eaLnBrk="1" hangingPunct="1"/>
            <a:r>
              <a:rPr lang="en-US" altLang="en-US"/>
              <a:t>Slow fading: movement over distances large enough to produce gross variations in the overall path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D29BC-D08A-728D-5AEC-72C264595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F2558F6-8B8E-0CE3-040B-950B850CAA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3BB4D5-4454-43A1-98DE-A536D96822FE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85186" name="Rectangle 2">
            <a:extLst>
              <a:ext uri="{FF2B5EF4-FFF2-40B4-BE49-F238E27FC236}">
                <a16:creationId xmlns:a16="http://schemas.microsoft.com/office/drawing/2014/main" id="{CDB8C9FE-367D-F488-6BFE-8C8E703C33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5187" name="Rectangle 3">
            <a:extLst>
              <a:ext uri="{FF2B5EF4-FFF2-40B4-BE49-F238E27FC236}">
                <a16:creationId xmlns:a16="http://schemas.microsoft.com/office/drawing/2014/main" id="{9C71F5F2-AA67-0950-64DE-90D21A2739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12040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1C4FBBEA-E334-F17E-B58B-F15EAA30D4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667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4C620D-1FDD-428B-ABE9-25322B0DADC4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667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4BD228FB-D720-1F51-A7EE-D0662AEA6D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0632B184-141B-E211-AA65-4C25E0D288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Pt = PrGtGr (</a:t>
            </a:r>
            <a:r>
              <a:rPr lang="el-GR" altLang="en-US"/>
              <a:t>λ/</a:t>
            </a:r>
            <a:r>
              <a:rPr lang="en-US" altLang="en-US"/>
              <a:t>4pR)^2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D2496A39-726E-230B-05E1-CF6609A757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667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5110B89-2D03-4E99-B619-0F7907D3AB6E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667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59ACE30D-FC2C-AAEC-2ABC-793596B8E1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6513" y="752475"/>
            <a:ext cx="4719637" cy="3541713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B2A47725-65DD-4289-5C17-BC35092107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9488" y="4562475"/>
            <a:ext cx="5359400" cy="4318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These ranges are not circular in the real world.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C1599DAE-7D11-DE1C-0A21-ED9DF5852D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667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EFFC377-5A2B-4D81-A428-59BC99665870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667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72BD9BC9-E51D-9167-7EA8-55A1E95745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0CB155F1-8FEC-1B29-2B64-C07E6E0677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F9D70513-4540-46A5-5DD2-B4974E0C99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667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70438BB-6336-4470-B19B-BCFF581C6112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667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C266628B-0EAC-1146-27F8-D4518B0539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A0B25E3C-A51E-9815-78B8-8200A08D19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026D20D0-072D-C7A2-85C2-ECE8DBD192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E74C45-27FD-4730-B358-8C7D15F5527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BF661C2B-F486-8C06-E634-0C8A18BFFB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97F74323-365B-FE84-54C1-7BCC215630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9E2C9954-29C1-A086-1826-FA5FDDF45B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7E888E-7DBC-4F0F-AE6B-A39E3231424D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17FAF6A6-4FA7-BE29-42B8-C07969029F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CD573501-161C-31F3-EBAE-5E5B4E0881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08025-8A3B-C402-D587-EBEEDA41B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47FE2F6-BC5E-6B2A-303D-A81396260D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3BB4D5-4454-43A1-98DE-A536D96822FE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85186" name="Rectangle 2">
            <a:extLst>
              <a:ext uri="{FF2B5EF4-FFF2-40B4-BE49-F238E27FC236}">
                <a16:creationId xmlns:a16="http://schemas.microsoft.com/office/drawing/2014/main" id="{7B915596-B873-3090-2E1B-98B7EAEBE8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5187" name="Rectangle 3">
            <a:extLst>
              <a:ext uri="{FF2B5EF4-FFF2-40B4-BE49-F238E27FC236}">
                <a16:creationId xmlns:a16="http://schemas.microsoft.com/office/drawing/2014/main" id="{DBE85AD4-7287-BF18-2C59-9C05F80732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74990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FB1E17D-F9B1-E0B9-7DF9-57074AA3CE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3BB4D5-4454-43A1-98DE-A536D96822FE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85186" name="Rectangle 2">
            <a:extLst>
              <a:ext uri="{FF2B5EF4-FFF2-40B4-BE49-F238E27FC236}">
                <a16:creationId xmlns:a16="http://schemas.microsoft.com/office/drawing/2014/main" id="{64D93AED-A35D-F8C8-38F7-7762302923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5187" name="Rectangle 3">
            <a:extLst>
              <a:ext uri="{FF2B5EF4-FFF2-40B4-BE49-F238E27FC236}">
                <a16:creationId xmlns:a16="http://schemas.microsoft.com/office/drawing/2014/main" id="{B2CF0411-0C4A-C631-39AE-0BA6C9FDC5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B2CF3D0-23D5-E2BB-1C54-A2C3CD81ED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828CE3-7C4D-4FD4-9347-FB3CD1F61C45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91330" name="Rectangle 2">
            <a:extLst>
              <a:ext uri="{FF2B5EF4-FFF2-40B4-BE49-F238E27FC236}">
                <a16:creationId xmlns:a16="http://schemas.microsoft.com/office/drawing/2014/main" id="{42669322-5C20-E2DF-1902-0810DDF303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1331" name="Rectangle 3">
            <a:extLst>
              <a:ext uri="{FF2B5EF4-FFF2-40B4-BE49-F238E27FC236}">
                <a16:creationId xmlns:a16="http://schemas.microsoft.com/office/drawing/2014/main" id="{147A3F84-E057-22BE-D6CA-A4148367C7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07272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47866-9F99-3D7D-4824-3E5B778F1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6880E0D-F4C8-D416-FBEE-10F64F8206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3BB4D5-4454-43A1-98DE-A536D96822FE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85186" name="Rectangle 2">
            <a:extLst>
              <a:ext uri="{FF2B5EF4-FFF2-40B4-BE49-F238E27FC236}">
                <a16:creationId xmlns:a16="http://schemas.microsoft.com/office/drawing/2014/main" id="{C935CD93-C907-CAA9-05A5-5C35790BDB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5187" name="Rectangle 3">
            <a:extLst>
              <a:ext uri="{FF2B5EF4-FFF2-40B4-BE49-F238E27FC236}">
                <a16:creationId xmlns:a16="http://schemas.microsoft.com/office/drawing/2014/main" id="{DAEA0E20-103C-D663-8883-78C745CF8B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69255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0BDD5-A91C-272A-17FB-2BD7B8B8E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548D101-1530-A9AC-4D9C-5391C49626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3BB4D5-4454-43A1-98DE-A536D96822FE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85186" name="Rectangle 2">
            <a:extLst>
              <a:ext uri="{FF2B5EF4-FFF2-40B4-BE49-F238E27FC236}">
                <a16:creationId xmlns:a16="http://schemas.microsoft.com/office/drawing/2014/main" id="{ABCFD049-E33D-6470-AAEC-E0052FF021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5187" name="Rectangle 3">
            <a:extLst>
              <a:ext uri="{FF2B5EF4-FFF2-40B4-BE49-F238E27FC236}">
                <a16:creationId xmlns:a16="http://schemas.microsoft.com/office/drawing/2014/main" id="{1CA949D8-5DA7-4D64-F824-1DEC7F7DEC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68367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61B52-698E-EB79-5996-998345971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07A932C-C682-6057-0EF0-120E3B08A7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3BB4D5-4454-43A1-98DE-A536D96822FE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85186" name="Rectangle 2">
            <a:extLst>
              <a:ext uri="{FF2B5EF4-FFF2-40B4-BE49-F238E27FC236}">
                <a16:creationId xmlns:a16="http://schemas.microsoft.com/office/drawing/2014/main" id="{EE9E620C-0F2B-2A0F-B291-3022F314F0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5187" name="Rectangle 3">
            <a:extLst>
              <a:ext uri="{FF2B5EF4-FFF2-40B4-BE49-F238E27FC236}">
                <a16:creationId xmlns:a16="http://schemas.microsoft.com/office/drawing/2014/main" id="{173F5C5A-3659-F7EC-70C7-86F28ED3CA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07770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8750E-CC69-A7A7-3980-27A5AA754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B72A313-C3A4-7173-F5AD-B5CFF265E4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3BB4D5-4454-43A1-98DE-A536D96822FE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85186" name="Rectangle 2">
            <a:extLst>
              <a:ext uri="{FF2B5EF4-FFF2-40B4-BE49-F238E27FC236}">
                <a16:creationId xmlns:a16="http://schemas.microsoft.com/office/drawing/2014/main" id="{28387D5C-65D7-2FFF-B2A9-67A6E6AE71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5187" name="Rectangle 3">
            <a:extLst>
              <a:ext uri="{FF2B5EF4-FFF2-40B4-BE49-F238E27FC236}">
                <a16:creationId xmlns:a16="http://schemas.microsoft.com/office/drawing/2014/main" id="{6B3F0F87-587D-4642-7ED1-E09F67C902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3482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FD5B0-1CE8-A567-7D13-6AD4AB5B9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E536F42-A920-0C95-BF9E-1FB5004567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3BB4D5-4454-43A1-98DE-A536D96822FE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85186" name="Rectangle 2">
            <a:extLst>
              <a:ext uri="{FF2B5EF4-FFF2-40B4-BE49-F238E27FC236}">
                <a16:creationId xmlns:a16="http://schemas.microsoft.com/office/drawing/2014/main" id="{16A75B4A-672B-3930-42FC-16D16D4CED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5187" name="Rectangle 3">
            <a:extLst>
              <a:ext uri="{FF2B5EF4-FFF2-40B4-BE49-F238E27FC236}">
                <a16:creationId xmlns:a16="http://schemas.microsoft.com/office/drawing/2014/main" id="{4F43B55D-DFC6-8763-BDB6-757528CB7E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96460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9B64A-E1D2-2A73-10F4-29F9CECF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010697F-46EC-F1DD-2656-90EA9DBDE1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3BB4D5-4454-43A1-98DE-A536D96822FE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85186" name="Rectangle 2">
            <a:extLst>
              <a:ext uri="{FF2B5EF4-FFF2-40B4-BE49-F238E27FC236}">
                <a16:creationId xmlns:a16="http://schemas.microsoft.com/office/drawing/2014/main" id="{EAD0EC85-2B31-5714-3956-376384A4BC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5187" name="Rectangle 3">
            <a:extLst>
              <a:ext uri="{FF2B5EF4-FFF2-40B4-BE49-F238E27FC236}">
                <a16:creationId xmlns:a16="http://schemas.microsoft.com/office/drawing/2014/main" id="{FF77454E-6DD2-C465-FA57-7E290115BE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228614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5AE0FB7-4303-373C-4F59-ACF27B419A8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CS 698T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33D049D-CCE7-5B6A-15E9-CFE9AD42C92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P. Bhagwat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99F5FB1-5931-5D85-F8BB-956C53903C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4577E7-467C-40E5-93E2-D47BBE39E31F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E2D48988-3B3A-91DB-0007-4B3D39DDED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1813"/>
            <a:ext cx="5029200" cy="4116387"/>
          </a:xfrm>
          <a:ln/>
        </p:spPr>
        <p:txBody>
          <a:bodyPr lIns="94136" tIns="48636" rIns="94136" bIns="48636"/>
          <a:lstStyle/>
          <a:p>
            <a:pPr defTabSz="949325"/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DFB9CB1-DF0F-C0AB-E249-3E38E21131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0563"/>
            <a:ext cx="4554538" cy="3416300"/>
          </a:xfrm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30488429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D1AE0-4D1E-1036-5FB6-5CFA05F36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E2144FD-9478-3B6E-4E06-6CDCE7AAA5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3BB4D5-4454-43A1-98DE-A536D96822FE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85186" name="Rectangle 2">
            <a:extLst>
              <a:ext uri="{FF2B5EF4-FFF2-40B4-BE49-F238E27FC236}">
                <a16:creationId xmlns:a16="http://schemas.microsoft.com/office/drawing/2014/main" id="{74DBB5DF-1F2A-4A90-EAEE-8BC95FAFFB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5187" name="Rectangle 3">
            <a:extLst>
              <a:ext uri="{FF2B5EF4-FFF2-40B4-BE49-F238E27FC236}">
                <a16:creationId xmlns:a16="http://schemas.microsoft.com/office/drawing/2014/main" id="{7AA5264D-88A2-BC2E-6119-E0E9EF8D03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338883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83C0A-2FC7-9DD0-7B4B-CE1BAF919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DD7FE85-8A18-196C-3E03-CC091DC6E2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DDCDC7D-1FA0-4A84-9795-6CEE4D9034C7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87234" name="Rectangle 2">
            <a:extLst>
              <a:ext uri="{FF2B5EF4-FFF2-40B4-BE49-F238E27FC236}">
                <a16:creationId xmlns:a16="http://schemas.microsoft.com/office/drawing/2014/main" id="{17A71FA7-3F43-7463-5302-732CF749F0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7235" name="Rectangle 3">
            <a:extLst>
              <a:ext uri="{FF2B5EF4-FFF2-40B4-BE49-F238E27FC236}">
                <a16:creationId xmlns:a16="http://schemas.microsoft.com/office/drawing/2014/main" id="{C9E48689-5F0D-932A-5874-FFF0F5714D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17423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76986-3F57-FCD8-F92E-0474A1E1C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986E7E9-0FE4-111A-2A11-76B8D4164F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DDCDC7D-1FA0-4A84-9795-6CEE4D9034C7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87234" name="Rectangle 2">
            <a:extLst>
              <a:ext uri="{FF2B5EF4-FFF2-40B4-BE49-F238E27FC236}">
                <a16:creationId xmlns:a16="http://schemas.microsoft.com/office/drawing/2014/main" id="{76A386E3-E5C0-DD4E-F547-DB5E9F4893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7235" name="Rectangle 3">
            <a:extLst>
              <a:ext uri="{FF2B5EF4-FFF2-40B4-BE49-F238E27FC236}">
                <a16:creationId xmlns:a16="http://schemas.microsoft.com/office/drawing/2014/main" id="{748BE69A-99E6-1DB0-F6FC-12EAFD244F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567632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5FA97-B74D-4A48-7EB5-215552E49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D8B4FE9-ACA6-DADA-C21C-83A4E60A46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3BB4D5-4454-43A1-98DE-A536D96822FE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85186" name="Rectangle 2">
            <a:extLst>
              <a:ext uri="{FF2B5EF4-FFF2-40B4-BE49-F238E27FC236}">
                <a16:creationId xmlns:a16="http://schemas.microsoft.com/office/drawing/2014/main" id="{549E7CD6-2F48-95EC-4CD1-B5DCA72482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5187" name="Rectangle 3">
            <a:extLst>
              <a:ext uri="{FF2B5EF4-FFF2-40B4-BE49-F238E27FC236}">
                <a16:creationId xmlns:a16="http://schemas.microsoft.com/office/drawing/2014/main" id="{CDAB975A-4E7A-2EB3-F222-B65C0BBDDF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183567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25BBB9F-C9B8-04A1-26DA-5E2A9533D69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CS 698T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C5484D4-C982-FAB7-5AD0-2415DE6FC61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P. Bhagwat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CA2CF56E-B73A-3313-D9F2-3024D46F3F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2DD0E6-FB62-48D3-B05D-DD4B0C38E576}" type="slidenum">
              <a:rPr lang="en-US" altLang="en-US"/>
              <a:pPr/>
              <a:t>58</a:t>
            </a:fld>
            <a:endParaRPr lang="en-US" altLang="en-US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97D4208F-1D9F-7436-0BC2-6DAD55CFF0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1813"/>
            <a:ext cx="5029200" cy="4116387"/>
          </a:xfrm>
          <a:ln/>
        </p:spPr>
        <p:txBody>
          <a:bodyPr lIns="94136" tIns="48636" rIns="94136" bIns="48636"/>
          <a:lstStyle/>
          <a:p>
            <a:pPr defTabSz="949325"/>
            <a:endParaRPr lang="en-US" alt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C6E4939C-8C02-331F-8253-EC4152591D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0563"/>
            <a:ext cx="4554538" cy="3416300"/>
          </a:xfrm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78359659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0C0ECB7-4BF2-16C9-17C9-3C67194C33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4B9234-7088-498B-B016-CD82213535C3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89282" name="Rectangle 2">
            <a:extLst>
              <a:ext uri="{FF2B5EF4-FFF2-40B4-BE49-F238E27FC236}">
                <a16:creationId xmlns:a16="http://schemas.microsoft.com/office/drawing/2014/main" id="{73C7DCC9-76EA-4DD9-FA3C-A6570FCDCC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9283" name="Rectangle 3">
            <a:extLst>
              <a:ext uri="{FF2B5EF4-FFF2-40B4-BE49-F238E27FC236}">
                <a16:creationId xmlns:a16="http://schemas.microsoft.com/office/drawing/2014/main" id="{18EE96B2-C4A4-3A1A-4F03-9E4290D310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DF44F-B39E-6C07-79DE-A712D22D1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A9F78EF-8386-DC53-42C6-2162977E6E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3BB4D5-4454-43A1-98DE-A536D96822FE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85186" name="Rectangle 2">
            <a:extLst>
              <a:ext uri="{FF2B5EF4-FFF2-40B4-BE49-F238E27FC236}">
                <a16:creationId xmlns:a16="http://schemas.microsoft.com/office/drawing/2014/main" id="{2A7A9375-DB09-2131-360B-D45082D4B3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5187" name="Rectangle 3">
            <a:extLst>
              <a:ext uri="{FF2B5EF4-FFF2-40B4-BE49-F238E27FC236}">
                <a16:creationId xmlns:a16="http://schemas.microsoft.com/office/drawing/2014/main" id="{4D3B0664-EABE-8C6D-D36B-205BD0341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322256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2E423-A3BF-EA76-B9E0-41F6B2078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BDB22A2-6303-188C-3806-0BF564221E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3BB4D5-4454-43A1-98DE-A536D96822FE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85186" name="Rectangle 2">
            <a:extLst>
              <a:ext uri="{FF2B5EF4-FFF2-40B4-BE49-F238E27FC236}">
                <a16:creationId xmlns:a16="http://schemas.microsoft.com/office/drawing/2014/main" id="{54B89814-5526-B3B6-4C50-CB5C866C71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5187" name="Rectangle 3">
            <a:extLst>
              <a:ext uri="{FF2B5EF4-FFF2-40B4-BE49-F238E27FC236}">
                <a16:creationId xmlns:a16="http://schemas.microsoft.com/office/drawing/2014/main" id="{2991689B-BA54-D05D-98DD-6475ABBF82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40951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E33A2-9864-98ED-70C7-0AE05E504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49EAB35-74C6-941C-B066-F54078BE86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3BB4D5-4454-43A1-98DE-A536D96822FE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85186" name="Rectangle 2">
            <a:extLst>
              <a:ext uri="{FF2B5EF4-FFF2-40B4-BE49-F238E27FC236}">
                <a16:creationId xmlns:a16="http://schemas.microsoft.com/office/drawing/2014/main" id="{2FE863F8-24BB-9C7B-C691-F4DCE02451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5187" name="Rectangle 3">
            <a:extLst>
              <a:ext uri="{FF2B5EF4-FFF2-40B4-BE49-F238E27FC236}">
                <a16:creationId xmlns:a16="http://schemas.microsoft.com/office/drawing/2014/main" id="{87B88E16-C224-627F-3637-406E614238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03307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433EB-7E16-16F7-48FC-D70D3DCB9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D6BFAD4-34E5-6139-7A19-91E3DB04ED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3BB4D5-4454-43A1-98DE-A536D96822FE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85186" name="Rectangle 2">
            <a:extLst>
              <a:ext uri="{FF2B5EF4-FFF2-40B4-BE49-F238E27FC236}">
                <a16:creationId xmlns:a16="http://schemas.microsoft.com/office/drawing/2014/main" id="{69E13429-AABB-EA30-7E5F-70167A35B7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5187" name="Rectangle 3">
            <a:extLst>
              <a:ext uri="{FF2B5EF4-FFF2-40B4-BE49-F238E27FC236}">
                <a16:creationId xmlns:a16="http://schemas.microsoft.com/office/drawing/2014/main" id="{D5F645CF-47E8-BBED-2F4F-9CF047A94F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511235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C0960-66B7-7A4F-020C-AA7A6E770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5E0993F-B2FF-871D-3182-5C29F2966B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3BB4D5-4454-43A1-98DE-A536D96822FE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85186" name="Rectangle 2">
            <a:extLst>
              <a:ext uri="{FF2B5EF4-FFF2-40B4-BE49-F238E27FC236}">
                <a16:creationId xmlns:a16="http://schemas.microsoft.com/office/drawing/2014/main" id="{4B4EFBD2-4CAD-5D02-D8B2-559B86921A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5187" name="Rectangle 3">
            <a:extLst>
              <a:ext uri="{FF2B5EF4-FFF2-40B4-BE49-F238E27FC236}">
                <a16:creationId xmlns:a16="http://schemas.microsoft.com/office/drawing/2014/main" id="{9E0F824A-FE7C-AC2E-8578-09B70D3D15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677490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72F4B81-FD83-92A7-F73D-359020FF80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A38831-385A-40DB-B875-68B918D13392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93378" name="Rectangle 2">
            <a:extLst>
              <a:ext uri="{FF2B5EF4-FFF2-40B4-BE49-F238E27FC236}">
                <a16:creationId xmlns:a16="http://schemas.microsoft.com/office/drawing/2014/main" id="{7047C53D-AA24-EBE1-ABF5-D8BBC63993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3379" name="Rectangle 3">
            <a:extLst>
              <a:ext uri="{FF2B5EF4-FFF2-40B4-BE49-F238E27FC236}">
                <a16:creationId xmlns:a16="http://schemas.microsoft.com/office/drawing/2014/main" id="{7A9D20C5-F583-8F2B-A195-B7266C3E31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999C3A7-0F31-6936-F3AC-BB5649FA18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F5E5B5-93FF-459D-9D86-F5C0D9E901FA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95426" name="Rectangle 2">
            <a:extLst>
              <a:ext uri="{FF2B5EF4-FFF2-40B4-BE49-F238E27FC236}">
                <a16:creationId xmlns:a16="http://schemas.microsoft.com/office/drawing/2014/main" id="{F8D8CB55-0067-757B-22AB-7A85556F59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5427" name="Rectangle 3">
            <a:extLst>
              <a:ext uri="{FF2B5EF4-FFF2-40B4-BE49-F238E27FC236}">
                <a16:creationId xmlns:a16="http://schemas.microsoft.com/office/drawing/2014/main" id="{DCE390B6-4CE8-D4D2-EC4B-D3F4ABFB84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E6CF2-9901-FE67-8C8F-DFBCA19B0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95DB334-E485-A3AB-EA1C-427142BA2B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F5E5B5-93FF-459D-9D86-F5C0D9E901FA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95426" name="Rectangle 2">
            <a:extLst>
              <a:ext uri="{FF2B5EF4-FFF2-40B4-BE49-F238E27FC236}">
                <a16:creationId xmlns:a16="http://schemas.microsoft.com/office/drawing/2014/main" id="{023AC571-66D0-9083-E218-9A290EE685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5427" name="Rectangle 3">
            <a:extLst>
              <a:ext uri="{FF2B5EF4-FFF2-40B4-BE49-F238E27FC236}">
                <a16:creationId xmlns:a16="http://schemas.microsoft.com/office/drawing/2014/main" id="{B1C1AA02-275F-886A-F00D-B7D01E5128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092781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52B91-B5BE-1178-C16E-2F61AEC70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60463C2-FB15-21C6-45F1-B02A5E5368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F5E5B5-93FF-459D-9D86-F5C0D9E901FA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95426" name="Rectangle 2">
            <a:extLst>
              <a:ext uri="{FF2B5EF4-FFF2-40B4-BE49-F238E27FC236}">
                <a16:creationId xmlns:a16="http://schemas.microsoft.com/office/drawing/2014/main" id="{5CD01B79-7EC4-9267-BCE1-6EFC2AC162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5427" name="Rectangle 3">
            <a:extLst>
              <a:ext uri="{FF2B5EF4-FFF2-40B4-BE49-F238E27FC236}">
                <a16:creationId xmlns:a16="http://schemas.microsoft.com/office/drawing/2014/main" id="{BC775E69-1C9A-0629-D61E-B1FCF0EB05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282228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56157-1E84-57A5-C64F-1D5BFBE93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A0FD327-45A6-3C74-AAA2-028425E385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F5E5B5-93FF-459D-9D86-F5C0D9E901FA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95426" name="Rectangle 2">
            <a:extLst>
              <a:ext uri="{FF2B5EF4-FFF2-40B4-BE49-F238E27FC236}">
                <a16:creationId xmlns:a16="http://schemas.microsoft.com/office/drawing/2014/main" id="{2CD59C0D-A7EA-CEB7-F17E-D043F363F7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5427" name="Rectangle 3">
            <a:extLst>
              <a:ext uri="{FF2B5EF4-FFF2-40B4-BE49-F238E27FC236}">
                <a16:creationId xmlns:a16="http://schemas.microsoft.com/office/drawing/2014/main" id="{C60B3870-2C2B-EEFB-B940-3C8C0950EB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754158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D1CF8-59ED-8F04-97D6-CA23013C5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DD42C3A-5650-4DA8-5F8D-B80A96928B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3BB4D5-4454-43A1-98DE-A536D96822FE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85186" name="Rectangle 2">
            <a:extLst>
              <a:ext uri="{FF2B5EF4-FFF2-40B4-BE49-F238E27FC236}">
                <a16:creationId xmlns:a16="http://schemas.microsoft.com/office/drawing/2014/main" id="{3977D8D7-8C8E-94CD-3C6C-243363B3DF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5187" name="Rectangle 3">
            <a:extLst>
              <a:ext uri="{FF2B5EF4-FFF2-40B4-BE49-F238E27FC236}">
                <a16:creationId xmlns:a16="http://schemas.microsoft.com/office/drawing/2014/main" id="{62E21593-B4C6-069F-3ED8-71BC3FF46F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306729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C5B09-EEB8-3BDF-76C0-DA28D737A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223F903-596C-4116-5ADE-F08A245AA7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3BB4D5-4454-43A1-98DE-A536D96822FE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85186" name="Rectangle 2">
            <a:extLst>
              <a:ext uri="{FF2B5EF4-FFF2-40B4-BE49-F238E27FC236}">
                <a16:creationId xmlns:a16="http://schemas.microsoft.com/office/drawing/2014/main" id="{38DF13A3-9179-44C5-090E-BD6610C904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5187" name="Rectangle 3">
            <a:extLst>
              <a:ext uri="{FF2B5EF4-FFF2-40B4-BE49-F238E27FC236}">
                <a16:creationId xmlns:a16="http://schemas.microsoft.com/office/drawing/2014/main" id="{DA55BEED-801E-5C33-0CAF-DC93731662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621893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9FBE3-8A3A-E8F0-9EFE-8576618C6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2253B90A-101E-AB55-94AB-9FAFCF6CB7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EC5E43-144B-4354-97A9-0CC1E5B340E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A7B3C7D6-3ACB-3D15-6DDC-F1360C17BD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690563"/>
            <a:ext cx="4556125" cy="3416300"/>
          </a:xfrm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89A90E60-532F-4019-1EB8-BC3EF77AEA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76832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A6B23-BF84-8FF3-EE07-EF0C844AE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9949EA7-383C-BD84-2482-7089BEAC24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3BB4D5-4454-43A1-98DE-A536D96822FE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85186" name="Rectangle 2">
            <a:extLst>
              <a:ext uri="{FF2B5EF4-FFF2-40B4-BE49-F238E27FC236}">
                <a16:creationId xmlns:a16="http://schemas.microsoft.com/office/drawing/2014/main" id="{067CBE6A-ACFB-792F-2B6C-739B2A488B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5187" name="Rectangle 3">
            <a:extLst>
              <a:ext uri="{FF2B5EF4-FFF2-40B4-BE49-F238E27FC236}">
                <a16:creationId xmlns:a16="http://schemas.microsoft.com/office/drawing/2014/main" id="{58777B03-75A2-D408-BC7B-F0BE3F42EB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709183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19350-C928-33C0-CBC1-9D0A107F3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6D27A7D-4B74-DD00-FBC1-88386023AD6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CS 698T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354E976-B1E9-2678-5D0C-F7F637A4FF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P. Bhagwat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50239BF-6D89-81AC-DD1F-52BC415C8E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1999D9-B8B1-4B18-B3CE-7C6EE7583B61}" type="slidenum">
              <a:rPr kumimoji="0" lang="en-US" alt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alt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7953517D-05FA-0B77-3513-ECB240E2FA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61C18DAF-9343-44F4-C50A-AA0AA57DB7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Knowledge across layers is necessary to make informed decision.</a:t>
            </a:r>
          </a:p>
        </p:txBody>
      </p:sp>
    </p:spTree>
    <p:extLst>
      <p:ext uri="{BB962C8B-B14F-4D97-AF65-F5344CB8AC3E}">
        <p14:creationId xmlns:p14="http://schemas.microsoft.com/office/powerpoint/2010/main" val="2149612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FF6600"/>
                </a:solidFill>
                <a:latin typeface="Arial"/>
                <a:cs typeface="Arial"/>
              </a:defRPr>
            </a:lvl1pPr>
          </a:lstStyle>
          <a:p>
            <a:pPr marL="136525">
              <a:lnSpc>
                <a:spcPts val="16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FF6600"/>
                </a:solidFill>
                <a:latin typeface="Arial"/>
                <a:cs typeface="Arial"/>
              </a:defRPr>
            </a:lvl1pPr>
          </a:lstStyle>
          <a:p>
            <a:pPr marL="136525">
              <a:lnSpc>
                <a:spcPts val="16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FF6600"/>
                </a:solidFill>
                <a:latin typeface="Arial"/>
                <a:cs typeface="Arial"/>
              </a:defRPr>
            </a:lvl1pPr>
          </a:lstStyle>
          <a:p>
            <a:pPr marL="136525">
              <a:lnSpc>
                <a:spcPts val="16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FF6600"/>
                </a:solidFill>
                <a:latin typeface="Arial"/>
                <a:cs typeface="Arial"/>
              </a:defRPr>
            </a:lvl1pPr>
          </a:lstStyle>
          <a:p>
            <a:pPr marL="136525">
              <a:lnSpc>
                <a:spcPts val="16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FF6600"/>
                </a:solidFill>
                <a:latin typeface="Arial"/>
                <a:cs typeface="Arial"/>
              </a:defRPr>
            </a:lvl1pPr>
          </a:lstStyle>
          <a:p>
            <a:pPr marL="136525">
              <a:lnSpc>
                <a:spcPts val="16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410" name="Rectangle 2">
            <a:extLst>
              <a:ext uri="{FF2B5EF4-FFF2-40B4-BE49-F238E27FC236}">
                <a16:creationId xmlns:a16="http://schemas.microsoft.com/office/drawing/2014/main" id="{65F8BCDB-7D7D-A1D1-8210-AC539C9547B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>
                <a:solidFill>
                  <a:srgbClr val="0000FF"/>
                </a:solidFill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57411" name="Rectangle 3">
            <a:extLst>
              <a:ext uri="{FF2B5EF4-FFF2-40B4-BE49-F238E27FC236}">
                <a16:creationId xmlns:a16="http://schemas.microsoft.com/office/drawing/2014/main" id="{E974DF5C-6986-F775-5398-EFB1154F5FC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57412" name="Rectangle 4">
            <a:extLst>
              <a:ext uri="{FF2B5EF4-FFF2-40B4-BE49-F238E27FC236}">
                <a16:creationId xmlns:a16="http://schemas.microsoft.com/office/drawing/2014/main" id="{1928B9DB-033D-E9CA-2CC0-A45EB74E5D1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4D45CC3-243A-4946-8462-4D5F184F5A1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57413" name="Line 5">
            <a:extLst>
              <a:ext uri="{FF2B5EF4-FFF2-40B4-BE49-F238E27FC236}">
                <a16:creationId xmlns:a16="http://schemas.microsoft.com/office/drawing/2014/main" id="{6F20A9A4-59FA-FB2C-7FE1-FAE3F4C7E98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143000"/>
            <a:ext cx="8839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7414" name="Line 6">
            <a:extLst>
              <a:ext uri="{FF2B5EF4-FFF2-40B4-BE49-F238E27FC236}">
                <a16:creationId xmlns:a16="http://schemas.microsoft.com/office/drawing/2014/main" id="{79114858-A620-0AB1-1E97-F1B98CBB05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1143000"/>
            <a:ext cx="0" cy="55626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657415" name="Picture 7">
            <a:extLst>
              <a:ext uri="{FF2B5EF4-FFF2-40B4-BE49-F238E27FC236}">
                <a16:creationId xmlns:a16="http://schemas.microsoft.com/office/drawing/2014/main" id="{E7B35309-A609-1E68-7E1B-7A83C6AAA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7863" y="317500"/>
            <a:ext cx="641350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7416" name="AutoShape 8">
            <a:extLst>
              <a:ext uri="{FF2B5EF4-FFF2-40B4-BE49-F238E27FC236}">
                <a16:creationId xmlns:a16="http://schemas.microsoft.com/office/drawing/2014/main" id="{658B9BE1-03E2-4C20-0EB1-71D3D7B60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8839200" cy="6553200"/>
          </a:xfrm>
          <a:prstGeom prst="roundRect">
            <a:avLst>
              <a:gd name="adj" fmla="val 4144"/>
            </a:avLst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538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0AFAA-22B0-8114-4220-358B9C0CB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DCD57-21F1-7D56-0140-1A8A3C118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095C6-33A3-34EA-80AE-DD6CF7A111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CE6DC49-94C5-441A-8361-BBAD8F3388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0400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80214-5090-D732-EF69-4640CEB54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E8F85-FFD7-0C3E-75FD-6548465EB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3E06F-1415-922C-2F6D-9A93F95E21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A73E50E-1F7C-401F-93A3-F278D705A82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2669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F367-B6C3-9D58-5615-E5BF782CA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6D15E-CC2D-6657-3EDA-2A1C933AAD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1529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F7D5D6-2CD1-48F0-A090-2705F0FD6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62500" y="1219200"/>
            <a:ext cx="41529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7ACC34-95E6-F865-F66A-51EC800516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ECDCA4F-65C9-4BA8-8D35-096D13C3C0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8864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2962E-0108-20AE-8AAC-DBC1052D7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5BFE26-A24F-0BDC-CD3A-0F4553CCD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D053-8D6C-65FC-F153-64CFF937F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1CAE33-7FF7-F367-587E-43E13B8E07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3BAB39-74D8-7311-340A-8E64771BB8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00EE9-A951-D687-597D-40BA4ADE98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76C3CBD-1927-4280-85A9-3FD7F0852B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3757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4ABA3-D41E-449E-4BBB-F63997D6F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478EEE-01C6-B242-3DFF-CB4AA278FD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A57E049-4822-4223-A790-2F057DC1A05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4865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81E398-0C73-E46A-B87C-FFC7D0E623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66C6270-B6A8-40C6-9756-8B1C711B8F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94076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286B9-6E68-A0F5-C3FB-BCF3FBB9E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DC98F-7871-5AA5-9E7A-B2F60653F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27AA06-53EE-9FF3-4CEB-053216A36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39242C-36D8-1809-A787-E4EBF2FDDB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4E6BE94-35FD-4555-B6FC-93E5453DB85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30931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0D808-6D02-8912-24B1-5250584EE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B40C24-B808-A609-9AC1-8BEBDD0598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1DE980-3B75-FFA2-5708-116B2C5C1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FA8B5A-545D-C34C-EC44-4DA7DF5257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80DC6DD-4CB0-40B5-B429-DCAE6F74064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66423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913FD-5204-A2CA-5A0E-BE19D8ED5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664D6-25BE-182D-5865-AA6706D27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A3863-3FCF-9EB2-3550-CD36B62ED0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A1BA3EC-7A18-46E7-BF0F-02E3D054D4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5424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D74162-D9C7-C39F-684B-E3F4B2FC20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62750" y="381000"/>
            <a:ext cx="2152650" cy="6324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698F9D-75C2-973C-2789-8DDCED523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4800" y="381000"/>
            <a:ext cx="6305550" cy="6324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F6277-9161-E01F-3A1A-58923CC150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0EB3546-C21C-488F-97C9-2B848F99F57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37020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77E74-E0A7-0CDB-1284-046F9B60A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81000"/>
            <a:ext cx="8069263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30DBAC1D-BD27-CE60-1EE5-55038CD328E0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457200" y="1219200"/>
            <a:ext cx="8458200" cy="54864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5082A-0068-96E8-24B3-7B8428A85D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001000" y="6324600"/>
            <a:ext cx="914400" cy="381000"/>
          </a:xfrm>
        </p:spPr>
        <p:txBody>
          <a:bodyPr/>
          <a:lstStyle>
            <a:lvl1pPr>
              <a:defRPr/>
            </a:lvl1pPr>
          </a:lstStyle>
          <a:p>
            <a:fld id="{107D30E8-DAC6-422D-840E-BA6D17C6CFB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81271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74077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sv-SE"/>
              <a:t>Elisabeth Uhlemann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89CF0B-6BFB-4750-901A-37E970C70430}" type="slidenum">
              <a:rPr lang="sv-SE"/>
              <a:pPr/>
              <a:t>‹#›</a:t>
            </a:fld>
            <a:endParaRPr lang="sv-SE" sz="1500">
              <a:latin typeface="Arial" charset="0"/>
            </a:endParaRPr>
          </a:p>
        </p:txBody>
      </p:sp>
      <p:sp>
        <p:nvSpPr>
          <p:cNvPr id="6" name="Platshållare för text 5"/>
          <p:cNvSpPr>
            <a:spLocks noGrp="1"/>
          </p:cNvSpPr>
          <p:nvPr>
            <p:ph type="body" sz="quarter" idx="12" hasCustomPrompt="1"/>
          </p:nvPr>
        </p:nvSpPr>
        <p:spPr>
          <a:xfrm>
            <a:off x="3563888" y="6309320"/>
            <a:ext cx="1800026" cy="36063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sv-SE" dirty="0"/>
              <a:t>Elisabeth Uhlemann</a:t>
            </a:r>
          </a:p>
        </p:txBody>
      </p:sp>
    </p:spTree>
    <p:extLst>
      <p:ext uri="{BB962C8B-B14F-4D97-AF65-F5344CB8AC3E}">
        <p14:creationId xmlns:p14="http://schemas.microsoft.com/office/powerpoint/2010/main" val="26162143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7A078-B8E2-C971-1274-1ECBC01B7E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D80ADD-6EB0-B9A4-7792-FB4FF1C3ED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F13B9-A6A3-C2DA-B215-D70C57B46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4809E-8E09-06CB-F96F-27E1DF1C1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4D4E9-4AFB-5E04-643B-2182F8E8C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EA1F3C-01A7-41E3-B477-C7965AFE567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75394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7497B-0639-A34F-ECE9-4E8B6844A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1D49C-EAC5-AFFB-8688-AB30ED463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CD559-A434-23FC-357F-E20E80F0E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8BE31-65A2-E3AE-A6C9-BC89AD827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9CCBE-6DF0-2C91-5351-3C3E9C68E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CAAF89-8E4F-458B-A7B1-0A84F9FCE1F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46488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EEC60-744A-3FB6-3BB2-000C4B1C9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67C8F-6FD5-1E1F-5E3C-B20A52172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E424E-B324-C9C1-E6E0-97D41F964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CAA9E-8549-1763-A61D-2FB995401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612EB-AF98-CACE-BD9B-04941534B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51CB4F-C304-4F52-AE32-5AFA99C9512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28394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19A20-99D9-A973-40E0-4C85E4808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38683-5EE4-6C99-FD79-089EE4682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38481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DB0FA6-B2D0-D38D-067F-22D2B2F73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10100" y="1981200"/>
            <a:ext cx="38481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176EC-1611-5F32-5A55-E2D466AD4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147504-B584-9921-ABFE-1B1604AA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84D9E-3BC0-3A5E-570F-C6E71C56D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3793F9-EF24-4004-9C8E-4E788E3944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82908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5E78-2E37-4B49-4F8E-39E13D044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8E235-91B2-196A-9A5F-DB71570D0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429DC-0B8E-CB2F-AF88-289960DE7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557938-6D61-6A73-257C-8438C87239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BA8708-00D1-E8B4-CD7C-1BE6A1DF11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1F79C4-BE55-9EBC-2CE0-F677CD176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8B5B3A-C646-DC08-19F9-2E942225C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FEA294-3E51-A966-E65C-4AE228293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FDA03A-34C9-464D-BB75-B1759A9FA77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21774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1090C-67B5-CB9D-AFB6-9DA0277F1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B6843C-7E86-6507-7942-9E130D49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845D52-49F8-337C-8D8F-5DE815B7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82790B-7375-8BC4-2D94-2A7369103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68A84D-DB33-4A3B-90F0-6FB7B881677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4126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D9C36C-6E4C-7000-438E-D5D4F58DB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C7F87D-FEF6-6AD3-0229-CE069D7F4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9EA2D-2C3F-2671-599C-740248AD0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086993-81C6-4537-83E4-D390CD7877B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8925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C8DA-1103-46B6-2093-F2E5462D1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FEFD7-A9B7-C24C-C24F-9AECF5A36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CE8BE6-EAB9-84E1-CFAA-FD328C6B3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640C3F-8D5C-AA57-9C08-F22064167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058AB-BFB8-B587-6DD8-494C671CE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937F87-5FD3-82E2-0CA0-6D17716FF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5875A3-6AAD-4E4D-B88E-AB2880ECB9D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72234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09D36-D944-EC4E-477A-74022F1CB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70CF54-4AF7-300C-039D-CF7D6E7571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6F6C41-C4BC-716C-83C0-AB8D660616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8978F9-010D-662F-6343-64FC09208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DF280-59EB-4B48-7FD1-60BD3B08B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56E9C8-B4F7-424C-7673-ED4CCBBB4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09A7C6-9992-4A9F-BE87-69EAED8DF4F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16073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45634-99EB-5212-E5EB-ED71BE005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DABBF5-AECE-EE76-FEDA-CC0208F7CC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AB526-28E0-56B0-72FC-C56165597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03BC9-A423-CBB4-8564-1F1B770E1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E61BB-53C7-5BED-55AD-F312AD2A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1B7E7F-290E-4352-A31E-860912AE0E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86431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A0ED11-7D1C-DC34-3422-895A81FF60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496050" y="228600"/>
            <a:ext cx="196215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A5DDC5-11DC-D72F-361C-4AE000566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573405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7999A-6DCD-6301-6F10-26A82B604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63908-CE5B-FB1E-CC04-8481A659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7EBF7-8373-E045-B442-B166AD505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54E3C6-FA25-4359-A8C6-21172BB93DF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19604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7A078-B8E2-C971-1274-1ECBC01B7E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D80ADD-6EB0-B9A4-7792-FB4FF1C3ED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F13B9-A6A3-C2DA-B215-D70C57B46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4809E-8E09-06CB-F96F-27E1DF1C1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4D4E9-4AFB-5E04-643B-2182F8E8C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EA1F3C-01A7-41E3-B477-C7965AFE567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44024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7497B-0639-A34F-ECE9-4E8B6844A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1D49C-EAC5-AFFB-8688-AB30ED463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CD559-A434-23FC-357F-E20E80F0E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8BE31-65A2-E3AE-A6C9-BC89AD827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9CCBE-6DF0-2C91-5351-3C3E9C68E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CAAF89-8E4F-458B-A7B1-0A84F9FCE1F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12673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EEC60-744A-3FB6-3BB2-000C4B1C9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67C8F-6FD5-1E1F-5E3C-B20A52172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E424E-B324-C9C1-E6E0-97D41F964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CAA9E-8549-1763-A61D-2FB995401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612EB-AF98-CACE-BD9B-04941534B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51CB4F-C304-4F52-AE32-5AFA99C9512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29105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19A20-99D9-A973-40E0-4C85E4808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38683-5EE4-6C99-FD79-089EE4682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38481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DB0FA6-B2D0-D38D-067F-22D2B2F73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10100" y="1981200"/>
            <a:ext cx="38481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176EC-1611-5F32-5A55-E2D466AD4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147504-B584-9921-ABFE-1B1604AA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84D9E-3BC0-3A5E-570F-C6E71C56D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3793F9-EF24-4004-9C8E-4E788E3944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6090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5E78-2E37-4B49-4F8E-39E13D044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8E235-91B2-196A-9A5F-DB71570D0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429DC-0B8E-CB2F-AF88-289960DE7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557938-6D61-6A73-257C-8438C87239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BA8708-00D1-E8B4-CD7C-1BE6A1DF11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1F79C4-BE55-9EBC-2CE0-F677CD176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8B5B3A-C646-DC08-19F9-2E942225C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FEA294-3E51-A966-E65C-4AE228293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FDA03A-34C9-464D-BB75-B1759A9FA77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85094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1090C-67B5-CB9D-AFB6-9DA0277F1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B6843C-7E86-6507-7942-9E130D49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845D52-49F8-337C-8D8F-5DE815B7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82790B-7375-8BC4-2D94-2A7369103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68A84D-DB33-4A3B-90F0-6FB7B881677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78369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D9C36C-6E4C-7000-438E-D5D4F58DB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C7F87D-FEF6-6AD3-0229-CE069D7F4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9EA2D-2C3F-2671-599C-740248AD0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086993-81C6-4537-83E4-D390CD7877B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02582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C8DA-1103-46B6-2093-F2E5462D1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FEFD7-A9B7-C24C-C24F-9AECF5A36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CE8BE6-EAB9-84E1-CFAA-FD328C6B3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640C3F-8D5C-AA57-9C08-F22064167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058AB-BFB8-B587-6DD8-494C671CE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937F87-5FD3-82E2-0CA0-6D17716FF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5875A3-6AAD-4E4D-B88E-AB2880ECB9D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54458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09D36-D944-EC4E-477A-74022F1CB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70CF54-4AF7-300C-039D-CF7D6E7571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6F6C41-C4BC-716C-83C0-AB8D660616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8978F9-010D-662F-6343-64FC09208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DF280-59EB-4B48-7FD1-60BD3B08B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56E9C8-B4F7-424C-7673-ED4CCBBB4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09A7C6-9992-4A9F-BE87-69EAED8DF4F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3728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45634-99EB-5212-E5EB-ED71BE005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DABBF5-AECE-EE76-FEDA-CC0208F7CC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AB526-28E0-56B0-72FC-C56165597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03BC9-A423-CBB4-8564-1F1B770E1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E61BB-53C7-5BED-55AD-F312AD2A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1B7E7F-290E-4352-A31E-860912AE0E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09598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A0ED11-7D1C-DC34-3422-895A81FF60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496050" y="228600"/>
            <a:ext cx="196215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A5DDC5-11DC-D72F-361C-4AE000566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573405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7999A-6DCD-6301-6F10-26A82B604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63908-CE5B-FB1E-CC04-8481A659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7EBF7-8373-E045-B442-B166AD505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54E3C6-FA25-4359-A8C6-21172BB93DF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464525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1B5F2D-AEA7-5CBC-BB0E-4725DBA757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D878B1-1032-B4C7-BCA5-A4F4230745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319B88F-92A5-E47B-2F79-DF7F7F4D1E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012ED51E-B99D-45CD-A417-FA2532CD7BA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548267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2652217-236B-4682-7536-A97063B14F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69BB8E1-3416-84E2-9820-2134B072E3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579C5A4-81CE-35FA-3479-5679669C10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0D582F6E-B161-412D-8DAF-282BD72B650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761580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AAE327D-AF1A-A30C-CE22-82AC77FFEE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D6B036F-883D-6E5E-BA33-38C3D8A94A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058C7ED-0C31-8032-B3DB-09275B8F7D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F85ED88E-1CF0-4888-9F39-6DA1FBBBF5A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613688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1A80AF-C85B-0003-7D85-F6F8F32D1C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04C9B1-5188-938D-27D8-C8594CBC74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373E2D-E5FC-EF4E-3969-E1A7943AA8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26AEA73C-A3D7-4D85-B1BC-81C43FE4600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948001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96F14DB-F392-3ABE-BECD-01264016CB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6A59776-9B6C-ED81-BCE2-3E8E702D96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8ABE907-E118-729C-CA99-3DC95C03E7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ED69CC97-0811-4542-B814-E60AD0C046A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225192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E18609F-4A20-E761-09E0-A48815620E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9B27F7D-F142-7010-5018-579F4B05B1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3F97159-C9CB-AB53-A4EC-3F1702402C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A5FC20A0-47BF-4DB9-B520-2CA6F19AAA3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489149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CDB4CAC-0BE8-88FD-C362-D6554E9167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D5C43DC-0301-4D10-AB95-7B4FCC8C8C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BCD6DDF-01C3-FF0F-2542-47B805495A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F8CB3322-2709-4634-A783-8B69BF33D26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337048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76751E-F358-8293-1555-909D8B3EA5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3AFAC1-A5EA-45E6-4EF6-8299F1960C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89298C-6BCC-9659-B730-C6618A5162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FE891860-A107-4F44-ACF8-7759E601E93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167766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3F1988-BEDD-6BD1-EDE2-DFBEF6EDBD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600192-1779-52BE-F8D3-BA0F4F5253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018AF5-6CEF-0BE2-A7A9-8D2BD97294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220B14F2-D2D3-43CA-91EB-17B3129F3E0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431057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9B934C4-7594-EB18-5FDC-B1C7E34D38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F737FC3-1FA5-C0FC-6924-F3ED899B6F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A86A797-4584-5D86-1C72-E40B3E361D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7DD233CD-56CA-4610-BF10-ADBCA8604D4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236938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C0DB19-C7D8-F004-A829-771C941114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D100844-CBE7-3AB5-D191-87EB04599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0FE073C-317D-B6F3-5402-1EB357E196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BF4AD7E5-01CA-4B2D-AE6C-A8BD1C3ABAC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335929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AAB900-359A-380E-9519-09DC607B50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063D3A-616C-497C-3534-F4D7842A24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B8CFA1-A85E-5978-D1C3-2E56CF3C2E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6-</a:t>
            </a:r>
            <a:fld id="{89D843C5-EE10-4A09-80B5-78657D926D9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1440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2400" y="1295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1"/>
                </a:lnTo>
              </a:path>
            </a:pathLst>
          </a:custGeom>
          <a:ln w="25400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1727" y="593851"/>
            <a:ext cx="785685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5700" y="1357884"/>
            <a:ext cx="8524240" cy="3445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43424" y="6556326"/>
            <a:ext cx="286384" cy="22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FF6600"/>
                </a:solidFill>
                <a:latin typeface="Arial"/>
                <a:cs typeface="Arial"/>
              </a:defRPr>
            </a:lvl1pPr>
          </a:lstStyle>
          <a:p>
            <a:pPr marL="136525">
              <a:lnSpc>
                <a:spcPts val="16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164CFC24-AB19-CAB0-BAC1-173BEE361A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381000"/>
            <a:ext cx="8069263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C17089FF-587E-2A17-8D8A-D11143F854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4582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3492" name="Rectangle 4">
            <a:extLst>
              <a:ext uri="{FF2B5EF4-FFF2-40B4-BE49-F238E27FC236}">
                <a16:creationId xmlns:a16="http://schemas.microsoft.com/office/drawing/2014/main" id="{B95DEABB-6AFA-7C8C-474B-8D03E2D7A3C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6324600"/>
            <a:ext cx="914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fld id="{24236BD5-6262-4392-82D4-2548BB4E751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3493" name="Line 5">
            <a:extLst>
              <a:ext uri="{FF2B5EF4-FFF2-40B4-BE49-F238E27FC236}">
                <a16:creationId xmlns:a16="http://schemas.microsoft.com/office/drawing/2014/main" id="{9248E280-5A81-50FE-13A7-3334B8CDA83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143000"/>
            <a:ext cx="8839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494" name="Line 6">
            <a:extLst>
              <a:ext uri="{FF2B5EF4-FFF2-40B4-BE49-F238E27FC236}">
                <a16:creationId xmlns:a16="http://schemas.microsoft.com/office/drawing/2014/main" id="{529A88C9-FD14-37B8-78ED-CCDE46AE6F9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1143000"/>
            <a:ext cx="0" cy="55626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63495" name="Picture 7">
            <a:extLst>
              <a:ext uri="{FF2B5EF4-FFF2-40B4-BE49-F238E27FC236}">
                <a16:creationId xmlns:a16="http://schemas.microsoft.com/office/drawing/2014/main" id="{D2397F15-1B93-C15F-F4A1-2FC0589F7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7863" y="317500"/>
            <a:ext cx="641350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496" name="AutoShape 8">
            <a:extLst>
              <a:ext uri="{FF2B5EF4-FFF2-40B4-BE49-F238E27FC236}">
                <a16:creationId xmlns:a16="http://schemas.microsoft.com/office/drawing/2014/main" id="{9FBC2559-A4EC-95DA-80EA-A9594AB6E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8839200" cy="6553200"/>
          </a:xfrm>
          <a:prstGeom prst="roundRect">
            <a:avLst>
              <a:gd name="adj" fmla="val 4144"/>
            </a:avLst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031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737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Helvetica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Helvetica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Helvetica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Helvetica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Helvetica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Helvetica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Helvetica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Helvetica" panose="020B0604020202020204" pitchFamily="34" charset="0"/>
        </a:defRPr>
      </a:lvl9pPr>
    </p:titleStyle>
    <p:bodyStyle>
      <a:lvl1pPr marL="223838" indent="-223838" algn="l" rtl="0" eaLnBrk="0" fontAlgn="base" hangingPunct="0">
        <a:spcBef>
          <a:spcPct val="50000"/>
        </a:spcBef>
        <a:spcAft>
          <a:spcPct val="0"/>
        </a:spcAft>
        <a:buChar char="•"/>
        <a:defRPr sz="2800" kern="1200">
          <a:solidFill>
            <a:srgbClr val="0000FF"/>
          </a:solidFill>
          <a:latin typeface="+mn-lt"/>
          <a:ea typeface="+mn-ea"/>
          <a:cs typeface="+mn-cs"/>
        </a:defRPr>
      </a:lvl1pPr>
      <a:lvl2pPr marL="563563" indent="-223838" algn="l" rtl="0" eaLnBrk="0" fontAlgn="base" hangingPunct="0">
        <a:spcBef>
          <a:spcPct val="10000"/>
        </a:spcBef>
        <a:spcAft>
          <a:spcPct val="0"/>
        </a:spcAft>
        <a:buFont typeface="Helvetica" panose="020B0604020202020204" pitchFamily="34" charset="0"/>
        <a:buChar char="–"/>
        <a:defRPr sz="24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11225" indent="-233363" algn="l" rtl="0" eaLnBrk="0" fontAlgn="base" hangingPunct="0">
        <a:spcBef>
          <a:spcPct val="10000"/>
        </a:spcBef>
        <a:spcAft>
          <a:spcPct val="0"/>
        </a:spcAft>
        <a:buFont typeface="Wingdings" panose="05000000000000000000" pitchFamily="2" charset="2"/>
        <a:buChar char="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33363" algn="l" rtl="0" eaLnBrk="0" fontAlgn="base" hangingPunct="0">
        <a:spcBef>
          <a:spcPct val="10000"/>
        </a:spcBef>
        <a:spcAft>
          <a:spcPct val="0"/>
        </a:spcAft>
        <a:buChar char="•"/>
        <a:defRPr sz="2000" kern="1200">
          <a:solidFill>
            <a:schemeClr val="accent2"/>
          </a:solidFill>
          <a:latin typeface="+mj-lt"/>
          <a:ea typeface="+mn-ea"/>
          <a:cs typeface="+mn-cs"/>
        </a:defRPr>
      </a:lvl4pPr>
      <a:lvl5pPr marL="1597025" indent="-223838" algn="l" rtl="0" eaLnBrk="0" fontAlgn="base" hangingPunct="0">
        <a:spcBef>
          <a:spcPct val="1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9A7C589-465E-22A1-B645-CDDD02CEED2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A5D5833D-9054-694E-DBC0-0A76069FE92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37ECE542-4090-486A-42A1-B42F64778A0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6FBBE7E-B9C3-41F2-A05A-F7F383DAC30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286AADCD-5288-10CB-A2E6-11C5B1CD1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28750"/>
            <a:ext cx="9132888" cy="74613"/>
          </a:xfrm>
          <a:prstGeom prst="rect">
            <a:avLst/>
          </a:prstGeom>
          <a:gradFill rotWithShape="0">
            <a:gsLst>
              <a:gs pos="0">
                <a:srgbClr val="0000CC">
                  <a:gamma/>
                  <a:shade val="40000"/>
                  <a:invGamma/>
                </a:srgbClr>
              </a:gs>
              <a:gs pos="50000">
                <a:srgbClr val="0000CC"/>
              </a:gs>
              <a:gs pos="100000">
                <a:srgbClr val="0000CC">
                  <a:gamma/>
                  <a:shade val="40000"/>
                  <a:invGamma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271F544E-8610-342A-232E-971A65FFB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1549400"/>
            <a:ext cx="9120188" cy="25400"/>
          </a:xfrm>
          <a:prstGeom prst="rect">
            <a:avLst/>
          </a:prstGeom>
          <a:gradFill rotWithShape="0">
            <a:gsLst>
              <a:gs pos="0">
                <a:srgbClr val="CC0000"/>
              </a:gs>
              <a:gs pos="100000">
                <a:srgbClr val="CC0000">
                  <a:gamma/>
                  <a:shade val="80000"/>
                  <a:invGamma/>
                </a:srgbClr>
              </a:gs>
            </a:gsLst>
            <a:lin ang="0" scaled="1"/>
          </a:gradFill>
          <a:ln w="12700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642C4749-0FCE-BC81-0DE8-172287D713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8600"/>
            <a:ext cx="7848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Techni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r>
              <a:rPr lang="en-US" altLang="en-US"/>
              <a:t>Template</a:t>
            </a:r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4392AD53-254D-DBD5-5B83-271AF441C7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7848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Test</a:t>
            </a:r>
          </a:p>
          <a:p>
            <a:pPr lvl="1"/>
            <a:r>
              <a:rPr lang="en-US" altLang="en-US"/>
              <a:t>Test</a:t>
            </a:r>
          </a:p>
          <a:p>
            <a:pPr lvl="1"/>
            <a:r>
              <a:rPr lang="en-US" altLang="en-US"/>
              <a:t>Test</a:t>
            </a:r>
          </a:p>
          <a:p>
            <a:pPr lvl="2"/>
            <a:r>
              <a:rPr lang="en-US" altLang="en-US"/>
              <a:t>Test</a:t>
            </a:r>
          </a:p>
          <a:p>
            <a:pPr lvl="0"/>
            <a:endParaRPr lang="en-US" altLang="en-US"/>
          </a:p>
          <a:p>
            <a:pPr lvl="0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7575446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 b="1" kern="1200">
          <a:solidFill>
            <a:srgbClr val="00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anose="02020404030301010803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anose="02020404030301010803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anose="02020404030301010803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anose="02020404030301010803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anose="02020404030301010803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anose="02020404030301010803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anose="02020404030301010803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anose="02020404030301010803" pitchFamily="18" charset="0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anose="05000000000000000000" pitchFamily="2" charset="2"/>
        <a:buChar char="l"/>
        <a:defRPr sz="3200" b="1" kern="1200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rgbClr val="CC0000"/>
        </a:buClr>
        <a:buSzPct val="80000"/>
        <a:buFont typeface="Wingdings" panose="05000000000000000000" pitchFamily="2" charset="2"/>
        <a:buChar char="l"/>
        <a:defRPr sz="2800" b="1" kern="1200">
          <a:solidFill>
            <a:srgbClr val="0000CC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rgbClr val="0000CC"/>
        </a:buClr>
        <a:buSzPct val="65000"/>
        <a:buFont typeface="ZapfDingbats" pitchFamily="82" charset="2"/>
        <a:buChar char="l"/>
        <a:defRPr sz="2400" b="1" kern="1200">
          <a:solidFill>
            <a:srgbClr val="0000FF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DC0081"/>
        </a:buClr>
        <a:buSzPct val="65000"/>
        <a:buFont typeface="Wingdings" panose="05000000000000000000" pitchFamily="2" charset="2"/>
        <a:buChar char="l"/>
        <a:defRPr b="1" kern="1200">
          <a:solidFill>
            <a:srgbClr val="0000CC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DC0081"/>
        </a:buClr>
        <a:buSzPct val="10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9A7C589-465E-22A1-B645-CDDD02CEED2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A5D5833D-9054-694E-DBC0-0A76069FE92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37ECE542-4090-486A-42A1-B42F64778A0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6FBBE7E-B9C3-41F2-A05A-F7F383DAC30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286AADCD-5288-10CB-A2E6-11C5B1CD1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28750"/>
            <a:ext cx="9132888" cy="74613"/>
          </a:xfrm>
          <a:prstGeom prst="rect">
            <a:avLst/>
          </a:prstGeom>
          <a:gradFill rotWithShape="0">
            <a:gsLst>
              <a:gs pos="0">
                <a:srgbClr val="0000CC">
                  <a:gamma/>
                  <a:shade val="40000"/>
                  <a:invGamma/>
                </a:srgbClr>
              </a:gs>
              <a:gs pos="50000">
                <a:srgbClr val="0000CC"/>
              </a:gs>
              <a:gs pos="100000">
                <a:srgbClr val="0000CC">
                  <a:gamma/>
                  <a:shade val="40000"/>
                  <a:invGamma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271F544E-8610-342A-232E-971A65FFB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1549400"/>
            <a:ext cx="9120188" cy="25400"/>
          </a:xfrm>
          <a:prstGeom prst="rect">
            <a:avLst/>
          </a:prstGeom>
          <a:gradFill rotWithShape="0">
            <a:gsLst>
              <a:gs pos="0">
                <a:srgbClr val="CC0000"/>
              </a:gs>
              <a:gs pos="100000">
                <a:srgbClr val="CC0000">
                  <a:gamma/>
                  <a:shade val="80000"/>
                  <a:invGamma/>
                </a:srgbClr>
              </a:gs>
            </a:gsLst>
            <a:lin ang="0" scaled="1"/>
          </a:gradFill>
          <a:ln w="12700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642C4749-0FCE-BC81-0DE8-172287D713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8600"/>
            <a:ext cx="7848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Techni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r>
              <a:rPr lang="en-US" altLang="en-US"/>
              <a:t>Template</a:t>
            </a:r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4392AD53-254D-DBD5-5B83-271AF441C7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7848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Test</a:t>
            </a:r>
          </a:p>
          <a:p>
            <a:pPr lvl="1"/>
            <a:r>
              <a:rPr lang="en-US" altLang="en-US"/>
              <a:t>Test</a:t>
            </a:r>
          </a:p>
          <a:p>
            <a:pPr lvl="1"/>
            <a:r>
              <a:rPr lang="en-US" altLang="en-US"/>
              <a:t>Test</a:t>
            </a:r>
          </a:p>
          <a:p>
            <a:pPr lvl="2"/>
            <a:r>
              <a:rPr lang="en-US" altLang="en-US"/>
              <a:t>Test</a:t>
            </a:r>
          </a:p>
          <a:p>
            <a:pPr lvl="0"/>
            <a:endParaRPr lang="en-US" altLang="en-US"/>
          </a:p>
          <a:p>
            <a:pPr lvl="0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4397018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 b="1" kern="1200">
          <a:solidFill>
            <a:srgbClr val="00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anose="02020404030301010803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anose="02020404030301010803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anose="02020404030301010803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anose="02020404030301010803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anose="02020404030301010803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anose="02020404030301010803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anose="02020404030301010803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anose="02020404030301010803" pitchFamily="18" charset="0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anose="05000000000000000000" pitchFamily="2" charset="2"/>
        <a:buChar char="l"/>
        <a:defRPr sz="3200" b="1" kern="1200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rgbClr val="CC0000"/>
        </a:buClr>
        <a:buSzPct val="80000"/>
        <a:buFont typeface="Wingdings" panose="05000000000000000000" pitchFamily="2" charset="2"/>
        <a:buChar char="l"/>
        <a:defRPr sz="2800" b="1" kern="1200">
          <a:solidFill>
            <a:srgbClr val="0000CC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rgbClr val="0000CC"/>
        </a:buClr>
        <a:buSzPct val="65000"/>
        <a:buFont typeface="ZapfDingbats" pitchFamily="82" charset="2"/>
        <a:buChar char="l"/>
        <a:defRPr sz="2400" b="1" kern="1200">
          <a:solidFill>
            <a:srgbClr val="0000FF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DC0081"/>
        </a:buClr>
        <a:buSzPct val="65000"/>
        <a:buFont typeface="Wingdings" panose="05000000000000000000" pitchFamily="2" charset="2"/>
        <a:buChar char="l"/>
        <a:defRPr b="1" kern="1200">
          <a:solidFill>
            <a:srgbClr val="0000CC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DC0081"/>
        </a:buClr>
        <a:buSzPct val="10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46E355-FDC5-4D70-2CE5-1940AC7B3B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39F1820-8E00-8C21-0B3D-EB9DC55562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615EDA2-7BC4-10C1-7B2F-36EE582AA0E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BFF1B94-E6AC-4772-D2D1-53586C5A81F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43413" y="6400800"/>
            <a:ext cx="38623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D8D5270-DB80-00CC-97F9-48815878871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62925" y="6400800"/>
            <a:ext cx="676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altLang="en-US"/>
              <a:t>6-</a:t>
            </a:r>
            <a:fld id="{50BA29DB-3541-4220-AD58-6C047F62D22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6870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ZapfDingbats" pitchFamily="82" charset="2"/>
        <a:buChar char="r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ZapfDingbats" pitchFamily="82" charset="2"/>
        <a:buChar char="m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lassroom.google.com/c/Nzc3NjUyNjIwNDE1?cjc=3tj4qv4w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6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6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wmf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20.wmf"/><Relationship Id="rId7" Type="http://schemas.openxmlformats.org/officeDocument/2006/relationships/image" Target="../media/image19.w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Relationship Id="rId9" Type="http://schemas.openxmlformats.org/officeDocument/2006/relationships/image" Target="../media/image26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6.w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6.w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6.w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7" Type="http://schemas.openxmlformats.org/officeDocument/2006/relationships/image" Target="../media/image17.w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.bin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6.wmf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wmf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4.wmf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52400" y="4343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1"/>
                </a:lnTo>
              </a:path>
            </a:pathLst>
          </a:custGeom>
          <a:ln w="25400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39020" y="593730"/>
            <a:ext cx="6665960" cy="526939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1079500" algn="l">
              <a:lnSpc>
                <a:spcPts val="4300"/>
              </a:lnSpc>
              <a:spcBef>
                <a:spcPts val="215"/>
              </a:spcBef>
            </a:pPr>
            <a:r>
              <a:rPr lang="en-US" sz="2800" dirty="0">
                <a:solidFill>
                  <a:srgbClr val="7030A0"/>
                </a:solidFill>
                <a:latin typeface="Amasis MT Pro Medium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CSE 4615:: Wireless Networks</a:t>
            </a:r>
            <a:endParaRPr sz="2800" b="0" spc="-10" dirty="0">
              <a:latin typeface="Amasis MT Pro Medium" panose="020F0502020204030204" pitchFamily="18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43200" y="3179319"/>
            <a:ext cx="3250565" cy="8874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spc="-55">
                <a:latin typeface="Aharoni" panose="02010803020104030203" pitchFamily="2" charset="-79"/>
                <a:cs typeface="Aharoni" panose="02010803020104030203" pitchFamily="2" charset="-79"/>
              </a:rPr>
              <a:t>Lecture</a:t>
            </a:r>
            <a:r>
              <a:rPr sz="2400" spc="-13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3200" spc="-25">
                <a:latin typeface="Aharoni" panose="02010803020104030203" pitchFamily="2" charset="-79"/>
                <a:cs typeface="Aharoni" panose="02010803020104030203" pitchFamily="2" charset="-79"/>
              </a:rPr>
              <a:t>1</a:t>
            </a:r>
            <a:endParaRPr sz="24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C823D681-9B18-28A0-BD4F-6029409F3304}"/>
              </a:ext>
            </a:extLst>
          </p:cNvPr>
          <p:cNvSpPr txBox="1"/>
          <p:nvPr/>
        </p:nvSpPr>
        <p:spPr>
          <a:xfrm>
            <a:off x="3429000" y="4358639"/>
            <a:ext cx="5715000" cy="1599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lang="en-US" dirty="0">
                <a:solidFill>
                  <a:srgbClr val="7030A0"/>
                </a:solidFill>
                <a:latin typeface="Arial MT"/>
                <a:cs typeface="Arial MT"/>
              </a:rPr>
              <a:t>Content Contributors:</a:t>
            </a:r>
            <a:endParaRPr dirty="0">
              <a:solidFill>
                <a:srgbClr val="7030A0"/>
              </a:solidFill>
              <a:latin typeface="Arial MT"/>
              <a:cs typeface="Arial MT"/>
            </a:endParaRPr>
          </a:p>
          <a:p>
            <a:pPr marL="5080" algn="l">
              <a:lnSpc>
                <a:spcPct val="150000"/>
              </a:lnSpc>
            </a:pPr>
            <a:r>
              <a:rPr sz="1600" kern="1200" dirty="0">
                <a:solidFill>
                  <a:srgbClr val="000000"/>
                </a:solidFill>
                <a:latin typeface="Georgia"/>
                <a:ea typeface="+mn-ea"/>
                <a:cs typeface="+mn-cs"/>
              </a:rPr>
              <a:t>Kyle Jamieson</a:t>
            </a:r>
            <a:r>
              <a:rPr lang="en-US" sz="1600" kern="1200" dirty="0">
                <a:solidFill>
                  <a:srgbClr val="000000"/>
                </a:solidFill>
                <a:latin typeface="Georgia"/>
                <a:ea typeface="+mn-ea"/>
                <a:cs typeface="+mn-cs"/>
              </a:rPr>
              <a:t> and </a:t>
            </a:r>
            <a:r>
              <a:rPr lang="en-US" altLang="en-US" sz="1600" kern="1200" dirty="0">
                <a:solidFill>
                  <a:srgbClr val="000000"/>
                </a:solidFill>
                <a:latin typeface="Georgia"/>
                <a:ea typeface="+mn-ea"/>
                <a:cs typeface="+mn-cs"/>
              </a:rPr>
              <a:t>Jennifer Rexford, Princeton University</a:t>
            </a:r>
          </a:p>
          <a:p>
            <a:pPr marL="5080" algn="l" rtl="0">
              <a:lnSpc>
                <a:spcPct val="150000"/>
              </a:lnSpc>
            </a:pP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Elisabeth </a:t>
            </a:r>
            <a:r>
              <a:rPr lang="sv-SE" sz="1600" kern="1200" dirty="0">
                <a:solidFill>
                  <a:srgbClr val="000000"/>
                </a:solidFill>
                <a:latin typeface="Georgia"/>
                <a:ea typeface="+mn-ea"/>
                <a:cs typeface="+mn-cs"/>
              </a:rPr>
              <a:t>Uhlemann</a:t>
            </a:r>
            <a:r>
              <a:rPr lang="en-US" sz="1600" kern="1200" dirty="0">
                <a:solidFill>
                  <a:srgbClr val="000000"/>
                </a:solidFill>
                <a:latin typeface="Georgia"/>
                <a:ea typeface="+mn-ea"/>
                <a:cs typeface="+mn-cs"/>
              </a:rPr>
              <a:t>, </a:t>
            </a:r>
            <a:r>
              <a:rPr lang="en-US" sz="1600" kern="1200" dirty="0" err="1">
                <a:solidFill>
                  <a:srgbClr val="000000"/>
                </a:solidFill>
                <a:latin typeface="Georgia"/>
                <a:ea typeface="+mn-ea"/>
                <a:cs typeface="+mn-cs"/>
              </a:rPr>
              <a:t>Mälardalens</a:t>
            </a:r>
            <a:r>
              <a:rPr lang="en-US" sz="1600" kern="1200" dirty="0">
                <a:solidFill>
                  <a:srgbClr val="000000"/>
                </a:solidFill>
                <a:latin typeface="Georgia"/>
                <a:ea typeface="+mn-ea"/>
                <a:cs typeface="+mn-cs"/>
              </a:rPr>
              <a:t> University</a:t>
            </a:r>
          </a:p>
          <a:p>
            <a:r>
              <a:rPr lang="en-US" altLang="en-US" sz="1600" kern="1200" dirty="0">
                <a:solidFill>
                  <a:srgbClr val="000000"/>
                </a:solidFill>
                <a:latin typeface="Georgia"/>
                <a:ea typeface="+mn-ea"/>
                <a:cs typeface="+mn-cs"/>
              </a:rPr>
              <a:t>Volkan </a:t>
            </a:r>
            <a:r>
              <a:rPr lang="en-US" altLang="en-US" sz="1600" kern="1200" dirty="0" err="1">
                <a:solidFill>
                  <a:srgbClr val="000000"/>
                </a:solidFill>
                <a:latin typeface="Georgia"/>
                <a:ea typeface="+mn-ea"/>
                <a:cs typeface="+mn-cs"/>
              </a:rPr>
              <a:t>Rodoplu</a:t>
            </a:r>
            <a:r>
              <a:rPr lang="en-US" altLang="en-US" sz="1600" kern="1200" dirty="0">
                <a:solidFill>
                  <a:srgbClr val="000000"/>
                </a:solidFill>
                <a:latin typeface="Georgia"/>
                <a:ea typeface="+mn-ea"/>
                <a:cs typeface="+mn-cs"/>
              </a:rPr>
              <a:t>, UCSB</a:t>
            </a:r>
          </a:p>
          <a:p>
            <a:pPr marL="5080" algn="l" rtl="0">
              <a:lnSpc>
                <a:spcPct val="150000"/>
              </a:lnSpc>
            </a:pPr>
            <a:endParaRPr sz="1600" kern="1200" dirty="0">
              <a:solidFill>
                <a:srgbClr val="000000"/>
              </a:solidFill>
              <a:latin typeface="Georgia"/>
              <a:ea typeface="+mn-ea"/>
              <a:cs typeface="+mn-cs"/>
            </a:endParaRP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572103B1-F818-B4AB-172E-D97E661BAD46}"/>
              </a:ext>
            </a:extLst>
          </p:cNvPr>
          <p:cNvSpPr txBox="1">
            <a:spLocks/>
          </p:cNvSpPr>
          <p:nvPr/>
        </p:nvSpPr>
        <p:spPr>
          <a:xfrm>
            <a:off x="76200" y="1445993"/>
            <a:ext cx="7924800" cy="1078372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5080" indent="1079500" algn="r">
              <a:lnSpc>
                <a:spcPts val="4300"/>
              </a:lnSpc>
              <a:spcBef>
                <a:spcPts val="215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Amasis MT Pro Medium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Understanding Wireless Communication: </a:t>
            </a:r>
            <a:r>
              <a:rPr lang="en-US" sz="2400" dirty="0">
                <a:solidFill>
                  <a:srgbClr val="0070C0"/>
                </a:solidFill>
                <a:latin typeface="Amasis MT Pro Medium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Needs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Amasis MT Pro Medium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en-US" sz="2400" dirty="0">
                <a:solidFill>
                  <a:srgbClr val="FF0000"/>
                </a:solidFill>
                <a:latin typeface="Amasis MT Pro Medium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Barriers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Amasis MT Pro Medium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, and </a:t>
            </a:r>
            <a:r>
              <a:rPr lang="en-US" sz="2400" dirty="0">
                <a:solidFill>
                  <a:srgbClr val="00B050"/>
                </a:solidFill>
                <a:latin typeface="Amasis MT Pro Medium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Design Adaptations</a:t>
            </a:r>
            <a:endParaRPr lang="en-US" sz="2800" spc="-10" dirty="0">
              <a:solidFill>
                <a:srgbClr val="00B050"/>
              </a:solidFill>
              <a:latin typeface="Amasis MT Pro Medium" panose="020F0502020204030204" pitchFamily="18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3E767A-06E2-8A96-372C-342CD8362D8F}"/>
              </a:ext>
            </a:extLst>
          </p:cNvPr>
          <p:cNvSpPr txBox="1"/>
          <p:nvPr/>
        </p:nvSpPr>
        <p:spPr>
          <a:xfrm>
            <a:off x="152400" y="4343400"/>
            <a:ext cx="49530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Arial MT"/>
              </a:rPr>
              <a:t>Course Teacher:</a:t>
            </a:r>
          </a:p>
          <a:p>
            <a:r>
              <a:rPr lang="en-US" dirty="0"/>
              <a:t>Ashraful Alam Khan</a:t>
            </a:r>
          </a:p>
          <a:p>
            <a:r>
              <a:rPr lang="en-US" sz="1400" dirty="0"/>
              <a:t>Assistant Professor, CSE, IUT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1E946B5-D13A-C70A-A641-CE0419643E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8001000" y="6324600"/>
            <a:ext cx="914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070A7F-66AF-4115-B2A5-9F957739B3E0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59458" name="Rectangle 2">
            <a:extLst>
              <a:ext uri="{FF2B5EF4-FFF2-40B4-BE49-F238E27FC236}">
                <a16:creationId xmlns:a16="http://schemas.microsoft.com/office/drawing/2014/main" id="{203096BC-6F8D-906D-069B-21ACBF4508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You Learn in This Course</a:t>
            </a:r>
          </a:p>
        </p:txBody>
      </p:sp>
      <p:sp>
        <p:nvSpPr>
          <p:cNvPr id="659459" name="Rectangle 3">
            <a:extLst>
              <a:ext uri="{FF2B5EF4-FFF2-40B4-BE49-F238E27FC236}">
                <a16:creationId xmlns:a16="http://schemas.microsoft.com/office/drawing/2014/main" id="{A607BD0D-CB32-6C9D-EA49-5782BBEECB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8034" y="1828800"/>
            <a:ext cx="8789766" cy="3939540"/>
          </a:xfrm>
        </p:spPr>
        <p:txBody>
          <a:bodyPr/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How does a Wireless Network Work?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What are the Limitations of Wireless Communications?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>
              <a:solidFill>
                <a:srgbClr val="C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How to Address These Limitations to Boost Communication Performance?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9459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33A6085-A353-68BE-FE62-A73A427311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8001000" y="6324600"/>
            <a:ext cx="914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070A7F-66AF-4115-B2A5-9F957739B3E0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60482" name="Rectangle 2">
            <a:extLst>
              <a:ext uri="{FF2B5EF4-FFF2-40B4-BE49-F238E27FC236}">
                <a16:creationId xmlns:a16="http://schemas.microsoft.com/office/drawing/2014/main" id="{E69A3F2F-0ABE-B63B-3428-97D7174061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Structure of </a:t>
            </a:r>
            <a:r>
              <a:rPr lang="en-US" altLang="en-US"/>
              <a:t>the Course</a:t>
            </a:r>
            <a:endParaRPr lang="en-US" altLang="en-US" dirty="0"/>
          </a:p>
        </p:txBody>
      </p:sp>
      <p:sp>
        <p:nvSpPr>
          <p:cNvPr id="660483" name="Rectangle 3">
            <a:extLst>
              <a:ext uri="{FF2B5EF4-FFF2-40B4-BE49-F238E27FC236}">
                <a16:creationId xmlns:a16="http://schemas.microsoft.com/office/drawing/2014/main" id="{2FD4ED30-3445-704B-38AA-5AB4DFE1DF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700" y="1357884"/>
            <a:ext cx="8524240" cy="5547929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70C0"/>
                </a:solidFill>
              </a:rPr>
              <a:t>Wireless Access Networks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70C0"/>
                </a:solidFill>
              </a:rPr>
              <a:t>Wireless Communication Fundamental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7030A0"/>
                </a:solidFill>
              </a:rPr>
              <a:t>Radio Transmission Fundamentals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7030A0"/>
                </a:solidFill>
              </a:rPr>
              <a:t>Radio Spectrum Regulation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7030A0"/>
                </a:solidFill>
              </a:rPr>
              <a:t>Communication Requirements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70C0"/>
                </a:solidFill>
              </a:rPr>
              <a:t>Mesh Networking Basic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70C0"/>
                </a:solidFill>
              </a:rPr>
              <a:t>Wireless LAN (IEEE 802.11)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70C0"/>
                </a:solidFill>
              </a:rPr>
              <a:t>VANET (IEEE 802.11p)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70C0"/>
                </a:solidFill>
              </a:rPr>
              <a:t>Personal Area Network (IEEE 802.15)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70C0"/>
                </a:solidFill>
              </a:rPr>
              <a:t>Wireless Mobile Network (5g , LTE)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70C0"/>
                </a:solidFill>
              </a:rPr>
              <a:t>High Throughput (HT) Networks (IEEE 802.11n, MIMO)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70C0"/>
                </a:solidFill>
              </a:rPr>
              <a:t>Advanced Techniques for Wireless Communication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7030A0"/>
                </a:solidFill>
              </a:rPr>
              <a:t>Semantic Communication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7030A0"/>
                </a:solidFill>
              </a:rPr>
              <a:t>ML &amp; AI in Wireless Communications</a:t>
            </a:r>
          </a:p>
        </p:txBody>
      </p:sp>
      <p:pic>
        <p:nvPicPr>
          <p:cNvPr id="660484" name="Picture 4">
            <a:extLst>
              <a:ext uri="{FF2B5EF4-FFF2-40B4-BE49-F238E27FC236}">
                <a16:creationId xmlns:a16="http://schemas.microsoft.com/office/drawing/2014/main" id="{67C1A731-4623-4F76-BCA6-BFCCEC5012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3075" y="2874963"/>
            <a:ext cx="2051050" cy="228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048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10A473C-1C7D-78FC-F1CC-E8FA68502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F836D13-7AB2-B27A-E888-F6775570C8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8001000" y="6324600"/>
            <a:ext cx="914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070A7F-66AF-4115-B2A5-9F957739B3E0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60482" name="Rectangle 2">
            <a:extLst>
              <a:ext uri="{FF2B5EF4-FFF2-40B4-BE49-F238E27FC236}">
                <a16:creationId xmlns:a16="http://schemas.microsoft.com/office/drawing/2014/main" id="{776D9CC5-24BE-3111-2CC8-003525DB4A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Recourses of the Course</a:t>
            </a:r>
          </a:p>
        </p:txBody>
      </p:sp>
      <p:sp>
        <p:nvSpPr>
          <p:cNvPr id="660483" name="Rectangle 3">
            <a:extLst>
              <a:ext uri="{FF2B5EF4-FFF2-40B4-BE49-F238E27FC236}">
                <a16:creationId xmlns:a16="http://schemas.microsoft.com/office/drawing/2014/main" id="{B8479ECD-5585-7848-8BB3-2F7ED3C08C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700" y="1357884"/>
            <a:ext cx="8524240" cy="1760547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400" dirty="0">
              <a:solidFill>
                <a:srgbClr val="7030A0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7030A0"/>
                </a:solidFill>
              </a:rPr>
              <a:t>Classroom Code: </a:t>
            </a:r>
            <a:r>
              <a:rPr lang="en-US" altLang="en-US" sz="3600" b="1" dirty="0">
                <a:solidFill>
                  <a:srgbClr val="FF0000"/>
                </a:solidFill>
              </a:rPr>
              <a:t>3tj4qv4w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7030A0"/>
                </a:solidFill>
              </a:rPr>
              <a:t>Invitation Link: </a:t>
            </a:r>
            <a:r>
              <a:rPr lang="en-US" altLang="en-US" sz="1400" dirty="0">
                <a:solidFill>
                  <a:srgbClr val="7030A0"/>
                </a:solidFill>
                <a:hlinkClick r:id="rId3"/>
              </a:rPr>
              <a:t>https://classroom.google.com/c/Nzc3NjUyNjIwNDE1?cjc=3tj4qv4w</a:t>
            </a:r>
            <a:endParaRPr lang="en-US" altLang="en-US" sz="1400" dirty="0">
              <a:solidFill>
                <a:srgbClr val="7030A0"/>
              </a:solidFill>
            </a:endParaRPr>
          </a:p>
          <a:p>
            <a:pPr>
              <a:lnSpc>
                <a:spcPct val="150000"/>
              </a:lnSpc>
            </a:pPr>
            <a:endParaRPr lang="en-US" altLang="en-US" sz="1400" dirty="0">
              <a:solidFill>
                <a:srgbClr val="7030A0"/>
              </a:solidFill>
            </a:endParaRPr>
          </a:p>
        </p:txBody>
      </p:sp>
      <p:pic>
        <p:nvPicPr>
          <p:cNvPr id="660484" name="Picture 4">
            <a:extLst>
              <a:ext uri="{FF2B5EF4-FFF2-40B4-BE49-F238E27FC236}">
                <a16:creationId xmlns:a16="http://schemas.microsoft.com/office/drawing/2014/main" id="{666C29DD-DD9E-1255-A422-A3DA36E97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4286" y="1297278"/>
            <a:ext cx="2051050" cy="228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0D54740-C07B-C33D-27C7-624F69B44C00}"/>
              </a:ext>
            </a:extLst>
          </p:cNvPr>
          <p:cNvGraphicFramePr>
            <a:graphicFrameLocks noGrp="1"/>
          </p:cNvGraphicFramePr>
          <p:nvPr/>
        </p:nvGraphicFramePr>
        <p:xfrm>
          <a:off x="552222" y="3752494"/>
          <a:ext cx="8126382" cy="2038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3582">
                  <a:extLst>
                    <a:ext uri="{9D8B030D-6E8A-4147-A177-3AD203B41FA5}">
                      <a16:colId xmlns:a16="http://schemas.microsoft.com/office/drawing/2014/main" val="2617558235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661272641"/>
                    </a:ext>
                  </a:extLst>
                </a:gridCol>
              </a:tblGrid>
              <a:tr h="34491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MT"/>
                        </a:rPr>
                        <a:t>Book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MT"/>
                        </a:rPr>
                        <a:t>Authors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114434"/>
                  </a:ext>
                </a:extLst>
              </a:tr>
              <a:tr h="436878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u="none" strike="noStrike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</a:rPr>
                        <a:t>IEEE 802 Wireless Systems, 1</a:t>
                      </a:r>
                      <a:r>
                        <a:rPr lang="en-US" sz="1300" u="none" strike="noStrike" baseline="300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</a:rPr>
                        <a:t>st</a:t>
                      </a:r>
                      <a:r>
                        <a:rPr lang="en-US" sz="1300" u="none" strike="noStrike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</a:rPr>
                        <a:t> Edition (Wiley)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u="none" strike="noStrike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</a:rPr>
                        <a:t>B. H. Walke, S. Mangold and L. </a:t>
                      </a:r>
                      <a:r>
                        <a:rPr lang="en-US" sz="1300" u="none" strike="noStrike" dirty="0" err="1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</a:rPr>
                        <a:t>Berlemann</a:t>
                      </a:r>
                      <a:r>
                        <a:rPr lang="en-US" sz="1300" u="none" strike="noStrike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980769"/>
                  </a:ext>
                </a:extLst>
              </a:tr>
              <a:tr h="456968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u="none" strike="noStrike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</a:rPr>
                        <a:t>Wireless Communication Networks and Systems by, 1</a:t>
                      </a:r>
                      <a:r>
                        <a:rPr lang="en-US" sz="1300" u="none" strike="noStrike" baseline="300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</a:rPr>
                        <a:t>stEd</a:t>
                      </a:r>
                      <a:endParaRPr lang="en-US" sz="1300" u="none" strike="noStrike" dirty="0"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Arial 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u="none" strike="noStrike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</a:rPr>
                        <a:t>Beard and Stallings</a:t>
                      </a:r>
                    </a:p>
                    <a:p>
                      <a:pPr algn="l"/>
                      <a:endParaRPr lang="en-US" sz="1300" dirty="0">
                        <a:latin typeface="Arial M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074356"/>
                  </a:ext>
                </a:extLst>
              </a:tr>
              <a:tr h="357006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u="none" strike="noStrike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</a:rPr>
                        <a:t>Wireless Communications, 2</a:t>
                      </a:r>
                      <a:r>
                        <a:rPr lang="en-US" sz="1300" u="none" strike="noStrike" baseline="300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</a:rPr>
                        <a:t>nd</a:t>
                      </a:r>
                      <a:r>
                        <a:rPr lang="en-US" sz="1300" u="none" strike="noStrike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</a:rPr>
                        <a:t> Edition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u="none" strike="noStrike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</a:rPr>
                        <a:t>Andrea Goldsmith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364265"/>
                  </a:ext>
                </a:extLst>
              </a:tr>
              <a:tr h="412225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u="none" strike="noStrike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</a:rPr>
                        <a:t>Wireless Communications and Networks, 2</a:t>
                      </a:r>
                      <a:r>
                        <a:rPr lang="en-US" sz="1300" u="none" strike="noStrike" baseline="300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</a:rPr>
                        <a:t>nd</a:t>
                      </a:r>
                      <a:r>
                        <a:rPr lang="en-US" sz="1300" u="none" strike="noStrike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</a:rPr>
                        <a:t> Edition  </a:t>
                      </a:r>
                      <a:endParaRPr lang="en-US" sz="13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Arial M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u="none" strike="noStrike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</a:rPr>
                        <a:t>William Stallings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1289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9087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048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44304-754B-9F71-9C2F-2371C602B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>
            <a:extLst>
              <a:ext uri="{FF2B5EF4-FFF2-40B4-BE49-F238E27FC236}">
                <a16:creationId xmlns:a16="http://schemas.microsoft.com/office/drawing/2014/main" id="{596CD538-94BA-D9BF-BCA9-92C0AA0991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7368" y="1327736"/>
            <a:ext cx="8069263" cy="685800"/>
          </a:xfrm>
        </p:spPr>
        <p:txBody>
          <a:bodyPr/>
          <a:lstStyle/>
          <a:p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Fundamentals of Communications</a:t>
            </a:r>
          </a:p>
        </p:txBody>
      </p:sp>
      <p:sp>
        <p:nvSpPr>
          <p:cNvPr id="18437" name="Rectangle 3">
            <a:extLst>
              <a:ext uri="{FF2B5EF4-FFF2-40B4-BE49-F238E27FC236}">
                <a16:creationId xmlns:a16="http://schemas.microsoft.com/office/drawing/2014/main" id="{54D89C24-0A1E-E1DB-E6F3-26CA3E1FCA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333" y="1933352"/>
            <a:ext cx="7773866" cy="3871912"/>
          </a:xfrm>
        </p:spPr>
        <p:txBody>
          <a:bodyPr/>
          <a:lstStyle/>
          <a:p>
            <a:r>
              <a:rPr lang="en-US" sz="1700" dirty="0"/>
              <a:t>Objective: move a </a:t>
            </a:r>
            <a:r>
              <a:rPr lang="en-US" sz="1700" b="1" dirty="0">
                <a:solidFill>
                  <a:schemeClr val="accent1"/>
                </a:solidFill>
              </a:rPr>
              <a:t>message</a:t>
            </a:r>
            <a:r>
              <a:rPr lang="en-US" sz="1700" dirty="0">
                <a:solidFill>
                  <a:srgbClr val="FFC000"/>
                </a:solidFill>
              </a:rPr>
              <a:t> </a:t>
            </a:r>
            <a:r>
              <a:rPr lang="en-US" sz="1700" dirty="0"/>
              <a:t>from point A to point B with the </a:t>
            </a:r>
            <a:r>
              <a:rPr lang="en-US" sz="1700" b="1" dirty="0">
                <a:solidFill>
                  <a:schemeClr val="accent1"/>
                </a:solidFill>
              </a:rPr>
              <a:t>required quality</a:t>
            </a:r>
            <a:r>
              <a:rPr lang="en-US" sz="1700" dirty="0"/>
              <a:t> at a </a:t>
            </a:r>
            <a:r>
              <a:rPr lang="en-US" sz="1700" b="1" dirty="0">
                <a:solidFill>
                  <a:schemeClr val="accent1"/>
                </a:solidFill>
              </a:rPr>
              <a:t>minimum cost </a:t>
            </a:r>
            <a:r>
              <a:rPr lang="en-US" sz="1700" dirty="0"/>
              <a:t>with respect to certain design criteria</a:t>
            </a:r>
            <a:endParaRPr lang="en-US" sz="1700" b="1" dirty="0">
              <a:solidFill>
                <a:schemeClr val="tx2"/>
              </a:solidFill>
            </a:endParaRPr>
          </a:p>
          <a:p>
            <a:r>
              <a:rPr lang="en-US" sz="1700" b="1" dirty="0"/>
              <a:t>Message: </a:t>
            </a:r>
            <a:r>
              <a:rPr lang="en-US" sz="1700" dirty="0"/>
              <a:t>typically,</a:t>
            </a:r>
            <a:r>
              <a:rPr lang="en-US" sz="1700" b="1" dirty="0"/>
              <a:t> </a:t>
            </a:r>
            <a:r>
              <a:rPr lang="en-US" sz="1700" dirty="0"/>
              <a:t>a number of packets or bits</a:t>
            </a:r>
          </a:p>
          <a:p>
            <a:r>
              <a:rPr lang="en-US" sz="1700" b="1" dirty="0"/>
              <a:t>Quality measures</a:t>
            </a:r>
          </a:p>
          <a:p>
            <a:pPr lvl="1">
              <a:buClr>
                <a:schemeClr val="accent1"/>
              </a:buClr>
              <a:buFont typeface="Georgia" pitchFamily="18" charset="0"/>
              <a:buChar char="−"/>
            </a:pPr>
            <a:r>
              <a:rPr lang="en-US" sz="1700" dirty="0"/>
              <a:t>error probability, e.g., bit or packet or message error rate</a:t>
            </a:r>
          </a:p>
          <a:p>
            <a:pPr lvl="1">
              <a:buClr>
                <a:schemeClr val="accent1"/>
              </a:buClr>
              <a:buFont typeface="Georgia" pitchFamily="18" charset="0"/>
              <a:buChar char="−"/>
            </a:pPr>
            <a:r>
              <a:rPr lang="en-US" sz="1700" dirty="0"/>
              <a:t>delay: time from when information is available at transmitter until it is output from the receiver</a:t>
            </a:r>
          </a:p>
          <a:p>
            <a:pPr lvl="1">
              <a:buClr>
                <a:schemeClr val="accent1"/>
              </a:buClr>
              <a:buFont typeface="Georgia" pitchFamily="18" charset="0"/>
              <a:buChar char="−"/>
            </a:pPr>
            <a:r>
              <a:rPr lang="en-US" sz="1700" dirty="0"/>
              <a:t>data rate: number of transmitted bits/second </a:t>
            </a:r>
          </a:p>
          <a:p>
            <a:r>
              <a:rPr lang="en-US" sz="1700" b="1" dirty="0"/>
              <a:t>Resources and costs</a:t>
            </a:r>
          </a:p>
          <a:p>
            <a:pPr lvl="1">
              <a:buClr>
                <a:schemeClr val="accent1"/>
              </a:buClr>
              <a:buFont typeface="Georgia" pitchFamily="18" charset="0"/>
              <a:buChar char="−"/>
            </a:pPr>
            <a:r>
              <a:rPr lang="en-US" sz="1700" b="1" dirty="0">
                <a:solidFill>
                  <a:schemeClr val="accent1"/>
                </a:solidFill>
              </a:rPr>
              <a:t>power</a:t>
            </a:r>
            <a:r>
              <a:rPr lang="en-US" sz="1700" dirty="0">
                <a:solidFill>
                  <a:schemeClr val="accent1"/>
                </a:solidFill>
              </a:rPr>
              <a:t> </a:t>
            </a:r>
            <a:r>
              <a:rPr lang="en-US" sz="1700" dirty="0"/>
              <a:t>of transmitted signal (power efficiency)</a:t>
            </a:r>
          </a:p>
          <a:p>
            <a:pPr lvl="1">
              <a:buClr>
                <a:schemeClr val="accent1"/>
              </a:buClr>
              <a:buFont typeface="Georgia" pitchFamily="18" charset="0"/>
              <a:buChar char="−"/>
            </a:pPr>
            <a:r>
              <a:rPr lang="en-US" sz="1700" b="1" dirty="0">
                <a:solidFill>
                  <a:schemeClr val="accent1"/>
                </a:solidFill>
              </a:rPr>
              <a:t>bandwidth</a:t>
            </a:r>
            <a:r>
              <a:rPr lang="en-US" sz="1700" dirty="0">
                <a:solidFill>
                  <a:schemeClr val="accent1"/>
                </a:solidFill>
              </a:rPr>
              <a:t> </a:t>
            </a:r>
            <a:r>
              <a:rPr lang="en-US" sz="1700" dirty="0"/>
              <a:t>of transmitted signal (spectral efficiency)</a:t>
            </a:r>
          </a:p>
          <a:p>
            <a:pPr lvl="1">
              <a:buClr>
                <a:schemeClr val="accent1"/>
              </a:buClr>
              <a:buFont typeface="Georgia" pitchFamily="18" charset="0"/>
              <a:buChar char="−"/>
            </a:pPr>
            <a:r>
              <a:rPr lang="en-US" sz="1700" b="1" dirty="0">
                <a:solidFill>
                  <a:schemeClr val="accent1"/>
                </a:solidFill>
              </a:rPr>
              <a:t>complexity</a:t>
            </a:r>
            <a:r>
              <a:rPr lang="en-US" sz="1700" dirty="0">
                <a:solidFill>
                  <a:schemeClr val="accent1"/>
                </a:solidFill>
              </a:rPr>
              <a:t> </a:t>
            </a:r>
            <a:r>
              <a:rPr lang="en-US" sz="1700" dirty="0"/>
              <a:t>of transmitter and receiver (hardware and software)</a:t>
            </a:r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60426EC8-FBA0-E2AC-29F4-9774BDB83F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89CF0B-6BFB-4750-901A-37E970C70430}" type="slidenum">
              <a:rPr kumimoji="0" lang="sv-SE" sz="1400" b="1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sv-SE" sz="1500" b="1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charset="0"/>
              <a:ea typeface="+mn-ea"/>
              <a:cs typeface="Arial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71620B7-0348-3A34-47EF-6F439F64E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" y="339128"/>
            <a:ext cx="8305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j-ea"/>
                <a:cs typeface="+mj-cs"/>
              </a:rPr>
              <a:t>Understanding Wireless Communication: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elvetica"/>
              <a:ea typeface="+mj-ea"/>
              <a:cs typeface="+mj-cs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0A58FEF6-3C93-EEBD-499A-07B25C5BEE77}"/>
              </a:ext>
            </a:extLst>
          </p:cNvPr>
          <p:cNvSpPr txBox="1">
            <a:spLocks/>
          </p:cNvSpPr>
          <p:nvPr/>
        </p:nvSpPr>
        <p:spPr>
          <a:xfrm>
            <a:off x="300832" y="339128"/>
            <a:ext cx="8058785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468848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309880" y="3276600"/>
            <a:ext cx="852424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6415" algn="l"/>
              </a:tabLst>
            </a:pPr>
            <a:r>
              <a:rPr b="1" spc="-110" dirty="0">
                <a:solidFill>
                  <a:srgbClr val="FF0000"/>
                </a:solidFill>
                <a:latin typeface="Arial"/>
                <a:cs typeface="Arial"/>
              </a:rPr>
              <a:t>How</a:t>
            </a:r>
            <a:r>
              <a:rPr b="1" spc="-2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1" spc="-85" dirty="0">
                <a:solidFill>
                  <a:srgbClr val="FF0000"/>
                </a:solidFill>
                <a:latin typeface="Arial"/>
                <a:cs typeface="Arial"/>
              </a:rPr>
              <a:t>do</a:t>
            </a:r>
            <a:r>
              <a:rPr b="1" spc="-2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1" spc="-145" dirty="0">
                <a:solidFill>
                  <a:srgbClr val="FF0000"/>
                </a:solidFill>
                <a:latin typeface="Arial"/>
                <a:cs typeface="Arial"/>
              </a:rPr>
              <a:t>wireless</a:t>
            </a:r>
            <a:r>
              <a:rPr b="1" spc="-2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1" spc="-110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b="1" spc="-2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1" spc="-135" dirty="0">
                <a:solidFill>
                  <a:srgbClr val="FF0000"/>
                </a:solidFill>
                <a:latin typeface="Arial"/>
                <a:cs typeface="Arial"/>
              </a:rPr>
              <a:t>wired</a:t>
            </a:r>
            <a:r>
              <a:rPr b="1" spc="-2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1" spc="-135" dirty="0">
                <a:solidFill>
                  <a:srgbClr val="FF0000"/>
                </a:solidFill>
                <a:latin typeface="Arial"/>
                <a:cs typeface="Arial"/>
              </a:rPr>
              <a:t>networks</a:t>
            </a:r>
            <a:r>
              <a:rPr b="1" spc="-2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FF0000"/>
                </a:solidFill>
                <a:latin typeface="Arial"/>
                <a:cs typeface="Arial"/>
              </a:rPr>
              <a:t>differ?</a:t>
            </a:r>
          </a:p>
          <a:p>
            <a:pPr>
              <a:lnSpc>
                <a:spcPct val="100000"/>
              </a:lnSpc>
              <a:buAutoNum type="arabicPeriod"/>
            </a:pPr>
            <a:endParaRPr b="1" spc="-1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458200" y="6556326"/>
            <a:ext cx="471608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6525" marR="0" lvl="0" indent="0" defTabSz="914400" eaLnBrk="1" fontAlgn="auto" latinLnBrk="0" hangingPunct="1">
              <a:lnSpc>
                <a:spcPts val="16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5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Arial"/>
                <a:cs typeface="Arial"/>
              </a:rPr>
              <a:pPr marL="136525" marR="0" lvl="0" indent="0" defTabSz="914400" eaLnBrk="1" fontAlgn="auto" latinLnBrk="0" hangingPunct="1">
                <a:lnSpc>
                  <a:spcPts val="16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sz="1400" b="1" i="0" u="none" strike="noStrike" kern="0" cap="none" spc="-50" normalizeH="0" baseline="0" noProof="0" dirty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8130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6AAC8678-3826-FF73-7563-ED607CA224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Wired  Vs. Wireless Communication</a:t>
            </a:r>
          </a:p>
        </p:txBody>
      </p:sp>
      <p:pic>
        <p:nvPicPr>
          <p:cNvPr id="35843" name="Picture 3">
            <a:extLst>
              <a:ext uri="{FF2B5EF4-FFF2-40B4-BE49-F238E27FC236}">
                <a16:creationId xmlns:a16="http://schemas.microsoft.com/office/drawing/2014/main" id="{A91984F6-9559-4BC1-CB75-D87721A0B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12" y="1535652"/>
            <a:ext cx="2749550" cy="1557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844" name="Picture 4">
            <a:extLst>
              <a:ext uri="{FF2B5EF4-FFF2-40B4-BE49-F238E27FC236}">
                <a16:creationId xmlns:a16="http://schemas.microsoft.com/office/drawing/2014/main" id="{AA4F7FEB-241E-63E1-8220-801BC3820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4376" y="1911635"/>
            <a:ext cx="644525" cy="1804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845" name="Oval 5">
            <a:extLst>
              <a:ext uri="{FF2B5EF4-FFF2-40B4-BE49-F238E27FC236}">
                <a16:creationId xmlns:a16="http://schemas.microsoft.com/office/drawing/2014/main" id="{E1D2B0B6-D3AF-CBB8-667D-BAAEA6471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8013" y="1756854"/>
            <a:ext cx="741362" cy="477838"/>
          </a:xfrm>
          <a:prstGeom prst="ellips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5846" name="Oval 6">
            <a:extLst>
              <a:ext uri="{FF2B5EF4-FFF2-40B4-BE49-F238E27FC236}">
                <a16:creationId xmlns:a16="http://schemas.microsoft.com/office/drawing/2014/main" id="{729B76DD-BD67-B006-CBD0-606BFF9E4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825" y="1563179"/>
            <a:ext cx="1563688" cy="941388"/>
          </a:xfrm>
          <a:prstGeom prst="ellips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5847" name="Oval 7">
            <a:extLst>
              <a:ext uri="{FF2B5EF4-FFF2-40B4-BE49-F238E27FC236}">
                <a16:creationId xmlns:a16="http://schemas.microsoft.com/office/drawing/2014/main" id="{B2B1913D-54D3-D3EE-EB4A-45E3003CB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9050" y="1371600"/>
            <a:ext cx="2027238" cy="1484312"/>
          </a:xfrm>
          <a:prstGeom prst="ellips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aphicFrame>
        <p:nvGraphicFramePr>
          <p:cNvPr id="35848" name="Group 8">
            <a:extLst>
              <a:ext uri="{FF2B5EF4-FFF2-40B4-BE49-F238E27FC236}">
                <a16:creationId xmlns:a16="http://schemas.microsoft.com/office/drawing/2014/main" id="{95686529-5531-D658-7D5F-AB694F2D9F67}"/>
              </a:ext>
            </a:extLst>
          </p:cNvPr>
          <p:cNvGraphicFramePr>
            <a:graphicFrameLocks noGrp="1"/>
          </p:cNvGraphicFramePr>
          <p:nvPr/>
        </p:nvGraphicFramePr>
        <p:xfrm>
          <a:off x="596487" y="4117435"/>
          <a:ext cx="7885113" cy="2409826"/>
        </p:xfrm>
        <a:graphic>
          <a:graphicData uri="http://schemas.openxmlformats.org/drawingml/2006/table">
            <a:tbl>
              <a:tblPr/>
              <a:tblGrid>
                <a:gridCol w="4054475">
                  <a:extLst>
                    <a:ext uri="{9D8B030D-6E8A-4147-A177-3AD203B41FA5}">
                      <a16:colId xmlns:a16="http://schemas.microsoft.com/office/drawing/2014/main" val="1549627324"/>
                    </a:ext>
                  </a:extLst>
                </a:gridCol>
                <a:gridCol w="3830638">
                  <a:extLst>
                    <a:ext uri="{9D8B030D-6E8A-4147-A177-3AD203B41FA5}">
                      <a16:colId xmlns:a16="http://schemas.microsoft.com/office/drawing/2014/main" val="4130927094"/>
                    </a:ext>
                  </a:extLst>
                </a:gridCol>
              </a:tblGrid>
              <a:tr h="477838">
                <a:tc>
                  <a:txBody>
                    <a:bodyPr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 typeface="Webdings" panose="05030102010509060703" pitchFamily="18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Wired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 typeface="Webdings" panose="05030102010509060703" pitchFamily="18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</a:rPr>
                        <a:t>Wireless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687227"/>
                  </a:ext>
                </a:extLst>
              </a:tr>
              <a:tr h="465138">
                <a:tc>
                  <a:txBody>
                    <a:bodyPr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 typeface="Webdings" panose="05030102010509060703" pitchFamily="18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 typeface="Webdings" panose="05030102010509060703" pitchFamily="18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487865"/>
                  </a:ext>
                </a:extLst>
              </a:tr>
              <a:tr h="450850">
                <a:tc>
                  <a:txBody>
                    <a:bodyPr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 typeface="Webdings" panose="05030102010509060703" pitchFamily="18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 typeface="Webdings" panose="05030102010509060703" pitchFamily="18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165017"/>
                  </a:ext>
                </a:extLst>
              </a:tr>
              <a:tr h="1016000">
                <a:tc>
                  <a:txBody>
                    <a:bodyPr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 typeface="Webdings" panose="05030102010509060703" pitchFamily="18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 typeface="Webdings" panose="05030102010509060703" pitchFamily="18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440591"/>
                  </a:ext>
                </a:extLst>
              </a:tr>
            </a:tbl>
          </a:graphicData>
        </a:graphic>
      </p:graphicFrame>
      <p:sp>
        <p:nvSpPr>
          <p:cNvPr id="35865" name="Rectangle 25">
            <a:extLst>
              <a:ext uri="{FF2B5EF4-FFF2-40B4-BE49-F238E27FC236}">
                <a16:creationId xmlns:a16="http://schemas.microsoft.com/office/drawing/2014/main" id="{61470E9A-FCE6-44F6-BFBF-45F82E96C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3" y="4565649"/>
            <a:ext cx="38528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ebdings" panose="05030102010509060703" pitchFamily="18" charset="2"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Each cable is a different channel</a:t>
            </a:r>
          </a:p>
        </p:txBody>
      </p:sp>
      <p:sp>
        <p:nvSpPr>
          <p:cNvPr id="35866" name="Rectangle 26">
            <a:extLst>
              <a:ext uri="{FF2B5EF4-FFF2-40B4-BE49-F238E27FC236}">
                <a16:creationId xmlns:a16="http://schemas.microsoft.com/office/drawing/2014/main" id="{000C8457-5484-6641-5914-33651840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4565649"/>
            <a:ext cx="37814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ebdings" panose="05030102010509060703" pitchFamily="18" charset="2"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</a:rPr>
              <a:t>One media (cable) shared by all</a:t>
            </a:r>
          </a:p>
        </p:txBody>
      </p:sp>
      <p:sp>
        <p:nvSpPr>
          <p:cNvPr id="35867" name="Rectangle 27">
            <a:extLst>
              <a:ext uri="{FF2B5EF4-FFF2-40B4-BE49-F238E27FC236}">
                <a16:creationId xmlns:a16="http://schemas.microsoft.com/office/drawing/2014/main" id="{B614BF39-43A6-21BE-FFF0-82B1607BB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0" y="5041899"/>
            <a:ext cx="2924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ebdings" panose="05030102010509060703" pitchFamily="18" charset="2"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Signal attenuation is low</a:t>
            </a:r>
          </a:p>
        </p:txBody>
      </p:sp>
      <p:sp>
        <p:nvSpPr>
          <p:cNvPr id="35868" name="Rectangle 28">
            <a:extLst>
              <a:ext uri="{FF2B5EF4-FFF2-40B4-BE49-F238E27FC236}">
                <a16:creationId xmlns:a16="http://schemas.microsoft.com/office/drawing/2014/main" id="{ED4F1BEE-057D-3FE3-3046-7DFDCF8B4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2013" y="5030787"/>
            <a:ext cx="276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</a:rPr>
              <a:t>High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</a:rPr>
              <a:t>signal attenuation</a:t>
            </a:r>
          </a:p>
        </p:txBody>
      </p:sp>
      <p:sp>
        <p:nvSpPr>
          <p:cNvPr id="35870" name="Rectangle 30">
            <a:extLst>
              <a:ext uri="{FF2B5EF4-FFF2-40B4-BE49-F238E27FC236}">
                <a16:creationId xmlns:a16="http://schemas.microsoft.com/office/drawing/2014/main" id="{F24815E0-81F0-AD32-B3C7-020171D37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462587"/>
            <a:ext cx="3803650" cy="1008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ebdings" panose="05030102010509060703" pitchFamily="18" charset="2"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</a:rPr>
              <a:t>High interference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ebdings" panose="05030102010509060703" pitchFamily="18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</a:rPr>
              <a:t>noise; co-channel interference; adjacent channel interference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66C5BF-46D0-6FC8-1E6D-9AB76A527CDF}"/>
              </a:ext>
            </a:extLst>
          </p:cNvPr>
          <p:cNvSpPr txBox="1"/>
          <p:nvPr/>
        </p:nvSpPr>
        <p:spPr>
          <a:xfrm>
            <a:off x="692975" y="5649119"/>
            <a:ext cx="6300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 typeface="Webdings" panose="05030102010509060703" pitchFamily="18" charset="2"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</a:rPr>
              <a:t>Low interference (Cross-talk)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0A58FEF6-3C93-EEBD-499A-07B25C5BEE77}"/>
              </a:ext>
            </a:extLst>
          </p:cNvPr>
          <p:cNvSpPr txBox="1">
            <a:spLocks/>
          </p:cNvSpPr>
          <p:nvPr/>
        </p:nvSpPr>
        <p:spPr>
          <a:xfrm>
            <a:off x="409797" y="484440"/>
            <a:ext cx="8058785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631188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5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65" grpId="0" autoUpdateAnimBg="0"/>
      <p:bldP spid="35866" grpId="0" autoUpdateAnimBg="0"/>
      <p:bldP spid="35867" grpId="0" autoUpdateAnimBg="0"/>
      <p:bldP spid="35868" grpId="0" autoUpdateAnimBg="0"/>
      <p:bldP spid="35870" grpId="0" autoUpdateAnimBg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CEC7D-AA6F-1D90-D5AB-ACA895CE9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F2E78844-510C-C910-91C6-6531B5AE82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Wired  Vs. Wireless Communication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64028A0-E0E2-A624-9445-F8D2633CC9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880299"/>
              </p:ext>
            </p:extLst>
          </p:nvPr>
        </p:nvGraphicFramePr>
        <p:xfrm>
          <a:off x="152400" y="1297328"/>
          <a:ext cx="8915400" cy="530294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826476387"/>
                    </a:ext>
                  </a:extLst>
                </a:gridCol>
                <a:gridCol w="3219450">
                  <a:extLst>
                    <a:ext uri="{9D8B030D-6E8A-4147-A177-3AD203B41FA5}">
                      <a16:colId xmlns:a16="http://schemas.microsoft.com/office/drawing/2014/main" val="2274416540"/>
                    </a:ext>
                  </a:extLst>
                </a:gridCol>
                <a:gridCol w="3219450">
                  <a:extLst>
                    <a:ext uri="{9D8B030D-6E8A-4147-A177-3AD203B41FA5}">
                      <a16:colId xmlns:a16="http://schemas.microsoft.com/office/drawing/2014/main" val="3569307256"/>
                    </a:ext>
                  </a:extLst>
                </a:gridCol>
              </a:tblGrid>
              <a:tr h="18898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Parameter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Wired Network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Wireless Network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149675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Communication Medium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Copper, Fiber optic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Air (Radio Waves)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236377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Standard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IEEE 802.3 (Ethernet)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IEEE 802.11 family (Wi-Fi)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62129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Mobility &amp; Roaming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Limited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547602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Security ?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 (less vulnerable to attacks)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Lower (prone to eavesdropping/hacking)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045979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Speed / Bandwidth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Very High (up to 1 Gbps or more)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Moderate to 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248742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/>
                        <a:t>Delay (Latency)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308161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/>
                        <a:t>Reliability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Very 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Less reliable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802652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/>
                        <a:t>Flexibility to Change</a:t>
                      </a:r>
                      <a:endParaRPr lang="en-US" sz="1400" dirty="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Rigid setup, hard to reconfigure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Highly flexible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6229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Working Principle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CSMA/CD (Collision Detection)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CSMA/CA (Collision Avoidance)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532198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Interference / Fluctuations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Very 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 (affected by walls, devices, etc.)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83258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Installation Activity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Cumbersome; labor-intensive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Easy; minimal labor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528459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Installation Time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Long (due to cabling, physical setup)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Quick deployment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118237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/>
                        <a:t>Connection Type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Usually Dedicated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Shared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184121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Installation Cost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 (cables, labor, devices)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269610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/>
                        <a:t>Maintenance Cost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163343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Related Equipment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Router, Switch, Hub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Wireless Router, Access Point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29206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Key Benefits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 speed, stable, secure, noise-immune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Cable-free, mobile-friendly, easy to install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366638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07479C4-DD6B-6CBC-D5D3-77E5E2235C9B}"/>
              </a:ext>
            </a:extLst>
          </p:cNvPr>
          <p:cNvSpPr/>
          <p:nvPr/>
        </p:nvSpPr>
        <p:spPr>
          <a:xfrm>
            <a:off x="2286000" y="2308963"/>
            <a:ext cx="6705600" cy="4549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7E3DF0-E261-34BC-47D5-64AD5E334EDA}"/>
              </a:ext>
            </a:extLst>
          </p:cNvPr>
          <p:cNvSpPr/>
          <p:nvPr/>
        </p:nvSpPr>
        <p:spPr>
          <a:xfrm>
            <a:off x="152400" y="2667000"/>
            <a:ext cx="2133600" cy="41879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F685854-A717-55D1-0DB6-46617DF77BA4}"/>
              </a:ext>
            </a:extLst>
          </p:cNvPr>
          <p:cNvSpPr txBox="1">
            <a:spLocks/>
          </p:cNvSpPr>
          <p:nvPr/>
        </p:nvSpPr>
        <p:spPr>
          <a:xfrm>
            <a:off x="409797" y="484440"/>
            <a:ext cx="8058785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745983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85B1F-0EB1-58AE-9B45-BEC545B8D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62F680D5-A23D-C886-834B-1FEED7BF4D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Wired  Vs. Wireless Communication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4D9AC9A-9CD5-98A2-5FE7-CCEA21FA4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359167"/>
              </p:ext>
            </p:extLst>
          </p:nvPr>
        </p:nvGraphicFramePr>
        <p:xfrm>
          <a:off x="152400" y="1297328"/>
          <a:ext cx="8915400" cy="530294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826476387"/>
                    </a:ext>
                  </a:extLst>
                </a:gridCol>
                <a:gridCol w="3219450">
                  <a:extLst>
                    <a:ext uri="{9D8B030D-6E8A-4147-A177-3AD203B41FA5}">
                      <a16:colId xmlns:a16="http://schemas.microsoft.com/office/drawing/2014/main" val="2274416540"/>
                    </a:ext>
                  </a:extLst>
                </a:gridCol>
                <a:gridCol w="3219450">
                  <a:extLst>
                    <a:ext uri="{9D8B030D-6E8A-4147-A177-3AD203B41FA5}">
                      <a16:colId xmlns:a16="http://schemas.microsoft.com/office/drawing/2014/main" val="3569307256"/>
                    </a:ext>
                  </a:extLst>
                </a:gridCol>
              </a:tblGrid>
              <a:tr h="18898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Parameter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Wired Network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Wireless Network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149675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Communication Medium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Copper, Fiber optic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Air (Radio Waves)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236377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Standard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IEEE 802.3 (Ethernet)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IEEE 802.11 family (Wi-Fi)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62129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Mobility &amp; Roaming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Limited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547602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Security</a:t>
                      </a:r>
                      <a:endParaRPr lang="en-US" sz="1400" dirty="0">
                        <a:solidFill>
                          <a:srgbClr val="00B05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High (less vulnerable to attacks)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Lower (prone to eavesdropping/hacking)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045979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Speed / Bandwidth ?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Very High (up to 1 Gbps or more)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Moderate to 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248742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Delay (Latency) ?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308161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/>
                        <a:t>Reliability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Very 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Less reliable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802652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/>
                        <a:t>Flexibility to Change</a:t>
                      </a:r>
                      <a:endParaRPr lang="en-US" sz="1400" dirty="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Rigid setup, hard to reconfigure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Highly flexible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6229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Working Principle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CSMA/CD (Collision Detection)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CSMA/CA (Collision Avoidance)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532198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Interference / Fluctuations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Very 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 (affected by walls, devices, etc.)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83258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Installation Activity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Cumbersome; labor-intensive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Easy; minimal labor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528459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Installation Time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Long (due to cabling, physical setup)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Quick deployment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118237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/>
                        <a:t>Connection Type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Usually Dedicated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Shared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184121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Installation Cost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 (cables, labor, devices)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269610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/>
                        <a:t>Maintenance Cost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163343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Related Equipment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Router, Switch, Hub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Wireless Router, Access Point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29206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Key Benefits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 speed, stable, secure, noise-immune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Cable-free, mobile-friendly, easy to install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366638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FC709939-8E80-DC9F-3A94-CAA3463149AE}"/>
              </a:ext>
            </a:extLst>
          </p:cNvPr>
          <p:cNvSpPr/>
          <p:nvPr/>
        </p:nvSpPr>
        <p:spPr>
          <a:xfrm>
            <a:off x="2286000" y="2667000"/>
            <a:ext cx="6781800" cy="419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01090D-DCEB-111D-A88C-961CC3280586}"/>
              </a:ext>
            </a:extLst>
          </p:cNvPr>
          <p:cNvSpPr/>
          <p:nvPr/>
        </p:nvSpPr>
        <p:spPr>
          <a:xfrm>
            <a:off x="152400" y="3184881"/>
            <a:ext cx="2133600" cy="35783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9A98B4BE-D0CF-666F-BDE9-84AEE5B8E247}"/>
              </a:ext>
            </a:extLst>
          </p:cNvPr>
          <p:cNvSpPr txBox="1">
            <a:spLocks/>
          </p:cNvSpPr>
          <p:nvPr/>
        </p:nvSpPr>
        <p:spPr>
          <a:xfrm>
            <a:off x="409797" y="484440"/>
            <a:ext cx="8058785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4171236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96B23-6D9F-3047-6E8A-B628BBCF9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FCFC9614-C0BA-09F0-2914-0870E0BA92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Wired  Vs. Wireless Communication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160EF97-6763-E42A-496A-4932619B4C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09467"/>
              </p:ext>
            </p:extLst>
          </p:nvPr>
        </p:nvGraphicFramePr>
        <p:xfrm>
          <a:off x="152400" y="1297328"/>
          <a:ext cx="8915400" cy="530294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826476387"/>
                    </a:ext>
                  </a:extLst>
                </a:gridCol>
                <a:gridCol w="3219450">
                  <a:extLst>
                    <a:ext uri="{9D8B030D-6E8A-4147-A177-3AD203B41FA5}">
                      <a16:colId xmlns:a16="http://schemas.microsoft.com/office/drawing/2014/main" val="2274416540"/>
                    </a:ext>
                  </a:extLst>
                </a:gridCol>
                <a:gridCol w="3219450">
                  <a:extLst>
                    <a:ext uri="{9D8B030D-6E8A-4147-A177-3AD203B41FA5}">
                      <a16:colId xmlns:a16="http://schemas.microsoft.com/office/drawing/2014/main" val="3569307256"/>
                    </a:ext>
                  </a:extLst>
                </a:gridCol>
              </a:tblGrid>
              <a:tr h="18898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Parameter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Wired Network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Wireless Network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149675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Communication Medium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Copper, Fiber optic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Air (Radio Waves)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236377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Standard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IEEE 802.3 (Ethernet)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IEEE 802.11 family (Wi-Fi)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62129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Mobility &amp; Roaming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Limited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547602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Security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High (less vulnerable to attacks)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Lower (prone to eavesdropping/hacking)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045979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Speed / Bandwidth</a:t>
                      </a:r>
                      <a:endParaRPr lang="en-US" sz="1400" dirty="0">
                        <a:solidFill>
                          <a:srgbClr val="00B05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Very High (up to 1 Gbps or more)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Moderate to 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248742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Delay (Latency)</a:t>
                      </a:r>
                      <a:endParaRPr lang="en-US" sz="1400" dirty="0">
                        <a:solidFill>
                          <a:srgbClr val="00B05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308161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Reliability ?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Very 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Less reliable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802652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/>
                        <a:t>Flexibility to Change</a:t>
                      </a:r>
                      <a:endParaRPr lang="en-US" sz="1400" dirty="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Rigid setup, hard to reconfigure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Highly flexible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6229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Working Principle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CSMA/CD (Collision Detection)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CSMA/CA (Collision Avoidance)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532198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Interference / Fluctuations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Very 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 (affected by walls, devices, etc.)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83258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Installation Activity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Cumbersome; labor-intensive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Easy; minimal labor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528459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Installation Time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Long (due to cabling, physical setup)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Quick deployment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118237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/>
                        <a:t>Connection Type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Usually Dedicated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Shared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184121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Installation Cost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 (cables, labor, devices)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269610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/>
                        <a:t>Maintenance Cost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163343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Related Equipment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Router, Switch, Hub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Wireless Router, Access Point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29206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Key Benefits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 speed, stable, secure, noise-immune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Cable-free, mobile-friendly, easy to install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366638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B975546-E5F7-7B2D-A093-330A546E495E}"/>
              </a:ext>
            </a:extLst>
          </p:cNvPr>
          <p:cNvSpPr/>
          <p:nvPr/>
        </p:nvSpPr>
        <p:spPr>
          <a:xfrm>
            <a:off x="2286000" y="3200400"/>
            <a:ext cx="6705600" cy="3657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6E3440-3237-103C-2CA4-C9627A763119}"/>
              </a:ext>
            </a:extLst>
          </p:cNvPr>
          <p:cNvSpPr/>
          <p:nvPr/>
        </p:nvSpPr>
        <p:spPr>
          <a:xfrm>
            <a:off x="152400" y="3505200"/>
            <a:ext cx="2133600" cy="3349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4B1B4858-E420-9BC1-2C0B-D7B99F6AA097}"/>
              </a:ext>
            </a:extLst>
          </p:cNvPr>
          <p:cNvSpPr txBox="1">
            <a:spLocks/>
          </p:cNvSpPr>
          <p:nvPr/>
        </p:nvSpPr>
        <p:spPr>
          <a:xfrm>
            <a:off x="409797" y="484440"/>
            <a:ext cx="8058785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174039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4B567-66CC-F868-5649-F11294968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93DE312-3DA1-88D6-281D-DC4A6A73BC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Wired  Vs. Wireless Communication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1E4C7BC-1949-CA3A-83F2-C0A606FDB6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333666"/>
              </p:ext>
            </p:extLst>
          </p:nvPr>
        </p:nvGraphicFramePr>
        <p:xfrm>
          <a:off x="152400" y="1297328"/>
          <a:ext cx="8915400" cy="530294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826476387"/>
                    </a:ext>
                  </a:extLst>
                </a:gridCol>
                <a:gridCol w="3219450">
                  <a:extLst>
                    <a:ext uri="{9D8B030D-6E8A-4147-A177-3AD203B41FA5}">
                      <a16:colId xmlns:a16="http://schemas.microsoft.com/office/drawing/2014/main" val="2274416540"/>
                    </a:ext>
                  </a:extLst>
                </a:gridCol>
                <a:gridCol w="3219450">
                  <a:extLst>
                    <a:ext uri="{9D8B030D-6E8A-4147-A177-3AD203B41FA5}">
                      <a16:colId xmlns:a16="http://schemas.microsoft.com/office/drawing/2014/main" val="3569307256"/>
                    </a:ext>
                  </a:extLst>
                </a:gridCol>
              </a:tblGrid>
              <a:tr h="18898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Parameter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Wired Network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Wireless Network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149675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Communication Medium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Copper, Fiber optic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Air (Radio Waves)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236377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Standard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IEEE 802.3 (Ethernet)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IEEE 802.11 family (Wi-Fi)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62129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Mobility &amp; Roaming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Limited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547602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Security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High (less vulnerable to attacks)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Lower (prone to eavesdropping/hacking)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045979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Speed / Bandwidth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Very High (up to 1 Gbps or more)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0000"/>
                          </a:solidFill>
                        </a:rPr>
                        <a:t>Moderate to 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248742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Delay (Latency)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308161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Reliability</a:t>
                      </a:r>
                      <a:endParaRPr lang="en-US" sz="1400" dirty="0">
                        <a:solidFill>
                          <a:srgbClr val="00B05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Very 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Less reliable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802652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Flexibility to Change ?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Rigid setup, hard to reconfigure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Highly flexible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6229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Working Principle ?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CSMA/CD (Collision Detection)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CSMA/CA (Collision Avoidance)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532198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Interference / Fluctuations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Very 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 (affected by walls, devices, etc.)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83258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Installation Activity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Cumbersome; labor-intensive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Easy; minimal labor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528459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Installation Time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Long (due to cabling, physical setup)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Quick deployment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118237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/>
                        <a:t>Connection Type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Usually Dedicated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Shared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184121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Installation Cost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 (cables, labor, devices)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269610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/>
                        <a:t>Maintenance Cost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163343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Related Equipment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Router, Switch, Hub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Wireless Router, Access Point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29206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Key Benefits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 speed, stable, secure, noise-immune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Cable-free, mobile-friendly, easy to install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366638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94BEEE55-F68B-FADF-1F93-E3D27EC5B427}"/>
              </a:ext>
            </a:extLst>
          </p:cNvPr>
          <p:cNvSpPr/>
          <p:nvPr/>
        </p:nvSpPr>
        <p:spPr>
          <a:xfrm>
            <a:off x="2286000" y="3429000"/>
            <a:ext cx="6705600" cy="3429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4AE579-ACF0-5FE8-D998-D2D7A0E3C827}"/>
              </a:ext>
            </a:extLst>
          </p:cNvPr>
          <p:cNvSpPr/>
          <p:nvPr/>
        </p:nvSpPr>
        <p:spPr>
          <a:xfrm>
            <a:off x="152400" y="4191000"/>
            <a:ext cx="2133600" cy="26639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B391E114-DE3B-7883-1C54-6E85A59748AC}"/>
              </a:ext>
            </a:extLst>
          </p:cNvPr>
          <p:cNvSpPr txBox="1">
            <a:spLocks/>
          </p:cNvSpPr>
          <p:nvPr/>
        </p:nvSpPr>
        <p:spPr>
          <a:xfrm>
            <a:off x="409797" y="484440"/>
            <a:ext cx="8058785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603622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2DD35-B5F1-903F-6D9F-EE1751468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C93671AE-7354-5DEB-422D-B257156334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Wired  Vs. Wireless Communication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578BE0-5997-B28F-E9A1-C5CC72B17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695058"/>
              </p:ext>
            </p:extLst>
          </p:nvPr>
        </p:nvGraphicFramePr>
        <p:xfrm>
          <a:off x="152401" y="1297328"/>
          <a:ext cx="8915400" cy="530294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826476387"/>
                    </a:ext>
                  </a:extLst>
                </a:gridCol>
                <a:gridCol w="3219450">
                  <a:extLst>
                    <a:ext uri="{9D8B030D-6E8A-4147-A177-3AD203B41FA5}">
                      <a16:colId xmlns:a16="http://schemas.microsoft.com/office/drawing/2014/main" val="2274416540"/>
                    </a:ext>
                  </a:extLst>
                </a:gridCol>
                <a:gridCol w="3219450">
                  <a:extLst>
                    <a:ext uri="{9D8B030D-6E8A-4147-A177-3AD203B41FA5}">
                      <a16:colId xmlns:a16="http://schemas.microsoft.com/office/drawing/2014/main" val="3569307256"/>
                    </a:ext>
                  </a:extLst>
                </a:gridCol>
              </a:tblGrid>
              <a:tr h="18898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Parameter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Wired Network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Wireless Network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149675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Communication Medium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Copper, Fiber optic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Air (Radio Waves)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236377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Standard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IEEE 802.3 (Ethernet)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IEEE 802.11 family (Wi-Fi)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62129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Mobility &amp; Roaming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Limited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547602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Security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High (less vulnerable to attacks)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Lower (prone to eavesdropping/hacking)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045979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Speed / Bandwidth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0B050"/>
                          </a:solidFill>
                        </a:rPr>
                        <a:t>Very High (up to 1 Gbps or more)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Moderate to 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248742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Delay (Latency)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308161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Reliability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Very 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Less reliable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802652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Flexibility to Change</a:t>
                      </a:r>
                      <a:endParaRPr lang="en-US" sz="1400" dirty="0">
                        <a:solidFill>
                          <a:srgbClr val="00B05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Rigid setup, hard to reconfigure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Highly flexible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6229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Working Principle</a:t>
                      </a:r>
                      <a:endParaRPr lang="en-US" sz="1400" dirty="0">
                        <a:solidFill>
                          <a:srgbClr val="00B05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CSMA/CD (Collision Detection)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CSMA/CA (Collision Avoidance)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532198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Interference / Fluctuations ?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Very 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 (affected by walls, devices, etc.)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83258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Installation Activity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Cumbersome; labor-intensive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Easy; minimal labor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528459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Installation Time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Long (due to cabling, physical setup)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Quick deployment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118237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/>
                        <a:t>Connection Type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Usually Dedicated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Shared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184121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Installation Cost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 (cables, labor, devices)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269610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/>
                        <a:t>Maintenance Cost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163343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Related Equipment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Router, Switch, Hub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Wireless Router, Access Point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29206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Key Benefits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 speed, stable, secure, noise-immune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Cable-free, mobile-friendly, easy to install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366638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6E74CF5-3DAC-3D16-BBA8-F6A1887A8087}"/>
              </a:ext>
            </a:extLst>
          </p:cNvPr>
          <p:cNvSpPr/>
          <p:nvPr/>
        </p:nvSpPr>
        <p:spPr>
          <a:xfrm>
            <a:off x="2606040" y="4157472"/>
            <a:ext cx="6400799" cy="2667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91A36D-147E-4F06-730A-A1E086FBB85B}"/>
              </a:ext>
            </a:extLst>
          </p:cNvPr>
          <p:cNvSpPr/>
          <p:nvPr/>
        </p:nvSpPr>
        <p:spPr>
          <a:xfrm>
            <a:off x="152400" y="4495800"/>
            <a:ext cx="2133600" cy="2359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122F5507-AE02-5824-9209-2CD942F98FF8}"/>
              </a:ext>
            </a:extLst>
          </p:cNvPr>
          <p:cNvSpPr txBox="1">
            <a:spLocks/>
          </p:cNvSpPr>
          <p:nvPr/>
        </p:nvSpPr>
        <p:spPr>
          <a:xfrm>
            <a:off x="409797" y="484440"/>
            <a:ext cx="8058785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1106514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DF90E-8A8A-4EA4-399D-3FA26EB67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22FF6FBB-1B61-74CC-12EE-88EA574CDA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Wired  Vs. Wireless Communication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9F11912-A757-1BF5-82E7-C7298B67F4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612342"/>
              </p:ext>
            </p:extLst>
          </p:nvPr>
        </p:nvGraphicFramePr>
        <p:xfrm>
          <a:off x="152400" y="1297328"/>
          <a:ext cx="8915400" cy="530294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826476387"/>
                    </a:ext>
                  </a:extLst>
                </a:gridCol>
                <a:gridCol w="3219450">
                  <a:extLst>
                    <a:ext uri="{9D8B030D-6E8A-4147-A177-3AD203B41FA5}">
                      <a16:colId xmlns:a16="http://schemas.microsoft.com/office/drawing/2014/main" val="2274416540"/>
                    </a:ext>
                  </a:extLst>
                </a:gridCol>
                <a:gridCol w="3219450">
                  <a:extLst>
                    <a:ext uri="{9D8B030D-6E8A-4147-A177-3AD203B41FA5}">
                      <a16:colId xmlns:a16="http://schemas.microsoft.com/office/drawing/2014/main" val="3569307256"/>
                    </a:ext>
                  </a:extLst>
                </a:gridCol>
              </a:tblGrid>
              <a:tr h="18898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Parameter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Wired Network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Wireless Network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149675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Communication Medium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Copper, Fiber optic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Air (Radio Waves)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236377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Standard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IEEE 802.3 (Ethernet)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IEEE 802.11 family (Wi-Fi)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62129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Mobility &amp; Roaming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Limited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547602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Security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High (less vulnerable to attacks)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0000"/>
                          </a:solidFill>
                        </a:rPr>
                        <a:t>Lower (prone to eavesdropping/hacking)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045979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Speed / Bandwidth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0B050"/>
                          </a:solidFill>
                        </a:rPr>
                        <a:t>Very High (up to 1 Gbps or more)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Moderate to 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248742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Delay (Latency)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308161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Reliability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Very 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Less reliable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802652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Flexibility to Change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Rigid setup, hard to reconfigure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Highly flexible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6229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Working Principle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CSMA/CD (Collision Detection)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CSMA/CA (Collision Avoidance)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532198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Interference / Fluctuations</a:t>
                      </a:r>
                      <a:endParaRPr lang="en-US" sz="1400" dirty="0">
                        <a:solidFill>
                          <a:srgbClr val="00B05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Very 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High (affected by walls, devices, etc.)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83258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Installation Activity ?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Cumbersome; labor-intensive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Easy; minimal labor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528459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Installation Time ?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Long (due to cabling, physical setup)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Quick deployment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118237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Connection Type ?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Usually Dedicated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Shared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184121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Installation Cost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 (cables, labor, devices)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269610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/>
                        <a:t>Maintenance Cost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163343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Related Equipment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Router, Switch, Hub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Wireless Router, Access Point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29206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Key Benefits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 speed, stable, secure, noise-immune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Cable-free, mobile-friendly, easy to install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366638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55FB0EF-EE8A-0D53-C179-78E0E531224B}"/>
              </a:ext>
            </a:extLst>
          </p:cNvPr>
          <p:cNvSpPr/>
          <p:nvPr/>
        </p:nvSpPr>
        <p:spPr>
          <a:xfrm>
            <a:off x="2286000" y="4419600"/>
            <a:ext cx="6705600" cy="2438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FB72AC-622B-E729-11B7-94706F7CDCB3}"/>
              </a:ext>
            </a:extLst>
          </p:cNvPr>
          <p:cNvSpPr/>
          <p:nvPr/>
        </p:nvSpPr>
        <p:spPr>
          <a:xfrm>
            <a:off x="152400" y="5410200"/>
            <a:ext cx="2133600" cy="1444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4A9AA9FC-CC0F-23CC-1926-DAAA854F506C}"/>
              </a:ext>
            </a:extLst>
          </p:cNvPr>
          <p:cNvSpPr txBox="1">
            <a:spLocks/>
          </p:cNvSpPr>
          <p:nvPr/>
        </p:nvSpPr>
        <p:spPr>
          <a:xfrm>
            <a:off x="409797" y="484440"/>
            <a:ext cx="8058785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4246915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7D0DB-2FBA-822E-ACA0-6207755D3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67CC9125-4C12-5DAA-5D57-2296139B8C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Wired  Vs. Wireless Communication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24B5646-C9F3-C7F9-863F-50833BF02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917716"/>
              </p:ext>
            </p:extLst>
          </p:nvPr>
        </p:nvGraphicFramePr>
        <p:xfrm>
          <a:off x="152400" y="1297328"/>
          <a:ext cx="8915400" cy="530294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826476387"/>
                    </a:ext>
                  </a:extLst>
                </a:gridCol>
                <a:gridCol w="3219450">
                  <a:extLst>
                    <a:ext uri="{9D8B030D-6E8A-4147-A177-3AD203B41FA5}">
                      <a16:colId xmlns:a16="http://schemas.microsoft.com/office/drawing/2014/main" val="2274416540"/>
                    </a:ext>
                  </a:extLst>
                </a:gridCol>
                <a:gridCol w="3219450">
                  <a:extLst>
                    <a:ext uri="{9D8B030D-6E8A-4147-A177-3AD203B41FA5}">
                      <a16:colId xmlns:a16="http://schemas.microsoft.com/office/drawing/2014/main" val="3569307256"/>
                    </a:ext>
                  </a:extLst>
                </a:gridCol>
              </a:tblGrid>
              <a:tr h="18898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Parameter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Wired Network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Wireless Network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149675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Communication Medium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Copper, Fiber optic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Air (Radio Waves)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236377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Standard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IEEE 802.3 (Ethernet)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IEEE 802.11 family (Wi-Fi)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62129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Mobility &amp; Roaming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Limited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547602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Security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High (less vulnerable to attacks)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0000"/>
                          </a:solidFill>
                        </a:rPr>
                        <a:t>Lower (prone to eavesdropping/hacking)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045979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Speed / Bandwidth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0B050"/>
                          </a:solidFill>
                        </a:rPr>
                        <a:t>Very High (up to 1 Gbps or more)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Moderate to 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248742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Delay (Latency)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308161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Reliability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Very 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Less reliable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802652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Flexibility to Change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Rigid setup, hard to reconfigure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Highly flexible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6229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Working Principle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CSMA/CD (Collision Detection)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CSMA/CA (Collision Avoidance)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532198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Interference / Fluctuations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Very 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High (affected by walls, devices, etc.)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83258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B050"/>
                          </a:solidFill>
                        </a:rPr>
                        <a:t>Installation Activity</a:t>
                      </a:r>
                      <a:endParaRPr lang="en-US" sz="1400">
                        <a:solidFill>
                          <a:srgbClr val="00B05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Cumbersome; labor-intensive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Easy; minimal labor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528459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Installation Time</a:t>
                      </a:r>
                      <a:endParaRPr lang="en-US" sz="1400" dirty="0">
                        <a:solidFill>
                          <a:srgbClr val="00B05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Long (due to cabling, physical setup)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Quick deployment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118237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Connection Type</a:t>
                      </a:r>
                      <a:endParaRPr lang="en-US" sz="1400" dirty="0">
                        <a:solidFill>
                          <a:srgbClr val="00B05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Usually Dedicated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Shared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184121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Installation Cost ?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 (cables, labor, devices)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269610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Maintenance Cost ?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163343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Related Equipment ?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Router, Switch, Hub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Wireless Router, Access Point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29206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/>
                        <a:t>Key Benefits</a:t>
                      </a:r>
                      <a:endParaRPr lang="en-US" sz="1400"/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 speed, stable, secure, noise-immune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Cable-free, mobile-friendly, easy to install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366638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12FF1237-2159-C67D-0E25-9DB1AB35385B}"/>
              </a:ext>
            </a:extLst>
          </p:cNvPr>
          <p:cNvSpPr/>
          <p:nvPr/>
        </p:nvSpPr>
        <p:spPr>
          <a:xfrm>
            <a:off x="2286000" y="5334000"/>
            <a:ext cx="6096000" cy="152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785533-4991-5FF5-0FCC-609114496B77}"/>
              </a:ext>
            </a:extLst>
          </p:cNvPr>
          <p:cNvSpPr/>
          <p:nvPr/>
        </p:nvSpPr>
        <p:spPr>
          <a:xfrm>
            <a:off x="152400" y="6400800"/>
            <a:ext cx="2133600" cy="454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E9E465B-DCBA-B28F-49DA-A6D7B522CE4C}"/>
              </a:ext>
            </a:extLst>
          </p:cNvPr>
          <p:cNvSpPr txBox="1">
            <a:spLocks/>
          </p:cNvSpPr>
          <p:nvPr/>
        </p:nvSpPr>
        <p:spPr>
          <a:xfrm>
            <a:off x="409797" y="484440"/>
            <a:ext cx="8058785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690418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27008-7C65-3B5D-876C-772FF8DAE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7401011A-C451-9B1F-0606-7137EEB85D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Wired  Vs. Wireless Communication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C090A6B-13CD-8D9E-8386-21FA1399C5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170354"/>
              </p:ext>
            </p:extLst>
          </p:nvPr>
        </p:nvGraphicFramePr>
        <p:xfrm>
          <a:off x="152400" y="1297328"/>
          <a:ext cx="8915400" cy="530294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826476387"/>
                    </a:ext>
                  </a:extLst>
                </a:gridCol>
                <a:gridCol w="3219450">
                  <a:extLst>
                    <a:ext uri="{9D8B030D-6E8A-4147-A177-3AD203B41FA5}">
                      <a16:colId xmlns:a16="http://schemas.microsoft.com/office/drawing/2014/main" val="2274416540"/>
                    </a:ext>
                  </a:extLst>
                </a:gridCol>
                <a:gridCol w="3219450">
                  <a:extLst>
                    <a:ext uri="{9D8B030D-6E8A-4147-A177-3AD203B41FA5}">
                      <a16:colId xmlns:a16="http://schemas.microsoft.com/office/drawing/2014/main" val="3569307256"/>
                    </a:ext>
                  </a:extLst>
                </a:gridCol>
              </a:tblGrid>
              <a:tr h="18898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Parameter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Wired Network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Wireless Network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149675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Communication Medium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Copper, Fiber optic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Air (Radio Waves)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236377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Standard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IEEE 802.3 (Ethernet)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IEEE 802.11 family (Wi-Fi)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62129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Mobility &amp; Roaming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Limited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547602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Security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High (less vulnerable to attacks)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0000"/>
                          </a:solidFill>
                        </a:rPr>
                        <a:t>Lower (prone to eavesdropping/hacking)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045979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Speed / Bandwidth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0B050"/>
                          </a:solidFill>
                        </a:rPr>
                        <a:t>Very High (up to 1 Gbps or more)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0000"/>
                          </a:solidFill>
                        </a:rPr>
                        <a:t>Moderate to 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248742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Delay (Latency)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308161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Reliability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Very 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Less reliable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802652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Flexibility to Change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Rigid setup, hard to reconfigure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Highly flexible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6229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Working Principle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CSMA/CD (Collision Detection)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CSMA/CA (Collision Avoidance)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532198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Interference / Fluctuations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Very 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High (affected by walls, devices, etc.)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83258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Installation Activity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Cumbersome; labor-intensive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Easy; minimal labor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528459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Installation Time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Long (due to cabling, physical setup)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Quick deployment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118237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Connection Type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Usually Dedicated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Shared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184121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B050"/>
                          </a:solidFill>
                        </a:rPr>
                        <a:t>Installation Cost</a:t>
                      </a:r>
                      <a:endParaRPr lang="en-US" sz="1400">
                        <a:solidFill>
                          <a:srgbClr val="00B05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High (cables, labor, devices)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269610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B050"/>
                          </a:solidFill>
                        </a:rPr>
                        <a:t>Maintenance Cost</a:t>
                      </a:r>
                      <a:endParaRPr lang="en-US" sz="1400">
                        <a:solidFill>
                          <a:srgbClr val="00B05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163343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Related Equipment</a:t>
                      </a:r>
                      <a:endParaRPr lang="en-US" sz="1400" dirty="0">
                        <a:solidFill>
                          <a:srgbClr val="00B05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Router, Switch, Hub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Wireless Router, Access Point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29206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Key Benefits ?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 speed, stable, secure, noise-immune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Cable-free, mobile-friendly, easy to install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366638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3F1394A-F2EB-6AD2-85FF-73CE562839C2}"/>
              </a:ext>
            </a:extLst>
          </p:cNvPr>
          <p:cNvSpPr/>
          <p:nvPr/>
        </p:nvSpPr>
        <p:spPr>
          <a:xfrm>
            <a:off x="2286000" y="6264149"/>
            <a:ext cx="6705600" cy="5938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CAC7AEA-C92B-C433-F58B-851CE37D1F8C}"/>
              </a:ext>
            </a:extLst>
          </p:cNvPr>
          <p:cNvSpPr txBox="1">
            <a:spLocks/>
          </p:cNvSpPr>
          <p:nvPr/>
        </p:nvSpPr>
        <p:spPr>
          <a:xfrm>
            <a:off x="409797" y="484440"/>
            <a:ext cx="8058785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1557732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7CD7F-A99B-40D6-6AA5-0EF710D73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17AF3DA-BE6D-2C1B-6032-F6A61759D1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Wired  Vs. Wireless Communication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BEEFE96-5C3E-9A24-E416-6F46C002C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632693"/>
              </p:ext>
            </p:extLst>
          </p:nvPr>
        </p:nvGraphicFramePr>
        <p:xfrm>
          <a:off x="152400" y="1297328"/>
          <a:ext cx="8915400" cy="530294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826476387"/>
                    </a:ext>
                  </a:extLst>
                </a:gridCol>
                <a:gridCol w="3219450">
                  <a:extLst>
                    <a:ext uri="{9D8B030D-6E8A-4147-A177-3AD203B41FA5}">
                      <a16:colId xmlns:a16="http://schemas.microsoft.com/office/drawing/2014/main" val="2274416540"/>
                    </a:ext>
                  </a:extLst>
                </a:gridCol>
                <a:gridCol w="3219450">
                  <a:extLst>
                    <a:ext uri="{9D8B030D-6E8A-4147-A177-3AD203B41FA5}">
                      <a16:colId xmlns:a16="http://schemas.microsoft.com/office/drawing/2014/main" val="3569307256"/>
                    </a:ext>
                  </a:extLst>
                </a:gridCol>
              </a:tblGrid>
              <a:tr h="18898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Parameter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Wired Network</a:t>
                      </a:r>
                      <a:endParaRPr lang="en-US" sz="140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Wireless Network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149675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Communication Medium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Copper, Fiber optic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Air (Radio Waves)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236377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Standard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IEEE 802.3 (Ethernet)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IEEE 802.11 family (Wi-Fi)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62129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Mobility &amp; Roaming</a:t>
                      </a:r>
                      <a:endParaRPr lang="en-US" sz="1400" dirty="0">
                        <a:solidFill>
                          <a:srgbClr val="00B05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Limited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547602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Security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High (less vulnerable to attacks)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0000"/>
                          </a:solidFill>
                        </a:rPr>
                        <a:t>Lower (prone to eavesdropping/hacking)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045979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Speed / Bandwidth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0B050"/>
                          </a:solidFill>
                        </a:rPr>
                        <a:t>Very High (up to 1 Gbps or more)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0000"/>
                          </a:solidFill>
                        </a:rPr>
                        <a:t>Moderate to 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248742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Delay (Latency)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308161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Reliability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Very 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Less reliable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802652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Flexibility to Change</a:t>
                      </a:r>
                      <a:endParaRPr lang="en-US" sz="1400" dirty="0">
                        <a:solidFill>
                          <a:srgbClr val="00B05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Rigid setup, hard to reconfigure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Highly flexible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6229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Working Principle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CSMA/CD (Collision Detection)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CSMA/CA (Collision Avoidance)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532198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Interference / Fluctuations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Very 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High (affected by walls, devices, etc.)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83258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Installation Activity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Cumbersome; labor-intensive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Easy; minimal labor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528459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Installation Time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Long (due to cabling, physical setup)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Quick deployment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118237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Connection Type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Usually Dedicated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Shared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184121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Installation Cost</a:t>
                      </a:r>
                      <a:endParaRPr lang="en-US" sz="1400" dirty="0">
                        <a:solidFill>
                          <a:srgbClr val="00B05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High (cables, labor, devices)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269610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Maintenance Cost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163343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Related Equipment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Router, Switch, Hub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Wireless Router, Access Point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29206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Key Benefits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7030A0"/>
                          </a:solidFill>
                        </a:rPr>
                        <a:t>High speed, stable, secure, noise-immune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7030A0"/>
                          </a:solidFill>
                        </a:rPr>
                        <a:t>Cable-free, mobile-friendly, easy to install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366638"/>
                  </a:ext>
                </a:extLst>
              </a:tr>
            </a:tbl>
          </a:graphicData>
        </a:graphic>
      </p:graphicFrame>
      <p:sp>
        <p:nvSpPr>
          <p:cNvPr id="3" name="object 2">
            <a:extLst>
              <a:ext uri="{FF2B5EF4-FFF2-40B4-BE49-F238E27FC236}">
                <a16:creationId xmlns:a16="http://schemas.microsoft.com/office/drawing/2014/main" id="{C8AA7C6E-3313-004D-B081-DCC957B5C9D0}"/>
              </a:ext>
            </a:extLst>
          </p:cNvPr>
          <p:cNvSpPr txBox="1">
            <a:spLocks/>
          </p:cNvSpPr>
          <p:nvPr/>
        </p:nvSpPr>
        <p:spPr>
          <a:xfrm>
            <a:off x="409797" y="484440"/>
            <a:ext cx="8058785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227967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5E08B-B4CD-76CC-94F7-2715BA79F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7D7EF963-B272-F3BE-3AED-F10E7BF866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Wired  Vs. Wireless Communication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6482B8-0AC6-2258-5255-A4DDA2EF3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507679"/>
              </p:ext>
            </p:extLst>
          </p:nvPr>
        </p:nvGraphicFramePr>
        <p:xfrm>
          <a:off x="152400" y="1297328"/>
          <a:ext cx="8229600" cy="555762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826476387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27441654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3569307256"/>
                    </a:ext>
                  </a:extLst>
                </a:gridCol>
              </a:tblGrid>
              <a:tr h="18898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Parameter</a:t>
                      </a:r>
                      <a:endParaRPr lang="en-US" sz="140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Wired Network</a:t>
                      </a:r>
                      <a:endParaRPr lang="en-US" sz="140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Wireless Network</a:t>
                      </a:r>
                      <a:endParaRPr lang="en-US" sz="1400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149675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Communication Medium</a:t>
                      </a:r>
                      <a:endParaRPr lang="en-US" sz="140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Copper, Fiber optic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Air (Radio Waves)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236377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Standard</a:t>
                      </a:r>
                      <a:endParaRPr lang="en-US" sz="1400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IEEE 802.3 (Ethernet)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IEEE 802.11 family (Wi-Fi)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62129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Mobility &amp; Roaming</a:t>
                      </a:r>
                      <a:endParaRPr lang="en-US" sz="1400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Limited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547602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Security</a:t>
                      </a:r>
                      <a:endParaRPr lang="en-US" sz="1400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High (less vulnerable to attacks)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Lower (prone to eavesdropping/hacking)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045979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Speed / Bandwidth</a:t>
                      </a:r>
                      <a:endParaRPr lang="en-US" sz="1400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Very High (up to 1 Gbps or more)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Moderate to 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248742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Delay (Latency)</a:t>
                      </a:r>
                      <a:endParaRPr lang="en-US" sz="1400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308161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Reliability</a:t>
                      </a:r>
                      <a:endParaRPr lang="en-US" sz="1400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Very 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Less reliable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802652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Flexibility to Change</a:t>
                      </a:r>
                      <a:endParaRPr lang="en-US" sz="1400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Rigid setup, hard to reconfigure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Highly flexible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6229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Working Principle</a:t>
                      </a:r>
                      <a:endParaRPr lang="en-US" sz="1400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CSMA/CD (Collision Detection)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CSMA/CA (Collision Avoidance)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532198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Interference / Fluctuations</a:t>
                      </a:r>
                      <a:endParaRPr lang="en-US" sz="1400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Very 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High (affected by walls, devices, etc.)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83258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Installation Activity</a:t>
                      </a:r>
                      <a:endParaRPr lang="en-US" sz="1400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Cumbersome; labor-intensive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Easy; minimal labor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528459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Installation Time</a:t>
                      </a:r>
                      <a:endParaRPr lang="en-US" sz="1400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Long (due to cabling, physical setup)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Quick deployment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118237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Connection Type</a:t>
                      </a:r>
                      <a:endParaRPr lang="en-US" sz="1400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Usually Dedicated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Shared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184121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Installation Cost</a:t>
                      </a:r>
                      <a:endParaRPr lang="en-US" sz="1400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High (cables, labor, devices)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269610"/>
                  </a:ext>
                </a:extLst>
              </a:tr>
              <a:tr h="18898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Maintenance Cost</a:t>
                      </a:r>
                      <a:endParaRPr lang="en-US" sz="140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High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Low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163343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Related Equipment</a:t>
                      </a:r>
                      <a:endParaRPr lang="en-US" sz="1400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Router, Switch, Hub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Wireless Router, Access Point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29206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Key Benefits</a:t>
                      </a:r>
                      <a:endParaRPr lang="en-US" sz="1400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High speed, stable, secure, noise-immune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Cable-free, mobile-friendly, easy to install</a:t>
                      </a:r>
                    </a:p>
                  </a:txBody>
                  <a:tcPr marL="33461" marR="33461" marT="16730" marB="167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36663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73119A9-457F-8457-6667-8007C7B13248}"/>
              </a:ext>
            </a:extLst>
          </p:cNvPr>
          <p:cNvSpPr txBox="1"/>
          <p:nvPr/>
        </p:nvSpPr>
        <p:spPr>
          <a:xfrm>
            <a:off x="0" y="3200400"/>
            <a:ext cx="9144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FF0000"/>
                </a:solidFill>
              </a:rPr>
              <a:t>How to Address These Limitations of Wireless Networks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B050"/>
                </a:solidFill>
              </a:rPr>
              <a:t>to Boost Communication Performance?</a:t>
            </a:r>
          </a:p>
          <a:p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7A84D93A-3C7D-B493-3B24-16F6CD19E495}"/>
              </a:ext>
            </a:extLst>
          </p:cNvPr>
          <p:cNvSpPr txBox="1">
            <a:spLocks/>
          </p:cNvSpPr>
          <p:nvPr/>
        </p:nvSpPr>
        <p:spPr>
          <a:xfrm>
            <a:off x="409797" y="484440"/>
            <a:ext cx="8058785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03979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A475F89-F82D-A729-FE74-5DF9E33F8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458" name="Rectangle 2">
            <a:extLst>
              <a:ext uri="{FF2B5EF4-FFF2-40B4-BE49-F238E27FC236}">
                <a16:creationId xmlns:a16="http://schemas.microsoft.com/office/drawing/2014/main" id="{20FA058B-8B08-9F9E-2199-B27914D3AB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7856855" cy="574040"/>
          </a:xfrm>
        </p:spPr>
        <p:txBody>
          <a:bodyPr wrap="square">
            <a:normAutofit fontScale="9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rgbClr val="FF0000"/>
                </a:solidFill>
              </a:rPr>
              <a:t>What Are the Limitations of Wireless Communications?</a:t>
            </a:r>
          </a:p>
        </p:txBody>
      </p:sp>
      <p:sp>
        <p:nvSpPr>
          <p:cNvPr id="2" name="Slide Number Placeholder 3" hidden="1">
            <a:extLst>
              <a:ext uri="{FF2B5EF4-FFF2-40B4-BE49-F238E27FC236}">
                <a16:creationId xmlns:a16="http://schemas.microsoft.com/office/drawing/2014/main" id="{C67D26B4-5D5D-77DF-E06A-310EA10B2D4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001000" y="6324600"/>
            <a:ext cx="914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8E070A7F-66AF-4115-B2A5-9F957739B3E0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1794183-AA33-63C6-7050-187AE26D92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824605"/>
              </p:ext>
            </p:extLst>
          </p:nvPr>
        </p:nvGraphicFramePr>
        <p:xfrm>
          <a:off x="466344" y="4370675"/>
          <a:ext cx="8151273" cy="488098"/>
        </p:xfrm>
        <a:graphic>
          <a:graphicData uri="http://schemas.openxmlformats.org/drawingml/2006/table">
            <a:tbl>
              <a:tblPr/>
              <a:tblGrid>
                <a:gridCol w="2960434">
                  <a:extLst>
                    <a:ext uri="{9D8B030D-6E8A-4147-A177-3AD203B41FA5}">
                      <a16:colId xmlns:a16="http://schemas.microsoft.com/office/drawing/2014/main" val="1182802635"/>
                    </a:ext>
                  </a:extLst>
                </a:gridCol>
                <a:gridCol w="5190839">
                  <a:extLst>
                    <a:ext uri="{9D8B030D-6E8A-4147-A177-3AD203B41FA5}">
                      <a16:colId xmlns:a16="http://schemas.microsoft.com/office/drawing/2014/main" val="719837921"/>
                    </a:ext>
                  </a:extLst>
                </a:gridCol>
              </a:tblGrid>
              <a:tr h="3410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Power Constraints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78" marR="61378" marT="30689" marB="306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Battery-operated devices must optimize transmission to save power.</a:t>
                      </a:r>
                    </a:p>
                  </a:txBody>
                  <a:tcPr marL="61378" marR="61378" marT="30689" marB="306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28752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147CB2-D19C-C361-9C09-FFB8EA8DB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887604"/>
              </p:ext>
            </p:extLst>
          </p:nvPr>
        </p:nvGraphicFramePr>
        <p:xfrm>
          <a:off x="457200" y="1515095"/>
          <a:ext cx="8151273" cy="849323"/>
        </p:xfrm>
        <a:graphic>
          <a:graphicData uri="http://schemas.openxmlformats.org/drawingml/2006/table">
            <a:tbl>
              <a:tblPr/>
              <a:tblGrid>
                <a:gridCol w="2960434">
                  <a:extLst>
                    <a:ext uri="{9D8B030D-6E8A-4147-A177-3AD203B41FA5}">
                      <a16:colId xmlns:a16="http://schemas.microsoft.com/office/drawing/2014/main" val="2210881140"/>
                    </a:ext>
                  </a:extLst>
                </a:gridCol>
                <a:gridCol w="5190839">
                  <a:extLst>
                    <a:ext uri="{9D8B030D-6E8A-4147-A177-3AD203B41FA5}">
                      <a16:colId xmlns:a16="http://schemas.microsoft.com/office/drawing/2014/main" val="38465330"/>
                    </a:ext>
                  </a:extLst>
                </a:gridCol>
              </a:tblGrid>
              <a:tr h="2430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Limitation</a:t>
                      </a:r>
                    </a:p>
                  </a:txBody>
                  <a:tcPr marL="61378" marR="61378" marT="30689" marB="306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</a:p>
                  </a:txBody>
                  <a:tcPr marL="61378" marR="61378" marT="30689" marB="306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058391"/>
                  </a:ext>
                </a:extLst>
              </a:tr>
              <a:tr h="5745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dirty="0"/>
                        <a:t>Susceptible to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Interference</a:t>
                      </a:r>
                      <a:r>
                        <a:rPr lang="en-US" sz="1400" dirty="0"/>
                        <a:t> 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78" marR="61378" marT="30689" marB="306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From other wireless devices or physical obstacles (walls, appliances).</a:t>
                      </a:r>
                    </a:p>
                  </a:txBody>
                  <a:tcPr marL="61378" marR="61378" marT="30689" marB="306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328316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009CB89-F2BC-2959-81A6-7A380363B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006918"/>
              </p:ext>
            </p:extLst>
          </p:nvPr>
        </p:nvGraphicFramePr>
        <p:xfrm>
          <a:off x="420624" y="2341285"/>
          <a:ext cx="8151273" cy="574585"/>
        </p:xfrm>
        <a:graphic>
          <a:graphicData uri="http://schemas.openxmlformats.org/drawingml/2006/table">
            <a:tbl>
              <a:tblPr/>
              <a:tblGrid>
                <a:gridCol w="2960434">
                  <a:extLst>
                    <a:ext uri="{9D8B030D-6E8A-4147-A177-3AD203B41FA5}">
                      <a16:colId xmlns:a16="http://schemas.microsoft.com/office/drawing/2014/main" val="468174223"/>
                    </a:ext>
                  </a:extLst>
                </a:gridCol>
                <a:gridCol w="5190839">
                  <a:extLst>
                    <a:ext uri="{9D8B030D-6E8A-4147-A177-3AD203B41FA5}">
                      <a16:colId xmlns:a16="http://schemas.microsoft.com/office/drawing/2014/main" val="9156277"/>
                    </a:ext>
                  </a:extLst>
                </a:gridCol>
              </a:tblGrid>
              <a:tr h="5745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Signal </a:t>
                      </a: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Attenuation</a:t>
                      </a: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 &amp; Fading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78" marR="61378" marT="30689" marB="306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Signals weaken over distance and vary due to multipath propagation.</a:t>
                      </a:r>
                    </a:p>
                  </a:txBody>
                  <a:tcPr marL="61378" marR="61378" marT="30689" marB="306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84942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62FB0B4-FE6A-CBFD-64A6-292956B651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13546"/>
              </p:ext>
            </p:extLst>
          </p:nvPr>
        </p:nvGraphicFramePr>
        <p:xfrm>
          <a:off x="435864" y="2927608"/>
          <a:ext cx="8151273" cy="574585"/>
        </p:xfrm>
        <a:graphic>
          <a:graphicData uri="http://schemas.openxmlformats.org/drawingml/2006/table">
            <a:tbl>
              <a:tblPr/>
              <a:tblGrid>
                <a:gridCol w="2960434">
                  <a:extLst>
                    <a:ext uri="{9D8B030D-6E8A-4147-A177-3AD203B41FA5}">
                      <a16:colId xmlns:a16="http://schemas.microsoft.com/office/drawing/2014/main" val="312777083"/>
                    </a:ext>
                  </a:extLst>
                </a:gridCol>
                <a:gridCol w="5190839">
                  <a:extLst>
                    <a:ext uri="{9D8B030D-6E8A-4147-A177-3AD203B41FA5}">
                      <a16:colId xmlns:a16="http://schemas.microsoft.com/office/drawing/2014/main" val="275042025"/>
                    </a:ext>
                  </a:extLst>
                </a:gridCol>
              </a:tblGrid>
              <a:tr h="5745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Bandwidth</a:t>
                      </a: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 Limitations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78" marR="61378" marT="30689" marB="306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Shared medium leads to congestion and reduced throughput.</a:t>
                      </a:r>
                    </a:p>
                  </a:txBody>
                  <a:tcPr marL="61378" marR="61378" marT="30689" marB="306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9075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24224A3-D6F8-B5A3-DE6B-B2C6C6E5F7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379956"/>
              </p:ext>
            </p:extLst>
          </p:nvPr>
        </p:nvGraphicFramePr>
        <p:xfrm>
          <a:off x="496363" y="5064215"/>
          <a:ext cx="8151273" cy="574585"/>
        </p:xfrm>
        <a:graphic>
          <a:graphicData uri="http://schemas.openxmlformats.org/drawingml/2006/table">
            <a:tbl>
              <a:tblPr/>
              <a:tblGrid>
                <a:gridCol w="2960434">
                  <a:extLst>
                    <a:ext uri="{9D8B030D-6E8A-4147-A177-3AD203B41FA5}">
                      <a16:colId xmlns:a16="http://schemas.microsoft.com/office/drawing/2014/main" val="3734184276"/>
                    </a:ext>
                  </a:extLst>
                </a:gridCol>
                <a:gridCol w="5190839">
                  <a:extLst>
                    <a:ext uri="{9D8B030D-6E8A-4147-A177-3AD203B41FA5}">
                      <a16:colId xmlns:a16="http://schemas.microsoft.com/office/drawing/2014/main" val="3404769193"/>
                    </a:ext>
                  </a:extLst>
                </a:gridCol>
              </a:tblGrid>
              <a:tr h="5745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Security</a:t>
                      </a: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 Vulnerabilities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78" marR="61378" marT="30689" marB="306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Easier to intercept or attack (e.g., spoofing, eavesdropping).</a:t>
                      </a:r>
                    </a:p>
                  </a:txBody>
                  <a:tcPr marL="61378" marR="61378" marT="30689" marB="306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54024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3201501-095D-32F8-7A56-2931FE6CCC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567326"/>
              </p:ext>
            </p:extLst>
          </p:nvPr>
        </p:nvGraphicFramePr>
        <p:xfrm>
          <a:off x="438912" y="3622746"/>
          <a:ext cx="8151273" cy="488098"/>
        </p:xfrm>
        <a:graphic>
          <a:graphicData uri="http://schemas.openxmlformats.org/drawingml/2006/table">
            <a:tbl>
              <a:tblPr/>
              <a:tblGrid>
                <a:gridCol w="2960434">
                  <a:extLst>
                    <a:ext uri="{9D8B030D-6E8A-4147-A177-3AD203B41FA5}">
                      <a16:colId xmlns:a16="http://schemas.microsoft.com/office/drawing/2014/main" val="3531056689"/>
                    </a:ext>
                  </a:extLst>
                </a:gridCol>
                <a:gridCol w="5190839">
                  <a:extLst>
                    <a:ext uri="{9D8B030D-6E8A-4147-A177-3AD203B41FA5}">
                      <a16:colId xmlns:a16="http://schemas.microsoft.com/office/drawing/2014/main" val="3426366194"/>
                    </a:ext>
                  </a:extLst>
                </a:gridCol>
              </a:tblGrid>
              <a:tr h="3410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Mobility-Induced Handover </a:t>
                      </a: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Delays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378" marR="61378" marT="30689" marB="306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Switching between access points can cause latency or packet loss.</a:t>
                      </a:r>
                    </a:p>
                  </a:txBody>
                  <a:tcPr marL="61378" marR="61378" marT="30689" marB="306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306975"/>
                  </a:ext>
                </a:extLst>
              </a:tr>
            </a:tbl>
          </a:graphicData>
        </a:graphic>
      </p:graphicFrame>
      <p:sp>
        <p:nvSpPr>
          <p:cNvPr id="5" name="object 2">
            <a:extLst>
              <a:ext uri="{FF2B5EF4-FFF2-40B4-BE49-F238E27FC236}">
                <a16:creationId xmlns:a16="http://schemas.microsoft.com/office/drawing/2014/main" id="{3D833ADB-CB97-C47B-A55F-5DF0DCD6EFE6}"/>
              </a:ext>
            </a:extLst>
          </p:cNvPr>
          <p:cNvSpPr txBox="1">
            <a:spLocks/>
          </p:cNvSpPr>
          <p:nvPr/>
        </p:nvSpPr>
        <p:spPr>
          <a:xfrm>
            <a:off x="300530" y="175558"/>
            <a:ext cx="8237839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568855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42324-436E-870C-1E75-FC8644138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A0A4B3E-5DCC-ECF5-AFF6-D8812E7A75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6425" y="228600"/>
            <a:ext cx="8308975" cy="1107996"/>
          </a:xfrm>
        </p:spPr>
        <p:txBody>
          <a:bodyPr/>
          <a:lstStyle/>
          <a:p>
            <a:r>
              <a:rPr lang="en-US" dirty="0"/>
              <a:t>Embracing Wireless: Key Motivations</a:t>
            </a:r>
            <a:endParaRPr lang="en-US" altLang="en-US" dirty="0"/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03D6C4F2-2227-8B0C-D335-1BF00F6BF4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0062" y="1524001"/>
            <a:ext cx="8143875" cy="1877437"/>
          </a:xfrm>
        </p:spPr>
        <p:txBody>
          <a:bodyPr/>
          <a:lstStyle/>
          <a:p>
            <a:pPr>
              <a:buFont typeface="Webdings" panose="05030102010509060703" pitchFamily="18" charset="2"/>
              <a:buNone/>
            </a:pPr>
            <a:r>
              <a:rPr lang="en-US" altLang="en-US" sz="2000" b="1" kern="1200" dirty="0">
                <a:solidFill>
                  <a:srgbClr val="00B050"/>
                </a:solidFill>
                <a:latin typeface="+mn-lt"/>
                <a:cs typeface="+mn-cs"/>
              </a:rPr>
              <a:t>Advantages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Eliminates the need for physical cabling in difficult or remote areas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Enables </a:t>
            </a:r>
            <a:r>
              <a:rPr lang="en-US" altLang="en-US" sz="1800" b="1" dirty="0">
                <a:solidFill>
                  <a:srgbClr val="00B050"/>
                </a:solidFill>
                <a:latin typeface="Arial" panose="020B0604020202020204" pitchFamily="34" charset="0"/>
              </a:rPr>
              <a:t>user mobility</a:t>
            </a:r>
            <a:r>
              <a:rPr lang="en-US" altLang="en-US" sz="1800" dirty="0">
                <a:solidFill>
                  <a:srgbClr val="00B05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and flexible access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B050"/>
                </a:solidFill>
                <a:latin typeface="Arial" panose="020B0604020202020204" pitchFamily="34" charset="0"/>
              </a:rPr>
              <a:t>Lower installation cost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in many environments</a:t>
            </a:r>
          </a:p>
          <a:p>
            <a:pPr algn="l" rtl="0"/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buFont typeface="Webdings" panose="05030102010509060703" pitchFamily="18" charset="2"/>
              <a:buNone/>
            </a:pPr>
            <a:endParaRPr lang="en-US" altLang="en-US" sz="2400" b="1" kern="1200" dirty="0">
              <a:solidFill>
                <a:srgbClr val="00B050"/>
              </a:solidFill>
              <a:latin typeface="+mn-lt"/>
              <a:cs typeface="+mn-cs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54737A16-4942-E0BD-84C0-83BB53E9EF33}"/>
              </a:ext>
            </a:extLst>
          </p:cNvPr>
          <p:cNvSpPr txBox="1">
            <a:spLocks/>
          </p:cNvSpPr>
          <p:nvPr/>
        </p:nvSpPr>
        <p:spPr>
          <a:xfrm>
            <a:off x="470010" y="228600"/>
            <a:ext cx="8581803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162573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82476A2-BE1F-8C77-27A3-67008FC4A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 hidden="1">
            <a:extLst>
              <a:ext uri="{FF2B5EF4-FFF2-40B4-BE49-F238E27FC236}">
                <a16:creationId xmlns:a16="http://schemas.microsoft.com/office/drawing/2014/main" id="{B4AB94A8-72CB-9A18-ED1F-86475346218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001000" y="6324600"/>
            <a:ext cx="914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b="1" kern="120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8E070A7F-66AF-4115-B2A5-9F957739B3E0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7438155-027D-9376-0563-F09E8C761983}"/>
              </a:ext>
            </a:extLst>
          </p:cNvPr>
          <p:cNvSpPr txBox="1">
            <a:spLocks noChangeArrowheads="1"/>
          </p:cNvSpPr>
          <p:nvPr/>
        </p:nvSpPr>
        <p:spPr>
          <a:xfrm>
            <a:off x="393192" y="228600"/>
            <a:ext cx="7772400" cy="70866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sz="3200" b="0" i="0">
                <a:solidFill>
                  <a:srgbClr val="7F7F7F"/>
                </a:solidFill>
                <a:latin typeface="Arial MT"/>
                <a:ea typeface="+mn-ea"/>
                <a:cs typeface="Arial MT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How to Address These Limitations to Boost Communication Performance?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875BCDC-2687-AB89-A922-15750667E8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325550"/>
              </p:ext>
            </p:extLst>
          </p:nvPr>
        </p:nvGraphicFramePr>
        <p:xfrm>
          <a:off x="457200" y="1452753"/>
          <a:ext cx="8686800" cy="1164935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3377575207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382242722"/>
                    </a:ext>
                  </a:extLst>
                </a:gridCol>
              </a:tblGrid>
              <a:tr h="359687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0070C0"/>
                          </a:solidFill>
                        </a:rPr>
                        <a:t>Challenge</a:t>
                      </a:r>
                    </a:p>
                  </a:txBody>
                  <a:tcPr marL="70336" marR="70336" marT="35168" marB="35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0070C0"/>
                          </a:solidFill>
                        </a:rPr>
                        <a:t>Solutions</a:t>
                      </a:r>
                      <a:endParaRPr lang="en-US" sz="1600" b="1" dirty="0">
                        <a:solidFill>
                          <a:srgbClr val="0070C0"/>
                        </a:solidFill>
                      </a:endParaRPr>
                    </a:p>
                  </a:txBody>
                  <a:tcPr marL="70336" marR="70336" marT="35168" marB="35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128663"/>
                  </a:ext>
                </a:extLst>
              </a:tr>
              <a:tr h="805248">
                <a:tc>
                  <a:txBody>
                    <a:bodyPr/>
                    <a:lstStyle/>
                    <a:p>
                      <a:r>
                        <a:rPr lang="en-US" sz="1600" b="1" dirty="0"/>
                        <a:t>Interference</a:t>
                      </a:r>
                      <a:endParaRPr lang="en-US" sz="1600" dirty="0"/>
                    </a:p>
                  </a:txBody>
                  <a:tcPr marL="70336" marR="70336" marT="35168" marB="35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 </a:t>
                      </a:r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directional antennas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adaptive frequency selection</a:t>
                      </a:r>
                      <a:r>
                        <a:rPr lang="en-US" sz="1600" dirty="0"/>
                        <a:t>, and smart AP placement.</a:t>
                      </a:r>
                    </a:p>
                  </a:txBody>
                  <a:tcPr marL="70336" marR="70336" marT="35168" marB="35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67202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48E1086-DEAB-48BE-7815-0431D6CAC8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64122"/>
              </p:ext>
            </p:extLst>
          </p:nvPr>
        </p:nvGraphicFramePr>
        <p:xfrm>
          <a:off x="408432" y="2617688"/>
          <a:ext cx="8522208" cy="563674"/>
        </p:xfrm>
        <a:graphic>
          <a:graphicData uri="http://schemas.openxmlformats.org/drawingml/2006/table">
            <a:tbl>
              <a:tblPr/>
              <a:tblGrid>
                <a:gridCol w="1877568">
                  <a:extLst>
                    <a:ext uri="{9D8B030D-6E8A-4147-A177-3AD203B41FA5}">
                      <a16:colId xmlns:a16="http://schemas.microsoft.com/office/drawing/2014/main" val="1587789310"/>
                    </a:ext>
                  </a:extLst>
                </a:gridCol>
                <a:gridCol w="6644640">
                  <a:extLst>
                    <a:ext uri="{9D8B030D-6E8A-4147-A177-3AD203B41FA5}">
                      <a16:colId xmlns:a16="http://schemas.microsoft.com/office/drawing/2014/main" val="1328879371"/>
                    </a:ext>
                  </a:extLst>
                </a:gridCol>
              </a:tblGrid>
              <a:tr h="563674">
                <a:tc>
                  <a:txBody>
                    <a:bodyPr/>
                    <a:lstStyle/>
                    <a:p>
                      <a:r>
                        <a:rPr lang="en-US" sz="1600" b="1" dirty="0"/>
                        <a:t>Signal Attenuation</a:t>
                      </a:r>
                      <a:endParaRPr lang="en-US" sz="1600" dirty="0"/>
                    </a:p>
                  </a:txBody>
                  <a:tcPr marL="70336" marR="70336" marT="35168" marB="35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Deploy </a:t>
                      </a:r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MIMO, repeaters</a:t>
                      </a:r>
                      <a:r>
                        <a:rPr lang="en-US" sz="1600" dirty="0"/>
                        <a:t>, and mesh networks for better coverage.</a:t>
                      </a:r>
                    </a:p>
                  </a:txBody>
                  <a:tcPr marL="70336" marR="70336" marT="35168" marB="35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92416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E3E1274-3B24-9B88-7FCF-A0DB19B635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363159"/>
              </p:ext>
            </p:extLst>
          </p:nvPr>
        </p:nvGraphicFramePr>
        <p:xfrm>
          <a:off x="393192" y="3200155"/>
          <a:ext cx="8522208" cy="563674"/>
        </p:xfrm>
        <a:graphic>
          <a:graphicData uri="http://schemas.openxmlformats.org/drawingml/2006/table">
            <a:tbl>
              <a:tblPr/>
              <a:tblGrid>
                <a:gridCol w="1892808">
                  <a:extLst>
                    <a:ext uri="{9D8B030D-6E8A-4147-A177-3AD203B41FA5}">
                      <a16:colId xmlns:a16="http://schemas.microsoft.com/office/drawing/2014/main" val="1696497188"/>
                    </a:ext>
                  </a:extLst>
                </a:gridCol>
                <a:gridCol w="6629400">
                  <a:extLst>
                    <a:ext uri="{9D8B030D-6E8A-4147-A177-3AD203B41FA5}">
                      <a16:colId xmlns:a16="http://schemas.microsoft.com/office/drawing/2014/main" val="1057953899"/>
                    </a:ext>
                  </a:extLst>
                </a:gridCol>
              </a:tblGrid>
              <a:tr h="563674">
                <a:tc>
                  <a:txBody>
                    <a:bodyPr/>
                    <a:lstStyle/>
                    <a:p>
                      <a:r>
                        <a:rPr lang="en-US" sz="1600" b="1" dirty="0"/>
                        <a:t>Bandwidth Sharing</a:t>
                      </a:r>
                      <a:endParaRPr lang="en-US" sz="1600" dirty="0"/>
                    </a:p>
                  </a:txBody>
                  <a:tcPr marL="70336" marR="70336" marT="35168" marB="35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Cognitive Radio </a:t>
                      </a:r>
                      <a:r>
                        <a:rPr lang="en-US" sz="1600" dirty="0"/>
                        <a:t>for Spectrum Sharing, Apply </a:t>
                      </a:r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QoS</a:t>
                      </a:r>
                      <a:r>
                        <a:rPr lang="en-US" sz="1600" dirty="0"/>
                        <a:t> (Quality of Service)</a:t>
                      </a:r>
                    </a:p>
                  </a:txBody>
                  <a:tcPr marL="70336" marR="70336" marT="35168" marB="35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99319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4A7B824-594B-9023-537F-36E3F4587A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439584"/>
              </p:ext>
            </p:extLst>
          </p:nvPr>
        </p:nvGraphicFramePr>
        <p:xfrm>
          <a:off x="429768" y="3814953"/>
          <a:ext cx="8522208" cy="638850"/>
        </p:xfrm>
        <a:graphic>
          <a:graphicData uri="http://schemas.openxmlformats.org/drawingml/2006/table">
            <a:tbl>
              <a:tblPr/>
              <a:tblGrid>
                <a:gridCol w="1856232">
                  <a:extLst>
                    <a:ext uri="{9D8B030D-6E8A-4147-A177-3AD203B41FA5}">
                      <a16:colId xmlns:a16="http://schemas.microsoft.com/office/drawing/2014/main" val="950121045"/>
                    </a:ext>
                  </a:extLst>
                </a:gridCol>
                <a:gridCol w="6665976">
                  <a:extLst>
                    <a:ext uri="{9D8B030D-6E8A-4147-A177-3AD203B41FA5}">
                      <a16:colId xmlns:a16="http://schemas.microsoft.com/office/drawing/2014/main" val="2468186118"/>
                    </a:ext>
                  </a:extLst>
                </a:gridCol>
              </a:tblGrid>
              <a:tr h="638850">
                <a:tc>
                  <a:txBody>
                    <a:bodyPr/>
                    <a:lstStyle/>
                    <a:p>
                      <a:r>
                        <a:rPr lang="en-US" sz="1600" b="1" dirty="0"/>
                        <a:t>Handover Delays</a:t>
                      </a:r>
                      <a:endParaRPr lang="en-US" sz="1600" dirty="0"/>
                    </a:p>
                  </a:txBody>
                  <a:tcPr marL="70336" marR="70336" marT="35168" marB="35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 </a:t>
                      </a:r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fast handoff techniques </a:t>
                      </a:r>
                      <a:r>
                        <a:rPr lang="en-US" sz="1600" dirty="0"/>
                        <a:t>and mobile IP support for seamless mobility.</a:t>
                      </a:r>
                    </a:p>
                  </a:txBody>
                  <a:tcPr marL="70336" marR="70336" marT="35168" marB="35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88999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A8A33F0-4DF7-0A05-9B13-65E969AD8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10374"/>
              </p:ext>
            </p:extLst>
          </p:nvPr>
        </p:nvGraphicFramePr>
        <p:xfrm>
          <a:off x="429768" y="4453803"/>
          <a:ext cx="8522208" cy="563674"/>
        </p:xfrm>
        <a:graphic>
          <a:graphicData uri="http://schemas.openxmlformats.org/drawingml/2006/table">
            <a:tbl>
              <a:tblPr/>
              <a:tblGrid>
                <a:gridCol w="1856232">
                  <a:extLst>
                    <a:ext uri="{9D8B030D-6E8A-4147-A177-3AD203B41FA5}">
                      <a16:colId xmlns:a16="http://schemas.microsoft.com/office/drawing/2014/main" val="1597817101"/>
                    </a:ext>
                  </a:extLst>
                </a:gridCol>
                <a:gridCol w="6665976">
                  <a:extLst>
                    <a:ext uri="{9D8B030D-6E8A-4147-A177-3AD203B41FA5}">
                      <a16:colId xmlns:a16="http://schemas.microsoft.com/office/drawing/2014/main" val="3082075552"/>
                    </a:ext>
                  </a:extLst>
                </a:gridCol>
              </a:tblGrid>
              <a:tr h="563674">
                <a:tc>
                  <a:txBody>
                    <a:bodyPr/>
                    <a:lstStyle/>
                    <a:p>
                      <a:r>
                        <a:rPr lang="en-US" sz="1600" b="1" dirty="0"/>
                        <a:t>Power Efficiency</a:t>
                      </a:r>
                      <a:endParaRPr lang="en-US" sz="1600" dirty="0"/>
                    </a:p>
                  </a:txBody>
                  <a:tcPr marL="70336" marR="70336" marT="35168" marB="35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 </a:t>
                      </a:r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energy-aware</a:t>
                      </a:r>
                      <a:r>
                        <a:rPr lang="en-US" sz="1600" dirty="0"/>
                        <a:t> MAC </a:t>
                      </a:r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protocols</a:t>
                      </a:r>
                      <a:r>
                        <a:rPr lang="en-US" sz="1600" dirty="0"/>
                        <a:t> and sleep cycles.</a:t>
                      </a:r>
                    </a:p>
                  </a:txBody>
                  <a:tcPr marL="70336" marR="70336" marT="35168" marB="35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5720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F117381-4B62-2EA5-8C2A-4C7773798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685716"/>
              </p:ext>
            </p:extLst>
          </p:nvPr>
        </p:nvGraphicFramePr>
        <p:xfrm>
          <a:off x="429768" y="5075126"/>
          <a:ext cx="8522208" cy="563674"/>
        </p:xfrm>
        <a:graphic>
          <a:graphicData uri="http://schemas.openxmlformats.org/drawingml/2006/table">
            <a:tbl>
              <a:tblPr/>
              <a:tblGrid>
                <a:gridCol w="1856232">
                  <a:extLst>
                    <a:ext uri="{9D8B030D-6E8A-4147-A177-3AD203B41FA5}">
                      <a16:colId xmlns:a16="http://schemas.microsoft.com/office/drawing/2014/main" val="3792451883"/>
                    </a:ext>
                  </a:extLst>
                </a:gridCol>
                <a:gridCol w="6665976">
                  <a:extLst>
                    <a:ext uri="{9D8B030D-6E8A-4147-A177-3AD203B41FA5}">
                      <a16:colId xmlns:a16="http://schemas.microsoft.com/office/drawing/2014/main" val="1596286664"/>
                    </a:ext>
                  </a:extLst>
                </a:gridCol>
              </a:tblGrid>
              <a:tr h="563674">
                <a:tc>
                  <a:txBody>
                    <a:bodyPr/>
                    <a:lstStyle/>
                    <a:p>
                      <a:r>
                        <a:rPr lang="en-US" sz="1600" b="1" dirty="0"/>
                        <a:t>Security Threats</a:t>
                      </a:r>
                      <a:endParaRPr lang="en-US" sz="1600" dirty="0"/>
                    </a:p>
                  </a:txBody>
                  <a:tcPr marL="70336" marR="70336" marT="35168" marB="35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Implement </a:t>
                      </a:r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WPA3, VPNs, firewalls</a:t>
                      </a:r>
                      <a:r>
                        <a:rPr lang="en-US" sz="1600" dirty="0"/>
                        <a:t>, and regular firmware updates.</a:t>
                      </a:r>
                    </a:p>
                  </a:txBody>
                  <a:tcPr marL="70336" marR="70336" marT="35168" marB="35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256501"/>
                  </a:ext>
                </a:extLst>
              </a:tr>
            </a:tbl>
          </a:graphicData>
        </a:graphic>
      </p:graphicFrame>
      <p:sp>
        <p:nvSpPr>
          <p:cNvPr id="11" name="object 2">
            <a:extLst>
              <a:ext uri="{FF2B5EF4-FFF2-40B4-BE49-F238E27FC236}">
                <a16:creationId xmlns:a16="http://schemas.microsoft.com/office/drawing/2014/main" id="{7E9BDA9A-C378-3630-3415-DDE2209445B6}"/>
              </a:ext>
            </a:extLst>
          </p:cNvPr>
          <p:cNvSpPr txBox="1">
            <a:spLocks/>
          </p:cNvSpPr>
          <p:nvPr/>
        </p:nvSpPr>
        <p:spPr>
          <a:xfrm>
            <a:off x="281098" y="67454"/>
            <a:ext cx="8581803" cy="695325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1866038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1">
            <a:extLst>
              <a:ext uri="{FF2B5EF4-FFF2-40B4-BE49-F238E27FC236}">
                <a16:creationId xmlns:a16="http://schemas.microsoft.com/office/drawing/2014/main" id="{76B63240-01C7-D68E-0742-53ADD967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D887F38-74B1-4D88-99FC-D19695EFBFF2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7C971F-754E-A495-AF31-528608813C74}"/>
              </a:ext>
            </a:extLst>
          </p:cNvPr>
          <p:cNvSpPr txBox="1"/>
          <p:nvPr/>
        </p:nvSpPr>
        <p:spPr>
          <a:xfrm>
            <a:off x="338138" y="1049338"/>
            <a:ext cx="8586787" cy="12003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/>
                <a:ea typeface="SimSun" panose="02010600030101010101" pitchFamily="2" charset="-122"/>
                <a:cs typeface="+mn-cs"/>
              </a:rPr>
              <a:t>Wireless </a:t>
            </a:r>
            <a:r>
              <a:rPr kumimoji="0" lang="en-US" altLang="zh-CN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/>
                <a:ea typeface="SimSun" panose="02010600030101010101" pitchFamily="2" charset="-122"/>
                <a:cs typeface="+mn-cs"/>
              </a:rPr>
              <a:t>Wireless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mic Sans MS"/>
                <a:ea typeface="SimSun" panose="02010600030101010101" pitchFamily="2" charset="-122"/>
                <a:cs typeface="+mn-cs"/>
              </a:rPr>
              <a:t> links characteristics</a:t>
            </a:r>
          </a:p>
        </p:txBody>
      </p:sp>
      <p:pic>
        <p:nvPicPr>
          <p:cNvPr id="53252" name="Picture 23" descr="underline_base">
            <a:extLst>
              <a:ext uri="{FF2B5EF4-FFF2-40B4-BE49-F238E27FC236}">
                <a16:creationId xmlns:a16="http://schemas.microsoft.com/office/drawing/2014/main" id="{799397AB-460E-C90C-0316-D4CA641D7701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1670050"/>
            <a:ext cx="41132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Text Box 3">
            <a:extLst>
              <a:ext uri="{FF2B5EF4-FFF2-40B4-BE49-F238E27FC236}">
                <a16:creationId xmlns:a16="http://schemas.microsoft.com/office/drawing/2014/main" id="{7F9209AE-FC7C-2AB0-1596-4B854874B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5346700"/>
            <a:ext cx="762317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Char char="•"/>
            </a:pPr>
            <a:r>
              <a:rPr lang="en-US" altLang="en-US" sz="2000" dirty="0"/>
              <a:t>  </a:t>
            </a:r>
            <a:r>
              <a:rPr lang="en-US" altLang="en-US" sz="2000" dirty="0">
                <a:solidFill>
                  <a:srgbClr val="7030A0"/>
                </a:solidFill>
              </a:rPr>
              <a:t>How does signal propagate ?</a:t>
            </a:r>
          </a:p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Char char="•"/>
            </a:pPr>
            <a:r>
              <a:rPr lang="en-US" altLang="en-US" sz="2000" dirty="0">
                <a:solidFill>
                  <a:srgbClr val="7030A0"/>
                </a:solidFill>
              </a:rPr>
              <a:t>  How much attenuation take place ?</a:t>
            </a:r>
          </a:p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Char char="•"/>
            </a:pPr>
            <a:r>
              <a:rPr lang="en-US" altLang="en-US" sz="2000" dirty="0">
                <a:solidFill>
                  <a:srgbClr val="7030A0"/>
                </a:solidFill>
              </a:rPr>
              <a:t>  How does signal look like at the receiver ?</a:t>
            </a:r>
          </a:p>
        </p:txBody>
      </p:sp>
      <p:sp>
        <p:nvSpPr>
          <p:cNvPr id="40964" name="Rectangle 4">
            <a:extLst>
              <a:ext uri="{FF2B5EF4-FFF2-40B4-BE49-F238E27FC236}">
                <a16:creationId xmlns:a16="http://schemas.microsoft.com/office/drawing/2014/main" id="{95AB8997-7526-4C4F-62AE-543B1A88D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0675" y="3329980"/>
            <a:ext cx="5118100" cy="5429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965" name="Rectangle 5">
            <a:extLst>
              <a:ext uri="{FF2B5EF4-FFF2-40B4-BE49-F238E27FC236}">
                <a16:creationId xmlns:a16="http://schemas.microsoft.com/office/drawing/2014/main" id="{71930106-7B80-D3BD-2E28-250C971BF261}"/>
              </a:ext>
            </a:extLst>
          </p:cNvPr>
          <p:cNvSpPr>
            <a:spLocks noChangeArrowheads="1"/>
          </p:cNvSpPr>
          <p:nvPr/>
        </p:nvSpPr>
        <p:spPr bwMode="auto">
          <a:xfrm rot="20822875">
            <a:off x="4627563" y="2444155"/>
            <a:ext cx="663575" cy="29289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966" name="Rectangle 6">
            <a:extLst>
              <a:ext uri="{FF2B5EF4-FFF2-40B4-BE49-F238E27FC236}">
                <a16:creationId xmlns:a16="http://schemas.microsoft.com/office/drawing/2014/main" id="{D371C152-E646-1225-85C9-A252487DF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5238" y="2244130"/>
            <a:ext cx="438150" cy="10461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91240B29-F687-4F45-9708-019B960494DF}">
              <a14:hiddenLine xmlns:a14="http://schemas.microsoft.com/office/drawing/2010/main" w="12700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flatTx/>
          </a:bodyPr>
          <a:lstStyle/>
          <a:p>
            <a:endParaRPr lang="en-US"/>
          </a:p>
        </p:txBody>
      </p:sp>
      <p:sp>
        <p:nvSpPr>
          <p:cNvPr id="40967" name="Rectangle 7">
            <a:extLst>
              <a:ext uri="{FF2B5EF4-FFF2-40B4-BE49-F238E27FC236}">
                <a16:creationId xmlns:a16="http://schemas.microsoft.com/office/drawing/2014/main" id="{D7727BF2-4C66-5234-FF8E-1C9BA256F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3413" y="2612430"/>
            <a:ext cx="438150" cy="687388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folHlink"/>
            </a:extrusionClr>
            <a:contourClr>
              <a:schemeClr val="folHlink"/>
            </a:contourClr>
          </a:sp3d>
          <a:extLst>
            <a:ext uri="{91240B29-F687-4F45-9708-019B960494DF}">
              <a14:hiddenLine xmlns:a14="http://schemas.microsoft.com/office/drawing/2010/main" w="12700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  <a:flatTx/>
          </a:bodyPr>
          <a:lstStyle/>
          <a:p>
            <a:endParaRPr lang="en-US"/>
          </a:p>
        </p:txBody>
      </p:sp>
      <p:sp>
        <p:nvSpPr>
          <p:cNvPr id="40968" name="Rectangle 8">
            <a:extLst>
              <a:ext uri="{FF2B5EF4-FFF2-40B4-BE49-F238E27FC236}">
                <a16:creationId xmlns:a16="http://schemas.microsoft.com/office/drawing/2014/main" id="{4508BA3D-E618-2189-40E4-54F866291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2307630"/>
            <a:ext cx="438150" cy="992188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folHlink"/>
            </a:extrusionClr>
            <a:contourClr>
              <a:schemeClr val="folHlink"/>
            </a:contourClr>
          </a:sp3d>
          <a:extLst>
            <a:ext uri="{91240B29-F687-4F45-9708-019B960494DF}">
              <a14:hiddenLine xmlns:a14="http://schemas.microsoft.com/office/drawing/2010/main" w="12700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  <a:flatTx/>
          </a:bodyPr>
          <a:lstStyle/>
          <a:p>
            <a:endParaRPr lang="en-US"/>
          </a:p>
        </p:txBody>
      </p:sp>
      <p:sp>
        <p:nvSpPr>
          <p:cNvPr id="40969" name="Rectangle 9">
            <a:extLst>
              <a:ext uri="{FF2B5EF4-FFF2-40B4-BE49-F238E27FC236}">
                <a16:creationId xmlns:a16="http://schemas.microsoft.com/office/drawing/2014/main" id="{FBBF9A80-B513-6F2D-5BFC-122DE0C56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38" y="2631480"/>
            <a:ext cx="438150" cy="687388"/>
          </a:xfrm>
          <a:prstGeom prst="rect">
            <a:avLst/>
          </a:prstGeom>
          <a:solidFill>
            <a:srgbClr val="FF99FF"/>
          </a:soli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FF"/>
            </a:extrusionClr>
            <a:contourClr>
              <a:srgbClr val="FF99FF"/>
            </a:contourClr>
          </a:sp3d>
          <a:extLst>
            <a:ext uri="{91240B29-F687-4F45-9708-019B960494DF}">
              <a14:hiddenLine xmlns:a14="http://schemas.microsoft.com/office/drawing/2010/main" w="12700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  <a:flatTx/>
          </a:bodyPr>
          <a:lstStyle/>
          <a:p>
            <a:endParaRPr lang="en-US"/>
          </a:p>
        </p:txBody>
      </p:sp>
      <p:sp>
        <p:nvSpPr>
          <p:cNvPr id="40970" name="Rectangle 10">
            <a:extLst>
              <a:ext uri="{FF2B5EF4-FFF2-40B4-BE49-F238E27FC236}">
                <a16:creationId xmlns:a16="http://schemas.microsoft.com/office/drawing/2014/main" id="{1AC24B01-CF5C-0AD2-A8BC-F679879BA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1825" y="2353668"/>
            <a:ext cx="809625" cy="979487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folHlink"/>
            </a:extrusionClr>
            <a:contourClr>
              <a:schemeClr val="folHlink"/>
            </a:contourClr>
          </a:sp3d>
          <a:extLst>
            <a:ext uri="{91240B29-F687-4F45-9708-019B960494DF}">
              <a14:hiddenLine xmlns:a14="http://schemas.microsoft.com/office/drawing/2010/main" w="12700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  <a:flatTx/>
          </a:bodyPr>
          <a:lstStyle/>
          <a:p>
            <a:endParaRPr lang="en-US"/>
          </a:p>
        </p:txBody>
      </p:sp>
      <p:sp>
        <p:nvSpPr>
          <p:cNvPr id="40971" name="Rectangle 11">
            <a:extLst>
              <a:ext uri="{FF2B5EF4-FFF2-40B4-BE49-F238E27FC236}">
                <a16:creationId xmlns:a16="http://schemas.microsoft.com/office/drawing/2014/main" id="{72A1EF30-02FC-21BD-B9A1-D520A425A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8013" y="1844080"/>
            <a:ext cx="438150" cy="1468438"/>
          </a:xfrm>
          <a:prstGeom prst="rect">
            <a:avLst/>
          </a:prstGeom>
          <a:solidFill>
            <a:srgbClr val="FF99FF"/>
          </a:soli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FF"/>
            </a:extrusionClr>
            <a:contourClr>
              <a:srgbClr val="FF99FF"/>
            </a:contourClr>
          </a:sp3d>
          <a:extLst>
            <a:ext uri="{91240B29-F687-4F45-9708-019B960494DF}">
              <a14:hiddenLine xmlns:a14="http://schemas.microsoft.com/office/drawing/2010/main" w="12700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  <a:flatTx/>
          </a:bodyPr>
          <a:lstStyle/>
          <a:p>
            <a:endParaRPr lang="en-US"/>
          </a:p>
        </p:txBody>
      </p:sp>
      <p:sp>
        <p:nvSpPr>
          <p:cNvPr id="40972" name="Line 12">
            <a:extLst>
              <a:ext uri="{FF2B5EF4-FFF2-40B4-BE49-F238E27FC236}">
                <a16:creationId xmlns:a16="http://schemas.microsoft.com/office/drawing/2014/main" id="{30441DD2-71B0-344B-1227-CC348E45454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1475" y="3591918"/>
            <a:ext cx="5008563" cy="39687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0973" name="Rectangle 13">
            <a:extLst>
              <a:ext uri="{FF2B5EF4-FFF2-40B4-BE49-F238E27FC236}">
                <a16:creationId xmlns:a16="http://schemas.microsoft.com/office/drawing/2014/main" id="{33546FE3-38D7-9C4E-07BA-16A5B5CF5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2075" y="3550643"/>
            <a:ext cx="1962150" cy="9382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91240B29-F687-4F45-9708-019B960494DF}">
              <a14:hiddenLine xmlns:a14="http://schemas.microsoft.com/office/drawing/2010/main" w="12700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  <a:flatTx/>
          </a:bodyPr>
          <a:lstStyle/>
          <a:p>
            <a:endParaRPr lang="en-US"/>
          </a:p>
        </p:txBody>
      </p:sp>
      <p:sp>
        <p:nvSpPr>
          <p:cNvPr id="40974" name="Rectangle 14">
            <a:extLst>
              <a:ext uri="{FF2B5EF4-FFF2-40B4-BE49-F238E27FC236}">
                <a16:creationId xmlns:a16="http://schemas.microsoft.com/office/drawing/2014/main" id="{5FF1D8A9-1E99-C3CA-ADC2-16E133730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650" y="3628430"/>
            <a:ext cx="438150" cy="6873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scene3d>
            <a:camera prst="legacyPerspectiveFront">
              <a:rot lat="1500000" lon="1500000" rev="0"/>
            </a:camera>
            <a:lightRig rig="legacyFlat2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91240B29-F687-4F45-9708-019B960494DF}">
              <a14:hiddenLine xmlns:a14="http://schemas.microsoft.com/office/drawing/2010/main" w="12700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  <a:flatTx/>
          </a:bodyPr>
          <a:lstStyle/>
          <a:p>
            <a:endParaRPr lang="en-US"/>
          </a:p>
        </p:txBody>
      </p:sp>
      <p:sp>
        <p:nvSpPr>
          <p:cNvPr id="40975" name="Rectangle 15">
            <a:extLst>
              <a:ext uri="{FF2B5EF4-FFF2-40B4-BE49-F238E27FC236}">
                <a16:creationId xmlns:a16="http://schemas.microsoft.com/office/drawing/2014/main" id="{6838D1D6-3756-FCC1-09A5-3663ABB38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7550" y="3745905"/>
            <a:ext cx="438150" cy="6873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91240B29-F687-4F45-9708-019B960494DF}">
              <a14:hiddenLine xmlns:a14="http://schemas.microsoft.com/office/drawing/2010/main" w="12700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  <a:flatTx/>
          </a:bodyPr>
          <a:lstStyle/>
          <a:p>
            <a:endParaRPr lang="en-US"/>
          </a:p>
        </p:txBody>
      </p:sp>
      <p:sp>
        <p:nvSpPr>
          <p:cNvPr id="40976" name="Line 16">
            <a:extLst>
              <a:ext uri="{FF2B5EF4-FFF2-40B4-BE49-F238E27FC236}">
                <a16:creationId xmlns:a16="http://schemas.microsoft.com/office/drawing/2014/main" id="{F2E8E00B-9BF4-CA23-E764-7FA5E1CEAFA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9788" y="2518768"/>
            <a:ext cx="688975" cy="2822575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0977" name="Oval 17">
            <a:extLst>
              <a:ext uri="{FF2B5EF4-FFF2-40B4-BE49-F238E27FC236}">
                <a16:creationId xmlns:a16="http://schemas.microsoft.com/office/drawing/2014/main" id="{65F90ED9-1ADA-6A75-9E4B-CA92BCCD7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3438" y="2761655"/>
            <a:ext cx="1485900" cy="50165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978" name="Text Box 18">
            <a:extLst>
              <a:ext uri="{FF2B5EF4-FFF2-40B4-BE49-F238E27FC236}">
                <a16:creationId xmlns:a16="http://schemas.microsoft.com/office/drawing/2014/main" id="{AB2288E1-4C88-3CB2-2360-D700DB5EC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3175" y="2796580"/>
            <a:ext cx="481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50000"/>
              </a:spcBef>
              <a:buSzTx/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chemeClr val="tx2"/>
                </a:solidFill>
              </a:rPr>
              <a:t>Tx</a:t>
            </a:r>
          </a:p>
        </p:txBody>
      </p:sp>
      <p:sp>
        <p:nvSpPr>
          <p:cNvPr id="40979" name="Text Box 19">
            <a:extLst>
              <a:ext uri="{FF2B5EF4-FFF2-40B4-BE49-F238E27FC236}">
                <a16:creationId xmlns:a16="http://schemas.microsoft.com/office/drawing/2014/main" id="{7F5C0AA4-D153-AFA0-9B46-B35FEDCAD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4579343"/>
            <a:ext cx="5095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50000"/>
              </a:spcBef>
              <a:buSzTx/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chemeClr val="tx2"/>
                </a:solidFill>
              </a:rPr>
              <a:t>Rx</a:t>
            </a:r>
          </a:p>
        </p:txBody>
      </p:sp>
      <p:sp>
        <p:nvSpPr>
          <p:cNvPr id="40980" name="Line 20">
            <a:extLst>
              <a:ext uri="{FF2B5EF4-FFF2-40B4-BE49-F238E27FC236}">
                <a16:creationId xmlns:a16="http://schemas.microsoft.com/office/drawing/2014/main" id="{CC91FB79-18A2-8977-4972-090069883F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6238" y="2995018"/>
            <a:ext cx="979487" cy="41116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>
            <a:spAutoFit/>
          </a:bodyPr>
          <a:lstStyle/>
          <a:p>
            <a:endParaRPr lang="en-US"/>
          </a:p>
        </p:txBody>
      </p:sp>
      <p:sp>
        <p:nvSpPr>
          <p:cNvPr id="40981" name="Line 21">
            <a:extLst>
              <a:ext uri="{FF2B5EF4-FFF2-40B4-BE49-F238E27FC236}">
                <a16:creationId xmlns:a16="http://schemas.microsoft.com/office/drawing/2014/main" id="{9B7406B1-A0BC-991C-B422-9054DD421D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56038" y="3074393"/>
            <a:ext cx="1338262" cy="319087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>
            <a:spAutoFit/>
          </a:bodyPr>
          <a:lstStyle/>
          <a:p>
            <a:endParaRPr lang="en-US"/>
          </a:p>
        </p:txBody>
      </p:sp>
      <p:sp>
        <p:nvSpPr>
          <p:cNvPr id="40982" name="Line 22">
            <a:extLst>
              <a:ext uri="{FF2B5EF4-FFF2-40B4-BE49-F238E27FC236}">
                <a16:creationId xmlns:a16="http://schemas.microsoft.com/office/drawing/2014/main" id="{8D3E3C6D-7DDF-F809-8BCF-02CE799A1B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29188" y="3048993"/>
            <a:ext cx="252412" cy="163036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>
            <a:spAutoFit/>
          </a:bodyPr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57144D7-5D73-F840-3826-F44A0EAA6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3357"/>
            <a:ext cx="8069263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3600" dirty="0">
                <a:solidFill>
                  <a:srgbClr val="FF0000"/>
                </a:solidFill>
              </a:rPr>
              <a:t>Understanding Wireless Links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460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99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99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99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5">
            <a:extLst>
              <a:ext uri="{FF2B5EF4-FFF2-40B4-BE49-F238E27FC236}">
                <a16:creationId xmlns:a16="http://schemas.microsoft.com/office/drawing/2014/main" id="{77F01D5D-84AC-C611-A85F-CEB166073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C1E66C-A7CB-4302-A6CC-A92895357867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D95224E0-94D3-6D74-7640-A04C0CBC87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772400" cy="622300"/>
          </a:xfrm>
        </p:spPr>
        <p:txBody>
          <a:bodyPr/>
          <a:lstStyle/>
          <a:p>
            <a:r>
              <a:rPr lang="en-US" altLang="en-US" sz="3600"/>
              <a:t>Wireless Link Characteristics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69E3C0AE-A503-3261-4895-CFB3F30A60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1650" y="1455738"/>
            <a:ext cx="7772400" cy="5197475"/>
          </a:xfrm>
        </p:spPr>
        <p:txBody>
          <a:bodyPr/>
          <a:lstStyle/>
          <a:p>
            <a:pPr>
              <a:lnSpc>
                <a:spcPct val="80000"/>
              </a:lnSpc>
              <a:buFont typeface="ZapfDingbats" pitchFamily="82" charset="2"/>
              <a:buNone/>
            </a:pPr>
            <a:r>
              <a:rPr lang="en-US" altLang="en-US" sz="2400"/>
              <a:t>Differences from wired link ….</a:t>
            </a:r>
          </a:p>
          <a:p>
            <a:pPr>
              <a:lnSpc>
                <a:spcPct val="80000"/>
              </a:lnSpc>
              <a:buFont typeface="ZapfDingbats" pitchFamily="82" charset="2"/>
              <a:buNone/>
            </a:pPr>
            <a:endParaRPr lang="en-US" altLang="en-US" sz="2400"/>
          </a:p>
          <a:p>
            <a:pPr lvl="1">
              <a:lnSpc>
                <a:spcPct val="80000"/>
              </a:lnSpc>
            </a:pPr>
            <a:r>
              <a:rPr lang="en-US" altLang="en-US">
                <a:solidFill>
                  <a:srgbClr val="FF0000"/>
                </a:solidFill>
              </a:rPr>
              <a:t>decreased signal strength:</a:t>
            </a:r>
            <a:r>
              <a:rPr lang="en-US" altLang="en-US"/>
              <a:t> radio signal attenuates as it propagates through matter (path loss)</a:t>
            </a:r>
          </a:p>
          <a:p>
            <a:pPr lvl="1">
              <a:lnSpc>
                <a:spcPct val="80000"/>
              </a:lnSpc>
            </a:pPr>
            <a:endParaRPr lang="en-US" altLang="en-US"/>
          </a:p>
          <a:p>
            <a:pPr lvl="1">
              <a:lnSpc>
                <a:spcPct val="80000"/>
              </a:lnSpc>
            </a:pPr>
            <a:endParaRPr lang="en-US" altLang="en-US"/>
          </a:p>
          <a:p>
            <a:pPr lvl="1">
              <a:lnSpc>
                <a:spcPct val="80000"/>
              </a:lnSpc>
            </a:pPr>
            <a:endParaRPr lang="en-US" altLang="en-US"/>
          </a:p>
          <a:p>
            <a:pPr lvl="1">
              <a:lnSpc>
                <a:spcPct val="80000"/>
              </a:lnSpc>
            </a:pPr>
            <a:endParaRPr lang="en-US" altLang="en-US"/>
          </a:p>
          <a:p>
            <a:pPr lvl="1">
              <a:lnSpc>
                <a:spcPct val="80000"/>
              </a:lnSpc>
            </a:pPr>
            <a:endParaRPr lang="en-US" altLang="en-US"/>
          </a:p>
          <a:p>
            <a:pPr lvl="1">
              <a:lnSpc>
                <a:spcPct val="80000"/>
              </a:lnSpc>
            </a:pPr>
            <a:endParaRPr lang="en-US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045593-3EFE-912C-D953-B62A6CBE8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2700" y="914400"/>
            <a:ext cx="6210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Wireless is a broadcast medium!</a:t>
            </a:r>
          </a:p>
        </p:txBody>
      </p:sp>
      <p:sp>
        <p:nvSpPr>
          <p:cNvPr id="2" name="Line 60">
            <a:extLst>
              <a:ext uri="{FF2B5EF4-FFF2-40B4-BE49-F238E27FC236}">
                <a16:creationId xmlns:a16="http://schemas.microsoft.com/office/drawing/2014/main" id="{BB2FFF74-ED00-47F8-1F35-05B6B4A67F4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19300" y="4854575"/>
            <a:ext cx="3263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3" name="Line 61">
            <a:extLst>
              <a:ext uri="{FF2B5EF4-FFF2-40B4-BE49-F238E27FC236}">
                <a16:creationId xmlns:a16="http://schemas.microsoft.com/office/drawing/2014/main" id="{D39A456A-B078-9A33-F86F-1B39F8521C2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5325" y="3675063"/>
            <a:ext cx="0" cy="1138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4" name="Freeform 62">
            <a:extLst>
              <a:ext uri="{FF2B5EF4-FFF2-40B4-BE49-F238E27FC236}">
                <a16:creationId xmlns:a16="http://schemas.microsoft.com/office/drawing/2014/main" id="{5CE0AAEE-A9B8-F44A-AA85-6CB71B95AED5}"/>
              </a:ext>
            </a:extLst>
          </p:cNvPr>
          <p:cNvSpPr>
            <a:spLocks/>
          </p:cNvSpPr>
          <p:nvPr/>
        </p:nvSpPr>
        <p:spPr bwMode="auto">
          <a:xfrm>
            <a:off x="2047875" y="3730625"/>
            <a:ext cx="2995613" cy="1081088"/>
          </a:xfrm>
          <a:custGeom>
            <a:avLst/>
            <a:gdLst>
              <a:gd name="T0" fmla="*/ 0 w 1887"/>
              <a:gd name="T1" fmla="*/ 0 h 681"/>
              <a:gd name="T2" fmla="*/ 2147483646 w 1887"/>
              <a:gd name="T3" fmla="*/ 2147483646 h 681"/>
              <a:gd name="T4" fmla="*/ 2147483646 w 1887"/>
              <a:gd name="T5" fmla="*/ 2147483646 h 681"/>
              <a:gd name="T6" fmla="*/ 2147483646 w 1887"/>
              <a:gd name="T7" fmla="*/ 2147483646 h 681"/>
              <a:gd name="T8" fmla="*/ 0 60000 65536"/>
              <a:gd name="T9" fmla="*/ 0 60000 65536"/>
              <a:gd name="T10" fmla="*/ 0 60000 65536"/>
              <a:gd name="T11" fmla="*/ 0 60000 65536"/>
              <a:gd name="T12" fmla="*/ 0 w 1887"/>
              <a:gd name="T13" fmla="*/ 0 h 681"/>
              <a:gd name="T14" fmla="*/ 1887 w 1887"/>
              <a:gd name="T15" fmla="*/ 681 h 68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87" h="681">
                <a:moveTo>
                  <a:pt x="0" y="0"/>
                </a:moveTo>
                <a:cubicBezTo>
                  <a:pt x="161" y="25"/>
                  <a:pt x="737" y="52"/>
                  <a:pt x="966" y="151"/>
                </a:cubicBezTo>
                <a:cubicBezTo>
                  <a:pt x="1195" y="250"/>
                  <a:pt x="1220" y="507"/>
                  <a:pt x="1373" y="594"/>
                </a:cubicBezTo>
                <a:cubicBezTo>
                  <a:pt x="1526" y="681"/>
                  <a:pt x="1780" y="657"/>
                  <a:pt x="1887" y="673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5" name="Text Box 63">
            <a:extLst>
              <a:ext uri="{FF2B5EF4-FFF2-40B4-BE49-F238E27FC236}">
                <a16:creationId xmlns:a16="http://schemas.microsoft.com/office/drawing/2014/main" id="{FB85BE87-3633-740E-0D41-85E72ED3B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588" y="4897438"/>
            <a:ext cx="5794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space</a:t>
            </a:r>
          </a:p>
        </p:txBody>
      </p:sp>
      <p:sp>
        <p:nvSpPr>
          <p:cNvPr id="6" name="Text Box 63">
            <a:extLst>
              <a:ext uri="{FF2B5EF4-FFF2-40B4-BE49-F238E27FC236}">
                <a16:creationId xmlns:a16="http://schemas.microsoft.com/office/drawing/2014/main" id="{89C1A813-F29B-3091-4B6D-8815716A7CE4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1042988" y="4132263"/>
            <a:ext cx="13239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Signal Strength</a:t>
            </a: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EC6B13BB-4B66-E417-2BD9-0AC0A1D7D858}"/>
              </a:ext>
            </a:extLst>
          </p:cNvPr>
          <p:cNvSpPr txBox="1">
            <a:spLocks/>
          </p:cNvSpPr>
          <p:nvPr/>
        </p:nvSpPr>
        <p:spPr>
          <a:xfrm>
            <a:off x="470010" y="228600"/>
            <a:ext cx="8581803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5" grpId="0"/>
      <p:bldP spid="5" grpId="1"/>
      <p:bldP spid="6" grpId="0"/>
      <p:bldP spid="6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5">
            <a:extLst>
              <a:ext uri="{FF2B5EF4-FFF2-40B4-BE49-F238E27FC236}">
                <a16:creationId xmlns:a16="http://schemas.microsoft.com/office/drawing/2014/main" id="{2EF91FF2-CB5A-CEC3-208F-933C38C62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4BB25B1-8443-4312-AED1-8BB27F008B75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A0F16CE4-95B3-AEF3-E59B-3D845480C2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772400" cy="622300"/>
          </a:xfrm>
        </p:spPr>
        <p:txBody>
          <a:bodyPr/>
          <a:lstStyle/>
          <a:p>
            <a:r>
              <a:rPr lang="en-US" altLang="en-US" sz="3600"/>
              <a:t>Wireless Link Characteristics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0DF75AC7-4823-5731-E5AE-618BDC989B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439863"/>
            <a:ext cx="7772400" cy="5197475"/>
          </a:xfrm>
        </p:spPr>
        <p:txBody>
          <a:bodyPr/>
          <a:lstStyle/>
          <a:p>
            <a:pPr>
              <a:lnSpc>
                <a:spcPct val="80000"/>
              </a:lnSpc>
              <a:buFont typeface="ZapfDingbats" pitchFamily="82" charset="2"/>
              <a:buNone/>
            </a:pPr>
            <a:r>
              <a:rPr lang="en-US" altLang="en-US" sz="2400"/>
              <a:t>Differences from wired link ….</a:t>
            </a:r>
          </a:p>
          <a:p>
            <a:pPr>
              <a:lnSpc>
                <a:spcPct val="80000"/>
              </a:lnSpc>
              <a:buFont typeface="ZapfDingbats" pitchFamily="82" charset="2"/>
              <a:buNone/>
            </a:pPr>
            <a:endParaRPr lang="en-US" altLang="en-US" sz="2400"/>
          </a:p>
          <a:p>
            <a:pPr lvl="1">
              <a:lnSpc>
                <a:spcPct val="80000"/>
              </a:lnSpc>
            </a:pPr>
            <a:r>
              <a:rPr lang="en-US" altLang="en-US">
                <a:solidFill>
                  <a:srgbClr val="FF0000"/>
                </a:solidFill>
              </a:rPr>
              <a:t>decreased signal strength:</a:t>
            </a:r>
            <a:r>
              <a:rPr lang="en-US" altLang="en-US"/>
              <a:t> radio signal attenuates as it propagates through matter (path loss)</a:t>
            </a:r>
          </a:p>
          <a:p>
            <a:pPr lvl="1">
              <a:lnSpc>
                <a:spcPct val="80000"/>
              </a:lnSpc>
            </a:pPr>
            <a:endParaRPr lang="en-US" altLang="en-US"/>
          </a:p>
          <a:p>
            <a:pPr lvl="1">
              <a:lnSpc>
                <a:spcPct val="80000"/>
              </a:lnSpc>
            </a:pPr>
            <a:endParaRPr lang="en-US" altLang="en-US"/>
          </a:p>
          <a:p>
            <a:pPr lvl="1">
              <a:lnSpc>
                <a:spcPct val="80000"/>
              </a:lnSpc>
            </a:pPr>
            <a:endParaRPr lang="en-US" altLang="en-US"/>
          </a:p>
          <a:p>
            <a:pPr lvl="1">
              <a:lnSpc>
                <a:spcPct val="80000"/>
              </a:lnSpc>
            </a:pPr>
            <a:endParaRPr lang="en-US" altLang="en-US"/>
          </a:p>
          <a:p>
            <a:pPr lvl="1">
              <a:lnSpc>
                <a:spcPct val="80000"/>
              </a:lnSpc>
            </a:pPr>
            <a:endParaRPr lang="en-US" altLang="en-US"/>
          </a:p>
          <a:p>
            <a:pPr lvl="1">
              <a:lnSpc>
                <a:spcPct val="80000"/>
              </a:lnSpc>
            </a:pPr>
            <a:endParaRPr lang="en-US" altLang="en-US"/>
          </a:p>
          <a:p>
            <a:pPr lvl="1">
              <a:lnSpc>
                <a:spcPct val="80000"/>
              </a:lnSpc>
            </a:pPr>
            <a:r>
              <a:rPr lang="en-US" altLang="en-US">
                <a:solidFill>
                  <a:srgbClr val="FF0000"/>
                </a:solidFill>
              </a:rPr>
              <a:t>interference from other sources:</a:t>
            </a:r>
            <a:r>
              <a:rPr lang="en-US" altLang="en-US"/>
              <a:t> standardized wireless network frequencies (e.g., 2.4 GHz) shared by other devices (e.g., phone); devices (motors, microwaves) interfere as well</a:t>
            </a:r>
          </a:p>
          <a:p>
            <a:pPr lvl="1">
              <a:lnSpc>
                <a:spcPct val="80000"/>
              </a:lnSpc>
            </a:pPr>
            <a:endParaRPr lang="en-US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A627EC-8379-DB0C-5B56-5EC93E304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2700" y="914400"/>
            <a:ext cx="6210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Wireless is a broadcast medium!</a:t>
            </a:r>
          </a:p>
        </p:txBody>
      </p:sp>
      <p:grpSp>
        <p:nvGrpSpPr>
          <p:cNvPr id="57350" name="Group 6">
            <a:extLst>
              <a:ext uri="{FF2B5EF4-FFF2-40B4-BE49-F238E27FC236}">
                <a16:creationId xmlns:a16="http://schemas.microsoft.com/office/drawing/2014/main" id="{00386B24-5001-0A11-484D-EB7D6917A7A8}"/>
              </a:ext>
            </a:extLst>
          </p:cNvPr>
          <p:cNvGrpSpPr>
            <a:grpSpLocks/>
          </p:cNvGrpSpPr>
          <p:nvPr/>
        </p:nvGrpSpPr>
        <p:grpSpPr bwMode="auto">
          <a:xfrm>
            <a:off x="1566863" y="3608388"/>
            <a:ext cx="3716337" cy="1563687"/>
            <a:chOff x="1566291" y="3609086"/>
            <a:chExt cx="3716338" cy="1563690"/>
          </a:xfrm>
        </p:grpSpPr>
        <p:sp>
          <p:nvSpPr>
            <p:cNvPr id="57351" name="Line 60">
              <a:extLst>
                <a:ext uri="{FF2B5EF4-FFF2-40B4-BE49-F238E27FC236}">
                  <a16:creationId xmlns:a16="http://schemas.microsoft.com/office/drawing/2014/main" id="{D10E1CE4-3A59-FFF1-6E44-E33DCD2D62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729" y="4855274"/>
              <a:ext cx="3263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57352" name="Line 61">
              <a:extLst>
                <a:ext uri="{FF2B5EF4-FFF2-40B4-BE49-F238E27FC236}">
                  <a16:creationId xmlns:a16="http://schemas.microsoft.com/office/drawing/2014/main" id="{2A26245E-D2BA-8E2C-149D-6DE3923B01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4754" y="3675761"/>
              <a:ext cx="0" cy="1138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57353" name="Freeform 62">
              <a:extLst>
                <a:ext uri="{FF2B5EF4-FFF2-40B4-BE49-F238E27FC236}">
                  <a16:creationId xmlns:a16="http://schemas.microsoft.com/office/drawing/2014/main" id="{F095513F-3D8B-955B-2CB9-553D6022A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7304" y="3731324"/>
              <a:ext cx="2995612" cy="1081087"/>
            </a:xfrm>
            <a:custGeom>
              <a:avLst/>
              <a:gdLst>
                <a:gd name="T0" fmla="*/ 0 w 1887"/>
                <a:gd name="T1" fmla="*/ 0 h 681"/>
                <a:gd name="T2" fmla="*/ 2147483646 w 1887"/>
                <a:gd name="T3" fmla="*/ 2147483646 h 681"/>
                <a:gd name="T4" fmla="*/ 2147483646 w 1887"/>
                <a:gd name="T5" fmla="*/ 2147483646 h 681"/>
                <a:gd name="T6" fmla="*/ 2147483646 w 1887"/>
                <a:gd name="T7" fmla="*/ 2147483646 h 6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87"/>
                <a:gd name="T13" fmla="*/ 0 h 681"/>
                <a:gd name="T14" fmla="*/ 1887 w 1887"/>
                <a:gd name="T15" fmla="*/ 681 h 6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87" h="681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57354" name="Text Box 63">
              <a:extLst>
                <a:ext uri="{FF2B5EF4-FFF2-40B4-BE49-F238E27FC236}">
                  <a16:creationId xmlns:a16="http://schemas.microsoft.com/office/drawing/2014/main" id="{CB0DA881-A989-5FD6-4418-8BE9D6A0C6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3016" y="4898138"/>
              <a:ext cx="579438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space</a:t>
              </a:r>
            </a:p>
          </p:txBody>
        </p:sp>
        <p:sp>
          <p:nvSpPr>
            <p:cNvPr id="57355" name="Text Box 63">
              <a:extLst>
                <a:ext uri="{FF2B5EF4-FFF2-40B4-BE49-F238E27FC236}">
                  <a16:creationId xmlns:a16="http://schemas.microsoft.com/office/drawing/2014/main" id="{2CB1ECFA-CEEE-3992-586C-C25B7F7634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042416" y="4132961"/>
              <a:ext cx="132397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Signal Strength</a:t>
              </a:r>
            </a:p>
          </p:txBody>
        </p:sp>
      </p:grpSp>
      <p:sp>
        <p:nvSpPr>
          <p:cNvPr id="2" name="object 2">
            <a:extLst>
              <a:ext uri="{FF2B5EF4-FFF2-40B4-BE49-F238E27FC236}">
                <a16:creationId xmlns:a16="http://schemas.microsoft.com/office/drawing/2014/main" id="{1BBA6617-0086-E3B2-41FD-66277F9E5D0C}"/>
              </a:ext>
            </a:extLst>
          </p:cNvPr>
          <p:cNvSpPr txBox="1">
            <a:spLocks/>
          </p:cNvSpPr>
          <p:nvPr/>
        </p:nvSpPr>
        <p:spPr>
          <a:xfrm>
            <a:off x="470010" y="228600"/>
            <a:ext cx="8581803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5">
            <a:extLst>
              <a:ext uri="{FF2B5EF4-FFF2-40B4-BE49-F238E27FC236}">
                <a16:creationId xmlns:a16="http://schemas.microsoft.com/office/drawing/2014/main" id="{276B3523-A7CE-660B-A604-32A9147EC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1900BC-4848-4253-9006-A3D50A36742E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73F4B4B5-0461-936C-1200-9FE6887A2D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772400" cy="622300"/>
          </a:xfrm>
        </p:spPr>
        <p:txBody>
          <a:bodyPr/>
          <a:lstStyle/>
          <a:p>
            <a:r>
              <a:rPr lang="en-US" altLang="en-US" sz="3600"/>
              <a:t>Wireless Link Characteristics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12369A33-979B-E01B-848F-DE36C8A2D7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1650" y="1455738"/>
            <a:ext cx="7772400" cy="5197475"/>
          </a:xfrm>
        </p:spPr>
        <p:txBody>
          <a:bodyPr/>
          <a:lstStyle/>
          <a:p>
            <a:pPr>
              <a:lnSpc>
                <a:spcPct val="80000"/>
              </a:lnSpc>
              <a:buFont typeface="ZapfDingbats" pitchFamily="82" charset="2"/>
              <a:buNone/>
            </a:pPr>
            <a:r>
              <a:rPr lang="en-US" altLang="en-US" sz="2400"/>
              <a:t>Differences from wired link ….</a:t>
            </a:r>
          </a:p>
          <a:p>
            <a:pPr>
              <a:lnSpc>
                <a:spcPct val="80000"/>
              </a:lnSpc>
              <a:buFont typeface="ZapfDingbats" pitchFamily="82" charset="2"/>
              <a:buNone/>
            </a:pPr>
            <a:endParaRPr lang="en-US" altLang="en-US" sz="2400"/>
          </a:p>
          <a:p>
            <a:pPr lvl="1">
              <a:lnSpc>
                <a:spcPct val="80000"/>
              </a:lnSpc>
            </a:pPr>
            <a:r>
              <a:rPr lang="en-US" altLang="en-US">
                <a:solidFill>
                  <a:srgbClr val="FF0000"/>
                </a:solidFill>
              </a:rPr>
              <a:t>multipath propagation (fading):</a:t>
            </a:r>
            <a:r>
              <a:rPr lang="en-US" altLang="en-US"/>
              <a:t> radio signal reflects off objects or ground, arriving at destination at slightly different times</a:t>
            </a:r>
          </a:p>
          <a:p>
            <a:pPr lvl="2">
              <a:lnSpc>
                <a:spcPct val="80000"/>
              </a:lnSpc>
            </a:pPr>
            <a:r>
              <a:rPr lang="en-US" altLang="en-US"/>
              <a:t>Reflection</a:t>
            </a:r>
          </a:p>
          <a:p>
            <a:pPr lvl="2">
              <a:lnSpc>
                <a:spcPct val="80000"/>
              </a:lnSpc>
            </a:pPr>
            <a:r>
              <a:rPr lang="en-US" altLang="en-US"/>
              <a:t>Diffraction</a:t>
            </a:r>
          </a:p>
          <a:p>
            <a:pPr lvl="2">
              <a:lnSpc>
                <a:spcPct val="80000"/>
              </a:lnSpc>
            </a:pPr>
            <a:r>
              <a:rPr lang="en-US" altLang="en-US"/>
              <a:t>Scattering  </a:t>
            </a:r>
          </a:p>
          <a:p>
            <a:pPr lvl="2">
              <a:lnSpc>
                <a:spcPct val="80000"/>
              </a:lnSpc>
            </a:pPr>
            <a:endParaRPr lang="en-US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444B80-B843-A708-D62A-7CB7B3E63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2700" y="914400"/>
            <a:ext cx="6210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Wireless is a broadcast medium!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1C54586-6AA0-1F09-31E3-F36834771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613" y="3429000"/>
            <a:ext cx="4659312" cy="259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6EE89EBF-B58F-DD95-C16D-FEFBF3E561E0}"/>
              </a:ext>
            </a:extLst>
          </p:cNvPr>
          <p:cNvSpPr txBox="1">
            <a:spLocks/>
          </p:cNvSpPr>
          <p:nvPr/>
        </p:nvSpPr>
        <p:spPr>
          <a:xfrm>
            <a:off x="470010" y="228600"/>
            <a:ext cx="8581803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5">
            <a:extLst>
              <a:ext uri="{FF2B5EF4-FFF2-40B4-BE49-F238E27FC236}">
                <a16:creationId xmlns:a16="http://schemas.microsoft.com/office/drawing/2014/main" id="{03C878D4-DD2C-7463-0A04-97AF8F7E0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4BFD0E-BCC7-4588-A9EC-D76935D34EAF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0EE39923-4992-2FA9-5053-D8EE23BA53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772400" cy="622300"/>
          </a:xfrm>
        </p:spPr>
        <p:txBody>
          <a:bodyPr/>
          <a:lstStyle/>
          <a:p>
            <a:r>
              <a:rPr lang="en-US" altLang="en-US" sz="3600"/>
              <a:t>Wireless Link Characteristics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C3BAAC92-F8BE-0967-6284-8317542A91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0538" y="1660525"/>
            <a:ext cx="7696200" cy="5197475"/>
          </a:xfrm>
        </p:spPr>
        <p:txBody>
          <a:bodyPr/>
          <a:lstStyle/>
          <a:p>
            <a:pPr>
              <a:lnSpc>
                <a:spcPct val="80000"/>
              </a:lnSpc>
              <a:buFont typeface="ZapfDingbats" pitchFamily="82" charset="2"/>
              <a:buNone/>
              <a:defRPr/>
            </a:pPr>
            <a:r>
              <a:rPr lang="en-US" altLang="en-US" sz="2400" dirty="0"/>
              <a:t>Differences from wired link ….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en-US" dirty="0">
                <a:solidFill>
                  <a:srgbClr val="FF0000"/>
                </a:solidFill>
              </a:rPr>
              <a:t>decreased signal strength:</a:t>
            </a:r>
            <a:r>
              <a:rPr lang="en-US" altLang="en-US" dirty="0"/>
              <a:t> </a:t>
            </a:r>
          </a:p>
          <a:p>
            <a:pPr lvl="1">
              <a:lnSpc>
                <a:spcPct val="80000"/>
              </a:lnSpc>
              <a:defRPr/>
            </a:pPr>
            <a:endParaRPr lang="en-US" altLang="en-US" dirty="0">
              <a:solidFill>
                <a:srgbClr val="FF0000"/>
              </a:solidFill>
            </a:endParaRPr>
          </a:p>
          <a:p>
            <a:pPr lvl="1">
              <a:lnSpc>
                <a:spcPct val="80000"/>
              </a:lnSpc>
              <a:defRPr/>
            </a:pPr>
            <a:r>
              <a:rPr lang="en-US" altLang="en-US" dirty="0">
                <a:solidFill>
                  <a:srgbClr val="FF0000"/>
                </a:solidFill>
              </a:rPr>
              <a:t>interference from other sources:</a:t>
            </a:r>
            <a:r>
              <a:rPr lang="en-US" altLang="en-US" dirty="0"/>
              <a:t> </a:t>
            </a:r>
          </a:p>
          <a:p>
            <a:pPr marL="457200" lvl="1" indent="0">
              <a:lnSpc>
                <a:spcPct val="80000"/>
              </a:lnSpc>
              <a:buFont typeface="ZapfDingbats" pitchFamily="82" charset="2"/>
              <a:buNone/>
              <a:defRPr/>
            </a:pPr>
            <a:endParaRPr lang="en-US" altLang="en-US" dirty="0">
              <a:solidFill>
                <a:srgbClr val="FF0000"/>
              </a:solidFill>
            </a:endParaRPr>
          </a:p>
          <a:p>
            <a:pPr lvl="1">
              <a:lnSpc>
                <a:spcPct val="80000"/>
              </a:lnSpc>
              <a:defRPr/>
            </a:pPr>
            <a:r>
              <a:rPr lang="en-US" altLang="en-US" dirty="0">
                <a:solidFill>
                  <a:srgbClr val="FF0000"/>
                </a:solidFill>
              </a:rPr>
              <a:t>multipath propagation (fading):</a:t>
            </a:r>
            <a:endParaRPr lang="en-US" altLang="en-US" dirty="0"/>
          </a:p>
          <a:p>
            <a:pPr lvl="2">
              <a:lnSpc>
                <a:spcPct val="80000"/>
              </a:lnSpc>
              <a:defRPr/>
            </a:pPr>
            <a:r>
              <a:rPr lang="en-US" altLang="en-US" dirty="0"/>
              <a:t>Reflection</a:t>
            </a:r>
          </a:p>
          <a:p>
            <a:pPr lvl="2">
              <a:lnSpc>
                <a:spcPct val="80000"/>
              </a:lnSpc>
              <a:defRPr/>
            </a:pPr>
            <a:r>
              <a:rPr lang="en-US" altLang="en-US" dirty="0"/>
              <a:t>Diffraction</a:t>
            </a:r>
          </a:p>
          <a:p>
            <a:pPr lvl="2">
              <a:lnSpc>
                <a:spcPct val="80000"/>
              </a:lnSpc>
              <a:defRPr/>
            </a:pPr>
            <a:r>
              <a:rPr lang="en-US" altLang="en-US" dirty="0"/>
              <a:t>Scattering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0CDCB2-604C-FDA6-8A12-7207C2A30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2700" y="914400"/>
            <a:ext cx="6210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Wireless is a broadcast medium!</a:t>
            </a:r>
          </a:p>
        </p:txBody>
      </p:sp>
      <p:sp>
        <p:nvSpPr>
          <p:cNvPr id="61446" name="TextBox 2">
            <a:extLst>
              <a:ext uri="{FF2B5EF4-FFF2-40B4-BE49-F238E27FC236}">
                <a16:creationId xmlns:a16="http://schemas.microsoft.com/office/drawing/2014/main" id="{314D9EB1-F4F5-167D-FF32-607D762C0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3" y="5546725"/>
            <a:ext cx="819308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…. make communication across (even a point to point) wireless link much more </a:t>
            </a:r>
            <a:r>
              <a:rPr kumimoji="0" lang="ja-JP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MS PGothic" panose="020B0600070205080204" pitchFamily="34" charset="-128"/>
                <a:cs typeface="+mn-cs"/>
              </a:rPr>
              <a:t>“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difficult</a:t>
            </a:r>
            <a:r>
              <a:rPr kumimoji="0" lang="ja-JP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MS PGothic" panose="020B0600070205080204" pitchFamily="34" charset="-128"/>
                <a:cs typeface="+mn-cs"/>
              </a:rPr>
              <a:t>”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 </a:t>
            </a:r>
          </a:p>
        </p:txBody>
      </p:sp>
      <p:grpSp>
        <p:nvGrpSpPr>
          <p:cNvPr id="61447" name="Group 3">
            <a:extLst>
              <a:ext uri="{FF2B5EF4-FFF2-40B4-BE49-F238E27FC236}">
                <a16:creationId xmlns:a16="http://schemas.microsoft.com/office/drawing/2014/main" id="{61B3E355-0E94-74B8-F3C9-842F3BA6640C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2185988"/>
            <a:ext cx="1577975" cy="939800"/>
            <a:chOff x="1566291" y="3609086"/>
            <a:chExt cx="3716338" cy="1563690"/>
          </a:xfrm>
        </p:grpSpPr>
        <p:sp>
          <p:nvSpPr>
            <p:cNvPr id="61449" name="Line 60">
              <a:extLst>
                <a:ext uri="{FF2B5EF4-FFF2-40B4-BE49-F238E27FC236}">
                  <a16:creationId xmlns:a16="http://schemas.microsoft.com/office/drawing/2014/main" id="{13174953-2E08-724A-932B-5C0553D727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729" y="4855274"/>
              <a:ext cx="3263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1450" name="Line 61">
              <a:extLst>
                <a:ext uri="{FF2B5EF4-FFF2-40B4-BE49-F238E27FC236}">
                  <a16:creationId xmlns:a16="http://schemas.microsoft.com/office/drawing/2014/main" id="{1F543706-A1C0-03D1-00A9-7AF60A340E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4754" y="3675761"/>
              <a:ext cx="0" cy="1138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1451" name="Freeform 62">
              <a:extLst>
                <a:ext uri="{FF2B5EF4-FFF2-40B4-BE49-F238E27FC236}">
                  <a16:creationId xmlns:a16="http://schemas.microsoft.com/office/drawing/2014/main" id="{90B88BA5-3ACB-41EE-DB7D-8B250EBEA7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7304" y="3731324"/>
              <a:ext cx="2995612" cy="1081087"/>
            </a:xfrm>
            <a:custGeom>
              <a:avLst/>
              <a:gdLst>
                <a:gd name="T0" fmla="*/ 0 w 1887"/>
                <a:gd name="T1" fmla="*/ 0 h 681"/>
                <a:gd name="T2" fmla="*/ 2147483646 w 1887"/>
                <a:gd name="T3" fmla="*/ 2147483646 h 681"/>
                <a:gd name="T4" fmla="*/ 2147483646 w 1887"/>
                <a:gd name="T5" fmla="*/ 2147483646 h 681"/>
                <a:gd name="T6" fmla="*/ 2147483646 w 1887"/>
                <a:gd name="T7" fmla="*/ 2147483646 h 6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87"/>
                <a:gd name="T13" fmla="*/ 0 h 681"/>
                <a:gd name="T14" fmla="*/ 1887 w 1887"/>
                <a:gd name="T15" fmla="*/ 681 h 6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87" h="681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1452" name="Text Box 63">
              <a:extLst>
                <a:ext uri="{FF2B5EF4-FFF2-40B4-BE49-F238E27FC236}">
                  <a16:creationId xmlns:a16="http://schemas.microsoft.com/office/drawing/2014/main" id="{68188A1E-3617-9848-51BE-CEBA8FB781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3016" y="4898138"/>
              <a:ext cx="579438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space</a:t>
              </a:r>
            </a:p>
          </p:txBody>
        </p:sp>
        <p:sp>
          <p:nvSpPr>
            <p:cNvPr id="61453" name="Text Box 63">
              <a:extLst>
                <a:ext uri="{FF2B5EF4-FFF2-40B4-BE49-F238E27FC236}">
                  <a16:creationId xmlns:a16="http://schemas.microsoft.com/office/drawing/2014/main" id="{B3F48FD4-CDE2-6778-582D-95A4E56444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042416" y="4132961"/>
              <a:ext cx="132397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Signal Strength</a:t>
              </a:r>
            </a:p>
          </p:txBody>
        </p:sp>
      </p:grpSp>
      <p:pic>
        <p:nvPicPr>
          <p:cNvPr id="15" name="Picture 2">
            <a:extLst>
              <a:ext uri="{FF2B5EF4-FFF2-40B4-BE49-F238E27FC236}">
                <a16:creationId xmlns:a16="http://schemas.microsoft.com/office/drawing/2014/main" id="{2241A8CA-C908-E6DC-A644-B44E3A338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613" y="3738563"/>
            <a:ext cx="2943225" cy="163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817EF04C-3794-A220-7163-8DADB20AECC0}"/>
              </a:ext>
            </a:extLst>
          </p:cNvPr>
          <p:cNvSpPr txBox="1">
            <a:spLocks/>
          </p:cNvSpPr>
          <p:nvPr/>
        </p:nvSpPr>
        <p:spPr>
          <a:xfrm>
            <a:off x="470010" y="228600"/>
            <a:ext cx="8581803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5">
            <a:extLst>
              <a:ext uri="{FF2B5EF4-FFF2-40B4-BE49-F238E27FC236}">
                <a16:creationId xmlns:a16="http://schemas.microsoft.com/office/drawing/2014/main" id="{6505EC14-5D68-04D2-CAAA-8D58314E7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1FF756-093F-4C1D-A98D-3EFCEE187EDE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FCDA091B-BB5B-1BF7-0678-E0136B0A37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Impact of Multipath Propagation</a:t>
            </a:r>
          </a:p>
        </p:txBody>
      </p:sp>
      <p:cxnSp>
        <p:nvCxnSpPr>
          <p:cNvPr id="63492" name="Straight Arrow Connector 37">
            <a:extLst>
              <a:ext uri="{FF2B5EF4-FFF2-40B4-BE49-F238E27FC236}">
                <a16:creationId xmlns:a16="http://schemas.microsoft.com/office/drawing/2014/main" id="{A9A1C0ED-9D8C-7193-B94A-4481DC1F409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95300" y="2768600"/>
            <a:ext cx="7962900" cy="25400"/>
          </a:xfrm>
          <a:prstGeom prst="straightConnector1">
            <a:avLst/>
          </a:prstGeom>
          <a:noFill/>
          <a:ln w="317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4EB115E-7AEC-EAE4-093D-60F11073F0C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20700" y="4254500"/>
            <a:ext cx="8001000" cy="12700"/>
          </a:xfrm>
          <a:prstGeom prst="straightConnector1">
            <a:avLst/>
          </a:prstGeom>
          <a:noFill/>
          <a:ln w="317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3494" name="Straight Connector 43">
            <a:extLst>
              <a:ext uri="{FF2B5EF4-FFF2-40B4-BE49-F238E27FC236}">
                <a16:creationId xmlns:a16="http://schemas.microsoft.com/office/drawing/2014/main" id="{0171B3ED-9C18-BA02-BF19-8B092A32E576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171450" y="3524250"/>
            <a:ext cx="31877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Group 52">
            <a:extLst>
              <a:ext uri="{FF2B5EF4-FFF2-40B4-BE49-F238E27FC236}">
                <a16:creationId xmlns:a16="http://schemas.microsoft.com/office/drawing/2014/main" id="{9DC188E5-BBE8-20B3-16B2-2B2A485597C7}"/>
              </a:ext>
            </a:extLst>
          </p:cNvPr>
          <p:cNvGrpSpPr>
            <a:grpSpLocks/>
          </p:cNvGrpSpPr>
          <p:nvPr/>
        </p:nvGrpSpPr>
        <p:grpSpPr bwMode="auto">
          <a:xfrm>
            <a:off x="1765300" y="2281238"/>
            <a:ext cx="4813300" cy="1028700"/>
            <a:chOff x="1892300" y="1735667"/>
            <a:chExt cx="4813300" cy="1028249"/>
          </a:xfrm>
        </p:grpSpPr>
        <p:sp>
          <p:nvSpPr>
            <p:cNvPr id="63507" name="Freeform 46">
              <a:extLst>
                <a:ext uri="{FF2B5EF4-FFF2-40B4-BE49-F238E27FC236}">
                  <a16:creationId xmlns:a16="http://schemas.microsoft.com/office/drawing/2014/main" id="{B4544A73-8610-500C-12F4-BCC51F24B9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2300" y="1735667"/>
              <a:ext cx="1206500" cy="524933"/>
            </a:xfrm>
            <a:custGeom>
              <a:avLst/>
              <a:gdLst>
                <a:gd name="T0" fmla="*/ 0 w 1206500"/>
                <a:gd name="T1" fmla="*/ 524933 h 524933"/>
                <a:gd name="T2" fmla="*/ 596900 w 1206500"/>
                <a:gd name="T3" fmla="*/ 4233 h 524933"/>
                <a:gd name="T4" fmla="*/ 1206500 w 1206500"/>
                <a:gd name="T5" fmla="*/ 499533 h 524933"/>
                <a:gd name="T6" fmla="*/ 1206500 w 1206500"/>
                <a:gd name="T7" fmla="*/ 499533 h 5249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06500"/>
                <a:gd name="T13" fmla="*/ 0 h 524933"/>
                <a:gd name="T14" fmla="*/ 1206500 w 1206500"/>
                <a:gd name="T15" fmla="*/ 524933 h 5249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06500" h="524933">
                  <a:moveTo>
                    <a:pt x="0" y="524933"/>
                  </a:moveTo>
                  <a:cubicBezTo>
                    <a:pt x="197908" y="266699"/>
                    <a:pt x="395817" y="8466"/>
                    <a:pt x="596900" y="4233"/>
                  </a:cubicBezTo>
                  <a:cubicBezTo>
                    <a:pt x="797983" y="0"/>
                    <a:pt x="1206500" y="499533"/>
                    <a:pt x="1206500" y="499533"/>
                  </a:cubicBezTo>
                </a:path>
              </a:pathLst>
            </a:custGeom>
            <a:noFill/>
            <a:ln w="3175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3508" name="Freeform 47">
              <a:extLst>
                <a:ext uri="{FF2B5EF4-FFF2-40B4-BE49-F238E27FC236}">
                  <a16:creationId xmlns:a16="http://schemas.microsoft.com/office/drawing/2014/main" id="{4B052D15-8348-A2DE-7A37-A90EAF768D16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3098800" y="2218267"/>
              <a:ext cx="1206500" cy="524933"/>
            </a:xfrm>
            <a:custGeom>
              <a:avLst/>
              <a:gdLst>
                <a:gd name="T0" fmla="*/ 0 w 1206500"/>
                <a:gd name="T1" fmla="*/ 524933 h 524933"/>
                <a:gd name="T2" fmla="*/ 596900 w 1206500"/>
                <a:gd name="T3" fmla="*/ 4233 h 524933"/>
                <a:gd name="T4" fmla="*/ 1206500 w 1206500"/>
                <a:gd name="T5" fmla="*/ 499533 h 524933"/>
                <a:gd name="T6" fmla="*/ 1206500 w 1206500"/>
                <a:gd name="T7" fmla="*/ 499533 h 5249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06500"/>
                <a:gd name="T13" fmla="*/ 0 h 524933"/>
                <a:gd name="T14" fmla="*/ 1206500 w 1206500"/>
                <a:gd name="T15" fmla="*/ 524933 h 5249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06500" h="524933">
                  <a:moveTo>
                    <a:pt x="0" y="524933"/>
                  </a:moveTo>
                  <a:cubicBezTo>
                    <a:pt x="197908" y="266699"/>
                    <a:pt x="395817" y="8466"/>
                    <a:pt x="596900" y="4233"/>
                  </a:cubicBezTo>
                  <a:cubicBezTo>
                    <a:pt x="797983" y="0"/>
                    <a:pt x="1206500" y="499533"/>
                    <a:pt x="1206500" y="499533"/>
                  </a:cubicBezTo>
                </a:path>
              </a:pathLst>
            </a:custGeom>
            <a:noFill/>
            <a:ln w="3175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3509" name="Freeform 49">
              <a:extLst>
                <a:ext uri="{FF2B5EF4-FFF2-40B4-BE49-F238E27FC236}">
                  <a16:creationId xmlns:a16="http://schemas.microsoft.com/office/drawing/2014/main" id="{B3E20576-4717-8119-9410-7B577CCF6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2600" y="1735667"/>
              <a:ext cx="1206500" cy="524933"/>
            </a:xfrm>
            <a:custGeom>
              <a:avLst/>
              <a:gdLst>
                <a:gd name="T0" fmla="*/ 0 w 1206500"/>
                <a:gd name="T1" fmla="*/ 524933 h 524933"/>
                <a:gd name="T2" fmla="*/ 596900 w 1206500"/>
                <a:gd name="T3" fmla="*/ 4233 h 524933"/>
                <a:gd name="T4" fmla="*/ 1206500 w 1206500"/>
                <a:gd name="T5" fmla="*/ 499533 h 524933"/>
                <a:gd name="T6" fmla="*/ 1206500 w 1206500"/>
                <a:gd name="T7" fmla="*/ 499533 h 5249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06500"/>
                <a:gd name="T13" fmla="*/ 0 h 524933"/>
                <a:gd name="T14" fmla="*/ 1206500 w 1206500"/>
                <a:gd name="T15" fmla="*/ 524933 h 5249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06500" h="524933">
                  <a:moveTo>
                    <a:pt x="0" y="524933"/>
                  </a:moveTo>
                  <a:cubicBezTo>
                    <a:pt x="197908" y="266699"/>
                    <a:pt x="395817" y="8466"/>
                    <a:pt x="596900" y="4233"/>
                  </a:cubicBezTo>
                  <a:cubicBezTo>
                    <a:pt x="797983" y="0"/>
                    <a:pt x="1206500" y="499533"/>
                    <a:pt x="1206500" y="499533"/>
                  </a:cubicBezTo>
                </a:path>
              </a:pathLst>
            </a:custGeom>
            <a:noFill/>
            <a:ln w="3175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3510" name="Freeform 50">
              <a:extLst>
                <a:ext uri="{FF2B5EF4-FFF2-40B4-BE49-F238E27FC236}">
                  <a16:creationId xmlns:a16="http://schemas.microsoft.com/office/drawing/2014/main" id="{1D666FD7-ACBD-5BC9-AAC2-92A45ABD8BE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5499100" y="2238983"/>
              <a:ext cx="1206500" cy="524933"/>
            </a:xfrm>
            <a:custGeom>
              <a:avLst/>
              <a:gdLst>
                <a:gd name="T0" fmla="*/ 0 w 1206500"/>
                <a:gd name="T1" fmla="*/ 524933 h 524933"/>
                <a:gd name="T2" fmla="*/ 596900 w 1206500"/>
                <a:gd name="T3" fmla="*/ 4233 h 524933"/>
                <a:gd name="T4" fmla="*/ 1206500 w 1206500"/>
                <a:gd name="T5" fmla="*/ 499533 h 524933"/>
                <a:gd name="T6" fmla="*/ 1206500 w 1206500"/>
                <a:gd name="T7" fmla="*/ 499533 h 5249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06500"/>
                <a:gd name="T13" fmla="*/ 0 h 524933"/>
                <a:gd name="T14" fmla="*/ 1206500 w 1206500"/>
                <a:gd name="T15" fmla="*/ 524933 h 5249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06500" h="524933">
                  <a:moveTo>
                    <a:pt x="0" y="524933"/>
                  </a:moveTo>
                  <a:cubicBezTo>
                    <a:pt x="197908" y="266699"/>
                    <a:pt x="395817" y="8466"/>
                    <a:pt x="596900" y="4233"/>
                  </a:cubicBezTo>
                  <a:cubicBezTo>
                    <a:pt x="797983" y="0"/>
                    <a:pt x="1206500" y="499533"/>
                    <a:pt x="1206500" y="499533"/>
                  </a:cubicBezTo>
                </a:path>
              </a:pathLst>
            </a:custGeom>
            <a:noFill/>
            <a:ln w="3175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</p:grpSp>
      <p:grpSp>
        <p:nvGrpSpPr>
          <p:cNvPr id="3" name="Group 61">
            <a:extLst>
              <a:ext uri="{FF2B5EF4-FFF2-40B4-BE49-F238E27FC236}">
                <a16:creationId xmlns:a16="http://schemas.microsoft.com/office/drawing/2014/main" id="{65E940EE-DFC5-9655-571D-B84F0D019E12}"/>
              </a:ext>
            </a:extLst>
          </p:cNvPr>
          <p:cNvGrpSpPr>
            <a:grpSpLocks/>
          </p:cNvGrpSpPr>
          <p:nvPr/>
        </p:nvGrpSpPr>
        <p:grpSpPr bwMode="auto">
          <a:xfrm>
            <a:off x="2933700" y="2255838"/>
            <a:ext cx="4851400" cy="1020762"/>
            <a:chOff x="1905000" y="2891367"/>
            <a:chExt cx="4851400" cy="1020233"/>
          </a:xfrm>
        </p:grpSpPr>
        <p:sp>
          <p:nvSpPr>
            <p:cNvPr id="63503" name="Freeform 54">
              <a:extLst>
                <a:ext uri="{FF2B5EF4-FFF2-40B4-BE49-F238E27FC236}">
                  <a16:creationId xmlns:a16="http://schemas.microsoft.com/office/drawing/2014/main" id="{04836700-4618-37B9-034B-85D4771A8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5000" y="2891367"/>
              <a:ext cx="1206500" cy="524933"/>
            </a:xfrm>
            <a:custGeom>
              <a:avLst/>
              <a:gdLst>
                <a:gd name="T0" fmla="*/ 0 w 1206500"/>
                <a:gd name="T1" fmla="*/ 524933 h 524933"/>
                <a:gd name="T2" fmla="*/ 596900 w 1206500"/>
                <a:gd name="T3" fmla="*/ 4233 h 524933"/>
                <a:gd name="T4" fmla="*/ 1206500 w 1206500"/>
                <a:gd name="T5" fmla="*/ 499533 h 524933"/>
                <a:gd name="T6" fmla="*/ 1206500 w 1206500"/>
                <a:gd name="T7" fmla="*/ 499533 h 5249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06500"/>
                <a:gd name="T13" fmla="*/ 0 h 524933"/>
                <a:gd name="T14" fmla="*/ 1206500 w 1206500"/>
                <a:gd name="T15" fmla="*/ 524933 h 5249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06500" h="524933">
                  <a:moveTo>
                    <a:pt x="0" y="524933"/>
                  </a:moveTo>
                  <a:cubicBezTo>
                    <a:pt x="197908" y="266699"/>
                    <a:pt x="395817" y="8466"/>
                    <a:pt x="596900" y="4233"/>
                  </a:cubicBezTo>
                  <a:cubicBezTo>
                    <a:pt x="797983" y="0"/>
                    <a:pt x="1206500" y="499533"/>
                    <a:pt x="1206500" y="499533"/>
                  </a:cubicBezTo>
                </a:path>
              </a:pathLst>
            </a:custGeom>
            <a:noFill/>
            <a:ln w="317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3504" name="Freeform 55">
              <a:extLst>
                <a:ext uri="{FF2B5EF4-FFF2-40B4-BE49-F238E27FC236}">
                  <a16:creationId xmlns:a16="http://schemas.microsoft.com/office/drawing/2014/main" id="{0D048596-F782-B44B-16C9-554954A432CD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3111500" y="3373967"/>
              <a:ext cx="1206500" cy="524933"/>
            </a:xfrm>
            <a:custGeom>
              <a:avLst/>
              <a:gdLst>
                <a:gd name="T0" fmla="*/ 0 w 1206500"/>
                <a:gd name="T1" fmla="*/ 524933 h 524933"/>
                <a:gd name="T2" fmla="*/ 596900 w 1206500"/>
                <a:gd name="T3" fmla="*/ 4233 h 524933"/>
                <a:gd name="T4" fmla="*/ 1206500 w 1206500"/>
                <a:gd name="T5" fmla="*/ 499533 h 524933"/>
                <a:gd name="T6" fmla="*/ 1206500 w 1206500"/>
                <a:gd name="T7" fmla="*/ 499533 h 5249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06500"/>
                <a:gd name="T13" fmla="*/ 0 h 524933"/>
                <a:gd name="T14" fmla="*/ 1206500 w 1206500"/>
                <a:gd name="T15" fmla="*/ 524933 h 5249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06500" h="524933">
                  <a:moveTo>
                    <a:pt x="0" y="524933"/>
                  </a:moveTo>
                  <a:cubicBezTo>
                    <a:pt x="197908" y="266699"/>
                    <a:pt x="395817" y="8466"/>
                    <a:pt x="596900" y="4233"/>
                  </a:cubicBezTo>
                  <a:cubicBezTo>
                    <a:pt x="797983" y="0"/>
                    <a:pt x="1206500" y="499533"/>
                    <a:pt x="1206500" y="499533"/>
                  </a:cubicBezTo>
                </a:path>
              </a:pathLst>
            </a:custGeom>
            <a:noFill/>
            <a:ln w="317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3505" name="Freeform 56">
              <a:extLst>
                <a:ext uri="{FF2B5EF4-FFF2-40B4-BE49-F238E27FC236}">
                  <a16:creationId xmlns:a16="http://schemas.microsoft.com/office/drawing/2014/main" id="{FF5C1212-6C04-BFE4-87BF-9AF558C0C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5300" y="2891367"/>
              <a:ext cx="1206500" cy="524933"/>
            </a:xfrm>
            <a:custGeom>
              <a:avLst/>
              <a:gdLst>
                <a:gd name="T0" fmla="*/ 0 w 1206500"/>
                <a:gd name="T1" fmla="*/ 524933 h 524933"/>
                <a:gd name="T2" fmla="*/ 596900 w 1206500"/>
                <a:gd name="T3" fmla="*/ 4233 h 524933"/>
                <a:gd name="T4" fmla="*/ 1206500 w 1206500"/>
                <a:gd name="T5" fmla="*/ 499533 h 524933"/>
                <a:gd name="T6" fmla="*/ 1206500 w 1206500"/>
                <a:gd name="T7" fmla="*/ 499533 h 5249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06500"/>
                <a:gd name="T13" fmla="*/ 0 h 524933"/>
                <a:gd name="T14" fmla="*/ 1206500 w 1206500"/>
                <a:gd name="T15" fmla="*/ 524933 h 5249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06500" h="524933">
                  <a:moveTo>
                    <a:pt x="0" y="524933"/>
                  </a:moveTo>
                  <a:cubicBezTo>
                    <a:pt x="197908" y="266699"/>
                    <a:pt x="395817" y="8466"/>
                    <a:pt x="596900" y="4233"/>
                  </a:cubicBezTo>
                  <a:cubicBezTo>
                    <a:pt x="797983" y="0"/>
                    <a:pt x="1206500" y="499533"/>
                    <a:pt x="1206500" y="499533"/>
                  </a:cubicBezTo>
                </a:path>
              </a:pathLst>
            </a:custGeom>
            <a:noFill/>
            <a:ln w="317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3506" name="Freeform 57">
              <a:extLst>
                <a:ext uri="{FF2B5EF4-FFF2-40B4-BE49-F238E27FC236}">
                  <a16:creationId xmlns:a16="http://schemas.microsoft.com/office/drawing/2014/main" id="{12548B02-2E9F-46A0-F400-465B5C200F7F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5549900" y="3386667"/>
              <a:ext cx="1206500" cy="524933"/>
            </a:xfrm>
            <a:custGeom>
              <a:avLst/>
              <a:gdLst>
                <a:gd name="T0" fmla="*/ 0 w 1206500"/>
                <a:gd name="T1" fmla="*/ 524933 h 524933"/>
                <a:gd name="T2" fmla="*/ 596900 w 1206500"/>
                <a:gd name="T3" fmla="*/ 4233 h 524933"/>
                <a:gd name="T4" fmla="*/ 1206500 w 1206500"/>
                <a:gd name="T5" fmla="*/ 499533 h 524933"/>
                <a:gd name="T6" fmla="*/ 1206500 w 1206500"/>
                <a:gd name="T7" fmla="*/ 499533 h 5249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06500"/>
                <a:gd name="T13" fmla="*/ 0 h 524933"/>
                <a:gd name="T14" fmla="*/ 1206500 w 1206500"/>
                <a:gd name="T15" fmla="*/ 524933 h 5249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06500" h="524933">
                  <a:moveTo>
                    <a:pt x="0" y="524933"/>
                  </a:moveTo>
                  <a:cubicBezTo>
                    <a:pt x="197908" y="266699"/>
                    <a:pt x="395817" y="8466"/>
                    <a:pt x="596900" y="4233"/>
                  </a:cubicBezTo>
                  <a:cubicBezTo>
                    <a:pt x="797983" y="0"/>
                    <a:pt x="1206500" y="499533"/>
                    <a:pt x="1206500" y="499533"/>
                  </a:cubicBezTo>
                </a:path>
              </a:pathLst>
            </a:custGeom>
            <a:noFill/>
            <a:ln w="317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</p:grpSp>
      <p:sp>
        <p:nvSpPr>
          <p:cNvPr id="67" name="Freeform 66">
            <a:extLst>
              <a:ext uri="{FF2B5EF4-FFF2-40B4-BE49-F238E27FC236}">
                <a16:creationId xmlns:a16="http://schemas.microsoft.com/office/drawing/2014/main" id="{48833FC5-4AAD-F6FB-EA29-B7371251A36F}"/>
              </a:ext>
            </a:extLst>
          </p:cNvPr>
          <p:cNvSpPr>
            <a:spLocks/>
          </p:cNvSpPr>
          <p:nvPr/>
        </p:nvSpPr>
        <p:spPr bwMode="auto">
          <a:xfrm>
            <a:off x="1752600" y="3741738"/>
            <a:ext cx="1206500" cy="525462"/>
          </a:xfrm>
          <a:custGeom>
            <a:avLst/>
            <a:gdLst>
              <a:gd name="T0" fmla="*/ 0 w 1206500"/>
              <a:gd name="T1" fmla="*/ 547617 h 524933"/>
              <a:gd name="T2" fmla="*/ 596900 w 1206500"/>
              <a:gd name="T3" fmla="*/ 4401 h 524933"/>
              <a:gd name="T4" fmla="*/ 1206500 w 1206500"/>
              <a:gd name="T5" fmla="*/ 521118 h 524933"/>
              <a:gd name="T6" fmla="*/ 1206500 w 1206500"/>
              <a:gd name="T7" fmla="*/ 521118 h 524933"/>
              <a:gd name="T8" fmla="*/ 0 60000 65536"/>
              <a:gd name="T9" fmla="*/ 0 60000 65536"/>
              <a:gd name="T10" fmla="*/ 0 60000 65536"/>
              <a:gd name="T11" fmla="*/ 0 60000 65536"/>
              <a:gd name="T12" fmla="*/ 0 w 1206500"/>
              <a:gd name="T13" fmla="*/ 0 h 524933"/>
              <a:gd name="T14" fmla="*/ 1206500 w 1206500"/>
              <a:gd name="T15" fmla="*/ 524933 h 52493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6500" h="524933">
                <a:moveTo>
                  <a:pt x="0" y="524933"/>
                </a:moveTo>
                <a:cubicBezTo>
                  <a:pt x="197908" y="266699"/>
                  <a:pt x="395817" y="8466"/>
                  <a:pt x="596900" y="4233"/>
                </a:cubicBezTo>
                <a:cubicBezTo>
                  <a:pt x="797983" y="0"/>
                  <a:pt x="1206500" y="499533"/>
                  <a:pt x="1206500" y="499533"/>
                </a:cubicBezTo>
              </a:path>
            </a:pathLst>
          </a:custGeom>
          <a:noFill/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68" name="Freeform 67">
            <a:extLst>
              <a:ext uri="{FF2B5EF4-FFF2-40B4-BE49-F238E27FC236}">
                <a16:creationId xmlns:a16="http://schemas.microsoft.com/office/drawing/2014/main" id="{6D1B0B30-B970-40B1-86E3-C4342EDE793E}"/>
              </a:ext>
            </a:extLst>
          </p:cNvPr>
          <p:cNvSpPr>
            <a:spLocks/>
          </p:cNvSpPr>
          <p:nvPr/>
        </p:nvSpPr>
        <p:spPr bwMode="auto">
          <a:xfrm rot="10800000">
            <a:off x="6642100" y="4237038"/>
            <a:ext cx="1206500" cy="525462"/>
          </a:xfrm>
          <a:custGeom>
            <a:avLst/>
            <a:gdLst>
              <a:gd name="T0" fmla="*/ 0 w 1206500"/>
              <a:gd name="T1" fmla="*/ 547617 h 524933"/>
              <a:gd name="T2" fmla="*/ 596900 w 1206500"/>
              <a:gd name="T3" fmla="*/ 4401 h 524933"/>
              <a:gd name="T4" fmla="*/ 1206500 w 1206500"/>
              <a:gd name="T5" fmla="*/ 521118 h 524933"/>
              <a:gd name="T6" fmla="*/ 1206500 w 1206500"/>
              <a:gd name="T7" fmla="*/ 521118 h 524933"/>
              <a:gd name="T8" fmla="*/ 0 60000 65536"/>
              <a:gd name="T9" fmla="*/ 0 60000 65536"/>
              <a:gd name="T10" fmla="*/ 0 60000 65536"/>
              <a:gd name="T11" fmla="*/ 0 60000 65536"/>
              <a:gd name="T12" fmla="*/ 0 w 1206500"/>
              <a:gd name="T13" fmla="*/ 0 h 524933"/>
              <a:gd name="T14" fmla="*/ 1206500 w 1206500"/>
              <a:gd name="T15" fmla="*/ 524933 h 52493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6500" h="524933">
                <a:moveTo>
                  <a:pt x="0" y="524933"/>
                </a:moveTo>
                <a:cubicBezTo>
                  <a:pt x="197908" y="266699"/>
                  <a:pt x="395817" y="8466"/>
                  <a:pt x="596900" y="4233"/>
                </a:cubicBezTo>
                <a:cubicBezTo>
                  <a:pt x="797983" y="0"/>
                  <a:pt x="1206500" y="499533"/>
                  <a:pt x="1206500" y="499533"/>
                </a:cubicBezTo>
              </a:path>
            </a:pathLst>
          </a:custGeom>
          <a:noFill/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FB86428-C7D5-2FC0-17E5-5D3AB8F8E02F}"/>
              </a:ext>
            </a:extLst>
          </p:cNvPr>
          <p:cNvCxnSpPr>
            <a:cxnSpLocks noChangeShapeType="1"/>
            <a:stCxn id="67" idx="2"/>
          </p:cNvCxnSpPr>
          <p:nvPr/>
        </p:nvCxnSpPr>
        <p:spPr bwMode="auto">
          <a:xfrm>
            <a:off x="2959100" y="4241800"/>
            <a:ext cx="3708400" cy="0"/>
          </a:xfrm>
          <a:prstGeom prst="line">
            <a:avLst/>
          </a:pr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D8F27CE9-24B8-86EE-410E-64621A32B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7300" y="2997200"/>
            <a:ext cx="1778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Direct signal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527FB6A-C7A6-88F9-F50E-5EB6F6EFB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4400" y="3429000"/>
            <a:ext cx="2146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Reflected signal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E3CD68F-000E-A57C-A3F1-FA6FB4A2D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2700" y="4635500"/>
            <a:ext cx="2044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Received signal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2" grpId="0"/>
      <p:bldP spid="7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25F2E36C-497E-20A2-1EF6-1B48C8806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295400"/>
            <a:ext cx="8521700" cy="532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276" tIns="45637" rIns="91276" bIns="45637"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Channel characteristics change over time and location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SimSun" panose="02010600030101010101" pitchFamily="2" charset="-122"/>
                <a:cs typeface="+mn-cs"/>
              </a:rPr>
              <a:t>e.g., movement of sender, receiver and/or scatters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  <a:sym typeface="Wingdings" panose="05000000000000000000" pitchFamily="2" charset="2"/>
              </a:rPr>
              <a:t>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  <a:sym typeface="Wingdings" panose="05000000000000000000" pitchFamily="2" charset="2"/>
              </a:rPr>
              <a:t> quick changes in the power received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(short term/fast fading)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  <a:sym typeface="Wingdings" panose="05000000000000000000" pitchFamily="2" charset="2"/>
              </a:rPr>
              <a:t>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  <a:sym typeface="Wingdings" panose="05000000000000000000" pitchFamily="2" charset="2"/>
              </a:rPr>
              <a:t> slow changes in the average power </a:t>
            </a:r>
            <a:b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  <a:sym typeface="Wingdings" panose="05000000000000000000" pitchFamily="2" charset="2"/>
              </a:rPr>
            </a:b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  <a:sym typeface="Wingdings" panose="05000000000000000000" pitchFamily="2" charset="2"/>
              </a:rPr>
              <a:t>received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(long term/slow fading)</a:t>
            </a:r>
          </a:p>
        </p:txBody>
      </p:sp>
      <p:grpSp>
        <p:nvGrpSpPr>
          <p:cNvPr id="65539" name="Group 3">
            <a:extLst>
              <a:ext uri="{FF2B5EF4-FFF2-40B4-BE49-F238E27FC236}">
                <a16:creationId xmlns:a16="http://schemas.microsoft.com/office/drawing/2014/main" id="{C296FFDF-4433-8193-9F44-1AE9CE426224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549775"/>
            <a:ext cx="2586038" cy="1597025"/>
            <a:chOff x="1584" y="3168"/>
            <a:chExt cx="1296" cy="589"/>
          </a:xfrm>
        </p:grpSpPr>
        <p:sp>
          <p:nvSpPr>
            <p:cNvPr id="65548" name="Line 4">
              <a:extLst>
                <a:ext uri="{FF2B5EF4-FFF2-40B4-BE49-F238E27FC236}">
                  <a16:creationId xmlns:a16="http://schemas.microsoft.com/office/drawing/2014/main" id="{90AFF675-28AB-F108-E7D9-AA123591EA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3744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5549" name="Line 5">
              <a:extLst>
                <a:ext uri="{FF2B5EF4-FFF2-40B4-BE49-F238E27FC236}">
                  <a16:creationId xmlns:a16="http://schemas.microsoft.com/office/drawing/2014/main" id="{6B091712-2858-0278-E759-88D9EBFEC5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5550" name="Freeform 6">
              <a:extLst>
                <a:ext uri="{FF2B5EF4-FFF2-40B4-BE49-F238E27FC236}">
                  <a16:creationId xmlns:a16="http://schemas.microsoft.com/office/drawing/2014/main" id="{8DCB23C0-7C00-7F88-8DEB-475B041A4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4" y="3256"/>
              <a:ext cx="1152" cy="501"/>
            </a:xfrm>
            <a:custGeom>
              <a:avLst/>
              <a:gdLst>
                <a:gd name="T0" fmla="*/ 0 w 1152"/>
                <a:gd name="T1" fmla="*/ 104 h 501"/>
                <a:gd name="T2" fmla="*/ 96 w 1152"/>
                <a:gd name="T3" fmla="*/ 56 h 501"/>
                <a:gd name="T4" fmla="*/ 210 w 1152"/>
                <a:gd name="T5" fmla="*/ 62 h 501"/>
                <a:gd name="T6" fmla="*/ 240 w 1152"/>
                <a:gd name="T7" fmla="*/ 392 h 501"/>
                <a:gd name="T8" fmla="*/ 288 w 1152"/>
                <a:gd name="T9" fmla="*/ 392 h 501"/>
                <a:gd name="T10" fmla="*/ 288 w 1152"/>
                <a:gd name="T11" fmla="*/ 56 h 501"/>
                <a:gd name="T12" fmla="*/ 384 w 1152"/>
                <a:gd name="T13" fmla="*/ 56 h 501"/>
                <a:gd name="T14" fmla="*/ 402 w 1152"/>
                <a:gd name="T15" fmla="*/ 296 h 501"/>
                <a:gd name="T16" fmla="*/ 432 w 1152"/>
                <a:gd name="T17" fmla="*/ 296 h 501"/>
                <a:gd name="T18" fmla="*/ 450 w 1152"/>
                <a:gd name="T19" fmla="*/ 62 h 501"/>
                <a:gd name="T20" fmla="*/ 552 w 1152"/>
                <a:gd name="T21" fmla="*/ 26 h 501"/>
                <a:gd name="T22" fmla="*/ 564 w 1152"/>
                <a:gd name="T23" fmla="*/ 200 h 501"/>
                <a:gd name="T24" fmla="*/ 600 w 1152"/>
                <a:gd name="T25" fmla="*/ 200 h 501"/>
                <a:gd name="T26" fmla="*/ 600 w 1152"/>
                <a:gd name="T27" fmla="*/ 62 h 501"/>
                <a:gd name="T28" fmla="*/ 738 w 1152"/>
                <a:gd name="T29" fmla="*/ 68 h 501"/>
                <a:gd name="T30" fmla="*/ 762 w 1152"/>
                <a:gd name="T31" fmla="*/ 284 h 501"/>
                <a:gd name="T32" fmla="*/ 798 w 1152"/>
                <a:gd name="T33" fmla="*/ 326 h 501"/>
                <a:gd name="T34" fmla="*/ 822 w 1152"/>
                <a:gd name="T35" fmla="*/ 110 h 501"/>
                <a:gd name="T36" fmla="*/ 960 w 1152"/>
                <a:gd name="T37" fmla="*/ 104 h 501"/>
                <a:gd name="T38" fmla="*/ 996 w 1152"/>
                <a:gd name="T39" fmla="*/ 434 h 501"/>
                <a:gd name="T40" fmla="*/ 1038 w 1152"/>
                <a:gd name="T41" fmla="*/ 446 h 501"/>
                <a:gd name="T42" fmla="*/ 1056 w 1152"/>
                <a:gd name="T43" fmla="*/ 104 h 501"/>
                <a:gd name="T44" fmla="*/ 1152 w 1152"/>
                <a:gd name="T45" fmla="*/ 104 h 501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152" h="501">
                  <a:moveTo>
                    <a:pt x="0" y="104"/>
                  </a:moveTo>
                  <a:cubicBezTo>
                    <a:pt x="32" y="84"/>
                    <a:pt x="61" y="63"/>
                    <a:pt x="96" y="56"/>
                  </a:cubicBezTo>
                  <a:cubicBezTo>
                    <a:pt x="131" y="49"/>
                    <a:pt x="186" y="6"/>
                    <a:pt x="210" y="62"/>
                  </a:cubicBezTo>
                  <a:cubicBezTo>
                    <a:pt x="234" y="118"/>
                    <a:pt x="227" y="337"/>
                    <a:pt x="240" y="392"/>
                  </a:cubicBezTo>
                  <a:cubicBezTo>
                    <a:pt x="253" y="447"/>
                    <a:pt x="280" y="448"/>
                    <a:pt x="288" y="392"/>
                  </a:cubicBezTo>
                  <a:cubicBezTo>
                    <a:pt x="296" y="336"/>
                    <a:pt x="272" y="112"/>
                    <a:pt x="288" y="56"/>
                  </a:cubicBezTo>
                  <a:cubicBezTo>
                    <a:pt x="304" y="0"/>
                    <a:pt x="365" y="16"/>
                    <a:pt x="384" y="56"/>
                  </a:cubicBezTo>
                  <a:cubicBezTo>
                    <a:pt x="403" y="96"/>
                    <a:pt x="394" y="256"/>
                    <a:pt x="402" y="296"/>
                  </a:cubicBezTo>
                  <a:cubicBezTo>
                    <a:pt x="410" y="336"/>
                    <a:pt x="424" y="335"/>
                    <a:pt x="432" y="296"/>
                  </a:cubicBezTo>
                  <a:cubicBezTo>
                    <a:pt x="440" y="257"/>
                    <a:pt x="430" y="107"/>
                    <a:pt x="450" y="62"/>
                  </a:cubicBezTo>
                  <a:cubicBezTo>
                    <a:pt x="470" y="17"/>
                    <a:pt x="533" y="3"/>
                    <a:pt x="552" y="26"/>
                  </a:cubicBezTo>
                  <a:cubicBezTo>
                    <a:pt x="571" y="49"/>
                    <a:pt x="556" y="171"/>
                    <a:pt x="564" y="200"/>
                  </a:cubicBezTo>
                  <a:cubicBezTo>
                    <a:pt x="572" y="229"/>
                    <a:pt x="594" y="223"/>
                    <a:pt x="600" y="200"/>
                  </a:cubicBezTo>
                  <a:cubicBezTo>
                    <a:pt x="606" y="177"/>
                    <a:pt x="577" y="84"/>
                    <a:pt x="600" y="62"/>
                  </a:cubicBezTo>
                  <a:cubicBezTo>
                    <a:pt x="623" y="40"/>
                    <a:pt x="711" y="31"/>
                    <a:pt x="738" y="68"/>
                  </a:cubicBezTo>
                  <a:cubicBezTo>
                    <a:pt x="765" y="105"/>
                    <a:pt x="752" y="241"/>
                    <a:pt x="762" y="284"/>
                  </a:cubicBezTo>
                  <a:cubicBezTo>
                    <a:pt x="772" y="327"/>
                    <a:pt x="788" y="355"/>
                    <a:pt x="798" y="326"/>
                  </a:cubicBezTo>
                  <a:cubicBezTo>
                    <a:pt x="808" y="297"/>
                    <a:pt x="795" y="147"/>
                    <a:pt x="822" y="110"/>
                  </a:cubicBezTo>
                  <a:cubicBezTo>
                    <a:pt x="849" y="73"/>
                    <a:pt x="931" y="50"/>
                    <a:pt x="960" y="104"/>
                  </a:cubicBezTo>
                  <a:cubicBezTo>
                    <a:pt x="989" y="158"/>
                    <a:pt x="983" y="377"/>
                    <a:pt x="996" y="434"/>
                  </a:cubicBezTo>
                  <a:cubicBezTo>
                    <a:pt x="1009" y="491"/>
                    <a:pt x="1028" y="501"/>
                    <a:pt x="1038" y="446"/>
                  </a:cubicBezTo>
                  <a:cubicBezTo>
                    <a:pt x="1048" y="391"/>
                    <a:pt x="1037" y="161"/>
                    <a:pt x="1056" y="104"/>
                  </a:cubicBezTo>
                  <a:cubicBezTo>
                    <a:pt x="1075" y="47"/>
                    <a:pt x="1136" y="104"/>
                    <a:pt x="1152" y="104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ADAF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5551" name="Freeform 7">
              <a:extLst>
                <a:ext uri="{FF2B5EF4-FFF2-40B4-BE49-F238E27FC236}">
                  <a16:creationId xmlns:a16="http://schemas.microsoft.com/office/drawing/2014/main" id="{5D21FF45-22DA-DDFF-E6D1-B4C5F54DC7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4" y="3312"/>
              <a:ext cx="1200" cy="200"/>
            </a:xfrm>
            <a:custGeom>
              <a:avLst/>
              <a:gdLst>
                <a:gd name="T0" fmla="*/ 0 w 1200"/>
                <a:gd name="T1" fmla="*/ 96 h 200"/>
                <a:gd name="T2" fmla="*/ 144 w 1200"/>
                <a:gd name="T3" fmla="*/ 48 h 200"/>
                <a:gd name="T4" fmla="*/ 336 w 1200"/>
                <a:gd name="T5" fmla="*/ 48 h 200"/>
                <a:gd name="T6" fmla="*/ 528 w 1200"/>
                <a:gd name="T7" fmla="*/ 0 h 200"/>
                <a:gd name="T8" fmla="*/ 720 w 1200"/>
                <a:gd name="T9" fmla="*/ 48 h 200"/>
                <a:gd name="T10" fmla="*/ 864 w 1200"/>
                <a:gd name="T11" fmla="*/ 96 h 200"/>
                <a:gd name="T12" fmla="*/ 1008 w 1200"/>
                <a:gd name="T13" fmla="*/ 192 h 200"/>
                <a:gd name="T14" fmla="*/ 1200 w 1200"/>
                <a:gd name="T15" fmla="*/ 144 h 2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00" h="200">
                  <a:moveTo>
                    <a:pt x="0" y="96"/>
                  </a:moveTo>
                  <a:cubicBezTo>
                    <a:pt x="44" y="76"/>
                    <a:pt x="88" y="56"/>
                    <a:pt x="144" y="48"/>
                  </a:cubicBezTo>
                  <a:cubicBezTo>
                    <a:pt x="200" y="40"/>
                    <a:pt x="272" y="56"/>
                    <a:pt x="336" y="48"/>
                  </a:cubicBezTo>
                  <a:cubicBezTo>
                    <a:pt x="400" y="40"/>
                    <a:pt x="464" y="0"/>
                    <a:pt x="528" y="0"/>
                  </a:cubicBezTo>
                  <a:cubicBezTo>
                    <a:pt x="592" y="0"/>
                    <a:pt x="664" y="32"/>
                    <a:pt x="720" y="48"/>
                  </a:cubicBezTo>
                  <a:cubicBezTo>
                    <a:pt x="776" y="64"/>
                    <a:pt x="816" y="72"/>
                    <a:pt x="864" y="96"/>
                  </a:cubicBezTo>
                  <a:cubicBezTo>
                    <a:pt x="912" y="120"/>
                    <a:pt x="952" y="184"/>
                    <a:pt x="1008" y="192"/>
                  </a:cubicBezTo>
                  <a:cubicBezTo>
                    <a:pt x="1064" y="200"/>
                    <a:pt x="1168" y="152"/>
                    <a:pt x="1200" y="144"/>
                  </a:cubicBezTo>
                </a:path>
              </a:pathLst>
            </a:custGeom>
            <a:noFill/>
            <a:ln w="9525" cap="flat" cmpd="sng">
              <a:solidFill>
                <a:srgbClr val="FF00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ADAF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</p:grpSp>
      <p:sp>
        <p:nvSpPr>
          <p:cNvPr id="65540" name="Text Box 8">
            <a:extLst>
              <a:ext uri="{FF2B5EF4-FFF2-40B4-BE49-F238E27FC236}">
                <a16:creationId xmlns:a16="http://schemas.microsoft.com/office/drawing/2014/main" id="{73CD9CB3-6830-A60F-BE0F-3269965504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299200"/>
            <a:ext cx="15113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ADAF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76" tIns="45637" rIns="91276" bIns="45637">
            <a:spAutoFit/>
          </a:bodyPr>
          <a:lstStyle>
            <a:lvl1pPr defTabSz="912813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12813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12813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12813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short term fading</a:t>
            </a:r>
          </a:p>
        </p:txBody>
      </p:sp>
      <p:sp>
        <p:nvSpPr>
          <p:cNvPr id="65541" name="Text Box 9">
            <a:extLst>
              <a:ext uri="{FF2B5EF4-FFF2-40B4-BE49-F238E27FC236}">
                <a16:creationId xmlns:a16="http://schemas.microsoft.com/office/drawing/2014/main" id="{A62B6DD3-5D87-FA0A-57FC-8F64F4E79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9425" y="4318000"/>
            <a:ext cx="92075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ADAF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76" tIns="45637" rIns="91276" bIns="45637">
            <a:spAutoFit/>
          </a:bodyPr>
          <a:lstStyle>
            <a:lvl1pPr defTabSz="912813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12813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12813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12813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long term</a:t>
            </a:r>
          </a:p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fading</a:t>
            </a:r>
          </a:p>
        </p:txBody>
      </p:sp>
      <p:cxnSp>
        <p:nvCxnSpPr>
          <p:cNvPr id="65542" name="AutoShape 10">
            <a:extLst>
              <a:ext uri="{FF2B5EF4-FFF2-40B4-BE49-F238E27FC236}">
                <a16:creationId xmlns:a16="http://schemas.microsoft.com/office/drawing/2014/main" id="{348F4EDC-C7A7-44E0-E16A-9CD87E9C8A35}"/>
              </a:ext>
            </a:extLst>
          </p:cNvPr>
          <p:cNvCxnSpPr>
            <a:cxnSpLocks noChangeShapeType="1"/>
            <a:stCxn id="65541" idx="1"/>
            <a:endCxn id="65551" idx="5"/>
          </p:cNvCxnSpPr>
          <p:nvPr/>
        </p:nvCxnSpPr>
        <p:spPr bwMode="auto">
          <a:xfrm flipH="1">
            <a:off x="5305425" y="4576763"/>
            <a:ext cx="254000" cy="623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543" name="AutoShape 11">
            <a:extLst>
              <a:ext uri="{FF2B5EF4-FFF2-40B4-BE49-F238E27FC236}">
                <a16:creationId xmlns:a16="http://schemas.microsoft.com/office/drawing/2014/main" id="{E453E507-46D1-A9CC-59E3-CDB9B296D547}"/>
              </a:ext>
            </a:extLst>
          </p:cNvPr>
          <p:cNvCxnSpPr>
            <a:cxnSpLocks noChangeShapeType="1"/>
            <a:stCxn id="65540" idx="0"/>
            <a:endCxn id="65550" idx="3"/>
          </p:cNvCxnSpPr>
          <p:nvPr/>
        </p:nvCxnSpPr>
        <p:spPr bwMode="auto">
          <a:xfrm flipV="1">
            <a:off x="3879850" y="5851525"/>
            <a:ext cx="180975" cy="4476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5544" name="Text Box 12">
            <a:extLst>
              <a:ext uri="{FF2B5EF4-FFF2-40B4-BE49-F238E27FC236}">
                <a16:creationId xmlns:a16="http://schemas.microsoft.com/office/drawing/2014/main" id="{BC2B036F-129C-0BA6-DFE7-8EDB87A7B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6146800"/>
            <a:ext cx="2317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ADAF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76" tIns="45637" rIns="91276" bIns="45637">
            <a:spAutoFit/>
          </a:bodyPr>
          <a:lstStyle>
            <a:lvl1pPr defTabSz="912813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12813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12813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12813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65545" name="Text Box 13">
            <a:extLst>
              <a:ext uri="{FF2B5EF4-FFF2-40B4-BE49-F238E27FC236}">
                <a16:creationId xmlns:a16="http://schemas.microsoft.com/office/drawing/2014/main" id="{8CF5B616-85B0-502C-104E-44406949B0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473575"/>
            <a:ext cx="663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ADAF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76" tIns="45637" rIns="91276" bIns="45637">
            <a:spAutoFit/>
          </a:bodyPr>
          <a:lstStyle>
            <a:lvl1pPr defTabSz="912813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12813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12813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12813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power</a:t>
            </a:r>
          </a:p>
        </p:txBody>
      </p:sp>
      <p:sp>
        <p:nvSpPr>
          <p:cNvPr id="65546" name="Rectangle 14">
            <a:extLst>
              <a:ext uri="{FF2B5EF4-FFF2-40B4-BE49-F238E27FC236}">
                <a16:creationId xmlns:a16="http://schemas.microsoft.com/office/drawing/2014/main" id="{8FD505FF-C3CD-C81B-C0BC-EB5DE2531F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7488" y="228600"/>
            <a:ext cx="8751887" cy="838200"/>
          </a:xfrm>
        </p:spPr>
        <p:txBody>
          <a:bodyPr/>
          <a:lstStyle/>
          <a:p>
            <a:pPr eaLnBrk="1" hangingPunct="1"/>
            <a:r>
              <a:rPr lang="en-US" altLang="en-US" sz="3400" dirty="0"/>
              <a:t>Wireless Link Characteristics– Fading</a:t>
            </a:r>
          </a:p>
        </p:txBody>
      </p:sp>
      <p:sp>
        <p:nvSpPr>
          <p:cNvPr id="65547" name="Slide Number Placeholder 1">
            <a:extLst>
              <a:ext uri="{FF2B5EF4-FFF2-40B4-BE49-F238E27FC236}">
                <a16:creationId xmlns:a16="http://schemas.microsoft.com/office/drawing/2014/main" id="{96B07AC5-580C-A0AC-69DD-E62869009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5FFCC04-6FEE-4558-AE3C-319B79BB03B7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17A73761-9F3B-ADFF-B328-EB62DDD12BCC}"/>
              </a:ext>
            </a:extLst>
          </p:cNvPr>
          <p:cNvSpPr txBox="1">
            <a:spLocks/>
          </p:cNvSpPr>
          <p:nvPr/>
        </p:nvSpPr>
        <p:spPr>
          <a:xfrm>
            <a:off x="470010" y="228600"/>
            <a:ext cx="8581803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03" name="Group 3">
            <a:extLst>
              <a:ext uri="{FF2B5EF4-FFF2-40B4-BE49-F238E27FC236}">
                <a16:creationId xmlns:a16="http://schemas.microsoft.com/office/drawing/2014/main" id="{209330FD-2315-B586-16D6-8928AEDF8A31}"/>
              </a:ext>
            </a:extLst>
          </p:cNvPr>
          <p:cNvGrpSpPr>
            <a:grpSpLocks/>
          </p:cNvGrpSpPr>
          <p:nvPr/>
        </p:nvGrpSpPr>
        <p:grpSpPr bwMode="auto">
          <a:xfrm>
            <a:off x="7219950" y="5703887"/>
            <a:ext cx="781050" cy="1001713"/>
            <a:chOff x="4068" y="3364"/>
            <a:chExt cx="492" cy="631"/>
          </a:xfrm>
        </p:grpSpPr>
        <p:sp>
          <p:nvSpPr>
            <p:cNvPr id="51204" name="Rectangle 4">
              <a:extLst>
                <a:ext uri="{FF2B5EF4-FFF2-40B4-BE49-F238E27FC236}">
                  <a16:creationId xmlns:a16="http://schemas.microsoft.com/office/drawing/2014/main" id="{F707739F-CA72-B796-FD75-0F06EC1923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3719"/>
              <a:ext cx="147" cy="26"/>
            </a:xfrm>
            <a:prstGeom prst="rect">
              <a:avLst/>
            </a:prstGeom>
            <a:solidFill>
              <a:schemeClr val="accent1"/>
            </a:solidFill>
            <a:ln w="12700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  <a:contourClr>
                <a:schemeClr val="accent1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endParaRPr lang="en-US"/>
            </a:p>
          </p:txBody>
        </p:sp>
        <p:sp>
          <p:nvSpPr>
            <p:cNvPr id="51205" name="Text Box 5">
              <a:extLst>
                <a:ext uri="{FF2B5EF4-FFF2-40B4-BE49-F238E27FC236}">
                  <a16:creationId xmlns:a16="http://schemas.microsoft.com/office/drawing/2014/main" id="{388FDD52-432B-1557-1773-F27742DBB2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8" y="3364"/>
              <a:ext cx="4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0FA2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/>
                <a:t>1 </a:t>
              </a:r>
              <a:r>
                <a:rPr lang="en-US" altLang="en-US" sz="2000">
                  <a:sym typeface="Symbol" panose="05050102010706020507" pitchFamily="18" charset="2"/>
                </a:rPr>
                <a:t></a:t>
              </a:r>
              <a:r>
                <a:rPr lang="en-US" altLang="en-US" sz="2000"/>
                <a:t>W</a:t>
              </a:r>
            </a:p>
          </p:txBody>
        </p:sp>
        <p:sp>
          <p:nvSpPr>
            <p:cNvPr id="51206" name="Text Box 6">
              <a:extLst>
                <a:ext uri="{FF2B5EF4-FFF2-40B4-BE49-F238E27FC236}">
                  <a16:creationId xmlns:a16="http://schemas.microsoft.com/office/drawing/2014/main" id="{3DBA8622-046D-ADBB-3E9E-F082EAF8D4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2" y="3745"/>
              <a:ext cx="38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0FA2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/>
                <a:t>  d2</a:t>
              </a:r>
            </a:p>
          </p:txBody>
        </p:sp>
      </p:grpSp>
      <p:grpSp>
        <p:nvGrpSpPr>
          <p:cNvPr id="51207" name="Group 7">
            <a:extLst>
              <a:ext uri="{FF2B5EF4-FFF2-40B4-BE49-F238E27FC236}">
                <a16:creationId xmlns:a16="http://schemas.microsoft.com/office/drawing/2014/main" id="{69F39053-8A2F-18EB-2A22-54949606FFF9}"/>
              </a:ext>
            </a:extLst>
          </p:cNvPr>
          <p:cNvGrpSpPr>
            <a:grpSpLocks/>
          </p:cNvGrpSpPr>
          <p:nvPr/>
        </p:nvGrpSpPr>
        <p:grpSpPr bwMode="auto">
          <a:xfrm>
            <a:off x="1604963" y="1109662"/>
            <a:ext cx="1068387" cy="5595938"/>
            <a:chOff x="486" y="470"/>
            <a:chExt cx="673" cy="3525"/>
          </a:xfrm>
        </p:grpSpPr>
        <p:sp>
          <p:nvSpPr>
            <p:cNvPr id="51208" name="Text Box 8">
              <a:extLst>
                <a:ext uri="{FF2B5EF4-FFF2-40B4-BE49-F238E27FC236}">
                  <a16:creationId xmlns:a16="http://schemas.microsoft.com/office/drawing/2014/main" id="{6FBC765B-C079-4AB3-B15B-850F5A14E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" y="470"/>
              <a:ext cx="53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0FA2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 dirty="0"/>
                <a:t> 10 W</a:t>
              </a:r>
            </a:p>
          </p:txBody>
        </p:sp>
        <p:sp>
          <p:nvSpPr>
            <p:cNvPr id="51209" name="Text Box 9">
              <a:extLst>
                <a:ext uri="{FF2B5EF4-FFF2-40B4-BE49-F238E27FC236}">
                  <a16:creationId xmlns:a16="http://schemas.microsoft.com/office/drawing/2014/main" id="{7C839366-1BF4-2A28-D3C8-6A91C39BBB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" y="3745"/>
              <a:ext cx="5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0FA2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/>
                <a:t>source</a:t>
              </a:r>
            </a:p>
          </p:txBody>
        </p:sp>
        <p:sp>
          <p:nvSpPr>
            <p:cNvPr id="51210" name="Rectangle 10">
              <a:extLst>
                <a:ext uri="{FF2B5EF4-FFF2-40B4-BE49-F238E27FC236}">
                  <a16:creationId xmlns:a16="http://schemas.microsoft.com/office/drawing/2014/main" id="{AB8EA8D2-66C8-3475-BB02-353D4D4C40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" y="791"/>
              <a:ext cx="165" cy="2936"/>
            </a:xfrm>
            <a:prstGeom prst="rect">
              <a:avLst/>
            </a:prstGeom>
            <a:solidFill>
              <a:schemeClr val="accent1"/>
            </a:solidFill>
            <a:ln w="12700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  <a:contourClr>
                <a:schemeClr val="accent1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endParaRPr lang="en-US"/>
            </a:p>
          </p:txBody>
        </p:sp>
      </p:grpSp>
      <p:grpSp>
        <p:nvGrpSpPr>
          <p:cNvPr id="51211" name="Group 11">
            <a:extLst>
              <a:ext uri="{FF2B5EF4-FFF2-40B4-BE49-F238E27FC236}">
                <a16:creationId xmlns:a16="http://schemas.microsoft.com/office/drawing/2014/main" id="{8B11A250-E52F-7F65-088D-CC26D2A2906E}"/>
              </a:ext>
            </a:extLst>
          </p:cNvPr>
          <p:cNvGrpSpPr>
            <a:grpSpLocks/>
          </p:cNvGrpSpPr>
          <p:nvPr/>
        </p:nvGrpSpPr>
        <p:grpSpPr bwMode="auto">
          <a:xfrm>
            <a:off x="4494213" y="4673600"/>
            <a:ext cx="1012825" cy="2017712"/>
            <a:chOff x="2351" y="2715"/>
            <a:chExt cx="638" cy="1271"/>
          </a:xfrm>
        </p:grpSpPr>
        <p:sp>
          <p:nvSpPr>
            <p:cNvPr id="51212" name="Text Box 12">
              <a:extLst>
                <a:ext uri="{FF2B5EF4-FFF2-40B4-BE49-F238E27FC236}">
                  <a16:creationId xmlns:a16="http://schemas.microsoft.com/office/drawing/2014/main" id="{5E1689D1-AC27-3472-9A62-5B89F7EFB5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9" y="3736"/>
              <a:ext cx="38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0FA2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/>
                <a:t>  d1</a:t>
              </a:r>
            </a:p>
          </p:txBody>
        </p:sp>
        <p:sp>
          <p:nvSpPr>
            <p:cNvPr id="51213" name="Rectangle 13">
              <a:extLst>
                <a:ext uri="{FF2B5EF4-FFF2-40B4-BE49-F238E27FC236}">
                  <a16:creationId xmlns:a16="http://schemas.microsoft.com/office/drawing/2014/main" id="{AA92DD41-8FD1-16F7-B2FF-53CD44FE2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2" y="3013"/>
              <a:ext cx="139" cy="712"/>
            </a:xfrm>
            <a:prstGeom prst="rect">
              <a:avLst/>
            </a:prstGeom>
            <a:solidFill>
              <a:schemeClr val="accent1"/>
            </a:solidFill>
            <a:ln w="12700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  <a:contourClr>
                <a:schemeClr val="accent1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endParaRPr lang="en-US"/>
            </a:p>
          </p:txBody>
        </p:sp>
        <p:sp>
          <p:nvSpPr>
            <p:cNvPr id="51214" name="Text Box 14">
              <a:extLst>
                <a:ext uri="{FF2B5EF4-FFF2-40B4-BE49-F238E27FC236}">
                  <a16:creationId xmlns:a16="http://schemas.microsoft.com/office/drawing/2014/main" id="{FDEE1344-E3C2-89C4-D641-C9FD4F56BD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1" y="2715"/>
              <a:ext cx="6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0FA2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/>
                <a:t>1 mW</a:t>
              </a:r>
            </a:p>
          </p:txBody>
        </p:sp>
      </p:grpSp>
      <p:grpSp>
        <p:nvGrpSpPr>
          <p:cNvPr id="51215" name="Group 15">
            <a:extLst>
              <a:ext uri="{FF2B5EF4-FFF2-40B4-BE49-F238E27FC236}">
                <a16:creationId xmlns:a16="http://schemas.microsoft.com/office/drawing/2014/main" id="{406AC432-3E20-DE0C-0D8D-7E585ED87461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1522412"/>
            <a:ext cx="1389063" cy="4735513"/>
            <a:chOff x="151" y="730"/>
            <a:chExt cx="875" cy="2983"/>
          </a:xfrm>
        </p:grpSpPr>
        <p:sp>
          <p:nvSpPr>
            <p:cNvPr id="51216" name="Text Box 16">
              <a:extLst>
                <a:ext uri="{FF2B5EF4-FFF2-40B4-BE49-F238E27FC236}">
                  <a16:creationId xmlns:a16="http://schemas.microsoft.com/office/drawing/2014/main" id="{6E9F0388-DA38-5314-F46C-A91BBE6FCE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" y="2767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0FA2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/>
                <a:t>10</a:t>
              </a:r>
              <a:r>
                <a:rPr lang="en-US" altLang="en-US" sz="2000" baseline="30000"/>
                <a:t>-3</a:t>
              </a:r>
            </a:p>
          </p:txBody>
        </p:sp>
        <p:sp>
          <p:nvSpPr>
            <p:cNvPr id="51217" name="Text Box 17">
              <a:extLst>
                <a:ext uri="{FF2B5EF4-FFF2-40B4-BE49-F238E27FC236}">
                  <a16:creationId xmlns:a16="http://schemas.microsoft.com/office/drawing/2014/main" id="{C691CEFC-0C4A-A8A0-4B72-79AD2A1EA6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" y="730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0FA2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 dirty="0"/>
                <a:t>10</a:t>
              </a:r>
              <a:r>
                <a:rPr lang="en-US" altLang="en-US" sz="2000" baseline="30000" dirty="0"/>
                <a:t>1</a:t>
              </a:r>
            </a:p>
          </p:txBody>
        </p:sp>
        <p:sp>
          <p:nvSpPr>
            <p:cNvPr id="51218" name="Text Box 18">
              <a:extLst>
                <a:ext uri="{FF2B5EF4-FFF2-40B4-BE49-F238E27FC236}">
                  <a16:creationId xmlns:a16="http://schemas.microsoft.com/office/drawing/2014/main" id="{990B9753-1A33-5E18-D5C8-BA3E40D543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" y="3463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0FA2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/>
                <a:t>10</a:t>
              </a:r>
              <a:r>
                <a:rPr lang="en-US" altLang="en-US" sz="2000" baseline="30000"/>
                <a:t>-6</a:t>
              </a:r>
            </a:p>
          </p:txBody>
        </p:sp>
        <p:sp>
          <p:nvSpPr>
            <p:cNvPr id="51219" name="Text Box 19">
              <a:extLst>
                <a:ext uri="{FF2B5EF4-FFF2-40B4-BE49-F238E27FC236}">
                  <a16:creationId xmlns:a16="http://schemas.microsoft.com/office/drawing/2014/main" id="{E4B87854-6912-5A97-DBFB-6B77F6F0E3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" y="1754"/>
              <a:ext cx="61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0FA2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/>
                <a:t> Power</a:t>
              </a:r>
            </a:p>
          </p:txBody>
        </p:sp>
      </p:grpSp>
      <p:grpSp>
        <p:nvGrpSpPr>
          <p:cNvPr id="51220" name="Group 20">
            <a:extLst>
              <a:ext uri="{FF2B5EF4-FFF2-40B4-BE49-F238E27FC236}">
                <a16:creationId xmlns:a16="http://schemas.microsoft.com/office/drawing/2014/main" id="{763C517C-59F2-6E43-1F20-D0B8108C76FA}"/>
              </a:ext>
            </a:extLst>
          </p:cNvPr>
          <p:cNvGrpSpPr>
            <a:grpSpLocks/>
          </p:cNvGrpSpPr>
          <p:nvPr/>
        </p:nvGrpSpPr>
        <p:grpSpPr bwMode="auto">
          <a:xfrm>
            <a:off x="6237288" y="1522412"/>
            <a:ext cx="2049463" cy="746125"/>
            <a:chOff x="3902" y="471"/>
            <a:chExt cx="1291" cy="470"/>
          </a:xfrm>
        </p:grpSpPr>
        <p:sp>
          <p:nvSpPr>
            <p:cNvPr id="51221" name="Text Box 21">
              <a:extLst>
                <a:ext uri="{FF2B5EF4-FFF2-40B4-BE49-F238E27FC236}">
                  <a16:creationId xmlns:a16="http://schemas.microsoft.com/office/drawing/2014/main" id="{ADEAE429-3EEF-E64D-DDEF-91233C51E6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2" y="578"/>
              <a:ext cx="129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0FA2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 dirty="0">
                  <a:solidFill>
                    <a:schemeClr val="tx2"/>
                  </a:solidFill>
                </a:rPr>
                <a:t>dB</a:t>
              </a:r>
              <a:r>
                <a:rPr lang="en-US" altLang="en-US" sz="2000" dirty="0"/>
                <a:t> = 10 log (----)</a:t>
              </a:r>
            </a:p>
          </p:txBody>
        </p:sp>
        <p:sp>
          <p:nvSpPr>
            <p:cNvPr id="51222" name="Text Box 22">
              <a:extLst>
                <a:ext uri="{FF2B5EF4-FFF2-40B4-BE49-F238E27FC236}">
                  <a16:creationId xmlns:a16="http://schemas.microsoft.com/office/drawing/2014/main" id="{00866E41-AF5C-1788-42FC-E0139CB54C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4" y="471"/>
              <a:ext cx="32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0FA2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 dirty="0"/>
                <a:t> P</a:t>
              </a:r>
              <a:r>
                <a:rPr lang="en-US" altLang="en-US" sz="2000" baseline="-25000" dirty="0"/>
                <a:t>1</a:t>
              </a:r>
            </a:p>
          </p:txBody>
        </p:sp>
        <p:sp>
          <p:nvSpPr>
            <p:cNvPr id="51223" name="Text Box 23">
              <a:extLst>
                <a:ext uri="{FF2B5EF4-FFF2-40B4-BE49-F238E27FC236}">
                  <a16:creationId xmlns:a16="http://schemas.microsoft.com/office/drawing/2014/main" id="{A218C67C-AED6-AB7E-422B-0A5B23FEB3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2" y="691"/>
              <a:ext cx="32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0FA2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/>
                <a:t> P</a:t>
              </a:r>
              <a:r>
                <a:rPr lang="en-US" altLang="en-US" sz="2000" baseline="-25000"/>
                <a:t>2</a:t>
              </a:r>
            </a:p>
          </p:txBody>
        </p:sp>
      </p:grpSp>
      <p:sp>
        <p:nvSpPr>
          <p:cNvPr id="51224" name="Text Box 24">
            <a:extLst>
              <a:ext uri="{FF2B5EF4-FFF2-40B4-BE49-F238E27FC236}">
                <a16:creationId xmlns:a16="http://schemas.microsoft.com/office/drawing/2014/main" id="{E3BBD076-689E-FD0D-525D-C0A1FD62F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7238" y="3673475"/>
            <a:ext cx="41513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2000" dirty="0">
                <a:solidFill>
                  <a:schemeClr val="tx2"/>
                </a:solidFill>
              </a:rPr>
              <a:t>Path loss from source to d2 = 70dB</a:t>
            </a:r>
          </a:p>
        </p:txBody>
      </p:sp>
      <p:grpSp>
        <p:nvGrpSpPr>
          <p:cNvPr id="51225" name="Group 25">
            <a:extLst>
              <a:ext uri="{FF2B5EF4-FFF2-40B4-BE49-F238E27FC236}">
                <a16:creationId xmlns:a16="http://schemas.microsoft.com/office/drawing/2014/main" id="{9E674584-215A-F326-6FDD-30D7130C88E3}"/>
              </a:ext>
            </a:extLst>
          </p:cNvPr>
          <p:cNvGrpSpPr>
            <a:grpSpLocks/>
          </p:cNvGrpSpPr>
          <p:nvPr/>
        </p:nvGrpSpPr>
        <p:grpSpPr bwMode="auto">
          <a:xfrm>
            <a:off x="2174875" y="5378450"/>
            <a:ext cx="5208588" cy="901700"/>
            <a:chOff x="890" y="3159"/>
            <a:chExt cx="3281" cy="568"/>
          </a:xfrm>
        </p:grpSpPr>
        <p:sp>
          <p:nvSpPr>
            <p:cNvPr id="51226" name="Text Box 26">
              <a:extLst>
                <a:ext uri="{FF2B5EF4-FFF2-40B4-BE49-F238E27FC236}">
                  <a16:creationId xmlns:a16="http://schemas.microsoft.com/office/drawing/2014/main" id="{36FD1FE9-E622-DEA4-F1AF-AE85DE5C07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3" y="3174"/>
              <a:ext cx="98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0FA2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/>
                <a:t> 1,000 times</a:t>
              </a:r>
            </a:p>
          </p:txBody>
        </p:sp>
        <p:sp>
          <p:nvSpPr>
            <p:cNvPr id="51227" name="Text Box 27">
              <a:extLst>
                <a:ext uri="{FF2B5EF4-FFF2-40B4-BE49-F238E27FC236}">
                  <a16:creationId xmlns:a16="http://schemas.microsoft.com/office/drawing/2014/main" id="{D1D18A2B-F01B-2A8D-130F-FC7A4278BC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396"/>
              <a:ext cx="53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0FA2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</a:rPr>
                <a:t>40 dB</a:t>
              </a:r>
            </a:p>
          </p:txBody>
        </p:sp>
        <p:sp>
          <p:nvSpPr>
            <p:cNvPr id="51228" name="Text Box 28">
              <a:extLst>
                <a:ext uri="{FF2B5EF4-FFF2-40B4-BE49-F238E27FC236}">
                  <a16:creationId xmlns:a16="http://schemas.microsoft.com/office/drawing/2014/main" id="{0CE601D1-C3AD-F3D3-DEE0-E00B71445A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7" y="3424"/>
              <a:ext cx="53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0FA2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</a:rPr>
                <a:t>30 dB</a:t>
              </a:r>
            </a:p>
          </p:txBody>
        </p:sp>
        <p:sp>
          <p:nvSpPr>
            <p:cNvPr id="51229" name="Line 29">
              <a:extLst>
                <a:ext uri="{FF2B5EF4-FFF2-40B4-BE49-F238E27FC236}">
                  <a16:creationId xmlns:a16="http://schemas.microsoft.com/office/drawing/2014/main" id="{CE24CE99-0E30-77B6-CAE0-11F2D5916A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0" y="3692"/>
              <a:ext cx="154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1230" name="Line 30">
              <a:extLst>
                <a:ext uri="{FF2B5EF4-FFF2-40B4-BE49-F238E27FC236}">
                  <a16:creationId xmlns:a16="http://schemas.microsoft.com/office/drawing/2014/main" id="{C51E2875-6554-2CB5-0474-724482061C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0" y="3727"/>
              <a:ext cx="150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1231" name="Text Box 31">
              <a:extLst>
                <a:ext uri="{FF2B5EF4-FFF2-40B4-BE49-F238E27FC236}">
                  <a16:creationId xmlns:a16="http://schemas.microsoft.com/office/drawing/2014/main" id="{92EF8D3A-EB53-CA94-6CF9-4D57251C0D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7" y="3159"/>
              <a:ext cx="107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0FA2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/>
                <a:t> 10,000 times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D4E62C6-330D-632E-9B67-35C1769E5BD9}"/>
              </a:ext>
            </a:extLst>
          </p:cNvPr>
          <p:cNvSpPr txBox="1"/>
          <p:nvPr/>
        </p:nvSpPr>
        <p:spPr>
          <a:xfrm>
            <a:off x="6192044" y="2349817"/>
            <a:ext cx="26289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400" dirty="0"/>
              <a:t>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400" dirty="0"/>
              <a:t>P</a:t>
            </a:r>
            <a:r>
              <a:rPr lang="en-US" altLang="en-US" sz="1400" baseline="-25000" dirty="0"/>
              <a:t>1 </a:t>
            </a:r>
            <a:r>
              <a:rPr lang="en-US" sz="1400" dirty="0"/>
              <a:t>​ = Transmitted Power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400" dirty="0"/>
              <a:t>P</a:t>
            </a:r>
            <a:r>
              <a:rPr lang="en-US" altLang="en-US" sz="1400" baseline="-25000" dirty="0"/>
              <a:t>2 </a:t>
            </a:r>
            <a:r>
              <a:rPr lang="en-US" sz="1400" dirty="0"/>
              <a:t>​ = Received Power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8928C4-0A36-BF07-A534-ABC6416EA184}"/>
              </a:ext>
            </a:extLst>
          </p:cNvPr>
          <p:cNvSpPr txBox="1"/>
          <p:nvPr/>
        </p:nvSpPr>
        <p:spPr>
          <a:xfrm>
            <a:off x="3302000" y="1124506"/>
            <a:ext cx="3116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Sample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43FE97-7E6E-E273-CC3F-449931A4BE19}"/>
              </a:ext>
            </a:extLst>
          </p:cNvPr>
          <p:cNvSpPr txBox="1"/>
          <p:nvPr/>
        </p:nvSpPr>
        <p:spPr>
          <a:xfrm>
            <a:off x="4038600" y="1726961"/>
            <a:ext cx="2274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800" dirty="0">
                <a:solidFill>
                  <a:srgbClr val="00B050"/>
                </a:solidFill>
              </a:rPr>
              <a:t>Path loss in decibel</a:t>
            </a:r>
            <a:r>
              <a:rPr lang="en-US" altLang="en-US" sz="1800" dirty="0">
                <a:solidFill>
                  <a:schemeClr val="tx2"/>
                </a:solidFill>
              </a:rPr>
              <a:t>,</a:t>
            </a:r>
            <a:endParaRPr lang="en-US" dirty="0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34414A75-67AE-6742-CBF9-E432247CA0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7488" y="228600"/>
            <a:ext cx="8751887" cy="838200"/>
          </a:xfrm>
        </p:spPr>
        <p:txBody>
          <a:bodyPr/>
          <a:lstStyle/>
          <a:p>
            <a:pPr eaLnBrk="1" hangingPunct="1"/>
            <a:r>
              <a:rPr lang="en-US" altLang="en-US" sz="3400" dirty="0"/>
              <a:t>Wireless Link Characteristics– Fading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F600518D-669B-CEA4-D3A2-E5DEA675821F}"/>
              </a:ext>
            </a:extLst>
          </p:cNvPr>
          <p:cNvSpPr txBox="1">
            <a:spLocks/>
          </p:cNvSpPr>
          <p:nvPr/>
        </p:nvSpPr>
        <p:spPr>
          <a:xfrm>
            <a:off x="76200" y="228600"/>
            <a:ext cx="8581803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567573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4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FDC04-453F-23C0-7215-9B24FF376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3585560-2396-5587-A6F2-B27E8C23CC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72C8E57-475F-4E5B-B40B-5973D2A46384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grpSp>
        <p:nvGrpSpPr>
          <p:cNvPr id="1884168" name="Group 8">
            <a:extLst>
              <a:ext uri="{FF2B5EF4-FFF2-40B4-BE49-F238E27FC236}">
                <a16:creationId xmlns:a16="http://schemas.microsoft.com/office/drawing/2014/main" id="{386F2A46-5D31-925C-6E1E-A86EA0B695CF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4114799"/>
            <a:ext cx="5181600" cy="1676401"/>
            <a:chOff x="1259" y="2233"/>
            <a:chExt cx="3266" cy="1968"/>
          </a:xfrm>
        </p:grpSpPr>
        <p:pic>
          <p:nvPicPr>
            <p:cNvPr id="1884165" name="Picture 5">
              <a:extLst>
                <a:ext uri="{FF2B5EF4-FFF2-40B4-BE49-F238E27FC236}">
                  <a16:creationId xmlns:a16="http://schemas.microsoft.com/office/drawing/2014/main" id="{3BD84D63-0163-2734-397D-AD03D1CDC5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4" y="2281"/>
              <a:ext cx="2952" cy="1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84166" name="Rectangle 6">
              <a:extLst>
                <a:ext uri="{FF2B5EF4-FFF2-40B4-BE49-F238E27FC236}">
                  <a16:creationId xmlns:a16="http://schemas.microsoft.com/office/drawing/2014/main" id="{E674410C-2464-7543-7595-632EB3362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9" y="3660"/>
              <a:ext cx="3266" cy="5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84167" name="Rectangle 7">
              <a:extLst>
                <a:ext uri="{FF2B5EF4-FFF2-40B4-BE49-F238E27FC236}">
                  <a16:creationId xmlns:a16="http://schemas.microsoft.com/office/drawing/2014/main" id="{0E2181C6-0E4D-A818-1DB2-F02119BAD0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3" y="2233"/>
              <a:ext cx="339" cy="17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</p:grpSp>
      <p:sp>
        <p:nvSpPr>
          <p:cNvPr id="1884163" name="Rectangle 3">
            <a:extLst>
              <a:ext uri="{FF2B5EF4-FFF2-40B4-BE49-F238E27FC236}">
                <a16:creationId xmlns:a16="http://schemas.microsoft.com/office/drawing/2014/main" id="{1867FCFF-557F-1F44-75AA-9A6A125B00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458200" cy="2760391"/>
          </a:xfrm>
        </p:spPr>
        <p:txBody>
          <a:bodyPr/>
          <a:lstStyle/>
          <a:p>
            <a:pPr lvl="1">
              <a:buNone/>
            </a:pPr>
            <a:r>
              <a:rPr lang="en-US" altLang="en-US" sz="1600" dirty="0"/>
              <a:t>To </a:t>
            </a:r>
            <a:r>
              <a:rPr lang="en-US" altLang="en-US" sz="1600" dirty="0">
                <a:solidFill>
                  <a:srgbClr val="FF0000"/>
                </a:solidFill>
              </a:rPr>
              <a:t>convert power from milliwatts (</a:t>
            </a:r>
            <a:r>
              <a:rPr lang="en-US" altLang="en-US" sz="1600" dirty="0" err="1">
                <a:solidFill>
                  <a:srgbClr val="FF0000"/>
                </a:solidFill>
              </a:rPr>
              <a:t>mW</a:t>
            </a:r>
            <a:r>
              <a:rPr lang="en-US" altLang="en-US" sz="1600" dirty="0">
                <a:solidFill>
                  <a:srgbClr val="FF0000"/>
                </a:solidFill>
              </a:rPr>
              <a:t>) to decibel-milliwatts (dBm), </a:t>
            </a:r>
            <a:r>
              <a:rPr lang="en-US" altLang="en-US" sz="1600" dirty="0"/>
              <a:t>use the formula:</a:t>
            </a:r>
          </a:p>
          <a:p>
            <a:pPr lvl="1">
              <a:buNone/>
            </a:pPr>
            <a:r>
              <a:rPr lang="en-US" altLang="en-US" sz="1600" dirty="0"/>
              <a:t>			</a:t>
            </a:r>
            <a:r>
              <a:rPr lang="en-US" altLang="en-US" sz="1800" b="1" dirty="0">
                <a:solidFill>
                  <a:srgbClr val="00B050"/>
                </a:solidFill>
              </a:rPr>
              <a:t>P (dBm) = 10 · log10(P (</a:t>
            </a:r>
            <a:r>
              <a:rPr lang="en-US" altLang="en-US" sz="1800" b="1" dirty="0" err="1">
                <a:solidFill>
                  <a:srgbClr val="00B050"/>
                </a:solidFill>
              </a:rPr>
              <a:t>mW</a:t>
            </a:r>
            <a:r>
              <a:rPr lang="en-US" altLang="en-US" sz="1800" b="1" dirty="0">
                <a:solidFill>
                  <a:srgbClr val="00B050"/>
                </a:solidFill>
              </a:rPr>
              <a:t>))</a:t>
            </a:r>
          </a:p>
          <a:p>
            <a:pPr lvl="1">
              <a:buNone/>
            </a:pPr>
            <a:endParaRPr lang="en-US" altLang="en-US" sz="1600" dirty="0"/>
          </a:p>
          <a:p>
            <a:pPr lvl="1">
              <a:buNone/>
            </a:pPr>
            <a:r>
              <a:rPr lang="en-US" altLang="en-US" sz="1600" dirty="0"/>
              <a:t>If,</a:t>
            </a:r>
          </a:p>
          <a:p>
            <a:pPr lvl="1">
              <a:buNone/>
            </a:pPr>
            <a:r>
              <a:rPr lang="en-US" altLang="en-US" sz="1600" dirty="0"/>
              <a:t>Transmitted Signal Power: </a:t>
            </a:r>
            <a:r>
              <a:rPr lang="en-US" altLang="en-US" sz="1600" dirty="0" err="1"/>
              <a:t>P</a:t>
            </a:r>
            <a:r>
              <a:rPr lang="en-US" altLang="en-US" sz="1600" baseline="-25000" dirty="0" err="1"/>
              <a:t>tx</a:t>
            </a:r>
            <a:r>
              <a:rPr lang="en-US" altLang="en-US" sz="1600" dirty="0"/>
              <a:t> decibel-milliwatts (dBm)</a:t>
            </a:r>
          </a:p>
          <a:p>
            <a:pPr lvl="1">
              <a:buNone/>
            </a:pPr>
            <a:r>
              <a:rPr lang="en-US" altLang="en-US" sz="1600" dirty="0"/>
              <a:t>Receiver Sensitivity: </a:t>
            </a:r>
            <a:r>
              <a:rPr lang="en-US" altLang="en-US" sz="1600" dirty="0" err="1"/>
              <a:t>P</a:t>
            </a:r>
            <a:r>
              <a:rPr lang="en-US" altLang="en-US" sz="1600" baseline="-25000" dirty="0" err="1"/>
              <a:t>rx</a:t>
            </a:r>
            <a:r>
              <a:rPr lang="en-US" altLang="en-US" sz="1600" dirty="0"/>
              <a:t> decibel-milliwatts (dBm)</a:t>
            </a:r>
          </a:p>
          <a:p>
            <a:pPr lvl="1">
              <a:buNone/>
            </a:pPr>
            <a:endParaRPr lang="en-US" altLang="en-US" sz="1600" dirty="0"/>
          </a:p>
          <a:p>
            <a:pPr lvl="1">
              <a:buNone/>
            </a:pPr>
            <a:r>
              <a:rPr lang="en-US" altLang="en-US" sz="1600" dirty="0">
                <a:solidFill>
                  <a:srgbClr val="00B050"/>
                </a:solidFill>
              </a:rPr>
              <a:t>Maximum Tolerable Path Loss </a:t>
            </a:r>
            <a:r>
              <a:rPr lang="en-US" altLang="en-US" sz="1600" dirty="0"/>
              <a:t>= </a:t>
            </a:r>
            <a:r>
              <a:rPr lang="en-US" altLang="en-US" sz="1600" dirty="0" err="1"/>
              <a:t>P</a:t>
            </a:r>
            <a:r>
              <a:rPr lang="en-US" altLang="en-US" sz="1600" baseline="-25000" dirty="0" err="1"/>
              <a:t>tx</a:t>
            </a:r>
            <a:r>
              <a:rPr lang="en-US" altLang="en-US" sz="1600" dirty="0"/>
              <a:t> (dBm) − </a:t>
            </a:r>
            <a:r>
              <a:rPr lang="en-US" altLang="en-US" sz="1600" dirty="0" err="1"/>
              <a:t>P</a:t>
            </a:r>
            <a:r>
              <a:rPr lang="en-US" altLang="en-US" sz="1600" baseline="-25000" dirty="0" err="1"/>
              <a:t>rx</a:t>
            </a:r>
            <a:r>
              <a:rPr lang="en-US" altLang="en-US" sz="1600" dirty="0"/>
              <a:t> (dBm)</a:t>
            </a:r>
          </a:p>
          <a:p>
            <a:pPr lvl="1">
              <a:buNone/>
            </a:pPr>
            <a:endParaRPr lang="en-US" altLang="en-US" sz="1600" dirty="0"/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B502CFE9-7D5E-3FCE-5524-D301124F62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7488" y="228600"/>
            <a:ext cx="8751887" cy="838200"/>
          </a:xfrm>
        </p:spPr>
        <p:txBody>
          <a:bodyPr/>
          <a:lstStyle/>
          <a:p>
            <a:pPr eaLnBrk="1" hangingPunct="1"/>
            <a:r>
              <a:rPr lang="en-US" altLang="en-US" sz="3400" dirty="0"/>
              <a:t>Wireless Link Characteristics– Fading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8562350F-378F-FFC2-1716-8D0331A98F2C}"/>
              </a:ext>
            </a:extLst>
          </p:cNvPr>
          <p:cNvSpPr txBox="1">
            <a:spLocks/>
          </p:cNvSpPr>
          <p:nvPr/>
        </p:nvSpPr>
        <p:spPr>
          <a:xfrm>
            <a:off x="0" y="243269"/>
            <a:ext cx="8581803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316565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586" name="Group 2">
            <a:extLst>
              <a:ext uri="{FF2B5EF4-FFF2-40B4-BE49-F238E27FC236}">
                <a16:creationId xmlns:a16="http://schemas.microsoft.com/office/drawing/2014/main" id="{EA081763-DFBB-70B2-BB92-1F40512C1134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1374775"/>
            <a:ext cx="7329488" cy="4651375"/>
            <a:chOff x="294" y="2531"/>
            <a:chExt cx="3518" cy="1700"/>
          </a:xfrm>
        </p:grpSpPr>
        <p:sp>
          <p:nvSpPr>
            <p:cNvPr id="67589" name="Freeform 3">
              <a:extLst>
                <a:ext uri="{FF2B5EF4-FFF2-40B4-BE49-F238E27FC236}">
                  <a16:creationId xmlns:a16="http://schemas.microsoft.com/office/drawing/2014/main" id="{B35E713D-464A-6D64-A4E1-CE5F7FE98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2836"/>
              <a:ext cx="60" cy="156"/>
            </a:xfrm>
            <a:custGeom>
              <a:avLst/>
              <a:gdLst>
                <a:gd name="T0" fmla="*/ 44 w 60"/>
                <a:gd name="T1" fmla="*/ 0 h 156"/>
                <a:gd name="T2" fmla="*/ 36 w 60"/>
                <a:gd name="T3" fmla="*/ 19 h 156"/>
                <a:gd name="T4" fmla="*/ 29 w 60"/>
                <a:gd name="T5" fmla="*/ 39 h 156"/>
                <a:gd name="T6" fmla="*/ 21 w 60"/>
                <a:gd name="T7" fmla="*/ 58 h 156"/>
                <a:gd name="T8" fmla="*/ 13 w 60"/>
                <a:gd name="T9" fmla="*/ 77 h 156"/>
                <a:gd name="T10" fmla="*/ 8 w 60"/>
                <a:gd name="T11" fmla="*/ 96 h 156"/>
                <a:gd name="T12" fmla="*/ 4 w 60"/>
                <a:gd name="T13" fmla="*/ 115 h 156"/>
                <a:gd name="T14" fmla="*/ 0 w 60"/>
                <a:gd name="T15" fmla="*/ 136 h 156"/>
                <a:gd name="T16" fmla="*/ 0 w 60"/>
                <a:gd name="T17" fmla="*/ 155 h 156"/>
                <a:gd name="T18" fmla="*/ 15 w 60"/>
                <a:gd name="T19" fmla="*/ 155 h 156"/>
                <a:gd name="T20" fmla="*/ 17 w 60"/>
                <a:gd name="T21" fmla="*/ 136 h 156"/>
                <a:gd name="T22" fmla="*/ 19 w 60"/>
                <a:gd name="T23" fmla="*/ 119 h 156"/>
                <a:gd name="T24" fmla="*/ 23 w 60"/>
                <a:gd name="T25" fmla="*/ 100 h 156"/>
                <a:gd name="T26" fmla="*/ 29 w 60"/>
                <a:gd name="T27" fmla="*/ 81 h 156"/>
                <a:gd name="T28" fmla="*/ 36 w 60"/>
                <a:gd name="T29" fmla="*/ 63 h 156"/>
                <a:gd name="T30" fmla="*/ 44 w 60"/>
                <a:gd name="T31" fmla="*/ 44 h 156"/>
                <a:gd name="T32" fmla="*/ 52 w 60"/>
                <a:gd name="T33" fmla="*/ 25 h 156"/>
                <a:gd name="T34" fmla="*/ 59 w 60"/>
                <a:gd name="T35" fmla="*/ 6 h 156"/>
                <a:gd name="T36" fmla="*/ 44 w 60"/>
                <a:gd name="T37" fmla="*/ 0 h 15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60" h="156">
                  <a:moveTo>
                    <a:pt x="44" y="0"/>
                  </a:moveTo>
                  <a:lnTo>
                    <a:pt x="36" y="19"/>
                  </a:lnTo>
                  <a:lnTo>
                    <a:pt x="29" y="39"/>
                  </a:lnTo>
                  <a:lnTo>
                    <a:pt x="21" y="58"/>
                  </a:lnTo>
                  <a:lnTo>
                    <a:pt x="13" y="77"/>
                  </a:lnTo>
                  <a:lnTo>
                    <a:pt x="8" y="96"/>
                  </a:lnTo>
                  <a:lnTo>
                    <a:pt x="4" y="115"/>
                  </a:lnTo>
                  <a:lnTo>
                    <a:pt x="0" y="136"/>
                  </a:lnTo>
                  <a:lnTo>
                    <a:pt x="0" y="155"/>
                  </a:lnTo>
                  <a:lnTo>
                    <a:pt x="15" y="155"/>
                  </a:lnTo>
                  <a:lnTo>
                    <a:pt x="17" y="136"/>
                  </a:lnTo>
                  <a:lnTo>
                    <a:pt x="19" y="119"/>
                  </a:lnTo>
                  <a:lnTo>
                    <a:pt x="23" y="100"/>
                  </a:lnTo>
                  <a:lnTo>
                    <a:pt x="29" y="81"/>
                  </a:lnTo>
                  <a:lnTo>
                    <a:pt x="36" y="63"/>
                  </a:lnTo>
                  <a:lnTo>
                    <a:pt x="44" y="44"/>
                  </a:lnTo>
                  <a:lnTo>
                    <a:pt x="52" y="25"/>
                  </a:lnTo>
                  <a:lnTo>
                    <a:pt x="59" y="6"/>
                  </a:lnTo>
                  <a:lnTo>
                    <a:pt x="44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590" name="Freeform 4">
              <a:extLst>
                <a:ext uri="{FF2B5EF4-FFF2-40B4-BE49-F238E27FC236}">
                  <a16:creationId xmlns:a16="http://schemas.microsoft.com/office/drawing/2014/main" id="{7218BF2F-B5EB-D5C3-307A-D283BF358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4" y="2807"/>
              <a:ext cx="41" cy="36"/>
            </a:xfrm>
            <a:custGeom>
              <a:avLst/>
              <a:gdLst>
                <a:gd name="T0" fmla="*/ 38 w 41"/>
                <a:gd name="T1" fmla="*/ 2 h 36"/>
                <a:gd name="T2" fmla="*/ 40 w 41"/>
                <a:gd name="T3" fmla="*/ 2 h 36"/>
                <a:gd name="T4" fmla="*/ 38 w 41"/>
                <a:gd name="T5" fmla="*/ 0 h 36"/>
                <a:gd name="T6" fmla="*/ 34 w 41"/>
                <a:gd name="T7" fmla="*/ 2 h 36"/>
                <a:gd name="T8" fmla="*/ 29 w 41"/>
                <a:gd name="T9" fmla="*/ 2 h 36"/>
                <a:gd name="T10" fmla="*/ 23 w 41"/>
                <a:gd name="T11" fmla="*/ 4 h 36"/>
                <a:gd name="T12" fmla="*/ 17 w 41"/>
                <a:gd name="T13" fmla="*/ 8 h 36"/>
                <a:gd name="T14" fmla="*/ 11 w 41"/>
                <a:gd name="T15" fmla="*/ 12 h 36"/>
                <a:gd name="T16" fmla="*/ 6 w 41"/>
                <a:gd name="T17" fmla="*/ 20 h 36"/>
                <a:gd name="T18" fmla="*/ 0 w 41"/>
                <a:gd name="T19" fmla="*/ 29 h 36"/>
                <a:gd name="T20" fmla="*/ 15 w 41"/>
                <a:gd name="T21" fmla="*/ 35 h 36"/>
                <a:gd name="T22" fmla="*/ 19 w 41"/>
                <a:gd name="T23" fmla="*/ 29 h 36"/>
                <a:gd name="T24" fmla="*/ 23 w 41"/>
                <a:gd name="T25" fmla="*/ 23 h 36"/>
                <a:gd name="T26" fmla="*/ 27 w 41"/>
                <a:gd name="T27" fmla="*/ 20 h 36"/>
                <a:gd name="T28" fmla="*/ 29 w 41"/>
                <a:gd name="T29" fmla="*/ 18 h 36"/>
                <a:gd name="T30" fmla="*/ 32 w 41"/>
                <a:gd name="T31" fmla="*/ 18 h 36"/>
                <a:gd name="T32" fmla="*/ 36 w 41"/>
                <a:gd name="T33" fmla="*/ 18 h 36"/>
                <a:gd name="T34" fmla="*/ 38 w 41"/>
                <a:gd name="T35" fmla="*/ 18 h 36"/>
                <a:gd name="T36" fmla="*/ 38 w 41"/>
                <a:gd name="T37" fmla="*/ 2 h 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1" h="36">
                  <a:moveTo>
                    <a:pt x="38" y="2"/>
                  </a:moveTo>
                  <a:lnTo>
                    <a:pt x="40" y="2"/>
                  </a:lnTo>
                  <a:lnTo>
                    <a:pt x="38" y="0"/>
                  </a:lnTo>
                  <a:lnTo>
                    <a:pt x="34" y="2"/>
                  </a:lnTo>
                  <a:lnTo>
                    <a:pt x="29" y="2"/>
                  </a:lnTo>
                  <a:lnTo>
                    <a:pt x="23" y="4"/>
                  </a:lnTo>
                  <a:lnTo>
                    <a:pt x="17" y="8"/>
                  </a:lnTo>
                  <a:lnTo>
                    <a:pt x="11" y="12"/>
                  </a:lnTo>
                  <a:lnTo>
                    <a:pt x="6" y="20"/>
                  </a:lnTo>
                  <a:lnTo>
                    <a:pt x="0" y="29"/>
                  </a:lnTo>
                  <a:lnTo>
                    <a:pt x="15" y="35"/>
                  </a:lnTo>
                  <a:lnTo>
                    <a:pt x="19" y="29"/>
                  </a:lnTo>
                  <a:lnTo>
                    <a:pt x="23" y="23"/>
                  </a:lnTo>
                  <a:lnTo>
                    <a:pt x="27" y="20"/>
                  </a:lnTo>
                  <a:lnTo>
                    <a:pt x="29" y="18"/>
                  </a:lnTo>
                  <a:lnTo>
                    <a:pt x="32" y="18"/>
                  </a:lnTo>
                  <a:lnTo>
                    <a:pt x="36" y="18"/>
                  </a:lnTo>
                  <a:lnTo>
                    <a:pt x="38" y="18"/>
                  </a:lnTo>
                  <a:lnTo>
                    <a:pt x="38" y="2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591" name="Freeform 5">
              <a:extLst>
                <a:ext uri="{FF2B5EF4-FFF2-40B4-BE49-F238E27FC236}">
                  <a16:creationId xmlns:a16="http://schemas.microsoft.com/office/drawing/2014/main" id="{CB55DE18-C946-0B11-0FFA-68B3F4D4D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" y="2809"/>
              <a:ext cx="35" cy="279"/>
            </a:xfrm>
            <a:custGeom>
              <a:avLst/>
              <a:gdLst>
                <a:gd name="T0" fmla="*/ 0 w 35"/>
                <a:gd name="T1" fmla="*/ 276 h 279"/>
                <a:gd name="T2" fmla="*/ 15 w 35"/>
                <a:gd name="T3" fmla="*/ 278 h 279"/>
                <a:gd name="T4" fmla="*/ 19 w 35"/>
                <a:gd name="T5" fmla="*/ 244 h 279"/>
                <a:gd name="T6" fmla="*/ 23 w 35"/>
                <a:gd name="T7" fmla="*/ 204 h 279"/>
                <a:gd name="T8" fmla="*/ 27 w 35"/>
                <a:gd name="T9" fmla="*/ 159 h 279"/>
                <a:gd name="T10" fmla="*/ 31 w 35"/>
                <a:gd name="T11" fmla="*/ 113 h 279"/>
                <a:gd name="T12" fmla="*/ 34 w 35"/>
                <a:gd name="T13" fmla="*/ 73 h 279"/>
                <a:gd name="T14" fmla="*/ 34 w 35"/>
                <a:gd name="T15" fmla="*/ 39 h 279"/>
                <a:gd name="T16" fmla="*/ 33 w 35"/>
                <a:gd name="T17" fmla="*/ 25 h 279"/>
                <a:gd name="T18" fmla="*/ 31 w 35"/>
                <a:gd name="T19" fmla="*/ 14 h 279"/>
                <a:gd name="T20" fmla="*/ 27 w 35"/>
                <a:gd name="T21" fmla="*/ 4 h 279"/>
                <a:gd name="T22" fmla="*/ 17 w 35"/>
                <a:gd name="T23" fmla="*/ 0 h 279"/>
                <a:gd name="T24" fmla="*/ 17 w 35"/>
                <a:gd name="T25" fmla="*/ 16 h 279"/>
                <a:gd name="T26" fmla="*/ 13 w 35"/>
                <a:gd name="T27" fmla="*/ 14 h 279"/>
                <a:gd name="T28" fmla="*/ 15 w 35"/>
                <a:gd name="T29" fmla="*/ 18 h 279"/>
                <a:gd name="T30" fmla="*/ 17 w 35"/>
                <a:gd name="T31" fmla="*/ 27 h 279"/>
                <a:gd name="T32" fmla="*/ 17 w 35"/>
                <a:gd name="T33" fmla="*/ 39 h 279"/>
                <a:gd name="T34" fmla="*/ 17 w 35"/>
                <a:gd name="T35" fmla="*/ 73 h 279"/>
                <a:gd name="T36" fmla="*/ 15 w 35"/>
                <a:gd name="T37" fmla="*/ 113 h 279"/>
                <a:gd name="T38" fmla="*/ 11 w 35"/>
                <a:gd name="T39" fmla="*/ 158 h 279"/>
                <a:gd name="T40" fmla="*/ 8 w 35"/>
                <a:gd name="T41" fmla="*/ 202 h 279"/>
                <a:gd name="T42" fmla="*/ 4 w 35"/>
                <a:gd name="T43" fmla="*/ 242 h 279"/>
                <a:gd name="T44" fmla="*/ 0 w 35"/>
                <a:gd name="T45" fmla="*/ 276 h 279"/>
                <a:gd name="T46" fmla="*/ 15 w 35"/>
                <a:gd name="T47" fmla="*/ 276 h 279"/>
                <a:gd name="T48" fmla="*/ 0 w 35"/>
                <a:gd name="T49" fmla="*/ 276 h 279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5" h="279">
                  <a:moveTo>
                    <a:pt x="0" y="276"/>
                  </a:moveTo>
                  <a:lnTo>
                    <a:pt x="15" y="278"/>
                  </a:lnTo>
                  <a:lnTo>
                    <a:pt x="19" y="244"/>
                  </a:lnTo>
                  <a:lnTo>
                    <a:pt x="23" y="204"/>
                  </a:lnTo>
                  <a:lnTo>
                    <a:pt x="27" y="159"/>
                  </a:lnTo>
                  <a:lnTo>
                    <a:pt x="31" y="113"/>
                  </a:lnTo>
                  <a:lnTo>
                    <a:pt x="34" y="73"/>
                  </a:lnTo>
                  <a:lnTo>
                    <a:pt x="34" y="39"/>
                  </a:lnTo>
                  <a:lnTo>
                    <a:pt x="33" y="25"/>
                  </a:lnTo>
                  <a:lnTo>
                    <a:pt x="31" y="14"/>
                  </a:lnTo>
                  <a:lnTo>
                    <a:pt x="27" y="4"/>
                  </a:lnTo>
                  <a:lnTo>
                    <a:pt x="17" y="0"/>
                  </a:lnTo>
                  <a:lnTo>
                    <a:pt x="17" y="16"/>
                  </a:lnTo>
                  <a:lnTo>
                    <a:pt x="13" y="14"/>
                  </a:lnTo>
                  <a:lnTo>
                    <a:pt x="15" y="18"/>
                  </a:lnTo>
                  <a:lnTo>
                    <a:pt x="17" y="27"/>
                  </a:lnTo>
                  <a:lnTo>
                    <a:pt x="17" y="39"/>
                  </a:lnTo>
                  <a:lnTo>
                    <a:pt x="17" y="73"/>
                  </a:lnTo>
                  <a:lnTo>
                    <a:pt x="15" y="113"/>
                  </a:lnTo>
                  <a:lnTo>
                    <a:pt x="11" y="158"/>
                  </a:lnTo>
                  <a:lnTo>
                    <a:pt x="8" y="202"/>
                  </a:lnTo>
                  <a:lnTo>
                    <a:pt x="4" y="242"/>
                  </a:lnTo>
                  <a:lnTo>
                    <a:pt x="0" y="276"/>
                  </a:lnTo>
                  <a:lnTo>
                    <a:pt x="15" y="276"/>
                  </a:lnTo>
                  <a:lnTo>
                    <a:pt x="0" y="276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592" name="Freeform 6">
              <a:extLst>
                <a:ext uri="{FF2B5EF4-FFF2-40B4-BE49-F238E27FC236}">
                  <a16:creationId xmlns:a16="http://schemas.microsoft.com/office/drawing/2014/main" id="{2BF0AF47-0DFA-61D7-7B90-09CA839BF1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" y="3041"/>
              <a:ext cx="20" cy="45"/>
            </a:xfrm>
            <a:custGeom>
              <a:avLst/>
              <a:gdLst>
                <a:gd name="T0" fmla="*/ 4 w 20"/>
                <a:gd name="T1" fmla="*/ 0 h 45"/>
                <a:gd name="T2" fmla="*/ 4 w 20"/>
                <a:gd name="T3" fmla="*/ 4 h 45"/>
                <a:gd name="T4" fmla="*/ 2 w 20"/>
                <a:gd name="T5" fmla="*/ 10 h 45"/>
                <a:gd name="T6" fmla="*/ 2 w 20"/>
                <a:gd name="T7" fmla="*/ 16 h 45"/>
                <a:gd name="T8" fmla="*/ 2 w 20"/>
                <a:gd name="T9" fmla="*/ 23 h 45"/>
                <a:gd name="T10" fmla="*/ 0 w 20"/>
                <a:gd name="T11" fmla="*/ 29 h 45"/>
                <a:gd name="T12" fmla="*/ 0 w 20"/>
                <a:gd name="T13" fmla="*/ 35 h 45"/>
                <a:gd name="T14" fmla="*/ 0 w 20"/>
                <a:gd name="T15" fmla="*/ 40 h 45"/>
                <a:gd name="T16" fmla="*/ 0 w 20"/>
                <a:gd name="T17" fmla="*/ 44 h 45"/>
                <a:gd name="T18" fmla="*/ 15 w 20"/>
                <a:gd name="T19" fmla="*/ 44 h 45"/>
                <a:gd name="T20" fmla="*/ 15 w 20"/>
                <a:gd name="T21" fmla="*/ 42 h 45"/>
                <a:gd name="T22" fmla="*/ 15 w 20"/>
                <a:gd name="T23" fmla="*/ 37 h 45"/>
                <a:gd name="T24" fmla="*/ 17 w 20"/>
                <a:gd name="T25" fmla="*/ 31 h 45"/>
                <a:gd name="T26" fmla="*/ 17 w 20"/>
                <a:gd name="T27" fmla="*/ 23 h 45"/>
                <a:gd name="T28" fmla="*/ 17 w 20"/>
                <a:gd name="T29" fmla="*/ 17 h 45"/>
                <a:gd name="T30" fmla="*/ 19 w 20"/>
                <a:gd name="T31" fmla="*/ 12 h 45"/>
                <a:gd name="T32" fmla="*/ 19 w 20"/>
                <a:gd name="T33" fmla="*/ 6 h 45"/>
                <a:gd name="T34" fmla="*/ 19 w 20"/>
                <a:gd name="T35" fmla="*/ 2 h 45"/>
                <a:gd name="T36" fmla="*/ 4 w 20"/>
                <a:gd name="T37" fmla="*/ 0 h 4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0" h="45">
                  <a:moveTo>
                    <a:pt x="4" y="0"/>
                  </a:moveTo>
                  <a:lnTo>
                    <a:pt x="4" y="4"/>
                  </a:lnTo>
                  <a:lnTo>
                    <a:pt x="2" y="10"/>
                  </a:lnTo>
                  <a:lnTo>
                    <a:pt x="2" y="16"/>
                  </a:lnTo>
                  <a:lnTo>
                    <a:pt x="2" y="23"/>
                  </a:lnTo>
                  <a:lnTo>
                    <a:pt x="0" y="29"/>
                  </a:lnTo>
                  <a:lnTo>
                    <a:pt x="0" y="35"/>
                  </a:lnTo>
                  <a:lnTo>
                    <a:pt x="0" y="40"/>
                  </a:lnTo>
                  <a:lnTo>
                    <a:pt x="0" y="44"/>
                  </a:lnTo>
                  <a:lnTo>
                    <a:pt x="15" y="44"/>
                  </a:lnTo>
                  <a:lnTo>
                    <a:pt x="15" y="42"/>
                  </a:lnTo>
                  <a:lnTo>
                    <a:pt x="15" y="37"/>
                  </a:lnTo>
                  <a:lnTo>
                    <a:pt x="17" y="31"/>
                  </a:lnTo>
                  <a:lnTo>
                    <a:pt x="17" y="23"/>
                  </a:lnTo>
                  <a:lnTo>
                    <a:pt x="17" y="17"/>
                  </a:lnTo>
                  <a:lnTo>
                    <a:pt x="19" y="12"/>
                  </a:lnTo>
                  <a:lnTo>
                    <a:pt x="19" y="6"/>
                  </a:lnTo>
                  <a:lnTo>
                    <a:pt x="19" y="2"/>
                  </a:lnTo>
                  <a:lnTo>
                    <a:pt x="4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593" name="Freeform 7">
              <a:extLst>
                <a:ext uri="{FF2B5EF4-FFF2-40B4-BE49-F238E27FC236}">
                  <a16:creationId xmlns:a16="http://schemas.microsoft.com/office/drawing/2014/main" id="{0E3EF1E3-1849-AB71-DC7D-EBEEBE03F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" y="2781"/>
              <a:ext cx="95" cy="263"/>
            </a:xfrm>
            <a:custGeom>
              <a:avLst/>
              <a:gdLst>
                <a:gd name="T0" fmla="*/ 94 w 95"/>
                <a:gd name="T1" fmla="*/ 0 h 263"/>
                <a:gd name="T2" fmla="*/ 82 w 95"/>
                <a:gd name="T3" fmla="*/ 2 h 263"/>
                <a:gd name="T4" fmla="*/ 73 w 95"/>
                <a:gd name="T5" fmla="*/ 7 h 263"/>
                <a:gd name="T6" fmla="*/ 63 w 95"/>
                <a:gd name="T7" fmla="*/ 17 h 263"/>
                <a:gd name="T8" fmla="*/ 57 w 95"/>
                <a:gd name="T9" fmla="*/ 28 h 263"/>
                <a:gd name="T10" fmla="*/ 44 w 95"/>
                <a:gd name="T11" fmla="*/ 59 h 263"/>
                <a:gd name="T12" fmla="*/ 34 w 95"/>
                <a:gd name="T13" fmla="*/ 95 h 263"/>
                <a:gd name="T14" fmla="*/ 25 w 95"/>
                <a:gd name="T15" fmla="*/ 136 h 263"/>
                <a:gd name="T16" fmla="*/ 17 w 95"/>
                <a:gd name="T17" fmla="*/ 178 h 263"/>
                <a:gd name="T18" fmla="*/ 9 w 95"/>
                <a:gd name="T19" fmla="*/ 220 h 263"/>
                <a:gd name="T20" fmla="*/ 0 w 95"/>
                <a:gd name="T21" fmla="*/ 260 h 263"/>
                <a:gd name="T22" fmla="*/ 15 w 95"/>
                <a:gd name="T23" fmla="*/ 262 h 263"/>
                <a:gd name="T24" fmla="*/ 25 w 95"/>
                <a:gd name="T25" fmla="*/ 224 h 263"/>
                <a:gd name="T26" fmla="*/ 32 w 95"/>
                <a:gd name="T27" fmla="*/ 182 h 263"/>
                <a:gd name="T28" fmla="*/ 42 w 95"/>
                <a:gd name="T29" fmla="*/ 140 h 263"/>
                <a:gd name="T30" fmla="*/ 50 w 95"/>
                <a:gd name="T31" fmla="*/ 99 h 263"/>
                <a:gd name="T32" fmla="*/ 59 w 95"/>
                <a:gd name="T33" fmla="*/ 63 h 263"/>
                <a:gd name="T34" fmla="*/ 71 w 95"/>
                <a:gd name="T35" fmla="*/ 36 h 263"/>
                <a:gd name="T36" fmla="*/ 76 w 95"/>
                <a:gd name="T37" fmla="*/ 26 h 263"/>
                <a:gd name="T38" fmla="*/ 82 w 95"/>
                <a:gd name="T39" fmla="*/ 21 h 263"/>
                <a:gd name="T40" fmla="*/ 88 w 95"/>
                <a:gd name="T41" fmla="*/ 17 h 263"/>
                <a:gd name="T42" fmla="*/ 92 w 95"/>
                <a:gd name="T43" fmla="*/ 17 h 263"/>
                <a:gd name="T44" fmla="*/ 94 w 95"/>
                <a:gd name="T45" fmla="*/ 0 h 26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95" h="263">
                  <a:moveTo>
                    <a:pt x="94" y="0"/>
                  </a:moveTo>
                  <a:lnTo>
                    <a:pt x="82" y="2"/>
                  </a:lnTo>
                  <a:lnTo>
                    <a:pt x="73" y="7"/>
                  </a:lnTo>
                  <a:lnTo>
                    <a:pt x="63" y="17"/>
                  </a:lnTo>
                  <a:lnTo>
                    <a:pt x="57" y="28"/>
                  </a:lnTo>
                  <a:lnTo>
                    <a:pt x="44" y="59"/>
                  </a:lnTo>
                  <a:lnTo>
                    <a:pt x="34" y="95"/>
                  </a:lnTo>
                  <a:lnTo>
                    <a:pt x="25" y="136"/>
                  </a:lnTo>
                  <a:lnTo>
                    <a:pt x="17" y="178"/>
                  </a:lnTo>
                  <a:lnTo>
                    <a:pt x="9" y="220"/>
                  </a:lnTo>
                  <a:lnTo>
                    <a:pt x="0" y="260"/>
                  </a:lnTo>
                  <a:lnTo>
                    <a:pt x="15" y="262"/>
                  </a:lnTo>
                  <a:lnTo>
                    <a:pt x="25" y="224"/>
                  </a:lnTo>
                  <a:lnTo>
                    <a:pt x="32" y="182"/>
                  </a:lnTo>
                  <a:lnTo>
                    <a:pt x="42" y="140"/>
                  </a:lnTo>
                  <a:lnTo>
                    <a:pt x="50" y="99"/>
                  </a:lnTo>
                  <a:lnTo>
                    <a:pt x="59" y="63"/>
                  </a:lnTo>
                  <a:lnTo>
                    <a:pt x="71" y="36"/>
                  </a:lnTo>
                  <a:lnTo>
                    <a:pt x="76" y="26"/>
                  </a:lnTo>
                  <a:lnTo>
                    <a:pt x="82" y="21"/>
                  </a:lnTo>
                  <a:lnTo>
                    <a:pt x="88" y="17"/>
                  </a:lnTo>
                  <a:lnTo>
                    <a:pt x="92" y="17"/>
                  </a:lnTo>
                  <a:lnTo>
                    <a:pt x="94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594" name="Freeform 8">
              <a:extLst>
                <a:ext uri="{FF2B5EF4-FFF2-40B4-BE49-F238E27FC236}">
                  <a16:creationId xmlns:a16="http://schemas.microsoft.com/office/drawing/2014/main" id="{0112A254-4D44-6A3B-485F-7525615CC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" y="2781"/>
              <a:ext cx="30" cy="152"/>
            </a:xfrm>
            <a:custGeom>
              <a:avLst/>
              <a:gdLst>
                <a:gd name="T0" fmla="*/ 13 w 30"/>
                <a:gd name="T1" fmla="*/ 147 h 152"/>
                <a:gd name="T2" fmla="*/ 29 w 30"/>
                <a:gd name="T3" fmla="*/ 149 h 152"/>
                <a:gd name="T4" fmla="*/ 29 w 30"/>
                <a:gd name="T5" fmla="*/ 132 h 152"/>
                <a:gd name="T6" fmla="*/ 29 w 30"/>
                <a:gd name="T7" fmla="*/ 111 h 152"/>
                <a:gd name="T8" fmla="*/ 27 w 30"/>
                <a:gd name="T9" fmla="*/ 88 h 152"/>
                <a:gd name="T10" fmla="*/ 27 w 30"/>
                <a:gd name="T11" fmla="*/ 65 h 152"/>
                <a:gd name="T12" fmla="*/ 23 w 30"/>
                <a:gd name="T13" fmla="*/ 42 h 152"/>
                <a:gd name="T14" fmla="*/ 21 w 30"/>
                <a:gd name="T15" fmla="*/ 25 h 152"/>
                <a:gd name="T16" fmla="*/ 17 w 30"/>
                <a:gd name="T17" fmla="*/ 17 h 152"/>
                <a:gd name="T18" fmla="*/ 15 w 30"/>
                <a:gd name="T19" fmla="*/ 9 h 152"/>
                <a:gd name="T20" fmla="*/ 11 w 30"/>
                <a:gd name="T21" fmla="*/ 3 h 152"/>
                <a:gd name="T22" fmla="*/ 4 w 30"/>
                <a:gd name="T23" fmla="*/ 0 h 152"/>
                <a:gd name="T24" fmla="*/ 2 w 30"/>
                <a:gd name="T25" fmla="*/ 17 h 152"/>
                <a:gd name="T26" fmla="*/ 0 w 30"/>
                <a:gd name="T27" fmla="*/ 15 h 152"/>
                <a:gd name="T28" fmla="*/ 2 w 30"/>
                <a:gd name="T29" fmla="*/ 17 h 152"/>
                <a:gd name="T30" fmla="*/ 2 w 30"/>
                <a:gd name="T31" fmla="*/ 21 h 152"/>
                <a:gd name="T32" fmla="*/ 4 w 30"/>
                <a:gd name="T33" fmla="*/ 28 h 152"/>
                <a:gd name="T34" fmla="*/ 8 w 30"/>
                <a:gd name="T35" fmla="*/ 46 h 152"/>
                <a:gd name="T36" fmla="*/ 9 w 30"/>
                <a:gd name="T37" fmla="*/ 65 h 152"/>
                <a:gd name="T38" fmla="*/ 11 w 30"/>
                <a:gd name="T39" fmla="*/ 88 h 152"/>
                <a:gd name="T40" fmla="*/ 13 w 30"/>
                <a:gd name="T41" fmla="*/ 111 h 152"/>
                <a:gd name="T42" fmla="*/ 13 w 30"/>
                <a:gd name="T43" fmla="*/ 132 h 152"/>
                <a:gd name="T44" fmla="*/ 13 w 30"/>
                <a:gd name="T45" fmla="*/ 149 h 152"/>
                <a:gd name="T46" fmla="*/ 29 w 30"/>
                <a:gd name="T47" fmla="*/ 151 h 152"/>
                <a:gd name="T48" fmla="*/ 13 w 30"/>
                <a:gd name="T49" fmla="*/ 147 h 15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0" h="152">
                  <a:moveTo>
                    <a:pt x="13" y="147"/>
                  </a:moveTo>
                  <a:lnTo>
                    <a:pt x="29" y="149"/>
                  </a:lnTo>
                  <a:lnTo>
                    <a:pt x="29" y="132"/>
                  </a:lnTo>
                  <a:lnTo>
                    <a:pt x="29" y="111"/>
                  </a:lnTo>
                  <a:lnTo>
                    <a:pt x="27" y="88"/>
                  </a:lnTo>
                  <a:lnTo>
                    <a:pt x="27" y="65"/>
                  </a:lnTo>
                  <a:lnTo>
                    <a:pt x="23" y="42"/>
                  </a:lnTo>
                  <a:lnTo>
                    <a:pt x="21" y="25"/>
                  </a:lnTo>
                  <a:lnTo>
                    <a:pt x="17" y="17"/>
                  </a:lnTo>
                  <a:lnTo>
                    <a:pt x="15" y="9"/>
                  </a:lnTo>
                  <a:lnTo>
                    <a:pt x="11" y="3"/>
                  </a:lnTo>
                  <a:lnTo>
                    <a:pt x="4" y="0"/>
                  </a:lnTo>
                  <a:lnTo>
                    <a:pt x="2" y="17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21"/>
                  </a:lnTo>
                  <a:lnTo>
                    <a:pt x="4" y="28"/>
                  </a:lnTo>
                  <a:lnTo>
                    <a:pt x="8" y="46"/>
                  </a:lnTo>
                  <a:lnTo>
                    <a:pt x="9" y="65"/>
                  </a:lnTo>
                  <a:lnTo>
                    <a:pt x="11" y="88"/>
                  </a:lnTo>
                  <a:lnTo>
                    <a:pt x="13" y="111"/>
                  </a:lnTo>
                  <a:lnTo>
                    <a:pt x="13" y="132"/>
                  </a:lnTo>
                  <a:lnTo>
                    <a:pt x="13" y="149"/>
                  </a:lnTo>
                  <a:lnTo>
                    <a:pt x="29" y="151"/>
                  </a:lnTo>
                  <a:lnTo>
                    <a:pt x="13" y="147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595" name="Freeform 9">
              <a:extLst>
                <a:ext uri="{FF2B5EF4-FFF2-40B4-BE49-F238E27FC236}">
                  <a16:creationId xmlns:a16="http://schemas.microsoft.com/office/drawing/2014/main" id="{7F09165E-AA6C-181E-61CA-6135BD8E8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2" y="2806"/>
              <a:ext cx="47" cy="127"/>
            </a:xfrm>
            <a:custGeom>
              <a:avLst/>
              <a:gdLst>
                <a:gd name="T0" fmla="*/ 42 w 47"/>
                <a:gd name="T1" fmla="*/ 0 h 127"/>
                <a:gd name="T2" fmla="*/ 35 w 47"/>
                <a:gd name="T3" fmla="*/ 1 h 127"/>
                <a:gd name="T4" fmla="*/ 31 w 47"/>
                <a:gd name="T5" fmla="*/ 7 h 127"/>
                <a:gd name="T6" fmla="*/ 27 w 47"/>
                <a:gd name="T7" fmla="*/ 13 h 127"/>
                <a:gd name="T8" fmla="*/ 23 w 47"/>
                <a:gd name="T9" fmla="*/ 21 h 127"/>
                <a:gd name="T10" fmla="*/ 18 w 47"/>
                <a:gd name="T11" fmla="*/ 38 h 127"/>
                <a:gd name="T12" fmla="*/ 14 w 47"/>
                <a:gd name="T13" fmla="*/ 57 h 127"/>
                <a:gd name="T14" fmla="*/ 8 w 47"/>
                <a:gd name="T15" fmla="*/ 78 h 127"/>
                <a:gd name="T16" fmla="*/ 6 w 47"/>
                <a:gd name="T17" fmla="*/ 95 h 127"/>
                <a:gd name="T18" fmla="*/ 2 w 47"/>
                <a:gd name="T19" fmla="*/ 113 h 127"/>
                <a:gd name="T20" fmla="*/ 0 w 47"/>
                <a:gd name="T21" fmla="*/ 122 h 127"/>
                <a:gd name="T22" fmla="*/ 16 w 47"/>
                <a:gd name="T23" fmla="*/ 126 h 127"/>
                <a:gd name="T24" fmla="*/ 18 w 47"/>
                <a:gd name="T25" fmla="*/ 115 h 127"/>
                <a:gd name="T26" fmla="*/ 21 w 47"/>
                <a:gd name="T27" fmla="*/ 99 h 127"/>
                <a:gd name="T28" fmla="*/ 25 w 47"/>
                <a:gd name="T29" fmla="*/ 80 h 127"/>
                <a:gd name="T30" fmla="*/ 29 w 47"/>
                <a:gd name="T31" fmla="*/ 61 h 127"/>
                <a:gd name="T32" fmla="*/ 33 w 47"/>
                <a:gd name="T33" fmla="*/ 42 h 127"/>
                <a:gd name="T34" fmla="*/ 39 w 47"/>
                <a:gd name="T35" fmla="*/ 26 h 127"/>
                <a:gd name="T36" fmla="*/ 40 w 47"/>
                <a:gd name="T37" fmla="*/ 21 h 127"/>
                <a:gd name="T38" fmla="*/ 44 w 47"/>
                <a:gd name="T39" fmla="*/ 17 h 127"/>
                <a:gd name="T40" fmla="*/ 46 w 47"/>
                <a:gd name="T41" fmla="*/ 15 h 127"/>
                <a:gd name="T42" fmla="*/ 44 w 47"/>
                <a:gd name="T43" fmla="*/ 15 h 127"/>
                <a:gd name="T44" fmla="*/ 42 w 47"/>
                <a:gd name="T45" fmla="*/ 0 h 127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47" h="127">
                  <a:moveTo>
                    <a:pt x="42" y="0"/>
                  </a:moveTo>
                  <a:lnTo>
                    <a:pt x="35" y="1"/>
                  </a:lnTo>
                  <a:lnTo>
                    <a:pt x="31" y="7"/>
                  </a:lnTo>
                  <a:lnTo>
                    <a:pt x="27" y="13"/>
                  </a:lnTo>
                  <a:lnTo>
                    <a:pt x="23" y="21"/>
                  </a:lnTo>
                  <a:lnTo>
                    <a:pt x="18" y="38"/>
                  </a:lnTo>
                  <a:lnTo>
                    <a:pt x="14" y="57"/>
                  </a:lnTo>
                  <a:lnTo>
                    <a:pt x="8" y="78"/>
                  </a:lnTo>
                  <a:lnTo>
                    <a:pt x="6" y="95"/>
                  </a:lnTo>
                  <a:lnTo>
                    <a:pt x="2" y="113"/>
                  </a:lnTo>
                  <a:lnTo>
                    <a:pt x="0" y="122"/>
                  </a:lnTo>
                  <a:lnTo>
                    <a:pt x="16" y="126"/>
                  </a:lnTo>
                  <a:lnTo>
                    <a:pt x="18" y="115"/>
                  </a:lnTo>
                  <a:lnTo>
                    <a:pt x="21" y="99"/>
                  </a:lnTo>
                  <a:lnTo>
                    <a:pt x="25" y="80"/>
                  </a:lnTo>
                  <a:lnTo>
                    <a:pt x="29" y="61"/>
                  </a:lnTo>
                  <a:lnTo>
                    <a:pt x="33" y="42"/>
                  </a:lnTo>
                  <a:lnTo>
                    <a:pt x="39" y="26"/>
                  </a:lnTo>
                  <a:lnTo>
                    <a:pt x="40" y="21"/>
                  </a:lnTo>
                  <a:lnTo>
                    <a:pt x="44" y="17"/>
                  </a:lnTo>
                  <a:lnTo>
                    <a:pt x="46" y="15"/>
                  </a:lnTo>
                  <a:lnTo>
                    <a:pt x="44" y="15"/>
                  </a:lnTo>
                  <a:lnTo>
                    <a:pt x="42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596" name="Freeform 10">
              <a:extLst>
                <a:ext uri="{FF2B5EF4-FFF2-40B4-BE49-F238E27FC236}">
                  <a16:creationId xmlns:a16="http://schemas.microsoft.com/office/drawing/2014/main" id="{904136D4-5B51-86B4-7687-3685D9E88F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4" y="2806"/>
              <a:ext cx="24" cy="154"/>
            </a:xfrm>
            <a:custGeom>
              <a:avLst/>
              <a:gdLst>
                <a:gd name="T0" fmla="*/ 0 w 24"/>
                <a:gd name="T1" fmla="*/ 147 h 154"/>
                <a:gd name="T2" fmla="*/ 18 w 24"/>
                <a:gd name="T3" fmla="*/ 151 h 154"/>
                <a:gd name="T4" fmla="*/ 20 w 24"/>
                <a:gd name="T5" fmla="*/ 134 h 154"/>
                <a:gd name="T6" fmla="*/ 21 w 24"/>
                <a:gd name="T7" fmla="*/ 111 h 154"/>
                <a:gd name="T8" fmla="*/ 23 w 24"/>
                <a:gd name="T9" fmla="*/ 86 h 154"/>
                <a:gd name="T10" fmla="*/ 23 w 24"/>
                <a:gd name="T11" fmla="*/ 61 h 154"/>
                <a:gd name="T12" fmla="*/ 23 w 24"/>
                <a:gd name="T13" fmla="*/ 40 h 154"/>
                <a:gd name="T14" fmla="*/ 21 w 24"/>
                <a:gd name="T15" fmla="*/ 21 h 154"/>
                <a:gd name="T16" fmla="*/ 20 w 24"/>
                <a:gd name="T17" fmla="*/ 11 h 154"/>
                <a:gd name="T18" fmla="*/ 16 w 24"/>
                <a:gd name="T19" fmla="*/ 5 h 154"/>
                <a:gd name="T20" fmla="*/ 10 w 24"/>
                <a:gd name="T21" fmla="*/ 0 h 154"/>
                <a:gd name="T22" fmla="*/ 0 w 24"/>
                <a:gd name="T23" fmla="*/ 0 h 154"/>
                <a:gd name="T24" fmla="*/ 2 w 24"/>
                <a:gd name="T25" fmla="*/ 15 h 154"/>
                <a:gd name="T26" fmla="*/ 4 w 24"/>
                <a:gd name="T27" fmla="*/ 17 h 154"/>
                <a:gd name="T28" fmla="*/ 6 w 24"/>
                <a:gd name="T29" fmla="*/ 23 h 154"/>
                <a:gd name="T30" fmla="*/ 8 w 24"/>
                <a:gd name="T31" fmla="*/ 40 h 154"/>
                <a:gd name="T32" fmla="*/ 8 w 24"/>
                <a:gd name="T33" fmla="*/ 61 h 154"/>
                <a:gd name="T34" fmla="*/ 6 w 24"/>
                <a:gd name="T35" fmla="*/ 86 h 154"/>
                <a:gd name="T36" fmla="*/ 6 w 24"/>
                <a:gd name="T37" fmla="*/ 109 h 154"/>
                <a:gd name="T38" fmla="*/ 2 w 24"/>
                <a:gd name="T39" fmla="*/ 132 h 154"/>
                <a:gd name="T40" fmla="*/ 0 w 24"/>
                <a:gd name="T41" fmla="*/ 149 h 154"/>
                <a:gd name="T42" fmla="*/ 16 w 24"/>
                <a:gd name="T43" fmla="*/ 153 h 154"/>
                <a:gd name="T44" fmla="*/ 0 w 24"/>
                <a:gd name="T45" fmla="*/ 147 h 15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4" h="154">
                  <a:moveTo>
                    <a:pt x="0" y="147"/>
                  </a:moveTo>
                  <a:lnTo>
                    <a:pt x="18" y="151"/>
                  </a:lnTo>
                  <a:lnTo>
                    <a:pt x="20" y="134"/>
                  </a:lnTo>
                  <a:lnTo>
                    <a:pt x="21" y="111"/>
                  </a:lnTo>
                  <a:lnTo>
                    <a:pt x="23" y="86"/>
                  </a:lnTo>
                  <a:lnTo>
                    <a:pt x="23" y="61"/>
                  </a:lnTo>
                  <a:lnTo>
                    <a:pt x="23" y="40"/>
                  </a:lnTo>
                  <a:lnTo>
                    <a:pt x="21" y="21"/>
                  </a:lnTo>
                  <a:lnTo>
                    <a:pt x="20" y="11"/>
                  </a:lnTo>
                  <a:lnTo>
                    <a:pt x="16" y="5"/>
                  </a:lnTo>
                  <a:lnTo>
                    <a:pt x="10" y="0"/>
                  </a:lnTo>
                  <a:lnTo>
                    <a:pt x="0" y="0"/>
                  </a:lnTo>
                  <a:lnTo>
                    <a:pt x="2" y="15"/>
                  </a:lnTo>
                  <a:lnTo>
                    <a:pt x="4" y="17"/>
                  </a:lnTo>
                  <a:lnTo>
                    <a:pt x="6" y="23"/>
                  </a:lnTo>
                  <a:lnTo>
                    <a:pt x="8" y="40"/>
                  </a:lnTo>
                  <a:lnTo>
                    <a:pt x="8" y="61"/>
                  </a:lnTo>
                  <a:lnTo>
                    <a:pt x="6" y="86"/>
                  </a:lnTo>
                  <a:lnTo>
                    <a:pt x="6" y="109"/>
                  </a:lnTo>
                  <a:lnTo>
                    <a:pt x="2" y="132"/>
                  </a:lnTo>
                  <a:lnTo>
                    <a:pt x="0" y="149"/>
                  </a:lnTo>
                  <a:lnTo>
                    <a:pt x="16" y="153"/>
                  </a:lnTo>
                  <a:lnTo>
                    <a:pt x="0" y="147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597" name="Freeform 11">
              <a:extLst>
                <a:ext uri="{FF2B5EF4-FFF2-40B4-BE49-F238E27FC236}">
                  <a16:creationId xmlns:a16="http://schemas.microsoft.com/office/drawing/2014/main" id="{6313E0F5-54C8-B356-C1F5-5C1A8692A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4" y="2725"/>
              <a:ext cx="97" cy="235"/>
            </a:xfrm>
            <a:custGeom>
              <a:avLst/>
              <a:gdLst>
                <a:gd name="T0" fmla="*/ 81 w 97"/>
                <a:gd name="T1" fmla="*/ 0 h 235"/>
                <a:gd name="T2" fmla="*/ 66 w 97"/>
                <a:gd name="T3" fmla="*/ 33 h 235"/>
                <a:gd name="T4" fmla="*/ 52 w 97"/>
                <a:gd name="T5" fmla="*/ 61 h 235"/>
                <a:gd name="T6" fmla="*/ 43 w 97"/>
                <a:gd name="T7" fmla="*/ 90 h 235"/>
                <a:gd name="T8" fmla="*/ 33 w 97"/>
                <a:gd name="T9" fmla="*/ 117 h 235"/>
                <a:gd name="T10" fmla="*/ 25 w 97"/>
                <a:gd name="T11" fmla="*/ 144 h 235"/>
                <a:gd name="T12" fmla="*/ 18 w 97"/>
                <a:gd name="T13" fmla="*/ 171 h 235"/>
                <a:gd name="T14" fmla="*/ 10 w 97"/>
                <a:gd name="T15" fmla="*/ 199 h 235"/>
                <a:gd name="T16" fmla="*/ 0 w 97"/>
                <a:gd name="T17" fmla="*/ 228 h 235"/>
                <a:gd name="T18" fmla="*/ 16 w 97"/>
                <a:gd name="T19" fmla="*/ 234 h 235"/>
                <a:gd name="T20" fmla="*/ 25 w 97"/>
                <a:gd name="T21" fmla="*/ 203 h 235"/>
                <a:gd name="T22" fmla="*/ 33 w 97"/>
                <a:gd name="T23" fmla="*/ 174 h 235"/>
                <a:gd name="T24" fmla="*/ 41 w 97"/>
                <a:gd name="T25" fmla="*/ 148 h 235"/>
                <a:gd name="T26" fmla="*/ 48 w 97"/>
                <a:gd name="T27" fmla="*/ 121 h 235"/>
                <a:gd name="T28" fmla="*/ 58 w 97"/>
                <a:gd name="T29" fmla="*/ 94 h 235"/>
                <a:gd name="T30" fmla="*/ 67 w 97"/>
                <a:gd name="T31" fmla="*/ 67 h 235"/>
                <a:gd name="T32" fmla="*/ 81 w 97"/>
                <a:gd name="T33" fmla="*/ 38 h 235"/>
                <a:gd name="T34" fmla="*/ 96 w 97"/>
                <a:gd name="T35" fmla="*/ 8 h 235"/>
                <a:gd name="T36" fmla="*/ 81 w 97"/>
                <a:gd name="T37" fmla="*/ 0 h 23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97" h="235">
                  <a:moveTo>
                    <a:pt x="81" y="0"/>
                  </a:moveTo>
                  <a:lnTo>
                    <a:pt x="66" y="33"/>
                  </a:lnTo>
                  <a:lnTo>
                    <a:pt x="52" y="61"/>
                  </a:lnTo>
                  <a:lnTo>
                    <a:pt x="43" y="90"/>
                  </a:lnTo>
                  <a:lnTo>
                    <a:pt x="33" y="117"/>
                  </a:lnTo>
                  <a:lnTo>
                    <a:pt x="25" y="144"/>
                  </a:lnTo>
                  <a:lnTo>
                    <a:pt x="18" y="171"/>
                  </a:lnTo>
                  <a:lnTo>
                    <a:pt x="10" y="199"/>
                  </a:lnTo>
                  <a:lnTo>
                    <a:pt x="0" y="228"/>
                  </a:lnTo>
                  <a:lnTo>
                    <a:pt x="16" y="234"/>
                  </a:lnTo>
                  <a:lnTo>
                    <a:pt x="25" y="203"/>
                  </a:lnTo>
                  <a:lnTo>
                    <a:pt x="33" y="174"/>
                  </a:lnTo>
                  <a:lnTo>
                    <a:pt x="41" y="148"/>
                  </a:lnTo>
                  <a:lnTo>
                    <a:pt x="48" y="121"/>
                  </a:lnTo>
                  <a:lnTo>
                    <a:pt x="58" y="94"/>
                  </a:lnTo>
                  <a:lnTo>
                    <a:pt x="67" y="67"/>
                  </a:lnTo>
                  <a:lnTo>
                    <a:pt x="81" y="38"/>
                  </a:lnTo>
                  <a:lnTo>
                    <a:pt x="96" y="8"/>
                  </a:lnTo>
                  <a:lnTo>
                    <a:pt x="81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598" name="Freeform 12">
              <a:extLst>
                <a:ext uri="{FF2B5EF4-FFF2-40B4-BE49-F238E27FC236}">
                  <a16:creationId xmlns:a16="http://schemas.microsoft.com/office/drawing/2014/main" id="{F0D0C46A-6D8D-3627-E56D-326BDFF15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5" y="2700"/>
              <a:ext cx="37" cy="34"/>
            </a:xfrm>
            <a:custGeom>
              <a:avLst/>
              <a:gdLst>
                <a:gd name="T0" fmla="*/ 36 w 37"/>
                <a:gd name="T1" fmla="*/ 0 h 34"/>
                <a:gd name="T2" fmla="*/ 34 w 37"/>
                <a:gd name="T3" fmla="*/ 0 h 34"/>
                <a:gd name="T4" fmla="*/ 31 w 37"/>
                <a:gd name="T5" fmla="*/ 0 h 34"/>
                <a:gd name="T6" fmla="*/ 27 w 37"/>
                <a:gd name="T7" fmla="*/ 0 h 34"/>
                <a:gd name="T8" fmla="*/ 23 w 37"/>
                <a:gd name="T9" fmla="*/ 2 h 34"/>
                <a:gd name="T10" fmla="*/ 17 w 37"/>
                <a:gd name="T11" fmla="*/ 6 h 34"/>
                <a:gd name="T12" fmla="*/ 11 w 37"/>
                <a:gd name="T13" fmla="*/ 10 h 34"/>
                <a:gd name="T14" fmla="*/ 6 w 37"/>
                <a:gd name="T15" fmla="*/ 17 h 34"/>
                <a:gd name="T16" fmla="*/ 0 w 37"/>
                <a:gd name="T17" fmla="*/ 25 h 34"/>
                <a:gd name="T18" fmla="*/ 15 w 37"/>
                <a:gd name="T19" fmla="*/ 33 h 34"/>
                <a:gd name="T20" fmla="*/ 19 w 37"/>
                <a:gd name="T21" fmla="*/ 27 h 34"/>
                <a:gd name="T22" fmla="*/ 23 w 37"/>
                <a:gd name="T23" fmla="*/ 21 h 34"/>
                <a:gd name="T24" fmla="*/ 27 w 37"/>
                <a:gd name="T25" fmla="*/ 19 h 34"/>
                <a:gd name="T26" fmla="*/ 29 w 37"/>
                <a:gd name="T27" fmla="*/ 17 h 34"/>
                <a:gd name="T28" fmla="*/ 32 w 37"/>
                <a:gd name="T29" fmla="*/ 15 h 34"/>
                <a:gd name="T30" fmla="*/ 34 w 37"/>
                <a:gd name="T31" fmla="*/ 15 h 34"/>
                <a:gd name="T32" fmla="*/ 36 w 37"/>
                <a:gd name="T33" fmla="*/ 0 h 3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7" h="34">
                  <a:moveTo>
                    <a:pt x="36" y="0"/>
                  </a:moveTo>
                  <a:lnTo>
                    <a:pt x="34" y="0"/>
                  </a:lnTo>
                  <a:lnTo>
                    <a:pt x="31" y="0"/>
                  </a:lnTo>
                  <a:lnTo>
                    <a:pt x="27" y="0"/>
                  </a:lnTo>
                  <a:lnTo>
                    <a:pt x="23" y="2"/>
                  </a:lnTo>
                  <a:lnTo>
                    <a:pt x="17" y="6"/>
                  </a:lnTo>
                  <a:lnTo>
                    <a:pt x="11" y="10"/>
                  </a:lnTo>
                  <a:lnTo>
                    <a:pt x="6" y="17"/>
                  </a:lnTo>
                  <a:lnTo>
                    <a:pt x="0" y="25"/>
                  </a:lnTo>
                  <a:lnTo>
                    <a:pt x="15" y="33"/>
                  </a:lnTo>
                  <a:lnTo>
                    <a:pt x="19" y="27"/>
                  </a:lnTo>
                  <a:lnTo>
                    <a:pt x="23" y="21"/>
                  </a:lnTo>
                  <a:lnTo>
                    <a:pt x="27" y="19"/>
                  </a:lnTo>
                  <a:lnTo>
                    <a:pt x="29" y="17"/>
                  </a:lnTo>
                  <a:lnTo>
                    <a:pt x="32" y="15"/>
                  </a:lnTo>
                  <a:lnTo>
                    <a:pt x="34" y="15"/>
                  </a:lnTo>
                  <a:lnTo>
                    <a:pt x="36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599" name="Freeform 13">
              <a:extLst>
                <a:ext uri="{FF2B5EF4-FFF2-40B4-BE49-F238E27FC236}">
                  <a16:creationId xmlns:a16="http://schemas.microsoft.com/office/drawing/2014/main" id="{716DD8EC-34C4-427B-21BD-CCBD6107C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6" y="2700"/>
              <a:ext cx="28" cy="141"/>
            </a:xfrm>
            <a:custGeom>
              <a:avLst/>
              <a:gdLst>
                <a:gd name="T0" fmla="*/ 15 w 28"/>
                <a:gd name="T1" fmla="*/ 140 h 141"/>
                <a:gd name="T2" fmla="*/ 17 w 28"/>
                <a:gd name="T3" fmla="*/ 121 h 141"/>
                <a:gd name="T4" fmla="*/ 19 w 28"/>
                <a:gd name="T5" fmla="*/ 100 h 141"/>
                <a:gd name="T6" fmla="*/ 23 w 28"/>
                <a:gd name="T7" fmla="*/ 79 h 141"/>
                <a:gd name="T8" fmla="*/ 25 w 28"/>
                <a:gd name="T9" fmla="*/ 58 h 141"/>
                <a:gd name="T10" fmla="*/ 27 w 28"/>
                <a:gd name="T11" fmla="*/ 38 h 141"/>
                <a:gd name="T12" fmla="*/ 27 w 28"/>
                <a:gd name="T13" fmla="*/ 21 h 141"/>
                <a:gd name="T14" fmla="*/ 25 w 28"/>
                <a:gd name="T15" fmla="*/ 10 h 141"/>
                <a:gd name="T16" fmla="*/ 15 w 28"/>
                <a:gd name="T17" fmla="*/ 0 h 141"/>
                <a:gd name="T18" fmla="*/ 13 w 28"/>
                <a:gd name="T19" fmla="*/ 15 h 141"/>
                <a:gd name="T20" fmla="*/ 10 w 28"/>
                <a:gd name="T21" fmla="*/ 14 h 141"/>
                <a:gd name="T22" fmla="*/ 11 w 28"/>
                <a:gd name="T23" fmla="*/ 23 h 141"/>
                <a:gd name="T24" fmla="*/ 11 w 28"/>
                <a:gd name="T25" fmla="*/ 37 h 141"/>
                <a:gd name="T26" fmla="*/ 10 w 28"/>
                <a:gd name="T27" fmla="*/ 56 h 141"/>
                <a:gd name="T28" fmla="*/ 8 w 28"/>
                <a:gd name="T29" fmla="*/ 77 h 141"/>
                <a:gd name="T30" fmla="*/ 4 w 28"/>
                <a:gd name="T31" fmla="*/ 98 h 141"/>
                <a:gd name="T32" fmla="*/ 2 w 28"/>
                <a:gd name="T33" fmla="*/ 119 h 141"/>
                <a:gd name="T34" fmla="*/ 0 w 28"/>
                <a:gd name="T35" fmla="*/ 138 h 141"/>
                <a:gd name="T36" fmla="*/ 15 w 28"/>
                <a:gd name="T37" fmla="*/ 140 h 14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8" h="141">
                  <a:moveTo>
                    <a:pt x="15" y="140"/>
                  </a:moveTo>
                  <a:lnTo>
                    <a:pt x="17" y="121"/>
                  </a:lnTo>
                  <a:lnTo>
                    <a:pt x="19" y="100"/>
                  </a:lnTo>
                  <a:lnTo>
                    <a:pt x="23" y="79"/>
                  </a:lnTo>
                  <a:lnTo>
                    <a:pt x="25" y="58"/>
                  </a:lnTo>
                  <a:lnTo>
                    <a:pt x="27" y="38"/>
                  </a:lnTo>
                  <a:lnTo>
                    <a:pt x="27" y="21"/>
                  </a:lnTo>
                  <a:lnTo>
                    <a:pt x="25" y="10"/>
                  </a:lnTo>
                  <a:lnTo>
                    <a:pt x="15" y="0"/>
                  </a:lnTo>
                  <a:lnTo>
                    <a:pt x="13" y="15"/>
                  </a:lnTo>
                  <a:lnTo>
                    <a:pt x="10" y="14"/>
                  </a:lnTo>
                  <a:lnTo>
                    <a:pt x="11" y="23"/>
                  </a:lnTo>
                  <a:lnTo>
                    <a:pt x="11" y="37"/>
                  </a:lnTo>
                  <a:lnTo>
                    <a:pt x="10" y="56"/>
                  </a:lnTo>
                  <a:lnTo>
                    <a:pt x="8" y="77"/>
                  </a:lnTo>
                  <a:lnTo>
                    <a:pt x="4" y="98"/>
                  </a:lnTo>
                  <a:lnTo>
                    <a:pt x="2" y="119"/>
                  </a:lnTo>
                  <a:lnTo>
                    <a:pt x="0" y="138"/>
                  </a:lnTo>
                  <a:lnTo>
                    <a:pt x="15" y="14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00" name="Freeform 14">
              <a:extLst>
                <a:ext uri="{FF2B5EF4-FFF2-40B4-BE49-F238E27FC236}">
                  <a16:creationId xmlns:a16="http://schemas.microsoft.com/office/drawing/2014/main" id="{44550DEB-6E5F-429A-44F1-1016FF9C5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1" y="2838"/>
              <a:ext cx="51" cy="277"/>
            </a:xfrm>
            <a:custGeom>
              <a:avLst/>
              <a:gdLst>
                <a:gd name="T0" fmla="*/ 0 w 51"/>
                <a:gd name="T1" fmla="*/ 272 h 277"/>
                <a:gd name="T2" fmla="*/ 16 w 51"/>
                <a:gd name="T3" fmla="*/ 276 h 277"/>
                <a:gd name="T4" fmla="*/ 22 w 51"/>
                <a:gd name="T5" fmla="*/ 243 h 277"/>
                <a:gd name="T6" fmla="*/ 27 w 51"/>
                <a:gd name="T7" fmla="*/ 209 h 277"/>
                <a:gd name="T8" fmla="*/ 33 w 51"/>
                <a:gd name="T9" fmla="*/ 175 h 277"/>
                <a:gd name="T10" fmla="*/ 37 w 51"/>
                <a:gd name="T11" fmla="*/ 138 h 277"/>
                <a:gd name="T12" fmla="*/ 41 w 51"/>
                <a:gd name="T13" fmla="*/ 102 h 277"/>
                <a:gd name="T14" fmla="*/ 45 w 51"/>
                <a:gd name="T15" fmla="*/ 67 h 277"/>
                <a:gd name="T16" fmla="*/ 48 w 51"/>
                <a:gd name="T17" fmla="*/ 35 h 277"/>
                <a:gd name="T18" fmla="*/ 50 w 51"/>
                <a:gd name="T19" fmla="*/ 2 h 277"/>
                <a:gd name="T20" fmla="*/ 35 w 51"/>
                <a:gd name="T21" fmla="*/ 0 h 277"/>
                <a:gd name="T22" fmla="*/ 33 w 51"/>
                <a:gd name="T23" fmla="*/ 33 h 277"/>
                <a:gd name="T24" fmla="*/ 29 w 51"/>
                <a:gd name="T25" fmla="*/ 65 h 277"/>
                <a:gd name="T26" fmla="*/ 25 w 51"/>
                <a:gd name="T27" fmla="*/ 102 h 277"/>
                <a:gd name="T28" fmla="*/ 22 w 51"/>
                <a:gd name="T29" fmla="*/ 136 h 277"/>
                <a:gd name="T30" fmla="*/ 16 w 51"/>
                <a:gd name="T31" fmla="*/ 171 h 277"/>
                <a:gd name="T32" fmla="*/ 12 w 51"/>
                <a:gd name="T33" fmla="*/ 207 h 277"/>
                <a:gd name="T34" fmla="*/ 6 w 51"/>
                <a:gd name="T35" fmla="*/ 240 h 277"/>
                <a:gd name="T36" fmla="*/ 0 w 51"/>
                <a:gd name="T37" fmla="*/ 272 h 277"/>
                <a:gd name="T38" fmla="*/ 16 w 51"/>
                <a:gd name="T39" fmla="*/ 276 h 277"/>
                <a:gd name="T40" fmla="*/ 0 w 51"/>
                <a:gd name="T41" fmla="*/ 272 h 27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1" h="277">
                  <a:moveTo>
                    <a:pt x="0" y="272"/>
                  </a:moveTo>
                  <a:lnTo>
                    <a:pt x="16" y="276"/>
                  </a:lnTo>
                  <a:lnTo>
                    <a:pt x="22" y="243"/>
                  </a:lnTo>
                  <a:lnTo>
                    <a:pt x="27" y="209"/>
                  </a:lnTo>
                  <a:lnTo>
                    <a:pt x="33" y="175"/>
                  </a:lnTo>
                  <a:lnTo>
                    <a:pt x="37" y="138"/>
                  </a:lnTo>
                  <a:lnTo>
                    <a:pt x="41" y="102"/>
                  </a:lnTo>
                  <a:lnTo>
                    <a:pt x="45" y="67"/>
                  </a:lnTo>
                  <a:lnTo>
                    <a:pt x="48" y="35"/>
                  </a:lnTo>
                  <a:lnTo>
                    <a:pt x="50" y="2"/>
                  </a:lnTo>
                  <a:lnTo>
                    <a:pt x="35" y="0"/>
                  </a:lnTo>
                  <a:lnTo>
                    <a:pt x="33" y="33"/>
                  </a:lnTo>
                  <a:lnTo>
                    <a:pt x="29" y="65"/>
                  </a:lnTo>
                  <a:lnTo>
                    <a:pt x="25" y="102"/>
                  </a:lnTo>
                  <a:lnTo>
                    <a:pt x="22" y="136"/>
                  </a:lnTo>
                  <a:lnTo>
                    <a:pt x="16" y="171"/>
                  </a:lnTo>
                  <a:lnTo>
                    <a:pt x="12" y="207"/>
                  </a:lnTo>
                  <a:lnTo>
                    <a:pt x="6" y="240"/>
                  </a:lnTo>
                  <a:lnTo>
                    <a:pt x="0" y="272"/>
                  </a:lnTo>
                  <a:lnTo>
                    <a:pt x="16" y="276"/>
                  </a:lnTo>
                  <a:lnTo>
                    <a:pt x="0" y="272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01" name="Freeform 15">
              <a:extLst>
                <a:ext uri="{FF2B5EF4-FFF2-40B4-BE49-F238E27FC236}">
                  <a16:creationId xmlns:a16="http://schemas.microsoft.com/office/drawing/2014/main" id="{C0933D3A-9B2F-BB00-2BE3-CB937ABE96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1" y="2806"/>
              <a:ext cx="84" cy="309"/>
            </a:xfrm>
            <a:custGeom>
              <a:avLst/>
              <a:gdLst>
                <a:gd name="T0" fmla="*/ 71 w 84"/>
                <a:gd name="T1" fmla="*/ 0 h 309"/>
                <a:gd name="T2" fmla="*/ 64 w 84"/>
                <a:gd name="T3" fmla="*/ 11 h 309"/>
                <a:gd name="T4" fmla="*/ 54 w 84"/>
                <a:gd name="T5" fmla="*/ 24 h 309"/>
                <a:gd name="T6" fmla="*/ 48 w 84"/>
                <a:gd name="T7" fmla="*/ 42 h 309"/>
                <a:gd name="T8" fmla="*/ 43 w 84"/>
                <a:gd name="T9" fmla="*/ 59 h 309"/>
                <a:gd name="T10" fmla="*/ 31 w 84"/>
                <a:gd name="T11" fmla="*/ 101 h 309"/>
                <a:gd name="T12" fmla="*/ 23 w 84"/>
                <a:gd name="T13" fmla="*/ 149 h 309"/>
                <a:gd name="T14" fmla="*/ 16 w 84"/>
                <a:gd name="T15" fmla="*/ 195 h 309"/>
                <a:gd name="T16" fmla="*/ 10 w 84"/>
                <a:gd name="T17" fmla="*/ 239 h 309"/>
                <a:gd name="T18" fmla="*/ 4 w 84"/>
                <a:gd name="T19" fmla="*/ 277 h 309"/>
                <a:gd name="T20" fmla="*/ 0 w 84"/>
                <a:gd name="T21" fmla="*/ 304 h 309"/>
                <a:gd name="T22" fmla="*/ 16 w 84"/>
                <a:gd name="T23" fmla="*/ 308 h 309"/>
                <a:gd name="T24" fmla="*/ 22 w 84"/>
                <a:gd name="T25" fmla="*/ 279 h 309"/>
                <a:gd name="T26" fmla="*/ 25 w 84"/>
                <a:gd name="T27" fmla="*/ 241 h 309"/>
                <a:gd name="T28" fmla="*/ 33 w 84"/>
                <a:gd name="T29" fmla="*/ 197 h 309"/>
                <a:gd name="T30" fmla="*/ 39 w 84"/>
                <a:gd name="T31" fmla="*/ 151 h 309"/>
                <a:gd name="T32" fmla="*/ 46 w 84"/>
                <a:gd name="T33" fmla="*/ 105 h 309"/>
                <a:gd name="T34" fmla="*/ 58 w 84"/>
                <a:gd name="T35" fmla="*/ 65 h 309"/>
                <a:gd name="T36" fmla="*/ 64 w 84"/>
                <a:gd name="T37" fmla="*/ 46 h 309"/>
                <a:gd name="T38" fmla="*/ 69 w 84"/>
                <a:gd name="T39" fmla="*/ 32 h 309"/>
                <a:gd name="T40" fmla="*/ 77 w 84"/>
                <a:gd name="T41" fmla="*/ 19 h 309"/>
                <a:gd name="T42" fmla="*/ 83 w 84"/>
                <a:gd name="T43" fmla="*/ 11 h 309"/>
                <a:gd name="T44" fmla="*/ 71 w 84"/>
                <a:gd name="T45" fmla="*/ 0 h 30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84" h="309">
                  <a:moveTo>
                    <a:pt x="71" y="0"/>
                  </a:moveTo>
                  <a:lnTo>
                    <a:pt x="64" y="11"/>
                  </a:lnTo>
                  <a:lnTo>
                    <a:pt x="54" y="24"/>
                  </a:lnTo>
                  <a:lnTo>
                    <a:pt x="48" y="42"/>
                  </a:lnTo>
                  <a:lnTo>
                    <a:pt x="43" y="59"/>
                  </a:lnTo>
                  <a:lnTo>
                    <a:pt x="31" y="101"/>
                  </a:lnTo>
                  <a:lnTo>
                    <a:pt x="23" y="149"/>
                  </a:lnTo>
                  <a:lnTo>
                    <a:pt x="16" y="195"/>
                  </a:lnTo>
                  <a:lnTo>
                    <a:pt x="10" y="239"/>
                  </a:lnTo>
                  <a:lnTo>
                    <a:pt x="4" y="277"/>
                  </a:lnTo>
                  <a:lnTo>
                    <a:pt x="0" y="304"/>
                  </a:lnTo>
                  <a:lnTo>
                    <a:pt x="16" y="308"/>
                  </a:lnTo>
                  <a:lnTo>
                    <a:pt x="22" y="279"/>
                  </a:lnTo>
                  <a:lnTo>
                    <a:pt x="25" y="241"/>
                  </a:lnTo>
                  <a:lnTo>
                    <a:pt x="33" y="197"/>
                  </a:lnTo>
                  <a:lnTo>
                    <a:pt x="39" y="151"/>
                  </a:lnTo>
                  <a:lnTo>
                    <a:pt x="46" y="105"/>
                  </a:lnTo>
                  <a:lnTo>
                    <a:pt x="58" y="65"/>
                  </a:lnTo>
                  <a:lnTo>
                    <a:pt x="64" y="46"/>
                  </a:lnTo>
                  <a:lnTo>
                    <a:pt x="69" y="32"/>
                  </a:lnTo>
                  <a:lnTo>
                    <a:pt x="77" y="19"/>
                  </a:lnTo>
                  <a:lnTo>
                    <a:pt x="83" y="11"/>
                  </a:lnTo>
                  <a:lnTo>
                    <a:pt x="71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02" name="Freeform 16">
              <a:extLst>
                <a:ext uri="{FF2B5EF4-FFF2-40B4-BE49-F238E27FC236}">
                  <a16:creationId xmlns:a16="http://schemas.microsoft.com/office/drawing/2014/main" id="{1AE9CE96-F48F-A5ED-68B2-E7A5A1852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" y="2761"/>
              <a:ext cx="80" cy="57"/>
            </a:xfrm>
            <a:custGeom>
              <a:avLst/>
              <a:gdLst>
                <a:gd name="T0" fmla="*/ 79 w 80"/>
                <a:gd name="T1" fmla="*/ 0 h 57"/>
                <a:gd name="T2" fmla="*/ 77 w 80"/>
                <a:gd name="T3" fmla="*/ 0 h 57"/>
                <a:gd name="T4" fmla="*/ 67 w 80"/>
                <a:gd name="T5" fmla="*/ 0 h 57"/>
                <a:gd name="T6" fmla="*/ 60 w 80"/>
                <a:gd name="T7" fmla="*/ 2 h 57"/>
                <a:gd name="T8" fmla="*/ 50 w 80"/>
                <a:gd name="T9" fmla="*/ 6 h 57"/>
                <a:gd name="T10" fmla="*/ 42 w 80"/>
                <a:gd name="T11" fmla="*/ 10 h 57"/>
                <a:gd name="T12" fmla="*/ 33 w 80"/>
                <a:gd name="T13" fmla="*/ 18 h 57"/>
                <a:gd name="T14" fmla="*/ 23 w 80"/>
                <a:gd name="T15" fmla="*/ 25 h 57"/>
                <a:gd name="T16" fmla="*/ 12 w 80"/>
                <a:gd name="T17" fmla="*/ 33 h 57"/>
                <a:gd name="T18" fmla="*/ 0 w 80"/>
                <a:gd name="T19" fmla="*/ 45 h 57"/>
                <a:gd name="T20" fmla="*/ 12 w 80"/>
                <a:gd name="T21" fmla="*/ 56 h 57"/>
                <a:gd name="T22" fmla="*/ 23 w 80"/>
                <a:gd name="T23" fmla="*/ 46 h 57"/>
                <a:gd name="T24" fmla="*/ 33 w 80"/>
                <a:gd name="T25" fmla="*/ 37 h 57"/>
                <a:gd name="T26" fmla="*/ 42 w 80"/>
                <a:gd name="T27" fmla="*/ 29 h 57"/>
                <a:gd name="T28" fmla="*/ 50 w 80"/>
                <a:gd name="T29" fmla="*/ 25 h 57"/>
                <a:gd name="T30" fmla="*/ 58 w 80"/>
                <a:gd name="T31" fmla="*/ 20 h 57"/>
                <a:gd name="T32" fmla="*/ 65 w 80"/>
                <a:gd name="T33" fmla="*/ 18 h 57"/>
                <a:gd name="T34" fmla="*/ 71 w 80"/>
                <a:gd name="T35" fmla="*/ 16 h 57"/>
                <a:gd name="T36" fmla="*/ 75 w 80"/>
                <a:gd name="T37" fmla="*/ 16 h 57"/>
                <a:gd name="T38" fmla="*/ 73 w 80"/>
                <a:gd name="T39" fmla="*/ 16 h 57"/>
                <a:gd name="T40" fmla="*/ 79 w 80"/>
                <a:gd name="T41" fmla="*/ 0 h 5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80" h="57">
                  <a:moveTo>
                    <a:pt x="79" y="0"/>
                  </a:moveTo>
                  <a:lnTo>
                    <a:pt x="77" y="0"/>
                  </a:lnTo>
                  <a:lnTo>
                    <a:pt x="67" y="0"/>
                  </a:lnTo>
                  <a:lnTo>
                    <a:pt x="60" y="2"/>
                  </a:lnTo>
                  <a:lnTo>
                    <a:pt x="50" y="6"/>
                  </a:lnTo>
                  <a:lnTo>
                    <a:pt x="42" y="10"/>
                  </a:lnTo>
                  <a:lnTo>
                    <a:pt x="33" y="18"/>
                  </a:lnTo>
                  <a:lnTo>
                    <a:pt x="23" y="25"/>
                  </a:lnTo>
                  <a:lnTo>
                    <a:pt x="12" y="33"/>
                  </a:lnTo>
                  <a:lnTo>
                    <a:pt x="0" y="45"/>
                  </a:lnTo>
                  <a:lnTo>
                    <a:pt x="12" y="56"/>
                  </a:lnTo>
                  <a:lnTo>
                    <a:pt x="23" y="46"/>
                  </a:lnTo>
                  <a:lnTo>
                    <a:pt x="33" y="37"/>
                  </a:lnTo>
                  <a:lnTo>
                    <a:pt x="42" y="29"/>
                  </a:lnTo>
                  <a:lnTo>
                    <a:pt x="50" y="25"/>
                  </a:lnTo>
                  <a:lnTo>
                    <a:pt x="58" y="20"/>
                  </a:lnTo>
                  <a:lnTo>
                    <a:pt x="65" y="18"/>
                  </a:lnTo>
                  <a:lnTo>
                    <a:pt x="71" y="16"/>
                  </a:lnTo>
                  <a:lnTo>
                    <a:pt x="75" y="16"/>
                  </a:lnTo>
                  <a:lnTo>
                    <a:pt x="73" y="16"/>
                  </a:lnTo>
                  <a:lnTo>
                    <a:pt x="79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03" name="Freeform 17">
              <a:extLst>
                <a:ext uri="{FF2B5EF4-FFF2-40B4-BE49-F238E27FC236}">
                  <a16:creationId xmlns:a16="http://schemas.microsoft.com/office/drawing/2014/main" id="{168B63DB-D596-BAC4-EC90-E028D1C13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" y="2761"/>
              <a:ext cx="39" cy="147"/>
            </a:xfrm>
            <a:custGeom>
              <a:avLst/>
              <a:gdLst>
                <a:gd name="T0" fmla="*/ 13 w 39"/>
                <a:gd name="T1" fmla="*/ 129 h 147"/>
                <a:gd name="T2" fmla="*/ 15 w 39"/>
                <a:gd name="T3" fmla="*/ 131 h 147"/>
                <a:gd name="T4" fmla="*/ 17 w 39"/>
                <a:gd name="T5" fmla="*/ 133 h 147"/>
                <a:gd name="T6" fmla="*/ 17 w 39"/>
                <a:gd name="T7" fmla="*/ 129 h 147"/>
                <a:gd name="T8" fmla="*/ 17 w 39"/>
                <a:gd name="T9" fmla="*/ 125 h 147"/>
                <a:gd name="T10" fmla="*/ 17 w 39"/>
                <a:gd name="T11" fmla="*/ 117 h 147"/>
                <a:gd name="T12" fmla="*/ 23 w 39"/>
                <a:gd name="T13" fmla="*/ 98 h 147"/>
                <a:gd name="T14" fmla="*/ 29 w 39"/>
                <a:gd name="T15" fmla="*/ 75 h 147"/>
                <a:gd name="T16" fmla="*/ 33 w 39"/>
                <a:gd name="T17" fmla="*/ 52 h 147"/>
                <a:gd name="T18" fmla="*/ 36 w 39"/>
                <a:gd name="T19" fmla="*/ 33 h 147"/>
                <a:gd name="T20" fmla="*/ 38 w 39"/>
                <a:gd name="T21" fmla="*/ 23 h 147"/>
                <a:gd name="T22" fmla="*/ 36 w 39"/>
                <a:gd name="T23" fmla="*/ 14 h 147"/>
                <a:gd name="T24" fmla="*/ 35 w 39"/>
                <a:gd name="T25" fmla="*/ 6 h 147"/>
                <a:gd name="T26" fmla="*/ 27 w 39"/>
                <a:gd name="T27" fmla="*/ 0 h 147"/>
                <a:gd name="T28" fmla="*/ 21 w 39"/>
                <a:gd name="T29" fmla="*/ 16 h 147"/>
                <a:gd name="T30" fmla="*/ 21 w 39"/>
                <a:gd name="T31" fmla="*/ 18 h 147"/>
                <a:gd name="T32" fmla="*/ 21 w 39"/>
                <a:gd name="T33" fmla="*/ 23 h 147"/>
                <a:gd name="T34" fmla="*/ 21 w 39"/>
                <a:gd name="T35" fmla="*/ 29 h 147"/>
                <a:gd name="T36" fmla="*/ 17 w 39"/>
                <a:gd name="T37" fmla="*/ 50 h 147"/>
                <a:gd name="T38" fmla="*/ 12 w 39"/>
                <a:gd name="T39" fmla="*/ 71 h 147"/>
                <a:gd name="T40" fmla="*/ 6 w 39"/>
                <a:gd name="T41" fmla="*/ 94 h 147"/>
                <a:gd name="T42" fmla="*/ 2 w 39"/>
                <a:gd name="T43" fmla="*/ 114 h 147"/>
                <a:gd name="T44" fmla="*/ 2 w 39"/>
                <a:gd name="T45" fmla="*/ 123 h 147"/>
                <a:gd name="T46" fmla="*/ 0 w 39"/>
                <a:gd name="T47" fmla="*/ 131 h 147"/>
                <a:gd name="T48" fmla="*/ 2 w 39"/>
                <a:gd name="T49" fmla="*/ 138 h 147"/>
                <a:gd name="T50" fmla="*/ 8 w 39"/>
                <a:gd name="T51" fmla="*/ 144 h 147"/>
                <a:gd name="T52" fmla="*/ 10 w 39"/>
                <a:gd name="T53" fmla="*/ 146 h 147"/>
                <a:gd name="T54" fmla="*/ 13 w 39"/>
                <a:gd name="T55" fmla="*/ 129 h 14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39" h="147">
                  <a:moveTo>
                    <a:pt x="13" y="129"/>
                  </a:moveTo>
                  <a:lnTo>
                    <a:pt x="15" y="131"/>
                  </a:lnTo>
                  <a:lnTo>
                    <a:pt x="17" y="133"/>
                  </a:lnTo>
                  <a:lnTo>
                    <a:pt x="17" y="129"/>
                  </a:lnTo>
                  <a:lnTo>
                    <a:pt x="17" y="125"/>
                  </a:lnTo>
                  <a:lnTo>
                    <a:pt x="17" y="117"/>
                  </a:lnTo>
                  <a:lnTo>
                    <a:pt x="23" y="98"/>
                  </a:lnTo>
                  <a:lnTo>
                    <a:pt x="29" y="75"/>
                  </a:lnTo>
                  <a:lnTo>
                    <a:pt x="33" y="52"/>
                  </a:lnTo>
                  <a:lnTo>
                    <a:pt x="36" y="33"/>
                  </a:lnTo>
                  <a:lnTo>
                    <a:pt x="38" y="23"/>
                  </a:lnTo>
                  <a:lnTo>
                    <a:pt x="36" y="14"/>
                  </a:lnTo>
                  <a:lnTo>
                    <a:pt x="35" y="6"/>
                  </a:lnTo>
                  <a:lnTo>
                    <a:pt x="27" y="0"/>
                  </a:lnTo>
                  <a:lnTo>
                    <a:pt x="21" y="16"/>
                  </a:lnTo>
                  <a:lnTo>
                    <a:pt x="21" y="18"/>
                  </a:lnTo>
                  <a:lnTo>
                    <a:pt x="21" y="23"/>
                  </a:lnTo>
                  <a:lnTo>
                    <a:pt x="21" y="29"/>
                  </a:lnTo>
                  <a:lnTo>
                    <a:pt x="17" y="50"/>
                  </a:lnTo>
                  <a:lnTo>
                    <a:pt x="12" y="71"/>
                  </a:lnTo>
                  <a:lnTo>
                    <a:pt x="6" y="94"/>
                  </a:lnTo>
                  <a:lnTo>
                    <a:pt x="2" y="114"/>
                  </a:lnTo>
                  <a:lnTo>
                    <a:pt x="2" y="123"/>
                  </a:lnTo>
                  <a:lnTo>
                    <a:pt x="0" y="131"/>
                  </a:lnTo>
                  <a:lnTo>
                    <a:pt x="2" y="138"/>
                  </a:lnTo>
                  <a:lnTo>
                    <a:pt x="8" y="144"/>
                  </a:lnTo>
                  <a:lnTo>
                    <a:pt x="10" y="146"/>
                  </a:lnTo>
                  <a:lnTo>
                    <a:pt x="13" y="129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04" name="Freeform 18">
              <a:extLst>
                <a:ext uri="{FF2B5EF4-FFF2-40B4-BE49-F238E27FC236}">
                  <a16:creationId xmlns:a16="http://schemas.microsoft.com/office/drawing/2014/main" id="{E1927E18-2889-D8EB-3BBD-C76C3D901E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2786"/>
              <a:ext cx="75" cy="122"/>
            </a:xfrm>
            <a:custGeom>
              <a:avLst/>
              <a:gdLst>
                <a:gd name="T0" fmla="*/ 74 w 75"/>
                <a:gd name="T1" fmla="*/ 2 h 122"/>
                <a:gd name="T2" fmla="*/ 67 w 75"/>
                <a:gd name="T3" fmla="*/ 0 h 122"/>
                <a:gd name="T4" fmla="*/ 57 w 75"/>
                <a:gd name="T5" fmla="*/ 2 h 122"/>
                <a:gd name="T6" fmla="*/ 49 w 75"/>
                <a:gd name="T7" fmla="*/ 6 h 122"/>
                <a:gd name="T8" fmla="*/ 44 w 75"/>
                <a:gd name="T9" fmla="*/ 14 h 122"/>
                <a:gd name="T10" fmla="*/ 36 w 75"/>
                <a:gd name="T11" fmla="*/ 33 h 122"/>
                <a:gd name="T12" fmla="*/ 28 w 75"/>
                <a:gd name="T13" fmla="*/ 54 h 122"/>
                <a:gd name="T14" fmla="*/ 21 w 75"/>
                <a:gd name="T15" fmla="*/ 75 h 122"/>
                <a:gd name="T16" fmla="*/ 13 w 75"/>
                <a:gd name="T17" fmla="*/ 92 h 122"/>
                <a:gd name="T18" fmla="*/ 9 w 75"/>
                <a:gd name="T19" fmla="*/ 100 h 122"/>
                <a:gd name="T20" fmla="*/ 5 w 75"/>
                <a:gd name="T21" fmla="*/ 104 h 122"/>
                <a:gd name="T22" fmla="*/ 3 w 75"/>
                <a:gd name="T23" fmla="*/ 104 h 122"/>
                <a:gd name="T24" fmla="*/ 0 w 75"/>
                <a:gd name="T25" fmla="*/ 121 h 122"/>
                <a:gd name="T26" fmla="*/ 9 w 75"/>
                <a:gd name="T27" fmla="*/ 119 h 122"/>
                <a:gd name="T28" fmla="*/ 17 w 75"/>
                <a:gd name="T29" fmla="*/ 115 h 122"/>
                <a:gd name="T30" fmla="*/ 23 w 75"/>
                <a:gd name="T31" fmla="*/ 108 h 122"/>
                <a:gd name="T32" fmla="*/ 26 w 75"/>
                <a:gd name="T33" fmla="*/ 100 h 122"/>
                <a:gd name="T34" fmla="*/ 36 w 75"/>
                <a:gd name="T35" fmla="*/ 81 h 122"/>
                <a:gd name="T36" fmla="*/ 44 w 75"/>
                <a:gd name="T37" fmla="*/ 60 h 122"/>
                <a:gd name="T38" fmla="*/ 49 w 75"/>
                <a:gd name="T39" fmla="*/ 39 h 122"/>
                <a:gd name="T40" fmla="*/ 57 w 75"/>
                <a:gd name="T41" fmla="*/ 21 h 122"/>
                <a:gd name="T42" fmla="*/ 61 w 75"/>
                <a:gd name="T43" fmla="*/ 18 h 122"/>
                <a:gd name="T44" fmla="*/ 65 w 75"/>
                <a:gd name="T45" fmla="*/ 16 h 122"/>
                <a:gd name="T46" fmla="*/ 67 w 75"/>
                <a:gd name="T47" fmla="*/ 16 h 122"/>
                <a:gd name="T48" fmla="*/ 74 w 75"/>
                <a:gd name="T49" fmla="*/ 2 h 12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75" h="122">
                  <a:moveTo>
                    <a:pt x="74" y="2"/>
                  </a:moveTo>
                  <a:lnTo>
                    <a:pt x="67" y="0"/>
                  </a:lnTo>
                  <a:lnTo>
                    <a:pt x="57" y="2"/>
                  </a:lnTo>
                  <a:lnTo>
                    <a:pt x="49" y="6"/>
                  </a:lnTo>
                  <a:lnTo>
                    <a:pt x="44" y="14"/>
                  </a:lnTo>
                  <a:lnTo>
                    <a:pt x="36" y="33"/>
                  </a:lnTo>
                  <a:lnTo>
                    <a:pt x="28" y="54"/>
                  </a:lnTo>
                  <a:lnTo>
                    <a:pt x="21" y="75"/>
                  </a:lnTo>
                  <a:lnTo>
                    <a:pt x="13" y="92"/>
                  </a:lnTo>
                  <a:lnTo>
                    <a:pt x="9" y="100"/>
                  </a:lnTo>
                  <a:lnTo>
                    <a:pt x="5" y="104"/>
                  </a:lnTo>
                  <a:lnTo>
                    <a:pt x="3" y="104"/>
                  </a:lnTo>
                  <a:lnTo>
                    <a:pt x="0" y="121"/>
                  </a:lnTo>
                  <a:lnTo>
                    <a:pt x="9" y="119"/>
                  </a:lnTo>
                  <a:lnTo>
                    <a:pt x="17" y="115"/>
                  </a:lnTo>
                  <a:lnTo>
                    <a:pt x="23" y="108"/>
                  </a:lnTo>
                  <a:lnTo>
                    <a:pt x="26" y="100"/>
                  </a:lnTo>
                  <a:lnTo>
                    <a:pt x="36" y="81"/>
                  </a:lnTo>
                  <a:lnTo>
                    <a:pt x="44" y="60"/>
                  </a:lnTo>
                  <a:lnTo>
                    <a:pt x="49" y="39"/>
                  </a:lnTo>
                  <a:lnTo>
                    <a:pt x="57" y="21"/>
                  </a:lnTo>
                  <a:lnTo>
                    <a:pt x="61" y="18"/>
                  </a:lnTo>
                  <a:lnTo>
                    <a:pt x="65" y="16"/>
                  </a:lnTo>
                  <a:lnTo>
                    <a:pt x="67" y="16"/>
                  </a:lnTo>
                  <a:lnTo>
                    <a:pt x="74" y="2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05" name="Freeform 19">
              <a:extLst>
                <a:ext uri="{FF2B5EF4-FFF2-40B4-BE49-F238E27FC236}">
                  <a16:creationId xmlns:a16="http://schemas.microsoft.com/office/drawing/2014/main" id="{3D60AE64-B66B-DF41-7DE7-942AF91B8F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2" y="2788"/>
              <a:ext cx="53" cy="348"/>
            </a:xfrm>
            <a:custGeom>
              <a:avLst/>
              <a:gdLst>
                <a:gd name="T0" fmla="*/ 14 w 53"/>
                <a:gd name="T1" fmla="*/ 332 h 348"/>
                <a:gd name="T2" fmla="*/ 20 w 53"/>
                <a:gd name="T3" fmla="*/ 339 h 348"/>
                <a:gd name="T4" fmla="*/ 18 w 53"/>
                <a:gd name="T5" fmla="*/ 316 h 348"/>
                <a:gd name="T6" fmla="*/ 18 w 53"/>
                <a:gd name="T7" fmla="*/ 292 h 348"/>
                <a:gd name="T8" fmla="*/ 18 w 53"/>
                <a:gd name="T9" fmla="*/ 265 h 348"/>
                <a:gd name="T10" fmla="*/ 20 w 53"/>
                <a:gd name="T11" fmla="*/ 238 h 348"/>
                <a:gd name="T12" fmla="*/ 25 w 53"/>
                <a:gd name="T13" fmla="*/ 184 h 348"/>
                <a:gd name="T14" fmla="*/ 33 w 53"/>
                <a:gd name="T15" fmla="*/ 131 h 348"/>
                <a:gd name="T16" fmla="*/ 41 w 53"/>
                <a:gd name="T17" fmla="*/ 85 h 348"/>
                <a:gd name="T18" fmla="*/ 48 w 53"/>
                <a:gd name="T19" fmla="*/ 46 h 348"/>
                <a:gd name="T20" fmla="*/ 52 w 53"/>
                <a:gd name="T21" fmla="*/ 19 h 348"/>
                <a:gd name="T22" fmla="*/ 46 w 53"/>
                <a:gd name="T23" fmla="*/ 0 h 348"/>
                <a:gd name="T24" fmla="*/ 39 w 53"/>
                <a:gd name="T25" fmla="*/ 14 h 348"/>
                <a:gd name="T26" fmla="*/ 37 w 53"/>
                <a:gd name="T27" fmla="*/ 18 h 348"/>
                <a:gd name="T28" fmla="*/ 33 w 53"/>
                <a:gd name="T29" fmla="*/ 42 h 348"/>
                <a:gd name="T30" fmla="*/ 25 w 53"/>
                <a:gd name="T31" fmla="*/ 81 h 348"/>
                <a:gd name="T32" fmla="*/ 18 w 53"/>
                <a:gd name="T33" fmla="*/ 129 h 348"/>
                <a:gd name="T34" fmla="*/ 10 w 53"/>
                <a:gd name="T35" fmla="*/ 182 h 348"/>
                <a:gd name="T36" fmla="*/ 4 w 53"/>
                <a:gd name="T37" fmla="*/ 236 h 348"/>
                <a:gd name="T38" fmla="*/ 2 w 53"/>
                <a:gd name="T39" fmla="*/ 265 h 348"/>
                <a:gd name="T40" fmla="*/ 0 w 53"/>
                <a:gd name="T41" fmla="*/ 292 h 348"/>
                <a:gd name="T42" fmla="*/ 2 w 53"/>
                <a:gd name="T43" fmla="*/ 316 h 348"/>
                <a:gd name="T44" fmla="*/ 4 w 53"/>
                <a:gd name="T45" fmla="*/ 341 h 348"/>
                <a:gd name="T46" fmla="*/ 10 w 53"/>
                <a:gd name="T47" fmla="*/ 347 h 348"/>
                <a:gd name="T48" fmla="*/ 14 w 53"/>
                <a:gd name="T49" fmla="*/ 332 h 34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53" h="348">
                  <a:moveTo>
                    <a:pt x="14" y="332"/>
                  </a:moveTo>
                  <a:lnTo>
                    <a:pt x="20" y="339"/>
                  </a:lnTo>
                  <a:lnTo>
                    <a:pt x="18" y="316"/>
                  </a:lnTo>
                  <a:lnTo>
                    <a:pt x="18" y="292"/>
                  </a:lnTo>
                  <a:lnTo>
                    <a:pt x="18" y="265"/>
                  </a:lnTo>
                  <a:lnTo>
                    <a:pt x="20" y="238"/>
                  </a:lnTo>
                  <a:lnTo>
                    <a:pt x="25" y="184"/>
                  </a:lnTo>
                  <a:lnTo>
                    <a:pt x="33" y="131"/>
                  </a:lnTo>
                  <a:lnTo>
                    <a:pt x="41" y="85"/>
                  </a:lnTo>
                  <a:lnTo>
                    <a:pt x="48" y="46"/>
                  </a:lnTo>
                  <a:lnTo>
                    <a:pt x="52" y="19"/>
                  </a:lnTo>
                  <a:lnTo>
                    <a:pt x="46" y="0"/>
                  </a:lnTo>
                  <a:lnTo>
                    <a:pt x="39" y="14"/>
                  </a:lnTo>
                  <a:lnTo>
                    <a:pt x="37" y="18"/>
                  </a:lnTo>
                  <a:lnTo>
                    <a:pt x="33" y="42"/>
                  </a:lnTo>
                  <a:lnTo>
                    <a:pt x="25" y="81"/>
                  </a:lnTo>
                  <a:lnTo>
                    <a:pt x="18" y="129"/>
                  </a:lnTo>
                  <a:lnTo>
                    <a:pt x="10" y="182"/>
                  </a:lnTo>
                  <a:lnTo>
                    <a:pt x="4" y="236"/>
                  </a:lnTo>
                  <a:lnTo>
                    <a:pt x="2" y="265"/>
                  </a:lnTo>
                  <a:lnTo>
                    <a:pt x="0" y="292"/>
                  </a:lnTo>
                  <a:lnTo>
                    <a:pt x="2" y="316"/>
                  </a:lnTo>
                  <a:lnTo>
                    <a:pt x="4" y="341"/>
                  </a:lnTo>
                  <a:lnTo>
                    <a:pt x="10" y="347"/>
                  </a:lnTo>
                  <a:lnTo>
                    <a:pt x="14" y="332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06" name="Freeform 20">
              <a:extLst>
                <a:ext uri="{FF2B5EF4-FFF2-40B4-BE49-F238E27FC236}">
                  <a16:creationId xmlns:a16="http://schemas.microsoft.com/office/drawing/2014/main" id="{C8A92595-17C6-AD02-AD30-D367C17326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2" y="3014"/>
              <a:ext cx="43" cy="122"/>
            </a:xfrm>
            <a:custGeom>
              <a:avLst/>
              <a:gdLst>
                <a:gd name="T0" fmla="*/ 27 w 43"/>
                <a:gd name="T1" fmla="*/ 0 h 122"/>
                <a:gd name="T2" fmla="*/ 23 w 43"/>
                <a:gd name="T3" fmla="*/ 18 h 122"/>
                <a:gd name="T4" fmla="*/ 17 w 43"/>
                <a:gd name="T5" fmla="*/ 37 h 122"/>
                <a:gd name="T6" fmla="*/ 13 w 43"/>
                <a:gd name="T7" fmla="*/ 56 h 122"/>
                <a:gd name="T8" fmla="*/ 10 w 43"/>
                <a:gd name="T9" fmla="*/ 75 h 122"/>
                <a:gd name="T10" fmla="*/ 6 w 43"/>
                <a:gd name="T11" fmla="*/ 90 h 122"/>
                <a:gd name="T12" fmla="*/ 2 w 43"/>
                <a:gd name="T13" fmla="*/ 102 h 122"/>
                <a:gd name="T14" fmla="*/ 0 w 43"/>
                <a:gd name="T15" fmla="*/ 108 h 122"/>
                <a:gd name="T16" fmla="*/ 4 w 43"/>
                <a:gd name="T17" fmla="*/ 106 h 122"/>
                <a:gd name="T18" fmla="*/ 0 w 43"/>
                <a:gd name="T19" fmla="*/ 121 h 122"/>
                <a:gd name="T20" fmla="*/ 11 w 43"/>
                <a:gd name="T21" fmla="*/ 117 h 122"/>
                <a:gd name="T22" fmla="*/ 17 w 43"/>
                <a:gd name="T23" fmla="*/ 108 h 122"/>
                <a:gd name="T24" fmla="*/ 21 w 43"/>
                <a:gd name="T25" fmla="*/ 94 h 122"/>
                <a:gd name="T26" fmla="*/ 25 w 43"/>
                <a:gd name="T27" fmla="*/ 79 h 122"/>
                <a:gd name="T28" fmla="*/ 29 w 43"/>
                <a:gd name="T29" fmla="*/ 60 h 122"/>
                <a:gd name="T30" fmla="*/ 33 w 43"/>
                <a:gd name="T31" fmla="*/ 41 h 122"/>
                <a:gd name="T32" fmla="*/ 38 w 43"/>
                <a:gd name="T33" fmla="*/ 22 h 122"/>
                <a:gd name="T34" fmla="*/ 42 w 43"/>
                <a:gd name="T35" fmla="*/ 4 h 122"/>
                <a:gd name="T36" fmla="*/ 27 w 43"/>
                <a:gd name="T37" fmla="*/ 0 h 12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3" h="122">
                  <a:moveTo>
                    <a:pt x="27" y="0"/>
                  </a:moveTo>
                  <a:lnTo>
                    <a:pt x="23" y="18"/>
                  </a:lnTo>
                  <a:lnTo>
                    <a:pt x="17" y="37"/>
                  </a:lnTo>
                  <a:lnTo>
                    <a:pt x="13" y="56"/>
                  </a:lnTo>
                  <a:lnTo>
                    <a:pt x="10" y="75"/>
                  </a:lnTo>
                  <a:lnTo>
                    <a:pt x="6" y="90"/>
                  </a:lnTo>
                  <a:lnTo>
                    <a:pt x="2" y="102"/>
                  </a:lnTo>
                  <a:lnTo>
                    <a:pt x="0" y="108"/>
                  </a:lnTo>
                  <a:lnTo>
                    <a:pt x="4" y="106"/>
                  </a:lnTo>
                  <a:lnTo>
                    <a:pt x="0" y="121"/>
                  </a:lnTo>
                  <a:lnTo>
                    <a:pt x="11" y="117"/>
                  </a:lnTo>
                  <a:lnTo>
                    <a:pt x="17" y="108"/>
                  </a:lnTo>
                  <a:lnTo>
                    <a:pt x="21" y="94"/>
                  </a:lnTo>
                  <a:lnTo>
                    <a:pt x="25" y="79"/>
                  </a:lnTo>
                  <a:lnTo>
                    <a:pt x="29" y="60"/>
                  </a:lnTo>
                  <a:lnTo>
                    <a:pt x="33" y="41"/>
                  </a:lnTo>
                  <a:lnTo>
                    <a:pt x="38" y="22"/>
                  </a:lnTo>
                  <a:lnTo>
                    <a:pt x="42" y="4"/>
                  </a:lnTo>
                  <a:lnTo>
                    <a:pt x="27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07" name="Freeform 21">
              <a:extLst>
                <a:ext uri="{FF2B5EF4-FFF2-40B4-BE49-F238E27FC236}">
                  <a16:creationId xmlns:a16="http://schemas.microsoft.com/office/drawing/2014/main" id="{15645289-D096-5958-57A4-816D03F3C0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" y="2944"/>
              <a:ext cx="49" cy="75"/>
            </a:xfrm>
            <a:custGeom>
              <a:avLst/>
              <a:gdLst>
                <a:gd name="T0" fmla="*/ 44 w 49"/>
                <a:gd name="T1" fmla="*/ 0 h 75"/>
                <a:gd name="T2" fmla="*/ 36 w 49"/>
                <a:gd name="T3" fmla="*/ 3 h 75"/>
                <a:gd name="T4" fmla="*/ 30 w 49"/>
                <a:gd name="T5" fmla="*/ 11 h 75"/>
                <a:gd name="T6" fmla="*/ 25 w 49"/>
                <a:gd name="T7" fmla="*/ 19 h 75"/>
                <a:gd name="T8" fmla="*/ 19 w 49"/>
                <a:gd name="T9" fmla="*/ 26 h 75"/>
                <a:gd name="T10" fmla="*/ 13 w 49"/>
                <a:gd name="T11" fmla="*/ 38 h 75"/>
                <a:gd name="T12" fmla="*/ 7 w 49"/>
                <a:gd name="T13" fmla="*/ 49 h 75"/>
                <a:gd name="T14" fmla="*/ 4 w 49"/>
                <a:gd name="T15" fmla="*/ 59 h 75"/>
                <a:gd name="T16" fmla="*/ 0 w 49"/>
                <a:gd name="T17" fmla="*/ 70 h 75"/>
                <a:gd name="T18" fmla="*/ 15 w 49"/>
                <a:gd name="T19" fmla="*/ 74 h 75"/>
                <a:gd name="T20" fmla="*/ 19 w 49"/>
                <a:gd name="T21" fmla="*/ 65 h 75"/>
                <a:gd name="T22" fmla="*/ 23 w 49"/>
                <a:gd name="T23" fmla="*/ 55 h 75"/>
                <a:gd name="T24" fmla="*/ 29 w 49"/>
                <a:gd name="T25" fmla="*/ 46 h 75"/>
                <a:gd name="T26" fmla="*/ 34 w 49"/>
                <a:gd name="T27" fmla="*/ 36 h 75"/>
                <a:gd name="T28" fmla="*/ 38 w 49"/>
                <a:gd name="T29" fmla="*/ 26 h 75"/>
                <a:gd name="T30" fmla="*/ 44 w 49"/>
                <a:gd name="T31" fmla="*/ 21 h 75"/>
                <a:gd name="T32" fmla="*/ 48 w 49"/>
                <a:gd name="T33" fmla="*/ 17 h 75"/>
                <a:gd name="T34" fmla="*/ 44 w 49"/>
                <a:gd name="T35" fmla="*/ 17 h 75"/>
                <a:gd name="T36" fmla="*/ 44 w 49"/>
                <a:gd name="T37" fmla="*/ 0 h 7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9" h="75">
                  <a:moveTo>
                    <a:pt x="44" y="0"/>
                  </a:moveTo>
                  <a:lnTo>
                    <a:pt x="36" y="3"/>
                  </a:lnTo>
                  <a:lnTo>
                    <a:pt x="30" y="11"/>
                  </a:lnTo>
                  <a:lnTo>
                    <a:pt x="25" y="19"/>
                  </a:lnTo>
                  <a:lnTo>
                    <a:pt x="19" y="26"/>
                  </a:lnTo>
                  <a:lnTo>
                    <a:pt x="13" y="38"/>
                  </a:lnTo>
                  <a:lnTo>
                    <a:pt x="7" y="49"/>
                  </a:lnTo>
                  <a:lnTo>
                    <a:pt x="4" y="59"/>
                  </a:lnTo>
                  <a:lnTo>
                    <a:pt x="0" y="70"/>
                  </a:lnTo>
                  <a:lnTo>
                    <a:pt x="15" y="74"/>
                  </a:lnTo>
                  <a:lnTo>
                    <a:pt x="19" y="65"/>
                  </a:lnTo>
                  <a:lnTo>
                    <a:pt x="23" y="55"/>
                  </a:lnTo>
                  <a:lnTo>
                    <a:pt x="29" y="46"/>
                  </a:lnTo>
                  <a:lnTo>
                    <a:pt x="34" y="36"/>
                  </a:lnTo>
                  <a:lnTo>
                    <a:pt x="38" y="26"/>
                  </a:lnTo>
                  <a:lnTo>
                    <a:pt x="44" y="21"/>
                  </a:lnTo>
                  <a:lnTo>
                    <a:pt x="48" y="17"/>
                  </a:lnTo>
                  <a:lnTo>
                    <a:pt x="44" y="17"/>
                  </a:lnTo>
                  <a:lnTo>
                    <a:pt x="44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08" name="Freeform 22">
              <a:extLst>
                <a:ext uri="{FF2B5EF4-FFF2-40B4-BE49-F238E27FC236}">
                  <a16:creationId xmlns:a16="http://schemas.microsoft.com/office/drawing/2014/main" id="{5CB26524-70CC-F024-CE2E-B5935CDD1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5" y="2944"/>
              <a:ext cx="24" cy="221"/>
            </a:xfrm>
            <a:custGeom>
              <a:avLst/>
              <a:gdLst>
                <a:gd name="T0" fmla="*/ 14 w 24"/>
                <a:gd name="T1" fmla="*/ 203 h 221"/>
                <a:gd name="T2" fmla="*/ 15 w 24"/>
                <a:gd name="T3" fmla="*/ 205 h 221"/>
                <a:gd name="T4" fmla="*/ 17 w 24"/>
                <a:gd name="T5" fmla="*/ 205 h 221"/>
                <a:gd name="T6" fmla="*/ 17 w 24"/>
                <a:gd name="T7" fmla="*/ 201 h 221"/>
                <a:gd name="T8" fmla="*/ 15 w 24"/>
                <a:gd name="T9" fmla="*/ 191 h 221"/>
                <a:gd name="T10" fmla="*/ 15 w 24"/>
                <a:gd name="T11" fmla="*/ 178 h 221"/>
                <a:gd name="T12" fmla="*/ 17 w 24"/>
                <a:gd name="T13" fmla="*/ 145 h 221"/>
                <a:gd name="T14" fmla="*/ 19 w 24"/>
                <a:gd name="T15" fmla="*/ 109 h 221"/>
                <a:gd name="T16" fmla="*/ 21 w 24"/>
                <a:gd name="T17" fmla="*/ 72 h 221"/>
                <a:gd name="T18" fmla="*/ 23 w 24"/>
                <a:gd name="T19" fmla="*/ 40 h 221"/>
                <a:gd name="T20" fmla="*/ 23 w 24"/>
                <a:gd name="T21" fmla="*/ 26 h 221"/>
                <a:gd name="T22" fmla="*/ 21 w 24"/>
                <a:gd name="T23" fmla="*/ 15 h 221"/>
                <a:gd name="T24" fmla="*/ 19 w 24"/>
                <a:gd name="T25" fmla="*/ 7 h 221"/>
                <a:gd name="T26" fmla="*/ 8 w 24"/>
                <a:gd name="T27" fmla="*/ 0 h 221"/>
                <a:gd name="T28" fmla="*/ 8 w 24"/>
                <a:gd name="T29" fmla="*/ 17 h 221"/>
                <a:gd name="T30" fmla="*/ 4 w 24"/>
                <a:gd name="T31" fmla="*/ 15 h 221"/>
                <a:gd name="T32" fmla="*/ 6 w 24"/>
                <a:gd name="T33" fmla="*/ 19 h 221"/>
                <a:gd name="T34" fmla="*/ 6 w 24"/>
                <a:gd name="T35" fmla="*/ 26 h 221"/>
                <a:gd name="T36" fmla="*/ 6 w 24"/>
                <a:gd name="T37" fmla="*/ 40 h 221"/>
                <a:gd name="T38" fmla="*/ 6 w 24"/>
                <a:gd name="T39" fmla="*/ 70 h 221"/>
                <a:gd name="T40" fmla="*/ 4 w 24"/>
                <a:gd name="T41" fmla="*/ 107 h 221"/>
                <a:gd name="T42" fmla="*/ 2 w 24"/>
                <a:gd name="T43" fmla="*/ 145 h 221"/>
                <a:gd name="T44" fmla="*/ 0 w 24"/>
                <a:gd name="T45" fmla="*/ 178 h 221"/>
                <a:gd name="T46" fmla="*/ 0 w 24"/>
                <a:gd name="T47" fmla="*/ 191 h 221"/>
                <a:gd name="T48" fmla="*/ 0 w 24"/>
                <a:gd name="T49" fmla="*/ 203 h 221"/>
                <a:gd name="T50" fmla="*/ 2 w 24"/>
                <a:gd name="T51" fmla="*/ 210 h 221"/>
                <a:gd name="T52" fmla="*/ 10 w 24"/>
                <a:gd name="T53" fmla="*/ 218 h 221"/>
                <a:gd name="T54" fmla="*/ 14 w 24"/>
                <a:gd name="T55" fmla="*/ 220 h 221"/>
                <a:gd name="T56" fmla="*/ 14 w 24"/>
                <a:gd name="T57" fmla="*/ 203 h 221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" h="221">
                  <a:moveTo>
                    <a:pt x="14" y="203"/>
                  </a:moveTo>
                  <a:lnTo>
                    <a:pt x="15" y="205"/>
                  </a:lnTo>
                  <a:lnTo>
                    <a:pt x="17" y="205"/>
                  </a:lnTo>
                  <a:lnTo>
                    <a:pt x="17" y="201"/>
                  </a:lnTo>
                  <a:lnTo>
                    <a:pt x="15" y="191"/>
                  </a:lnTo>
                  <a:lnTo>
                    <a:pt x="15" y="178"/>
                  </a:lnTo>
                  <a:lnTo>
                    <a:pt x="17" y="145"/>
                  </a:lnTo>
                  <a:lnTo>
                    <a:pt x="19" y="109"/>
                  </a:lnTo>
                  <a:lnTo>
                    <a:pt x="21" y="72"/>
                  </a:lnTo>
                  <a:lnTo>
                    <a:pt x="23" y="40"/>
                  </a:lnTo>
                  <a:lnTo>
                    <a:pt x="23" y="26"/>
                  </a:lnTo>
                  <a:lnTo>
                    <a:pt x="21" y="15"/>
                  </a:lnTo>
                  <a:lnTo>
                    <a:pt x="19" y="7"/>
                  </a:lnTo>
                  <a:lnTo>
                    <a:pt x="8" y="0"/>
                  </a:lnTo>
                  <a:lnTo>
                    <a:pt x="8" y="17"/>
                  </a:lnTo>
                  <a:lnTo>
                    <a:pt x="4" y="15"/>
                  </a:lnTo>
                  <a:lnTo>
                    <a:pt x="6" y="19"/>
                  </a:lnTo>
                  <a:lnTo>
                    <a:pt x="6" y="26"/>
                  </a:lnTo>
                  <a:lnTo>
                    <a:pt x="6" y="40"/>
                  </a:lnTo>
                  <a:lnTo>
                    <a:pt x="6" y="70"/>
                  </a:lnTo>
                  <a:lnTo>
                    <a:pt x="4" y="107"/>
                  </a:lnTo>
                  <a:lnTo>
                    <a:pt x="2" y="145"/>
                  </a:lnTo>
                  <a:lnTo>
                    <a:pt x="0" y="178"/>
                  </a:lnTo>
                  <a:lnTo>
                    <a:pt x="0" y="191"/>
                  </a:lnTo>
                  <a:lnTo>
                    <a:pt x="0" y="203"/>
                  </a:lnTo>
                  <a:lnTo>
                    <a:pt x="2" y="210"/>
                  </a:lnTo>
                  <a:lnTo>
                    <a:pt x="10" y="218"/>
                  </a:lnTo>
                  <a:lnTo>
                    <a:pt x="14" y="220"/>
                  </a:lnTo>
                  <a:lnTo>
                    <a:pt x="14" y="203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09" name="Freeform 23">
              <a:extLst>
                <a:ext uri="{FF2B5EF4-FFF2-40B4-BE49-F238E27FC236}">
                  <a16:creationId xmlns:a16="http://schemas.microsoft.com/office/drawing/2014/main" id="{83CF7F2B-4B6D-FD47-BE36-A5FBA084D5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9" y="3095"/>
              <a:ext cx="29" cy="70"/>
            </a:xfrm>
            <a:custGeom>
              <a:avLst/>
              <a:gdLst>
                <a:gd name="T0" fmla="*/ 13 w 29"/>
                <a:gd name="T1" fmla="*/ 0 h 70"/>
                <a:gd name="T2" fmla="*/ 13 w 29"/>
                <a:gd name="T3" fmla="*/ 8 h 70"/>
                <a:gd name="T4" fmla="*/ 11 w 29"/>
                <a:gd name="T5" fmla="*/ 15 h 70"/>
                <a:gd name="T6" fmla="*/ 9 w 29"/>
                <a:gd name="T7" fmla="*/ 25 h 70"/>
                <a:gd name="T8" fmla="*/ 7 w 29"/>
                <a:gd name="T9" fmla="*/ 34 h 70"/>
                <a:gd name="T10" fmla="*/ 3 w 29"/>
                <a:gd name="T11" fmla="*/ 44 h 70"/>
                <a:gd name="T12" fmla="*/ 1 w 29"/>
                <a:gd name="T13" fmla="*/ 50 h 70"/>
                <a:gd name="T14" fmla="*/ 0 w 29"/>
                <a:gd name="T15" fmla="*/ 52 h 70"/>
                <a:gd name="T16" fmla="*/ 0 w 29"/>
                <a:gd name="T17" fmla="*/ 69 h 70"/>
                <a:gd name="T18" fmla="*/ 9 w 29"/>
                <a:gd name="T19" fmla="*/ 65 h 70"/>
                <a:gd name="T20" fmla="*/ 15 w 29"/>
                <a:gd name="T21" fmla="*/ 57 h 70"/>
                <a:gd name="T22" fmla="*/ 19 w 29"/>
                <a:gd name="T23" fmla="*/ 50 h 70"/>
                <a:gd name="T24" fmla="*/ 23 w 29"/>
                <a:gd name="T25" fmla="*/ 40 h 70"/>
                <a:gd name="T26" fmla="*/ 24 w 29"/>
                <a:gd name="T27" fmla="*/ 29 h 70"/>
                <a:gd name="T28" fmla="*/ 26 w 29"/>
                <a:gd name="T29" fmla="*/ 19 h 70"/>
                <a:gd name="T30" fmla="*/ 28 w 29"/>
                <a:gd name="T31" fmla="*/ 9 h 70"/>
                <a:gd name="T32" fmla="*/ 28 w 29"/>
                <a:gd name="T33" fmla="*/ 2 h 70"/>
                <a:gd name="T34" fmla="*/ 13 w 29"/>
                <a:gd name="T35" fmla="*/ 0 h 7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9" h="70">
                  <a:moveTo>
                    <a:pt x="13" y="0"/>
                  </a:moveTo>
                  <a:lnTo>
                    <a:pt x="13" y="8"/>
                  </a:lnTo>
                  <a:lnTo>
                    <a:pt x="11" y="15"/>
                  </a:lnTo>
                  <a:lnTo>
                    <a:pt x="9" y="25"/>
                  </a:lnTo>
                  <a:lnTo>
                    <a:pt x="7" y="34"/>
                  </a:lnTo>
                  <a:lnTo>
                    <a:pt x="3" y="44"/>
                  </a:lnTo>
                  <a:lnTo>
                    <a:pt x="1" y="50"/>
                  </a:lnTo>
                  <a:lnTo>
                    <a:pt x="0" y="52"/>
                  </a:lnTo>
                  <a:lnTo>
                    <a:pt x="0" y="69"/>
                  </a:lnTo>
                  <a:lnTo>
                    <a:pt x="9" y="65"/>
                  </a:lnTo>
                  <a:lnTo>
                    <a:pt x="15" y="57"/>
                  </a:lnTo>
                  <a:lnTo>
                    <a:pt x="19" y="50"/>
                  </a:lnTo>
                  <a:lnTo>
                    <a:pt x="23" y="40"/>
                  </a:lnTo>
                  <a:lnTo>
                    <a:pt x="24" y="29"/>
                  </a:lnTo>
                  <a:lnTo>
                    <a:pt x="26" y="19"/>
                  </a:lnTo>
                  <a:lnTo>
                    <a:pt x="28" y="9"/>
                  </a:lnTo>
                  <a:lnTo>
                    <a:pt x="28" y="2"/>
                  </a:lnTo>
                  <a:lnTo>
                    <a:pt x="13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10" name="Freeform 24">
              <a:extLst>
                <a:ext uri="{FF2B5EF4-FFF2-40B4-BE49-F238E27FC236}">
                  <a16:creationId xmlns:a16="http://schemas.microsoft.com/office/drawing/2014/main" id="{34FAB955-F058-9F96-7C50-86D1B0F5F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2" y="2917"/>
              <a:ext cx="91" cy="181"/>
            </a:xfrm>
            <a:custGeom>
              <a:avLst/>
              <a:gdLst>
                <a:gd name="T0" fmla="*/ 84 w 91"/>
                <a:gd name="T1" fmla="*/ 0 h 181"/>
                <a:gd name="T2" fmla="*/ 90 w 91"/>
                <a:gd name="T3" fmla="*/ 2 h 181"/>
                <a:gd name="T4" fmla="*/ 80 w 91"/>
                <a:gd name="T5" fmla="*/ 2 h 181"/>
                <a:gd name="T6" fmla="*/ 73 w 91"/>
                <a:gd name="T7" fmla="*/ 5 h 181"/>
                <a:gd name="T8" fmla="*/ 69 w 91"/>
                <a:gd name="T9" fmla="*/ 11 h 181"/>
                <a:gd name="T10" fmla="*/ 63 w 91"/>
                <a:gd name="T11" fmla="*/ 21 h 181"/>
                <a:gd name="T12" fmla="*/ 50 w 91"/>
                <a:gd name="T13" fmla="*/ 42 h 181"/>
                <a:gd name="T14" fmla="*/ 38 w 91"/>
                <a:gd name="T15" fmla="*/ 67 h 181"/>
                <a:gd name="T16" fmla="*/ 25 w 91"/>
                <a:gd name="T17" fmla="*/ 97 h 181"/>
                <a:gd name="T18" fmla="*/ 15 w 91"/>
                <a:gd name="T19" fmla="*/ 126 h 181"/>
                <a:gd name="T20" fmla="*/ 6 w 91"/>
                <a:gd name="T21" fmla="*/ 153 h 181"/>
                <a:gd name="T22" fmla="*/ 0 w 91"/>
                <a:gd name="T23" fmla="*/ 178 h 181"/>
                <a:gd name="T24" fmla="*/ 15 w 91"/>
                <a:gd name="T25" fmla="*/ 180 h 181"/>
                <a:gd name="T26" fmla="*/ 21 w 91"/>
                <a:gd name="T27" fmla="*/ 159 h 181"/>
                <a:gd name="T28" fmla="*/ 29 w 91"/>
                <a:gd name="T29" fmla="*/ 132 h 181"/>
                <a:gd name="T30" fmla="*/ 40 w 91"/>
                <a:gd name="T31" fmla="*/ 103 h 181"/>
                <a:gd name="T32" fmla="*/ 52 w 91"/>
                <a:gd name="T33" fmla="*/ 74 h 181"/>
                <a:gd name="T34" fmla="*/ 65 w 91"/>
                <a:gd name="T35" fmla="*/ 48 h 181"/>
                <a:gd name="T36" fmla="*/ 77 w 91"/>
                <a:gd name="T37" fmla="*/ 28 h 181"/>
                <a:gd name="T38" fmla="*/ 80 w 91"/>
                <a:gd name="T39" fmla="*/ 21 h 181"/>
                <a:gd name="T40" fmla="*/ 84 w 91"/>
                <a:gd name="T41" fmla="*/ 17 h 181"/>
                <a:gd name="T42" fmla="*/ 86 w 91"/>
                <a:gd name="T43" fmla="*/ 15 h 181"/>
                <a:gd name="T44" fmla="*/ 82 w 91"/>
                <a:gd name="T45" fmla="*/ 15 h 181"/>
                <a:gd name="T46" fmla="*/ 88 w 91"/>
                <a:gd name="T47" fmla="*/ 15 h 181"/>
                <a:gd name="T48" fmla="*/ 84 w 91"/>
                <a:gd name="T49" fmla="*/ 0 h 18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91" h="181">
                  <a:moveTo>
                    <a:pt x="84" y="0"/>
                  </a:moveTo>
                  <a:lnTo>
                    <a:pt x="90" y="2"/>
                  </a:lnTo>
                  <a:lnTo>
                    <a:pt x="80" y="2"/>
                  </a:lnTo>
                  <a:lnTo>
                    <a:pt x="73" y="5"/>
                  </a:lnTo>
                  <a:lnTo>
                    <a:pt x="69" y="11"/>
                  </a:lnTo>
                  <a:lnTo>
                    <a:pt x="63" y="21"/>
                  </a:lnTo>
                  <a:lnTo>
                    <a:pt x="50" y="42"/>
                  </a:lnTo>
                  <a:lnTo>
                    <a:pt x="38" y="67"/>
                  </a:lnTo>
                  <a:lnTo>
                    <a:pt x="25" y="97"/>
                  </a:lnTo>
                  <a:lnTo>
                    <a:pt x="15" y="126"/>
                  </a:lnTo>
                  <a:lnTo>
                    <a:pt x="6" y="153"/>
                  </a:lnTo>
                  <a:lnTo>
                    <a:pt x="0" y="178"/>
                  </a:lnTo>
                  <a:lnTo>
                    <a:pt x="15" y="180"/>
                  </a:lnTo>
                  <a:lnTo>
                    <a:pt x="21" y="159"/>
                  </a:lnTo>
                  <a:lnTo>
                    <a:pt x="29" y="132"/>
                  </a:lnTo>
                  <a:lnTo>
                    <a:pt x="40" y="103"/>
                  </a:lnTo>
                  <a:lnTo>
                    <a:pt x="52" y="74"/>
                  </a:lnTo>
                  <a:lnTo>
                    <a:pt x="65" y="48"/>
                  </a:lnTo>
                  <a:lnTo>
                    <a:pt x="77" y="28"/>
                  </a:lnTo>
                  <a:lnTo>
                    <a:pt x="80" y="21"/>
                  </a:lnTo>
                  <a:lnTo>
                    <a:pt x="84" y="17"/>
                  </a:lnTo>
                  <a:lnTo>
                    <a:pt x="86" y="15"/>
                  </a:lnTo>
                  <a:lnTo>
                    <a:pt x="82" y="15"/>
                  </a:lnTo>
                  <a:lnTo>
                    <a:pt x="88" y="15"/>
                  </a:lnTo>
                  <a:lnTo>
                    <a:pt x="84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11" name="Freeform 25">
              <a:extLst>
                <a:ext uri="{FF2B5EF4-FFF2-40B4-BE49-F238E27FC236}">
                  <a16:creationId xmlns:a16="http://schemas.microsoft.com/office/drawing/2014/main" id="{58298FED-E04F-0BAA-77CE-BD4CC0BBFD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7" y="2917"/>
              <a:ext cx="34" cy="144"/>
            </a:xfrm>
            <a:custGeom>
              <a:avLst/>
              <a:gdLst>
                <a:gd name="T0" fmla="*/ 14 w 34"/>
                <a:gd name="T1" fmla="*/ 126 h 144"/>
                <a:gd name="T2" fmla="*/ 17 w 34"/>
                <a:gd name="T3" fmla="*/ 128 h 144"/>
                <a:gd name="T4" fmla="*/ 15 w 34"/>
                <a:gd name="T5" fmla="*/ 122 h 144"/>
                <a:gd name="T6" fmla="*/ 17 w 34"/>
                <a:gd name="T7" fmla="*/ 115 h 144"/>
                <a:gd name="T8" fmla="*/ 19 w 34"/>
                <a:gd name="T9" fmla="*/ 96 h 144"/>
                <a:gd name="T10" fmla="*/ 23 w 34"/>
                <a:gd name="T11" fmla="*/ 73 h 144"/>
                <a:gd name="T12" fmla="*/ 29 w 34"/>
                <a:gd name="T13" fmla="*/ 48 h 144"/>
                <a:gd name="T14" fmla="*/ 31 w 34"/>
                <a:gd name="T15" fmla="*/ 28 h 144"/>
                <a:gd name="T16" fmla="*/ 33 w 34"/>
                <a:gd name="T17" fmla="*/ 19 h 144"/>
                <a:gd name="T18" fmla="*/ 33 w 34"/>
                <a:gd name="T19" fmla="*/ 11 h 144"/>
                <a:gd name="T20" fmla="*/ 31 w 34"/>
                <a:gd name="T21" fmla="*/ 4 h 144"/>
                <a:gd name="T22" fmla="*/ 19 w 34"/>
                <a:gd name="T23" fmla="*/ 0 h 144"/>
                <a:gd name="T24" fmla="*/ 23 w 34"/>
                <a:gd name="T25" fmla="*/ 15 h 144"/>
                <a:gd name="T26" fmla="*/ 17 w 34"/>
                <a:gd name="T27" fmla="*/ 13 h 144"/>
                <a:gd name="T28" fmla="*/ 17 w 34"/>
                <a:gd name="T29" fmla="*/ 19 h 144"/>
                <a:gd name="T30" fmla="*/ 15 w 34"/>
                <a:gd name="T31" fmla="*/ 25 h 144"/>
                <a:gd name="T32" fmla="*/ 12 w 34"/>
                <a:gd name="T33" fmla="*/ 46 h 144"/>
                <a:gd name="T34" fmla="*/ 8 w 34"/>
                <a:gd name="T35" fmla="*/ 69 h 144"/>
                <a:gd name="T36" fmla="*/ 4 w 34"/>
                <a:gd name="T37" fmla="*/ 94 h 144"/>
                <a:gd name="T38" fmla="*/ 0 w 34"/>
                <a:gd name="T39" fmla="*/ 115 h 144"/>
                <a:gd name="T40" fmla="*/ 0 w 34"/>
                <a:gd name="T41" fmla="*/ 122 h 144"/>
                <a:gd name="T42" fmla="*/ 0 w 34"/>
                <a:gd name="T43" fmla="*/ 130 h 144"/>
                <a:gd name="T44" fmla="*/ 4 w 34"/>
                <a:gd name="T45" fmla="*/ 138 h 144"/>
                <a:gd name="T46" fmla="*/ 14 w 34"/>
                <a:gd name="T47" fmla="*/ 143 h 144"/>
                <a:gd name="T48" fmla="*/ 14 w 34"/>
                <a:gd name="T49" fmla="*/ 126 h 14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4" h="144">
                  <a:moveTo>
                    <a:pt x="14" y="126"/>
                  </a:moveTo>
                  <a:lnTo>
                    <a:pt x="17" y="128"/>
                  </a:lnTo>
                  <a:lnTo>
                    <a:pt x="15" y="122"/>
                  </a:lnTo>
                  <a:lnTo>
                    <a:pt x="17" y="115"/>
                  </a:lnTo>
                  <a:lnTo>
                    <a:pt x="19" y="96"/>
                  </a:lnTo>
                  <a:lnTo>
                    <a:pt x="23" y="73"/>
                  </a:lnTo>
                  <a:lnTo>
                    <a:pt x="29" y="48"/>
                  </a:lnTo>
                  <a:lnTo>
                    <a:pt x="31" y="28"/>
                  </a:lnTo>
                  <a:lnTo>
                    <a:pt x="33" y="19"/>
                  </a:lnTo>
                  <a:lnTo>
                    <a:pt x="33" y="11"/>
                  </a:lnTo>
                  <a:lnTo>
                    <a:pt x="31" y="4"/>
                  </a:lnTo>
                  <a:lnTo>
                    <a:pt x="19" y="0"/>
                  </a:lnTo>
                  <a:lnTo>
                    <a:pt x="23" y="15"/>
                  </a:lnTo>
                  <a:lnTo>
                    <a:pt x="17" y="13"/>
                  </a:lnTo>
                  <a:lnTo>
                    <a:pt x="17" y="19"/>
                  </a:lnTo>
                  <a:lnTo>
                    <a:pt x="15" y="25"/>
                  </a:lnTo>
                  <a:lnTo>
                    <a:pt x="12" y="46"/>
                  </a:lnTo>
                  <a:lnTo>
                    <a:pt x="8" y="69"/>
                  </a:lnTo>
                  <a:lnTo>
                    <a:pt x="4" y="94"/>
                  </a:lnTo>
                  <a:lnTo>
                    <a:pt x="0" y="115"/>
                  </a:lnTo>
                  <a:lnTo>
                    <a:pt x="0" y="122"/>
                  </a:lnTo>
                  <a:lnTo>
                    <a:pt x="0" y="130"/>
                  </a:lnTo>
                  <a:lnTo>
                    <a:pt x="4" y="138"/>
                  </a:lnTo>
                  <a:lnTo>
                    <a:pt x="14" y="143"/>
                  </a:lnTo>
                  <a:lnTo>
                    <a:pt x="14" y="126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12" name="Freeform 26">
              <a:extLst>
                <a:ext uri="{FF2B5EF4-FFF2-40B4-BE49-F238E27FC236}">
                  <a16:creationId xmlns:a16="http://schemas.microsoft.com/office/drawing/2014/main" id="{378F43AF-4E4D-CD37-1F07-36194CEC0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5" y="2963"/>
              <a:ext cx="45" cy="98"/>
            </a:xfrm>
            <a:custGeom>
              <a:avLst/>
              <a:gdLst>
                <a:gd name="T0" fmla="*/ 29 w 45"/>
                <a:gd name="T1" fmla="*/ 0 h 98"/>
                <a:gd name="T2" fmla="*/ 27 w 45"/>
                <a:gd name="T3" fmla="*/ 5 h 98"/>
                <a:gd name="T4" fmla="*/ 25 w 45"/>
                <a:gd name="T5" fmla="*/ 15 h 98"/>
                <a:gd name="T6" fmla="*/ 19 w 45"/>
                <a:gd name="T7" fmla="*/ 28 h 98"/>
                <a:gd name="T8" fmla="*/ 15 w 45"/>
                <a:gd name="T9" fmla="*/ 46 h 98"/>
                <a:gd name="T10" fmla="*/ 9 w 45"/>
                <a:gd name="T11" fmla="*/ 59 h 98"/>
                <a:gd name="T12" fmla="*/ 4 w 45"/>
                <a:gd name="T13" fmla="*/ 73 h 98"/>
                <a:gd name="T14" fmla="*/ 0 w 45"/>
                <a:gd name="T15" fmla="*/ 82 h 98"/>
                <a:gd name="T16" fmla="*/ 6 w 45"/>
                <a:gd name="T17" fmla="*/ 80 h 98"/>
                <a:gd name="T18" fmla="*/ 6 w 45"/>
                <a:gd name="T19" fmla="*/ 97 h 98"/>
                <a:gd name="T20" fmla="*/ 15 w 45"/>
                <a:gd name="T21" fmla="*/ 88 h 98"/>
                <a:gd name="T22" fmla="*/ 19 w 45"/>
                <a:gd name="T23" fmla="*/ 78 h 98"/>
                <a:gd name="T24" fmla="*/ 25 w 45"/>
                <a:gd name="T25" fmla="*/ 65 h 98"/>
                <a:gd name="T26" fmla="*/ 29 w 45"/>
                <a:gd name="T27" fmla="*/ 50 h 98"/>
                <a:gd name="T28" fmla="*/ 34 w 45"/>
                <a:gd name="T29" fmla="*/ 34 h 98"/>
                <a:gd name="T30" fmla="*/ 40 w 45"/>
                <a:gd name="T31" fmla="*/ 21 h 98"/>
                <a:gd name="T32" fmla="*/ 42 w 45"/>
                <a:gd name="T33" fmla="*/ 9 h 98"/>
                <a:gd name="T34" fmla="*/ 44 w 45"/>
                <a:gd name="T35" fmla="*/ 4 h 98"/>
                <a:gd name="T36" fmla="*/ 29 w 45"/>
                <a:gd name="T37" fmla="*/ 0 h 9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5" h="98">
                  <a:moveTo>
                    <a:pt x="29" y="0"/>
                  </a:moveTo>
                  <a:lnTo>
                    <a:pt x="27" y="5"/>
                  </a:lnTo>
                  <a:lnTo>
                    <a:pt x="25" y="15"/>
                  </a:lnTo>
                  <a:lnTo>
                    <a:pt x="19" y="28"/>
                  </a:lnTo>
                  <a:lnTo>
                    <a:pt x="15" y="46"/>
                  </a:lnTo>
                  <a:lnTo>
                    <a:pt x="9" y="59"/>
                  </a:lnTo>
                  <a:lnTo>
                    <a:pt x="4" y="73"/>
                  </a:lnTo>
                  <a:lnTo>
                    <a:pt x="0" y="82"/>
                  </a:lnTo>
                  <a:lnTo>
                    <a:pt x="6" y="80"/>
                  </a:lnTo>
                  <a:lnTo>
                    <a:pt x="6" y="97"/>
                  </a:lnTo>
                  <a:lnTo>
                    <a:pt x="15" y="88"/>
                  </a:lnTo>
                  <a:lnTo>
                    <a:pt x="19" y="78"/>
                  </a:lnTo>
                  <a:lnTo>
                    <a:pt x="25" y="65"/>
                  </a:lnTo>
                  <a:lnTo>
                    <a:pt x="29" y="50"/>
                  </a:lnTo>
                  <a:lnTo>
                    <a:pt x="34" y="34"/>
                  </a:lnTo>
                  <a:lnTo>
                    <a:pt x="40" y="21"/>
                  </a:lnTo>
                  <a:lnTo>
                    <a:pt x="42" y="9"/>
                  </a:lnTo>
                  <a:lnTo>
                    <a:pt x="44" y="4"/>
                  </a:lnTo>
                  <a:lnTo>
                    <a:pt x="29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13" name="Freeform 27">
              <a:extLst>
                <a:ext uri="{FF2B5EF4-FFF2-40B4-BE49-F238E27FC236}">
                  <a16:creationId xmlns:a16="http://schemas.microsoft.com/office/drawing/2014/main" id="{D359F2D9-700A-569A-1397-318B041E34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" y="2836"/>
              <a:ext cx="60" cy="132"/>
            </a:xfrm>
            <a:custGeom>
              <a:avLst/>
              <a:gdLst>
                <a:gd name="T0" fmla="*/ 44 w 60"/>
                <a:gd name="T1" fmla="*/ 0 h 132"/>
                <a:gd name="T2" fmla="*/ 34 w 60"/>
                <a:gd name="T3" fmla="*/ 19 h 132"/>
                <a:gd name="T4" fmla="*/ 26 w 60"/>
                <a:gd name="T5" fmla="*/ 35 h 132"/>
                <a:gd name="T6" fmla="*/ 21 w 60"/>
                <a:gd name="T7" fmla="*/ 50 h 132"/>
                <a:gd name="T8" fmla="*/ 17 w 60"/>
                <a:gd name="T9" fmla="*/ 65 h 132"/>
                <a:gd name="T10" fmla="*/ 13 w 60"/>
                <a:gd name="T11" fmla="*/ 79 h 132"/>
                <a:gd name="T12" fmla="*/ 9 w 60"/>
                <a:gd name="T13" fmla="*/ 92 h 132"/>
                <a:gd name="T14" fmla="*/ 5 w 60"/>
                <a:gd name="T15" fmla="*/ 109 h 132"/>
                <a:gd name="T16" fmla="*/ 0 w 60"/>
                <a:gd name="T17" fmla="*/ 127 h 132"/>
                <a:gd name="T18" fmla="*/ 15 w 60"/>
                <a:gd name="T19" fmla="*/ 131 h 132"/>
                <a:gd name="T20" fmla="*/ 21 w 60"/>
                <a:gd name="T21" fmla="*/ 113 h 132"/>
                <a:gd name="T22" fmla="*/ 24 w 60"/>
                <a:gd name="T23" fmla="*/ 98 h 132"/>
                <a:gd name="T24" fmla="*/ 28 w 60"/>
                <a:gd name="T25" fmla="*/ 83 h 132"/>
                <a:gd name="T26" fmla="*/ 32 w 60"/>
                <a:gd name="T27" fmla="*/ 69 h 132"/>
                <a:gd name="T28" fmla="*/ 36 w 60"/>
                <a:gd name="T29" fmla="*/ 56 h 132"/>
                <a:gd name="T30" fmla="*/ 42 w 60"/>
                <a:gd name="T31" fmla="*/ 42 h 132"/>
                <a:gd name="T32" fmla="*/ 49 w 60"/>
                <a:gd name="T33" fmla="*/ 27 h 132"/>
                <a:gd name="T34" fmla="*/ 57 w 60"/>
                <a:gd name="T35" fmla="*/ 8 h 132"/>
                <a:gd name="T36" fmla="*/ 59 w 60"/>
                <a:gd name="T37" fmla="*/ 8 h 132"/>
                <a:gd name="T38" fmla="*/ 44 w 60"/>
                <a:gd name="T39" fmla="*/ 0 h 13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60" h="132">
                  <a:moveTo>
                    <a:pt x="44" y="0"/>
                  </a:moveTo>
                  <a:lnTo>
                    <a:pt x="34" y="19"/>
                  </a:lnTo>
                  <a:lnTo>
                    <a:pt x="26" y="35"/>
                  </a:lnTo>
                  <a:lnTo>
                    <a:pt x="21" y="50"/>
                  </a:lnTo>
                  <a:lnTo>
                    <a:pt x="17" y="65"/>
                  </a:lnTo>
                  <a:lnTo>
                    <a:pt x="13" y="79"/>
                  </a:lnTo>
                  <a:lnTo>
                    <a:pt x="9" y="92"/>
                  </a:lnTo>
                  <a:lnTo>
                    <a:pt x="5" y="109"/>
                  </a:lnTo>
                  <a:lnTo>
                    <a:pt x="0" y="127"/>
                  </a:lnTo>
                  <a:lnTo>
                    <a:pt x="15" y="131"/>
                  </a:lnTo>
                  <a:lnTo>
                    <a:pt x="21" y="113"/>
                  </a:lnTo>
                  <a:lnTo>
                    <a:pt x="24" y="98"/>
                  </a:lnTo>
                  <a:lnTo>
                    <a:pt x="28" y="83"/>
                  </a:lnTo>
                  <a:lnTo>
                    <a:pt x="32" y="69"/>
                  </a:lnTo>
                  <a:lnTo>
                    <a:pt x="36" y="56"/>
                  </a:lnTo>
                  <a:lnTo>
                    <a:pt x="42" y="42"/>
                  </a:lnTo>
                  <a:lnTo>
                    <a:pt x="49" y="27"/>
                  </a:lnTo>
                  <a:lnTo>
                    <a:pt x="57" y="8"/>
                  </a:lnTo>
                  <a:lnTo>
                    <a:pt x="59" y="8"/>
                  </a:lnTo>
                  <a:lnTo>
                    <a:pt x="44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14" name="Freeform 28">
              <a:extLst>
                <a:ext uri="{FF2B5EF4-FFF2-40B4-BE49-F238E27FC236}">
                  <a16:creationId xmlns:a16="http://schemas.microsoft.com/office/drawing/2014/main" id="{4FB5319B-4672-3552-6A3B-A9DC11AF0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8" y="2796"/>
              <a:ext cx="62" cy="49"/>
            </a:xfrm>
            <a:custGeom>
              <a:avLst/>
              <a:gdLst>
                <a:gd name="T0" fmla="*/ 61 w 62"/>
                <a:gd name="T1" fmla="*/ 0 h 49"/>
                <a:gd name="T2" fmla="*/ 51 w 62"/>
                <a:gd name="T3" fmla="*/ 2 h 49"/>
                <a:gd name="T4" fmla="*/ 42 w 62"/>
                <a:gd name="T5" fmla="*/ 4 h 49"/>
                <a:gd name="T6" fmla="*/ 32 w 62"/>
                <a:gd name="T7" fmla="*/ 8 h 49"/>
                <a:gd name="T8" fmla="*/ 23 w 62"/>
                <a:gd name="T9" fmla="*/ 13 h 49"/>
                <a:gd name="T10" fmla="*/ 17 w 62"/>
                <a:gd name="T11" fmla="*/ 21 h 49"/>
                <a:gd name="T12" fmla="*/ 9 w 62"/>
                <a:gd name="T13" fmla="*/ 27 h 49"/>
                <a:gd name="T14" fmla="*/ 3 w 62"/>
                <a:gd name="T15" fmla="*/ 34 h 49"/>
                <a:gd name="T16" fmla="*/ 0 w 62"/>
                <a:gd name="T17" fmla="*/ 40 h 49"/>
                <a:gd name="T18" fmla="*/ 15 w 62"/>
                <a:gd name="T19" fmla="*/ 48 h 49"/>
                <a:gd name="T20" fmla="*/ 17 w 62"/>
                <a:gd name="T21" fmla="*/ 42 h 49"/>
                <a:gd name="T22" fmla="*/ 21 w 62"/>
                <a:gd name="T23" fmla="*/ 38 h 49"/>
                <a:gd name="T24" fmla="*/ 26 w 62"/>
                <a:gd name="T25" fmla="*/ 33 h 49"/>
                <a:gd name="T26" fmla="*/ 32 w 62"/>
                <a:gd name="T27" fmla="*/ 27 h 49"/>
                <a:gd name="T28" fmla="*/ 40 w 62"/>
                <a:gd name="T29" fmla="*/ 23 h 49"/>
                <a:gd name="T30" fmla="*/ 47 w 62"/>
                <a:gd name="T31" fmla="*/ 19 h 49"/>
                <a:gd name="T32" fmla="*/ 53 w 62"/>
                <a:gd name="T33" fmla="*/ 17 h 49"/>
                <a:gd name="T34" fmla="*/ 61 w 62"/>
                <a:gd name="T35" fmla="*/ 17 h 49"/>
                <a:gd name="T36" fmla="*/ 61 w 62"/>
                <a:gd name="T37" fmla="*/ 0 h 4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62" h="49">
                  <a:moveTo>
                    <a:pt x="61" y="0"/>
                  </a:moveTo>
                  <a:lnTo>
                    <a:pt x="51" y="2"/>
                  </a:lnTo>
                  <a:lnTo>
                    <a:pt x="42" y="4"/>
                  </a:lnTo>
                  <a:lnTo>
                    <a:pt x="32" y="8"/>
                  </a:lnTo>
                  <a:lnTo>
                    <a:pt x="23" y="13"/>
                  </a:lnTo>
                  <a:lnTo>
                    <a:pt x="17" y="21"/>
                  </a:lnTo>
                  <a:lnTo>
                    <a:pt x="9" y="27"/>
                  </a:lnTo>
                  <a:lnTo>
                    <a:pt x="3" y="34"/>
                  </a:lnTo>
                  <a:lnTo>
                    <a:pt x="0" y="40"/>
                  </a:lnTo>
                  <a:lnTo>
                    <a:pt x="15" y="48"/>
                  </a:lnTo>
                  <a:lnTo>
                    <a:pt x="17" y="42"/>
                  </a:lnTo>
                  <a:lnTo>
                    <a:pt x="21" y="38"/>
                  </a:lnTo>
                  <a:lnTo>
                    <a:pt x="26" y="33"/>
                  </a:lnTo>
                  <a:lnTo>
                    <a:pt x="32" y="27"/>
                  </a:lnTo>
                  <a:lnTo>
                    <a:pt x="40" y="23"/>
                  </a:lnTo>
                  <a:lnTo>
                    <a:pt x="47" y="19"/>
                  </a:lnTo>
                  <a:lnTo>
                    <a:pt x="53" y="17"/>
                  </a:lnTo>
                  <a:lnTo>
                    <a:pt x="61" y="17"/>
                  </a:lnTo>
                  <a:lnTo>
                    <a:pt x="61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15" name="Freeform 29">
              <a:extLst>
                <a:ext uri="{FF2B5EF4-FFF2-40B4-BE49-F238E27FC236}">
                  <a16:creationId xmlns:a16="http://schemas.microsoft.com/office/drawing/2014/main" id="{BFBEDD75-B33F-224D-E812-DB1BF77544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2796"/>
              <a:ext cx="57" cy="239"/>
            </a:xfrm>
            <a:custGeom>
              <a:avLst/>
              <a:gdLst>
                <a:gd name="T0" fmla="*/ 6 w 57"/>
                <a:gd name="T1" fmla="*/ 220 h 239"/>
                <a:gd name="T2" fmla="*/ 16 w 57"/>
                <a:gd name="T3" fmla="*/ 222 h 239"/>
                <a:gd name="T4" fmla="*/ 21 w 57"/>
                <a:gd name="T5" fmla="*/ 197 h 239"/>
                <a:gd name="T6" fmla="*/ 33 w 57"/>
                <a:gd name="T7" fmla="*/ 161 h 239"/>
                <a:gd name="T8" fmla="*/ 44 w 57"/>
                <a:gd name="T9" fmla="*/ 121 h 239"/>
                <a:gd name="T10" fmla="*/ 52 w 57"/>
                <a:gd name="T11" fmla="*/ 80 h 239"/>
                <a:gd name="T12" fmla="*/ 56 w 57"/>
                <a:gd name="T13" fmla="*/ 44 h 239"/>
                <a:gd name="T14" fmla="*/ 56 w 57"/>
                <a:gd name="T15" fmla="*/ 29 h 239"/>
                <a:gd name="T16" fmla="*/ 54 w 57"/>
                <a:gd name="T17" fmla="*/ 15 h 239"/>
                <a:gd name="T18" fmla="*/ 50 w 57"/>
                <a:gd name="T19" fmla="*/ 10 h 239"/>
                <a:gd name="T20" fmla="*/ 46 w 57"/>
                <a:gd name="T21" fmla="*/ 6 h 239"/>
                <a:gd name="T22" fmla="*/ 41 w 57"/>
                <a:gd name="T23" fmla="*/ 2 h 239"/>
                <a:gd name="T24" fmla="*/ 33 w 57"/>
                <a:gd name="T25" fmla="*/ 0 h 239"/>
                <a:gd name="T26" fmla="*/ 33 w 57"/>
                <a:gd name="T27" fmla="*/ 17 h 239"/>
                <a:gd name="T28" fmla="*/ 35 w 57"/>
                <a:gd name="T29" fmla="*/ 17 h 239"/>
                <a:gd name="T30" fmla="*/ 37 w 57"/>
                <a:gd name="T31" fmla="*/ 17 h 239"/>
                <a:gd name="T32" fmla="*/ 37 w 57"/>
                <a:gd name="T33" fmla="*/ 19 h 239"/>
                <a:gd name="T34" fmla="*/ 39 w 57"/>
                <a:gd name="T35" fmla="*/ 21 h 239"/>
                <a:gd name="T36" fmla="*/ 41 w 57"/>
                <a:gd name="T37" fmla="*/ 31 h 239"/>
                <a:gd name="T38" fmla="*/ 41 w 57"/>
                <a:gd name="T39" fmla="*/ 42 h 239"/>
                <a:gd name="T40" fmla="*/ 37 w 57"/>
                <a:gd name="T41" fmla="*/ 79 h 239"/>
                <a:gd name="T42" fmla="*/ 27 w 57"/>
                <a:gd name="T43" fmla="*/ 117 h 239"/>
                <a:gd name="T44" fmla="*/ 18 w 57"/>
                <a:gd name="T45" fmla="*/ 157 h 239"/>
                <a:gd name="T46" fmla="*/ 8 w 57"/>
                <a:gd name="T47" fmla="*/ 192 h 239"/>
                <a:gd name="T48" fmla="*/ 0 w 57"/>
                <a:gd name="T49" fmla="*/ 218 h 239"/>
                <a:gd name="T50" fmla="*/ 6 w 57"/>
                <a:gd name="T51" fmla="*/ 238 h 239"/>
                <a:gd name="T52" fmla="*/ 6 w 57"/>
                <a:gd name="T53" fmla="*/ 220 h 239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57" h="239">
                  <a:moveTo>
                    <a:pt x="6" y="220"/>
                  </a:moveTo>
                  <a:lnTo>
                    <a:pt x="16" y="222"/>
                  </a:lnTo>
                  <a:lnTo>
                    <a:pt x="21" y="197"/>
                  </a:lnTo>
                  <a:lnTo>
                    <a:pt x="33" y="161"/>
                  </a:lnTo>
                  <a:lnTo>
                    <a:pt x="44" y="121"/>
                  </a:lnTo>
                  <a:lnTo>
                    <a:pt x="52" y="80"/>
                  </a:lnTo>
                  <a:lnTo>
                    <a:pt x="56" y="44"/>
                  </a:lnTo>
                  <a:lnTo>
                    <a:pt x="56" y="29"/>
                  </a:lnTo>
                  <a:lnTo>
                    <a:pt x="54" y="15"/>
                  </a:lnTo>
                  <a:lnTo>
                    <a:pt x="50" y="10"/>
                  </a:lnTo>
                  <a:lnTo>
                    <a:pt x="46" y="6"/>
                  </a:lnTo>
                  <a:lnTo>
                    <a:pt x="41" y="2"/>
                  </a:lnTo>
                  <a:lnTo>
                    <a:pt x="33" y="0"/>
                  </a:lnTo>
                  <a:lnTo>
                    <a:pt x="33" y="17"/>
                  </a:lnTo>
                  <a:lnTo>
                    <a:pt x="35" y="17"/>
                  </a:lnTo>
                  <a:lnTo>
                    <a:pt x="37" y="17"/>
                  </a:lnTo>
                  <a:lnTo>
                    <a:pt x="37" y="19"/>
                  </a:lnTo>
                  <a:lnTo>
                    <a:pt x="39" y="21"/>
                  </a:lnTo>
                  <a:lnTo>
                    <a:pt x="41" y="31"/>
                  </a:lnTo>
                  <a:lnTo>
                    <a:pt x="41" y="42"/>
                  </a:lnTo>
                  <a:lnTo>
                    <a:pt x="37" y="79"/>
                  </a:lnTo>
                  <a:lnTo>
                    <a:pt x="27" y="117"/>
                  </a:lnTo>
                  <a:lnTo>
                    <a:pt x="18" y="157"/>
                  </a:lnTo>
                  <a:lnTo>
                    <a:pt x="8" y="192"/>
                  </a:lnTo>
                  <a:lnTo>
                    <a:pt x="0" y="218"/>
                  </a:lnTo>
                  <a:lnTo>
                    <a:pt x="6" y="238"/>
                  </a:lnTo>
                  <a:lnTo>
                    <a:pt x="6" y="22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16" name="Freeform 30">
              <a:extLst>
                <a:ext uri="{FF2B5EF4-FFF2-40B4-BE49-F238E27FC236}">
                  <a16:creationId xmlns:a16="http://schemas.microsoft.com/office/drawing/2014/main" id="{E6686851-A06A-9D78-6CA1-1FBD9DB82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" y="2880"/>
              <a:ext cx="70" cy="155"/>
            </a:xfrm>
            <a:custGeom>
              <a:avLst/>
              <a:gdLst>
                <a:gd name="T0" fmla="*/ 65 w 70"/>
                <a:gd name="T1" fmla="*/ 0 h 155"/>
                <a:gd name="T2" fmla="*/ 56 w 70"/>
                <a:gd name="T3" fmla="*/ 6 h 155"/>
                <a:gd name="T4" fmla="*/ 48 w 70"/>
                <a:gd name="T5" fmla="*/ 12 h 155"/>
                <a:gd name="T6" fmla="*/ 42 w 70"/>
                <a:gd name="T7" fmla="*/ 21 h 155"/>
                <a:gd name="T8" fmla="*/ 37 w 70"/>
                <a:gd name="T9" fmla="*/ 31 h 155"/>
                <a:gd name="T10" fmla="*/ 27 w 70"/>
                <a:gd name="T11" fmla="*/ 54 h 155"/>
                <a:gd name="T12" fmla="*/ 19 w 70"/>
                <a:gd name="T13" fmla="*/ 79 h 155"/>
                <a:gd name="T14" fmla="*/ 12 w 70"/>
                <a:gd name="T15" fmla="*/ 102 h 155"/>
                <a:gd name="T16" fmla="*/ 6 w 70"/>
                <a:gd name="T17" fmla="*/ 123 h 155"/>
                <a:gd name="T18" fmla="*/ 0 w 70"/>
                <a:gd name="T19" fmla="*/ 134 h 155"/>
                <a:gd name="T20" fmla="*/ 2 w 70"/>
                <a:gd name="T21" fmla="*/ 136 h 155"/>
                <a:gd name="T22" fmla="*/ 2 w 70"/>
                <a:gd name="T23" fmla="*/ 154 h 155"/>
                <a:gd name="T24" fmla="*/ 15 w 70"/>
                <a:gd name="T25" fmla="*/ 144 h 155"/>
                <a:gd name="T26" fmla="*/ 21 w 70"/>
                <a:gd name="T27" fmla="*/ 127 h 155"/>
                <a:gd name="T28" fmla="*/ 27 w 70"/>
                <a:gd name="T29" fmla="*/ 106 h 155"/>
                <a:gd name="T30" fmla="*/ 35 w 70"/>
                <a:gd name="T31" fmla="*/ 83 h 155"/>
                <a:gd name="T32" fmla="*/ 42 w 70"/>
                <a:gd name="T33" fmla="*/ 60 h 155"/>
                <a:gd name="T34" fmla="*/ 52 w 70"/>
                <a:gd name="T35" fmla="*/ 39 h 155"/>
                <a:gd name="T36" fmla="*/ 56 w 70"/>
                <a:gd name="T37" fmla="*/ 29 h 155"/>
                <a:gd name="T38" fmla="*/ 61 w 70"/>
                <a:gd name="T39" fmla="*/ 23 h 155"/>
                <a:gd name="T40" fmla="*/ 65 w 70"/>
                <a:gd name="T41" fmla="*/ 18 h 155"/>
                <a:gd name="T42" fmla="*/ 69 w 70"/>
                <a:gd name="T43" fmla="*/ 16 h 155"/>
                <a:gd name="T44" fmla="*/ 65 w 70"/>
                <a:gd name="T45" fmla="*/ 0 h 155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70" h="155">
                  <a:moveTo>
                    <a:pt x="65" y="0"/>
                  </a:moveTo>
                  <a:lnTo>
                    <a:pt x="56" y="6"/>
                  </a:lnTo>
                  <a:lnTo>
                    <a:pt x="48" y="12"/>
                  </a:lnTo>
                  <a:lnTo>
                    <a:pt x="42" y="21"/>
                  </a:lnTo>
                  <a:lnTo>
                    <a:pt x="37" y="31"/>
                  </a:lnTo>
                  <a:lnTo>
                    <a:pt x="27" y="54"/>
                  </a:lnTo>
                  <a:lnTo>
                    <a:pt x="19" y="79"/>
                  </a:lnTo>
                  <a:lnTo>
                    <a:pt x="12" y="102"/>
                  </a:lnTo>
                  <a:lnTo>
                    <a:pt x="6" y="123"/>
                  </a:lnTo>
                  <a:lnTo>
                    <a:pt x="0" y="134"/>
                  </a:lnTo>
                  <a:lnTo>
                    <a:pt x="2" y="136"/>
                  </a:lnTo>
                  <a:lnTo>
                    <a:pt x="2" y="154"/>
                  </a:lnTo>
                  <a:lnTo>
                    <a:pt x="15" y="144"/>
                  </a:lnTo>
                  <a:lnTo>
                    <a:pt x="21" y="127"/>
                  </a:lnTo>
                  <a:lnTo>
                    <a:pt x="27" y="106"/>
                  </a:lnTo>
                  <a:lnTo>
                    <a:pt x="35" y="83"/>
                  </a:lnTo>
                  <a:lnTo>
                    <a:pt x="42" y="60"/>
                  </a:lnTo>
                  <a:lnTo>
                    <a:pt x="52" y="39"/>
                  </a:lnTo>
                  <a:lnTo>
                    <a:pt x="56" y="29"/>
                  </a:lnTo>
                  <a:lnTo>
                    <a:pt x="61" y="23"/>
                  </a:lnTo>
                  <a:lnTo>
                    <a:pt x="65" y="18"/>
                  </a:lnTo>
                  <a:lnTo>
                    <a:pt x="69" y="16"/>
                  </a:lnTo>
                  <a:lnTo>
                    <a:pt x="65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17" name="Freeform 31">
              <a:extLst>
                <a:ext uri="{FF2B5EF4-FFF2-40B4-BE49-F238E27FC236}">
                  <a16:creationId xmlns:a16="http://schemas.microsoft.com/office/drawing/2014/main" id="{0A2538AD-9841-8C0D-D1CF-8E11F25E5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5" y="2878"/>
              <a:ext cx="38" cy="53"/>
            </a:xfrm>
            <a:custGeom>
              <a:avLst/>
              <a:gdLst>
                <a:gd name="T0" fmla="*/ 37 w 38"/>
                <a:gd name="T1" fmla="*/ 50 h 53"/>
                <a:gd name="T2" fmla="*/ 35 w 38"/>
                <a:gd name="T3" fmla="*/ 41 h 53"/>
                <a:gd name="T4" fmla="*/ 35 w 38"/>
                <a:gd name="T5" fmla="*/ 33 h 53"/>
                <a:gd name="T6" fmla="*/ 35 w 38"/>
                <a:gd name="T7" fmla="*/ 23 h 53"/>
                <a:gd name="T8" fmla="*/ 33 w 38"/>
                <a:gd name="T9" fmla="*/ 16 h 53"/>
                <a:gd name="T10" fmla="*/ 27 w 38"/>
                <a:gd name="T11" fmla="*/ 8 h 53"/>
                <a:gd name="T12" fmla="*/ 21 w 38"/>
                <a:gd name="T13" fmla="*/ 2 h 53"/>
                <a:gd name="T14" fmla="*/ 10 w 38"/>
                <a:gd name="T15" fmla="*/ 0 h 53"/>
                <a:gd name="T16" fmla="*/ 0 w 38"/>
                <a:gd name="T17" fmla="*/ 2 h 53"/>
                <a:gd name="T18" fmla="*/ 4 w 38"/>
                <a:gd name="T19" fmla="*/ 18 h 53"/>
                <a:gd name="T20" fmla="*/ 12 w 38"/>
                <a:gd name="T21" fmla="*/ 18 h 53"/>
                <a:gd name="T22" fmla="*/ 14 w 38"/>
                <a:gd name="T23" fmla="*/ 18 h 53"/>
                <a:gd name="T24" fmla="*/ 16 w 38"/>
                <a:gd name="T25" fmla="*/ 18 h 53"/>
                <a:gd name="T26" fmla="*/ 18 w 38"/>
                <a:gd name="T27" fmla="*/ 21 h 53"/>
                <a:gd name="T28" fmla="*/ 18 w 38"/>
                <a:gd name="T29" fmla="*/ 27 h 53"/>
                <a:gd name="T30" fmla="*/ 19 w 38"/>
                <a:gd name="T31" fmla="*/ 33 h 53"/>
                <a:gd name="T32" fmla="*/ 19 w 38"/>
                <a:gd name="T33" fmla="*/ 43 h 53"/>
                <a:gd name="T34" fmla="*/ 19 w 38"/>
                <a:gd name="T35" fmla="*/ 52 h 53"/>
                <a:gd name="T36" fmla="*/ 37 w 38"/>
                <a:gd name="T37" fmla="*/ 50 h 5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8" h="53">
                  <a:moveTo>
                    <a:pt x="37" y="50"/>
                  </a:moveTo>
                  <a:lnTo>
                    <a:pt x="35" y="41"/>
                  </a:lnTo>
                  <a:lnTo>
                    <a:pt x="35" y="33"/>
                  </a:lnTo>
                  <a:lnTo>
                    <a:pt x="35" y="23"/>
                  </a:lnTo>
                  <a:lnTo>
                    <a:pt x="33" y="16"/>
                  </a:lnTo>
                  <a:lnTo>
                    <a:pt x="27" y="8"/>
                  </a:lnTo>
                  <a:lnTo>
                    <a:pt x="21" y="2"/>
                  </a:lnTo>
                  <a:lnTo>
                    <a:pt x="10" y="0"/>
                  </a:lnTo>
                  <a:lnTo>
                    <a:pt x="0" y="2"/>
                  </a:lnTo>
                  <a:lnTo>
                    <a:pt x="4" y="18"/>
                  </a:lnTo>
                  <a:lnTo>
                    <a:pt x="12" y="18"/>
                  </a:lnTo>
                  <a:lnTo>
                    <a:pt x="14" y="18"/>
                  </a:lnTo>
                  <a:lnTo>
                    <a:pt x="16" y="18"/>
                  </a:lnTo>
                  <a:lnTo>
                    <a:pt x="18" y="21"/>
                  </a:lnTo>
                  <a:lnTo>
                    <a:pt x="18" y="27"/>
                  </a:lnTo>
                  <a:lnTo>
                    <a:pt x="19" y="33"/>
                  </a:lnTo>
                  <a:lnTo>
                    <a:pt x="19" y="43"/>
                  </a:lnTo>
                  <a:lnTo>
                    <a:pt x="19" y="52"/>
                  </a:lnTo>
                  <a:lnTo>
                    <a:pt x="37" y="5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18" name="Freeform 32">
              <a:extLst>
                <a:ext uri="{FF2B5EF4-FFF2-40B4-BE49-F238E27FC236}">
                  <a16:creationId xmlns:a16="http://schemas.microsoft.com/office/drawing/2014/main" id="{93D4037A-3F8A-4CE4-62A0-77B8F18597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9" y="2928"/>
              <a:ext cx="24" cy="53"/>
            </a:xfrm>
            <a:custGeom>
              <a:avLst/>
              <a:gdLst>
                <a:gd name="T0" fmla="*/ 17 w 24"/>
                <a:gd name="T1" fmla="*/ 52 h 53"/>
                <a:gd name="T2" fmla="*/ 17 w 24"/>
                <a:gd name="T3" fmla="*/ 50 h 53"/>
                <a:gd name="T4" fmla="*/ 17 w 24"/>
                <a:gd name="T5" fmla="*/ 46 h 53"/>
                <a:gd name="T6" fmla="*/ 17 w 24"/>
                <a:gd name="T7" fmla="*/ 39 h 53"/>
                <a:gd name="T8" fmla="*/ 19 w 24"/>
                <a:gd name="T9" fmla="*/ 31 h 53"/>
                <a:gd name="T10" fmla="*/ 19 w 24"/>
                <a:gd name="T11" fmla="*/ 23 h 53"/>
                <a:gd name="T12" fmla="*/ 21 w 24"/>
                <a:gd name="T13" fmla="*/ 17 h 53"/>
                <a:gd name="T14" fmla="*/ 21 w 24"/>
                <a:gd name="T15" fmla="*/ 10 h 53"/>
                <a:gd name="T16" fmla="*/ 23 w 24"/>
                <a:gd name="T17" fmla="*/ 4 h 53"/>
                <a:gd name="T18" fmla="*/ 23 w 24"/>
                <a:gd name="T19" fmla="*/ 0 h 53"/>
                <a:gd name="T20" fmla="*/ 5 w 24"/>
                <a:gd name="T21" fmla="*/ 2 h 53"/>
                <a:gd name="T22" fmla="*/ 5 w 24"/>
                <a:gd name="T23" fmla="*/ 4 h 53"/>
                <a:gd name="T24" fmla="*/ 5 w 24"/>
                <a:gd name="T25" fmla="*/ 8 h 53"/>
                <a:gd name="T26" fmla="*/ 5 w 24"/>
                <a:gd name="T27" fmla="*/ 14 h 53"/>
                <a:gd name="T28" fmla="*/ 4 w 24"/>
                <a:gd name="T29" fmla="*/ 21 h 53"/>
                <a:gd name="T30" fmla="*/ 4 w 24"/>
                <a:gd name="T31" fmla="*/ 29 h 53"/>
                <a:gd name="T32" fmla="*/ 2 w 24"/>
                <a:gd name="T33" fmla="*/ 37 h 53"/>
                <a:gd name="T34" fmla="*/ 2 w 24"/>
                <a:gd name="T35" fmla="*/ 44 h 53"/>
                <a:gd name="T36" fmla="*/ 0 w 24"/>
                <a:gd name="T37" fmla="*/ 50 h 53"/>
                <a:gd name="T38" fmla="*/ 0 w 24"/>
                <a:gd name="T39" fmla="*/ 48 h 53"/>
                <a:gd name="T40" fmla="*/ 17 w 24"/>
                <a:gd name="T41" fmla="*/ 52 h 5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24" h="53">
                  <a:moveTo>
                    <a:pt x="17" y="52"/>
                  </a:moveTo>
                  <a:lnTo>
                    <a:pt x="17" y="50"/>
                  </a:lnTo>
                  <a:lnTo>
                    <a:pt x="17" y="46"/>
                  </a:lnTo>
                  <a:lnTo>
                    <a:pt x="17" y="39"/>
                  </a:lnTo>
                  <a:lnTo>
                    <a:pt x="19" y="31"/>
                  </a:lnTo>
                  <a:lnTo>
                    <a:pt x="19" y="23"/>
                  </a:lnTo>
                  <a:lnTo>
                    <a:pt x="21" y="17"/>
                  </a:lnTo>
                  <a:lnTo>
                    <a:pt x="21" y="10"/>
                  </a:lnTo>
                  <a:lnTo>
                    <a:pt x="23" y="4"/>
                  </a:lnTo>
                  <a:lnTo>
                    <a:pt x="23" y="0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8"/>
                  </a:lnTo>
                  <a:lnTo>
                    <a:pt x="5" y="14"/>
                  </a:lnTo>
                  <a:lnTo>
                    <a:pt x="4" y="21"/>
                  </a:lnTo>
                  <a:lnTo>
                    <a:pt x="4" y="29"/>
                  </a:lnTo>
                  <a:lnTo>
                    <a:pt x="2" y="37"/>
                  </a:lnTo>
                  <a:lnTo>
                    <a:pt x="2" y="44"/>
                  </a:lnTo>
                  <a:lnTo>
                    <a:pt x="0" y="50"/>
                  </a:lnTo>
                  <a:lnTo>
                    <a:pt x="0" y="48"/>
                  </a:lnTo>
                  <a:lnTo>
                    <a:pt x="17" y="52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19" name="Freeform 33">
              <a:extLst>
                <a:ext uri="{FF2B5EF4-FFF2-40B4-BE49-F238E27FC236}">
                  <a16:creationId xmlns:a16="http://schemas.microsoft.com/office/drawing/2014/main" id="{0F5F29D5-1860-C610-BE56-BFC4C00A51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9" y="2976"/>
              <a:ext cx="68" cy="156"/>
            </a:xfrm>
            <a:custGeom>
              <a:avLst/>
              <a:gdLst>
                <a:gd name="T0" fmla="*/ 11 w 68"/>
                <a:gd name="T1" fmla="*/ 138 h 156"/>
                <a:gd name="T2" fmla="*/ 15 w 68"/>
                <a:gd name="T3" fmla="*/ 142 h 156"/>
                <a:gd name="T4" fmla="*/ 17 w 68"/>
                <a:gd name="T5" fmla="*/ 142 h 156"/>
                <a:gd name="T6" fmla="*/ 19 w 68"/>
                <a:gd name="T7" fmla="*/ 134 h 156"/>
                <a:gd name="T8" fmla="*/ 23 w 68"/>
                <a:gd name="T9" fmla="*/ 123 h 156"/>
                <a:gd name="T10" fmla="*/ 31 w 68"/>
                <a:gd name="T11" fmla="*/ 107 h 156"/>
                <a:gd name="T12" fmla="*/ 38 w 68"/>
                <a:gd name="T13" fmla="*/ 86 h 156"/>
                <a:gd name="T14" fmla="*/ 48 w 68"/>
                <a:gd name="T15" fmla="*/ 63 h 156"/>
                <a:gd name="T16" fmla="*/ 57 w 68"/>
                <a:gd name="T17" fmla="*/ 35 h 156"/>
                <a:gd name="T18" fmla="*/ 67 w 68"/>
                <a:gd name="T19" fmla="*/ 4 h 156"/>
                <a:gd name="T20" fmla="*/ 50 w 68"/>
                <a:gd name="T21" fmla="*/ 0 h 156"/>
                <a:gd name="T22" fmla="*/ 42 w 68"/>
                <a:gd name="T23" fmla="*/ 31 h 156"/>
                <a:gd name="T24" fmla="*/ 32 w 68"/>
                <a:gd name="T25" fmla="*/ 58 h 156"/>
                <a:gd name="T26" fmla="*/ 25 w 68"/>
                <a:gd name="T27" fmla="*/ 81 h 156"/>
                <a:gd name="T28" fmla="*/ 15 w 68"/>
                <a:gd name="T29" fmla="*/ 100 h 156"/>
                <a:gd name="T30" fmla="*/ 8 w 68"/>
                <a:gd name="T31" fmla="*/ 117 h 156"/>
                <a:gd name="T32" fmla="*/ 4 w 68"/>
                <a:gd name="T33" fmla="*/ 130 h 156"/>
                <a:gd name="T34" fmla="*/ 0 w 68"/>
                <a:gd name="T35" fmla="*/ 142 h 156"/>
                <a:gd name="T36" fmla="*/ 6 w 68"/>
                <a:gd name="T37" fmla="*/ 153 h 156"/>
                <a:gd name="T38" fmla="*/ 9 w 68"/>
                <a:gd name="T39" fmla="*/ 155 h 156"/>
                <a:gd name="T40" fmla="*/ 11 w 68"/>
                <a:gd name="T41" fmla="*/ 138 h 15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68" h="156">
                  <a:moveTo>
                    <a:pt x="11" y="138"/>
                  </a:moveTo>
                  <a:lnTo>
                    <a:pt x="15" y="142"/>
                  </a:lnTo>
                  <a:lnTo>
                    <a:pt x="17" y="142"/>
                  </a:lnTo>
                  <a:lnTo>
                    <a:pt x="19" y="134"/>
                  </a:lnTo>
                  <a:lnTo>
                    <a:pt x="23" y="123"/>
                  </a:lnTo>
                  <a:lnTo>
                    <a:pt x="31" y="107"/>
                  </a:lnTo>
                  <a:lnTo>
                    <a:pt x="38" y="86"/>
                  </a:lnTo>
                  <a:lnTo>
                    <a:pt x="48" y="63"/>
                  </a:lnTo>
                  <a:lnTo>
                    <a:pt x="57" y="35"/>
                  </a:lnTo>
                  <a:lnTo>
                    <a:pt x="67" y="4"/>
                  </a:lnTo>
                  <a:lnTo>
                    <a:pt x="50" y="0"/>
                  </a:lnTo>
                  <a:lnTo>
                    <a:pt x="42" y="31"/>
                  </a:lnTo>
                  <a:lnTo>
                    <a:pt x="32" y="58"/>
                  </a:lnTo>
                  <a:lnTo>
                    <a:pt x="25" y="81"/>
                  </a:lnTo>
                  <a:lnTo>
                    <a:pt x="15" y="100"/>
                  </a:lnTo>
                  <a:lnTo>
                    <a:pt x="8" y="117"/>
                  </a:lnTo>
                  <a:lnTo>
                    <a:pt x="4" y="130"/>
                  </a:lnTo>
                  <a:lnTo>
                    <a:pt x="0" y="142"/>
                  </a:lnTo>
                  <a:lnTo>
                    <a:pt x="6" y="153"/>
                  </a:lnTo>
                  <a:lnTo>
                    <a:pt x="9" y="155"/>
                  </a:lnTo>
                  <a:lnTo>
                    <a:pt x="11" y="138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20" name="Freeform 34">
              <a:extLst>
                <a:ext uri="{FF2B5EF4-FFF2-40B4-BE49-F238E27FC236}">
                  <a16:creationId xmlns:a16="http://schemas.microsoft.com/office/drawing/2014/main" id="{46D6B87E-2D84-5116-EE60-8FA4E1FDF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3041"/>
              <a:ext cx="54" cy="91"/>
            </a:xfrm>
            <a:custGeom>
              <a:avLst/>
              <a:gdLst>
                <a:gd name="T0" fmla="*/ 38 w 54"/>
                <a:gd name="T1" fmla="*/ 2 h 91"/>
                <a:gd name="T2" fmla="*/ 38 w 54"/>
                <a:gd name="T3" fmla="*/ 0 h 91"/>
                <a:gd name="T4" fmla="*/ 32 w 54"/>
                <a:gd name="T5" fmla="*/ 12 h 91"/>
                <a:gd name="T6" fmla="*/ 26 w 54"/>
                <a:gd name="T7" fmla="*/ 25 h 91"/>
                <a:gd name="T8" fmla="*/ 21 w 54"/>
                <a:gd name="T9" fmla="*/ 37 h 91"/>
                <a:gd name="T10" fmla="*/ 15 w 54"/>
                <a:gd name="T11" fmla="*/ 50 h 91"/>
                <a:gd name="T12" fmla="*/ 9 w 54"/>
                <a:gd name="T13" fmla="*/ 62 h 91"/>
                <a:gd name="T14" fmla="*/ 3 w 54"/>
                <a:gd name="T15" fmla="*/ 69 h 91"/>
                <a:gd name="T16" fmla="*/ 0 w 54"/>
                <a:gd name="T17" fmla="*/ 75 h 91"/>
                <a:gd name="T18" fmla="*/ 3 w 54"/>
                <a:gd name="T19" fmla="*/ 73 h 91"/>
                <a:gd name="T20" fmla="*/ 1 w 54"/>
                <a:gd name="T21" fmla="*/ 90 h 91"/>
                <a:gd name="T22" fmla="*/ 11 w 54"/>
                <a:gd name="T23" fmla="*/ 85 h 91"/>
                <a:gd name="T24" fmla="*/ 17 w 54"/>
                <a:gd name="T25" fmla="*/ 79 h 91"/>
                <a:gd name="T26" fmla="*/ 23 w 54"/>
                <a:gd name="T27" fmla="*/ 69 h 91"/>
                <a:gd name="T28" fmla="*/ 28 w 54"/>
                <a:gd name="T29" fmla="*/ 58 h 91"/>
                <a:gd name="T30" fmla="*/ 36 w 54"/>
                <a:gd name="T31" fmla="*/ 44 h 91"/>
                <a:gd name="T32" fmla="*/ 42 w 54"/>
                <a:gd name="T33" fmla="*/ 31 h 91"/>
                <a:gd name="T34" fmla="*/ 47 w 54"/>
                <a:gd name="T35" fmla="*/ 19 h 91"/>
                <a:gd name="T36" fmla="*/ 53 w 54"/>
                <a:gd name="T37" fmla="*/ 8 h 91"/>
                <a:gd name="T38" fmla="*/ 53 w 54"/>
                <a:gd name="T39" fmla="*/ 6 h 91"/>
                <a:gd name="T40" fmla="*/ 38 w 54"/>
                <a:gd name="T41" fmla="*/ 2 h 9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4" h="91">
                  <a:moveTo>
                    <a:pt x="38" y="2"/>
                  </a:moveTo>
                  <a:lnTo>
                    <a:pt x="38" y="0"/>
                  </a:lnTo>
                  <a:lnTo>
                    <a:pt x="32" y="12"/>
                  </a:lnTo>
                  <a:lnTo>
                    <a:pt x="26" y="25"/>
                  </a:lnTo>
                  <a:lnTo>
                    <a:pt x="21" y="37"/>
                  </a:lnTo>
                  <a:lnTo>
                    <a:pt x="15" y="50"/>
                  </a:lnTo>
                  <a:lnTo>
                    <a:pt x="9" y="62"/>
                  </a:lnTo>
                  <a:lnTo>
                    <a:pt x="3" y="69"/>
                  </a:lnTo>
                  <a:lnTo>
                    <a:pt x="0" y="75"/>
                  </a:lnTo>
                  <a:lnTo>
                    <a:pt x="3" y="73"/>
                  </a:lnTo>
                  <a:lnTo>
                    <a:pt x="1" y="90"/>
                  </a:lnTo>
                  <a:lnTo>
                    <a:pt x="11" y="85"/>
                  </a:lnTo>
                  <a:lnTo>
                    <a:pt x="17" y="79"/>
                  </a:lnTo>
                  <a:lnTo>
                    <a:pt x="23" y="69"/>
                  </a:lnTo>
                  <a:lnTo>
                    <a:pt x="28" y="58"/>
                  </a:lnTo>
                  <a:lnTo>
                    <a:pt x="36" y="44"/>
                  </a:lnTo>
                  <a:lnTo>
                    <a:pt x="42" y="31"/>
                  </a:lnTo>
                  <a:lnTo>
                    <a:pt x="47" y="19"/>
                  </a:lnTo>
                  <a:lnTo>
                    <a:pt x="53" y="8"/>
                  </a:lnTo>
                  <a:lnTo>
                    <a:pt x="53" y="6"/>
                  </a:lnTo>
                  <a:lnTo>
                    <a:pt x="38" y="2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21" name="Freeform 35">
              <a:extLst>
                <a:ext uri="{FF2B5EF4-FFF2-40B4-BE49-F238E27FC236}">
                  <a16:creationId xmlns:a16="http://schemas.microsoft.com/office/drawing/2014/main" id="{03445FB9-5887-745E-697B-13DF718C9B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5" y="2993"/>
              <a:ext cx="41" cy="55"/>
            </a:xfrm>
            <a:custGeom>
              <a:avLst/>
              <a:gdLst>
                <a:gd name="T0" fmla="*/ 40 w 41"/>
                <a:gd name="T1" fmla="*/ 0 h 55"/>
                <a:gd name="T2" fmla="*/ 31 w 41"/>
                <a:gd name="T3" fmla="*/ 2 h 55"/>
                <a:gd name="T4" fmla="*/ 23 w 41"/>
                <a:gd name="T5" fmla="*/ 8 h 55"/>
                <a:gd name="T6" fmla="*/ 19 w 41"/>
                <a:gd name="T7" fmla="*/ 14 h 55"/>
                <a:gd name="T8" fmla="*/ 13 w 41"/>
                <a:gd name="T9" fmla="*/ 21 h 55"/>
                <a:gd name="T10" fmla="*/ 9 w 41"/>
                <a:gd name="T11" fmla="*/ 29 h 55"/>
                <a:gd name="T12" fmla="*/ 6 w 41"/>
                <a:gd name="T13" fmla="*/ 37 h 55"/>
                <a:gd name="T14" fmla="*/ 2 w 41"/>
                <a:gd name="T15" fmla="*/ 44 h 55"/>
                <a:gd name="T16" fmla="*/ 0 w 41"/>
                <a:gd name="T17" fmla="*/ 50 h 55"/>
                <a:gd name="T18" fmla="*/ 15 w 41"/>
                <a:gd name="T19" fmla="*/ 54 h 55"/>
                <a:gd name="T20" fmla="*/ 17 w 41"/>
                <a:gd name="T21" fmla="*/ 50 h 55"/>
                <a:gd name="T22" fmla="*/ 19 w 41"/>
                <a:gd name="T23" fmla="*/ 43 h 55"/>
                <a:gd name="T24" fmla="*/ 23 w 41"/>
                <a:gd name="T25" fmla="*/ 37 h 55"/>
                <a:gd name="T26" fmla="*/ 27 w 41"/>
                <a:gd name="T27" fmla="*/ 29 h 55"/>
                <a:gd name="T28" fmla="*/ 31 w 41"/>
                <a:gd name="T29" fmla="*/ 23 h 55"/>
                <a:gd name="T30" fmla="*/ 34 w 41"/>
                <a:gd name="T31" fmla="*/ 20 h 55"/>
                <a:gd name="T32" fmla="*/ 38 w 41"/>
                <a:gd name="T33" fmla="*/ 18 h 55"/>
                <a:gd name="T34" fmla="*/ 40 w 41"/>
                <a:gd name="T35" fmla="*/ 0 h 5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1" h="55">
                  <a:moveTo>
                    <a:pt x="40" y="0"/>
                  </a:moveTo>
                  <a:lnTo>
                    <a:pt x="31" y="2"/>
                  </a:lnTo>
                  <a:lnTo>
                    <a:pt x="23" y="8"/>
                  </a:lnTo>
                  <a:lnTo>
                    <a:pt x="19" y="14"/>
                  </a:lnTo>
                  <a:lnTo>
                    <a:pt x="13" y="21"/>
                  </a:lnTo>
                  <a:lnTo>
                    <a:pt x="9" y="29"/>
                  </a:lnTo>
                  <a:lnTo>
                    <a:pt x="6" y="37"/>
                  </a:lnTo>
                  <a:lnTo>
                    <a:pt x="2" y="44"/>
                  </a:lnTo>
                  <a:lnTo>
                    <a:pt x="0" y="50"/>
                  </a:lnTo>
                  <a:lnTo>
                    <a:pt x="15" y="54"/>
                  </a:lnTo>
                  <a:lnTo>
                    <a:pt x="17" y="50"/>
                  </a:lnTo>
                  <a:lnTo>
                    <a:pt x="19" y="43"/>
                  </a:lnTo>
                  <a:lnTo>
                    <a:pt x="23" y="37"/>
                  </a:lnTo>
                  <a:lnTo>
                    <a:pt x="27" y="29"/>
                  </a:lnTo>
                  <a:lnTo>
                    <a:pt x="31" y="23"/>
                  </a:lnTo>
                  <a:lnTo>
                    <a:pt x="34" y="20"/>
                  </a:lnTo>
                  <a:lnTo>
                    <a:pt x="38" y="18"/>
                  </a:lnTo>
                  <a:lnTo>
                    <a:pt x="40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22" name="Freeform 36">
              <a:extLst>
                <a:ext uri="{FF2B5EF4-FFF2-40B4-BE49-F238E27FC236}">
                  <a16:creationId xmlns:a16="http://schemas.microsoft.com/office/drawing/2014/main" id="{E01D2424-F72E-2A4E-B857-1BA01CBB9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3" y="2993"/>
              <a:ext cx="32" cy="66"/>
            </a:xfrm>
            <a:custGeom>
              <a:avLst/>
              <a:gdLst>
                <a:gd name="T0" fmla="*/ 31 w 32"/>
                <a:gd name="T1" fmla="*/ 65 h 66"/>
                <a:gd name="T2" fmla="*/ 31 w 32"/>
                <a:gd name="T3" fmla="*/ 64 h 66"/>
                <a:gd name="T4" fmla="*/ 29 w 32"/>
                <a:gd name="T5" fmla="*/ 56 h 66"/>
                <a:gd name="T6" fmla="*/ 29 w 32"/>
                <a:gd name="T7" fmla="*/ 48 h 66"/>
                <a:gd name="T8" fmla="*/ 27 w 32"/>
                <a:gd name="T9" fmla="*/ 39 h 66"/>
                <a:gd name="T10" fmla="*/ 25 w 32"/>
                <a:gd name="T11" fmla="*/ 29 h 66"/>
                <a:gd name="T12" fmla="*/ 23 w 32"/>
                <a:gd name="T13" fmla="*/ 20 h 66"/>
                <a:gd name="T14" fmla="*/ 17 w 32"/>
                <a:gd name="T15" fmla="*/ 12 h 66"/>
                <a:gd name="T16" fmla="*/ 12 w 32"/>
                <a:gd name="T17" fmla="*/ 4 h 66"/>
                <a:gd name="T18" fmla="*/ 2 w 32"/>
                <a:gd name="T19" fmla="*/ 0 h 66"/>
                <a:gd name="T20" fmla="*/ 0 w 32"/>
                <a:gd name="T21" fmla="*/ 18 h 66"/>
                <a:gd name="T22" fmla="*/ 2 w 32"/>
                <a:gd name="T23" fmla="*/ 18 h 66"/>
                <a:gd name="T24" fmla="*/ 6 w 32"/>
                <a:gd name="T25" fmla="*/ 20 h 66"/>
                <a:gd name="T26" fmla="*/ 8 w 32"/>
                <a:gd name="T27" fmla="*/ 25 h 66"/>
                <a:gd name="T28" fmla="*/ 10 w 32"/>
                <a:gd name="T29" fmla="*/ 33 h 66"/>
                <a:gd name="T30" fmla="*/ 12 w 32"/>
                <a:gd name="T31" fmla="*/ 41 h 66"/>
                <a:gd name="T32" fmla="*/ 14 w 32"/>
                <a:gd name="T33" fmla="*/ 50 h 66"/>
                <a:gd name="T34" fmla="*/ 14 w 32"/>
                <a:gd name="T35" fmla="*/ 58 h 66"/>
                <a:gd name="T36" fmla="*/ 14 w 32"/>
                <a:gd name="T37" fmla="*/ 65 h 66"/>
                <a:gd name="T38" fmla="*/ 14 w 32"/>
                <a:gd name="T39" fmla="*/ 64 h 66"/>
                <a:gd name="T40" fmla="*/ 31 w 32"/>
                <a:gd name="T41" fmla="*/ 65 h 6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2" h="66">
                  <a:moveTo>
                    <a:pt x="31" y="65"/>
                  </a:moveTo>
                  <a:lnTo>
                    <a:pt x="31" y="64"/>
                  </a:lnTo>
                  <a:lnTo>
                    <a:pt x="29" y="56"/>
                  </a:lnTo>
                  <a:lnTo>
                    <a:pt x="29" y="48"/>
                  </a:lnTo>
                  <a:lnTo>
                    <a:pt x="27" y="39"/>
                  </a:lnTo>
                  <a:lnTo>
                    <a:pt x="25" y="29"/>
                  </a:lnTo>
                  <a:lnTo>
                    <a:pt x="23" y="20"/>
                  </a:lnTo>
                  <a:lnTo>
                    <a:pt x="17" y="12"/>
                  </a:lnTo>
                  <a:lnTo>
                    <a:pt x="12" y="4"/>
                  </a:lnTo>
                  <a:lnTo>
                    <a:pt x="2" y="0"/>
                  </a:lnTo>
                  <a:lnTo>
                    <a:pt x="0" y="18"/>
                  </a:lnTo>
                  <a:lnTo>
                    <a:pt x="2" y="18"/>
                  </a:lnTo>
                  <a:lnTo>
                    <a:pt x="6" y="20"/>
                  </a:lnTo>
                  <a:lnTo>
                    <a:pt x="8" y="25"/>
                  </a:lnTo>
                  <a:lnTo>
                    <a:pt x="10" y="33"/>
                  </a:lnTo>
                  <a:lnTo>
                    <a:pt x="12" y="41"/>
                  </a:lnTo>
                  <a:lnTo>
                    <a:pt x="14" y="50"/>
                  </a:lnTo>
                  <a:lnTo>
                    <a:pt x="14" y="58"/>
                  </a:lnTo>
                  <a:lnTo>
                    <a:pt x="14" y="65"/>
                  </a:lnTo>
                  <a:lnTo>
                    <a:pt x="14" y="64"/>
                  </a:lnTo>
                  <a:lnTo>
                    <a:pt x="31" y="65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23" name="Freeform 37">
              <a:extLst>
                <a:ext uri="{FF2B5EF4-FFF2-40B4-BE49-F238E27FC236}">
                  <a16:creationId xmlns:a16="http://schemas.microsoft.com/office/drawing/2014/main" id="{5FF8A558-3213-FC7F-4561-FF60CDB86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3057"/>
              <a:ext cx="51" cy="181"/>
            </a:xfrm>
            <a:custGeom>
              <a:avLst/>
              <a:gdLst>
                <a:gd name="T0" fmla="*/ 15 w 51"/>
                <a:gd name="T1" fmla="*/ 164 h 181"/>
                <a:gd name="T2" fmla="*/ 17 w 51"/>
                <a:gd name="T3" fmla="*/ 164 h 181"/>
                <a:gd name="T4" fmla="*/ 17 w 51"/>
                <a:gd name="T5" fmla="*/ 162 h 181"/>
                <a:gd name="T6" fmla="*/ 15 w 51"/>
                <a:gd name="T7" fmla="*/ 159 h 181"/>
                <a:gd name="T8" fmla="*/ 15 w 51"/>
                <a:gd name="T9" fmla="*/ 153 h 181"/>
                <a:gd name="T10" fmla="*/ 19 w 51"/>
                <a:gd name="T11" fmla="*/ 134 h 181"/>
                <a:gd name="T12" fmla="*/ 25 w 51"/>
                <a:gd name="T13" fmla="*/ 113 h 181"/>
                <a:gd name="T14" fmla="*/ 31 w 51"/>
                <a:gd name="T15" fmla="*/ 88 h 181"/>
                <a:gd name="T16" fmla="*/ 38 w 51"/>
                <a:gd name="T17" fmla="*/ 59 h 181"/>
                <a:gd name="T18" fmla="*/ 46 w 51"/>
                <a:gd name="T19" fmla="*/ 30 h 181"/>
                <a:gd name="T20" fmla="*/ 50 w 51"/>
                <a:gd name="T21" fmla="*/ 1 h 181"/>
                <a:gd name="T22" fmla="*/ 33 w 51"/>
                <a:gd name="T23" fmla="*/ 0 h 181"/>
                <a:gd name="T24" fmla="*/ 29 w 51"/>
                <a:gd name="T25" fmla="*/ 26 h 181"/>
                <a:gd name="T26" fmla="*/ 23 w 51"/>
                <a:gd name="T27" fmla="*/ 55 h 181"/>
                <a:gd name="T28" fmla="*/ 15 w 51"/>
                <a:gd name="T29" fmla="*/ 82 h 181"/>
                <a:gd name="T30" fmla="*/ 10 w 51"/>
                <a:gd name="T31" fmla="*/ 109 h 181"/>
                <a:gd name="T32" fmla="*/ 4 w 51"/>
                <a:gd name="T33" fmla="*/ 132 h 181"/>
                <a:gd name="T34" fmla="*/ 0 w 51"/>
                <a:gd name="T35" fmla="*/ 151 h 181"/>
                <a:gd name="T36" fmla="*/ 0 w 51"/>
                <a:gd name="T37" fmla="*/ 159 h 181"/>
                <a:gd name="T38" fmla="*/ 2 w 51"/>
                <a:gd name="T39" fmla="*/ 166 h 181"/>
                <a:gd name="T40" fmla="*/ 6 w 51"/>
                <a:gd name="T41" fmla="*/ 174 h 181"/>
                <a:gd name="T42" fmla="*/ 12 w 51"/>
                <a:gd name="T43" fmla="*/ 180 h 181"/>
                <a:gd name="T44" fmla="*/ 15 w 51"/>
                <a:gd name="T45" fmla="*/ 180 h 181"/>
                <a:gd name="T46" fmla="*/ 15 w 51"/>
                <a:gd name="T47" fmla="*/ 164 h 18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51" h="181">
                  <a:moveTo>
                    <a:pt x="15" y="164"/>
                  </a:moveTo>
                  <a:lnTo>
                    <a:pt x="17" y="164"/>
                  </a:lnTo>
                  <a:lnTo>
                    <a:pt x="17" y="162"/>
                  </a:lnTo>
                  <a:lnTo>
                    <a:pt x="15" y="159"/>
                  </a:lnTo>
                  <a:lnTo>
                    <a:pt x="15" y="153"/>
                  </a:lnTo>
                  <a:lnTo>
                    <a:pt x="19" y="134"/>
                  </a:lnTo>
                  <a:lnTo>
                    <a:pt x="25" y="113"/>
                  </a:lnTo>
                  <a:lnTo>
                    <a:pt x="31" y="88"/>
                  </a:lnTo>
                  <a:lnTo>
                    <a:pt x="38" y="59"/>
                  </a:lnTo>
                  <a:lnTo>
                    <a:pt x="46" y="30"/>
                  </a:lnTo>
                  <a:lnTo>
                    <a:pt x="50" y="1"/>
                  </a:lnTo>
                  <a:lnTo>
                    <a:pt x="33" y="0"/>
                  </a:lnTo>
                  <a:lnTo>
                    <a:pt x="29" y="26"/>
                  </a:lnTo>
                  <a:lnTo>
                    <a:pt x="23" y="55"/>
                  </a:lnTo>
                  <a:lnTo>
                    <a:pt x="15" y="82"/>
                  </a:lnTo>
                  <a:lnTo>
                    <a:pt x="10" y="109"/>
                  </a:lnTo>
                  <a:lnTo>
                    <a:pt x="4" y="132"/>
                  </a:lnTo>
                  <a:lnTo>
                    <a:pt x="0" y="151"/>
                  </a:lnTo>
                  <a:lnTo>
                    <a:pt x="0" y="159"/>
                  </a:lnTo>
                  <a:lnTo>
                    <a:pt x="2" y="166"/>
                  </a:lnTo>
                  <a:lnTo>
                    <a:pt x="6" y="174"/>
                  </a:lnTo>
                  <a:lnTo>
                    <a:pt x="12" y="180"/>
                  </a:lnTo>
                  <a:lnTo>
                    <a:pt x="15" y="180"/>
                  </a:lnTo>
                  <a:lnTo>
                    <a:pt x="15" y="164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24" name="Freeform 38">
              <a:extLst>
                <a:ext uri="{FF2B5EF4-FFF2-40B4-BE49-F238E27FC236}">
                  <a16:creationId xmlns:a16="http://schemas.microsoft.com/office/drawing/2014/main" id="{249F0A9A-B555-AA4D-8E32-1065C0E72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" y="3080"/>
              <a:ext cx="59" cy="158"/>
            </a:xfrm>
            <a:custGeom>
              <a:avLst/>
              <a:gdLst>
                <a:gd name="T0" fmla="*/ 56 w 59"/>
                <a:gd name="T1" fmla="*/ 0 h 158"/>
                <a:gd name="T2" fmla="*/ 44 w 59"/>
                <a:gd name="T3" fmla="*/ 9 h 158"/>
                <a:gd name="T4" fmla="*/ 37 w 59"/>
                <a:gd name="T5" fmla="*/ 26 h 158"/>
                <a:gd name="T6" fmla="*/ 31 w 59"/>
                <a:gd name="T7" fmla="*/ 49 h 158"/>
                <a:gd name="T8" fmla="*/ 23 w 59"/>
                <a:gd name="T9" fmla="*/ 76 h 158"/>
                <a:gd name="T10" fmla="*/ 16 w 59"/>
                <a:gd name="T11" fmla="*/ 101 h 158"/>
                <a:gd name="T12" fmla="*/ 8 w 59"/>
                <a:gd name="T13" fmla="*/ 124 h 158"/>
                <a:gd name="T14" fmla="*/ 6 w 59"/>
                <a:gd name="T15" fmla="*/ 132 h 158"/>
                <a:gd name="T16" fmla="*/ 2 w 59"/>
                <a:gd name="T17" fmla="*/ 138 h 158"/>
                <a:gd name="T18" fmla="*/ 0 w 59"/>
                <a:gd name="T19" fmla="*/ 141 h 158"/>
                <a:gd name="T20" fmla="*/ 0 w 59"/>
                <a:gd name="T21" fmla="*/ 157 h 158"/>
                <a:gd name="T22" fmla="*/ 10 w 59"/>
                <a:gd name="T23" fmla="*/ 153 h 158"/>
                <a:gd name="T24" fmla="*/ 16 w 59"/>
                <a:gd name="T25" fmla="*/ 147 h 158"/>
                <a:gd name="T26" fmla="*/ 19 w 59"/>
                <a:gd name="T27" fmla="*/ 139 h 158"/>
                <a:gd name="T28" fmla="*/ 23 w 59"/>
                <a:gd name="T29" fmla="*/ 128 h 158"/>
                <a:gd name="T30" fmla="*/ 31 w 59"/>
                <a:gd name="T31" fmla="*/ 107 h 158"/>
                <a:gd name="T32" fmla="*/ 39 w 59"/>
                <a:gd name="T33" fmla="*/ 80 h 158"/>
                <a:gd name="T34" fmla="*/ 46 w 59"/>
                <a:gd name="T35" fmla="*/ 55 h 158"/>
                <a:gd name="T36" fmla="*/ 52 w 59"/>
                <a:gd name="T37" fmla="*/ 32 h 158"/>
                <a:gd name="T38" fmla="*/ 58 w 59"/>
                <a:gd name="T39" fmla="*/ 17 h 158"/>
                <a:gd name="T40" fmla="*/ 58 w 59"/>
                <a:gd name="T41" fmla="*/ 15 h 158"/>
                <a:gd name="T42" fmla="*/ 56 w 59"/>
                <a:gd name="T43" fmla="*/ 0 h 15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59" h="158">
                  <a:moveTo>
                    <a:pt x="56" y="0"/>
                  </a:moveTo>
                  <a:lnTo>
                    <a:pt x="44" y="9"/>
                  </a:lnTo>
                  <a:lnTo>
                    <a:pt x="37" y="26"/>
                  </a:lnTo>
                  <a:lnTo>
                    <a:pt x="31" y="49"/>
                  </a:lnTo>
                  <a:lnTo>
                    <a:pt x="23" y="76"/>
                  </a:lnTo>
                  <a:lnTo>
                    <a:pt x="16" y="101"/>
                  </a:lnTo>
                  <a:lnTo>
                    <a:pt x="8" y="124"/>
                  </a:lnTo>
                  <a:lnTo>
                    <a:pt x="6" y="132"/>
                  </a:lnTo>
                  <a:lnTo>
                    <a:pt x="2" y="138"/>
                  </a:lnTo>
                  <a:lnTo>
                    <a:pt x="0" y="141"/>
                  </a:lnTo>
                  <a:lnTo>
                    <a:pt x="0" y="157"/>
                  </a:lnTo>
                  <a:lnTo>
                    <a:pt x="10" y="153"/>
                  </a:lnTo>
                  <a:lnTo>
                    <a:pt x="16" y="147"/>
                  </a:lnTo>
                  <a:lnTo>
                    <a:pt x="19" y="139"/>
                  </a:lnTo>
                  <a:lnTo>
                    <a:pt x="23" y="128"/>
                  </a:lnTo>
                  <a:lnTo>
                    <a:pt x="31" y="107"/>
                  </a:lnTo>
                  <a:lnTo>
                    <a:pt x="39" y="80"/>
                  </a:lnTo>
                  <a:lnTo>
                    <a:pt x="46" y="55"/>
                  </a:lnTo>
                  <a:lnTo>
                    <a:pt x="52" y="32"/>
                  </a:lnTo>
                  <a:lnTo>
                    <a:pt x="58" y="17"/>
                  </a:lnTo>
                  <a:lnTo>
                    <a:pt x="58" y="15"/>
                  </a:lnTo>
                  <a:lnTo>
                    <a:pt x="56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25" name="Freeform 39">
              <a:extLst>
                <a:ext uri="{FF2B5EF4-FFF2-40B4-BE49-F238E27FC236}">
                  <a16:creationId xmlns:a16="http://schemas.microsoft.com/office/drawing/2014/main" id="{CD4A22E3-0097-3B33-ADE0-F7D9999FF9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5" y="3080"/>
              <a:ext cx="41" cy="52"/>
            </a:xfrm>
            <a:custGeom>
              <a:avLst/>
              <a:gdLst>
                <a:gd name="T0" fmla="*/ 40 w 41"/>
                <a:gd name="T1" fmla="*/ 51 h 52"/>
                <a:gd name="T2" fmla="*/ 40 w 41"/>
                <a:gd name="T3" fmla="*/ 47 h 52"/>
                <a:gd name="T4" fmla="*/ 40 w 41"/>
                <a:gd name="T5" fmla="*/ 42 h 52"/>
                <a:gd name="T6" fmla="*/ 40 w 41"/>
                <a:gd name="T7" fmla="*/ 32 h 52"/>
                <a:gd name="T8" fmla="*/ 40 w 41"/>
                <a:gd name="T9" fmla="*/ 24 h 52"/>
                <a:gd name="T10" fmla="*/ 36 w 41"/>
                <a:gd name="T11" fmla="*/ 15 h 52"/>
                <a:gd name="T12" fmla="*/ 27 w 41"/>
                <a:gd name="T13" fmla="*/ 5 h 52"/>
                <a:gd name="T14" fmla="*/ 15 w 41"/>
                <a:gd name="T15" fmla="*/ 1 h 52"/>
                <a:gd name="T16" fmla="*/ 0 w 41"/>
                <a:gd name="T17" fmla="*/ 0 h 52"/>
                <a:gd name="T18" fmla="*/ 2 w 41"/>
                <a:gd name="T19" fmla="*/ 15 h 52"/>
                <a:gd name="T20" fmla="*/ 11 w 41"/>
                <a:gd name="T21" fmla="*/ 17 h 52"/>
                <a:gd name="T22" fmla="*/ 19 w 41"/>
                <a:gd name="T23" fmla="*/ 19 h 52"/>
                <a:gd name="T24" fmla="*/ 23 w 41"/>
                <a:gd name="T25" fmla="*/ 23 h 52"/>
                <a:gd name="T26" fmla="*/ 25 w 41"/>
                <a:gd name="T27" fmla="*/ 28 h 52"/>
                <a:gd name="T28" fmla="*/ 25 w 41"/>
                <a:gd name="T29" fmla="*/ 34 h 52"/>
                <a:gd name="T30" fmla="*/ 25 w 41"/>
                <a:gd name="T31" fmla="*/ 40 h 52"/>
                <a:gd name="T32" fmla="*/ 25 w 41"/>
                <a:gd name="T33" fmla="*/ 46 h 52"/>
                <a:gd name="T34" fmla="*/ 25 w 41"/>
                <a:gd name="T35" fmla="*/ 51 h 52"/>
                <a:gd name="T36" fmla="*/ 40 w 41"/>
                <a:gd name="T37" fmla="*/ 51 h 5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1" h="52">
                  <a:moveTo>
                    <a:pt x="40" y="51"/>
                  </a:moveTo>
                  <a:lnTo>
                    <a:pt x="40" y="47"/>
                  </a:lnTo>
                  <a:lnTo>
                    <a:pt x="40" y="42"/>
                  </a:lnTo>
                  <a:lnTo>
                    <a:pt x="40" y="32"/>
                  </a:lnTo>
                  <a:lnTo>
                    <a:pt x="40" y="24"/>
                  </a:lnTo>
                  <a:lnTo>
                    <a:pt x="36" y="15"/>
                  </a:lnTo>
                  <a:lnTo>
                    <a:pt x="27" y="5"/>
                  </a:lnTo>
                  <a:lnTo>
                    <a:pt x="15" y="1"/>
                  </a:lnTo>
                  <a:lnTo>
                    <a:pt x="0" y="0"/>
                  </a:lnTo>
                  <a:lnTo>
                    <a:pt x="2" y="15"/>
                  </a:lnTo>
                  <a:lnTo>
                    <a:pt x="11" y="17"/>
                  </a:lnTo>
                  <a:lnTo>
                    <a:pt x="19" y="19"/>
                  </a:lnTo>
                  <a:lnTo>
                    <a:pt x="23" y="23"/>
                  </a:lnTo>
                  <a:lnTo>
                    <a:pt x="25" y="28"/>
                  </a:lnTo>
                  <a:lnTo>
                    <a:pt x="25" y="34"/>
                  </a:lnTo>
                  <a:lnTo>
                    <a:pt x="25" y="40"/>
                  </a:lnTo>
                  <a:lnTo>
                    <a:pt x="25" y="46"/>
                  </a:lnTo>
                  <a:lnTo>
                    <a:pt x="25" y="51"/>
                  </a:lnTo>
                  <a:lnTo>
                    <a:pt x="40" y="51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26" name="Freeform 40">
              <a:extLst>
                <a:ext uri="{FF2B5EF4-FFF2-40B4-BE49-F238E27FC236}">
                  <a16:creationId xmlns:a16="http://schemas.microsoft.com/office/drawing/2014/main" id="{3BD938F5-7B75-DC02-94EF-00FCA6990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" y="3131"/>
              <a:ext cx="30" cy="82"/>
            </a:xfrm>
            <a:custGeom>
              <a:avLst/>
              <a:gdLst>
                <a:gd name="T0" fmla="*/ 16 w 30"/>
                <a:gd name="T1" fmla="*/ 81 h 82"/>
                <a:gd name="T2" fmla="*/ 18 w 30"/>
                <a:gd name="T3" fmla="*/ 71 h 82"/>
                <a:gd name="T4" fmla="*/ 20 w 30"/>
                <a:gd name="T5" fmla="*/ 62 h 82"/>
                <a:gd name="T6" fmla="*/ 21 w 30"/>
                <a:gd name="T7" fmla="*/ 52 h 82"/>
                <a:gd name="T8" fmla="*/ 23 w 30"/>
                <a:gd name="T9" fmla="*/ 42 h 82"/>
                <a:gd name="T10" fmla="*/ 25 w 30"/>
                <a:gd name="T11" fmla="*/ 33 h 82"/>
                <a:gd name="T12" fmla="*/ 27 w 30"/>
                <a:gd name="T13" fmla="*/ 23 h 82"/>
                <a:gd name="T14" fmla="*/ 29 w 30"/>
                <a:gd name="T15" fmla="*/ 12 h 82"/>
                <a:gd name="T16" fmla="*/ 29 w 30"/>
                <a:gd name="T17" fmla="*/ 0 h 82"/>
                <a:gd name="T18" fmla="*/ 14 w 30"/>
                <a:gd name="T19" fmla="*/ 0 h 82"/>
                <a:gd name="T20" fmla="*/ 14 w 30"/>
                <a:gd name="T21" fmla="*/ 12 h 82"/>
                <a:gd name="T22" fmla="*/ 12 w 30"/>
                <a:gd name="T23" fmla="*/ 21 h 82"/>
                <a:gd name="T24" fmla="*/ 10 w 30"/>
                <a:gd name="T25" fmla="*/ 31 h 82"/>
                <a:gd name="T26" fmla="*/ 8 w 30"/>
                <a:gd name="T27" fmla="*/ 39 h 82"/>
                <a:gd name="T28" fmla="*/ 6 w 30"/>
                <a:gd name="T29" fmla="*/ 48 h 82"/>
                <a:gd name="T30" fmla="*/ 4 w 30"/>
                <a:gd name="T31" fmla="*/ 58 h 82"/>
                <a:gd name="T32" fmla="*/ 2 w 30"/>
                <a:gd name="T33" fmla="*/ 67 h 82"/>
                <a:gd name="T34" fmla="*/ 0 w 30"/>
                <a:gd name="T35" fmla="*/ 79 h 82"/>
                <a:gd name="T36" fmla="*/ 0 w 30"/>
                <a:gd name="T37" fmla="*/ 77 h 82"/>
                <a:gd name="T38" fmla="*/ 16 w 30"/>
                <a:gd name="T39" fmla="*/ 81 h 8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0" h="82">
                  <a:moveTo>
                    <a:pt x="16" y="81"/>
                  </a:moveTo>
                  <a:lnTo>
                    <a:pt x="18" y="71"/>
                  </a:lnTo>
                  <a:lnTo>
                    <a:pt x="20" y="62"/>
                  </a:lnTo>
                  <a:lnTo>
                    <a:pt x="21" y="52"/>
                  </a:lnTo>
                  <a:lnTo>
                    <a:pt x="23" y="42"/>
                  </a:lnTo>
                  <a:lnTo>
                    <a:pt x="25" y="33"/>
                  </a:lnTo>
                  <a:lnTo>
                    <a:pt x="27" y="23"/>
                  </a:lnTo>
                  <a:lnTo>
                    <a:pt x="29" y="12"/>
                  </a:lnTo>
                  <a:lnTo>
                    <a:pt x="29" y="0"/>
                  </a:lnTo>
                  <a:lnTo>
                    <a:pt x="14" y="0"/>
                  </a:lnTo>
                  <a:lnTo>
                    <a:pt x="14" y="12"/>
                  </a:lnTo>
                  <a:lnTo>
                    <a:pt x="12" y="21"/>
                  </a:lnTo>
                  <a:lnTo>
                    <a:pt x="10" y="31"/>
                  </a:lnTo>
                  <a:lnTo>
                    <a:pt x="8" y="39"/>
                  </a:lnTo>
                  <a:lnTo>
                    <a:pt x="6" y="48"/>
                  </a:lnTo>
                  <a:lnTo>
                    <a:pt x="4" y="58"/>
                  </a:lnTo>
                  <a:lnTo>
                    <a:pt x="2" y="67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16" y="81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27" name="Freeform 41">
              <a:extLst>
                <a:ext uri="{FF2B5EF4-FFF2-40B4-BE49-F238E27FC236}">
                  <a16:creationId xmlns:a16="http://schemas.microsoft.com/office/drawing/2014/main" id="{699833F7-20A3-8652-219E-ACF80532A7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0" y="3208"/>
              <a:ext cx="43" cy="127"/>
            </a:xfrm>
            <a:custGeom>
              <a:avLst/>
              <a:gdLst>
                <a:gd name="T0" fmla="*/ 9 w 43"/>
                <a:gd name="T1" fmla="*/ 111 h 127"/>
                <a:gd name="T2" fmla="*/ 15 w 43"/>
                <a:gd name="T3" fmla="*/ 115 h 127"/>
                <a:gd name="T4" fmla="*/ 15 w 43"/>
                <a:gd name="T5" fmla="*/ 107 h 127"/>
                <a:gd name="T6" fmla="*/ 19 w 43"/>
                <a:gd name="T7" fmla="*/ 94 h 127"/>
                <a:gd name="T8" fmla="*/ 23 w 43"/>
                <a:gd name="T9" fmla="*/ 79 h 127"/>
                <a:gd name="T10" fmla="*/ 28 w 43"/>
                <a:gd name="T11" fmla="*/ 59 h 127"/>
                <a:gd name="T12" fmla="*/ 32 w 43"/>
                <a:gd name="T13" fmla="*/ 40 h 127"/>
                <a:gd name="T14" fmla="*/ 38 w 43"/>
                <a:gd name="T15" fmla="*/ 21 h 127"/>
                <a:gd name="T16" fmla="*/ 42 w 43"/>
                <a:gd name="T17" fmla="*/ 4 h 127"/>
                <a:gd name="T18" fmla="*/ 26 w 43"/>
                <a:gd name="T19" fmla="*/ 0 h 127"/>
                <a:gd name="T20" fmla="*/ 23 w 43"/>
                <a:gd name="T21" fmla="*/ 17 h 127"/>
                <a:gd name="T22" fmla="*/ 17 w 43"/>
                <a:gd name="T23" fmla="*/ 34 h 127"/>
                <a:gd name="T24" fmla="*/ 13 w 43"/>
                <a:gd name="T25" fmla="*/ 56 h 127"/>
                <a:gd name="T26" fmla="*/ 7 w 43"/>
                <a:gd name="T27" fmla="*/ 75 h 127"/>
                <a:gd name="T28" fmla="*/ 1 w 43"/>
                <a:gd name="T29" fmla="*/ 92 h 127"/>
                <a:gd name="T30" fmla="*/ 0 w 43"/>
                <a:gd name="T31" fmla="*/ 105 h 127"/>
                <a:gd name="T32" fmla="*/ 0 w 43"/>
                <a:gd name="T33" fmla="*/ 117 h 127"/>
                <a:gd name="T34" fmla="*/ 11 w 43"/>
                <a:gd name="T35" fmla="*/ 126 h 127"/>
                <a:gd name="T36" fmla="*/ 9 w 43"/>
                <a:gd name="T37" fmla="*/ 126 h 127"/>
                <a:gd name="T38" fmla="*/ 9 w 43"/>
                <a:gd name="T39" fmla="*/ 111 h 12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43" h="127">
                  <a:moveTo>
                    <a:pt x="9" y="111"/>
                  </a:moveTo>
                  <a:lnTo>
                    <a:pt x="15" y="115"/>
                  </a:lnTo>
                  <a:lnTo>
                    <a:pt x="15" y="107"/>
                  </a:lnTo>
                  <a:lnTo>
                    <a:pt x="19" y="94"/>
                  </a:lnTo>
                  <a:lnTo>
                    <a:pt x="23" y="79"/>
                  </a:lnTo>
                  <a:lnTo>
                    <a:pt x="28" y="59"/>
                  </a:lnTo>
                  <a:lnTo>
                    <a:pt x="32" y="40"/>
                  </a:lnTo>
                  <a:lnTo>
                    <a:pt x="38" y="21"/>
                  </a:lnTo>
                  <a:lnTo>
                    <a:pt x="42" y="4"/>
                  </a:lnTo>
                  <a:lnTo>
                    <a:pt x="26" y="0"/>
                  </a:lnTo>
                  <a:lnTo>
                    <a:pt x="23" y="17"/>
                  </a:lnTo>
                  <a:lnTo>
                    <a:pt x="17" y="34"/>
                  </a:lnTo>
                  <a:lnTo>
                    <a:pt x="13" y="56"/>
                  </a:lnTo>
                  <a:lnTo>
                    <a:pt x="7" y="75"/>
                  </a:lnTo>
                  <a:lnTo>
                    <a:pt x="1" y="92"/>
                  </a:lnTo>
                  <a:lnTo>
                    <a:pt x="0" y="105"/>
                  </a:lnTo>
                  <a:lnTo>
                    <a:pt x="0" y="117"/>
                  </a:lnTo>
                  <a:lnTo>
                    <a:pt x="11" y="126"/>
                  </a:lnTo>
                  <a:lnTo>
                    <a:pt x="9" y="126"/>
                  </a:lnTo>
                  <a:lnTo>
                    <a:pt x="9" y="111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28" name="Freeform 42">
              <a:extLst>
                <a:ext uri="{FF2B5EF4-FFF2-40B4-BE49-F238E27FC236}">
                  <a16:creationId xmlns:a16="http://schemas.microsoft.com/office/drawing/2014/main" id="{2F2B653C-36A9-1160-E5A8-58A77ECFBB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9" y="3177"/>
              <a:ext cx="66" cy="158"/>
            </a:xfrm>
            <a:custGeom>
              <a:avLst/>
              <a:gdLst>
                <a:gd name="T0" fmla="*/ 65 w 66"/>
                <a:gd name="T1" fmla="*/ 0 h 158"/>
                <a:gd name="T2" fmla="*/ 63 w 66"/>
                <a:gd name="T3" fmla="*/ 0 h 158"/>
                <a:gd name="T4" fmla="*/ 56 w 66"/>
                <a:gd name="T5" fmla="*/ 4 h 158"/>
                <a:gd name="T6" fmla="*/ 50 w 66"/>
                <a:gd name="T7" fmla="*/ 10 h 158"/>
                <a:gd name="T8" fmla="*/ 44 w 66"/>
                <a:gd name="T9" fmla="*/ 18 h 158"/>
                <a:gd name="T10" fmla="*/ 40 w 66"/>
                <a:gd name="T11" fmla="*/ 27 h 158"/>
                <a:gd name="T12" fmla="*/ 31 w 66"/>
                <a:gd name="T13" fmla="*/ 50 h 158"/>
                <a:gd name="T14" fmla="*/ 21 w 66"/>
                <a:gd name="T15" fmla="*/ 77 h 158"/>
                <a:gd name="T16" fmla="*/ 14 w 66"/>
                <a:gd name="T17" fmla="*/ 102 h 158"/>
                <a:gd name="T18" fmla="*/ 6 w 66"/>
                <a:gd name="T19" fmla="*/ 125 h 158"/>
                <a:gd name="T20" fmla="*/ 0 w 66"/>
                <a:gd name="T21" fmla="*/ 140 h 158"/>
                <a:gd name="T22" fmla="*/ 0 w 66"/>
                <a:gd name="T23" fmla="*/ 142 h 158"/>
                <a:gd name="T24" fmla="*/ 0 w 66"/>
                <a:gd name="T25" fmla="*/ 157 h 158"/>
                <a:gd name="T26" fmla="*/ 14 w 66"/>
                <a:gd name="T27" fmla="*/ 148 h 158"/>
                <a:gd name="T28" fmla="*/ 21 w 66"/>
                <a:gd name="T29" fmla="*/ 131 h 158"/>
                <a:gd name="T30" fmla="*/ 29 w 66"/>
                <a:gd name="T31" fmla="*/ 108 h 158"/>
                <a:gd name="T32" fmla="*/ 37 w 66"/>
                <a:gd name="T33" fmla="*/ 81 h 158"/>
                <a:gd name="T34" fmla="*/ 46 w 66"/>
                <a:gd name="T35" fmla="*/ 56 h 158"/>
                <a:gd name="T36" fmla="*/ 54 w 66"/>
                <a:gd name="T37" fmla="*/ 35 h 158"/>
                <a:gd name="T38" fmla="*/ 58 w 66"/>
                <a:gd name="T39" fmla="*/ 25 h 158"/>
                <a:gd name="T40" fmla="*/ 61 w 66"/>
                <a:gd name="T41" fmla="*/ 19 h 158"/>
                <a:gd name="T42" fmla="*/ 65 w 66"/>
                <a:gd name="T43" fmla="*/ 16 h 158"/>
                <a:gd name="T44" fmla="*/ 61 w 66"/>
                <a:gd name="T45" fmla="*/ 16 h 158"/>
                <a:gd name="T46" fmla="*/ 65 w 66"/>
                <a:gd name="T47" fmla="*/ 0 h 15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66" h="158">
                  <a:moveTo>
                    <a:pt x="65" y="0"/>
                  </a:moveTo>
                  <a:lnTo>
                    <a:pt x="63" y="0"/>
                  </a:lnTo>
                  <a:lnTo>
                    <a:pt x="56" y="4"/>
                  </a:lnTo>
                  <a:lnTo>
                    <a:pt x="50" y="10"/>
                  </a:lnTo>
                  <a:lnTo>
                    <a:pt x="44" y="18"/>
                  </a:lnTo>
                  <a:lnTo>
                    <a:pt x="40" y="27"/>
                  </a:lnTo>
                  <a:lnTo>
                    <a:pt x="31" y="50"/>
                  </a:lnTo>
                  <a:lnTo>
                    <a:pt x="21" y="77"/>
                  </a:lnTo>
                  <a:lnTo>
                    <a:pt x="14" y="102"/>
                  </a:lnTo>
                  <a:lnTo>
                    <a:pt x="6" y="125"/>
                  </a:lnTo>
                  <a:lnTo>
                    <a:pt x="0" y="140"/>
                  </a:lnTo>
                  <a:lnTo>
                    <a:pt x="0" y="142"/>
                  </a:lnTo>
                  <a:lnTo>
                    <a:pt x="0" y="157"/>
                  </a:lnTo>
                  <a:lnTo>
                    <a:pt x="14" y="148"/>
                  </a:lnTo>
                  <a:lnTo>
                    <a:pt x="21" y="131"/>
                  </a:lnTo>
                  <a:lnTo>
                    <a:pt x="29" y="108"/>
                  </a:lnTo>
                  <a:lnTo>
                    <a:pt x="37" y="81"/>
                  </a:lnTo>
                  <a:lnTo>
                    <a:pt x="46" y="56"/>
                  </a:lnTo>
                  <a:lnTo>
                    <a:pt x="54" y="35"/>
                  </a:lnTo>
                  <a:lnTo>
                    <a:pt x="58" y="25"/>
                  </a:lnTo>
                  <a:lnTo>
                    <a:pt x="61" y="19"/>
                  </a:lnTo>
                  <a:lnTo>
                    <a:pt x="65" y="16"/>
                  </a:lnTo>
                  <a:lnTo>
                    <a:pt x="61" y="16"/>
                  </a:lnTo>
                  <a:lnTo>
                    <a:pt x="65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29" name="Freeform 43">
              <a:extLst>
                <a:ext uri="{FF2B5EF4-FFF2-40B4-BE49-F238E27FC236}">
                  <a16:creationId xmlns:a16="http://schemas.microsoft.com/office/drawing/2014/main" id="{0E0ECF1D-B9AC-FDFA-A559-DB7216BA1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5" y="3177"/>
              <a:ext cx="28" cy="122"/>
            </a:xfrm>
            <a:custGeom>
              <a:avLst/>
              <a:gdLst>
                <a:gd name="T0" fmla="*/ 15 w 28"/>
                <a:gd name="T1" fmla="*/ 119 h 122"/>
                <a:gd name="T2" fmla="*/ 15 w 28"/>
                <a:gd name="T3" fmla="*/ 121 h 122"/>
                <a:gd name="T4" fmla="*/ 17 w 28"/>
                <a:gd name="T5" fmla="*/ 108 h 122"/>
                <a:gd name="T6" fmla="*/ 21 w 28"/>
                <a:gd name="T7" fmla="*/ 92 h 122"/>
                <a:gd name="T8" fmla="*/ 23 w 28"/>
                <a:gd name="T9" fmla="*/ 75 h 122"/>
                <a:gd name="T10" fmla="*/ 27 w 28"/>
                <a:gd name="T11" fmla="*/ 56 h 122"/>
                <a:gd name="T12" fmla="*/ 27 w 28"/>
                <a:gd name="T13" fmla="*/ 39 h 122"/>
                <a:gd name="T14" fmla="*/ 27 w 28"/>
                <a:gd name="T15" fmla="*/ 23 h 122"/>
                <a:gd name="T16" fmla="*/ 25 w 28"/>
                <a:gd name="T17" fmla="*/ 16 h 122"/>
                <a:gd name="T18" fmla="*/ 23 w 28"/>
                <a:gd name="T19" fmla="*/ 10 h 122"/>
                <a:gd name="T20" fmla="*/ 17 w 28"/>
                <a:gd name="T21" fmla="*/ 4 h 122"/>
                <a:gd name="T22" fmla="*/ 9 w 28"/>
                <a:gd name="T23" fmla="*/ 0 h 122"/>
                <a:gd name="T24" fmla="*/ 5 w 28"/>
                <a:gd name="T25" fmla="*/ 16 h 122"/>
                <a:gd name="T26" fmla="*/ 7 w 28"/>
                <a:gd name="T27" fmla="*/ 18 h 122"/>
                <a:gd name="T28" fmla="*/ 9 w 28"/>
                <a:gd name="T29" fmla="*/ 18 h 122"/>
                <a:gd name="T30" fmla="*/ 9 w 28"/>
                <a:gd name="T31" fmla="*/ 21 h 122"/>
                <a:gd name="T32" fmla="*/ 11 w 28"/>
                <a:gd name="T33" fmla="*/ 25 h 122"/>
                <a:gd name="T34" fmla="*/ 11 w 28"/>
                <a:gd name="T35" fmla="*/ 39 h 122"/>
                <a:gd name="T36" fmla="*/ 11 w 28"/>
                <a:gd name="T37" fmla="*/ 54 h 122"/>
                <a:gd name="T38" fmla="*/ 7 w 28"/>
                <a:gd name="T39" fmla="*/ 71 h 122"/>
                <a:gd name="T40" fmla="*/ 5 w 28"/>
                <a:gd name="T41" fmla="*/ 88 h 122"/>
                <a:gd name="T42" fmla="*/ 2 w 28"/>
                <a:gd name="T43" fmla="*/ 106 h 122"/>
                <a:gd name="T44" fmla="*/ 0 w 28"/>
                <a:gd name="T45" fmla="*/ 117 h 122"/>
                <a:gd name="T46" fmla="*/ 15 w 28"/>
                <a:gd name="T47" fmla="*/ 119 h 12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8" h="122">
                  <a:moveTo>
                    <a:pt x="15" y="119"/>
                  </a:moveTo>
                  <a:lnTo>
                    <a:pt x="15" y="121"/>
                  </a:lnTo>
                  <a:lnTo>
                    <a:pt x="17" y="108"/>
                  </a:lnTo>
                  <a:lnTo>
                    <a:pt x="21" y="92"/>
                  </a:lnTo>
                  <a:lnTo>
                    <a:pt x="23" y="75"/>
                  </a:lnTo>
                  <a:lnTo>
                    <a:pt x="27" y="56"/>
                  </a:lnTo>
                  <a:lnTo>
                    <a:pt x="27" y="39"/>
                  </a:lnTo>
                  <a:lnTo>
                    <a:pt x="27" y="23"/>
                  </a:lnTo>
                  <a:lnTo>
                    <a:pt x="25" y="16"/>
                  </a:lnTo>
                  <a:lnTo>
                    <a:pt x="23" y="10"/>
                  </a:lnTo>
                  <a:lnTo>
                    <a:pt x="17" y="4"/>
                  </a:lnTo>
                  <a:lnTo>
                    <a:pt x="9" y="0"/>
                  </a:lnTo>
                  <a:lnTo>
                    <a:pt x="5" y="16"/>
                  </a:lnTo>
                  <a:lnTo>
                    <a:pt x="7" y="18"/>
                  </a:lnTo>
                  <a:lnTo>
                    <a:pt x="9" y="18"/>
                  </a:lnTo>
                  <a:lnTo>
                    <a:pt x="9" y="21"/>
                  </a:lnTo>
                  <a:lnTo>
                    <a:pt x="11" y="25"/>
                  </a:lnTo>
                  <a:lnTo>
                    <a:pt x="11" y="39"/>
                  </a:lnTo>
                  <a:lnTo>
                    <a:pt x="11" y="54"/>
                  </a:lnTo>
                  <a:lnTo>
                    <a:pt x="7" y="71"/>
                  </a:lnTo>
                  <a:lnTo>
                    <a:pt x="5" y="88"/>
                  </a:lnTo>
                  <a:lnTo>
                    <a:pt x="2" y="106"/>
                  </a:lnTo>
                  <a:lnTo>
                    <a:pt x="0" y="117"/>
                  </a:lnTo>
                  <a:lnTo>
                    <a:pt x="15" y="119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30" name="Freeform 44">
              <a:extLst>
                <a:ext uri="{FF2B5EF4-FFF2-40B4-BE49-F238E27FC236}">
                  <a16:creationId xmlns:a16="http://schemas.microsoft.com/office/drawing/2014/main" id="{D2E7B7D0-7E19-17D9-9064-842D6FCFD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5" y="3294"/>
              <a:ext cx="66" cy="254"/>
            </a:xfrm>
            <a:custGeom>
              <a:avLst/>
              <a:gdLst>
                <a:gd name="T0" fmla="*/ 15 w 66"/>
                <a:gd name="T1" fmla="*/ 240 h 254"/>
                <a:gd name="T2" fmla="*/ 13 w 66"/>
                <a:gd name="T3" fmla="*/ 238 h 254"/>
                <a:gd name="T4" fmla="*/ 17 w 66"/>
                <a:gd name="T5" fmla="*/ 240 h 254"/>
                <a:gd name="T6" fmla="*/ 17 w 66"/>
                <a:gd name="T7" fmla="*/ 236 h 254"/>
                <a:gd name="T8" fmla="*/ 17 w 66"/>
                <a:gd name="T9" fmla="*/ 228 h 254"/>
                <a:gd name="T10" fmla="*/ 17 w 66"/>
                <a:gd name="T11" fmla="*/ 217 h 254"/>
                <a:gd name="T12" fmla="*/ 23 w 66"/>
                <a:gd name="T13" fmla="*/ 186 h 254"/>
                <a:gd name="T14" fmla="*/ 32 w 66"/>
                <a:gd name="T15" fmla="*/ 150 h 254"/>
                <a:gd name="T16" fmla="*/ 42 w 66"/>
                <a:gd name="T17" fmla="*/ 109 h 254"/>
                <a:gd name="T18" fmla="*/ 52 w 66"/>
                <a:gd name="T19" fmla="*/ 69 h 254"/>
                <a:gd name="T20" fmla="*/ 59 w 66"/>
                <a:gd name="T21" fmla="*/ 33 h 254"/>
                <a:gd name="T22" fmla="*/ 65 w 66"/>
                <a:gd name="T23" fmla="*/ 2 h 254"/>
                <a:gd name="T24" fmla="*/ 50 w 66"/>
                <a:gd name="T25" fmla="*/ 0 h 254"/>
                <a:gd name="T26" fmla="*/ 44 w 66"/>
                <a:gd name="T27" fmla="*/ 31 h 254"/>
                <a:gd name="T28" fmla="*/ 36 w 66"/>
                <a:gd name="T29" fmla="*/ 67 h 254"/>
                <a:gd name="T30" fmla="*/ 27 w 66"/>
                <a:gd name="T31" fmla="*/ 106 h 254"/>
                <a:gd name="T32" fmla="*/ 17 w 66"/>
                <a:gd name="T33" fmla="*/ 146 h 254"/>
                <a:gd name="T34" fmla="*/ 8 w 66"/>
                <a:gd name="T35" fmla="*/ 184 h 254"/>
                <a:gd name="T36" fmla="*/ 2 w 66"/>
                <a:gd name="T37" fmla="*/ 215 h 254"/>
                <a:gd name="T38" fmla="*/ 0 w 66"/>
                <a:gd name="T39" fmla="*/ 226 h 254"/>
                <a:gd name="T40" fmla="*/ 0 w 66"/>
                <a:gd name="T41" fmla="*/ 238 h 254"/>
                <a:gd name="T42" fmla="*/ 2 w 66"/>
                <a:gd name="T43" fmla="*/ 247 h 254"/>
                <a:gd name="T44" fmla="*/ 9 w 66"/>
                <a:gd name="T45" fmla="*/ 253 h 254"/>
                <a:gd name="T46" fmla="*/ 15 w 66"/>
                <a:gd name="T47" fmla="*/ 240 h 25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66" h="254">
                  <a:moveTo>
                    <a:pt x="15" y="240"/>
                  </a:moveTo>
                  <a:lnTo>
                    <a:pt x="13" y="238"/>
                  </a:lnTo>
                  <a:lnTo>
                    <a:pt x="17" y="240"/>
                  </a:lnTo>
                  <a:lnTo>
                    <a:pt x="17" y="236"/>
                  </a:lnTo>
                  <a:lnTo>
                    <a:pt x="17" y="228"/>
                  </a:lnTo>
                  <a:lnTo>
                    <a:pt x="17" y="217"/>
                  </a:lnTo>
                  <a:lnTo>
                    <a:pt x="23" y="186"/>
                  </a:lnTo>
                  <a:lnTo>
                    <a:pt x="32" y="150"/>
                  </a:lnTo>
                  <a:lnTo>
                    <a:pt x="42" y="109"/>
                  </a:lnTo>
                  <a:lnTo>
                    <a:pt x="52" y="69"/>
                  </a:lnTo>
                  <a:lnTo>
                    <a:pt x="59" y="33"/>
                  </a:lnTo>
                  <a:lnTo>
                    <a:pt x="65" y="2"/>
                  </a:lnTo>
                  <a:lnTo>
                    <a:pt x="50" y="0"/>
                  </a:lnTo>
                  <a:lnTo>
                    <a:pt x="44" y="31"/>
                  </a:lnTo>
                  <a:lnTo>
                    <a:pt x="36" y="67"/>
                  </a:lnTo>
                  <a:lnTo>
                    <a:pt x="27" y="106"/>
                  </a:lnTo>
                  <a:lnTo>
                    <a:pt x="17" y="146"/>
                  </a:lnTo>
                  <a:lnTo>
                    <a:pt x="8" y="184"/>
                  </a:lnTo>
                  <a:lnTo>
                    <a:pt x="2" y="215"/>
                  </a:lnTo>
                  <a:lnTo>
                    <a:pt x="0" y="226"/>
                  </a:lnTo>
                  <a:lnTo>
                    <a:pt x="0" y="238"/>
                  </a:lnTo>
                  <a:lnTo>
                    <a:pt x="2" y="247"/>
                  </a:lnTo>
                  <a:lnTo>
                    <a:pt x="9" y="253"/>
                  </a:lnTo>
                  <a:lnTo>
                    <a:pt x="15" y="24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31" name="Freeform 45">
              <a:extLst>
                <a:ext uri="{FF2B5EF4-FFF2-40B4-BE49-F238E27FC236}">
                  <a16:creationId xmlns:a16="http://schemas.microsoft.com/office/drawing/2014/main" id="{D11B37D6-021D-1F4A-5C2D-091833B9F5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4" y="3425"/>
              <a:ext cx="76" cy="123"/>
            </a:xfrm>
            <a:custGeom>
              <a:avLst/>
              <a:gdLst>
                <a:gd name="T0" fmla="*/ 71 w 76"/>
                <a:gd name="T1" fmla="*/ 0 h 123"/>
                <a:gd name="T2" fmla="*/ 75 w 76"/>
                <a:gd name="T3" fmla="*/ 3 h 123"/>
                <a:gd name="T4" fmla="*/ 66 w 76"/>
                <a:gd name="T5" fmla="*/ 0 h 123"/>
                <a:gd name="T6" fmla="*/ 60 w 76"/>
                <a:gd name="T7" fmla="*/ 3 h 123"/>
                <a:gd name="T8" fmla="*/ 54 w 76"/>
                <a:gd name="T9" fmla="*/ 7 h 123"/>
                <a:gd name="T10" fmla="*/ 48 w 76"/>
                <a:gd name="T11" fmla="*/ 15 h 123"/>
                <a:gd name="T12" fmla="*/ 39 w 76"/>
                <a:gd name="T13" fmla="*/ 32 h 123"/>
                <a:gd name="T14" fmla="*/ 29 w 76"/>
                <a:gd name="T15" fmla="*/ 53 h 123"/>
                <a:gd name="T16" fmla="*/ 18 w 76"/>
                <a:gd name="T17" fmla="*/ 76 h 123"/>
                <a:gd name="T18" fmla="*/ 10 w 76"/>
                <a:gd name="T19" fmla="*/ 93 h 123"/>
                <a:gd name="T20" fmla="*/ 2 w 76"/>
                <a:gd name="T21" fmla="*/ 107 h 123"/>
                <a:gd name="T22" fmla="*/ 6 w 76"/>
                <a:gd name="T23" fmla="*/ 109 h 123"/>
                <a:gd name="T24" fmla="*/ 0 w 76"/>
                <a:gd name="T25" fmla="*/ 122 h 123"/>
                <a:gd name="T26" fmla="*/ 14 w 76"/>
                <a:gd name="T27" fmla="*/ 116 h 123"/>
                <a:gd name="T28" fmla="*/ 23 w 76"/>
                <a:gd name="T29" fmla="*/ 101 h 123"/>
                <a:gd name="T30" fmla="*/ 33 w 76"/>
                <a:gd name="T31" fmla="*/ 82 h 123"/>
                <a:gd name="T32" fmla="*/ 43 w 76"/>
                <a:gd name="T33" fmla="*/ 61 h 123"/>
                <a:gd name="T34" fmla="*/ 54 w 76"/>
                <a:gd name="T35" fmla="*/ 40 h 123"/>
                <a:gd name="T36" fmla="*/ 64 w 76"/>
                <a:gd name="T37" fmla="*/ 23 h 123"/>
                <a:gd name="T38" fmla="*/ 68 w 76"/>
                <a:gd name="T39" fmla="*/ 19 h 123"/>
                <a:gd name="T40" fmla="*/ 69 w 76"/>
                <a:gd name="T41" fmla="*/ 15 h 123"/>
                <a:gd name="T42" fmla="*/ 68 w 76"/>
                <a:gd name="T43" fmla="*/ 15 h 123"/>
                <a:gd name="T44" fmla="*/ 64 w 76"/>
                <a:gd name="T45" fmla="*/ 13 h 123"/>
                <a:gd name="T46" fmla="*/ 68 w 76"/>
                <a:gd name="T47" fmla="*/ 17 h 123"/>
                <a:gd name="T48" fmla="*/ 71 w 76"/>
                <a:gd name="T49" fmla="*/ 0 h 12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76" h="123">
                  <a:moveTo>
                    <a:pt x="71" y="0"/>
                  </a:moveTo>
                  <a:lnTo>
                    <a:pt x="75" y="3"/>
                  </a:lnTo>
                  <a:lnTo>
                    <a:pt x="66" y="0"/>
                  </a:lnTo>
                  <a:lnTo>
                    <a:pt x="60" y="3"/>
                  </a:lnTo>
                  <a:lnTo>
                    <a:pt x="54" y="7"/>
                  </a:lnTo>
                  <a:lnTo>
                    <a:pt x="48" y="15"/>
                  </a:lnTo>
                  <a:lnTo>
                    <a:pt x="39" y="32"/>
                  </a:lnTo>
                  <a:lnTo>
                    <a:pt x="29" y="53"/>
                  </a:lnTo>
                  <a:lnTo>
                    <a:pt x="18" y="76"/>
                  </a:lnTo>
                  <a:lnTo>
                    <a:pt x="10" y="93"/>
                  </a:lnTo>
                  <a:lnTo>
                    <a:pt x="2" y="107"/>
                  </a:lnTo>
                  <a:lnTo>
                    <a:pt x="6" y="109"/>
                  </a:lnTo>
                  <a:lnTo>
                    <a:pt x="0" y="122"/>
                  </a:lnTo>
                  <a:lnTo>
                    <a:pt x="14" y="116"/>
                  </a:lnTo>
                  <a:lnTo>
                    <a:pt x="23" y="101"/>
                  </a:lnTo>
                  <a:lnTo>
                    <a:pt x="33" y="82"/>
                  </a:lnTo>
                  <a:lnTo>
                    <a:pt x="43" y="61"/>
                  </a:lnTo>
                  <a:lnTo>
                    <a:pt x="54" y="40"/>
                  </a:lnTo>
                  <a:lnTo>
                    <a:pt x="64" y="23"/>
                  </a:lnTo>
                  <a:lnTo>
                    <a:pt x="68" y="19"/>
                  </a:lnTo>
                  <a:lnTo>
                    <a:pt x="69" y="15"/>
                  </a:lnTo>
                  <a:lnTo>
                    <a:pt x="68" y="15"/>
                  </a:lnTo>
                  <a:lnTo>
                    <a:pt x="64" y="13"/>
                  </a:lnTo>
                  <a:lnTo>
                    <a:pt x="68" y="17"/>
                  </a:lnTo>
                  <a:lnTo>
                    <a:pt x="71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32" name="Freeform 46">
              <a:extLst>
                <a:ext uri="{FF2B5EF4-FFF2-40B4-BE49-F238E27FC236}">
                  <a16:creationId xmlns:a16="http://schemas.microsoft.com/office/drawing/2014/main" id="{E8C02B83-A2BB-8F19-69F8-11F828E53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2" y="3425"/>
              <a:ext cx="76" cy="319"/>
            </a:xfrm>
            <a:custGeom>
              <a:avLst/>
              <a:gdLst>
                <a:gd name="T0" fmla="*/ 14 w 76"/>
                <a:gd name="T1" fmla="*/ 304 h 319"/>
                <a:gd name="T2" fmla="*/ 17 w 76"/>
                <a:gd name="T3" fmla="*/ 306 h 319"/>
                <a:gd name="T4" fmla="*/ 17 w 76"/>
                <a:gd name="T5" fmla="*/ 299 h 319"/>
                <a:gd name="T6" fmla="*/ 19 w 76"/>
                <a:gd name="T7" fmla="*/ 283 h 319"/>
                <a:gd name="T8" fmla="*/ 23 w 76"/>
                <a:gd name="T9" fmla="*/ 264 h 319"/>
                <a:gd name="T10" fmla="*/ 35 w 76"/>
                <a:gd name="T11" fmla="*/ 216 h 319"/>
                <a:gd name="T12" fmla="*/ 48 w 76"/>
                <a:gd name="T13" fmla="*/ 162 h 319"/>
                <a:gd name="T14" fmla="*/ 61 w 76"/>
                <a:gd name="T15" fmla="*/ 107 h 319"/>
                <a:gd name="T16" fmla="*/ 71 w 76"/>
                <a:gd name="T17" fmla="*/ 59 h 319"/>
                <a:gd name="T18" fmla="*/ 73 w 76"/>
                <a:gd name="T19" fmla="*/ 38 h 319"/>
                <a:gd name="T20" fmla="*/ 75 w 76"/>
                <a:gd name="T21" fmla="*/ 23 h 319"/>
                <a:gd name="T22" fmla="*/ 73 w 76"/>
                <a:gd name="T23" fmla="*/ 11 h 319"/>
                <a:gd name="T24" fmla="*/ 63 w 76"/>
                <a:gd name="T25" fmla="*/ 0 h 319"/>
                <a:gd name="T26" fmla="*/ 60 w 76"/>
                <a:gd name="T27" fmla="*/ 17 h 319"/>
                <a:gd name="T28" fmla="*/ 58 w 76"/>
                <a:gd name="T29" fmla="*/ 15 h 319"/>
                <a:gd name="T30" fmla="*/ 58 w 76"/>
                <a:gd name="T31" fmla="*/ 23 h 319"/>
                <a:gd name="T32" fmla="*/ 58 w 76"/>
                <a:gd name="T33" fmla="*/ 38 h 319"/>
                <a:gd name="T34" fmla="*/ 54 w 76"/>
                <a:gd name="T35" fmla="*/ 55 h 319"/>
                <a:gd name="T36" fmla="*/ 44 w 76"/>
                <a:gd name="T37" fmla="*/ 103 h 319"/>
                <a:gd name="T38" fmla="*/ 33 w 76"/>
                <a:gd name="T39" fmla="*/ 159 h 319"/>
                <a:gd name="T40" fmla="*/ 19 w 76"/>
                <a:gd name="T41" fmla="*/ 212 h 319"/>
                <a:gd name="T42" fmla="*/ 8 w 76"/>
                <a:gd name="T43" fmla="*/ 260 h 319"/>
                <a:gd name="T44" fmla="*/ 4 w 76"/>
                <a:gd name="T45" fmla="*/ 279 h 319"/>
                <a:gd name="T46" fmla="*/ 2 w 76"/>
                <a:gd name="T47" fmla="*/ 295 h 319"/>
                <a:gd name="T48" fmla="*/ 0 w 76"/>
                <a:gd name="T49" fmla="*/ 306 h 319"/>
                <a:gd name="T50" fmla="*/ 8 w 76"/>
                <a:gd name="T51" fmla="*/ 318 h 319"/>
                <a:gd name="T52" fmla="*/ 14 w 76"/>
                <a:gd name="T53" fmla="*/ 304 h 319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76" h="319">
                  <a:moveTo>
                    <a:pt x="14" y="304"/>
                  </a:moveTo>
                  <a:lnTo>
                    <a:pt x="17" y="306"/>
                  </a:lnTo>
                  <a:lnTo>
                    <a:pt x="17" y="299"/>
                  </a:lnTo>
                  <a:lnTo>
                    <a:pt x="19" y="283"/>
                  </a:lnTo>
                  <a:lnTo>
                    <a:pt x="23" y="264"/>
                  </a:lnTo>
                  <a:lnTo>
                    <a:pt x="35" y="216"/>
                  </a:lnTo>
                  <a:lnTo>
                    <a:pt x="48" y="162"/>
                  </a:lnTo>
                  <a:lnTo>
                    <a:pt x="61" y="107"/>
                  </a:lnTo>
                  <a:lnTo>
                    <a:pt x="71" y="59"/>
                  </a:lnTo>
                  <a:lnTo>
                    <a:pt x="73" y="38"/>
                  </a:lnTo>
                  <a:lnTo>
                    <a:pt x="75" y="23"/>
                  </a:lnTo>
                  <a:lnTo>
                    <a:pt x="73" y="11"/>
                  </a:lnTo>
                  <a:lnTo>
                    <a:pt x="63" y="0"/>
                  </a:lnTo>
                  <a:lnTo>
                    <a:pt x="60" y="17"/>
                  </a:lnTo>
                  <a:lnTo>
                    <a:pt x="58" y="15"/>
                  </a:lnTo>
                  <a:lnTo>
                    <a:pt x="58" y="23"/>
                  </a:lnTo>
                  <a:lnTo>
                    <a:pt x="58" y="38"/>
                  </a:lnTo>
                  <a:lnTo>
                    <a:pt x="54" y="55"/>
                  </a:lnTo>
                  <a:lnTo>
                    <a:pt x="44" y="103"/>
                  </a:lnTo>
                  <a:lnTo>
                    <a:pt x="33" y="159"/>
                  </a:lnTo>
                  <a:lnTo>
                    <a:pt x="19" y="212"/>
                  </a:lnTo>
                  <a:lnTo>
                    <a:pt x="8" y="260"/>
                  </a:lnTo>
                  <a:lnTo>
                    <a:pt x="4" y="279"/>
                  </a:lnTo>
                  <a:lnTo>
                    <a:pt x="2" y="295"/>
                  </a:lnTo>
                  <a:lnTo>
                    <a:pt x="0" y="306"/>
                  </a:lnTo>
                  <a:lnTo>
                    <a:pt x="8" y="318"/>
                  </a:lnTo>
                  <a:lnTo>
                    <a:pt x="14" y="304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33" name="Freeform 47">
              <a:extLst>
                <a:ext uri="{FF2B5EF4-FFF2-40B4-BE49-F238E27FC236}">
                  <a16:creationId xmlns:a16="http://schemas.microsoft.com/office/drawing/2014/main" id="{B5AD215F-1E52-609A-188F-DDAC687D9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4" y="3480"/>
              <a:ext cx="129" cy="260"/>
            </a:xfrm>
            <a:custGeom>
              <a:avLst/>
              <a:gdLst>
                <a:gd name="T0" fmla="*/ 121 w 129"/>
                <a:gd name="T1" fmla="*/ 4 h 260"/>
                <a:gd name="T2" fmla="*/ 113 w 129"/>
                <a:gd name="T3" fmla="*/ 0 h 260"/>
                <a:gd name="T4" fmla="*/ 0 w 129"/>
                <a:gd name="T5" fmla="*/ 253 h 260"/>
                <a:gd name="T6" fmla="*/ 15 w 129"/>
                <a:gd name="T7" fmla="*/ 259 h 260"/>
                <a:gd name="T8" fmla="*/ 128 w 129"/>
                <a:gd name="T9" fmla="*/ 6 h 260"/>
                <a:gd name="T10" fmla="*/ 121 w 129"/>
                <a:gd name="T11" fmla="*/ 4 h 2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9" h="260">
                  <a:moveTo>
                    <a:pt x="121" y="4"/>
                  </a:moveTo>
                  <a:lnTo>
                    <a:pt x="113" y="0"/>
                  </a:lnTo>
                  <a:lnTo>
                    <a:pt x="0" y="253"/>
                  </a:lnTo>
                  <a:lnTo>
                    <a:pt x="15" y="259"/>
                  </a:lnTo>
                  <a:lnTo>
                    <a:pt x="128" y="6"/>
                  </a:lnTo>
                  <a:lnTo>
                    <a:pt x="121" y="4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34" name="Freeform 48">
              <a:extLst>
                <a:ext uri="{FF2B5EF4-FFF2-40B4-BE49-F238E27FC236}">
                  <a16:creationId xmlns:a16="http://schemas.microsoft.com/office/drawing/2014/main" id="{C17CD065-78F6-C4CF-731A-F10B8E84E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9" y="3457"/>
              <a:ext cx="70" cy="156"/>
            </a:xfrm>
            <a:custGeom>
              <a:avLst/>
              <a:gdLst>
                <a:gd name="T0" fmla="*/ 65 w 70"/>
                <a:gd name="T1" fmla="*/ 155 h 156"/>
                <a:gd name="T2" fmla="*/ 69 w 70"/>
                <a:gd name="T3" fmla="*/ 119 h 156"/>
                <a:gd name="T4" fmla="*/ 69 w 70"/>
                <a:gd name="T5" fmla="*/ 90 h 156"/>
                <a:gd name="T6" fmla="*/ 69 w 70"/>
                <a:gd name="T7" fmla="*/ 65 h 156"/>
                <a:gd name="T8" fmla="*/ 69 w 70"/>
                <a:gd name="T9" fmla="*/ 46 h 156"/>
                <a:gd name="T10" fmla="*/ 65 w 70"/>
                <a:gd name="T11" fmla="*/ 29 h 156"/>
                <a:gd name="T12" fmla="*/ 61 w 70"/>
                <a:gd name="T13" fmla="*/ 17 h 156"/>
                <a:gd name="T14" fmla="*/ 56 w 70"/>
                <a:gd name="T15" fmla="*/ 8 h 156"/>
                <a:gd name="T16" fmla="*/ 48 w 70"/>
                <a:gd name="T17" fmla="*/ 2 h 156"/>
                <a:gd name="T18" fmla="*/ 40 w 70"/>
                <a:gd name="T19" fmla="*/ 0 h 156"/>
                <a:gd name="T20" fmla="*/ 31 w 70"/>
                <a:gd name="T21" fmla="*/ 0 h 156"/>
                <a:gd name="T22" fmla="*/ 25 w 70"/>
                <a:gd name="T23" fmla="*/ 2 h 156"/>
                <a:gd name="T24" fmla="*/ 17 w 70"/>
                <a:gd name="T25" fmla="*/ 6 h 156"/>
                <a:gd name="T26" fmla="*/ 8 w 70"/>
                <a:gd name="T27" fmla="*/ 14 h 156"/>
                <a:gd name="T28" fmla="*/ 0 w 70"/>
                <a:gd name="T29" fmla="*/ 19 h 156"/>
                <a:gd name="T30" fmla="*/ 11 w 70"/>
                <a:gd name="T31" fmla="*/ 33 h 156"/>
                <a:gd name="T32" fmla="*/ 17 w 70"/>
                <a:gd name="T33" fmla="*/ 27 h 156"/>
                <a:gd name="T34" fmla="*/ 27 w 70"/>
                <a:gd name="T35" fmla="*/ 19 h 156"/>
                <a:gd name="T36" fmla="*/ 31 w 70"/>
                <a:gd name="T37" fmla="*/ 17 h 156"/>
                <a:gd name="T38" fmla="*/ 34 w 70"/>
                <a:gd name="T39" fmla="*/ 15 h 156"/>
                <a:gd name="T40" fmla="*/ 38 w 70"/>
                <a:gd name="T41" fmla="*/ 15 h 156"/>
                <a:gd name="T42" fmla="*/ 40 w 70"/>
                <a:gd name="T43" fmla="*/ 17 h 156"/>
                <a:gd name="T44" fmla="*/ 44 w 70"/>
                <a:gd name="T45" fmla="*/ 19 h 156"/>
                <a:gd name="T46" fmla="*/ 46 w 70"/>
                <a:gd name="T47" fmla="*/ 25 h 156"/>
                <a:gd name="T48" fmla="*/ 50 w 70"/>
                <a:gd name="T49" fmla="*/ 33 h 156"/>
                <a:gd name="T50" fmla="*/ 52 w 70"/>
                <a:gd name="T51" fmla="*/ 48 h 156"/>
                <a:gd name="T52" fmla="*/ 54 w 70"/>
                <a:gd name="T53" fmla="*/ 65 h 156"/>
                <a:gd name="T54" fmla="*/ 54 w 70"/>
                <a:gd name="T55" fmla="*/ 88 h 156"/>
                <a:gd name="T56" fmla="*/ 52 w 70"/>
                <a:gd name="T57" fmla="*/ 119 h 156"/>
                <a:gd name="T58" fmla="*/ 48 w 70"/>
                <a:gd name="T59" fmla="*/ 153 h 156"/>
                <a:gd name="T60" fmla="*/ 65 w 70"/>
                <a:gd name="T61" fmla="*/ 155 h 15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70" h="156">
                  <a:moveTo>
                    <a:pt x="65" y="155"/>
                  </a:moveTo>
                  <a:lnTo>
                    <a:pt x="69" y="119"/>
                  </a:lnTo>
                  <a:lnTo>
                    <a:pt x="69" y="90"/>
                  </a:lnTo>
                  <a:lnTo>
                    <a:pt x="69" y="65"/>
                  </a:lnTo>
                  <a:lnTo>
                    <a:pt x="69" y="46"/>
                  </a:lnTo>
                  <a:lnTo>
                    <a:pt x="65" y="29"/>
                  </a:lnTo>
                  <a:lnTo>
                    <a:pt x="61" y="17"/>
                  </a:lnTo>
                  <a:lnTo>
                    <a:pt x="56" y="8"/>
                  </a:lnTo>
                  <a:lnTo>
                    <a:pt x="48" y="2"/>
                  </a:lnTo>
                  <a:lnTo>
                    <a:pt x="40" y="0"/>
                  </a:lnTo>
                  <a:lnTo>
                    <a:pt x="31" y="0"/>
                  </a:lnTo>
                  <a:lnTo>
                    <a:pt x="25" y="2"/>
                  </a:lnTo>
                  <a:lnTo>
                    <a:pt x="17" y="6"/>
                  </a:lnTo>
                  <a:lnTo>
                    <a:pt x="8" y="14"/>
                  </a:lnTo>
                  <a:lnTo>
                    <a:pt x="0" y="19"/>
                  </a:lnTo>
                  <a:lnTo>
                    <a:pt x="11" y="33"/>
                  </a:lnTo>
                  <a:lnTo>
                    <a:pt x="17" y="27"/>
                  </a:lnTo>
                  <a:lnTo>
                    <a:pt x="27" y="19"/>
                  </a:lnTo>
                  <a:lnTo>
                    <a:pt x="31" y="17"/>
                  </a:lnTo>
                  <a:lnTo>
                    <a:pt x="34" y="15"/>
                  </a:lnTo>
                  <a:lnTo>
                    <a:pt x="38" y="15"/>
                  </a:lnTo>
                  <a:lnTo>
                    <a:pt x="40" y="17"/>
                  </a:lnTo>
                  <a:lnTo>
                    <a:pt x="44" y="19"/>
                  </a:lnTo>
                  <a:lnTo>
                    <a:pt x="46" y="25"/>
                  </a:lnTo>
                  <a:lnTo>
                    <a:pt x="50" y="33"/>
                  </a:lnTo>
                  <a:lnTo>
                    <a:pt x="52" y="48"/>
                  </a:lnTo>
                  <a:lnTo>
                    <a:pt x="54" y="65"/>
                  </a:lnTo>
                  <a:lnTo>
                    <a:pt x="54" y="88"/>
                  </a:lnTo>
                  <a:lnTo>
                    <a:pt x="52" y="119"/>
                  </a:lnTo>
                  <a:lnTo>
                    <a:pt x="48" y="153"/>
                  </a:lnTo>
                  <a:lnTo>
                    <a:pt x="65" y="155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35" name="Freeform 49">
              <a:extLst>
                <a:ext uri="{FF2B5EF4-FFF2-40B4-BE49-F238E27FC236}">
                  <a16:creationId xmlns:a16="http://schemas.microsoft.com/office/drawing/2014/main" id="{E1389CD2-52E8-692D-6575-1FF6E18906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0" y="3610"/>
              <a:ext cx="55" cy="369"/>
            </a:xfrm>
            <a:custGeom>
              <a:avLst/>
              <a:gdLst>
                <a:gd name="T0" fmla="*/ 12 w 55"/>
                <a:gd name="T1" fmla="*/ 353 h 369"/>
                <a:gd name="T2" fmla="*/ 16 w 55"/>
                <a:gd name="T3" fmla="*/ 355 h 369"/>
                <a:gd name="T4" fmla="*/ 18 w 55"/>
                <a:gd name="T5" fmla="*/ 345 h 369"/>
                <a:gd name="T6" fmla="*/ 20 w 55"/>
                <a:gd name="T7" fmla="*/ 311 h 369"/>
                <a:gd name="T8" fmla="*/ 23 w 55"/>
                <a:gd name="T9" fmla="*/ 263 h 369"/>
                <a:gd name="T10" fmla="*/ 29 w 55"/>
                <a:gd name="T11" fmla="*/ 207 h 369"/>
                <a:gd name="T12" fmla="*/ 37 w 55"/>
                <a:gd name="T13" fmla="*/ 146 h 369"/>
                <a:gd name="T14" fmla="*/ 43 w 55"/>
                <a:gd name="T15" fmla="*/ 89 h 369"/>
                <a:gd name="T16" fmla="*/ 48 w 55"/>
                <a:gd name="T17" fmla="*/ 39 h 369"/>
                <a:gd name="T18" fmla="*/ 54 w 55"/>
                <a:gd name="T19" fmla="*/ 2 h 369"/>
                <a:gd name="T20" fmla="*/ 37 w 55"/>
                <a:gd name="T21" fmla="*/ 0 h 369"/>
                <a:gd name="T22" fmla="*/ 33 w 55"/>
                <a:gd name="T23" fmla="*/ 37 h 369"/>
                <a:gd name="T24" fmla="*/ 27 w 55"/>
                <a:gd name="T25" fmla="*/ 87 h 369"/>
                <a:gd name="T26" fmla="*/ 20 w 55"/>
                <a:gd name="T27" fmla="*/ 146 h 369"/>
                <a:gd name="T28" fmla="*/ 14 w 55"/>
                <a:gd name="T29" fmla="*/ 206 h 369"/>
                <a:gd name="T30" fmla="*/ 8 w 55"/>
                <a:gd name="T31" fmla="*/ 261 h 369"/>
                <a:gd name="T32" fmla="*/ 2 w 55"/>
                <a:gd name="T33" fmla="*/ 311 h 369"/>
                <a:gd name="T34" fmla="*/ 0 w 55"/>
                <a:gd name="T35" fmla="*/ 345 h 369"/>
                <a:gd name="T36" fmla="*/ 4 w 55"/>
                <a:gd name="T37" fmla="*/ 367 h 369"/>
                <a:gd name="T38" fmla="*/ 10 w 55"/>
                <a:gd name="T39" fmla="*/ 368 h 369"/>
                <a:gd name="T40" fmla="*/ 12 w 55"/>
                <a:gd name="T41" fmla="*/ 353 h 36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5" h="369">
                  <a:moveTo>
                    <a:pt x="12" y="353"/>
                  </a:moveTo>
                  <a:lnTo>
                    <a:pt x="16" y="355"/>
                  </a:lnTo>
                  <a:lnTo>
                    <a:pt x="18" y="345"/>
                  </a:lnTo>
                  <a:lnTo>
                    <a:pt x="20" y="311"/>
                  </a:lnTo>
                  <a:lnTo>
                    <a:pt x="23" y="263"/>
                  </a:lnTo>
                  <a:lnTo>
                    <a:pt x="29" y="207"/>
                  </a:lnTo>
                  <a:lnTo>
                    <a:pt x="37" y="146"/>
                  </a:lnTo>
                  <a:lnTo>
                    <a:pt x="43" y="89"/>
                  </a:lnTo>
                  <a:lnTo>
                    <a:pt x="48" y="39"/>
                  </a:lnTo>
                  <a:lnTo>
                    <a:pt x="54" y="2"/>
                  </a:lnTo>
                  <a:lnTo>
                    <a:pt x="37" y="0"/>
                  </a:lnTo>
                  <a:lnTo>
                    <a:pt x="33" y="37"/>
                  </a:lnTo>
                  <a:lnTo>
                    <a:pt x="27" y="87"/>
                  </a:lnTo>
                  <a:lnTo>
                    <a:pt x="20" y="146"/>
                  </a:lnTo>
                  <a:lnTo>
                    <a:pt x="14" y="206"/>
                  </a:lnTo>
                  <a:lnTo>
                    <a:pt x="8" y="261"/>
                  </a:lnTo>
                  <a:lnTo>
                    <a:pt x="2" y="311"/>
                  </a:lnTo>
                  <a:lnTo>
                    <a:pt x="0" y="345"/>
                  </a:lnTo>
                  <a:lnTo>
                    <a:pt x="4" y="367"/>
                  </a:lnTo>
                  <a:lnTo>
                    <a:pt x="10" y="368"/>
                  </a:lnTo>
                  <a:lnTo>
                    <a:pt x="12" y="353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36" name="Freeform 50">
              <a:extLst>
                <a:ext uri="{FF2B5EF4-FFF2-40B4-BE49-F238E27FC236}">
                  <a16:creationId xmlns:a16="http://schemas.microsoft.com/office/drawing/2014/main" id="{23AA0437-5F0C-A7BD-2129-FF2B116D1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0" y="3840"/>
              <a:ext cx="59" cy="139"/>
            </a:xfrm>
            <a:custGeom>
              <a:avLst/>
              <a:gdLst>
                <a:gd name="T0" fmla="*/ 54 w 59"/>
                <a:gd name="T1" fmla="*/ 0 h 139"/>
                <a:gd name="T2" fmla="*/ 42 w 59"/>
                <a:gd name="T3" fmla="*/ 10 h 139"/>
                <a:gd name="T4" fmla="*/ 36 w 59"/>
                <a:gd name="T5" fmla="*/ 27 h 139"/>
                <a:gd name="T6" fmla="*/ 29 w 59"/>
                <a:gd name="T7" fmla="*/ 46 h 139"/>
                <a:gd name="T8" fmla="*/ 21 w 59"/>
                <a:gd name="T9" fmla="*/ 69 h 139"/>
                <a:gd name="T10" fmla="*/ 13 w 59"/>
                <a:gd name="T11" fmla="*/ 91 h 139"/>
                <a:gd name="T12" fmla="*/ 6 w 59"/>
                <a:gd name="T13" fmla="*/ 110 h 139"/>
                <a:gd name="T14" fmla="*/ 4 w 59"/>
                <a:gd name="T15" fmla="*/ 117 h 139"/>
                <a:gd name="T16" fmla="*/ 0 w 59"/>
                <a:gd name="T17" fmla="*/ 121 h 139"/>
                <a:gd name="T18" fmla="*/ 0 w 59"/>
                <a:gd name="T19" fmla="*/ 123 h 139"/>
                <a:gd name="T20" fmla="*/ 2 w 59"/>
                <a:gd name="T21" fmla="*/ 123 h 139"/>
                <a:gd name="T22" fmla="*/ 0 w 59"/>
                <a:gd name="T23" fmla="*/ 138 h 139"/>
                <a:gd name="T24" fmla="*/ 8 w 59"/>
                <a:gd name="T25" fmla="*/ 137 h 139"/>
                <a:gd name="T26" fmla="*/ 13 w 59"/>
                <a:gd name="T27" fmla="*/ 131 h 139"/>
                <a:gd name="T28" fmla="*/ 17 w 59"/>
                <a:gd name="T29" fmla="*/ 125 h 139"/>
                <a:gd name="T30" fmla="*/ 21 w 59"/>
                <a:gd name="T31" fmla="*/ 115 h 139"/>
                <a:gd name="T32" fmla="*/ 29 w 59"/>
                <a:gd name="T33" fmla="*/ 96 h 139"/>
                <a:gd name="T34" fmla="*/ 36 w 59"/>
                <a:gd name="T35" fmla="*/ 75 h 139"/>
                <a:gd name="T36" fmla="*/ 44 w 59"/>
                <a:gd name="T37" fmla="*/ 52 h 139"/>
                <a:gd name="T38" fmla="*/ 50 w 59"/>
                <a:gd name="T39" fmla="*/ 33 h 139"/>
                <a:gd name="T40" fmla="*/ 58 w 59"/>
                <a:gd name="T41" fmla="*/ 20 h 139"/>
                <a:gd name="T42" fmla="*/ 58 w 59"/>
                <a:gd name="T43" fmla="*/ 16 h 139"/>
                <a:gd name="T44" fmla="*/ 54 w 59"/>
                <a:gd name="T45" fmla="*/ 0 h 13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59" h="139">
                  <a:moveTo>
                    <a:pt x="54" y="0"/>
                  </a:moveTo>
                  <a:lnTo>
                    <a:pt x="42" y="10"/>
                  </a:lnTo>
                  <a:lnTo>
                    <a:pt x="36" y="27"/>
                  </a:lnTo>
                  <a:lnTo>
                    <a:pt x="29" y="46"/>
                  </a:lnTo>
                  <a:lnTo>
                    <a:pt x="21" y="69"/>
                  </a:lnTo>
                  <a:lnTo>
                    <a:pt x="13" y="91"/>
                  </a:lnTo>
                  <a:lnTo>
                    <a:pt x="6" y="110"/>
                  </a:lnTo>
                  <a:lnTo>
                    <a:pt x="4" y="117"/>
                  </a:lnTo>
                  <a:lnTo>
                    <a:pt x="0" y="121"/>
                  </a:lnTo>
                  <a:lnTo>
                    <a:pt x="0" y="123"/>
                  </a:lnTo>
                  <a:lnTo>
                    <a:pt x="2" y="123"/>
                  </a:lnTo>
                  <a:lnTo>
                    <a:pt x="0" y="138"/>
                  </a:lnTo>
                  <a:lnTo>
                    <a:pt x="8" y="137"/>
                  </a:lnTo>
                  <a:lnTo>
                    <a:pt x="13" y="131"/>
                  </a:lnTo>
                  <a:lnTo>
                    <a:pt x="17" y="125"/>
                  </a:lnTo>
                  <a:lnTo>
                    <a:pt x="21" y="115"/>
                  </a:lnTo>
                  <a:lnTo>
                    <a:pt x="29" y="96"/>
                  </a:lnTo>
                  <a:lnTo>
                    <a:pt x="36" y="75"/>
                  </a:lnTo>
                  <a:lnTo>
                    <a:pt x="44" y="52"/>
                  </a:lnTo>
                  <a:lnTo>
                    <a:pt x="50" y="33"/>
                  </a:lnTo>
                  <a:lnTo>
                    <a:pt x="58" y="20"/>
                  </a:lnTo>
                  <a:lnTo>
                    <a:pt x="58" y="16"/>
                  </a:lnTo>
                  <a:lnTo>
                    <a:pt x="54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37" name="Freeform 51">
              <a:extLst>
                <a:ext uri="{FF2B5EF4-FFF2-40B4-BE49-F238E27FC236}">
                  <a16:creationId xmlns:a16="http://schemas.microsoft.com/office/drawing/2014/main" id="{3293E254-69D9-5496-B297-6A8B5B60FE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4" y="3840"/>
              <a:ext cx="24" cy="67"/>
            </a:xfrm>
            <a:custGeom>
              <a:avLst/>
              <a:gdLst>
                <a:gd name="T0" fmla="*/ 19 w 24"/>
                <a:gd name="T1" fmla="*/ 66 h 67"/>
                <a:gd name="T2" fmla="*/ 21 w 24"/>
                <a:gd name="T3" fmla="*/ 54 h 67"/>
                <a:gd name="T4" fmla="*/ 23 w 24"/>
                <a:gd name="T5" fmla="*/ 45 h 67"/>
                <a:gd name="T6" fmla="*/ 23 w 24"/>
                <a:gd name="T7" fmla="*/ 33 h 67"/>
                <a:gd name="T8" fmla="*/ 23 w 24"/>
                <a:gd name="T9" fmla="*/ 23 h 67"/>
                <a:gd name="T10" fmla="*/ 23 w 24"/>
                <a:gd name="T11" fmla="*/ 16 h 67"/>
                <a:gd name="T12" fmla="*/ 19 w 24"/>
                <a:gd name="T13" fmla="*/ 6 h 67"/>
                <a:gd name="T14" fmla="*/ 9 w 24"/>
                <a:gd name="T15" fmla="*/ 0 h 67"/>
                <a:gd name="T16" fmla="*/ 0 w 24"/>
                <a:gd name="T17" fmla="*/ 0 h 67"/>
                <a:gd name="T18" fmla="*/ 4 w 24"/>
                <a:gd name="T19" fmla="*/ 16 h 67"/>
                <a:gd name="T20" fmla="*/ 5 w 24"/>
                <a:gd name="T21" fmla="*/ 16 h 67"/>
                <a:gd name="T22" fmla="*/ 7 w 24"/>
                <a:gd name="T23" fmla="*/ 20 h 67"/>
                <a:gd name="T24" fmla="*/ 7 w 24"/>
                <a:gd name="T25" fmla="*/ 25 h 67"/>
                <a:gd name="T26" fmla="*/ 7 w 24"/>
                <a:gd name="T27" fmla="*/ 33 h 67"/>
                <a:gd name="T28" fmla="*/ 7 w 24"/>
                <a:gd name="T29" fmla="*/ 43 h 67"/>
                <a:gd name="T30" fmla="*/ 5 w 24"/>
                <a:gd name="T31" fmla="*/ 52 h 67"/>
                <a:gd name="T32" fmla="*/ 4 w 24"/>
                <a:gd name="T33" fmla="*/ 62 h 67"/>
                <a:gd name="T34" fmla="*/ 19 w 24"/>
                <a:gd name="T35" fmla="*/ 66 h 6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4" h="67">
                  <a:moveTo>
                    <a:pt x="19" y="66"/>
                  </a:moveTo>
                  <a:lnTo>
                    <a:pt x="21" y="54"/>
                  </a:lnTo>
                  <a:lnTo>
                    <a:pt x="23" y="45"/>
                  </a:lnTo>
                  <a:lnTo>
                    <a:pt x="23" y="33"/>
                  </a:lnTo>
                  <a:lnTo>
                    <a:pt x="23" y="23"/>
                  </a:lnTo>
                  <a:lnTo>
                    <a:pt x="23" y="16"/>
                  </a:lnTo>
                  <a:lnTo>
                    <a:pt x="19" y="6"/>
                  </a:lnTo>
                  <a:lnTo>
                    <a:pt x="9" y="0"/>
                  </a:lnTo>
                  <a:lnTo>
                    <a:pt x="0" y="0"/>
                  </a:lnTo>
                  <a:lnTo>
                    <a:pt x="4" y="16"/>
                  </a:lnTo>
                  <a:lnTo>
                    <a:pt x="5" y="16"/>
                  </a:lnTo>
                  <a:lnTo>
                    <a:pt x="7" y="20"/>
                  </a:lnTo>
                  <a:lnTo>
                    <a:pt x="7" y="25"/>
                  </a:lnTo>
                  <a:lnTo>
                    <a:pt x="7" y="33"/>
                  </a:lnTo>
                  <a:lnTo>
                    <a:pt x="7" y="43"/>
                  </a:lnTo>
                  <a:lnTo>
                    <a:pt x="5" y="52"/>
                  </a:lnTo>
                  <a:lnTo>
                    <a:pt x="4" y="62"/>
                  </a:lnTo>
                  <a:lnTo>
                    <a:pt x="19" y="66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38" name="Freeform 52">
              <a:extLst>
                <a:ext uri="{FF2B5EF4-FFF2-40B4-BE49-F238E27FC236}">
                  <a16:creationId xmlns:a16="http://schemas.microsoft.com/office/drawing/2014/main" id="{8BD244C0-3EA8-8402-23CD-7B8FEE6EB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8" y="3902"/>
              <a:ext cx="36" cy="145"/>
            </a:xfrm>
            <a:custGeom>
              <a:avLst/>
              <a:gdLst>
                <a:gd name="T0" fmla="*/ 18 w 36"/>
                <a:gd name="T1" fmla="*/ 130 h 145"/>
                <a:gd name="T2" fmla="*/ 10 w 36"/>
                <a:gd name="T3" fmla="*/ 130 h 145"/>
                <a:gd name="T4" fmla="*/ 14 w 36"/>
                <a:gd name="T5" fmla="*/ 130 h 145"/>
                <a:gd name="T6" fmla="*/ 16 w 36"/>
                <a:gd name="T7" fmla="*/ 132 h 145"/>
                <a:gd name="T8" fmla="*/ 16 w 36"/>
                <a:gd name="T9" fmla="*/ 130 h 145"/>
                <a:gd name="T10" fmla="*/ 16 w 36"/>
                <a:gd name="T11" fmla="*/ 124 h 145"/>
                <a:gd name="T12" fmla="*/ 18 w 36"/>
                <a:gd name="T13" fmla="*/ 109 h 145"/>
                <a:gd name="T14" fmla="*/ 20 w 36"/>
                <a:gd name="T15" fmla="*/ 90 h 145"/>
                <a:gd name="T16" fmla="*/ 23 w 36"/>
                <a:gd name="T17" fmla="*/ 67 h 145"/>
                <a:gd name="T18" fmla="*/ 29 w 36"/>
                <a:gd name="T19" fmla="*/ 44 h 145"/>
                <a:gd name="T20" fmla="*/ 33 w 36"/>
                <a:gd name="T21" fmla="*/ 21 h 145"/>
                <a:gd name="T22" fmla="*/ 35 w 36"/>
                <a:gd name="T23" fmla="*/ 4 h 145"/>
                <a:gd name="T24" fmla="*/ 20 w 36"/>
                <a:gd name="T25" fmla="*/ 0 h 145"/>
                <a:gd name="T26" fmla="*/ 18 w 36"/>
                <a:gd name="T27" fmla="*/ 19 h 145"/>
                <a:gd name="T28" fmla="*/ 12 w 36"/>
                <a:gd name="T29" fmla="*/ 40 h 145"/>
                <a:gd name="T30" fmla="*/ 8 w 36"/>
                <a:gd name="T31" fmla="*/ 65 h 145"/>
                <a:gd name="T32" fmla="*/ 4 w 36"/>
                <a:gd name="T33" fmla="*/ 86 h 145"/>
                <a:gd name="T34" fmla="*/ 0 w 36"/>
                <a:gd name="T35" fmla="*/ 107 h 145"/>
                <a:gd name="T36" fmla="*/ 0 w 36"/>
                <a:gd name="T37" fmla="*/ 124 h 145"/>
                <a:gd name="T38" fmla="*/ 0 w 36"/>
                <a:gd name="T39" fmla="*/ 132 h 145"/>
                <a:gd name="T40" fmla="*/ 0 w 36"/>
                <a:gd name="T41" fmla="*/ 138 h 145"/>
                <a:gd name="T42" fmla="*/ 6 w 36"/>
                <a:gd name="T43" fmla="*/ 144 h 145"/>
                <a:gd name="T44" fmla="*/ 16 w 36"/>
                <a:gd name="T45" fmla="*/ 144 h 145"/>
                <a:gd name="T46" fmla="*/ 8 w 36"/>
                <a:gd name="T47" fmla="*/ 144 h 145"/>
                <a:gd name="T48" fmla="*/ 18 w 36"/>
                <a:gd name="T49" fmla="*/ 130 h 14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6" h="145">
                  <a:moveTo>
                    <a:pt x="18" y="130"/>
                  </a:moveTo>
                  <a:lnTo>
                    <a:pt x="10" y="130"/>
                  </a:lnTo>
                  <a:lnTo>
                    <a:pt x="14" y="130"/>
                  </a:lnTo>
                  <a:lnTo>
                    <a:pt x="16" y="132"/>
                  </a:lnTo>
                  <a:lnTo>
                    <a:pt x="16" y="130"/>
                  </a:lnTo>
                  <a:lnTo>
                    <a:pt x="16" y="124"/>
                  </a:lnTo>
                  <a:lnTo>
                    <a:pt x="18" y="109"/>
                  </a:lnTo>
                  <a:lnTo>
                    <a:pt x="20" y="90"/>
                  </a:lnTo>
                  <a:lnTo>
                    <a:pt x="23" y="67"/>
                  </a:lnTo>
                  <a:lnTo>
                    <a:pt x="29" y="44"/>
                  </a:lnTo>
                  <a:lnTo>
                    <a:pt x="33" y="21"/>
                  </a:lnTo>
                  <a:lnTo>
                    <a:pt x="35" y="4"/>
                  </a:lnTo>
                  <a:lnTo>
                    <a:pt x="20" y="0"/>
                  </a:lnTo>
                  <a:lnTo>
                    <a:pt x="18" y="19"/>
                  </a:lnTo>
                  <a:lnTo>
                    <a:pt x="12" y="40"/>
                  </a:lnTo>
                  <a:lnTo>
                    <a:pt x="8" y="65"/>
                  </a:lnTo>
                  <a:lnTo>
                    <a:pt x="4" y="86"/>
                  </a:lnTo>
                  <a:lnTo>
                    <a:pt x="0" y="107"/>
                  </a:lnTo>
                  <a:lnTo>
                    <a:pt x="0" y="124"/>
                  </a:lnTo>
                  <a:lnTo>
                    <a:pt x="0" y="132"/>
                  </a:lnTo>
                  <a:lnTo>
                    <a:pt x="0" y="138"/>
                  </a:lnTo>
                  <a:lnTo>
                    <a:pt x="6" y="144"/>
                  </a:lnTo>
                  <a:lnTo>
                    <a:pt x="16" y="144"/>
                  </a:lnTo>
                  <a:lnTo>
                    <a:pt x="8" y="144"/>
                  </a:lnTo>
                  <a:lnTo>
                    <a:pt x="18" y="13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39" name="Freeform 53">
              <a:extLst>
                <a:ext uri="{FF2B5EF4-FFF2-40B4-BE49-F238E27FC236}">
                  <a16:creationId xmlns:a16="http://schemas.microsoft.com/office/drawing/2014/main" id="{AFBEAEFC-9FD4-6CE9-37C4-D3B53457B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6" y="3906"/>
              <a:ext cx="72" cy="141"/>
            </a:xfrm>
            <a:custGeom>
              <a:avLst/>
              <a:gdLst>
                <a:gd name="T0" fmla="*/ 71 w 72"/>
                <a:gd name="T1" fmla="*/ 0 h 141"/>
                <a:gd name="T2" fmla="*/ 69 w 72"/>
                <a:gd name="T3" fmla="*/ 0 h 141"/>
                <a:gd name="T4" fmla="*/ 58 w 72"/>
                <a:gd name="T5" fmla="*/ 2 h 141"/>
                <a:gd name="T6" fmla="*/ 50 w 72"/>
                <a:gd name="T7" fmla="*/ 7 h 141"/>
                <a:gd name="T8" fmla="*/ 42 w 72"/>
                <a:gd name="T9" fmla="*/ 15 h 141"/>
                <a:gd name="T10" fmla="*/ 36 w 72"/>
                <a:gd name="T11" fmla="*/ 25 h 141"/>
                <a:gd name="T12" fmla="*/ 25 w 72"/>
                <a:gd name="T13" fmla="*/ 48 h 141"/>
                <a:gd name="T14" fmla="*/ 17 w 72"/>
                <a:gd name="T15" fmla="*/ 71 h 141"/>
                <a:gd name="T16" fmla="*/ 12 w 72"/>
                <a:gd name="T17" fmla="*/ 94 h 141"/>
                <a:gd name="T18" fmla="*/ 6 w 72"/>
                <a:gd name="T19" fmla="*/ 115 h 141"/>
                <a:gd name="T20" fmla="*/ 2 w 72"/>
                <a:gd name="T21" fmla="*/ 126 h 141"/>
                <a:gd name="T22" fmla="*/ 10 w 72"/>
                <a:gd name="T23" fmla="*/ 126 h 141"/>
                <a:gd name="T24" fmla="*/ 0 w 72"/>
                <a:gd name="T25" fmla="*/ 140 h 141"/>
                <a:gd name="T26" fmla="*/ 15 w 72"/>
                <a:gd name="T27" fmla="*/ 134 h 141"/>
                <a:gd name="T28" fmla="*/ 21 w 72"/>
                <a:gd name="T29" fmla="*/ 118 h 141"/>
                <a:gd name="T30" fmla="*/ 27 w 72"/>
                <a:gd name="T31" fmla="*/ 99 h 141"/>
                <a:gd name="T32" fmla="*/ 33 w 72"/>
                <a:gd name="T33" fmla="*/ 76 h 141"/>
                <a:gd name="T34" fmla="*/ 40 w 72"/>
                <a:gd name="T35" fmla="*/ 53 h 141"/>
                <a:gd name="T36" fmla="*/ 50 w 72"/>
                <a:gd name="T37" fmla="*/ 32 h 141"/>
                <a:gd name="T38" fmla="*/ 56 w 72"/>
                <a:gd name="T39" fmla="*/ 25 h 141"/>
                <a:gd name="T40" fmla="*/ 59 w 72"/>
                <a:gd name="T41" fmla="*/ 21 h 141"/>
                <a:gd name="T42" fmla="*/ 65 w 72"/>
                <a:gd name="T43" fmla="*/ 17 h 141"/>
                <a:gd name="T44" fmla="*/ 69 w 72"/>
                <a:gd name="T45" fmla="*/ 15 h 141"/>
                <a:gd name="T46" fmla="*/ 65 w 72"/>
                <a:gd name="T47" fmla="*/ 15 h 141"/>
                <a:gd name="T48" fmla="*/ 71 w 72"/>
                <a:gd name="T49" fmla="*/ 0 h 14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72" h="141">
                  <a:moveTo>
                    <a:pt x="71" y="0"/>
                  </a:moveTo>
                  <a:lnTo>
                    <a:pt x="69" y="0"/>
                  </a:lnTo>
                  <a:lnTo>
                    <a:pt x="58" y="2"/>
                  </a:lnTo>
                  <a:lnTo>
                    <a:pt x="50" y="7"/>
                  </a:lnTo>
                  <a:lnTo>
                    <a:pt x="42" y="15"/>
                  </a:lnTo>
                  <a:lnTo>
                    <a:pt x="36" y="25"/>
                  </a:lnTo>
                  <a:lnTo>
                    <a:pt x="25" y="48"/>
                  </a:lnTo>
                  <a:lnTo>
                    <a:pt x="17" y="71"/>
                  </a:lnTo>
                  <a:lnTo>
                    <a:pt x="12" y="94"/>
                  </a:lnTo>
                  <a:lnTo>
                    <a:pt x="6" y="115"/>
                  </a:lnTo>
                  <a:lnTo>
                    <a:pt x="2" y="126"/>
                  </a:lnTo>
                  <a:lnTo>
                    <a:pt x="10" y="126"/>
                  </a:lnTo>
                  <a:lnTo>
                    <a:pt x="0" y="140"/>
                  </a:lnTo>
                  <a:lnTo>
                    <a:pt x="15" y="134"/>
                  </a:lnTo>
                  <a:lnTo>
                    <a:pt x="21" y="118"/>
                  </a:lnTo>
                  <a:lnTo>
                    <a:pt x="27" y="99"/>
                  </a:lnTo>
                  <a:lnTo>
                    <a:pt x="33" y="76"/>
                  </a:lnTo>
                  <a:lnTo>
                    <a:pt x="40" y="53"/>
                  </a:lnTo>
                  <a:lnTo>
                    <a:pt x="50" y="32"/>
                  </a:lnTo>
                  <a:lnTo>
                    <a:pt x="56" y="25"/>
                  </a:lnTo>
                  <a:lnTo>
                    <a:pt x="59" y="21"/>
                  </a:lnTo>
                  <a:lnTo>
                    <a:pt x="65" y="17"/>
                  </a:lnTo>
                  <a:lnTo>
                    <a:pt x="69" y="15"/>
                  </a:lnTo>
                  <a:lnTo>
                    <a:pt x="65" y="15"/>
                  </a:lnTo>
                  <a:lnTo>
                    <a:pt x="71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40" name="Freeform 54">
              <a:extLst>
                <a:ext uri="{FF2B5EF4-FFF2-40B4-BE49-F238E27FC236}">
                  <a16:creationId xmlns:a16="http://schemas.microsoft.com/office/drawing/2014/main" id="{1F54074F-2A80-AE19-EC57-DAA90F831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7" y="3906"/>
              <a:ext cx="21" cy="125"/>
            </a:xfrm>
            <a:custGeom>
              <a:avLst/>
              <a:gdLst>
                <a:gd name="T0" fmla="*/ 12 w 21"/>
                <a:gd name="T1" fmla="*/ 109 h 125"/>
                <a:gd name="T2" fmla="*/ 16 w 21"/>
                <a:gd name="T3" fmla="*/ 109 h 125"/>
                <a:gd name="T4" fmla="*/ 18 w 21"/>
                <a:gd name="T5" fmla="*/ 111 h 125"/>
                <a:gd name="T6" fmla="*/ 18 w 21"/>
                <a:gd name="T7" fmla="*/ 109 h 125"/>
                <a:gd name="T8" fmla="*/ 18 w 21"/>
                <a:gd name="T9" fmla="*/ 105 h 125"/>
                <a:gd name="T10" fmla="*/ 18 w 21"/>
                <a:gd name="T11" fmla="*/ 99 h 125"/>
                <a:gd name="T12" fmla="*/ 18 w 21"/>
                <a:gd name="T13" fmla="*/ 82 h 125"/>
                <a:gd name="T14" fmla="*/ 18 w 21"/>
                <a:gd name="T15" fmla="*/ 63 h 125"/>
                <a:gd name="T16" fmla="*/ 20 w 21"/>
                <a:gd name="T17" fmla="*/ 44 h 125"/>
                <a:gd name="T18" fmla="*/ 20 w 21"/>
                <a:gd name="T19" fmla="*/ 26 h 125"/>
                <a:gd name="T20" fmla="*/ 18 w 21"/>
                <a:gd name="T21" fmla="*/ 11 h 125"/>
                <a:gd name="T22" fmla="*/ 10 w 21"/>
                <a:gd name="T23" fmla="*/ 0 h 125"/>
                <a:gd name="T24" fmla="*/ 4 w 21"/>
                <a:gd name="T25" fmla="*/ 15 h 125"/>
                <a:gd name="T26" fmla="*/ 2 w 21"/>
                <a:gd name="T27" fmla="*/ 15 h 125"/>
                <a:gd name="T28" fmla="*/ 4 w 21"/>
                <a:gd name="T29" fmla="*/ 26 h 125"/>
                <a:gd name="T30" fmla="*/ 2 w 21"/>
                <a:gd name="T31" fmla="*/ 44 h 125"/>
                <a:gd name="T32" fmla="*/ 2 w 21"/>
                <a:gd name="T33" fmla="*/ 63 h 125"/>
                <a:gd name="T34" fmla="*/ 0 w 21"/>
                <a:gd name="T35" fmla="*/ 82 h 125"/>
                <a:gd name="T36" fmla="*/ 0 w 21"/>
                <a:gd name="T37" fmla="*/ 99 h 125"/>
                <a:gd name="T38" fmla="*/ 2 w 21"/>
                <a:gd name="T39" fmla="*/ 107 h 125"/>
                <a:gd name="T40" fmla="*/ 2 w 21"/>
                <a:gd name="T41" fmla="*/ 115 h 125"/>
                <a:gd name="T42" fmla="*/ 6 w 21"/>
                <a:gd name="T43" fmla="*/ 120 h 125"/>
                <a:gd name="T44" fmla="*/ 14 w 21"/>
                <a:gd name="T45" fmla="*/ 124 h 125"/>
                <a:gd name="T46" fmla="*/ 16 w 21"/>
                <a:gd name="T47" fmla="*/ 124 h 125"/>
                <a:gd name="T48" fmla="*/ 12 w 21"/>
                <a:gd name="T49" fmla="*/ 109 h 12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1" h="125">
                  <a:moveTo>
                    <a:pt x="12" y="109"/>
                  </a:moveTo>
                  <a:lnTo>
                    <a:pt x="16" y="109"/>
                  </a:lnTo>
                  <a:lnTo>
                    <a:pt x="18" y="111"/>
                  </a:lnTo>
                  <a:lnTo>
                    <a:pt x="18" y="109"/>
                  </a:lnTo>
                  <a:lnTo>
                    <a:pt x="18" y="105"/>
                  </a:lnTo>
                  <a:lnTo>
                    <a:pt x="18" y="99"/>
                  </a:lnTo>
                  <a:lnTo>
                    <a:pt x="18" y="82"/>
                  </a:lnTo>
                  <a:lnTo>
                    <a:pt x="18" y="63"/>
                  </a:lnTo>
                  <a:lnTo>
                    <a:pt x="20" y="44"/>
                  </a:lnTo>
                  <a:lnTo>
                    <a:pt x="20" y="26"/>
                  </a:lnTo>
                  <a:lnTo>
                    <a:pt x="18" y="11"/>
                  </a:lnTo>
                  <a:lnTo>
                    <a:pt x="10" y="0"/>
                  </a:lnTo>
                  <a:lnTo>
                    <a:pt x="4" y="15"/>
                  </a:lnTo>
                  <a:lnTo>
                    <a:pt x="2" y="15"/>
                  </a:lnTo>
                  <a:lnTo>
                    <a:pt x="4" y="26"/>
                  </a:lnTo>
                  <a:lnTo>
                    <a:pt x="2" y="44"/>
                  </a:lnTo>
                  <a:lnTo>
                    <a:pt x="2" y="63"/>
                  </a:lnTo>
                  <a:lnTo>
                    <a:pt x="0" y="82"/>
                  </a:lnTo>
                  <a:lnTo>
                    <a:pt x="0" y="99"/>
                  </a:lnTo>
                  <a:lnTo>
                    <a:pt x="2" y="107"/>
                  </a:lnTo>
                  <a:lnTo>
                    <a:pt x="2" y="115"/>
                  </a:lnTo>
                  <a:lnTo>
                    <a:pt x="6" y="120"/>
                  </a:lnTo>
                  <a:lnTo>
                    <a:pt x="14" y="124"/>
                  </a:lnTo>
                  <a:lnTo>
                    <a:pt x="16" y="124"/>
                  </a:lnTo>
                  <a:lnTo>
                    <a:pt x="12" y="109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41" name="Freeform 55">
              <a:extLst>
                <a:ext uri="{FF2B5EF4-FFF2-40B4-BE49-F238E27FC236}">
                  <a16:creationId xmlns:a16="http://schemas.microsoft.com/office/drawing/2014/main" id="{F2F2D1E3-620D-FBB6-D8E6-2DBDCD91A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9" y="3856"/>
              <a:ext cx="51" cy="175"/>
            </a:xfrm>
            <a:custGeom>
              <a:avLst/>
              <a:gdLst>
                <a:gd name="T0" fmla="*/ 34 w 51"/>
                <a:gd name="T1" fmla="*/ 0 h 175"/>
                <a:gd name="T2" fmla="*/ 27 w 51"/>
                <a:gd name="T3" fmla="*/ 27 h 175"/>
                <a:gd name="T4" fmla="*/ 23 w 51"/>
                <a:gd name="T5" fmla="*/ 55 h 175"/>
                <a:gd name="T6" fmla="*/ 17 w 51"/>
                <a:gd name="T7" fmla="*/ 82 h 175"/>
                <a:gd name="T8" fmla="*/ 13 w 51"/>
                <a:gd name="T9" fmla="*/ 107 h 175"/>
                <a:gd name="T10" fmla="*/ 8 w 51"/>
                <a:gd name="T11" fmla="*/ 130 h 175"/>
                <a:gd name="T12" fmla="*/ 4 w 51"/>
                <a:gd name="T13" fmla="*/ 147 h 175"/>
                <a:gd name="T14" fmla="*/ 0 w 51"/>
                <a:gd name="T15" fmla="*/ 157 h 175"/>
                <a:gd name="T16" fmla="*/ 0 w 51"/>
                <a:gd name="T17" fmla="*/ 159 h 175"/>
                <a:gd name="T18" fmla="*/ 4 w 51"/>
                <a:gd name="T19" fmla="*/ 174 h 175"/>
                <a:gd name="T20" fmla="*/ 13 w 51"/>
                <a:gd name="T21" fmla="*/ 165 h 175"/>
                <a:gd name="T22" fmla="*/ 19 w 51"/>
                <a:gd name="T23" fmla="*/ 151 h 175"/>
                <a:gd name="T24" fmla="*/ 23 w 51"/>
                <a:gd name="T25" fmla="*/ 134 h 175"/>
                <a:gd name="T26" fmla="*/ 29 w 51"/>
                <a:gd name="T27" fmla="*/ 111 h 175"/>
                <a:gd name="T28" fmla="*/ 32 w 51"/>
                <a:gd name="T29" fmla="*/ 86 h 175"/>
                <a:gd name="T30" fmla="*/ 38 w 51"/>
                <a:gd name="T31" fmla="*/ 57 h 175"/>
                <a:gd name="T32" fmla="*/ 44 w 51"/>
                <a:gd name="T33" fmla="*/ 30 h 175"/>
                <a:gd name="T34" fmla="*/ 50 w 51"/>
                <a:gd name="T35" fmla="*/ 2 h 175"/>
                <a:gd name="T36" fmla="*/ 34 w 51"/>
                <a:gd name="T37" fmla="*/ 0 h 17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51" h="175">
                  <a:moveTo>
                    <a:pt x="34" y="0"/>
                  </a:moveTo>
                  <a:lnTo>
                    <a:pt x="27" y="27"/>
                  </a:lnTo>
                  <a:lnTo>
                    <a:pt x="23" y="55"/>
                  </a:lnTo>
                  <a:lnTo>
                    <a:pt x="17" y="82"/>
                  </a:lnTo>
                  <a:lnTo>
                    <a:pt x="13" y="107"/>
                  </a:lnTo>
                  <a:lnTo>
                    <a:pt x="8" y="130"/>
                  </a:lnTo>
                  <a:lnTo>
                    <a:pt x="4" y="147"/>
                  </a:lnTo>
                  <a:lnTo>
                    <a:pt x="0" y="157"/>
                  </a:lnTo>
                  <a:lnTo>
                    <a:pt x="0" y="159"/>
                  </a:lnTo>
                  <a:lnTo>
                    <a:pt x="4" y="174"/>
                  </a:lnTo>
                  <a:lnTo>
                    <a:pt x="13" y="165"/>
                  </a:lnTo>
                  <a:lnTo>
                    <a:pt x="19" y="151"/>
                  </a:lnTo>
                  <a:lnTo>
                    <a:pt x="23" y="134"/>
                  </a:lnTo>
                  <a:lnTo>
                    <a:pt x="29" y="111"/>
                  </a:lnTo>
                  <a:lnTo>
                    <a:pt x="32" y="86"/>
                  </a:lnTo>
                  <a:lnTo>
                    <a:pt x="38" y="57"/>
                  </a:lnTo>
                  <a:lnTo>
                    <a:pt x="44" y="30"/>
                  </a:lnTo>
                  <a:lnTo>
                    <a:pt x="50" y="2"/>
                  </a:lnTo>
                  <a:lnTo>
                    <a:pt x="34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42" name="Freeform 56">
              <a:extLst>
                <a:ext uri="{FF2B5EF4-FFF2-40B4-BE49-F238E27FC236}">
                  <a16:creationId xmlns:a16="http://schemas.microsoft.com/office/drawing/2014/main" id="{976541B8-36A7-B9A7-11F7-4FF3724ABC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3" y="3766"/>
              <a:ext cx="45" cy="93"/>
            </a:xfrm>
            <a:custGeom>
              <a:avLst/>
              <a:gdLst>
                <a:gd name="T0" fmla="*/ 44 w 45"/>
                <a:gd name="T1" fmla="*/ 0 h 93"/>
                <a:gd name="T2" fmla="*/ 42 w 45"/>
                <a:gd name="T3" fmla="*/ 0 h 93"/>
                <a:gd name="T4" fmla="*/ 35 w 45"/>
                <a:gd name="T5" fmla="*/ 0 h 93"/>
                <a:gd name="T6" fmla="*/ 29 w 45"/>
                <a:gd name="T7" fmla="*/ 4 h 93"/>
                <a:gd name="T8" fmla="*/ 23 w 45"/>
                <a:gd name="T9" fmla="*/ 7 h 93"/>
                <a:gd name="T10" fmla="*/ 19 w 45"/>
                <a:gd name="T11" fmla="*/ 13 h 93"/>
                <a:gd name="T12" fmla="*/ 12 w 45"/>
                <a:gd name="T13" fmla="*/ 27 h 93"/>
                <a:gd name="T14" fmla="*/ 8 w 45"/>
                <a:gd name="T15" fmla="*/ 40 h 93"/>
                <a:gd name="T16" fmla="*/ 4 w 45"/>
                <a:gd name="T17" fmla="*/ 55 h 93"/>
                <a:gd name="T18" fmla="*/ 2 w 45"/>
                <a:gd name="T19" fmla="*/ 71 h 93"/>
                <a:gd name="T20" fmla="*/ 0 w 45"/>
                <a:gd name="T21" fmla="*/ 82 h 93"/>
                <a:gd name="T22" fmla="*/ 0 w 45"/>
                <a:gd name="T23" fmla="*/ 90 h 93"/>
                <a:gd name="T24" fmla="*/ 16 w 45"/>
                <a:gd name="T25" fmla="*/ 92 h 93"/>
                <a:gd name="T26" fmla="*/ 18 w 45"/>
                <a:gd name="T27" fmla="*/ 84 h 93"/>
                <a:gd name="T28" fmla="*/ 18 w 45"/>
                <a:gd name="T29" fmla="*/ 73 h 93"/>
                <a:gd name="T30" fmla="*/ 21 w 45"/>
                <a:gd name="T31" fmla="*/ 59 h 93"/>
                <a:gd name="T32" fmla="*/ 23 w 45"/>
                <a:gd name="T33" fmla="*/ 44 h 93"/>
                <a:gd name="T34" fmla="*/ 27 w 45"/>
                <a:gd name="T35" fmla="*/ 32 h 93"/>
                <a:gd name="T36" fmla="*/ 33 w 45"/>
                <a:gd name="T37" fmla="*/ 21 h 93"/>
                <a:gd name="T38" fmla="*/ 35 w 45"/>
                <a:gd name="T39" fmla="*/ 19 h 93"/>
                <a:gd name="T40" fmla="*/ 37 w 45"/>
                <a:gd name="T41" fmla="*/ 17 h 93"/>
                <a:gd name="T42" fmla="*/ 39 w 45"/>
                <a:gd name="T43" fmla="*/ 15 h 93"/>
                <a:gd name="T44" fmla="*/ 42 w 45"/>
                <a:gd name="T45" fmla="*/ 15 h 93"/>
                <a:gd name="T46" fmla="*/ 41 w 45"/>
                <a:gd name="T47" fmla="*/ 15 h 93"/>
                <a:gd name="T48" fmla="*/ 44 w 45"/>
                <a:gd name="T49" fmla="*/ 0 h 9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5" h="93">
                  <a:moveTo>
                    <a:pt x="44" y="0"/>
                  </a:moveTo>
                  <a:lnTo>
                    <a:pt x="42" y="0"/>
                  </a:lnTo>
                  <a:lnTo>
                    <a:pt x="35" y="0"/>
                  </a:lnTo>
                  <a:lnTo>
                    <a:pt x="29" y="4"/>
                  </a:lnTo>
                  <a:lnTo>
                    <a:pt x="23" y="7"/>
                  </a:lnTo>
                  <a:lnTo>
                    <a:pt x="19" y="13"/>
                  </a:lnTo>
                  <a:lnTo>
                    <a:pt x="12" y="27"/>
                  </a:lnTo>
                  <a:lnTo>
                    <a:pt x="8" y="40"/>
                  </a:lnTo>
                  <a:lnTo>
                    <a:pt x="4" y="55"/>
                  </a:lnTo>
                  <a:lnTo>
                    <a:pt x="2" y="71"/>
                  </a:lnTo>
                  <a:lnTo>
                    <a:pt x="0" y="82"/>
                  </a:lnTo>
                  <a:lnTo>
                    <a:pt x="0" y="90"/>
                  </a:lnTo>
                  <a:lnTo>
                    <a:pt x="16" y="92"/>
                  </a:lnTo>
                  <a:lnTo>
                    <a:pt x="18" y="84"/>
                  </a:lnTo>
                  <a:lnTo>
                    <a:pt x="18" y="73"/>
                  </a:lnTo>
                  <a:lnTo>
                    <a:pt x="21" y="59"/>
                  </a:lnTo>
                  <a:lnTo>
                    <a:pt x="23" y="44"/>
                  </a:lnTo>
                  <a:lnTo>
                    <a:pt x="27" y="32"/>
                  </a:lnTo>
                  <a:lnTo>
                    <a:pt x="33" y="21"/>
                  </a:lnTo>
                  <a:lnTo>
                    <a:pt x="35" y="19"/>
                  </a:lnTo>
                  <a:lnTo>
                    <a:pt x="37" y="17"/>
                  </a:lnTo>
                  <a:lnTo>
                    <a:pt x="39" y="15"/>
                  </a:lnTo>
                  <a:lnTo>
                    <a:pt x="42" y="15"/>
                  </a:lnTo>
                  <a:lnTo>
                    <a:pt x="41" y="15"/>
                  </a:lnTo>
                  <a:lnTo>
                    <a:pt x="44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43" name="Freeform 57">
              <a:extLst>
                <a:ext uri="{FF2B5EF4-FFF2-40B4-BE49-F238E27FC236}">
                  <a16:creationId xmlns:a16="http://schemas.microsoft.com/office/drawing/2014/main" id="{FBD729D2-589A-9BA7-1875-7088A67572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0" y="3766"/>
              <a:ext cx="22" cy="162"/>
            </a:xfrm>
            <a:custGeom>
              <a:avLst/>
              <a:gdLst>
                <a:gd name="T0" fmla="*/ 17 w 22"/>
                <a:gd name="T1" fmla="*/ 145 h 162"/>
                <a:gd name="T2" fmla="*/ 15 w 22"/>
                <a:gd name="T3" fmla="*/ 145 h 162"/>
                <a:gd name="T4" fmla="*/ 21 w 22"/>
                <a:gd name="T5" fmla="*/ 145 h 162"/>
                <a:gd name="T6" fmla="*/ 19 w 22"/>
                <a:gd name="T7" fmla="*/ 130 h 162"/>
                <a:gd name="T8" fmla="*/ 19 w 22"/>
                <a:gd name="T9" fmla="*/ 109 h 162"/>
                <a:gd name="T10" fmla="*/ 17 w 22"/>
                <a:gd name="T11" fmla="*/ 82 h 162"/>
                <a:gd name="T12" fmla="*/ 17 w 22"/>
                <a:gd name="T13" fmla="*/ 55 h 162"/>
                <a:gd name="T14" fmla="*/ 17 w 22"/>
                <a:gd name="T15" fmla="*/ 30 h 162"/>
                <a:gd name="T16" fmla="*/ 15 w 22"/>
                <a:gd name="T17" fmla="*/ 13 h 162"/>
                <a:gd name="T18" fmla="*/ 7 w 22"/>
                <a:gd name="T19" fmla="*/ 0 h 162"/>
                <a:gd name="T20" fmla="*/ 4 w 22"/>
                <a:gd name="T21" fmla="*/ 15 h 162"/>
                <a:gd name="T22" fmla="*/ 0 w 22"/>
                <a:gd name="T23" fmla="*/ 15 h 162"/>
                <a:gd name="T24" fmla="*/ 0 w 22"/>
                <a:gd name="T25" fmla="*/ 32 h 162"/>
                <a:gd name="T26" fmla="*/ 2 w 22"/>
                <a:gd name="T27" fmla="*/ 55 h 162"/>
                <a:gd name="T28" fmla="*/ 2 w 22"/>
                <a:gd name="T29" fmla="*/ 82 h 162"/>
                <a:gd name="T30" fmla="*/ 2 w 22"/>
                <a:gd name="T31" fmla="*/ 109 h 162"/>
                <a:gd name="T32" fmla="*/ 4 w 22"/>
                <a:gd name="T33" fmla="*/ 132 h 162"/>
                <a:gd name="T34" fmla="*/ 5 w 22"/>
                <a:gd name="T35" fmla="*/ 149 h 162"/>
                <a:gd name="T36" fmla="*/ 17 w 22"/>
                <a:gd name="T37" fmla="*/ 161 h 162"/>
                <a:gd name="T38" fmla="*/ 15 w 22"/>
                <a:gd name="T39" fmla="*/ 161 h 162"/>
                <a:gd name="T40" fmla="*/ 17 w 22"/>
                <a:gd name="T41" fmla="*/ 145 h 16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22" h="162">
                  <a:moveTo>
                    <a:pt x="17" y="145"/>
                  </a:moveTo>
                  <a:lnTo>
                    <a:pt x="15" y="145"/>
                  </a:lnTo>
                  <a:lnTo>
                    <a:pt x="21" y="145"/>
                  </a:lnTo>
                  <a:lnTo>
                    <a:pt x="19" y="130"/>
                  </a:lnTo>
                  <a:lnTo>
                    <a:pt x="19" y="109"/>
                  </a:lnTo>
                  <a:lnTo>
                    <a:pt x="17" y="82"/>
                  </a:lnTo>
                  <a:lnTo>
                    <a:pt x="17" y="55"/>
                  </a:lnTo>
                  <a:lnTo>
                    <a:pt x="17" y="30"/>
                  </a:lnTo>
                  <a:lnTo>
                    <a:pt x="15" y="13"/>
                  </a:lnTo>
                  <a:lnTo>
                    <a:pt x="7" y="0"/>
                  </a:lnTo>
                  <a:lnTo>
                    <a:pt x="4" y="15"/>
                  </a:lnTo>
                  <a:lnTo>
                    <a:pt x="0" y="15"/>
                  </a:lnTo>
                  <a:lnTo>
                    <a:pt x="0" y="32"/>
                  </a:lnTo>
                  <a:lnTo>
                    <a:pt x="2" y="55"/>
                  </a:lnTo>
                  <a:lnTo>
                    <a:pt x="2" y="82"/>
                  </a:lnTo>
                  <a:lnTo>
                    <a:pt x="2" y="109"/>
                  </a:lnTo>
                  <a:lnTo>
                    <a:pt x="4" y="132"/>
                  </a:lnTo>
                  <a:lnTo>
                    <a:pt x="5" y="149"/>
                  </a:lnTo>
                  <a:lnTo>
                    <a:pt x="17" y="161"/>
                  </a:lnTo>
                  <a:lnTo>
                    <a:pt x="15" y="161"/>
                  </a:lnTo>
                  <a:lnTo>
                    <a:pt x="17" y="145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44" name="Freeform 58">
              <a:extLst>
                <a:ext uri="{FF2B5EF4-FFF2-40B4-BE49-F238E27FC236}">
                  <a16:creationId xmlns:a16="http://schemas.microsoft.com/office/drawing/2014/main" id="{338B298D-0A44-9EA1-E12C-804AB77C5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3" y="3731"/>
              <a:ext cx="47" cy="197"/>
            </a:xfrm>
            <a:custGeom>
              <a:avLst/>
              <a:gdLst>
                <a:gd name="T0" fmla="*/ 31 w 47"/>
                <a:gd name="T1" fmla="*/ 0 h 197"/>
                <a:gd name="T2" fmla="*/ 29 w 47"/>
                <a:gd name="T3" fmla="*/ 14 h 197"/>
                <a:gd name="T4" fmla="*/ 25 w 47"/>
                <a:gd name="T5" fmla="*/ 37 h 197"/>
                <a:gd name="T6" fmla="*/ 21 w 47"/>
                <a:gd name="T7" fmla="*/ 67 h 197"/>
                <a:gd name="T8" fmla="*/ 17 w 47"/>
                <a:gd name="T9" fmla="*/ 100 h 197"/>
                <a:gd name="T10" fmla="*/ 12 w 47"/>
                <a:gd name="T11" fmla="*/ 132 h 197"/>
                <a:gd name="T12" fmla="*/ 6 w 47"/>
                <a:gd name="T13" fmla="*/ 161 h 197"/>
                <a:gd name="T14" fmla="*/ 4 w 47"/>
                <a:gd name="T15" fmla="*/ 171 h 197"/>
                <a:gd name="T16" fmla="*/ 2 w 47"/>
                <a:gd name="T17" fmla="*/ 178 h 197"/>
                <a:gd name="T18" fmla="*/ 0 w 47"/>
                <a:gd name="T19" fmla="*/ 182 h 197"/>
                <a:gd name="T20" fmla="*/ 4 w 47"/>
                <a:gd name="T21" fmla="*/ 180 h 197"/>
                <a:gd name="T22" fmla="*/ 2 w 47"/>
                <a:gd name="T23" fmla="*/ 196 h 197"/>
                <a:gd name="T24" fmla="*/ 12 w 47"/>
                <a:gd name="T25" fmla="*/ 192 h 197"/>
                <a:gd name="T26" fmla="*/ 15 w 47"/>
                <a:gd name="T27" fmla="*/ 184 h 197"/>
                <a:gd name="T28" fmla="*/ 19 w 47"/>
                <a:gd name="T29" fmla="*/ 177 h 197"/>
                <a:gd name="T30" fmla="*/ 23 w 47"/>
                <a:gd name="T31" fmla="*/ 163 h 197"/>
                <a:gd name="T32" fmla="*/ 27 w 47"/>
                <a:gd name="T33" fmla="*/ 136 h 197"/>
                <a:gd name="T34" fmla="*/ 33 w 47"/>
                <a:gd name="T35" fmla="*/ 102 h 197"/>
                <a:gd name="T36" fmla="*/ 38 w 47"/>
                <a:gd name="T37" fmla="*/ 69 h 197"/>
                <a:gd name="T38" fmla="*/ 42 w 47"/>
                <a:gd name="T39" fmla="*/ 39 h 197"/>
                <a:gd name="T40" fmla="*/ 44 w 47"/>
                <a:gd name="T41" fmla="*/ 16 h 197"/>
                <a:gd name="T42" fmla="*/ 46 w 47"/>
                <a:gd name="T43" fmla="*/ 2 h 197"/>
                <a:gd name="T44" fmla="*/ 31 w 47"/>
                <a:gd name="T45" fmla="*/ 0 h 197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47" h="197">
                  <a:moveTo>
                    <a:pt x="31" y="0"/>
                  </a:moveTo>
                  <a:lnTo>
                    <a:pt x="29" y="14"/>
                  </a:lnTo>
                  <a:lnTo>
                    <a:pt x="25" y="37"/>
                  </a:lnTo>
                  <a:lnTo>
                    <a:pt x="21" y="67"/>
                  </a:lnTo>
                  <a:lnTo>
                    <a:pt x="17" y="100"/>
                  </a:lnTo>
                  <a:lnTo>
                    <a:pt x="12" y="132"/>
                  </a:lnTo>
                  <a:lnTo>
                    <a:pt x="6" y="161"/>
                  </a:lnTo>
                  <a:lnTo>
                    <a:pt x="4" y="171"/>
                  </a:lnTo>
                  <a:lnTo>
                    <a:pt x="2" y="178"/>
                  </a:lnTo>
                  <a:lnTo>
                    <a:pt x="0" y="182"/>
                  </a:lnTo>
                  <a:lnTo>
                    <a:pt x="4" y="180"/>
                  </a:lnTo>
                  <a:lnTo>
                    <a:pt x="2" y="196"/>
                  </a:lnTo>
                  <a:lnTo>
                    <a:pt x="12" y="192"/>
                  </a:lnTo>
                  <a:lnTo>
                    <a:pt x="15" y="184"/>
                  </a:lnTo>
                  <a:lnTo>
                    <a:pt x="19" y="177"/>
                  </a:lnTo>
                  <a:lnTo>
                    <a:pt x="23" y="163"/>
                  </a:lnTo>
                  <a:lnTo>
                    <a:pt x="27" y="136"/>
                  </a:lnTo>
                  <a:lnTo>
                    <a:pt x="33" y="102"/>
                  </a:lnTo>
                  <a:lnTo>
                    <a:pt x="38" y="69"/>
                  </a:lnTo>
                  <a:lnTo>
                    <a:pt x="42" y="39"/>
                  </a:lnTo>
                  <a:lnTo>
                    <a:pt x="44" y="16"/>
                  </a:lnTo>
                  <a:lnTo>
                    <a:pt x="46" y="2"/>
                  </a:lnTo>
                  <a:lnTo>
                    <a:pt x="31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45" name="Freeform 59">
              <a:extLst>
                <a:ext uri="{FF2B5EF4-FFF2-40B4-BE49-F238E27FC236}">
                  <a16:creationId xmlns:a16="http://schemas.microsoft.com/office/drawing/2014/main" id="{4D74B44F-C1A7-C4E4-9B4C-0BFF7DAC5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4" y="3605"/>
              <a:ext cx="49" cy="131"/>
            </a:xfrm>
            <a:custGeom>
              <a:avLst/>
              <a:gdLst>
                <a:gd name="T0" fmla="*/ 40 w 49"/>
                <a:gd name="T1" fmla="*/ 2 h 131"/>
                <a:gd name="T2" fmla="*/ 32 w 49"/>
                <a:gd name="T3" fmla="*/ 0 h 131"/>
                <a:gd name="T4" fmla="*/ 0 w 49"/>
                <a:gd name="T5" fmla="*/ 126 h 131"/>
                <a:gd name="T6" fmla="*/ 15 w 49"/>
                <a:gd name="T7" fmla="*/ 130 h 131"/>
                <a:gd name="T8" fmla="*/ 48 w 49"/>
                <a:gd name="T9" fmla="*/ 4 h 131"/>
                <a:gd name="T10" fmla="*/ 40 w 49"/>
                <a:gd name="T11" fmla="*/ 2 h 1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131">
                  <a:moveTo>
                    <a:pt x="40" y="2"/>
                  </a:moveTo>
                  <a:lnTo>
                    <a:pt x="32" y="0"/>
                  </a:lnTo>
                  <a:lnTo>
                    <a:pt x="0" y="126"/>
                  </a:lnTo>
                  <a:lnTo>
                    <a:pt x="15" y="130"/>
                  </a:lnTo>
                  <a:lnTo>
                    <a:pt x="48" y="4"/>
                  </a:lnTo>
                  <a:lnTo>
                    <a:pt x="40" y="2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46" name="Freeform 60">
              <a:extLst>
                <a:ext uri="{FF2B5EF4-FFF2-40B4-BE49-F238E27FC236}">
                  <a16:creationId xmlns:a16="http://schemas.microsoft.com/office/drawing/2014/main" id="{82012748-DB46-BD45-8AC7-D2EC72C8E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6" y="3507"/>
              <a:ext cx="45" cy="103"/>
            </a:xfrm>
            <a:custGeom>
              <a:avLst/>
              <a:gdLst>
                <a:gd name="T0" fmla="*/ 41 w 45"/>
                <a:gd name="T1" fmla="*/ 0 h 103"/>
                <a:gd name="T2" fmla="*/ 44 w 45"/>
                <a:gd name="T3" fmla="*/ 0 h 103"/>
                <a:gd name="T4" fmla="*/ 33 w 45"/>
                <a:gd name="T5" fmla="*/ 0 h 103"/>
                <a:gd name="T6" fmla="*/ 25 w 45"/>
                <a:gd name="T7" fmla="*/ 8 h 103"/>
                <a:gd name="T8" fmla="*/ 20 w 45"/>
                <a:gd name="T9" fmla="*/ 17 h 103"/>
                <a:gd name="T10" fmla="*/ 16 w 45"/>
                <a:gd name="T11" fmla="*/ 29 h 103"/>
                <a:gd name="T12" fmla="*/ 14 w 45"/>
                <a:gd name="T13" fmla="*/ 42 h 103"/>
                <a:gd name="T14" fmla="*/ 10 w 45"/>
                <a:gd name="T15" fmla="*/ 59 h 103"/>
                <a:gd name="T16" fmla="*/ 4 w 45"/>
                <a:gd name="T17" fmla="*/ 77 h 103"/>
                <a:gd name="T18" fmla="*/ 0 w 45"/>
                <a:gd name="T19" fmla="*/ 98 h 103"/>
                <a:gd name="T20" fmla="*/ 16 w 45"/>
                <a:gd name="T21" fmla="*/ 102 h 103"/>
                <a:gd name="T22" fmla="*/ 20 w 45"/>
                <a:gd name="T23" fmla="*/ 80 h 103"/>
                <a:gd name="T24" fmla="*/ 25 w 45"/>
                <a:gd name="T25" fmla="*/ 63 h 103"/>
                <a:gd name="T26" fmla="*/ 29 w 45"/>
                <a:gd name="T27" fmla="*/ 46 h 103"/>
                <a:gd name="T28" fmla="*/ 31 w 45"/>
                <a:gd name="T29" fmla="*/ 33 h 103"/>
                <a:gd name="T30" fmla="*/ 35 w 45"/>
                <a:gd name="T31" fmla="*/ 23 h 103"/>
                <a:gd name="T32" fmla="*/ 39 w 45"/>
                <a:gd name="T33" fmla="*/ 17 h 103"/>
                <a:gd name="T34" fmla="*/ 39 w 45"/>
                <a:gd name="T35" fmla="*/ 15 h 103"/>
                <a:gd name="T36" fmla="*/ 42 w 45"/>
                <a:gd name="T37" fmla="*/ 15 h 103"/>
                <a:gd name="T38" fmla="*/ 41 w 45"/>
                <a:gd name="T39" fmla="*/ 0 h 10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45" h="103">
                  <a:moveTo>
                    <a:pt x="41" y="0"/>
                  </a:moveTo>
                  <a:lnTo>
                    <a:pt x="44" y="0"/>
                  </a:lnTo>
                  <a:lnTo>
                    <a:pt x="33" y="0"/>
                  </a:lnTo>
                  <a:lnTo>
                    <a:pt x="25" y="8"/>
                  </a:lnTo>
                  <a:lnTo>
                    <a:pt x="20" y="17"/>
                  </a:lnTo>
                  <a:lnTo>
                    <a:pt x="16" y="29"/>
                  </a:lnTo>
                  <a:lnTo>
                    <a:pt x="14" y="42"/>
                  </a:lnTo>
                  <a:lnTo>
                    <a:pt x="10" y="59"/>
                  </a:lnTo>
                  <a:lnTo>
                    <a:pt x="4" y="77"/>
                  </a:lnTo>
                  <a:lnTo>
                    <a:pt x="0" y="98"/>
                  </a:lnTo>
                  <a:lnTo>
                    <a:pt x="16" y="102"/>
                  </a:lnTo>
                  <a:lnTo>
                    <a:pt x="20" y="80"/>
                  </a:lnTo>
                  <a:lnTo>
                    <a:pt x="25" y="63"/>
                  </a:lnTo>
                  <a:lnTo>
                    <a:pt x="29" y="46"/>
                  </a:lnTo>
                  <a:lnTo>
                    <a:pt x="31" y="33"/>
                  </a:lnTo>
                  <a:lnTo>
                    <a:pt x="35" y="23"/>
                  </a:lnTo>
                  <a:lnTo>
                    <a:pt x="39" y="17"/>
                  </a:lnTo>
                  <a:lnTo>
                    <a:pt x="39" y="15"/>
                  </a:lnTo>
                  <a:lnTo>
                    <a:pt x="42" y="15"/>
                  </a:lnTo>
                  <a:lnTo>
                    <a:pt x="41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47" name="Freeform 61">
              <a:extLst>
                <a:ext uri="{FF2B5EF4-FFF2-40B4-BE49-F238E27FC236}">
                  <a16:creationId xmlns:a16="http://schemas.microsoft.com/office/drawing/2014/main" id="{DA2E9DB6-C902-868B-0D19-DB2DB1CFE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7" y="3507"/>
              <a:ext cx="24" cy="267"/>
            </a:xfrm>
            <a:custGeom>
              <a:avLst/>
              <a:gdLst>
                <a:gd name="T0" fmla="*/ 11 w 24"/>
                <a:gd name="T1" fmla="*/ 249 h 267"/>
                <a:gd name="T2" fmla="*/ 13 w 24"/>
                <a:gd name="T3" fmla="*/ 249 h 267"/>
                <a:gd name="T4" fmla="*/ 17 w 24"/>
                <a:gd name="T5" fmla="*/ 253 h 267"/>
                <a:gd name="T6" fmla="*/ 17 w 24"/>
                <a:gd name="T7" fmla="*/ 245 h 267"/>
                <a:gd name="T8" fmla="*/ 17 w 24"/>
                <a:gd name="T9" fmla="*/ 234 h 267"/>
                <a:gd name="T10" fmla="*/ 17 w 24"/>
                <a:gd name="T11" fmla="*/ 218 h 267"/>
                <a:gd name="T12" fmla="*/ 19 w 24"/>
                <a:gd name="T13" fmla="*/ 178 h 267"/>
                <a:gd name="T14" fmla="*/ 21 w 24"/>
                <a:gd name="T15" fmla="*/ 132 h 267"/>
                <a:gd name="T16" fmla="*/ 23 w 24"/>
                <a:gd name="T17" fmla="*/ 86 h 267"/>
                <a:gd name="T18" fmla="*/ 23 w 24"/>
                <a:gd name="T19" fmla="*/ 46 h 267"/>
                <a:gd name="T20" fmla="*/ 23 w 24"/>
                <a:gd name="T21" fmla="*/ 31 h 267"/>
                <a:gd name="T22" fmla="*/ 23 w 24"/>
                <a:gd name="T23" fmla="*/ 17 h 267"/>
                <a:gd name="T24" fmla="*/ 21 w 24"/>
                <a:gd name="T25" fmla="*/ 8 h 267"/>
                <a:gd name="T26" fmla="*/ 10 w 24"/>
                <a:gd name="T27" fmla="*/ 0 h 267"/>
                <a:gd name="T28" fmla="*/ 11 w 24"/>
                <a:gd name="T29" fmla="*/ 15 h 267"/>
                <a:gd name="T30" fmla="*/ 6 w 24"/>
                <a:gd name="T31" fmla="*/ 13 h 267"/>
                <a:gd name="T32" fmla="*/ 6 w 24"/>
                <a:gd name="T33" fmla="*/ 19 h 267"/>
                <a:gd name="T34" fmla="*/ 8 w 24"/>
                <a:gd name="T35" fmla="*/ 31 h 267"/>
                <a:gd name="T36" fmla="*/ 8 w 24"/>
                <a:gd name="T37" fmla="*/ 46 h 267"/>
                <a:gd name="T38" fmla="*/ 8 w 24"/>
                <a:gd name="T39" fmla="*/ 86 h 267"/>
                <a:gd name="T40" fmla="*/ 4 w 24"/>
                <a:gd name="T41" fmla="*/ 132 h 267"/>
                <a:gd name="T42" fmla="*/ 2 w 24"/>
                <a:gd name="T43" fmla="*/ 178 h 267"/>
                <a:gd name="T44" fmla="*/ 0 w 24"/>
                <a:gd name="T45" fmla="*/ 218 h 267"/>
                <a:gd name="T46" fmla="*/ 0 w 24"/>
                <a:gd name="T47" fmla="*/ 234 h 267"/>
                <a:gd name="T48" fmla="*/ 2 w 24"/>
                <a:gd name="T49" fmla="*/ 247 h 267"/>
                <a:gd name="T50" fmla="*/ 2 w 24"/>
                <a:gd name="T51" fmla="*/ 257 h 267"/>
                <a:gd name="T52" fmla="*/ 11 w 24"/>
                <a:gd name="T53" fmla="*/ 266 h 267"/>
                <a:gd name="T54" fmla="*/ 11 w 24"/>
                <a:gd name="T55" fmla="*/ 249 h 26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24" h="267">
                  <a:moveTo>
                    <a:pt x="11" y="249"/>
                  </a:moveTo>
                  <a:lnTo>
                    <a:pt x="13" y="249"/>
                  </a:lnTo>
                  <a:lnTo>
                    <a:pt x="17" y="253"/>
                  </a:lnTo>
                  <a:lnTo>
                    <a:pt x="17" y="245"/>
                  </a:lnTo>
                  <a:lnTo>
                    <a:pt x="17" y="234"/>
                  </a:lnTo>
                  <a:lnTo>
                    <a:pt x="17" y="218"/>
                  </a:lnTo>
                  <a:lnTo>
                    <a:pt x="19" y="178"/>
                  </a:lnTo>
                  <a:lnTo>
                    <a:pt x="21" y="132"/>
                  </a:lnTo>
                  <a:lnTo>
                    <a:pt x="23" y="86"/>
                  </a:lnTo>
                  <a:lnTo>
                    <a:pt x="23" y="46"/>
                  </a:lnTo>
                  <a:lnTo>
                    <a:pt x="23" y="31"/>
                  </a:lnTo>
                  <a:lnTo>
                    <a:pt x="23" y="17"/>
                  </a:lnTo>
                  <a:lnTo>
                    <a:pt x="21" y="8"/>
                  </a:lnTo>
                  <a:lnTo>
                    <a:pt x="10" y="0"/>
                  </a:lnTo>
                  <a:lnTo>
                    <a:pt x="11" y="15"/>
                  </a:lnTo>
                  <a:lnTo>
                    <a:pt x="6" y="13"/>
                  </a:lnTo>
                  <a:lnTo>
                    <a:pt x="6" y="19"/>
                  </a:lnTo>
                  <a:lnTo>
                    <a:pt x="8" y="31"/>
                  </a:lnTo>
                  <a:lnTo>
                    <a:pt x="8" y="46"/>
                  </a:lnTo>
                  <a:lnTo>
                    <a:pt x="8" y="86"/>
                  </a:lnTo>
                  <a:lnTo>
                    <a:pt x="4" y="132"/>
                  </a:lnTo>
                  <a:lnTo>
                    <a:pt x="2" y="178"/>
                  </a:lnTo>
                  <a:lnTo>
                    <a:pt x="0" y="218"/>
                  </a:lnTo>
                  <a:lnTo>
                    <a:pt x="0" y="234"/>
                  </a:lnTo>
                  <a:lnTo>
                    <a:pt x="2" y="247"/>
                  </a:lnTo>
                  <a:lnTo>
                    <a:pt x="2" y="257"/>
                  </a:lnTo>
                  <a:lnTo>
                    <a:pt x="11" y="266"/>
                  </a:lnTo>
                  <a:lnTo>
                    <a:pt x="11" y="249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48" name="Freeform 62">
              <a:extLst>
                <a:ext uri="{FF2B5EF4-FFF2-40B4-BE49-F238E27FC236}">
                  <a16:creationId xmlns:a16="http://schemas.microsoft.com/office/drawing/2014/main" id="{C732F9B7-7004-8D9E-72DA-567FDD73C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7" y="3507"/>
              <a:ext cx="70" cy="267"/>
            </a:xfrm>
            <a:custGeom>
              <a:avLst/>
              <a:gdLst>
                <a:gd name="T0" fmla="*/ 55 w 70"/>
                <a:gd name="T1" fmla="*/ 0 h 267"/>
                <a:gd name="T2" fmla="*/ 47 w 70"/>
                <a:gd name="T3" fmla="*/ 15 h 267"/>
                <a:gd name="T4" fmla="*/ 40 w 70"/>
                <a:gd name="T5" fmla="*/ 33 h 267"/>
                <a:gd name="T6" fmla="*/ 34 w 70"/>
                <a:gd name="T7" fmla="*/ 52 h 267"/>
                <a:gd name="T8" fmla="*/ 28 w 70"/>
                <a:gd name="T9" fmla="*/ 73 h 267"/>
                <a:gd name="T10" fmla="*/ 21 w 70"/>
                <a:gd name="T11" fmla="*/ 115 h 267"/>
                <a:gd name="T12" fmla="*/ 15 w 70"/>
                <a:gd name="T13" fmla="*/ 157 h 267"/>
                <a:gd name="T14" fmla="*/ 9 w 70"/>
                <a:gd name="T15" fmla="*/ 195 h 267"/>
                <a:gd name="T16" fmla="*/ 5 w 70"/>
                <a:gd name="T17" fmla="*/ 226 h 267"/>
                <a:gd name="T18" fmla="*/ 3 w 70"/>
                <a:gd name="T19" fmla="*/ 240 h 267"/>
                <a:gd name="T20" fmla="*/ 1 w 70"/>
                <a:gd name="T21" fmla="*/ 247 h 267"/>
                <a:gd name="T22" fmla="*/ 0 w 70"/>
                <a:gd name="T23" fmla="*/ 251 h 267"/>
                <a:gd name="T24" fmla="*/ 1 w 70"/>
                <a:gd name="T25" fmla="*/ 249 h 267"/>
                <a:gd name="T26" fmla="*/ 1 w 70"/>
                <a:gd name="T27" fmla="*/ 266 h 267"/>
                <a:gd name="T28" fmla="*/ 11 w 70"/>
                <a:gd name="T29" fmla="*/ 261 h 267"/>
                <a:gd name="T30" fmla="*/ 15 w 70"/>
                <a:gd name="T31" fmla="*/ 253 h 267"/>
                <a:gd name="T32" fmla="*/ 19 w 70"/>
                <a:gd name="T33" fmla="*/ 241 h 267"/>
                <a:gd name="T34" fmla="*/ 21 w 70"/>
                <a:gd name="T35" fmla="*/ 230 h 267"/>
                <a:gd name="T36" fmla="*/ 24 w 70"/>
                <a:gd name="T37" fmla="*/ 197 h 267"/>
                <a:gd name="T38" fmla="*/ 30 w 70"/>
                <a:gd name="T39" fmla="*/ 159 h 267"/>
                <a:gd name="T40" fmla="*/ 36 w 70"/>
                <a:gd name="T41" fmla="*/ 117 h 267"/>
                <a:gd name="T42" fmla="*/ 44 w 70"/>
                <a:gd name="T43" fmla="*/ 77 h 267"/>
                <a:gd name="T44" fmla="*/ 49 w 70"/>
                <a:gd name="T45" fmla="*/ 56 h 267"/>
                <a:gd name="T46" fmla="*/ 55 w 70"/>
                <a:gd name="T47" fmla="*/ 38 h 267"/>
                <a:gd name="T48" fmla="*/ 61 w 70"/>
                <a:gd name="T49" fmla="*/ 23 h 267"/>
                <a:gd name="T50" fmla="*/ 69 w 70"/>
                <a:gd name="T51" fmla="*/ 8 h 267"/>
                <a:gd name="T52" fmla="*/ 55 w 70"/>
                <a:gd name="T53" fmla="*/ 0 h 26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70" h="267">
                  <a:moveTo>
                    <a:pt x="55" y="0"/>
                  </a:moveTo>
                  <a:lnTo>
                    <a:pt x="47" y="15"/>
                  </a:lnTo>
                  <a:lnTo>
                    <a:pt x="40" y="33"/>
                  </a:lnTo>
                  <a:lnTo>
                    <a:pt x="34" y="52"/>
                  </a:lnTo>
                  <a:lnTo>
                    <a:pt x="28" y="73"/>
                  </a:lnTo>
                  <a:lnTo>
                    <a:pt x="21" y="115"/>
                  </a:lnTo>
                  <a:lnTo>
                    <a:pt x="15" y="157"/>
                  </a:lnTo>
                  <a:lnTo>
                    <a:pt x="9" y="195"/>
                  </a:lnTo>
                  <a:lnTo>
                    <a:pt x="5" y="226"/>
                  </a:lnTo>
                  <a:lnTo>
                    <a:pt x="3" y="240"/>
                  </a:lnTo>
                  <a:lnTo>
                    <a:pt x="1" y="247"/>
                  </a:lnTo>
                  <a:lnTo>
                    <a:pt x="0" y="251"/>
                  </a:lnTo>
                  <a:lnTo>
                    <a:pt x="1" y="249"/>
                  </a:lnTo>
                  <a:lnTo>
                    <a:pt x="1" y="266"/>
                  </a:lnTo>
                  <a:lnTo>
                    <a:pt x="11" y="261"/>
                  </a:lnTo>
                  <a:lnTo>
                    <a:pt x="15" y="253"/>
                  </a:lnTo>
                  <a:lnTo>
                    <a:pt x="19" y="241"/>
                  </a:lnTo>
                  <a:lnTo>
                    <a:pt x="21" y="230"/>
                  </a:lnTo>
                  <a:lnTo>
                    <a:pt x="24" y="197"/>
                  </a:lnTo>
                  <a:lnTo>
                    <a:pt x="30" y="159"/>
                  </a:lnTo>
                  <a:lnTo>
                    <a:pt x="36" y="117"/>
                  </a:lnTo>
                  <a:lnTo>
                    <a:pt x="44" y="77"/>
                  </a:lnTo>
                  <a:lnTo>
                    <a:pt x="49" y="56"/>
                  </a:lnTo>
                  <a:lnTo>
                    <a:pt x="55" y="38"/>
                  </a:lnTo>
                  <a:lnTo>
                    <a:pt x="61" y="23"/>
                  </a:lnTo>
                  <a:lnTo>
                    <a:pt x="69" y="8"/>
                  </a:lnTo>
                  <a:lnTo>
                    <a:pt x="55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49" name="Freeform 63">
              <a:extLst>
                <a:ext uri="{FF2B5EF4-FFF2-40B4-BE49-F238E27FC236}">
                  <a16:creationId xmlns:a16="http://schemas.microsoft.com/office/drawing/2014/main" id="{5CC246EC-5ABC-FCAB-B0C6-4DC98B0BFF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2" y="3488"/>
              <a:ext cx="55" cy="28"/>
            </a:xfrm>
            <a:custGeom>
              <a:avLst/>
              <a:gdLst>
                <a:gd name="T0" fmla="*/ 54 w 55"/>
                <a:gd name="T1" fmla="*/ 11 h 28"/>
                <a:gd name="T2" fmla="*/ 48 w 55"/>
                <a:gd name="T3" fmla="*/ 4 h 28"/>
                <a:gd name="T4" fmla="*/ 40 w 55"/>
                <a:gd name="T5" fmla="*/ 0 h 28"/>
                <a:gd name="T6" fmla="*/ 33 w 55"/>
                <a:gd name="T7" fmla="*/ 0 h 28"/>
                <a:gd name="T8" fmla="*/ 25 w 55"/>
                <a:gd name="T9" fmla="*/ 2 h 28"/>
                <a:gd name="T10" fmla="*/ 17 w 55"/>
                <a:gd name="T11" fmla="*/ 4 h 28"/>
                <a:gd name="T12" fmla="*/ 12 w 55"/>
                <a:gd name="T13" fmla="*/ 7 h 28"/>
                <a:gd name="T14" fmla="*/ 6 w 55"/>
                <a:gd name="T15" fmla="*/ 13 h 28"/>
                <a:gd name="T16" fmla="*/ 0 w 55"/>
                <a:gd name="T17" fmla="*/ 19 h 28"/>
                <a:gd name="T18" fmla="*/ 14 w 55"/>
                <a:gd name="T19" fmla="*/ 27 h 28"/>
                <a:gd name="T20" fmla="*/ 15 w 55"/>
                <a:gd name="T21" fmla="*/ 25 h 28"/>
                <a:gd name="T22" fmla="*/ 19 w 55"/>
                <a:gd name="T23" fmla="*/ 21 h 28"/>
                <a:gd name="T24" fmla="*/ 25 w 55"/>
                <a:gd name="T25" fmla="*/ 19 h 28"/>
                <a:gd name="T26" fmla="*/ 29 w 55"/>
                <a:gd name="T27" fmla="*/ 17 h 28"/>
                <a:gd name="T28" fmla="*/ 33 w 55"/>
                <a:gd name="T29" fmla="*/ 15 h 28"/>
                <a:gd name="T30" fmla="*/ 37 w 55"/>
                <a:gd name="T31" fmla="*/ 15 h 28"/>
                <a:gd name="T32" fmla="*/ 38 w 55"/>
                <a:gd name="T33" fmla="*/ 17 h 28"/>
                <a:gd name="T34" fmla="*/ 40 w 55"/>
                <a:gd name="T35" fmla="*/ 19 h 28"/>
                <a:gd name="T36" fmla="*/ 54 w 55"/>
                <a:gd name="T37" fmla="*/ 11 h 2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55" h="28">
                  <a:moveTo>
                    <a:pt x="54" y="11"/>
                  </a:moveTo>
                  <a:lnTo>
                    <a:pt x="48" y="4"/>
                  </a:lnTo>
                  <a:lnTo>
                    <a:pt x="40" y="0"/>
                  </a:lnTo>
                  <a:lnTo>
                    <a:pt x="33" y="0"/>
                  </a:lnTo>
                  <a:lnTo>
                    <a:pt x="25" y="2"/>
                  </a:lnTo>
                  <a:lnTo>
                    <a:pt x="17" y="4"/>
                  </a:lnTo>
                  <a:lnTo>
                    <a:pt x="12" y="7"/>
                  </a:lnTo>
                  <a:lnTo>
                    <a:pt x="6" y="13"/>
                  </a:lnTo>
                  <a:lnTo>
                    <a:pt x="0" y="19"/>
                  </a:lnTo>
                  <a:lnTo>
                    <a:pt x="14" y="27"/>
                  </a:lnTo>
                  <a:lnTo>
                    <a:pt x="15" y="25"/>
                  </a:lnTo>
                  <a:lnTo>
                    <a:pt x="19" y="21"/>
                  </a:lnTo>
                  <a:lnTo>
                    <a:pt x="25" y="19"/>
                  </a:lnTo>
                  <a:lnTo>
                    <a:pt x="29" y="17"/>
                  </a:lnTo>
                  <a:lnTo>
                    <a:pt x="33" y="15"/>
                  </a:lnTo>
                  <a:lnTo>
                    <a:pt x="37" y="15"/>
                  </a:lnTo>
                  <a:lnTo>
                    <a:pt x="38" y="17"/>
                  </a:lnTo>
                  <a:lnTo>
                    <a:pt x="40" y="19"/>
                  </a:lnTo>
                  <a:lnTo>
                    <a:pt x="54" y="11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50" name="Freeform 64">
              <a:extLst>
                <a:ext uri="{FF2B5EF4-FFF2-40B4-BE49-F238E27FC236}">
                  <a16:creationId xmlns:a16="http://schemas.microsoft.com/office/drawing/2014/main" id="{40D4B0B9-5A54-7861-5251-DA1496EB1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3499"/>
              <a:ext cx="21" cy="88"/>
            </a:xfrm>
            <a:custGeom>
              <a:avLst/>
              <a:gdLst>
                <a:gd name="T0" fmla="*/ 16 w 21"/>
                <a:gd name="T1" fmla="*/ 71 h 88"/>
                <a:gd name="T2" fmla="*/ 20 w 21"/>
                <a:gd name="T3" fmla="*/ 73 h 88"/>
                <a:gd name="T4" fmla="*/ 18 w 21"/>
                <a:gd name="T5" fmla="*/ 69 h 88"/>
                <a:gd name="T6" fmla="*/ 18 w 21"/>
                <a:gd name="T7" fmla="*/ 60 h 88"/>
                <a:gd name="T8" fmla="*/ 20 w 21"/>
                <a:gd name="T9" fmla="*/ 48 h 88"/>
                <a:gd name="T10" fmla="*/ 20 w 21"/>
                <a:gd name="T11" fmla="*/ 37 h 88"/>
                <a:gd name="T12" fmla="*/ 20 w 21"/>
                <a:gd name="T13" fmla="*/ 23 h 88"/>
                <a:gd name="T14" fmla="*/ 18 w 21"/>
                <a:gd name="T15" fmla="*/ 12 h 88"/>
                <a:gd name="T16" fmla="*/ 14 w 21"/>
                <a:gd name="T17" fmla="*/ 0 h 88"/>
                <a:gd name="T18" fmla="*/ 0 w 21"/>
                <a:gd name="T19" fmla="*/ 8 h 88"/>
                <a:gd name="T20" fmla="*/ 2 w 21"/>
                <a:gd name="T21" fmla="*/ 16 h 88"/>
                <a:gd name="T22" fmla="*/ 4 w 21"/>
                <a:gd name="T23" fmla="*/ 25 h 88"/>
                <a:gd name="T24" fmla="*/ 4 w 21"/>
                <a:gd name="T25" fmla="*/ 37 h 88"/>
                <a:gd name="T26" fmla="*/ 2 w 21"/>
                <a:gd name="T27" fmla="*/ 48 h 88"/>
                <a:gd name="T28" fmla="*/ 2 w 21"/>
                <a:gd name="T29" fmla="*/ 60 h 88"/>
                <a:gd name="T30" fmla="*/ 2 w 21"/>
                <a:gd name="T31" fmla="*/ 69 h 88"/>
                <a:gd name="T32" fmla="*/ 4 w 21"/>
                <a:gd name="T33" fmla="*/ 79 h 88"/>
                <a:gd name="T34" fmla="*/ 14 w 21"/>
                <a:gd name="T35" fmla="*/ 87 h 88"/>
                <a:gd name="T36" fmla="*/ 16 w 21"/>
                <a:gd name="T37" fmla="*/ 71 h 8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1" h="88">
                  <a:moveTo>
                    <a:pt x="16" y="71"/>
                  </a:moveTo>
                  <a:lnTo>
                    <a:pt x="20" y="73"/>
                  </a:lnTo>
                  <a:lnTo>
                    <a:pt x="18" y="69"/>
                  </a:lnTo>
                  <a:lnTo>
                    <a:pt x="18" y="60"/>
                  </a:lnTo>
                  <a:lnTo>
                    <a:pt x="20" y="48"/>
                  </a:lnTo>
                  <a:lnTo>
                    <a:pt x="20" y="37"/>
                  </a:lnTo>
                  <a:lnTo>
                    <a:pt x="20" y="23"/>
                  </a:lnTo>
                  <a:lnTo>
                    <a:pt x="18" y="12"/>
                  </a:lnTo>
                  <a:lnTo>
                    <a:pt x="14" y="0"/>
                  </a:lnTo>
                  <a:lnTo>
                    <a:pt x="0" y="8"/>
                  </a:lnTo>
                  <a:lnTo>
                    <a:pt x="2" y="16"/>
                  </a:lnTo>
                  <a:lnTo>
                    <a:pt x="4" y="25"/>
                  </a:lnTo>
                  <a:lnTo>
                    <a:pt x="4" y="37"/>
                  </a:lnTo>
                  <a:lnTo>
                    <a:pt x="2" y="48"/>
                  </a:lnTo>
                  <a:lnTo>
                    <a:pt x="2" y="60"/>
                  </a:lnTo>
                  <a:lnTo>
                    <a:pt x="2" y="69"/>
                  </a:lnTo>
                  <a:lnTo>
                    <a:pt x="4" y="79"/>
                  </a:lnTo>
                  <a:lnTo>
                    <a:pt x="14" y="87"/>
                  </a:lnTo>
                  <a:lnTo>
                    <a:pt x="16" y="71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51" name="Freeform 65">
              <a:extLst>
                <a:ext uri="{FF2B5EF4-FFF2-40B4-BE49-F238E27FC236}">
                  <a16:creationId xmlns:a16="http://schemas.microsoft.com/office/drawing/2014/main" id="{E26ECA6B-46AF-27D1-86A4-CA0EFB918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" y="3568"/>
              <a:ext cx="17" cy="17"/>
            </a:xfrm>
            <a:custGeom>
              <a:avLst/>
              <a:gdLst>
                <a:gd name="T0" fmla="*/ 10 w 17"/>
                <a:gd name="T1" fmla="*/ 6 h 17"/>
                <a:gd name="T2" fmla="*/ 4 w 17"/>
                <a:gd name="T3" fmla="*/ 0 h 17"/>
                <a:gd name="T4" fmla="*/ 0 w 17"/>
                <a:gd name="T5" fmla="*/ 4 h 17"/>
                <a:gd name="T6" fmla="*/ 11 w 17"/>
                <a:gd name="T7" fmla="*/ 16 h 17"/>
                <a:gd name="T8" fmla="*/ 16 w 17"/>
                <a:gd name="T9" fmla="*/ 12 h 17"/>
                <a:gd name="T10" fmla="*/ 10 w 17"/>
                <a:gd name="T11" fmla="*/ 6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17">
                  <a:moveTo>
                    <a:pt x="10" y="6"/>
                  </a:moveTo>
                  <a:lnTo>
                    <a:pt x="4" y="0"/>
                  </a:lnTo>
                  <a:lnTo>
                    <a:pt x="0" y="4"/>
                  </a:lnTo>
                  <a:lnTo>
                    <a:pt x="11" y="16"/>
                  </a:lnTo>
                  <a:lnTo>
                    <a:pt x="16" y="12"/>
                  </a:lnTo>
                  <a:lnTo>
                    <a:pt x="10" y="6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52" name="Freeform 66">
              <a:extLst>
                <a:ext uri="{FF2B5EF4-FFF2-40B4-BE49-F238E27FC236}">
                  <a16:creationId xmlns:a16="http://schemas.microsoft.com/office/drawing/2014/main" id="{AA0E346B-A6DC-9B8C-4D4C-1ECA4D772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4" y="3405"/>
              <a:ext cx="77" cy="172"/>
            </a:xfrm>
            <a:custGeom>
              <a:avLst/>
              <a:gdLst>
                <a:gd name="T0" fmla="*/ 63 w 77"/>
                <a:gd name="T1" fmla="*/ 0 h 172"/>
                <a:gd name="T2" fmla="*/ 53 w 77"/>
                <a:gd name="T3" fmla="*/ 18 h 172"/>
                <a:gd name="T4" fmla="*/ 46 w 77"/>
                <a:gd name="T5" fmla="*/ 31 h 172"/>
                <a:gd name="T6" fmla="*/ 38 w 77"/>
                <a:gd name="T7" fmla="*/ 44 h 172"/>
                <a:gd name="T8" fmla="*/ 31 w 77"/>
                <a:gd name="T9" fmla="*/ 60 h 172"/>
                <a:gd name="T10" fmla="*/ 23 w 77"/>
                <a:gd name="T11" fmla="*/ 79 h 172"/>
                <a:gd name="T12" fmla="*/ 15 w 77"/>
                <a:gd name="T13" fmla="*/ 102 h 172"/>
                <a:gd name="T14" fmla="*/ 8 w 77"/>
                <a:gd name="T15" fmla="*/ 131 h 172"/>
                <a:gd name="T16" fmla="*/ 0 w 77"/>
                <a:gd name="T17" fmla="*/ 167 h 172"/>
                <a:gd name="T18" fmla="*/ 15 w 77"/>
                <a:gd name="T19" fmla="*/ 171 h 172"/>
                <a:gd name="T20" fmla="*/ 23 w 77"/>
                <a:gd name="T21" fmla="*/ 135 h 172"/>
                <a:gd name="T22" fmla="*/ 31 w 77"/>
                <a:gd name="T23" fmla="*/ 106 h 172"/>
                <a:gd name="T24" fmla="*/ 38 w 77"/>
                <a:gd name="T25" fmla="*/ 85 h 172"/>
                <a:gd name="T26" fmla="*/ 46 w 77"/>
                <a:gd name="T27" fmla="*/ 67 h 172"/>
                <a:gd name="T28" fmla="*/ 53 w 77"/>
                <a:gd name="T29" fmla="*/ 52 h 172"/>
                <a:gd name="T30" fmla="*/ 61 w 77"/>
                <a:gd name="T31" fmla="*/ 39 h 172"/>
                <a:gd name="T32" fmla="*/ 69 w 77"/>
                <a:gd name="T33" fmla="*/ 25 h 172"/>
                <a:gd name="T34" fmla="*/ 76 w 77"/>
                <a:gd name="T35" fmla="*/ 8 h 172"/>
                <a:gd name="T36" fmla="*/ 63 w 77"/>
                <a:gd name="T37" fmla="*/ 0 h 17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7" h="172">
                  <a:moveTo>
                    <a:pt x="63" y="0"/>
                  </a:moveTo>
                  <a:lnTo>
                    <a:pt x="53" y="18"/>
                  </a:lnTo>
                  <a:lnTo>
                    <a:pt x="46" y="31"/>
                  </a:lnTo>
                  <a:lnTo>
                    <a:pt x="38" y="44"/>
                  </a:lnTo>
                  <a:lnTo>
                    <a:pt x="31" y="60"/>
                  </a:lnTo>
                  <a:lnTo>
                    <a:pt x="23" y="79"/>
                  </a:lnTo>
                  <a:lnTo>
                    <a:pt x="15" y="102"/>
                  </a:lnTo>
                  <a:lnTo>
                    <a:pt x="8" y="131"/>
                  </a:lnTo>
                  <a:lnTo>
                    <a:pt x="0" y="167"/>
                  </a:lnTo>
                  <a:lnTo>
                    <a:pt x="15" y="171"/>
                  </a:lnTo>
                  <a:lnTo>
                    <a:pt x="23" y="135"/>
                  </a:lnTo>
                  <a:lnTo>
                    <a:pt x="31" y="106"/>
                  </a:lnTo>
                  <a:lnTo>
                    <a:pt x="38" y="85"/>
                  </a:lnTo>
                  <a:lnTo>
                    <a:pt x="46" y="67"/>
                  </a:lnTo>
                  <a:lnTo>
                    <a:pt x="53" y="52"/>
                  </a:lnTo>
                  <a:lnTo>
                    <a:pt x="61" y="39"/>
                  </a:lnTo>
                  <a:lnTo>
                    <a:pt x="69" y="25"/>
                  </a:lnTo>
                  <a:lnTo>
                    <a:pt x="76" y="8"/>
                  </a:lnTo>
                  <a:lnTo>
                    <a:pt x="63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53" name="Freeform 67">
              <a:extLst>
                <a:ext uri="{FF2B5EF4-FFF2-40B4-BE49-F238E27FC236}">
                  <a16:creationId xmlns:a16="http://schemas.microsoft.com/office/drawing/2014/main" id="{C6947917-DBDD-341E-CBFD-4157D4C7D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7" y="3248"/>
              <a:ext cx="91" cy="166"/>
            </a:xfrm>
            <a:custGeom>
              <a:avLst/>
              <a:gdLst>
                <a:gd name="T0" fmla="*/ 84 w 91"/>
                <a:gd name="T1" fmla="*/ 2 h 166"/>
                <a:gd name="T2" fmla="*/ 90 w 91"/>
                <a:gd name="T3" fmla="*/ 4 h 166"/>
                <a:gd name="T4" fmla="*/ 81 w 91"/>
                <a:gd name="T5" fmla="*/ 0 h 166"/>
                <a:gd name="T6" fmla="*/ 71 w 91"/>
                <a:gd name="T7" fmla="*/ 2 h 166"/>
                <a:gd name="T8" fmla="*/ 65 w 91"/>
                <a:gd name="T9" fmla="*/ 8 h 166"/>
                <a:gd name="T10" fmla="*/ 59 w 91"/>
                <a:gd name="T11" fmla="*/ 17 h 166"/>
                <a:gd name="T12" fmla="*/ 48 w 91"/>
                <a:gd name="T13" fmla="*/ 37 h 166"/>
                <a:gd name="T14" fmla="*/ 36 w 91"/>
                <a:gd name="T15" fmla="*/ 63 h 166"/>
                <a:gd name="T16" fmla="*/ 27 w 91"/>
                <a:gd name="T17" fmla="*/ 92 h 166"/>
                <a:gd name="T18" fmla="*/ 17 w 91"/>
                <a:gd name="T19" fmla="*/ 119 h 166"/>
                <a:gd name="T20" fmla="*/ 8 w 91"/>
                <a:gd name="T21" fmla="*/ 142 h 166"/>
                <a:gd name="T22" fmla="*/ 0 w 91"/>
                <a:gd name="T23" fmla="*/ 157 h 166"/>
                <a:gd name="T24" fmla="*/ 13 w 91"/>
                <a:gd name="T25" fmla="*/ 165 h 166"/>
                <a:gd name="T26" fmla="*/ 23 w 91"/>
                <a:gd name="T27" fmla="*/ 148 h 166"/>
                <a:gd name="T28" fmla="*/ 31 w 91"/>
                <a:gd name="T29" fmla="*/ 125 h 166"/>
                <a:gd name="T30" fmla="*/ 42 w 91"/>
                <a:gd name="T31" fmla="*/ 96 h 166"/>
                <a:gd name="T32" fmla="*/ 52 w 91"/>
                <a:gd name="T33" fmla="*/ 69 h 166"/>
                <a:gd name="T34" fmla="*/ 63 w 91"/>
                <a:gd name="T35" fmla="*/ 44 h 166"/>
                <a:gd name="T36" fmla="*/ 73 w 91"/>
                <a:gd name="T37" fmla="*/ 25 h 166"/>
                <a:gd name="T38" fmla="*/ 77 w 91"/>
                <a:gd name="T39" fmla="*/ 19 h 166"/>
                <a:gd name="T40" fmla="*/ 81 w 91"/>
                <a:gd name="T41" fmla="*/ 16 h 166"/>
                <a:gd name="T42" fmla="*/ 84 w 91"/>
                <a:gd name="T43" fmla="*/ 17 h 166"/>
                <a:gd name="T44" fmla="*/ 84 w 91"/>
                <a:gd name="T45" fmla="*/ 2 h 16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91" h="166">
                  <a:moveTo>
                    <a:pt x="84" y="2"/>
                  </a:moveTo>
                  <a:lnTo>
                    <a:pt x="90" y="4"/>
                  </a:lnTo>
                  <a:lnTo>
                    <a:pt x="81" y="0"/>
                  </a:lnTo>
                  <a:lnTo>
                    <a:pt x="71" y="2"/>
                  </a:lnTo>
                  <a:lnTo>
                    <a:pt x="65" y="8"/>
                  </a:lnTo>
                  <a:lnTo>
                    <a:pt x="59" y="17"/>
                  </a:lnTo>
                  <a:lnTo>
                    <a:pt x="48" y="37"/>
                  </a:lnTo>
                  <a:lnTo>
                    <a:pt x="36" y="63"/>
                  </a:lnTo>
                  <a:lnTo>
                    <a:pt x="27" y="92"/>
                  </a:lnTo>
                  <a:lnTo>
                    <a:pt x="17" y="119"/>
                  </a:lnTo>
                  <a:lnTo>
                    <a:pt x="8" y="142"/>
                  </a:lnTo>
                  <a:lnTo>
                    <a:pt x="0" y="157"/>
                  </a:lnTo>
                  <a:lnTo>
                    <a:pt x="13" y="165"/>
                  </a:lnTo>
                  <a:lnTo>
                    <a:pt x="23" y="148"/>
                  </a:lnTo>
                  <a:lnTo>
                    <a:pt x="31" y="125"/>
                  </a:lnTo>
                  <a:lnTo>
                    <a:pt x="42" y="96"/>
                  </a:lnTo>
                  <a:lnTo>
                    <a:pt x="52" y="69"/>
                  </a:lnTo>
                  <a:lnTo>
                    <a:pt x="63" y="44"/>
                  </a:lnTo>
                  <a:lnTo>
                    <a:pt x="73" y="25"/>
                  </a:lnTo>
                  <a:lnTo>
                    <a:pt x="77" y="19"/>
                  </a:lnTo>
                  <a:lnTo>
                    <a:pt x="81" y="16"/>
                  </a:lnTo>
                  <a:lnTo>
                    <a:pt x="84" y="17"/>
                  </a:lnTo>
                  <a:lnTo>
                    <a:pt x="84" y="2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54" name="Freeform 68">
              <a:extLst>
                <a:ext uri="{FF2B5EF4-FFF2-40B4-BE49-F238E27FC236}">
                  <a16:creationId xmlns:a16="http://schemas.microsoft.com/office/drawing/2014/main" id="{547F8133-420B-8381-E072-27B4C63C1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" y="3250"/>
              <a:ext cx="24" cy="160"/>
            </a:xfrm>
            <a:custGeom>
              <a:avLst/>
              <a:gdLst>
                <a:gd name="T0" fmla="*/ 15 w 24"/>
                <a:gd name="T1" fmla="*/ 159 h 160"/>
                <a:gd name="T2" fmla="*/ 15 w 24"/>
                <a:gd name="T3" fmla="*/ 136 h 160"/>
                <a:gd name="T4" fmla="*/ 17 w 24"/>
                <a:gd name="T5" fmla="*/ 113 h 160"/>
                <a:gd name="T6" fmla="*/ 21 w 24"/>
                <a:gd name="T7" fmla="*/ 88 h 160"/>
                <a:gd name="T8" fmla="*/ 21 w 24"/>
                <a:gd name="T9" fmla="*/ 63 h 160"/>
                <a:gd name="T10" fmla="*/ 23 w 24"/>
                <a:gd name="T11" fmla="*/ 40 h 160"/>
                <a:gd name="T12" fmla="*/ 21 w 24"/>
                <a:gd name="T13" fmla="*/ 23 h 160"/>
                <a:gd name="T14" fmla="*/ 19 w 24"/>
                <a:gd name="T15" fmla="*/ 15 h 160"/>
                <a:gd name="T16" fmla="*/ 17 w 24"/>
                <a:gd name="T17" fmla="*/ 8 h 160"/>
                <a:gd name="T18" fmla="*/ 11 w 24"/>
                <a:gd name="T19" fmla="*/ 2 h 160"/>
                <a:gd name="T20" fmla="*/ 3 w 24"/>
                <a:gd name="T21" fmla="*/ 0 h 160"/>
                <a:gd name="T22" fmla="*/ 3 w 24"/>
                <a:gd name="T23" fmla="*/ 15 h 160"/>
                <a:gd name="T24" fmla="*/ 3 w 24"/>
                <a:gd name="T25" fmla="*/ 19 h 160"/>
                <a:gd name="T26" fmla="*/ 5 w 24"/>
                <a:gd name="T27" fmla="*/ 25 h 160"/>
                <a:gd name="T28" fmla="*/ 5 w 24"/>
                <a:gd name="T29" fmla="*/ 40 h 160"/>
                <a:gd name="T30" fmla="*/ 5 w 24"/>
                <a:gd name="T31" fmla="*/ 61 h 160"/>
                <a:gd name="T32" fmla="*/ 3 w 24"/>
                <a:gd name="T33" fmla="*/ 86 h 160"/>
                <a:gd name="T34" fmla="*/ 1 w 24"/>
                <a:gd name="T35" fmla="*/ 111 h 160"/>
                <a:gd name="T36" fmla="*/ 0 w 24"/>
                <a:gd name="T37" fmla="*/ 136 h 160"/>
                <a:gd name="T38" fmla="*/ 0 w 24"/>
                <a:gd name="T39" fmla="*/ 159 h 160"/>
                <a:gd name="T40" fmla="*/ 15 w 24"/>
                <a:gd name="T41" fmla="*/ 159 h 16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24" h="160">
                  <a:moveTo>
                    <a:pt x="15" y="159"/>
                  </a:moveTo>
                  <a:lnTo>
                    <a:pt x="15" y="136"/>
                  </a:lnTo>
                  <a:lnTo>
                    <a:pt x="17" y="113"/>
                  </a:lnTo>
                  <a:lnTo>
                    <a:pt x="21" y="88"/>
                  </a:lnTo>
                  <a:lnTo>
                    <a:pt x="21" y="63"/>
                  </a:lnTo>
                  <a:lnTo>
                    <a:pt x="23" y="40"/>
                  </a:lnTo>
                  <a:lnTo>
                    <a:pt x="21" y="23"/>
                  </a:lnTo>
                  <a:lnTo>
                    <a:pt x="19" y="15"/>
                  </a:lnTo>
                  <a:lnTo>
                    <a:pt x="17" y="8"/>
                  </a:lnTo>
                  <a:lnTo>
                    <a:pt x="11" y="2"/>
                  </a:lnTo>
                  <a:lnTo>
                    <a:pt x="3" y="0"/>
                  </a:lnTo>
                  <a:lnTo>
                    <a:pt x="3" y="15"/>
                  </a:lnTo>
                  <a:lnTo>
                    <a:pt x="3" y="19"/>
                  </a:lnTo>
                  <a:lnTo>
                    <a:pt x="5" y="25"/>
                  </a:lnTo>
                  <a:lnTo>
                    <a:pt x="5" y="40"/>
                  </a:lnTo>
                  <a:lnTo>
                    <a:pt x="5" y="61"/>
                  </a:lnTo>
                  <a:lnTo>
                    <a:pt x="3" y="86"/>
                  </a:lnTo>
                  <a:lnTo>
                    <a:pt x="1" y="111"/>
                  </a:lnTo>
                  <a:lnTo>
                    <a:pt x="0" y="136"/>
                  </a:lnTo>
                  <a:lnTo>
                    <a:pt x="0" y="159"/>
                  </a:lnTo>
                  <a:lnTo>
                    <a:pt x="15" y="159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55" name="Freeform 69">
              <a:extLst>
                <a:ext uri="{FF2B5EF4-FFF2-40B4-BE49-F238E27FC236}">
                  <a16:creationId xmlns:a16="http://schemas.microsoft.com/office/drawing/2014/main" id="{59ABAE86-F690-59F8-03C7-7809B72F43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3409"/>
              <a:ext cx="28" cy="51"/>
            </a:xfrm>
            <a:custGeom>
              <a:avLst/>
              <a:gdLst>
                <a:gd name="T0" fmla="*/ 11 w 28"/>
                <a:gd name="T1" fmla="*/ 40 h 51"/>
                <a:gd name="T2" fmla="*/ 21 w 28"/>
                <a:gd name="T3" fmla="*/ 35 h 51"/>
                <a:gd name="T4" fmla="*/ 17 w 28"/>
                <a:gd name="T5" fmla="*/ 33 h 51"/>
                <a:gd name="T6" fmla="*/ 17 w 28"/>
                <a:gd name="T7" fmla="*/ 31 h 51"/>
                <a:gd name="T8" fmla="*/ 15 w 28"/>
                <a:gd name="T9" fmla="*/ 29 h 51"/>
                <a:gd name="T10" fmla="*/ 15 w 28"/>
                <a:gd name="T11" fmla="*/ 25 h 51"/>
                <a:gd name="T12" fmla="*/ 17 w 28"/>
                <a:gd name="T13" fmla="*/ 19 h 51"/>
                <a:gd name="T14" fmla="*/ 17 w 28"/>
                <a:gd name="T15" fmla="*/ 14 h 51"/>
                <a:gd name="T16" fmla="*/ 19 w 28"/>
                <a:gd name="T17" fmla="*/ 8 h 51"/>
                <a:gd name="T18" fmla="*/ 19 w 28"/>
                <a:gd name="T19" fmla="*/ 0 h 51"/>
                <a:gd name="T20" fmla="*/ 4 w 28"/>
                <a:gd name="T21" fmla="*/ 0 h 51"/>
                <a:gd name="T22" fmla="*/ 2 w 28"/>
                <a:gd name="T23" fmla="*/ 6 h 51"/>
                <a:gd name="T24" fmla="*/ 2 w 28"/>
                <a:gd name="T25" fmla="*/ 12 h 51"/>
                <a:gd name="T26" fmla="*/ 0 w 28"/>
                <a:gd name="T27" fmla="*/ 17 h 51"/>
                <a:gd name="T28" fmla="*/ 0 w 28"/>
                <a:gd name="T29" fmla="*/ 25 h 51"/>
                <a:gd name="T30" fmla="*/ 0 w 28"/>
                <a:gd name="T31" fmla="*/ 31 h 51"/>
                <a:gd name="T32" fmla="*/ 2 w 28"/>
                <a:gd name="T33" fmla="*/ 39 h 51"/>
                <a:gd name="T34" fmla="*/ 7 w 28"/>
                <a:gd name="T35" fmla="*/ 46 h 51"/>
                <a:gd name="T36" fmla="*/ 15 w 28"/>
                <a:gd name="T37" fmla="*/ 50 h 51"/>
                <a:gd name="T38" fmla="*/ 27 w 28"/>
                <a:gd name="T39" fmla="*/ 44 h 51"/>
                <a:gd name="T40" fmla="*/ 11 w 28"/>
                <a:gd name="T41" fmla="*/ 40 h 5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28" h="51">
                  <a:moveTo>
                    <a:pt x="11" y="40"/>
                  </a:moveTo>
                  <a:lnTo>
                    <a:pt x="21" y="35"/>
                  </a:lnTo>
                  <a:lnTo>
                    <a:pt x="17" y="33"/>
                  </a:lnTo>
                  <a:lnTo>
                    <a:pt x="17" y="31"/>
                  </a:lnTo>
                  <a:lnTo>
                    <a:pt x="15" y="29"/>
                  </a:lnTo>
                  <a:lnTo>
                    <a:pt x="15" y="25"/>
                  </a:lnTo>
                  <a:lnTo>
                    <a:pt x="17" y="19"/>
                  </a:lnTo>
                  <a:lnTo>
                    <a:pt x="17" y="14"/>
                  </a:lnTo>
                  <a:lnTo>
                    <a:pt x="19" y="8"/>
                  </a:lnTo>
                  <a:lnTo>
                    <a:pt x="19" y="0"/>
                  </a:lnTo>
                  <a:lnTo>
                    <a:pt x="4" y="0"/>
                  </a:lnTo>
                  <a:lnTo>
                    <a:pt x="2" y="6"/>
                  </a:lnTo>
                  <a:lnTo>
                    <a:pt x="2" y="12"/>
                  </a:lnTo>
                  <a:lnTo>
                    <a:pt x="0" y="17"/>
                  </a:lnTo>
                  <a:lnTo>
                    <a:pt x="0" y="25"/>
                  </a:lnTo>
                  <a:lnTo>
                    <a:pt x="0" y="31"/>
                  </a:lnTo>
                  <a:lnTo>
                    <a:pt x="2" y="39"/>
                  </a:lnTo>
                  <a:lnTo>
                    <a:pt x="7" y="46"/>
                  </a:lnTo>
                  <a:lnTo>
                    <a:pt x="15" y="50"/>
                  </a:lnTo>
                  <a:lnTo>
                    <a:pt x="27" y="44"/>
                  </a:lnTo>
                  <a:lnTo>
                    <a:pt x="11" y="4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56" name="Freeform 70">
              <a:extLst>
                <a:ext uri="{FF2B5EF4-FFF2-40B4-BE49-F238E27FC236}">
                  <a16:creationId xmlns:a16="http://schemas.microsoft.com/office/drawing/2014/main" id="{761C5EF4-4D9B-B97B-B883-EE9AD7068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5" y="3419"/>
              <a:ext cx="32" cy="83"/>
            </a:xfrm>
            <a:custGeom>
              <a:avLst/>
              <a:gdLst>
                <a:gd name="T0" fmla="*/ 19 w 32"/>
                <a:gd name="T1" fmla="*/ 71 h 83"/>
                <a:gd name="T2" fmla="*/ 29 w 32"/>
                <a:gd name="T3" fmla="*/ 69 h 83"/>
                <a:gd name="T4" fmla="*/ 31 w 32"/>
                <a:gd name="T5" fmla="*/ 71 h 83"/>
                <a:gd name="T6" fmla="*/ 31 w 32"/>
                <a:gd name="T7" fmla="*/ 67 h 83"/>
                <a:gd name="T8" fmla="*/ 29 w 32"/>
                <a:gd name="T9" fmla="*/ 61 h 83"/>
                <a:gd name="T10" fmla="*/ 29 w 32"/>
                <a:gd name="T11" fmla="*/ 46 h 83"/>
                <a:gd name="T12" fmla="*/ 29 w 32"/>
                <a:gd name="T13" fmla="*/ 29 h 83"/>
                <a:gd name="T14" fmla="*/ 27 w 32"/>
                <a:gd name="T15" fmla="*/ 13 h 83"/>
                <a:gd name="T16" fmla="*/ 21 w 32"/>
                <a:gd name="T17" fmla="*/ 0 h 83"/>
                <a:gd name="T18" fmla="*/ 6 w 32"/>
                <a:gd name="T19" fmla="*/ 9 h 83"/>
                <a:gd name="T20" fmla="*/ 0 w 32"/>
                <a:gd name="T21" fmla="*/ 30 h 83"/>
                <a:gd name="T22" fmla="*/ 16 w 32"/>
                <a:gd name="T23" fmla="*/ 34 h 83"/>
                <a:gd name="T24" fmla="*/ 21 w 32"/>
                <a:gd name="T25" fmla="*/ 15 h 83"/>
                <a:gd name="T26" fmla="*/ 16 w 32"/>
                <a:gd name="T27" fmla="*/ 15 h 83"/>
                <a:gd name="T28" fmla="*/ 12 w 32"/>
                <a:gd name="T29" fmla="*/ 15 h 83"/>
                <a:gd name="T30" fmla="*/ 14 w 32"/>
                <a:gd name="T31" fmla="*/ 29 h 83"/>
                <a:gd name="T32" fmla="*/ 14 w 32"/>
                <a:gd name="T33" fmla="*/ 46 h 83"/>
                <a:gd name="T34" fmla="*/ 14 w 32"/>
                <a:gd name="T35" fmla="*/ 63 h 83"/>
                <a:gd name="T36" fmla="*/ 14 w 32"/>
                <a:gd name="T37" fmla="*/ 69 h 83"/>
                <a:gd name="T38" fmla="*/ 16 w 32"/>
                <a:gd name="T39" fmla="*/ 75 h 83"/>
                <a:gd name="T40" fmla="*/ 19 w 32"/>
                <a:gd name="T41" fmla="*/ 82 h 83"/>
                <a:gd name="T42" fmla="*/ 31 w 32"/>
                <a:gd name="T43" fmla="*/ 80 h 83"/>
                <a:gd name="T44" fmla="*/ 19 w 32"/>
                <a:gd name="T45" fmla="*/ 71 h 8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32" h="83">
                  <a:moveTo>
                    <a:pt x="19" y="71"/>
                  </a:moveTo>
                  <a:lnTo>
                    <a:pt x="29" y="69"/>
                  </a:lnTo>
                  <a:lnTo>
                    <a:pt x="31" y="71"/>
                  </a:lnTo>
                  <a:lnTo>
                    <a:pt x="31" y="67"/>
                  </a:lnTo>
                  <a:lnTo>
                    <a:pt x="29" y="61"/>
                  </a:lnTo>
                  <a:lnTo>
                    <a:pt x="29" y="46"/>
                  </a:lnTo>
                  <a:lnTo>
                    <a:pt x="29" y="29"/>
                  </a:lnTo>
                  <a:lnTo>
                    <a:pt x="27" y="13"/>
                  </a:lnTo>
                  <a:lnTo>
                    <a:pt x="21" y="0"/>
                  </a:lnTo>
                  <a:lnTo>
                    <a:pt x="6" y="9"/>
                  </a:lnTo>
                  <a:lnTo>
                    <a:pt x="0" y="30"/>
                  </a:lnTo>
                  <a:lnTo>
                    <a:pt x="16" y="34"/>
                  </a:lnTo>
                  <a:lnTo>
                    <a:pt x="21" y="15"/>
                  </a:lnTo>
                  <a:lnTo>
                    <a:pt x="16" y="15"/>
                  </a:lnTo>
                  <a:lnTo>
                    <a:pt x="12" y="15"/>
                  </a:lnTo>
                  <a:lnTo>
                    <a:pt x="14" y="29"/>
                  </a:lnTo>
                  <a:lnTo>
                    <a:pt x="14" y="46"/>
                  </a:lnTo>
                  <a:lnTo>
                    <a:pt x="14" y="63"/>
                  </a:lnTo>
                  <a:lnTo>
                    <a:pt x="14" y="69"/>
                  </a:lnTo>
                  <a:lnTo>
                    <a:pt x="16" y="75"/>
                  </a:lnTo>
                  <a:lnTo>
                    <a:pt x="19" y="82"/>
                  </a:lnTo>
                  <a:lnTo>
                    <a:pt x="31" y="80"/>
                  </a:lnTo>
                  <a:lnTo>
                    <a:pt x="19" y="71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57" name="Freeform 71">
              <a:extLst>
                <a:ext uri="{FF2B5EF4-FFF2-40B4-BE49-F238E27FC236}">
                  <a16:creationId xmlns:a16="http://schemas.microsoft.com/office/drawing/2014/main" id="{AE644ED7-B693-E413-E005-E03125F521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4" y="3367"/>
              <a:ext cx="51" cy="133"/>
            </a:xfrm>
            <a:custGeom>
              <a:avLst/>
              <a:gdLst>
                <a:gd name="T0" fmla="*/ 35 w 51"/>
                <a:gd name="T1" fmla="*/ 0 h 133"/>
                <a:gd name="T2" fmla="*/ 29 w 51"/>
                <a:gd name="T3" fmla="*/ 17 h 133"/>
                <a:gd name="T4" fmla="*/ 23 w 51"/>
                <a:gd name="T5" fmla="*/ 36 h 133"/>
                <a:gd name="T6" fmla="*/ 20 w 51"/>
                <a:gd name="T7" fmla="*/ 56 h 133"/>
                <a:gd name="T8" fmla="*/ 14 w 51"/>
                <a:gd name="T9" fmla="*/ 75 h 133"/>
                <a:gd name="T10" fmla="*/ 10 w 51"/>
                <a:gd name="T11" fmla="*/ 92 h 133"/>
                <a:gd name="T12" fmla="*/ 6 w 51"/>
                <a:gd name="T13" fmla="*/ 107 h 133"/>
                <a:gd name="T14" fmla="*/ 2 w 51"/>
                <a:gd name="T15" fmla="*/ 119 h 133"/>
                <a:gd name="T16" fmla="*/ 0 w 51"/>
                <a:gd name="T17" fmla="*/ 123 h 133"/>
                <a:gd name="T18" fmla="*/ 12 w 51"/>
                <a:gd name="T19" fmla="*/ 132 h 133"/>
                <a:gd name="T20" fmla="*/ 18 w 51"/>
                <a:gd name="T21" fmla="*/ 125 h 133"/>
                <a:gd name="T22" fmla="*/ 21 w 51"/>
                <a:gd name="T23" fmla="*/ 113 h 133"/>
                <a:gd name="T24" fmla="*/ 25 w 51"/>
                <a:gd name="T25" fmla="*/ 98 h 133"/>
                <a:gd name="T26" fmla="*/ 29 w 51"/>
                <a:gd name="T27" fmla="*/ 79 h 133"/>
                <a:gd name="T28" fmla="*/ 35 w 51"/>
                <a:gd name="T29" fmla="*/ 59 h 133"/>
                <a:gd name="T30" fmla="*/ 39 w 51"/>
                <a:gd name="T31" fmla="*/ 40 h 133"/>
                <a:gd name="T32" fmla="*/ 44 w 51"/>
                <a:gd name="T33" fmla="*/ 21 h 133"/>
                <a:gd name="T34" fmla="*/ 50 w 51"/>
                <a:gd name="T35" fmla="*/ 4 h 133"/>
                <a:gd name="T36" fmla="*/ 35 w 51"/>
                <a:gd name="T37" fmla="*/ 0 h 13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51" h="133">
                  <a:moveTo>
                    <a:pt x="35" y="0"/>
                  </a:moveTo>
                  <a:lnTo>
                    <a:pt x="29" y="17"/>
                  </a:lnTo>
                  <a:lnTo>
                    <a:pt x="23" y="36"/>
                  </a:lnTo>
                  <a:lnTo>
                    <a:pt x="20" y="56"/>
                  </a:lnTo>
                  <a:lnTo>
                    <a:pt x="14" y="75"/>
                  </a:lnTo>
                  <a:lnTo>
                    <a:pt x="10" y="92"/>
                  </a:lnTo>
                  <a:lnTo>
                    <a:pt x="6" y="107"/>
                  </a:lnTo>
                  <a:lnTo>
                    <a:pt x="2" y="119"/>
                  </a:lnTo>
                  <a:lnTo>
                    <a:pt x="0" y="123"/>
                  </a:lnTo>
                  <a:lnTo>
                    <a:pt x="12" y="132"/>
                  </a:lnTo>
                  <a:lnTo>
                    <a:pt x="18" y="125"/>
                  </a:lnTo>
                  <a:lnTo>
                    <a:pt x="21" y="113"/>
                  </a:lnTo>
                  <a:lnTo>
                    <a:pt x="25" y="98"/>
                  </a:lnTo>
                  <a:lnTo>
                    <a:pt x="29" y="79"/>
                  </a:lnTo>
                  <a:lnTo>
                    <a:pt x="35" y="59"/>
                  </a:lnTo>
                  <a:lnTo>
                    <a:pt x="39" y="40"/>
                  </a:lnTo>
                  <a:lnTo>
                    <a:pt x="44" y="21"/>
                  </a:lnTo>
                  <a:lnTo>
                    <a:pt x="50" y="4"/>
                  </a:lnTo>
                  <a:lnTo>
                    <a:pt x="35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58" name="Freeform 72">
              <a:extLst>
                <a:ext uri="{FF2B5EF4-FFF2-40B4-BE49-F238E27FC236}">
                  <a16:creationId xmlns:a16="http://schemas.microsoft.com/office/drawing/2014/main" id="{4782AF54-9A50-082A-8B6A-8E4B497F0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9" y="3177"/>
              <a:ext cx="97" cy="195"/>
            </a:xfrm>
            <a:custGeom>
              <a:avLst/>
              <a:gdLst>
                <a:gd name="T0" fmla="*/ 92 w 97"/>
                <a:gd name="T1" fmla="*/ 0 h 195"/>
                <a:gd name="T2" fmla="*/ 96 w 97"/>
                <a:gd name="T3" fmla="*/ 2 h 195"/>
                <a:gd name="T4" fmla="*/ 78 w 97"/>
                <a:gd name="T5" fmla="*/ 8 h 195"/>
                <a:gd name="T6" fmla="*/ 69 w 97"/>
                <a:gd name="T7" fmla="*/ 23 h 195"/>
                <a:gd name="T8" fmla="*/ 57 w 97"/>
                <a:gd name="T9" fmla="*/ 48 h 195"/>
                <a:gd name="T10" fmla="*/ 44 w 97"/>
                <a:gd name="T11" fmla="*/ 77 h 195"/>
                <a:gd name="T12" fmla="*/ 30 w 97"/>
                <a:gd name="T13" fmla="*/ 108 h 195"/>
                <a:gd name="T14" fmla="*/ 17 w 97"/>
                <a:gd name="T15" fmla="*/ 140 h 195"/>
                <a:gd name="T16" fmla="*/ 7 w 97"/>
                <a:gd name="T17" fmla="*/ 167 h 195"/>
                <a:gd name="T18" fmla="*/ 0 w 97"/>
                <a:gd name="T19" fmla="*/ 190 h 195"/>
                <a:gd name="T20" fmla="*/ 15 w 97"/>
                <a:gd name="T21" fmla="*/ 194 h 195"/>
                <a:gd name="T22" fmla="*/ 21 w 97"/>
                <a:gd name="T23" fmla="*/ 173 h 195"/>
                <a:gd name="T24" fmla="*/ 32 w 97"/>
                <a:gd name="T25" fmla="*/ 146 h 195"/>
                <a:gd name="T26" fmla="*/ 46 w 97"/>
                <a:gd name="T27" fmla="*/ 115 h 195"/>
                <a:gd name="T28" fmla="*/ 59 w 97"/>
                <a:gd name="T29" fmla="*/ 83 h 195"/>
                <a:gd name="T30" fmla="*/ 73 w 97"/>
                <a:gd name="T31" fmla="*/ 54 h 195"/>
                <a:gd name="T32" fmla="*/ 84 w 97"/>
                <a:gd name="T33" fmla="*/ 31 h 195"/>
                <a:gd name="T34" fmla="*/ 92 w 97"/>
                <a:gd name="T35" fmla="*/ 18 h 195"/>
                <a:gd name="T36" fmla="*/ 86 w 97"/>
                <a:gd name="T37" fmla="*/ 16 h 195"/>
                <a:gd name="T38" fmla="*/ 90 w 97"/>
                <a:gd name="T39" fmla="*/ 16 h 195"/>
                <a:gd name="T40" fmla="*/ 92 w 97"/>
                <a:gd name="T41" fmla="*/ 0 h 19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7" h="195">
                  <a:moveTo>
                    <a:pt x="92" y="0"/>
                  </a:moveTo>
                  <a:lnTo>
                    <a:pt x="96" y="2"/>
                  </a:lnTo>
                  <a:lnTo>
                    <a:pt x="78" y="8"/>
                  </a:lnTo>
                  <a:lnTo>
                    <a:pt x="69" y="23"/>
                  </a:lnTo>
                  <a:lnTo>
                    <a:pt x="57" y="48"/>
                  </a:lnTo>
                  <a:lnTo>
                    <a:pt x="44" y="77"/>
                  </a:lnTo>
                  <a:lnTo>
                    <a:pt x="30" y="108"/>
                  </a:lnTo>
                  <a:lnTo>
                    <a:pt x="17" y="140"/>
                  </a:lnTo>
                  <a:lnTo>
                    <a:pt x="7" y="167"/>
                  </a:lnTo>
                  <a:lnTo>
                    <a:pt x="0" y="190"/>
                  </a:lnTo>
                  <a:lnTo>
                    <a:pt x="15" y="194"/>
                  </a:lnTo>
                  <a:lnTo>
                    <a:pt x="21" y="173"/>
                  </a:lnTo>
                  <a:lnTo>
                    <a:pt x="32" y="146"/>
                  </a:lnTo>
                  <a:lnTo>
                    <a:pt x="46" y="115"/>
                  </a:lnTo>
                  <a:lnTo>
                    <a:pt x="59" y="83"/>
                  </a:lnTo>
                  <a:lnTo>
                    <a:pt x="73" y="54"/>
                  </a:lnTo>
                  <a:lnTo>
                    <a:pt x="84" y="31"/>
                  </a:lnTo>
                  <a:lnTo>
                    <a:pt x="92" y="18"/>
                  </a:lnTo>
                  <a:lnTo>
                    <a:pt x="86" y="16"/>
                  </a:lnTo>
                  <a:lnTo>
                    <a:pt x="90" y="16"/>
                  </a:lnTo>
                  <a:lnTo>
                    <a:pt x="92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59" name="Freeform 73">
              <a:extLst>
                <a:ext uri="{FF2B5EF4-FFF2-40B4-BE49-F238E27FC236}">
                  <a16:creationId xmlns:a16="http://schemas.microsoft.com/office/drawing/2014/main" id="{64695183-F813-AB2F-1492-3FEE0F559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8" y="3177"/>
              <a:ext cx="45" cy="229"/>
            </a:xfrm>
            <a:custGeom>
              <a:avLst/>
              <a:gdLst>
                <a:gd name="T0" fmla="*/ 10 w 45"/>
                <a:gd name="T1" fmla="*/ 213 h 229"/>
                <a:gd name="T2" fmla="*/ 17 w 45"/>
                <a:gd name="T3" fmla="*/ 213 h 229"/>
                <a:gd name="T4" fmla="*/ 17 w 45"/>
                <a:gd name="T5" fmla="*/ 207 h 229"/>
                <a:gd name="T6" fmla="*/ 17 w 45"/>
                <a:gd name="T7" fmla="*/ 198 h 229"/>
                <a:gd name="T8" fmla="*/ 17 w 45"/>
                <a:gd name="T9" fmla="*/ 184 h 229"/>
                <a:gd name="T10" fmla="*/ 23 w 45"/>
                <a:gd name="T11" fmla="*/ 152 h 229"/>
                <a:gd name="T12" fmla="*/ 29 w 45"/>
                <a:gd name="T13" fmla="*/ 113 h 229"/>
                <a:gd name="T14" fmla="*/ 37 w 45"/>
                <a:gd name="T15" fmla="*/ 75 h 229"/>
                <a:gd name="T16" fmla="*/ 42 w 45"/>
                <a:gd name="T17" fmla="*/ 42 h 229"/>
                <a:gd name="T18" fmla="*/ 44 w 45"/>
                <a:gd name="T19" fmla="*/ 29 h 229"/>
                <a:gd name="T20" fmla="*/ 44 w 45"/>
                <a:gd name="T21" fmla="*/ 18 h 229"/>
                <a:gd name="T22" fmla="*/ 42 w 45"/>
                <a:gd name="T23" fmla="*/ 8 h 229"/>
                <a:gd name="T24" fmla="*/ 33 w 45"/>
                <a:gd name="T25" fmla="*/ 0 h 229"/>
                <a:gd name="T26" fmla="*/ 31 w 45"/>
                <a:gd name="T27" fmla="*/ 16 h 229"/>
                <a:gd name="T28" fmla="*/ 27 w 45"/>
                <a:gd name="T29" fmla="*/ 14 h 229"/>
                <a:gd name="T30" fmla="*/ 29 w 45"/>
                <a:gd name="T31" fmla="*/ 18 h 229"/>
                <a:gd name="T32" fmla="*/ 29 w 45"/>
                <a:gd name="T33" fmla="*/ 27 h 229"/>
                <a:gd name="T34" fmla="*/ 27 w 45"/>
                <a:gd name="T35" fmla="*/ 41 h 229"/>
                <a:gd name="T36" fmla="*/ 21 w 45"/>
                <a:gd name="T37" fmla="*/ 73 h 229"/>
                <a:gd name="T38" fmla="*/ 14 w 45"/>
                <a:gd name="T39" fmla="*/ 111 h 229"/>
                <a:gd name="T40" fmla="*/ 6 w 45"/>
                <a:gd name="T41" fmla="*/ 150 h 229"/>
                <a:gd name="T42" fmla="*/ 2 w 45"/>
                <a:gd name="T43" fmla="*/ 182 h 229"/>
                <a:gd name="T44" fmla="*/ 0 w 45"/>
                <a:gd name="T45" fmla="*/ 198 h 229"/>
                <a:gd name="T46" fmla="*/ 0 w 45"/>
                <a:gd name="T47" fmla="*/ 209 h 229"/>
                <a:gd name="T48" fmla="*/ 4 w 45"/>
                <a:gd name="T49" fmla="*/ 221 h 229"/>
                <a:gd name="T50" fmla="*/ 12 w 45"/>
                <a:gd name="T51" fmla="*/ 228 h 229"/>
                <a:gd name="T52" fmla="*/ 19 w 45"/>
                <a:gd name="T53" fmla="*/ 226 h 229"/>
                <a:gd name="T54" fmla="*/ 10 w 45"/>
                <a:gd name="T55" fmla="*/ 213 h 229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45" h="229">
                  <a:moveTo>
                    <a:pt x="10" y="213"/>
                  </a:moveTo>
                  <a:lnTo>
                    <a:pt x="17" y="213"/>
                  </a:lnTo>
                  <a:lnTo>
                    <a:pt x="17" y="207"/>
                  </a:lnTo>
                  <a:lnTo>
                    <a:pt x="17" y="198"/>
                  </a:lnTo>
                  <a:lnTo>
                    <a:pt x="17" y="184"/>
                  </a:lnTo>
                  <a:lnTo>
                    <a:pt x="23" y="152"/>
                  </a:lnTo>
                  <a:lnTo>
                    <a:pt x="29" y="113"/>
                  </a:lnTo>
                  <a:lnTo>
                    <a:pt x="37" y="75"/>
                  </a:lnTo>
                  <a:lnTo>
                    <a:pt x="42" y="42"/>
                  </a:lnTo>
                  <a:lnTo>
                    <a:pt x="44" y="29"/>
                  </a:lnTo>
                  <a:lnTo>
                    <a:pt x="44" y="18"/>
                  </a:lnTo>
                  <a:lnTo>
                    <a:pt x="42" y="8"/>
                  </a:lnTo>
                  <a:lnTo>
                    <a:pt x="33" y="0"/>
                  </a:lnTo>
                  <a:lnTo>
                    <a:pt x="31" y="16"/>
                  </a:lnTo>
                  <a:lnTo>
                    <a:pt x="27" y="14"/>
                  </a:lnTo>
                  <a:lnTo>
                    <a:pt x="29" y="18"/>
                  </a:lnTo>
                  <a:lnTo>
                    <a:pt x="29" y="27"/>
                  </a:lnTo>
                  <a:lnTo>
                    <a:pt x="27" y="41"/>
                  </a:lnTo>
                  <a:lnTo>
                    <a:pt x="21" y="73"/>
                  </a:lnTo>
                  <a:lnTo>
                    <a:pt x="14" y="111"/>
                  </a:lnTo>
                  <a:lnTo>
                    <a:pt x="6" y="150"/>
                  </a:lnTo>
                  <a:lnTo>
                    <a:pt x="2" y="182"/>
                  </a:lnTo>
                  <a:lnTo>
                    <a:pt x="0" y="198"/>
                  </a:lnTo>
                  <a:lnTo>
                    <a:pt x="0" y="209"/>
                  </a:lnTo>
                  <a:lnTo>
                    <a:pt x="4" y="221"/>
                  </a:lnTo>
                  <a:lnTo>
                    <a:pt x="12" y="228"/>
                  </a:lnTo>
                  <a:lnTo>
                    <a:pt x="19" y="226"/>
                  </a:lnTo>
                  <a:lnTo>
                    <a:pt x="10" y="213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60" name="Freeform 74">
              <a:extLst>
                <a:ext uri="{FF2B5EF4-FFF2-40B4-BE49-F238E27FC236}">
                  <a16:creationId xmlns:a16="http://schemas.microsoft.com/office/drawing/2014/main" id="{A308A8D8-D631-7A1B-A658-E562C63670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3172"/>
              <a:ext cx="97" cy="232"/>
            </a:xfrm>
            <a:custGeom>
              <a:avLst/>
              <a:gdLst>
                <a:gd name="T0" fmla="*/ 92 w 97"/>
                <a:gd name="T1" fmla="*/ 0 h 232"/>
                <a:gd name="T2" fmla="*/ 86 w 97"/>
                <a:gd name="T3" fmla="*/ 1 h 232"/>
                <a:gd name="T4" fmla="*/ 76 w 97"/>
                <a:gd name="T5" fmla="*/ 11 h 232"/>
                <a:gd name="T6" fmla="*/ 67 w 97"/>
                <a:gd name="T7" fmla="*/ 23 h 232"/>
                <a:gd name="T8" fmla="*/ 59 w 97"/>
                <a:gd name="T9" fmla="*/ 36 h 232"/>
                <a:gd name="T10" fmla="*/ 52 w 97"/>
                <a:gd name="T11" fmla="*/ 51 h 232"/>
                <a:gd name="T12" fmla="*/ 38 w 97"/>
                <a:gd name="T13" fmla="*/ 88 h 232"/>
                <a:gd name="T14" fmla="*/ 27 w 97"/>
                <a:gd name="T15" fmla="*/ 124 h 232"/>
                <a:gd name="T16" fmla="*/ 17 w 97"/>
                <a:gd name="T17" fmla="*/ 161 h 232"/>
                <a:gd name="T18" fmla="*/ 7 w 97"/>
                <a:gd name="T19" fmla="*/ 191 h 232"/>
                <a:gd name="T20" fmla="*/ 2 w 97"/>
                <a:gd name="T21" fmla="*/ 212 h 232"/>
                <a:gd name="T22" fmla="*/ 0 w 97"/>
                <a:gd name="T23" fmla="*/ 218 h 232"/>
                <a:gd name="T24" fmla="*/ 9 w 97"/>
                <a:gd name="T25" fmla="*/ 231 h 232"/>
                <a:gd name="T26" fmla="*/ 17 w 97"/>
                <a:gd name="T27" fmla="*/ 218 h 232"/>
                <a:gd name="T28" fmla="*/ 23 w 97"/>
                <a:gd name="T29" fmla="*/ 195 h 232"/>
                <a:gd name="T30" fmla="*/ 32 w 97"/>
                <a:gd name="T31" fmla="*/ 164 h 232"/>
                <a:gd name="T32" fmla="*/ 42 w 97"/>
                <a:gd name="T33" fmla="*/ 128 h 232"/>
                <a:gd name="T34" fmla="*/ 53 w 97"/>
                <a:gd name="T35" fmla="*/ 92 h 232"/>
                <a:gd name="T36" fmla="*/ 67 w 97"/>
                <a:gd name="T37" fmla="*/ 59 h 232"/>
                <a:gd name="T38" fmla="*/ 73 w 97"/>
                <a:gd name="T39" fmla="*/ 44 h 232"/>
                <a:gd name="T40" fmla="*/ 80 w 97"/>
                <a:gd name="T41" fmla="*/ 30 h 232"/>
                <a:gd name="T42" fmla="*/ 88 w 97"/>
                <a:gd name="T43" fmla="*/ 21 h 232"/>
                <a:gd name="T44" fmla="*/ 96 w 97"/>
                <a:gd name="T45" fmla="*/ 13 h 232"/>
                <a:gd name="T46" fmla="*/ 88 w 97"/>
                <a:gd name="T47" fmla="*/ 15 h 232"/>
                <a:gd name="T48" fmla="*/ 92 w 97"/>
                <a:gd name="T49" fmla="*/ 0 h 23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97" h="232">
                  <a:moveTo>
                    <a:pt x="92" y="0"/>
                  </a:moveTo>
                  <a:lnTo>
                    <a:pt x="86" y="1"/>
                  </a:lnTo>
                  <a:lnTo>
                    <a:pt x="76" y="11"/>
                  </a:lnTo>
                  <a:lnTo>
                    <a:pt x="67" y="23"/>
                  </a:lnTo>
                  <a:lnTo>
                    <a:pt x="59" y="36"/>
                  </a:lnTo>
                  <a:lnTo>
                    <a:pt x="52" y="51"/>
                  </a:lnTo>
                  <a:lnTo>
                    <a:pt x="38" y="88"/>
                  </a:lnTo>
                  <a:lnTo>
                    <a:pt x="27" y="124"/>
                  </a:lnTo>
                  <a:lnTo>
                    <a:pt x="17" y="161"/>
                  </a:lnTo>
                  <a:lnTo>
                    <a:pt x="7" y="191"/>
                  </a:lnTo>
                  <a:lnTo>
                    <a:pt x="2" y="212"/>
                  </a:lnTo>
                  <a:lnTo>
                    <a:pt x="0" y="218"/>
                  </a:lnTo>
                  <a:lnTo>
                    <a:pt x="9" y="231"/>
                  </a:lnTo>
                  <a:lnTo>
                    <a:pt x="17" y="218"/>
                  </a:lnTo>
                  <a:lnTo>
                    <a:pt x="23" y="195"/>
                  </a:lnTo>
                  <a:lnTo>
                    <a:pt x="32" y="164"/>
                  </a:lnTo>
                  <a:lnTo>
                    <a:pt x="42" y="128"/>
                  </a:lnTo>
                  <a:lnTo>
                    <a:pt x="53" y="92"/>
                  </a:lnTo>
                  <a:lnTo>
                    <a:pt x="67" y="59"/>
                  </a:lnTo>
                  <a:lnTo>
                    <a:pt x="73" y="44"/>
                  </a:lnTo>
                  <a:lnTo>
                    <a:pt x="80" y="30"/>
                  </a:lnTo>
                  <a:lnTo>
                    <a:pt x="88" y="21"/>
                  </a:lnTo>
                  <a:lnTo>
                    <a:pt x="96" y="13"/>
                  </a:lnTo>
                  <a:lnTo>
                    <a:pt x="88" y="15"/>
                  </a:lnTo>
                  <a:lnTo>
                    <a:pt x="92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61" name="Freeform 75">
              <a:extLst>
                <a:ext uri="{FF2B5EF4-FFF2-40B4-BE49-F238E27FC236}">
                  <a16:creationId xmlns:a16="http://schemas.microsoft.com/office/drawing/2014/main" id="{48386498-D849-B492-071B-5B88253FD3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" y="3172"/>
              <a:ext cx="31" cy="173"/>
            </a:xfrm>
            <a:custGeom>
              <a:avLst/>
              <a:gdLst>
                <a:gd name="T0" fmla="*/ 11 w 31"/>
                <a:gd name="T1" fmla="*/ 157 h 173"/>
                <a:gd name="T2" fmla="*/ 13 w 31"/>
                <a:gd name="T3" fmla="*/ 157 h 173"/>
                <a:gd name="T4" fmla="*/ 15 w 31"/>
                <a:gd name="T5" fmla="*/ 159 h 173"/>
                <a:gd name="T6" fmla="*/ 15 w 31"/>
                <a:gd name="T7" fmla="*/ 155 h 173"/>
                <a:gd name="T8" fmla="*/ 15 w 31"/>
                <a:gd name="T9" fmla="*/ 147 h 173"/>
                <a:gd name="T10" fmla="*/ 17 w 31"/>
                <a:gd name="T11" fmla="*/ 139 h 173"/>
                <a:gd name="T12" fmla="*/ 19 w 31"/>
                <a:gd name="T13" fmla="*/ 115 h 173"/>
                <a:gd name="T14" fmla="*/ 22 w 31"/>
                <a:gd name="T15" fmla="*/ 86 h 173"/>
                <a:gd name="T16" fmla="*/ 28 w 31"/>
                <a:gd name="T17" fmla="*/ 59 h 173"/>
                <a:gd name="T18" fmla="*/ 30 w 31"/>
                <a:gd name="T19" fmla="*/ 34 h 173"/>
                <a:gd name="T20" fmla="*/ 30 w 31"/>
                <a:gd name="T21" fmla="*/ 23 h 173"/>
                <a:gd name="T22" fmla="*/ 28 w 31"/>
                <a:gd name="T23" fmla="*/ 13 h 173"/>
                <a:gd name="T24" fmla="*/ 26 w 31"/>
                <a:gd name="T25" fmla="*/ 5 h 173"/>
                <a:gd name="T26" fmla="*/ 17 w 31"/>
                <a:gd name="T27" fmla="*/ 0 h 173"/>
                <a:gd name="T28" fmla="*/ 13 w 31"/>
                <a:gd name="T29" fmla="*/ 15 h 173"/>
                <a:gd name="T30" fmla="*/ 13 w 31"/>
                <a:gd name="T31" fmla="*/ 17 h 173"/>
                <a:gd name="T32" fmla="*/ 13 w 31"/>
                <a:gd name="T33" fmla="*/ 24 h 173"/>
                <a:gd name="T34" fmla="*/ 13 w 31"/>
                <a:gd name="T35" fmla="*/ 32 h 173"/>
                <a:gd name="T36" fmla="*/ 11 w 31"/>
                <a:gd name="T37" fmla="*/ 57 h 173"/>
                <a:gd name="T38" fmla="*/ 7 w 31"/>
                <a:gd name="T39" fmla="*/ 84 h 173"/>
                <a:gd name="T40" fmla="*/ 3 w 31"/>
                <a:gd name="T41" fmla="*/ 113 h 173"/>
                <a:gd name="T42" fmla="*/ 0 w 31"/>
                <a:gd name="T43" fmla="*/ 138 h 173"/>
                <a:gd name="T44" fmla="*/ 0 w 31"/>
                <a:gd name="T45" fmla="*/ 147 h 173"/>
                <a:gd name="T46" fmla="*/ 0 w 31"/>
                <a:gd name="T47" fmla="*/ 157 h 173"/>
                <a:gd name="T48" fmla="*/ 1 w 31"/>
                <a:gd name="T49" fmla="*/ 164 h 173"/>
                <a:gd name="T50" fmla="*/ 7 w 31"/>
                <a:gd name="T51" fmla="*/ 172 h 173"/>
                <a:gd name="T52" fmla="*/ 11 w 31"/>
                <a:gd name="T53" fmla="*/ 172 h 173"/>
                <a:gd name="T54" fmla="*/ 11 w 31"/>
                <a:gd name="T55" fmla="*/ 157 h 17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31" h="173">
                  <a:moveTo>
                    <a:pt x="11" y="157"/>
                  </a:moveTo>
                  <a:lnTo>
                    <a:pt x="13" y="157"/>
                  </a:lnTo>
                  <a:lnTo>
                    <a:pt x="15" y="159"/>
                  </a:lnTo>
                  <a:lnTo>
                    <a:pt x="15" y="155"/>
                  </a:lnTo>
                  <a:lnTo>
                    <a:pt x="15" y="147"/>
                  </a:lnTo>
                  <a:lnTo>
                    <a:pt x="17" y="139"/>
                  </a:lnTo>
                  <a:lnTo>
                    <a:pt x="19" y="115"/>
                  </a:lnTo>
                  <a:lnTo>
                    <a:pt x="22" y="86"/>
                  </a:lnTo>
                  <a:lnTo>
                    <a:pt x="28" y="59"/>
                  </a:lnTo>
                  <a:lnTo>
                    <a:pt x="30" y="34"/>
                  </a:lnTo>
                  <a:lnTo>
                    <a:pt x="30" y="23"/>
                  </a:lnTo>
                  <a:lnTo>
                    <a:pt x="28" y="13"/>
                  </a:lnTo>
                  <a:lnTo>
                    <a:pt x="26" y="5"/>
                  </a:lnTo>
                  <a:lnTo>
                    <a:pt x="17" y="0"/>
                  </a:lnTo>
                  <a:lnTo>
                    <a:pt x="13" y="15"/>
                  </a:lnTo>
                  <a:lnTo>
                    <a:pt x="13" y="17"/>
                  </a:lnTo>
                  <a:lnTo>
                    <a:pt x="13" y="24"/>
                  </a:lnTo>
                  <a:lnTo>
                    <a:pt x="13" y="32"/>
                  </a:lnTo>
                  <a:lnTo>
                    <a:pt x="11" y="57"/>
                  </a:lnTo>
                  <a:lnTo>
                    <a:pt x="7" y="84"/>
                  </a:lnTo>
                  <a:lnTo>
                    <a:pt x="3" y="113"/>
                  </a:lnTo>
                  <a:lnTo>
                    <a:pt x="0" y="138"/>
                  </a:lnTo>
                  <a:lnTo>
                    <a:pt x="0" y="147"/>
                  </a:lnTo>
                  <a:lnTo>
                    <a:pt x="0" y="157"/>
                  </a:lnTo>
                  <a:lnTo>
                    <a:pt x="1" y="164"/>
                  </a:lnTo>
                  <a:lnTo>
                    <a:pt x="7" y="172"/>
                  </a:lnTo>
                  <a:lnTo>
                    <a:pt x="11" y="172"/>
                  </a:lnTo>
                  <a:lnTo>
                    <a:pt x="11" y="157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62" name="Freeform 76">
              <a:extLst>
                <a:ext uri="{FF2B5EF4-FFF2-40B4-BE49-F238E27FC236}">
                  <a16:creationId xmlns:a16="http://schemas.microsoft.com/office/drawing/2014/main" id="{2B24AAA3-B961-04E8-F507-2EBBB1282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" y="3212"/>
              <a:ext cx="64" cy="133"/>
            </a:xfrm>
            <a:custGeom>
              <a:avLst/>
              <a:gdLst>
                <a:gd name="T0" fmla="*/ 48 w 64"/>
                <a:gd name="T1" fmla="*/ 0 h 133"/>
                <a:gd name="T2" fmla="*/ 40 w 64"/>
                <a:gd name="T3" fmla="*/ 17 h 133"/>
                <a:gd name="T4" fmla="*/ 34 w 64"/>
                <a:gd name="T5" fmla="*/ 38 h 133"/>
                <a:gd name="T6" fmla="*/ 27 w 64"/>
                <a:gd name="T7" fmla="*/ 57 h 133"/>
                <a:gd name="T8" fmla="*/ 21 w 64"/>
                <a:gd name="T9" fmla="*/ 76 h 133"/>
                <a:gd name="T10" fmla="*/ 15 w 64"/>
                <a:gd name="T11" fmla="*/ 94 h 133"/>
                <a:gd name="T12" fmla="*/ 8 w 64"/>
                <a:gd name="T13" fmla="*/ 107 h 133"/>
                <a:gd name="T14" fmla="*/ 6 w 64"/>
                <a:gd name="T15" fmla="*/ 111 h 133"/>
                <a:gd name="T16" fmla="*/ 2 w 64"/>
                <a:gd name="T17" fmla="*/ 115 h 133"/>
                <a:gd name="T18" fmla="*/ 0 w 64"/>
                <a:gd name="T19" fmla="*/ 117 h 133"/>
                <a:gd name="T20" fmla="*/ 0 w 64"/>
                <a:gd name="T21" fmla="*/ 132 h 133"/>
                <a:gd name="T22" fmla="*/ 8 w 64"/>
                <a:gd name="T23" fmla="*/ 130 h 133"/>
                <a:gd name="T24" fmla="*/ 13 w 64"/>
                <a:gd name="T25" fmla="*/ 126 h 133"/>
                <a:gd name="T26" fmla="*/ 17 w 64"/>
                <a:gd name="T27" fmla="*/ 121 h 133"/>
                <a:gd name="T28" fmla="*/ 23 w 64"/>
                <a:gd name="T29" fmla="*/ 115 h 133"/>
                <a:gd name="T30" fmla="*/ 31 w 64"/>
                <a:gd name="T31" fmla="*/ 99 h 133"/>
                <a:gd name="T32" fmla="*/ 36 w 64"/>
                <a:gd name="T33" fmla="*/ 82 h 133"/>
                <a:gd name="T34" fmla="*/ 42 w 64"/>
                <a:gd name="T35" fmla="*/ 63 h 133"/>
                <a:gd name="T36" fmla="*/ 50 w 64"/>
                <a:gd name="T37" fmla="*/ 42 h 133"/>
                <a:gd name="T38" fmla="*/ 56 w 64"/>
                <a:gd name="T39" fmla="*/ 23 h 133"/>
                <a:gd name="T40" fmla="*/ 63 w 64"/>
                <a:gd name="T41" fmla="*/ 6 h 133"/>
                <a:gd name="T42" fmla="*/ 48 w 64"/>
                <a:gd name="T43" fmla="*/ 0 h 133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64" h="133">
                  <a:moveTo>
                    <a:pt x="48" y="0"/>
                  </a:moveTo>
                  <a:lnTo>
                    <a:pt x="40" y="17"/>
                  </a:lnTo>
                  <a:lnTo>
                    <a:pt x="34" y="38"/>
                  </a:lnTo>
                  <a:lnTo>
                    <a:pt x="27" y="57"/>
                  </a:lnTo>
                  <a:lnTo>
                    <a:pt x="21" y="76"/>
                  </a:lnTo>
                  <a:lnTo>
                    <a:pt x="15" y="94"/>
                  </a:lnTo>
                  <a:lnTo>
                    <a:pt x="8" y="107"/>
                  </a:lnTo>
                  <a:lnTo>
                    <a:pt x="6" y="111"/>
                  </a:lnTo>
                  <a:lnTo>
                    <a:pt x="2" y="115"/>
                  </a:lnTo>
                  <a:lnTo>
                    <a:pt x="0" y="117"/>
                  </a:lnTo>
                  <a:lnTo>
                    <a:pt x="0" y="132"/>
                  </a:lnTo>
                  <a:lnTo>
                    <a:pt x="8" y="130"/>
                  </a:lnTo>
                  <a:lnTo>
                    <a:pt x="13" y="126"/>
                  </a:lnTo>
                  <a:lnTo>
                    <a:pt x="17" y="121"/>
                  </a:lnTo>
                  <a:lnTo>
                    <a:pt x="23" y="115"/>
                  </a:lnTo>
                  <a:lnTo>
                    <a:pt x="31" y="99"/>
                  </a:lnTo>
                  <a:lnTo>
                    <a:pt x="36" y="82"/>
                  </a:lnTo>
                  <a:lnTo>
                    <a:pt x="42" y="63"/>
                  </a:lnTo>
                  <a:lnTo>
                    <a:pt x="50" y="42"/>
                  </a:lnTo>
                  <a:lnTo>
                    <a:pt x="56" y="23"/>
                  </a:lnTo>
                  <a:lnTo>
                    <a:pt x="63" y="6"/>
                  </a:lnTo>
                  <a:lnTo>
                    <a:pt x="48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63" name="Freeform 77">
              <a:extLst>
                <a:ext uri="{FF2B5EF4-FFF2-40B4-BE49-F238E27FC236}">
                  <a16:creationId xmlns:a16="http://schemas.microsoft.com/office/drawing/2014/main" id="{BD6F4346-343F-1C34-1450-783CC0CA45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2" y="3160"/>
              <a:ext cx="43" cy="59"/>
            </a:xfrm>
            <a:custGeom>
              <a:avLst/>
              <a:gdLst>
                <a:gd name="T0" fmla="*/ 34 w 43"/>
                <a:gd name="T1" fmla="*/ 4 h 59"/>
                <a:gd name="T2" fmla="*/ 29 w 43"/>
                <a:gd name="T3" fmla="*/ 0 h 59"/>
                <a:gd name="T4" fmla="*/ 0 w 43"/>
                <a:gd name="T5" fmla="*/ 50 h 59"/>
                <a:gd name="T6" fmla="*/ 15 w 43"/>
                <a:gd name="T7" fmla="*/ 58 h 59"/>
                <a:gd name="T8" fmla="*/ 42 w 43"/>
                <a:gd name="T9" fmla="*/ 8 h 59"/>
                <a:gd name="T10" fmla="*/ 34 w 43"/>
                <a:gd name="T11" fmla="*/ 4 h 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59">
                  <a:moveTo>
                    <a:pt x="34" y="4"/>
                  </a:moveTo>
                  <a:lnTo>
                    <a:pt x="29" y="0"/>
                  </a:lnTo>
                  <a:lnTo>
                    <a:pt x="0" y="50"/>
                  </a:lnTo>
                  <a:lnTo>
                    <a:pt x="15" y="58"/>
                  </a:lnTo>
                  <a:lnTo>
                    <a:pt x="42" y="8"/>
                  </a:lnTo>
                  <a:lnTo>
                    <a:pt x="34" y="4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64" name="Freeform 78">
              <a:extLst>
                <a:ext uri="{FF2B5EF4-FFF2-40B4-BE49-F238E27FC236}">
                  <a16:creationId xmlns:a16="http://schemas.microsoft.com/office/drawing/2014/main" id="{1E1B4E8E-0722-457B-94EE-31FEC4FB21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1" y="3145"/>
              <a:ext cx="37" cy="24"/>
            </a:xfrm>
            <a:custGeom>
              <a:avLst/>
              <a:gdLst>
                <a:gd name="T0" fmla="*/ 36 w 37"/>
                <a:gd name="T1" fmla="*/ 2 h 24"/>
                <a:gd name="T2" fmla="*/ 34 w 37"/>
                <a:gd name="T3" fmla="*/ 0 h 24"/>
                <a:gd name="T4" fmla="*/ 32 w 37"/>
                <a:gd name="T5" fmla="*/ 0 h 24"/>
                <a:gd name="T6" fmla="*/ 28 w 37"/>
                <a:gd name="T7" fmla="*/ 0 h 24"/>
                <a:gd name="T8" fmla="*/ 23 w 37"/>
                <a:gd name="T9" fmla="*/ 0 h 24"/>
                <a:gd name="T10" fmla="*/ 17 w 37"/>
                <a:gd name="T11" fmla="*/ 2 h 24"/>
                <a:gd name="T12" fmla="*/ 11 w 37"/>
                <a:gd name="T13" fmla="*/ 4 h 24"/>
                <a:gd name="T14" fmla="*/ 5 w 37"/>
                <a:gd name="T15" fmla="*/ 7 h 24"/>
                <a:gd name="T16" fmla="*/ 0 w 37"/>
                <a:gd name="T17" fmla="*/ 13 h 24"/>
                <a:gd name="T18" fmla="*/ 13 w 37"/>
                <a:gd name="T19" fmla="*/ 23 h 24"/>
                <a:gd name="T20" fmla="*/ 15 w 37"/>
                <a:gd name="T21" fmla="*/ 19 h 24"/>
                <a:gd name="T22" fmla="*/ 19 w 37"/>
                <a:gd name="T23" fmla="*/ 17 h 24"/>
                <a:gd name="T24" fmla="*/ 21 w 37"/>
                <a:gd name="T25" fmla="*/ 17 h 24"/>
                <a:gd name="T26" fmla="*/ 25 w 37"/>
                <a:gd name="T27" fmla="*/ 15 h 24"/>
                <a:gd name="T28" fmla="*/ 26 w 37"/>
                <a:gd name="T29" fmla="*/ 15 h 24"/>
                <a:gd name="T30" fmla="*/ 30 w 37"/>
                <a:gd name="T31" fmla="*/ 15 h 24"/>
                <a:gd name="T32" fmla="*/ 30 w 37"/>
                <a:gd name="T33" fmla="*/ 17 h 24"/>
                <a:gd name="T34" fmla="*/ 36 w 37"/>
                <a:gd name="T35" fmla="*/ 2 h 2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7" h="24">
                  <a:moveTo>
                    <a:pt x="36" y="2"/>
                  </a:moveTo>
                  <a:lnTo>
                    <a:pt x="34" y="0"/>
                  </a:lnTo>
                  <a:lnTo>
                    <a:pt x="32" y="0"/>
                  </a:lnTo>
                  <a:lnTo>
                    <a:pt x="28" y="0"/>
                  </a:lnTo>
                  <a:lnTo>
                    <a:pt x="23" y="0"/>
                  </a:lnTo>
                  <a:lnTo>
                    <a:pt x="17" y="2"/>
                  </a:lnTo>
                  <a:lnTo>
                    <a:pt x="11" y="4"/>
                  </a:lnTo>
                  <a:lnTo>
                    <a:pt x="5" y="7"/>
                  </a:lnTo>
                  <a:lnTo>
                    <a:pt x="0" y="13"/>
                  </a:lnTo>
                  <a:lnTo>
                    <a:pt x="13" y="23"/>
                  </a:lnTo>
                  <a:lnTo>
                    <a:pt x="15" y="19"/>
                  </a:lnTo>
                  <a:lnTo>
                    <a:pt x="19" y="17"/>
                  </a:lnTo>
                  <a:lnTo>
                    <a:pt x="21" y="17"/>
                  </a:lnTo>
                  <a:lnTo>
                    <a:pt x="25" y="15"/>
                  </a:lnTo>
                  <a:lnTo>
                    <a:pt x="26" y="15"/>
                  </a:lnTo>
                  <a:lnTo>
                    <a:pt x="30" y="15"/>
                  </a:lnTo>
                  <a:lnTo>
                    <a:pt x="30" y="17"/>
                  </a:lnTo>
                  <a:lnTo>
                    <a:pt x="36" y="2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65" name="Freeform 79">
              <a:extLst>
                <a:ext uri="{FF2B5EF4-FFF2-40B4-BE49-F238E27FC236}">
                  <a16:creationId xmlns:a16="http://schemas.microsoft.com/office/drawing/2014/main" id="{8B7FA12E-7A49-4D5A-A17B-934795CD00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3" y="3147"/>
              <a:ext cx="63" cy="307"/>
            </a:xfrm>
            <a:custGeom>
              <a:avLst/>
              <a:gdLst>
                <a:gd name="T0" fmla="*/ 16 w 63"/>
                <a:gd name="T1" fmla="*/ 297 h 307"/>
                <a:gd name="T2" fmla="*/ 18 w 63"/>
                <a:gd name="T3" fmla="*/ 301 h 307"/>
                <a:gd name="T4" fmla="*/ 20 w 63"/>
                <a:gd name="T5" fmla="*/ 285 h 307"/>
                <a:gd name="T6" fmla="*/ 25 w 63"/>
                <a:gd name="T7" fmla="*/ 249 h 307"/>
                <a:gd name="T8" fmla="*/ 35 w 63"/>
                <a:gd name="T9" fmla="*/ 203 h 307"/>
                <a:gd name="T10" fmla="*/ 44 w 63"/>
                <a:gd name="T11" fmla="*/ 151 h 307"/>
                <a:gd name="T12" fmla="*/ 52 w 63"/>
                <a:gd name="T13" fmla="*/ 99 h 307"/>
                <a:gd name="T14" fmla="*/ 60 w 63"/>
                <a:gd name="T15" fmla="*/ 53 h 307"/>
                <a:gd name="T16" fmla="*/ 62 w 63"/>
                <a:gd name="T17" fmla="*/ 34 h 307"/>
                <a:gd name="T18" fmla="*/ 62 w 63"/>
                <a:gd name="T19" fmla="*/ 21 h 307"/>
                <a:gd name="T20" fmla="*/ 62 w 63"/>
                <a:gd name="T21" fmla="*/ 9 h 307"/>
                <a:gd name="T22" fmla="*/ 54 w 63"/>
                <a:gd name="T23" fmla="*/ 0 h 307"/>
                <a:gd name="T24" fmla="*/ 48 w 63"/>
                <a:gd name="T25" fmla="*/ 15 h 307"/>
                <a:gd name="T26" fmla="*/ 46 w 63"/>
                <a:gd name="T27" fmla="*/ 11 h 307"/>
                <a:gd name="T28" fmla="*/ 46 w 63"/>
                <a:gd name="T29" fmla="*/ 21 h 307"/>
                <a:gd name="T30" fmla="*/ 44 w 63"/>
                <a:gd name="T31" fmla="*/ 34 h 307"/>
                <a:gd name="T32" fmla="*/ 43 w 63"/>
                <a:gd name="T33" fmla="*/ 51 h 307"/>
                <a:gd name="T34" fmla="*/ 37 w 63"/>
                <a:gd name="T35" fmla="*/ 95 h 307"/>
                <a:gd name="T36" fmla="*/ 27 w 63"/>
                <a:gd name="T37" fmla="*/ 147 h 307"/>
                <a:gd name="T38" fmla="*/ 18 w 63"/>
                <a:gd name="T39" fmla="*/ 199 h 307"/>
                <a:gd name="T40" fmla="*/ 10 w 63"/>
                <a:gd name="T41" fmla="*/ 247 h 307"/>
                <a:gd name="T42" fmla="*/ 4 w 63"/>
                <a:gd name="T43" fmla="*/ 281 h 307"/>
                <a:gd name="T44" fmla="*/ 0 w 63"/>
                <a:gd name="T45" fmla="*/ 302 h 307"/>
                <a:gd name="T46" fmla="*/ 4 w 63"/>
                <a:gd name="T47" fmla="*/ 306 h 307"/>
                <a:gd name="T48" fmla="*/ 16 w 63"/>
                <a:gd name="T49" fmla="*/ 297 h 30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3" h="307">
                  <a:moveTo>
                    <a:pt x="16" y="297"/>
                  </a:moveTo>
                  <a:lnTo>
                    <a:pt x="18" y="301"/>
                  </a:lnTo>
                  <a:lnTo>
                    <a:pt x="20" y="285"/>
                  </a:lnTo>
                  <a:lnTo>
                    <a:pt x="25" y="249"/>
                  </a:lnTo>
                  <a:lnTo>
                    <a:pt x="35" y="203"/>
                  </a:lnTo>
                  <a:lnTo>
                    <a:pt x="44" y="151"/>
                  </a:lnTo>
                  <a:lnTo>
                    <a:pt x="52" y="99"/>
                  </a:lnTo>
                  <a:lnTo>
                    <a:pt x="60" y="53"/>
                  </a:lnTo>
                  <a:lnTo>
                    <a:pt x="62" y="34"/>
                  </a:lnTo>
                  <a:lnTo>
                    <a:pt x="62" y="21"/>
                  </a:lnTo>
                  <a:lnTo>
                    <a:pt x="62" y="9"/>
                  </a:lnTo>
                  <a:lnTo>
                    <a:pt x="54" y="0"/>
                  </a:lnTo>
                  <a:lnTo>
                    <a:pt x="48" y="15"/>
                  </a:lnTo>
                  <a:lnTo>
                    <a:pt x="46" y="11"/>
                  </a:lnTo>
                  <a:lnTo>
                    <a:pt x="46" y="21"/>
                  </a:lnTo>
                  <a:lnTo>
                    <a:pt x="44" y="34"/>
                  </a:lnTo>
                  <a:lnTo>
                    <a:pt x="43" y="51"/>
                  </a:lnTo>
                  <a:lnTo>
                    <a:pt x="37" y="95"/>
                  </a:lnTo>
                  <a:lnTo>
                    <a:pt x="27" y="147"/>
                  </a:lnTo>
                  <a:lnTo>
                    <a:pt x="18" y="199"/>
                  </a:lnTo>
                  <a:lnTo>
                    <a:pt x="10" y="247"/>
                  </a:lnTo>
                  <a:lnTo>
                    <a:pt x="4" y="281"/>
                  </a:lnTo>
                  <a:lnTo>
                    <a:pt x="0" y="302"/>
                  </a:lnTo>
                  <a:lnTo>
                    <a:pt x="4" y="306"/>
                  </a:lnTo>
                  <a:lnTo>
                    <a:pt x="16" y="297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66" name="Freeform 80">
              <a:extLst>
                <a:ext uri="{FF2B5EF4-FFF2-40B4-BE49-F238E27FC236}">
                  <a16:creationId xmlns:a16="http://schemas.microsoft.com/office/drawing/2014/main" id="{4C2BDA81-2639-4601-198D-6DDE19397C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3392"/>
              <a:ext cx="63" cy="68"/>
            </a:xfrm>
            <a:custGeom>
              <a:avLst/>
              <a:gdLst>
                <a:gd name="T0" fmla="*/ 62 w 63"/>
                <a:gd name="T1" fmla="*/ 2 h 68"/>
                <a:gd name="T2" fmla="*/ 58 w 63"/>
                <a:gd name="T3" fmla="*/ 0 h 68"/>
                <a:gd name="T4" fmla="*/ 44 w 63"/>
                <a:gd name="T5" fmla="*/ 4 h 68"/>
                <a:gd name="T6" fmla="*/ 39 w 63"/>
                <a:gd name="T7" fmla="*/ 11 h 68"/>
                <a:gd name="T8" fmla="*/ 31 w 63"/>
                <a:gd name="T9" fmla="*/ 23 h 68"/>
                <a:gd name="T10" fmla="*/ 25 w 63"/>
                <a:gd name="T11" fmla="*/ 34 h 68"/>
                <a:gd name="T12" fmla="*/ 19 w 63"/>
                <a:gd name="T13" fmla="*/ 44 h 68"/>
                <a:gd name="T14" fmla="*/ 14 w 63"/>
                <a:gd name="T15" fmla="*/ 52 h 68"/>
                <a:gd name="T16" fmla="*/ 12 w 63"/>
                <a:gd name="T17" fmla="*/ 52 h 68"/>
                <a:gd name="T18" fmla="*/ 0 w 63"/>
                <a:gd name="T19" fmla="*/ 61 h 68"/>
                <a:gd name="T20" fmla="*/ 6 w 63"/>
                <a:gd name="T21" fmla="*/ 65 h 68"/>
                <a:gd name="T22" fmla="*/ 12 w 63"/>
                <a:gd name="T23" fmla="*/ 67 h 68"/>
                <a:gd name="T24" fmla="*/ 19 w 63"/>
                <a:gd name="T25" fmla="*/ 67 h 68"/>
                <a:gd name="T26" fmla="*/ 25 w 63"/>
                <a:gd name="T27" fmla="*/ 63 h 68"/>
                <a:gd name="T28" fmla="*/ 33 w 63"/>
                <a:gd name="T29" fmla="*/ 54 h 68"/>
                <a:gd name="T30" fmla="*/ 39 w 63"/>
                <a:gd name="T31" fmla="*/ 42 h 68"/>
                <a:gd name="T32" fmla="*/ 46 w 63"/>
                <a:gd name="T33" fmla="*/ 31 h 68"/>
                <a:gd name="T34" fmla="*/ 50 w 63"/>
                <a:gd name="T35" fmla="*/ 21 h 68"/>
                <a:gd name="T36" fmla="*/ 54 w 63"/>
                <a:gd name="T37" fmla="*/ 15 h 68"/>
                <a:gd name="T38" fmla="*/ 52 w 63"/>
                <a:gd name="T39" fmla="*/ 15 h 68"/>
                <a:gd name="T40" fmla="*/ 50 w 63"/>
                <a:gd name="T41" fmla="*/ 13 h 68"/>
                <a:gd name="T42" fmla="*/ 62 w 63"/>
                <a:gd name="T43" fmla="*/ 2 h 6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63" h="68">
                  <a:moveTo>
                    <a:pt x="62" y="2"/>
                  </a:moveTo>
                  <a:lnTo>
                    <a:pt x="58" y="0"/>
                  </a:lnTo>
                  <a:lnTo>
                    <a:pt x="44" y="4"/>
                  </a:lnTo>
                  <a:lnTo>
                    <a:pt x="39" y="11"/>
                  </a:lnTo>
                  <a:lnTo>
                    <a:pt x="31" y="23"/>
                  </a:lnTo>
                  <a:lnTo>
                    <a:pt x="25" y="34"/>
                  </a:lnTo>
                  <a:lnTo>
                    <a:pt x="19" y="44"/>
                  </a:lnTo>
                  <a:lnTo>
                    <a:pt x="14" y="52"/>
                  </a:lnTo>
                  <a:lnTo>
                    <a:pt x="12" y="52"/>
                  </a:lnTo>
                  <a:lnTo>
                    <a:pt x="0" y="61"/>
                  </a:lnTo>
                  <a:lnTo>
                    <a:pt x="6" y="65"/>
                  </a:lnTo>
                  <a:lnTo>
                    <a:pt x="12" y="67"/>
                  </a:lnTo>
                  <a:lnTo>
                    <a:pt x="19" y="67"/>
                  </a:lnTo>
                  <a:lnTo>
                    <a:pt x="25" y="63"/>
                  </a:lnTo>
                  <a:lnTo>
                    <a:pt x="33" y="54"/>
                  </a:lnTo>
                  <a:lnTo>
                    <a:pt x="39" y="42"/>
                  </a:lnTo>
                  <a:lnTo>
                    <a:pt x="46" y="31"/>
                  </a:lnTo>
                  <a:lnTo>
                    <a:pt x="50" y="21"/>
                  </a:lnTo>
                  <a:lnTo>
                    <a:pt x="54" y="15"/>
                  </a:lnTo>
                  <a:lnTo>
                    <a:pt x="52" y="15"/>
                  </a:lnTo>
                  <a:lnTo>
                    <a:pt x="50" y="13"/>
                  </a:lnTo>
                  <a:lnTo>
                    <a:pt x="62" y="2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67" name="Freeform 81">
              <a:extLst>
                <a:ext uri="{FF2B5EF4-FFF2-40B4-BE49-F238E27FC236}">
                  <a16:creationId xmlns:a16="http://schemas.microsoft.com/office/drawing/2014/main" id="{FD7E7A8B-EC1E-0ABD-BBD5-BE607961A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" y="3394"/>
              <a:ext cx="45" cy="193"/>
            </a:xfrm>
            <a:custGeom>
              <a:avLst/>
              <a:gdLst>
                <a:gd name="T0" fmla="*/ 16 w 45"/>
                <a:gd name="T1" fmla="*/ 192 h 193"/>
                <a:gd name="T2" fmla="*/ 21 w 45"/>
                <a:gd name="T3" fmla="*/ 167 h 193"/>
                <a:gd name="T4" fmla="*/ 27 w 45"/>
                <a:gd name="T5" fmla="*/ 140 h 193"/>
                <a:gd name="T6" fmla="*/ 33 w 45"/>
                <a:gd name="T7" fmla="*/ 111 h 193"/>
                <a:gd name="T8" fmla="*/ 39 w 45"/>
                <a:gd name="T9" fmla="*/ 80 h 193"/>
                <a:gd name="T10" fmla="*/ 42 w 45"/>
                <a:gd name="T11" fmla="*/ 55 h 193"/>
                <a:gd name="T12" fmla="*/ 44 w 45"/>
                <a:gd name="T13" fmla="*/ 32 h 193"/>
                <a:gd name="T14" fmla="*/ 44 w 45"/>
                <a:gd name="T15" fmla="*/ 13 h 193"/>
                <a:gd name="T16" fmla="*/ 41 w 45"/>
                <a:gd name="T17" fmla="*/ 0 h 193"/>
                <a:gd name="T18" fmla="*/ 29 w 45"/>
                <a:gd name="T19" fmla="*/ 11 h 193"/>
                <a:gd name="T20" fmla="*/ 29 w 45"/>
                <a:gd name="T21" fmla="*/ 15 h 193"/>
                <a:gd name="T22" fmla="*/ 29 w 45"/>
                <a:gd name="T23" fmla="*/ 31 h 193"/>
                <a:gd name="T24" fmla="*/ 27 w 45"/>
                <a:gd name="T25" fmla="*/ 52 h 193"/>
                <a:gd name="T26" fmla="*/ 23 w 45"/>
                <a:gd name="T27" fmla="*/ 78 h 193"/>
                <a:gd name="T28" fmla="*/ 18 w 45"/>
                <a:gd name="T29" fmla="*/ 107 h 193"/>
                <a:gd name="T30" fmla="*/ 12 w 45"/>
                <a:gd name="T31" fmla="*/ 136 h 193"/>
                <a:gd name="T32" fmla="*/ 6 w 45"/>
                <a:gd name="T33" fmla="*/ 165 h 193"/>
                <a:gd name="T34" fmla="*/ 0 w 45"/>
                <a:gd name="T35" fmla="*/ 188 h 193"/>
                <a:gd name="T36" fmla="*/ 16 w 45"/>
                <a:gd name="T37" fmla="*/ 192 h 19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5" h="193">
                  <a:moveTo>
                    <a:pt x="16" y="192"/>
                  </a:moveTo>
                  <a:lnTo>
                    <a:pt x="21" y="167"/>
                  </a:lnTo>
                  <a:lnTo>
                    <a:pt x="27" y="140"/>
                  </a:lnTo>
                  <a:lnTo>
                    <a:pt x="33" y="111"/>
                  </a:lnTo>
                  <a:lnTo>
                    <a:pt x="39" y="80"/>
                  </a:lnTo>
                  <a:lnTo>
                    <a:pt x="42" y="55"/>
                  </a:lnTo>
                  <a:lnTo>
                    <a:pt x="44" y="32"/>
                  </a:lnTo>
                  <a:lnTo>
                    <a:pt x="44" y="13"/>
                  </a:lnTo>
                  <a:lnTo>
                    <a:pt x="41" y="0"/>
                  </a:lnTo>
                  <a:lnTo>
                    <a:pt x="29" y="11"/>
                  </a:lnTo>
                  <a:lnTo>
                    <a:pt x="29" y="15"/>
                  </a:lnTo>
                  <a:lnTo>
                    <a:pt x="29" y="31"/>
                  </a:lnTo>
                  <a:lnTo>
                    <a:pt x="27" y="52"/>
                  </a:lnTo>
                  <a:lnTo>
                    <a:pt x="23" y="78"/>
                  </a:lnTo>
                  <a:lnTo>
                    <a:pt x="18" y="107"/>
                  </a:lnTo>
                  <a:lnTo>
                    <a:pt x="12" y="136"/>
                  </a:lnTo>
                  <a:lnTo>
                    <a:pt x="6" y="165"/>
                  </a:lnTo>
                  <a:lnTo>
                    <a:pt x="0" y="188"/>
                  </a:lnTo>
                  <a:lnTo>
                    <a:pt x="16" y="192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68" name="Freeform 82">
              <a:extLst>
                <a:ext uri="{FF2B5EF4-FFF2-40B4-BE49-F238E27FC236}">
                  <a16:creationId xmlns:a16="http://schemas.microsoft.com/office/drawing/2014/main" id="{BAE3C176-B237-CF37-FA1F-09D5E91AA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3582"/>
              <a:ext cx="49" cy="166"/>
            </a:xfrm>
            <a:custGeom>
              <a:avLst/>
              <a:gdLst>
                <a:gd name="T0" fmla="*/ 15 w 49"/>
                <a:gd name="T1" fmla="*/ 151 h 166"/>
                <a:gd name="T2" fmla="*/ 13 w 49"/>
                <a:gd name="T3" fmla="*/ 151 h 166"/>
                <a:gd name="T4" fmla="*/ 15 w 49"/>
                <a:gd name="T5" fmla="*/ 153 h 166"/>
                <a:gd name="T6" fmla="*/ 15 w 49"/>
                <a:gd name="T7" fmla="*/ 151 h 166"/>
                <a:gd name="T8" fmla="*/ 15 w 49"/>
                <a:gd name="T9" fmla="*/ 145 h 166"/>
                <a:gd name="T10" fmla="*/ 15 w 49"/>
                <a:gd name="T11" fmla="*/ 138 h 166"/>
                <a:gd name="T12" fmla="*/ 19 w 49"/>
                <a:gd name="T13" fmla="*/ 117 h 166"/>
                <a:gd name="T14" fmla="*/ 25 w 49"/>
                <a:gd name="T15" fmla="*/ 92 h 166"/>
                <a:gd name="T16" fmla="*/ 30 w 49"/>
                <a:gd name="T17" fmla="*/ 67 h 166"/>
                <a:gd name="T18" fmla="*/ 38 w 49"/>
                <a:gd name="T19" fmla="*/ 42 h 166"/>
                <a:gd name="T20" fmla="*/ 44 w 49"/>
                <a:gd name="T21" fmla="*/ 21 h 166"/>
                <a:gd name="T22" fmla="*/ 48 w 49"/>
                <a:gd name="T23" fmla="*/ 4 h 166"/>
                <a:gd name="T24" fmla="*/ 32 w 49"/>
                <a:gd name="T25" fmla="*/ 0 h 166"/>
                <a:gd name="T26" fmla="*/ 28 w 49"/>
                <a:gd name="T27" fmla="*/ 17 h 166"/>
                <a:gd name="T28" fmla="*/ 23 w 49"/>
                <a:gd name="T29" fmla="*/ 38 h 166"/>
                <a:gd name="T30" fmla="*/ 15 w 49"/>
                <a:gd name="T31" fmla="*/ 63 h 166"/>
                <a:gd name="T32" fmla="*/ 9 w 49"/>
                <a:gd name="T33" fmla="*/ 90 h 166"/>
                <a:gd name="T34" fmla="*/ 4 w 49"/>
                <a:gd name="T35" fmla="*/ 113 h 166"/>
                <a:gd name="T36" fmla="*/ 0 w 49"/>
                <a:gd name="T37" fmla="*/ 136 h 166"/>
                <a:gd name="T38" fmla="*/ 0 w 49"/>
                <a:gd name="T39" fmla="*/ 143 h 166"/>
                <a:gd name="T40" fmla="*/ 0 w 49"/>
                <a:gd name="T41" fmla="*/ 151 h 166"/>
                <a:gd name="T42" fmla="*/ 2 w 49"/>
                <a:gd name="T43" fmla="*/ 159 h 166"/>
                <a:gd name="T44" fmla="*/ 7 w 49"/>
                <a:gd name="T45" fmla="*/ 165 h 166"/>
                <a:gd name="T46" fmla="*/ 5 w 49"/>
                <a:gd name="T47" fmla="*/ 165 h 166"/>
                <a:gd name="T48" fmla="*/ 15 w 49"/>
                <a:gd name="T49" fmla="*/ 151 h 16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9" h="166">
                  <a:moveTo>
                    <a:pt x="15" y="151"/>
                  </a:moveTo>
                  <a:lnTo>
                    <a:pt x="13" y="151"/>
                  </a:lnTo>
                  <a:lnTo>
                    <a:pt x="15" y="153"/>
                  </a:lnTo>
                  <a:lnTo>
                    <a:pt x="15" y="151"/>
                  </a:lnTo>
                  <a:lnTo>
                    <a:pt x="15" y="145"/>
                  </a:lnTo>
                  <a:lnTo>
                    <a:pt x="15" y="138"/>
                  </a:lnTo>
                  <a:lnTo>
                    <a:pt x="19" y="117"/>
                  </a:lnTo>
                  <a:lnTo>
                    <a:pt x="25" y="92"/>
                  </a:lnTo>
                  <a:lnTo>
                    <a:pt x="30" y="67"/>
                  </a:lnTo>
                  <a:lnTo>
                    <a:pt x="38" y="42"/>
                  </a:lnTo>
                  <a:lnTo>
                    <a:pt x="44" y="21"/>
                  </a:lnTo>
                  <a:lnTo>
                    <a:pt x="48" y="4"/>
                  </a:lnTo>
                  <a:lnTo>
                    <a:pt x="32" y="0"/>
                  </a:lnTo>
                  <a:lnTo>
                    <a:pt x="28" y="17"/>
                  </a:lnTo>
                  <a:lnTo>
                    <a:pt x="23" y="38"/>
                  </a:lnTo>
                  <a:lnTo>
                    <a:pt x="15" y="63"/>
                  </a:lnTo>
                  <a:lnTo>
                    <a:pt x="9" y="90"/>
                  </a:lnTo>
                  <a:lnTo>
                    <a:pt x="4" y="113"/>
                  </a:lnTo>
                  <a:lnTo>
                    <a:pt x="0" y="136"/>
                  </a:lnTo>
                  <a:lnTo>
                    <a:pt x="0" y="143"/>
                  </a:lnTo>
                  <a:lnTo>
                    <a:pt x="0" y="151"/>
                  </a:lnTo>
                  <a:lnTo>
                    <a:pt x="2" y="159"/>
                  </a:lnTo>
                  <a:lnTo>
                    <a:pt x="7" y="165"/>
                  </a:lnTo>
                  <a:lnTo>
                    <a:pt x="5" y="165"/>
                  </a:lnTo>
                  <a:lnTo>
                    <a:pt x="15" y="151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69" name="Freeform 83">
              <a:extLst>
                <a:ext uri="{FF2B5EF4-FFF2-40B4-BE49-F238E27FC236}">
                  <a16:creationId xmlns:a16="http://schemas.microsoft.com/office/drawing/2014/main" id="{F7C4AA32-1770-C754-0D0E-B281F4C9F2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3607"/>
              <a:ext cx="63" cy="141"/>
            </a:xfrm>
            <a:custGeom>
              <a:avLst/>
              <a:gdLst>
                <a:gd name="T0" fmla="*/ 46 w 63"/>
                <a:gd name="T1" fmla="*/ 0 h 141"/>
                <a:gd name="T2" fmla="*/ 33 w 63"/>
                <a:gd name="T3" fmla="*/ 32 h 141"/>
                <a:gd name="T4" fmla="*/ 23 w 63"/>
                <a:gd name="T5" fmla="*/ 61 h 141"/>
                <a:gd name="T6" fmla="*/ 16 w 63"/>
                <a:gd name="T7" fmla="*/ 84 h 141"/>
                <a:gd name="T8" fmla="*/ 10 w 63"/>
                <a:gd name="T9" fmla="*/ 103 h 141"/>
                <a:gd name="T10" fmla="*/ 6 w 63"/>
                <a:gd name="T11" fmla="*/ 117 h 141"/>
                <a:gd name="T12" fmla="*/ 2 w 63"/>
                <a:gd name="T13" fmla="*/ 124 h 141"/>
                <a:gd name="T14" fmla="*/ 2 w 63"/>
                <a:gd name="T15" fmla="*/ 126 h 141"/>
                <a:gd name="T16" fmla="*/ 10 w 63"/>
                <a:gd name="T17" fmla="*/ 126 h 141"/>
                <a:gd name="T18" fmla="*/ 0 w 63"/>
                <a:gd name="T19" fmla="*/ 140 h 141"/>
                <a:gd name="T20" fmla="*/ 14 w 63"/>
                <a:gd name="T21" fmla="*/ 138 h 141"/>
                <a:gd name="T22" fmla="*/ 18 w 63"/>
                <a:gd name="T23" fmla="*/ 130 h 141"/>
                <a:gd name="T24" fmla="*/ 22 w 63"/>
                <a:gd name="T25" fmla="*/ 120 h 141"/>
                <a:gd name="T26" fmla="*/ 25 w 63"/>
                <a:gd name="T27" fmla="*/ 107 h 141"/>
                <a:gd name="T28" fmla="*/ 31 w 63"/>
                <a:gd name="T29" fmla="*/ 90 h 141"/>
                <a:gd name="T30" fmla="*/ 39 w 63"/>
                <a:gd name="T31" fmla="*/ 67 h 141"/>
                <a:gd name="T32" fmla="*/ 48 w 63"/>
                <a:gd name="T33" fmla="*/ 38 h 141"/>
                <a:gd name="T34" fmla="*/ 62 w 63"/>
                <a:gd name="T35" fmla="*/ 5 h 141"/>
                <a:gd name="T36" fmla="*/ 46 w 63"/>
                <a:gd name="T37" fmla="*/ 0 h 14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63" h="141">
                  <a:moveTo>
                    <a:pt x="46" y="0"/>
                  </a:moveTo>
                  <a:lnTo>
                    <a:pt x="33" y="32"/>
                  </a:lnTo>
                  <a:lnTo>
                    <a:pt x="23" y="61"/>
                  </a:lnTo>
                  <a:lnTo>
                    <a:pt x="16" y="84"/>
                  </a:lnTo>
                  <a:lnTo>
                    <a:pt x="10" y="103"/>
                  </a:lnTo>
                  <a:lnTo>
                    <a:pt x="6" y="117"/>
                  </a:lnTo>
                  <a:lnTo>
                    <a:pt x="2" y="124"/>
                  </a:lnTo>
                  <a:lnTo>
                    <a:pt x="2" y="126"/>
                  </a:lnTo>
                  <a:lnTo>
                    <a:pt x="10" y="126"/>
                  </a:lnTo>
                  <a:lnTo>
                    <a:pt x="0" y="140"/>
                  </a:lnTo>
                  <a:lnTo>
                    <a:pt x="14" y="138"/>
                  </a:lnTo>
                  <a:lnTo>
                    <a:pt x="18" y="130"/>
                  </a:lnTo>
                  <a:lnTo>
                    <a:pt x="22" y="120"/>
                  </a:lnTo>
                  <a:lnTo>
                    <a:pt x="25" y="107"/>
                  </a:lnTo>
                  <a:lnTo>
                    <a:pt x="31" y="90"/>
                  </a:lnTo>
                  <a:lnTo>
                    <a:pt x="39" y="67"/>
                  </a:lnTo>
                  <a:lnTo>
                    <a:pt x="48" y="38"/>
                  </a:lnTo>
                  <a:lnTo>
                    <a:pt x="62" y="5"/>
                  </a:lnTo>
                  <a:lnTo>
                    <a:pt x="46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70" name="Freeform 84">
              <a:extLst>
                <a:ext uri="{FF2B5EF4-FFF2-40B4-BE49-F238E27FC236}">
                  <a16:creationId xmlns:a16="http://schemas.microsoft.com/office/drawing/2014/main" id="{0BED0B31-1AE1-627D-833C-8D87EA4FCD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7" y="3541"/>
              <a:ext cx="67" cy="72"/>
            </a:xfrm>
            <a:custGeom>
              <a:avLst/>
              <a:gdLst>
                <a:gd name="T0" fmla="*/ 66 w 67"/>
                <a:gd name="T1" fmla="*/ 0 h 72"/>
                <a:gd name="T2" fmla="*/ 64 w 67"/>
                <a:gd name="T3" fmla="*/ 0 h 72"/>
                <a:gd name="T4" fmla="*/ 52 w 67"/>
                <a:gd name="T5" fmla="*/ 2 h 72"/>
                <a:gd name="T6" fmla="*/ 41 w 67"/>
                <a:gd name="T7" fmla="*/ 8 h 72"/>
                <a:gd name="T8" fmla="*/ 31 w 67"/>
                <a:gd name="T9" fmla="*/ 14 h 72"/>
                <a:gd name="T10" fmla="*/ 23 w 67"/>
                <a:gd name="T11" fmla="*/ 23 h 72"/>
                <a:gd name="T12" fmla="*/ 18 w 67"/>
                <a:gd name="T13" fmla="*/ 33 h 72"/>
                <a:gd name="T14" fmla="*/ 12 w 67"/>
                <a:gd name="T15" fmla="*/ 43 h 72"/>
                <a:gd name="T16" fmla="*/ 6 w 67"/>
                <a:gd name="T17" fmla="*/ 54 h 72"/>
                <a:gd name="T18" fmla="*/ 0 w 67"/>
                <a:gd name="T19" fmla="*/ 66 h 72"/>
                <a:gd name="T20" fmla="*/ 16 w 67"/>
                <a:gd name="T21" fmla="*/ 71 h 72"/>
                <a:gd name="T22" fmla="*/ 20 w 67"/>
                <a:gd name="T23" fmla="*/ 62 h 72"/>
                <a:gd name="T24" fmla="*/ 25 w 67"/>
                <a:gd name="T25" fmla="*/ 50 h 72"/>
                <a:gd name="T26" fmla="*/ 31 w 67"/>
                <a:gd name="T27" fmla="*/ 41 h 72"/>
                <a:gd name="T28" fmla="*/ 37 w 67"/>
                <a:gd name="T29" fmla="*/ 33 h 72"/>
                <a:gd name="T30" fmla="*/ 43 w 67"/>
                <a:gd name="T31" fmla="*/ 25 h 72"/>
                <a:gd name="T32" fmla="*/ 48 w 67"/>
                <a:gd name="T33" fmla="*/ 22 h 72"/>
                <a:gd name="T34" fmla="*/ 56 w 67"/>
                <a:gd name="T35" fmla="*/ 18 h 72"/>
                <a:gd name="T36" fmla="*/ 64 w 67"/>
                <a:gd name="T37" fmla="*/ 18 h 72"/>
                <a:gd name="T38" fmla="*/ 62 w 67"/>
                <a:gd name="T39" fmla="*/ 18 h 72"/>
                <a:gd name="T40" fmla="*/ 66 w 67"/>
                <a:gd name="T41" fmla="*/ 0 h 7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67" h="72">
                  <a:moveTo>
                    <a:pt x="66" y="0"/>
                  </a:moveTo>
                  <a:lnTo>
                    <a:pt x="64" y="0"/>
                  </a:lnTo>
                  <a:lnTo>
                    <a:pt x="52" y="2"/>
                  </a:lnTo>
                  <a:lnTo>
                    <a:pt x="41" y="8"/>
                  </a:lnTo>
                  <a:lnTo>
                    <a:pt x="31" y="14"/>
                  </a:lnTo>
                  <a:lnTo>
                    <a:pt x="23" y="23"/>
                  </a:lnTo>
                  <a:lnTo>
                    <a:pt x="18" y="33"/>
                  </a:lnTo>
                  <a:lnTo>
                    <a:pt x="12" y="43"/>
                  </a:lnTo>
                  <a:lnTo>
                    <a:pt x="6" y="54"/>
                  </a:lnTo>
                  <a:lnTo>
                    <a:pt x="0" y="66"/>
                  </a:lnTo>
                  <a:lnTo>
                    <a:pt x="16" y="71"/>
                  </a:lnTo>
                  <a:lnTo>
                    <a:pt x="20" y="62"/>
                  </a:lnTo>
                  <a:lnTo>
                    <a:pt x="25" y="50"/>
                  </a:lnTo>
                  <a:lnTo>
                    <a:pt x="31" y="41"/>
                  </a:lnTo>
                  <a:lnTo>
                    <a:pt x="37" y="33"/>
                  </a:lnTo>
                  <a:lnTo>
                    <a:pt x="43" y="25"/>
                  </a:lnTo>
                  <a:lnTo>
                    <a:pt x="48" y="22"/>
                  </a:lnTo>
                  <a:lnTo>
                    <a:pt x="56" y="18"/>
                  </a:lnTo>
                  <a:lnTo>
                    <a:pt x="64" y="18"/>
                  </a:lnTo>
                  <a:lnTo>
                    <a:pt x="62" y="18"/>
                  </a:lnTo>
                  <a:lnTo>
                    <a:pt x="66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71" name="Freeform 85">
              <a:extLst>
                <a:ext uri="{FF2B5EF4-FFF2-40B4-BE49-F238E27FC236}">
                  <a16:creationId xmlns:a16="http://schemas.microsoft.com/office/drawing/2014/main" id="{8AD6B194-E271-79DE-A191-81B6BFE00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2" y="3541"/>
              <a:ext cx="43" cy="164"/>
            </a:xfrm>
            <a:custGeom>
              <a:avLst/>
              <a:gdLst>
                <a:gd name="T0" fmla="*/ 15 w 43"/>
                <a:gd name="T1" fmla="*/ 163 h 164"/>
                <a:gd name="T2" fmla="*/ 21 w 43"/>
                <a:gd name="T3" fmla="*/ 142 h 164"/>
                <a:gd name="T4" fmla="*/ 27 w 43"/>
                <a:gd name="T5" fmla="*/ 117 h 164"/>
                <a:gd name="T6" fmla="*/ 31 w 43"/>
                <a:gd name="T7" fmla="*/ 92 h 164"/>
                <a:gd name="T8" fmla="*/ 36 w 43"/>
                <a:gd name="T9" fmla="*/ 68 h 164"/>
                <a:gd name="T10" fmla="*/ 40 w 43"/>
                <a:gd name="T11" fmla="*/ 46 h 164"/>
                <a:gd name="T12" fmla="*/ 42 w 43"/>
                <a:gd name="T13" fmla="*/ 27 h 164"/>
                <a:gd name="T14" fmla="*/ 42 w 43"/>
                <a:gd name="T15" fmla="*/ 20 h 164"/>
                <a:gd name="T16" fmla="*/ 40 w 43"/>
                <a:gd name="T17" fmla="*/ 12 h 164"/>
                <a:gd name="T18" fmla="*/ 38 w 43"/>
                <a:gd name="T19" fmla="*/ 6 h 164"/>
                <a:gd name="T20" fmla="*/ 31 w 43"/>
                <a:gd name="T21" fmla="*/ 0 h 164"/>
                <a:gd name="T22" fmla="*/ 27 w 43"/>
                <a:gd name="T23" fmla="*/ 18 h 164"/>
                <a:gd name="T24" fmla="*/ 25 w 43"/>
                <a:gd name="T25" fmla="*/ 16 h 164"/>
                <a:gd name="T26" fmla="*/ 25 w 43"/>
                <a:gd name="T27" fmla="*/ 20 h 164"/>
                <a:gd name="T28" fmla="*/ 25 w 43"/>
                <a:gd name="T29" fmla="*/ 27 h 164"/>
                <a:gd name="T30" fmla="*/ 25 w 43"/>
                <a:gd name="T31" fmla="*/ 45 h 164"/>
                <a:gd name="T32" fmla="*/ 21 w 43"/>
                <a:gd name="T33" fmla="*/ 66 h 164"/>
                <a:gd name="T34" fmla="*/ 15 w 43"/>
                <a:gd name="T35" fmla="*/ 89 h 164"/>
                <a:gd name="T36" fmla="*/ 10 w 43"/>
                <a:gd name="T37" fmla="*/ 114 h 164"/>
                <a:gd name="T38" fmla="*/ 6 w 43"/>
                <a:gd name="T39" fmla="*/ 138 h 164"/>
                <a:gd name="T40" fmla="*/ 0 w 43"/>
                <a:gd name="T41" fmla="*/ 160 h 164"/>
                <a:gd name="T42" fmla="*/ 15 w 43"/>
                <a:gd name="T43" fmla="*/ 163 h 16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3" h="164">
                  <a:moveTo>
                    <a:pt x="15" y="163"/>
                  </a:moveTo>
                  <a:lnTo>
                    <a:pt x="21" y="142"/>
                  </a:lnTo>
                  <a:lnTo>
                    <a:pt x="27" y="117"/>
                  </a:lnTo>
                  <a:lnTo>
                    <a:pt x="31" y="92"/>
                  </a:lnTo>
                  <a:lnTo>
                    <a:pt x="36" y="68"/>
                  </a:lnTo>
                  <a:lnTo>
                    <a:pt x="40" y="46"/>
                  </a:lnTo>
                  <a:lnTo>
                    <a:pt x="42" y="27"/>
                  </a:lnTo>
                  <a:lnTo>
                    <a:pt x="42" y="20"/>
                  </a:lnTo>
                  <a:lnTo>
                    <a:pt x="40" y="12"/>
                  </a:lnTo>
                  <a:lnTo>
                    <a:pt x="38" y="6"/>
                  </a:lnTo>
                  <a:lnTo>
                    <a:pt x="31" y="0"/>
                  </a:lnTo>
                  <a:lnTo>
                    <a:pt x="27" y="18"/>
                  </a:lnTo>
                  <a:lnTo>
                    <a:pt x="25" y="16"/>
                  </a:lnTo>
                  <a:lnTo>
                    <a:pt x="25" y="20"/>
                  </a:lnTo>
                  <a:lnTo>
                    <a:pt x="25" y="27"/>
                  </a:lnTo>
                  <a:lnTo>
                    <a:pt x="25" y="45"/>
                  </a:lnTo>
                  <a:lnTo>
                    <a:pt x="21" y="66"/>
                  </a:lnTo>
                  <a:lnTo>
                    <a:pt x="15" y="89"/>
                  </a:lnTo>
                  <a:lnTo>
                    <a:pt x="10" y="114"/>
                  </a:lnTo>
                  <a:lnTo>
                    <a:pt x="6" y="138"/>
                  </a:lnTo>
                  <a:lnTo>
                    <a:pt x="0" y="160"/>
                  </a:lnTo>
                  <a:lnTo>
                    <a:pt x="15" y="163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72" name="Freeform 86">
              <a:extLst>
                <a:ext uri="{FF2B5EF4-FFF2-40B4-BE49-F238E27FC236}">
                  <a16:creationId xmlns:a16="http://schemas.microsoft.com/office/drawing/2014/main" id="{014814FB-63ED-7790-4F3D-7FD6D074DE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" y="3701"/>
              <a:ext cx="54" cy="169"/>
            </a:xfrm>
            <a:custGeom>
              <a:avLst/>
              <a:gdLst>
                <a:gd name="T0" fmla="*/ 11 w 54"/>
                <a:gd name="T1" fmla="*/ 153 h 169"/>
                <a:gd name="T2" fmla="*/ 17 w 54"/>
                <a:gd name="T3" fmla="*/ 155 h 169"/>
                <a:gd name="T4" fmla="*/ 19 w 54"/>
                <a:gd name="T5" fmla="*/ 145 h 169"/>
                <a:gd name="T6" fmla="*/ 23 w 54"/>
                <a:gd name="T7" fmla="*/ 126 h 169"/>
                <a:gd name="T8" fmla="*/ 28 w 54"/>
                <a:gd name="T9" fmla="*/ 105 h 169"/>
                <a:gd name="T10" fmla="*/ 36 w 54"/>
                <a:gd name="T11" fmla="*/ 80 h 169"/>
                <a:gd name="T12" fmla="*/ 42 w 54"/>
                <a:gd name="T13" fmla="*/ 53 h 169"/>
                <a:gd name="T14" fmla="*/ 49 w 54"/>
                <a:gd name="T15" fmla="*/ 26 h 169"/>
                <a:gd name="T16" fmla="*/ 53 w 54"/>
                <a:gd name="T17" fmla="*/ 3 h 169"/>
                <a:gd name="T18" fmla="*/ 38 w 54"/>
                <a:gd name="T19" fmla="*/ 0 h 169"/>
                <a:gd name="T20" fmla="*/ 32 w 54"/>
                <a:gd name="T21" fmla="*/ 24 h 169"/>
                <a:gd name="T22" fmla="*/ 26 w 54"/>
                <a:gd name="T23" fmla="*/ 49 h 169"/>
                <a:gd name="T24" fmla="*/ 19 w 54"/>
                <a:gd name="T25" fmla="*/ 74 h 169"/>
                <a:gd name="T26" fmla="*/ 13 w 54"/>
                <a:gd name="T27" fmla="*/ 99 h 169"/>
                <a:gd name="T28" fmla="*/ 7 w 54"/>
                <a:gd name="T29" fmla="*/ 122 h 169"/>
                <a:gd name="T30" fmla="*/ 2 w 54"/>
                <a:gd name="T31" fmla="*/ 141 h 169"/>
                <a:gd name="T32" fmla="*/ 0 w 54"/>
                <a:gd name="T33" fmla="*/ 155 h 169"/>
                <a:gd name="T34" fmla="*/ 5 w 54"/>
                <a:gd name="T35" fmla="*/ 168 h 169"/>
                <a:gd name="T36" fmla="*/ 11 w 54"/>
                <a:gd name="T37" fmla="*/ 153 h 16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54" h="169">
                  <a:moveTo>
                    <a:pt x="11" y="153"/>
                  </a:moveTo>
                  <a:lnTo>
                    <a:pt x="17" y="155"/>
                  </a:lnTo>
                  <a:lnTo>
                    <a:pt x="19" y="145"/>
                  </a:lnTo>
                  <a:lnTo>
                    <a:pt x="23" y="126"/>
                  </a:lnTo>
                  <a:lnTo>
                    <a:pt x="28" y="105"/>
                  </a:lnTo>
                  <a:lnTo>
                    <a:pt x="36" y="80"/>
                  </a:lnTo>
                  <a:lnTo>
                    <a:pt x="42" y="53"/>
                  </a:lnTo>
                  <a:lnTo>
                    <a:pt x="49" y="26"/>
                  </a:lnTo>
                  <a:lnTo>
                    <a:pt x="53" y="3"/>
                  </a:lnTo>
                  <a:lnTo>
                    <a:pt x="38" y="0"/>
                  </a:lnTo>
                  <a:lnTo>
                    <a:pt x="32" y="24"/>
                  </a:lnTo>
                  <a:lnTo>
                    <a:pt x="26" y="49"/>
                  </a:lnTo>
                  <a:lnTo>
                    <a:pt x="19" y="74"/>
                  </a:lnTo>
                  <a:lnTo>
                    <a:pt x="13" y="99"/>
                  </a:lnTo>
                  <a:lnTo>
                    <a:pt x="7" y="122"/>
                  </a:lnTo>
                  <a:lnTo>
                    <a:pt x="2" y="141"/>
                  </a:lnTo>
                  <a:lnTo>
                    <a:pt x="0" y="155"/>
                  </a:lnTo>
                  <a:lnTo>
                    <a:pt x="5" y="168"/>
                  </a:lnTo>
                  <a:lnTo>
                    <a:pt x="11" y="153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73" name="Freeform 87">
              <a:extLst>
                <a:ext uri="{FF2B5EF4-FFF2-40B4-BE49-F238E27FC236}">
                  <a16:creationId xmlns:a16="http://schemas.microsoft.com/office/drawing/2014/main" id="{5B826549-B8C9-A445-FF85-71F1985A7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9" y="3758"/>
              <a:ext cx="93" cy="112"/>
            </a:xfrm>
            <a:custGeom>
              <a:avLst/>
              <a:gdLst>
                <a:gd name="T0" fmla="*/ 90 w 93"/>
                <a:gd name="T1" fmla="*/ 4 h 112"/>
                <a:gd name="T2" fmla="*/ 92 w 93"/>
                <a:gd name="T3" fmla="*/ 4 h 112"/>
                <a:gd name="T4" fmla="*/ 83 w 93"/>
                <a:gd name="T5" fmla="*/ 0 h 112"/>
                <a:gd name="T6" fmla="*/ 71 w 93"/>
                <a:gd name="T7" fmla="*/ 0 h 112"/>
                <a:gd name="T8" fmla="*/ 64 w 93"/>
                <a:gd name="T9" fmla="*/ 4 h 112"/>
                <a:gd name="T10" fmla="*/ 54 w 93"/>
                <a:gd name="T11" fmla="*/ 10 h 112"/>
                <a:gd name="T12" fmla="*/ 41 w 93"/>
                <a:gd name="T13" fmla="*/ 25 h 112"/>
                <a:gd name="T14" fmla="*/ 27 w 93"/>
                <a:gd name="T15" fmla="*/ 46 h 112"/>
                <a:gd name="T16" fmla="*/ 16 w 93"/>
                <a:gd name="T17" fmla="*/ 65 h 112"/>
                <a:gd name="T18" fmla="*/ 6 w 93"/>
                <a:gd name="T19" fmla="*/ 82 h 112"/>
                <a:gd name="T20" fmla="*/ 0 w 93"/>
                <a:gd name="T21" fmla="*/ 94 h 112"/>
                <a:gd name="T22" fmla="*/ 6 w 93"/>
                <a:gd name="T23" fmla="*/ 96 h 112"/>
                <a:gd name="T24" fmla="*/ 0 w 93"/>
                <a:gd name="T25" fmla="*/ 111 h 112"/>
                <a:gd name="T26" fmla="*/ 14 w 93"/>
                <a:gd name="T27" fmla="*/ 104 h 112"/>
                <a:gd name="T28" fmla="*/ 21 w 93"/>
                <a:gd name="T29" fmla="*/ 90 h 112"/>
                <a:gd name="T30" fmla="*/ 29 w 93"/>
                <a:gd name="T31" fmla="*/ 73 h 112"/>
                <a:gd name="T32" fmla="*/ 41 w 93"/>
                <a:gd name="T33" fmla="*/ 54 h 112"/>
                <a:gd name="T34" fmla="*/ 52 w 93"/>
                <a:gd name="T35" fmla="*/ 35 h 112"/>
                <a:gd name="T36" fmla="*/ 65 w 93"/>
                <a:gd name="T37" fmla="*/ 21 h 112"/>
                <a:gd name="T38" fmla="*/ 71 w 93"/>
                <a:gd name="T39" fmla="*/ 17 h 112"/>
                <a:gd name="T40" fmla="*/ 75 w 93"/>
                <a:gd name="T41" fmla="*/ 15 h 112"/>
                <a:gd name="T42" fmla="*/ 79 w 93"/>
                <a:gd name="T43" fmla="*/ 15 h 112"/>
                <a:gd name="T44" fmla="*/ 85 w 93"/>
                <a:gd name="T45" fmla="*/ 17 h 112"/>
                <a:gd name="T46" fmla="*/ 90 w 93"/>
                <a:gd name="T47" fmla="*/ 4 h 11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93" h="112">
                  <a:moveTo>
                    <a:pt x="90" y="4"/>
                  </a:moveTo>
                  <a:lnTo>
                    <a:pt x="92" y="4"/>
                  </a:lnTo>
                  <a:lnTo>
                    <a:pt x="83" y="0"/>
                  </a:lnTo>
                  <a:lnTo>
                    <a:pt x="71" y="0"/>
                  </a:lnTo>
                  <a:lnTo>
                    <a:pt x="64" y="4"/>
                  </a:lnTo>
                  <a:lnTo>
                    <a:pt x="54" y="10"/>
                  </a:lnTo>
                  <a:lnTo>
                    <a:pt x="41" y="25"/>
                  </a:lnTo>
                  <a:lnTo>
                    <a:pt x="27" y="46"/>
                  </a:lnTo>
                  <a:lnTo>
                    <a:pt x="16" y="65"/>
                  </a:lnTo>
                  <a:lnTo>
                    <a:pt x="6" y="82"/>
                  </a:lnTo>
                  <a:lnTo>
                    <a:pt x="0" y="94"/>
                  </a:lnTo>
                  <a:lnTo>
                    <a:pt x="6" y="96"/>
                  </a:lnTo>
                  <a:lnTo>
                    <a:pt x="0" y="111"/>
                  </a:lnTo>
                  <a:lnTo>
                    <a:pt x="14" y="104"/>
                  </a:lnTo>
                  <a:lnTo>
                    <a:pt x="21" y="90"/>
                  </a:lnTo>
                  <a:lnTo>
                    <a:pt x="29" y="73"/>
                  </a:lnTo>
                  <a:lnTo>
                    <a:pt x="41" y="54"/>
                  </a:lnTo>
                  <a:lnTo>
                    <a:pt x="52" y="35"/>
                  </a:lnTo>
                  <a:lnTo>
                    <a:pt x="65" y="21"/>
                  </a:lnTo>
                  <a:lnTo>
                    <a:pt x="71" y="17"/>
                  </a:lnTo>
                  <a:lnTo>
                    <a:pt x="75" y="15"/>
                  </a:lnTo>
                  <a:lnTo>
                    <a:pt x="79" y="15"/>
                  </a:lnTo>
                  <a:lnTo>
                    <a:pt x="85" y="17"/>
                  </a:lnTo>
                  <a:lnTo>
                    <a:pt x="90" y="4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74" name="Freeform 88">
              <a:extLst>
                <a:ext uri="{FF2B5EF4-FFF2-40B4-BE49-F238E27FC236}">
                  <a16:creationId xmlns:a16="http://schemas.microsoft.com/office/drawing/2014/main" id="{383A49D8-F073-58DF-3417-8C8093875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9" y="3762"/>
              <a:ext cx="66" cy="208"/>
            </a:xfrm>
            <a:custGeom>
              <a:avLst/>
              <a:gdLst>
                <a:gd name="T0" fmla="*/ 17 w 66"/>
                <a:gd name="T1" fmla="*/ 207 h 208"/>
                <a:gd name="T2" fmla="*/ 21 w 66"/>
                <a:gd name="T3" fmla="*/ 188 h 208"/>
                <a:gd name="T4" fmla="*/ 33 w 66"/>
                <a:gd name="T5" fmla="*/ 163 h 208"/>
                <a:gd name="T6" fmla="*/ 44 w 66"/>
                <a:gd name="T7" fmla="*/ 132 h 208"/>
                <a:gd name="T8" fmla="*/ 56 w 66"/>
                <a:gd name="T9" fmla="*/ 101 h 208"/>
                <a:gd name="T10" fmla="*/ 60 w 66"/>
                <a:gd name="T11" fmla="*/ 84 h 208"/>
                <a:gd name="T12" fmla="*/ 63 w 66"/>
                <a:gd name="T13" fmla="*/ 69 h 208"/>
                <a:gd name="T14" fmla="*/ 65 w 66"/>
                <a:gd name="T15" fmla="*/ 55 h 208"/>
                <a:gd name="T16" fmla="*/ 65 w 66"/>
                <a:gd name="T17" fmla="*/ 40 h 208"/>
                <a:gd name="T18" fmla="*/ 65 w 66"/>
                <a:gd name="T19" fmla="*/ 29 h 208"/>
                <a:gd name="T20" fmla="*/ 60 w 66"/>
                <a:gd name="T21" fmla="*/ 15 h 208"/>
                <a:gd name="T22" fmla="*/ 52 w 66"/>
                <a:gd name="T23" fmla="*/ 6 h 208"/>
                <a:gd name="T24" fmla="*/ 40 w 66"/>
                <a:gd name="T25" fmla="*/ 0 h 208"/>
                <a:gd name="T26" fmla="*/ 35 w 66"/>
                <a:gd name="T27" fmla="*/ 13 h 208"/>
                <a:gd name="T28" fmla="*/ 42 w 66"/>
                <a:gd name="T29" fmla="*/ 17 h 208"/>
                <a:gd name="T30" fmla="*/ 46 w 66"/>
                <a:gd name="T31" fmla="*/ 23 h 208"/>
                <a:gd name="T32" fmla="*/ 50 w 66"/>
                <a:gd name="T33" fmla="*/ 31 h 208"/>
                <a:gd name="T34" fmla="*/ 50 w 66"/>
                <a:gd name="T35" fmla="*/ 42 h 208"/>
                <a:gd name="T36" fmla="*/ 50 w 66"/>
                <a:gd name="T37" fmla="*/ 54 h 208"/>
                <a:gd name="T38" fmla="*/ 48 w 66"/>
                <a:gd name="T39" fmla="*/ 67 h 208"/>
                <a:gd name="T40" fmla="*/ 44 w 66"/>
                <a:gd name="T41" fmla="*/ 80 h 208"/>
                <a:gd name="T42" fmla="*/ 40 w 66"/>
                <a:gd name="T43" fmla="*/ 96 h 208"/>
                <a:gd name="T44" fmla="*/ 29 w 66"/>
                <a:gd name="T45" fmla="*/ 126 h 208"/>
                <a:gd name="T46" fmla="*/ 17 w 66"/>
                <a:gd name="T47" fmla="*/ 157 h 208"/>
                <a:gd name="T48" fmla="*/ 8 w 66"/>
                <a:gd name="T49" fmla="*/ 182 h 208"/>
                <a:gd name="T50" fmla="*/ 0 w 66"/>
                <a:gd name="T51" fmla="*/ 205 h 208"/>
                <a:gd name="T52" fmla="*/ 17 w 66"/>
                <a:gd name="T53" fmla="*/ 207 h 208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66" h="208">
                  <a:moveTo>
                    <a:pt x="17" y="207"/>
                  </a:moveTo>
                  <a:lnTo>
                    <a:pt x="21" y="188"/>
                  </a:lnTo>
                  <a:lnTo>
                    <a:pt x="33" y="163"/>
                  </a:lnTo>
                  <a:lnTo>
                    <a:pt x="44" y="132"/>
                  </a:lnTo>
                  <a:lnTo>
                    <a:pt x="56" y="101"/>
                  </a:lnTo>
                  <a:lnTo>
                    <a:pt x="60" y="84"/>
                  </a:lnTo>
                  <a:lnTo>
                    <a:pt x="63" y="69"/>
                  </a:lnTo>
                  <a:lnTo>
                    <a:pt x="65" y="55"/>
                  </a:lnTo>
                  <a:lnTo>
                    <a:pt x="65" y="40"/>
                  </a:lnTo>
                  <a:lnTo>
                    <a:pt x="65" y="29"/>
                  </a:lnTo>
                  <a:lnTo>
                    <a:pt x="60" y="15"/>
                  </a:lnTo>
                  <a:lnTo>
                    <a:pt x="52" y="6"/>
                  </a:lnTo>
                  <a:lnTo>
                    <a:pt x="40" y="0"/>
                  </a:lnTo>
                  <a:lnTo>
                    <a:pt x="35" y="13"/>
                  </a:lnTo>
                  <a:lnTo>
                    <a:pt x="42" y="17"/>
                  </a:lnTo>
                  <a:lnTo>
                    <a:pt x="46" y="23"/>
                  </a:lnTo>
                  <a:lnTo>
                    <a:pt x="50" y="31"/>
                  </a:lnTo>
                  <a:lnTo>
                    <a:pt x="50" y="42"/>
                  </a:lnTo>
                  <a:lnTo>
                    <a:pt x="50" y="54"/>
                  </a:lnTo>
                  <a:lnTo>
                    <a:pt x="48" y="67"/>
                  </a:lnTo>
                  <a:lnTo>
                    <a:pt x="44" y="80"/>
                  </a:lnTo>
                  <a:lnTo>
                    <a:pt x="40" y="96"/>
                  </a:lnTo>
                  <a:lnTo>
                    <a:pt x="29" y="126"/>
                  </a:lnTo>
                  <a:lnTo>
                    <a:pt x="17" y="157"/>
                  </a:lnTo>
                  <a:lnTo>
                    <a:pt x="8" y="182"/>
                  </a:lnTo>
                  <a:lnTo>
                    <a:pt x="0" y="205"/>
                  </a:lnTo>
                  <a:lnTo>
                    <a:pt x="17" y="207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75" name="Freeform 89">
              <a:extLst>
                <a:ext uri="{FF2B5EF4-FFF2-40B4-BE49-F238E27FC236}">
                  <a16:creationId xmlns:a16="http://schemas.microsoft.com/office/drawing/2014/main" id="{B2770310-AB88-86F8-2B6F-BC6D143C8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1" y="3963"/>
              <a:ext cx="17" cy="17"/>
            </a:xfrm>
            <a:custGeom>
              <a:avLst/>
              <a:gdLst>
                <a:gd name="T0" fmla="*/ 10 w 17"/>
                <a:gd name="T1" fmla="*/ 9 h 17"/>
                <a:gd name="T2" fmla="*/ 16 w 17"/>
                <a:gd name="T3" fmla="*/ 4 h 17"/>
                <a:gd name="T4" fmla="*/ 13 w 17"/>
                <a:gd name="T5" fmla="*/ 0 h 17"/>
                <a:gd name="T6" fmla="*/ 0 w 17"/>
                <a:gd name="T7" fmla="*/ 11 h 17"/>
                <a:gd name="T8" fmla="*/ 2 w 17"/>
                <a:gd name="T9" fmla="*/ 16 h 17"/>
                <a:gd name="T10" fmla="*/ 10 w 17"/>
                <a:gd name="T11" fmla="*/ 9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17">
                  <a:moveTo>
                    <a:pt x="10" y="9"/>
                  </a:moveTo>
                  <a:lnTo>
                    <a:pt x="16" y="4"/>
                  </a:lnTo>
                  <a:lnTo>
                    <a:pt x="13" y="0"/>
                  </a:lnTo>
                  <a:lnTo>
                    <a:pt x="0" y="11"/>
                  </a:lnTo>
                  <a:lnTo>
                    <a:pt x="2" y="16"/>
                  </a:lnTo>
                  <a:lnTo>
                    <a:pt x="10" y="9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76" name="Freeform 90">
              <a:extLst>
                <a:ext uri="{FF2B5EF4-FFF2-40B4-BE49-F238E27FC236}">
                  <a16:creationId xmlns:a16="http://schemas.microsoft.com/office/drawing/2014/main" id="{3795F4C8-0629-9CF9-AF54-EF56D80E8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9" y="3773"/>
              <a:ext cx="116" cy="206"/>
            </a:xfrm>
            <a:custGeom>
              <a:avLst/>
              <a:gdLst>
                <a:gd name="T0" fmla="*/ 105 w 116"/>
                <a:gd name="T1" fmla="*/ 0 h 206"/>
                <a:gd name="T2" fmla="*/ 94 w 116"/>
                <a:gd name="T3" fmla="*/ 12 h 206"/>
                <a:gd name="T4" fmla="*/ 84 w 116"/>
                <a:gd name="T5" fmla="*/ 23 h 206"/>
                <a:gd name="T6" fmla="*/ 74 w 116"/>
                <a:gd name="T7" fmla="*/ 37 h 206"/>
                <a:gd name="T8" fmla="*/ 65 w 116"/>
                <a:gd name="T9" fmla="*/ 52 h 206"/>
                <a:gd name="T10" fmla="*/ 48 w 116"/>
                <a:gd name="T11" fmla="*/ 85 h 206"/>
                <a:gd name="T12" fmla="*/ 32 w 116"/>
                <a:gd name="T13" fmla="*/ 117 h 206"/>
                <a:gd name="T14" fmla="*/ 19 w 116"/>
                <a:gd name="T15" fmla="*/ 148 h 206"/>
                <a:gd name="T16" fmla="*/ 7 w 116"/>
                <a:gd name="T17" fmla="*/ 173 h 206"/>
                <a:gd name="T18" fmla="*/ 0 w 116"/>
                <a:gd name="T19" fmla="*/ 188 h 206"/>
                <a:gd name="T20" fmla="*/ 4 w 116"/>
                <a:gd name="T21" fmla="*/ 190 h 206"/>
                <a:gd name="T22" fmla="*/ 0 w 116"/>
                <a:gd name="T23" fmla="*/ 205 h 206"/>
                <a:gd name="T24" fmla="*/ 13 w 116"/>
                <a:gd name="T25" fmla="*/ 196 h 206"/>
                <a:gd name="T26" fmla="*/ 23 w 116"/>
                <a:gd name="T27" fmla="*/ 179 h 206"/>
                <a:gd name="T28" fmla="*/ 32 w 116"/>
                <a:gd name="T29" fmla="*/ 154 h 206"/>
                <a:gd name="T30" fmla="*/ 46 w 116"/>
                <a:gd name="T31" fmla="*/ 123 h 206"/>
                <a:gd name="T32" fmla="*/ 61 w 116"/>
                <a:gd name="T33" fmla="*/ 90 h 206"/>
                <a:gd name="T34" fmla="*/ 78 w 116"/>
                <a:gd name="T35" fmla="*/ 60 h 206"/>
                <a:gd name="T36" fmla="*/ 88 w 116"/>
                <a:gd name="T37" fmla="*/ 46 h 206"/>
                <a:gd name="T38" fmla="*/ 96 w 116"/>
                <a:gd name="T39" fmla="*/ 33 h 206"/>
                <a:gd name="T40" fmla="*/ 105 w 116"/>
                <a:gd name="T41" fmla="*/ 21 h 206"/>
                <a:gd name="T42" fmla="*/ 115 w 116"/>
                <a:gd name="T43" fmla="*/ 14 h 206"/>
                <a:gd name="T44" fmla="*/ 105 w 116"/>
                <a:gd name="T45" fmla="*/ 0 h 20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16" h="206">
                  <a:moveTo>
                    <a:pt x="105" y="0"/>
                  </a:moveTo>
                  <a:lnTo>
                    <a:pt x="94" y="12"/>
                  </a:lnTo>
                  <a:lnTo>
                    <a:pt x="84" y="23"/>
                  </a:lnTo>
                  <a:lnTo>
                    <a:pt x="74" y="37"/>
                  </a:lnTo>
                  <a:lnTo>
                    <a:pt x="65" y="52"/>
                  </a:lnTo>
                  <a:lnTo>
                    <a:pt x="48" y="85"/>
                  </a:lnTo>
                  <a:lnTo>
                    <a:pt x="32" y="117"/>
                  </a:lnTo>
                  <a:lnTo>
                    <a:pt x="19" y="148"/>
                  </a:lnTo>
                  <a:lnTo>
                    <a:pt x="7" y="173"/>
                  </a:lnTo>
                  <a:lnTo>
                    <a:pt x="0" y="188"/>
                  </a:lnTo>
                  <a:lnTo>
                    <a:pt x="4" y="190"/>
                  </a:lnTo>
                  <a:lnTo>
                    <a:pt x="0" y="205"/>
                  </a:lnTo>
                  <a:lnTo>
                    <a:pt x="13" y="196"/>
                  </a:lnTo>
                  <a:lnTo>
                    <a:pt x="23" y="179"/>
                  </a:lnTo>
                  <a:lnTo>
                    <a:pt x="32" y="154"/>
                  </a:lnTo>
                  <a:lnTo>
                    <a:pt x="46" y="123"/>
                  </a:lnTo>
                  <a:lnTo>
                    <a:pt x="61" y="90"/>
                  </a:lnTo>
                  <a:lnTo>
                    <a:pt x="78" y="60"/>
                  </a:lnTo>
                  <a:lnTo>
                    <a:pt x="88" y="46"/>
                  </a:lnTo>
                  <a:lnTo>
                    <a:pt x="96" y="33"/>
                  </a:lnTo>
                  <a:lnTo>
                    <a:pt x="105" y="21"/>
                  </a:lnTo>
                  <a:lnTo>
                    <a:pt x="115" y="14"/>
                  </a:lnTo>
                  <a:lnTo>
                    <a:pt x="105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77" name="Freeform 91">
              <a:extLst>
                <a:ext uri="{FF2B5EF4-FFF2-40B4-BE49-F238E27FC236}">
                  <a16:creationId xmlns:a16="http://schemas.microsoft.com/office/drawing/2014/main" id="{D3338C33-0A3B-77B9-3E34-1C59AD290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4" y="3762"/>
              <a:ext cx="57" cy="26"/>
            </a:xfrm>
            <a:custGeom>
              <a:avLst/>
              <a:gdLst>
                <a:gd name="T0" fmla="*/ 56 w 57"/>
                <a:gd name="T1" fmla="*/ 17 h 26"/>
                <a:gd name="T2" fmla="*/ 54 w 57"/>
                <a:gd name="T3" fmla="*/ 11 h 26"/>
                <a:gd name="T4" fmla="*/ 48 w 57"/>
                <a:gd name="T5" fmla="*/ 6 h 26"/>
                <a:gd name="T6" fmla="*/ 42 w 57"/>
                <a:gd name="T7" fmla="*/ 2 h 26"/>
                <a:gd name="T8" fmla="*/ 35 w 57"/>
                <a:gd name="T9" fmla="*/ 0 h 26"/>
                <a:gd name="T10" fmla="*/ 27 w 57"/>
                <a:gd name="T11" fmla="*/ 0 h 26"/>
                <a:gd name="T12" fmla="*/ 17 w 57"/>
                <a:gd name="T13" fmla="*/ 2 h 26"/>
                <a:gd name="T14" fmla="*/ 8 w 57"/>
                <a:gd name="T15" fmla="*/ 6 h 26"/>
                <a:gd name="T16" fmla="*/ 0 w 57"/>
                <a:gd name="T17" fmla="*/ 11 h 26"/>
                <a:gd name="T18" fmla="*/ 10 w 57"/>
                <a:gd name="T19" fmla="*/ 25 h 26"/>
                <a:gd name="T20" fmla="*/ 17 w 57"/>
                <a:gd name="T21" fmla="*/ 19 h 26"/>
                <a:gd name="T22" fmla="*/ 23 w 57"/>
                <a:gd name="T23" fmla="*/ 17 h 26"/>
                <a:gd name="T24" fmla="*/ 27 w 57"/>
                <a:gd name="T25" fmla="*/ 15 h 26"/>
                <a:gd name="T26" fmla="*/ 33 w 57"/>
                <a:gd name="T27" fmla="*/ 15 h 26"/>
                <a:gd name="T28" fmla="*/ 37 w 57"/>
                <a:gd name="T29" fmla="*/ 17 h 26"/>
                <a:gd name="T30" fmla="*/ 38 w 57"/>
                <a:gd name="T31" fmla="*/ 19 h 26"/>
                <a:gd name="T32" fmla="*/ 40 w 57"/>
                <a:gd name="T33" fmla="*/ 21 h 26"/>
                <a:gd name="T34" fmla="*/ 42 w 57"/>
                <a:gd name="T35" fmla="*/ 23 h 26"/>
                <a:gd name="T36" fmla="*/ 56 w 57"/>
                <a:gd name="T37" fmla="*/ 17 h 2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57" h="26">
                  <a:moveTo>
                    <a:pt x="56" y="17"/>
                  </a:moveTo>
                  <a:lnTo>
                    <a:pt x="54" y="11"/>
                  </a:lnTo>
                  <a:lnTo>
                    <a:pt x="48" y="6"/>
                  </a:lnTo>
                  <a:lnTo>
                    <a:pt x="42" y="2"/>
                  </a:lnTo>
                  <a:lnTo>
                    <a:pt x="35" y="0"/>
                  </a:lnTo>
                  <a:lnTo>
                    <a:pt x="27" y="0"/>
                  </a:lnTo>
                  <a:lnTo>
                    <a:pt x="17" y="2"/>
                  </a:lnTo>
                  <a:lnTo>
                    <a:pt x="8" y="6"/>
                  </a:lnTo>
                  <a:lnTo>
                    <a:pt x="0" y="11"/>
                  </a:lnTo>
                  <a:lnTo>
                    <a:pt x="10" y="25"/>
                  </a:lnTo>
                  <a:lnTo>
                    <a:pt x="17" y="19"/>
                  </a:lnTo>
                  <a:lnTo>
                    <a:pt x="23" y="17"/>
                  </a:lnTo>
                  <a:lnTo>
                    <a:pt x="27" y="15"/>
                  </a:lnTo>
                  <a:lnTo>
                    <a:pt x="33" y="15"/>
                  </a:lnTo>
                  <a:lnTo>
                    <a:pt x="37" y="17"/>
                  </a:lnTo>
                  <a:lnTo>
                    <a:pt x="38" y="19"/>
                  </a:lnTo>
                  <a:lnTo>
                    <a:pt x="40" y="21"/>
                  </a:lnTo>
                  <a:lnTo>
                    <a:pt x="42" y="23"/>
                  </a:lnTo>
                  <a:lnTo>
                    <a:pt x="56" y="17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78" name="Freeform 92">
              <a:extLst>
                <a:ext uri="{FF2B5EF4-FFF2-40B4-BE49-F238E27FC236}">
                  <a16:creationId xmlns:a16="http://schemas.microsoft.com/office/drawing/2014/main" id="{B7DDBEB6-5B70-5F6A-0643-34D5B5623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8" y="3779"/>
              <a:ext cx="46" cy="114"/>
            </a:xfrm>
            <a:custGeom>
              <a:avLst/>
              <a:gdLst>
                <a:gd name="T0" fmla="*/ 13 w 46"/>
                <a:gd name="T1" fmla="*/ 113 h 114"/>
                <a:gd name="T2" fmla="*/ 21 w 46"/>
                <a:gd name="T3" fmla="*/ 102 h 114"/>
                <a:gd name="T4" fmla="*/ 26 w 46"/>
                <a:gd name="T5" fmla="*/ 88 h 114"/>
                <a:gd name="T6" fmla="*/ 34 w 46"/>
                <a:gd name="T7" fmla="*/ 73 h 114"/>
                <a:gd name="T8" fmla="*/ 40 w 46"/>
                <a:gd name="T9" fmla="*/ 58 h 114"/>
                <a:gd name="T10" fmla="*/ 44 w 46"/>
                <a:gd name="T11" fmla="*/ 42 h 114"/>
                <a:gd name="T12" fmla="*/ 45 w 46"/>
                <a:gd name="T13" fmla="*/ 27 h 114"/>
                <a:gd name="T14" fmla="*/ 45 w 46"/>
                <a:gd name="T15" fmla="*/ 14 h 114"/>
                <a:gd name="T16" fmla="*/ 42 w 46"/>
                <a:gd name="T17" fmla="*/ 0 h 114"/>
                <a:gd name="T18" fmla="*/ 28 w 46"/>
                <a:gd name="T19" fmla="*/ 6 h 114"/>
                <a:gd name="T20" fmla="*/ 30 w 46"/>
                <a:gd name="T21" fmla="*/ 15 h 114"/>
                <a:gd name="T22" fmla="*/ 30 w 46"/>
                <a:gd name="T23" fmla="*/ 27 h 114"/>
                <a:gd name="T24" fmla="*/ 28 w 46"/>
                <a:gd name="T25" fmla="*/ 38 h 114"/>
                <a:gd name="T26" fmla="*/ 24 w 46"/>
                <a:gd name="T27" fmla="*/ 54 h 114"/>
                <a:gd name="T28" fmla="*/ 19 w 46"/>
                <a:gd name="T29" fmla="*/ 67 h 114"/>
                <a:gd name="T30" fmla="*/ 13 w 46"/>
                <a:gd name="T31" fmla="*/ 81 h 114"/>
                <a:gd name="T32" fmla="*/ 5 w 46"/>
                <a:gd name="T33" fmla="*/ 94 h 114"/>
                <a:gd name="T34" fmla="*/ 0 w 46"/>
                <a:gd name="T35" fmla="*/ 106 h 114"/>
                <a:gd name="T36" fmla="*/ 13 w 46"/>
                <a:gd name="T37" fmla="*/ 113 h 11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6" h="114">
                  <a:moveTo>
                    <a:pt x="13" y="113"/>
                  </a:moveTo>
                  <a:lnTo>
                    <a:pt x="21" y="102"/>
                  </a:lnTo>
                  <a:lnTo>
                    <a:pt x="26" y="88"/>
                  </a:lnTo>
                  <a:lnTo>
                    <a:pt x="34" y="73"/>
                  </a:lnTo>
                  <a:lnTo>
                    <a:pt x="40" y="58"/>
                  </a:lnTo>
                  <a:lnTo>
                    <a:pt x="44" y="42"/>
                  </a:lnTo>
                  <a:lnTo>
                    <a:pt x="45" y="27"/>
                  </a:lnTo>
                  <a:lnTo>
                    <a:pt x="45" y="14"/>
                  </a:lnTo>
                  <a:lnTo>
                    <a:pt x="42" y="0"/>
                  </a:lnTo>
                  <a:lnTo>
                    <a:pt x="28" y="6"/>
                  </a:lnTo>
                  <a:lnTo>
                    <a:pt x="30" y="15"/>
                  </a:lnTo>
                  <a:lnTo>
                    <a:pt x="30" y="27"/>
                  </a:lnTo>
                  <a:lnTo>
                    <a:pt x="28" y="38"/>
                  </a:lnTo>
                  <a:lnTo>
                    <a:pt x="24" y="54"/>
                  </a:lnTo>
                  <a:lnTo>
                    <a:pt x="19" y="67"/>
                  </a:lnTo>
                  <a:lnTo>
                    <a:pt x="13" y="81"/>
                  </a:lnTo>
                  <a:lnTo>
                    <a:pt x="5" y="94"/>
                  </a:lnTo>
                  <a:lnTo>
                    <a:pt x="0" y="106"/>
                  </a:lnTo>
                  <a:lnTo>
                    <a:pt x="13" y="113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79" name="Freeform 93">
              <a:extLst>
                <a:ext uri="{FF2B5EF4-FFF2-40B4-BE49-F238E27FC236}">
                  <a16:creationId xmlns:a16="http://schemas.microsoft.com/office/drawing/2014/main" id="{D9FA7704-5667-F352-FA10-9FB1B23314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3" y="3885"/>
              <a:ext cx="39" cy="71"/>
            </a:xfrm>
            <a:custGeom>
              <a:avLst/>
              <a:gdLst>
                <a:gd name="T0" fmla="*/ 5 w 39"/>
                <a:gd name="T1" fmla="*/ 55 h 71"/>
                <a:gd name="T2" fmla="*/ 11 w 39"/>
                <a:gd name="T3" fmla="*/ 53 h 71"/>
                <a:gd name="T4" fmla="*/ 15 w 39"/>
                <a:gd name="T5" fmla="*/ 57 h 71"/>
                <a:gd name="T6" fmla="*/ 15 w 39"/>
                <a:gd name="T7" fmla="*/ 55 h 71"/>
                <a:gd name="T8" fmla="*/ 17 w 39"/>
                <a:gd name="T9" fmla="*/ 49 h 71"/>
                <a:gd name="T10" fmla="*/ 21 w 39"/>
                <a:gd name="T11" fmla="*/ 40 h 71"/>
                <a:gd name="T12" fmla="*/ 25 w 39"/>
                <a:gd name="T13" fmla="*/ 32 h 71"/>
                <a:gd name="T14" fmla="*/ 30 w 39"/>
                <a:gd name="T15" fmla="*/ 23 h 71"/>
                <a:gd name="T16" fmla="*/ 34 w 39"/>
                <a:gd name="T17" fmla="*/ 15 h 71"/>
                <a:gd name="T18" fmla="*/ 38 w 39"/>
                <a:gd name="T19" fmla="*/ 7 h 71"/>
                <a:gd name="T20" fmla="*/ 25 w 39"/>
                <a:gd name="T21" fmla="*/ 0 h 71"/>
                <a:gd name="T22" fmla="*/ 21 w 39"/>
                <a:gd name="T23" fmla="*/ 7 h 71"/>
                <a:gd name="T24" fmla="*/ 15 w 39"/>
                <a:gd name="T25" fmla="*/ 15 h 71"/>
                <a:gd name="T26" fmla="*/ 11 w 39"/>
                <a:gd name="T27" fmla="*/ 24 h 71"/>
                <a:gd name="T28" fmla="*/ 5 w 39"/>
                <a:gd name="T29" fmla="*/ 34 h 71"/>
                <a:gd name="T30" fmla="*/ 2 w 39"/>
                <a:gd name="T31" fmla="*/ 44 h 71"/>
                <a:gd name="T32" fmla="*/ 0 w 39"/>
                <a:gd name="T33" fmla="*/ 53 h 71"/>
                <a:gd name="T34" fmla="*/ 0 w 39"/>
                <a:gd name="T35" fmla="*/ 61 h 71"/>
                <a:gd name="T36" fmla="*/ 9 w 39"/>
                <a:gd name="T37" fmla="*/ 70 h 71"/>
                <a:gd name="T38" fmla="*/ 13 w 39"/>
                <a:gd name="T39" fmla="*/ 69 h 71"/>
                <a:gd name="T40" fmla="*/ 5 w 39"/>
                <a:gd name="T41" fmla="*/ 55 h 7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9" h="71">
                  <a:moveTo>
                    <a:pt x="5" y="55"/>
                  </a:moveTo>
                  <a:lnTo>
                    <a:pt x="11" y="53"/>
                  </a:lnTo>
                  <a:lnTo>
                    <a:pt x="15" y="57"/>
                  </a:lnTo>
                  <a:lnTo>
                    <a:pt x="15" y="55"/>
                  </a:lnTo>
                  <a:lnTo>
                    <a:pt x="17" y="49"/>
                  </a:lnTo>
                  <a:lnTo>
                    <a:pt x="21" y="40"/>
                  </a:lnTo>
                  <a:lnTo>
                    <a:pt x="25" y="32"/>
                  </a:lnTo>
                  <a:lnTo>
                    <a:pt x="30" y="23"/>
                  </a:lnTo>
                  <a:lnTo>
                    <a:pt x="34" y="15"/>
                  </a:lnTo>
                  <a:lnTo>
                    <a:pt x="38" y="7"/>
                  </a:lnTo>
                  <a:lnTo>
                    <a:pt x="25" y="0"/>
                  </a:lnTo>
                  <a:lnTo>
                    <a:pt x="21" y="7"/>
                  </a:lnTo>
                  <a:lnTo>
                    <a:pt x="15" y="15"/>
                  </a:lnTo>
                  <a:lnTo>
                    <a:pt x="11" y="24"/>
                  </a:lnTo>
                  <a:lnTo>
                    <a:pt x="5" y="34"/>
                  </a:lnTo>
                  <a:lnTo>
                    <a:pt x="2" y="44"/>
                  </a:lnTo>
                  <a:lnTo>
                    <a:pt x="0" y="53"/>
                  </a:lnTo>
                  <a:lnTo>
                    <a:pt x="0" y="61"/>
                  </a:lnTo>
                  <a:lnTo>
                    <a:pt x="9" y="70"/>
                  </a:lnTo>
                  <a:lnTo>
                    <a:pt x="13" y="69"/>
                  </a:lnTo>
                  <a:lnTo>
                    <a:pt x="5" y="55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80" name="Freeform 94">
              <a:extLst>
                <a:ext uri="{FF2B5EF4-FFF2-40B4-BE49-F238E27FC236}">
                  <a16:creationId xmlns:a16="http://schemas.microsoft.com/office/drawing/2014/main" id="{E0E9276C-6683-079E-F3B6-E3A1C071E2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8" y="3775"/>
              <a:ext cx="122" cy="180"/>
            </a:xfrm>
            <a:custGeom>
              <a:avLst/>
              <a:gdLst>
                <a:gd name="T0" fmla="*/ 110 w 122"/>
                <a:gd name="T1" fmla="*/ 0 h 180"/>
                <a:gd name="T2" fmla="*/ 90 w 122"/>
                <a:gd name="T3" fmla="*/ 23 h 180"/>
                <a:gd name="T4" fmla="*/ 71 w 122"/>
                <a:gd name="T5" fmla="*/ 48 h 180"/>
                <a:gd name="T6" fmla="*/ 54 w 122"/>
                <a:gd name="T7" fmla="*/ 75 h 180"/>
                <a:gd name="T8" fmla="*/ 39 w 122"/>
                <a:gd name="T9" fmla="*/ 102 h 180"/>
                <a:gd name="T10" fmla="*/ 23 w 122"/>
                <a:gd name="T11" fmla="*/ 127 h 180"/>
                <a:gd name="T12" fmla="*/ 12 w 122"/>
                <a:gd name="T13" fmla="*/ 146 h 180"/>
                <a:gd name="T14" fmla="*/ 4 w 122"/>
                <a:gd name="T15" fmla="*/ 161 h 180"/>
                <a:gd name="T16" fmla="*/ 0 w 122"/>
                <a:gd name="T17" fmla="*/ 165 h 180"/>
                <a:gd name="T18" fmla="*/ 8 w 122"/>
                <a:gd name="T19" fmla="*/ 179 h 180"/>
                <a:gd name="T20" fmla="*/ 18 w 122"/>
                <a:gd name="T21" fmla="*/ 169 h 180"/>
                <a:gd name="T22" fmla="*/ 25 w 122"/>
                <a:gd name="T23" fmla="*/ 156 h 180"/>
                <a:gd name="T24" fmla="*/ 39 w 122"/>
                <a:gd name="T25" fmla="*/ 134 h 180"/>
                <a:gd name="T26" fmla="*/ 52 w 122"/>
                <a:gd name="T27" fmla="*/ 110 h 180"/>
                <a:gd name="T28" fmla="*/ 67 w 122"/>
                <a:gd name="T29" fmla="*/ 85 h 180"/>
                <a:gd name="T30" fmla="*/ 85 w 122"/>
                <a:gd name="T31" fmla="*/ 58 h 180"/>
                <a:gd name="T32" fmla="*/ 104 w 122"/>
                <a:gd name="T33" fmla="*/ 33 h 180"/>
                <a:gd name="T34" fmla="*/ 121 w 122"/>
                <a:gd name="T35" fmla="*/ 12 h 180"/>
                <a:gd name="T36" fmla="*/ 110 w 122"/>
                <a:gd name="T37" fmla="*/ 0 h 18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22" h="180">
                  <a:moveTo>
                    <a:pt x="110" y="0"/>
                  </a:moveTo>
                  <a:lnTo>
                    <a:pt x="90" y="23"/>
                  </a:lnTo>
                  <a:lnTo>
                    <a:pt x="71" y="48"/>
                  </a:lnTo>
                  <a:lnTo>
                    <a:pt x="54" y="75"/>
                  </a:lnTo>
                  <a:lnTo>
                    <a:pt x="39" y="102"/>
                  </a:lnTo>
                  <a:lnTo>
                    <a:pt x="23" y="127"/>
                  </a:lnTo>
                  <a:lnTo>
                    <a:pt x="12" y="146"/>
                  </a:lnTo>
                  <a:lnTo>
                    <a:pt x="4" y="161"/>
                  </a:lnTo>
                  <a:lnTo>
                    <a:pt x="0" y="165"/>
                  </a:lnTo>
                  <a:lnTo>
                    <a:pt x="8" y="179"/>
                  </a:lnTo>
                  <a:lnTo>
                    <a:pt x="18" y="169"/>
                  </a:lnTo>
                  <a:lnTo>
                    <a:pt x="25" y="156"/>
                  </a:lnTo>
                  <a:lnTo>
                    <a:pt x="39" y="134"/>
                  </a:lnTo>
                  <a:lnTo>
                    <a:pt x="52" y="110"/>
                  </a:lnTo>
                  <a:lnTo>
                    <a:pt x="67" y="85"/>
                  </a:lnTo>
                  <a:lnTo>
                    <a:pt x="85" y="58"/>
                  </a:lnTo>
                  <a:lnTo>
                    <a:pt x="104" y="33"/>
                  </a:lnTo>
                  <a:lnTo>
                    <a:pt x="121" y="12"/>
                  </a:lnTo>
                  <a:lnTo>
                    <a:pt x="110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81" name="Freeform 95">
              <a:extLst>
                <a:ext uri="{FF2B5EF4-FFF2-40B4-BE49-F238E27FC236}">
                  <a16:creationId xmlns:a16="http://schemas.microsoft.com/office/drawing/2014/main" id="{AE50C74E-7F33-6CA7-A963-9658CF069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8" y="3745"/>
              <a:ext cx="58" cy="43"/>
            </a:xfrm>
            <a:custGeom>
              <a:avLst/>
              <a:gdLst>
                <a:gd name="T0" fmla="*/ 57 w 58"/>
                <a:gd name="T1" fmla="*/ 0 h 43"/>
                <a:gd name="T2" fmla="*/ 46 w 58"/>
                <a:gd name="T3" fmla="*/ 0 h 43"/>
                <a:gd name="T4" fmla="*/ 38 w 58"/>
                <a:gd name="T5" fmla="*/ 2 h 43"/>
                <a:gd name="T6" fmla="*/ 28 w 58"/>
                <a:gd name="T7" fmla="*/ 7 h 43"/>
                <a:gd name="T8" fmla="*/ 21 w 58"/>
                <a:gd name="T9" fmla="*/ 11 h 43"/>
                <a:gd name="T10" fmla="*/ 13 w 58"/>
                <a:gd name="T11" fmla="*/ 17 h 43"/>
                <a:gd name="T12" fmla="*/ 7 w 58"/>
                <a:gd name="T13" fmla="*/ 23 h 43"/>
                <a:gd name="T14" fmla="*/ 1 w 58"/>
                <a:gd name="T15" fmla="*/ 28 h 43"/>
                <a:gd name="T16" fmla="*/ 0 w 58"/>
                <a:gd name="T17" fmla="*/ 30 h 43"/>
                <a:gd name="T18" fmla="*/ 11 w 58"/>
                <a:gd name="T19" fmla="*/ 42 h 43"/>
                <a:gd name="T20" fmla="*/ 13 w 58"/>
                <a:gd name="T21" fmla="*/ 40 h 43"/>
                <a:gd name="T22" fmla="*/ 17 w 58"/>
                <a:gd name="T23" fmla="*/ 34 h 43"/>
                <a:gd name="T24" fmla="*/ 23 w 58"/>
                <a:gd name="T25" fmla="*/ 30 h 43"/>
                <a:gd name="T26" fmla="*/ 30 w 58"/>
                <a:gd name="T27" fmla="*/ 25 h 43"/>
                <a:gd name="T28" fmla="*/ 36 w 58"/>
                <a:gd name="T29" fmla="*/ 21 h 43"/>
                <a:gd name="T30" fmla="*/ 44 w 58"/>
                <a:gd name="T31" fmla="*/ 17 h 43"/>
                <a:gd name="T32" fmla="*/ 47 w 58"/>
                <a:gd name="T33" fmla="*/ 15 h 43"/>
                <a:gd name="T34" fmla="*/ 51 w 58"/>
                <a:gd name="T35" fmla="*/ 15 h 43"/>
                <a:gd name="T36" fmla="*/ 57 w 58"/>
                <a:gd name="T37" fmla="*/ 0 h 4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58" h="43">
                  <a:moveTo>
                    <a:pt x="57" y="0"/>
                  </a:moveTo>
                  <a:lnTo>
                    <a:pt x="46" y="0"/>
                  </a:lnTo>
                  <a:lnTo>
                    <a:pt x="38" y="2"/>
                  </a:lnTo>
                  <a:lnTo>
                    <a:pt x="28" y="7"/>
                  </a:lnTo>
                  <a:lnTo>
                    <a:pt x="21" y="11"/>
                  </a:lnTo>
                  <a:lnTo>
                    <a:pt x="13" y="17"/>
                  </a:lnTo>
                  <a:lnTo>
                    <a:pt x="7" y="23"/>
                  </a:lnTo>
                  <a:lnTo>
                    <a:pt x="1" y="28"/>
                  </a:lnTo>
                  <a:lnTo>
                    <a:pt x="0" y="30"/>
                  </a:lnTo>
                  <a:lnTo>
                    <a:pt x="11" y="42"/>
                  </a:lnTo>
                  <a:lnTo>
                    <a:pt x="13" y="40"/>
                  </a:lnTo>
                  <a:lnTo>
                    <a:pt x="17" y="34"/>
                  </a:lnTo>
                  <a:lnTo>
                    <a:pt x="23" y="30"/>
                  </a:lnTo>
                  <a:lnTo>
                    <a:pt x="30" y="25"/>
                  </a:lnTo>
                  <a:lnTo>
                    <a:pt x="36" y="21"/>
                  </a:lnTo>
                  <a:lnTo>
                    <a:pt x="44" y="17"/>
                  </a:lnTo>
                  <a:lnTo>
                    <a:pt x="47" y="15"/>
                  </a:lnTo>
                  <a:lnTo>
                    <a:pt x="51" y="15"/>
                  </a:lnTo>
                  <a:lnTo>
                    <a:pt x="57" y="0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82" name="Freeform 96">
              <a:extLst>
                <a:ext uri="{FF2B5EF4-FFF2-40B4-BE49-F238E27FC236}">
                  <a16:creationId xmlns:a16="http://schemas.microsoft.com/office/drawing/2014/main" id="{0B96D113-F61F-E95B-C711-E598165C9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9" y="3745"/>
              <a:ext cx="32" cy="210"/>
            </a:xfrm>
            <a:custGeom>
              <a:avLst/>
              <a:gdLst>
                <a:gd name="T0" fmla="*/ 23 w 32"/>
                <a:gd name="T1" fmla="*/ 203 h 210"/>
                <a:gd name="T2" fmla="*/ 25 w 32"/>
                <a:gd name="T3" fmla="*/ 203 h 210"/>
                <a:gd name="T4" fmla="*/ 21 w 32"/>
                <a:gd name="T5" fmla="*/ 193 h 210"/>
                <a:gd name="T6" fmla="*/ 19 w 32"/>
                <a:gd name="T7" fmla="*/ 180 h 210"/>
                <a:gd name="T8" fmla="*/ 19 w 32"/>
                <a:gd name="T9" fmla="*/ 166 h 210"/>
                <a:gd name="T10" fmla="*/ 21 w 32"/>
                <a:gd name="T11" fmla="*/ 153 h 210"/>
                <a:gd name="T12" fmla="*/ 23 w 32"/>
                <a:gd name="T13" fmla="*/ 122 h 210"/>
                <a:gd name="T14" fmla="*/ 27 w 32"/>
                <a:gd name="T15" fmla="*/ 92 h 210"/>
                <a:gd name="T16" fmla="*/ 31 w 32"/>
                <a:gd name="T17" fmla="*/ 61 h 210"/>
                <a:gd name="T18" fmla="*/ 29 w 32"/>
                <a:gd name="T19" fmla="*/ 36 h 210"/>
                <a:gd name="T20" fmla="*/ 27 w 32"/>
                <a:gd name="T21" fmla="*/ 25 h 210"/>
                <a:gd name="T22" fmla="*/ 23 w 32"/>
                <a:gd name="T23" fmla="*/ 15 h 210"/>
                <a:gd name="T24" fmla="*/ 16 w 32"/>
                <a:gd name="T25" fmla="*/ 5 h 210"/>
                <a:gd name="T26" fmla="*/ 6 w 32"/>
                <a:gd name="T27" fmla="*/ 0 h 210"/>
                <a:gd name="T28" fmla="*/ 0 w 32"/>
                <a:gd name="T29" fmla="*/ 15 h 210"/>
                <a:gd name="T30" fmla="*/ 6 w 32"/>
                <a:gd name="T31" fmla="*/ 19 h 210"/>
                <a:gd name="T32" fmla="*/ 10 w 32"/>
                <a:gd name="T33" fmla="*/ 23 h 210"/>
                <a:gd name="T34" fmla="*/ 12 w 32"/>
                <a:gd name="T35" fmla="*/ 28 h 210"/>
                <a:gd name="T36" fmla="*/ 14 w 32"/>
                <a:gd name="T37" fmla="*/ 38 h 210"/>
                <a:gd name="T38" fmla="*/ 14 w 32"/>
                <a:gd name="T39" fmla="*/ 61 h 210"/>
                <a:gd name="T40" fmla="*/ 12 w 32"/>
                <a:gd name="T41" fmla="*/ 90 h 210"/>
                <a:gd name="T42" fmla="*/ 8 w 32"/>
                <a:gd name="T43" fmla="*/ 120 h 210"/>
                <a:gd name="T44" fmla="*/ 4 w 32"/>
                <a:gd name="T45" fmla="*/ 151 h 210"/>
                <a:gd name="T46" fmla="*/ 4 w 32"/>
                <a:gd name="T47" fmla="*/ 166 h 210"/>
                <a:gd name="T48" fmla="*/ 4 w 32"/>
                <a:gd name="T49" fmla="*/ 182 h 210"/>
                <a:gd name="T50" fmla="*/ 6 w 32"/>
                <a:gd name="T51" fmla="*/ 195 h 210"/>
                <a:gd name="T52" fmla="*/ 10 w 32"/>
                <a:gd name="T53" fmla="*/ 209 h 210"/>
                <a:gd name="T54" fmla="*/ 23 w 32"/>
                <a:gd name="T55" fmla="*/ 203 h 210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32" h="210">
                  <a:moveTo>
                    <a:pt x="23" y="203"/>
                  </a:moveTo>
                  <a:lnTo>
                    <a:pt x="25" y="203"/>
                  </a:lnTo>
                  <a:lnTo>
                    <a:pt x="21" y="193"/>
                  </a:lnTo>
                  <a:lnTo>
                    <a:pt x="19" y="180"/>
                  </a:lnTo>
                  <a:lnTo>
                    <a:pt x="19" y="166"/>
                  </a:lnTo>
                  <a:lnTo>
                    <a:pt x="21" y="153"/>
                  </a:lnTo>
                  <a:lnTo>
                    <a:pt x="23" y="122"/>
                  </a:lnTo>
                  <a:lnTo>
                    <a:pt x="27" y="92"/>
                  </a:lnTo>
                  <a:lnTo>
                    <a:pt x="31" y="61"/>
                  </a:lnTo>
                  <a:lnTo>
                    <a:pt x="29" y="36"/>
                  </a:lnTo>
                  <a:lnTo>
                    <a:pt x="27" y="25"/>
                  </a:lnTo>
                  <a:lnTo>
                    <a:pt x="23" y="15"/>
                  </a:lnTo>
                  <a:lnTo>
                    <a:pt x="16" y="5"/>
                  </a:lnTo>
                  <a:lnTo>
                    <a:pt x="6" y="0"/>
                  </a:lnTo>
                  <a:lnTo>
                    <a:pt x="0" y="15"/>
                  </a:lnTo>
                  <a:lnTo>
                    <a:pt x="6" y="19"/>
                  </a:lnTo>
                  <a:lnTo>
                    <a:pt x="10" y="23"/>
                  </a:lnTo>
                  <a:lnTo>
                    <a:pt x="12" y="28"/>
                  </a:lnTo>
                  <a:lnTo>
                    <a:pt x="14" y="38"/>
                  </a:lnTo>
                  <a:lnTo>
                    <a:pt x="14" y="61"/>
                  </a:lnTo>
                  <a:lnTo>
                    <a:pt x="12" y="90"/>
                  </a:lnTo>
                  <a:lnTo>
                    <a:pt x="8" y="120"/>
                  </a:lnTo>
                  <a:lnTo>
                    <a:pt x="4" y="151"/>
                  </a:lnTo>
                  <a:lnTo>
                    <a:pt x="4" y="166"/>
                  </a:lnTo>
                  <a:lnTo>
                    <a:pt x="4" y="182"/>
                  </a:lnTo>
                  <a:lnTo>
                    <a:pt x="6" y="195"/>
                  </a:lnTo>
                  <a:lnTo>
                    <a:pt x="10" y="209"/>
                  </a:lnTo>
                  <a:lnTo>
                    <a:pt x="23" y="203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83" name="Freeform 97">
              <a:extLst>
                <a:ext uri="{FF2B5EF4-FFF2-40B4-BE49-F238E27FC236}">
                  <a16:creationId xmlns:a16="http://schemas.microsoft.com/office/drawing/2014/main" id="{91F96B52-5F22-C50F-54D1-A0646D186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9" y="3948"/>
              <a:ext cx="56" cy="30"/>
            </a:xfrm>
            <a:custGeom>
              <a:avLst/>
              <a:gdLst>
                <a:gd name="T0" fmla="*/ 52 w 56"/>
                <a:gd name="T1" fmla="*/ 13 h 30"/>
                <a:gd name="T2" fmla="*/ 48 w 56"/>
                <a:gd name="T3" fmla="*/ 13 h 30"/>
                <a:gd name="T4" fmla="*/ 42 w 56"/>
                <a:gd name="T5" fmla="*/ 13 h 30"/>
                <a:gd name="T6" fmla="*/ 34 w 56"/>
                <a:gd name="T7" fmla="*/ 11 h 30"/>
                <a:gd name="T8" fmla="*/ 29 w 56"/>
                <a:gd name="T9" fmla="*/ 9 h 30"/>
                <a:gd name="T10" fmla="*/ 23 w 56"/>
                <a:gd name="T11" fmla="*/ 6 h 30"/>
                <a:gd name="T12" fmla="*/ 19 w 56"/>
                <a:gd name="T13" fmla="*/ 4 h 30"/>
                <a:gd name="T14" fmla="*/ 15 w 56"/>
                <a:gd name="T15" fmla="*/ 0 h 30"/>
                <a:gd name="T16" fmla="*/ 13 w 56"/>
                <a:gd name="T17" fmla="*/ 0 h 30"/>
                <a:gd name="T18" fmla="*/ 0 w 56"/>
                <a:gd name="T19" fmla="*/ 6 h 30"/>
                <a:gd name="T20" fmla="*/ 4 w 56"/>
                <a:gd name="T21" fmla="*/ 11 h 30"/>
                <a:gd name="T22" fmla="*/ 9 w 56"/>
                <a:gd name="T23" fmla="*/ 15 h 30"/>
                <a:gd name="T24" fmla="*/ 15 w 56"/>
                <a:gd name="T25" fmla="*/ 19 h 30"/>
                <a:gd name="T26" fmla="*/ 23 w 56"/>
                <a:gd name="T27" fmla="*/ 23 h 30"/>
                <a:gd name="T28" fmla="*/ 31 w 56"/>
                <a:gd name="T29" fmla="*/ 27 h 30"/>
                <a:gd name="T30" fmla="*/ 38 w 56"/>
                <a:gd name="T31" fmla="*/ 29 h 30"/>
                <a:gd name="T32" fmla="*/ 48 w 56"/>
                <a:gd name="T33" fmla="*/ 29 h 30"/>
                <a:gd name="T34" fmla="*/ 55 w 56"/>
                <a:gd name="T35" fmla="*/ 29 h 30"/>
                <a:gd name="T36" fmla="*/ 52 w 56"/>
                <a:gd name="T37" fmla="*/ 13 h 3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56" h="30">
                  <a:moveTo>
                    <a:pt x="52" y="13"/>
                  </a:moveTo>
                  <a:lnTo>
                    <a:pt x="48" y="13"/>
                  </a:lnTo>
                  <a:lnTo>
                    <a:pt x="42" y="13"/>
                  </a:lnTo>
                  <a:lnTo>
                    <a:pt x="34" y="11"/>
                  </a:lnTo>
                  <a:lnTo>
                    <a:pt x="29" y="9"/>
                  </a:lnTo>
                  <a:lnTo>
                    <a:pt x="23" y="6"/>
                  </a:lnTo>
                  <a:lnTo>
                    <a:pt x="19" y="4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0" y="6"/>
                  </a:lnTo>
                  <a:lnTo>
                    <a:pt x="4" y="11"/>
                  </a:lnTo>
                  <a:lnTo>
                    <a:pt x="9" y="15"/>
                  </a:lnTo>
                  <a:lnTo>
                    <a:pt x="15" y="19"/>
                  </a:lnTo>
                  <a:lnTo>
                    <a:pt x="23" y="23"/>
                  </a:lnTo>
                  <a:lnTo>
                    <a:pt x="31" y="27"/>
                  </a:lnTo>
                  <a:lnTo>
                    <a:pt x="38" y="29"/>
                  </a:lnTo>
                  <a:lnTo>
                    <a:pt x="48" y="29"/>
                  </a:lnTo>
                  <a:lnTo>
                    <a:pt x="55" y="29"/>
                  </a:lnTo>
                  <a:lnTo>
                    <a:pt x="52" y="13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84" name="Freeform 98">
              <a:extLst>
                <a:ext uri="{FF2B5EF4-FFF2-40B4-BE49-F238E27FC236}">
                  <a16:creationId xmlns:a16="http://schemas.microsoft.com/office/drawing/2014/main" id="{653F3A05-DF01-AADA-6E7B-3A065150FD74}"/>
                </a:ext>
              </a:extLst>
            </p:cNvPr>
            <p:cNvSpPr>
              <a:spLocks/>
            </p:cNvSpPr>
            <p:nvPr/>
          </p:nvSpPr>
          <p:spPr bwMode="auto">
            <a:xfrm>
              <a:off x="973" y="2882"/>
              <a:ext cx="176" cy="139"/>
            </a:xfrm>
            <a:custGeom>
              <a:avLst/>
              <a:gdLst>
                <a:gd name="T0" fmla="*/ 165 w 176"/>
                <a:gd name="T1" fmla="*/ 0 h 139"/>
                <a:gd name="T2" fmla="*/ 144 w 176"/>
                <a:gd name="T3" fmla="*/ 16 h 139"/>
                <a:gd name="T4" fmla="*/ 123 w 176"/>
                <a:gd name="T5" fmla="*/ 31 h 139"/>
                <a:gd name="T6" fmla="*/ 104 w 176"/>
                <a:gd name="T7" fmla="*/ 44 h 139"/>
                <a:gd name="T8" fmla="*/ 83 w 176"/>
                <a:gd name="T9" fmla="*/ 60 h 139"/>
                <a:gd name="T10" fmla="*/ 64 w 176"/>
                <a:gd name="T11" fmla="*/ 75 h 139"/>
                <a:gd name="T12" fmla="*/ 45 w 176"/>
                <a:gd name="T13" fmla="*/ 90 h 139"/>
                <a:gd name="T14" fmla="*/ 23 w 176"/>
                <a:gd name="T15" fmla="*/ 108 h 139"/>
                <a:gd name="T16" fmla="*/ 0 w 176"/>
                <a:gd name="T17" fmla="*/ 127 h 139"/>
                <a:gd name="T18" fmla="*/ 10 w 176"/>
                <a:gd name="T19" fmla="*/ 138 h 139"/>
                <a:gd name="T20" fmla="*/ 33 w 176"/>
                <a:gd name="T21" fmla="*/ 119 h 139"/>
                <a:gd name="T22" fmla="*/ 54 w 176"/>
                <a:gd name="T23" fmla="*/ 102 h 139"/>
                <a:gd name="T24" fmla="*/ 73 w 176"/>
                <a:gd name="T25" fmla="*/ 86 h 139"/>
                <a:gd name="T26" fmla="*/ 92 w 176"/>
                <a:gd name="T27" fmla="*/ 73 h 139"/>
                <a:gd name="T28" fmla="*/ 113 w 176"/>
                <a:gd name="T29" fmla="*/ 58 h 139"/>
                <a:gd name="T30" fmla="*/ 133 w 176"/>
                <a:gd name="T31" fmla="*/ 44 h 139"/>
                <a:gd name="T32" fmla="*/ 152 w 176"/>
                <a:gd name="T33" fmla="*/ 29 h 139"/>
                <a:gd name="T34" fmla="*/ 175 w 176"/>
                <a:gd name="T35" fmla="*/ 14 h 139"/>
                <a:gd name="T36" fmla="*/ 173 w 176"/>
                <a:gd name="T37" fmla="*/ 14 h 139"/>
                <a:gd name="T38" fmla="*/ 165 w 176"/>
                <a:gd name="T39" fmla="*/ 0 h 139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76" h="139">
                  <a:moveTo>
                    <a:pt x="165" y="0"/>
                  </a:moveTo>
                  <a:lnTo>
                    <a:pt x="144" y="16"/>
                  </a:lnTo>
                  <a:lnTo>
                    <a:pt x="123" y="31"/>
                  </a:lnTo>
                  <a:lnTo>
                    <a:pt x="104" y="44"/>
                  </a:lnTo>
                  <a:lnTo>
                    <a:pt x="83" y="60"/>
                  </a:lnTo>
                  <a:lnTo>
                    <a:pt x="64" y="75"/>
                  </a:lnTo>
                  <a:lnTo>
                    <a:pt x="45" y="90"/>
                  </a:lnTo>
                  <a:lnTo>
                    <a:pt x="23" y="108"/>
                  </a:lnTo>
                  <a:lnTo>
                    <a:pt x="0" y="127"/>
                  </a:lnTo>
                  <a:lnTo>
                    <a:pt x="10" y="138"/>
                  </a:lnTo>
                  <a:lnTo>
                    <a:pt x="33" y="119"/>
                  </a:lnTo>
                  <a:lnTo>
                    <a:pt x="54" y="102"/>
                  </a:lnTo>
                  <a:lnTo>
                    <a:pt x="73" y="86"/>
                  </a:lnTo>
                  <a:lnTo>
                    <a:pt x="92" y="73"/>
                  </a:lnTo>
                  <a:lnTo>
                    <a:pt x="113" y="58"/>
                  </a:lnTo>
                  <a:lnTo>
                    <a:pt x="133" y="44"/>
                  </a:lnTo>
                  <a:lnTo>
                    <a:pt x="152" y="29"/>
                  </a:lnTo>
                  <a:lnTo>
                    <a:pt x="175" y="14"/>
                  </a:lnTo>
                  <a:lnTo>
                    <a:pt x="173" y="14"/>
                  </a:lnTo>
                  <a:lnTo>
                    <a:pt x="165" y="0"/>
                  </a:lnTo>
                </a:path>
              </a:pathLst>
            </a:cu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85" name="Freeform 99">
              <a:extLst>
                <a:ext uri="{FF2B5EF4-FFF2-40B4-BE49-F238E27FC236}">
                  <a16:creationId xmlns:a16="http://schemas.microsoft.com/office/drawing/2014/main" id="{FCDC6177-2BD5-DC8A-3AC2-427C78CD6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8" y="2794"/>
              <a:ext cx="220" cy="103"/>
            </a:xfrm>
            <a:custGeom>
              <a:avLst/>
              <a:gdLst>
                <a:gd name="T0" fmla="*/ 215 w 220"/>
                <a:gd name="T1" fmla="*/ 0 h 103"/>
                <a:gd name="T2" fmla="*/ 186 w 220"/>
                <a:gd name="T3" fmla="*/ 8 h 103"/>
                <a:gd name="T4" fmla="*/ 157 w 220"/>
                <a:gd name="T5" fmla="*/ 15 h 103"/>
                <a:gd name="T6" fmla="*/ 130 w 220"/>
                <a:gd name="T7" fmla="*/ 23 h 103"/>
                <a:gd name="T8" fmla="*/ 104 w 220"/>
                <a:gd name="T9" fmla="*/ 35 h 103"/>
                <a:gd name="T10" fmla="*/ 77 w 220"/>
                <a:gd name="T11" fmla="*/ 46 h 103"/>
                <a:gd name="T12" fmla="*/ 50 w 220"/>
                <a:gd name="T13" fmla="*/ 58 h 103"/>
                <a:gd name="T14" fmla="*/ 25 w 220"/>
                <a:gd name="T15" fmla="*/ 73 h 103"/>
                <a:gd name="T16" fmla="*/ 0 w 220"/>
                <a:gd name="T17" fmla="*/ 88 h 103"/>
                <a:gd name="T18" fmla="*/ 8 w 220"/>
                <a:gd name="T19" fmla="*/ 102 h 103"/>
                <a:gd name="T20" fmla="*/ 33 w 220"/>
                <a:gd name="T21" fmla="*/ 86 h 103"/>
                <a:gd name="T22" fmla="*/ 58 w 220"/>
                <a:gd name="T23" fmla="*/ 73 h 103"/>
                <a:gd name="T24" fmla="*/ 83 w 220"/>
                <a:gd name="T25" fmla="*/ 59 h 103"/>
                <a:gd name="T26" fmla="*/ 109 w 220"/>
                <a:gd name="T27" fmla="*/ 48 h 103"/>
                <a:gd name="T28" fmla="*/ 136 w 220"/>
                <a:gd name="T29" fmla="*/ 38 h 103"/>
                <a:gd name="T30" fmla="*/ 161 w 220"/>
                <a:gd name="T31" fmla="*/ 31 h 103"/>
                <a:gd name="T32" fmla="*/ 190 w 220"/>
                <a:gd name="T33" fmla="*/ 23 h 103"/>
                <a:gd name="T34" fmla="*/ 219 w 220"/>
                <a:gd name="T35" fmla="*/ 15 h 103"/>
                <a:gd name="T36" fmla="*/ 215 w 220"/>
                <a:gd name="T37" fmla="*/ 0 h 10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20" h="103">
                  <a:moveTo>
                    <a:pt x="215" y="0"/>
                  </a:moveTo>
                  <a:lnTo>
                    <a:pt x="186" y="8"/>
                  </a:lnTo>
                  <a:lnTo>
                    <a:pt x="157" y="15"/>
                  </a:lnTo>
                  <a:lnTo>
                    <a:pt x="130" y="23"/>
                  </a:lnTo>
                  <a:lnTo>
                    <a:pt x="104" y="35"/>
                  </a:lnTo>
                  <a:lnTo>
                    <a:pt x="77" y="46"/>
                  </a:lnTo>
                  <a:lnTo>
                    <a:pt x="50" y="58"/>
                  </a:lnTo>
                  <a:lnTo>
                    <a:pt x="25" y="73"/>
                  </a:lnTo>
                  <a:lnTo>
                    <a:pt x="0" y="88"/>
                  </a:lnTo>
                  <a:lnTo>
                    <a:pt x="8" y="102"/>
                  </a:lnTo>
                  <a:lnTo>
                    <a:pt x="33" y="86"/>
                  </a:lnTo>
                  <a:lnTo>
                    <a:pt x="58" y="73"/>
                  </a:lnTo>
                  <a:lnTo>
                    <a:pt x="83" y="59"/>
                  </a:lnTo>
                  <a:lnTo>
                    <a:pt x="109" y="48"/>
                  </a:lnTo>
                  <a:lnTo>
                    <a:pt x="136" y="38"/>
                  </a:lnTo>
                  <a:lnTo>
                    <a:pt x="161" y="31"/>
                  </a:lnTo>
                  <a:lnTo>
                    <a:pt x="190" y="23"/>
                  </a:lnTo>
                  <a:lnTo>
                    <a:pt x="219" y="15"/>
                  </a:lnTo>
                  <a:lnTo>
                    <a:pt x="215" y="0"/>
                  </a:lnTo>
                </a:path>
              </a:pathLst>
            </a:cu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86" name="Freeform 100">
              <a:extLst>
                <a:ext uri="{FF2B5EF4-FFF2-40B4-BE49-F238E27FC236}">
                  <a16:creationId xmlns:a16="http://schemas.microsoft.com/office/drawing/2014/main" id="{16FC1D9A-5F79-E1AE-A5EE-06971267A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3" y="2784"/>
              <a:ext cx="143" cy="26"/>
            </a:xfrm>
            <a:custGeom>
              <a:avLst/>
              <a:gdLst>
                <a:gd name="T0" fmla="*/ 142 w 143"/>
                <a:gd name="T1" fmla="*/ 6 h 26"/>
                <a:gd name="T2" fmla="*/ 122 w 143"/>
                <a:gd name="T3" fmla="*/ 4 h 26"/>
                <a:gd name="T4" fmla="*/ 105 w 143"/>
                <a:gd name="T5" fmla="*/ 0 h 26"/>
                <a:gd name="T6" fmla="*/ 88 w 143"/>
                <a:gd name="T7" fmla="*/ 0 h 26"/>
                <a:gd name="T8" fmla="*/ 71 w 143"/>
                <a:gd name="T9" fmla="*/ 0 h 26"/>
                <a:gd name="T10" fmla="*/ 53 w 143"/>
                <a:gd name="T11" fmla="*/ 0 h 26"/>
                <a:gd name="T12" fmla="*/ 34 w 143"/>
                <a:gd name="T13" fmla="*/ 2 h 26"/>
                <a:gd name="T14" fmla="*/ 17 w 143"/>
                <a:gd name="T15" fmla="*/ 6 h 26"/>
                <a:gd name="T16" fmla="*/ 0 w 143"/>
                <a:gd name="T17" fmla="*/ 10 h 26"/>
                <a:gd name="T18" fmla="*/ 4 w 143"/>
                <a:gd name="T19" fmla="*/ 25 h 26"/>
                <a:gd name="T20" fmla="*/ 21 w 143"/>
                <a:gd name="T21" fmla="*/ 22 h 26"/>
                <a:gd name="T22" fmla="*/ 38 w 143"/>
                <a:gd name="T23" fmla="*/ 20 h 26"/>
                <a:gd name="T24" fmla="*/ 53 w 143"/>
                <a:gd name="T25" fmla="*/ 18 h 26"/>
                <a:gd name="T26" fmla="*/ 71 w 143"/>
                <a:gd name="T27" fmla="*/ 16 h 26"/>
                <a:gd name="T28" fmla="*/ 88 w 143"/>
                <a:gd name="T29" fmla="*/ 16 h 26"/>
                <a:gd name="T30" fmla="*/ 103 w 143"/>
                <a:gd name="T31" fmla="*/ 18 h 26"/>
                <a:gd name="T32" fmla="*/ 120 w 143"/>
                <a:gd name="T33" fmla="*/ 20 h 26"/>
                <a:gd name="T34" fmla="*/ 138 w 143"/>
                <a:gd name="T35" fmla="*/ 22 h 26"/>
                <a:gd name="T36" fmla="*/ 142 w 143"/>
                <a:gd name="T37" fmla="*/ 6 h 2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43" h="26">
                  <a:moveTo>
                    <a:pt x="142" y="6"/>
                  </a:moveTo>
                  <a:lnTo>
                    <a:pt x="122" y="4"/>
                  </a:lnTo>
                  <a:lnTo>
                    <a:pt x="105" y="0"/>
                  </a:lnTo>
                  <a:lnTo>
                    <a:pt x="88" y="0"/>
                  </a:lnTo>
                  <a:lnTo>
                    <a:pt x="71" y="0"/>
                  </a:lnTo>
                  <a:lnTo>
                    <a:pt x="53" y="0"/>
                  </a:lnTo>
                  <a:lnTo>
                    <a:pt x="34" y="2"/>
                  </a:lnTo>
                  <a:lnTo>
                    <a:pt x="17" y="6"/>
                  </a:lnTo>
                  <a:lnTo>
                    <a:pt x="0" y="10"/>
                  </a:lnTo>
                  <a:lnTo>
                    <a:pt x="4" y="25"/>
                  </a:lnTo>
                  <a:lnTo>
                    <a:pt x="21" y="22"/>
                  </a:lnTo>
                  <a:lnTo>
                    <a:pt x="38" y="20"/>
                  </a:lnTo>
                  <a:lnTo>
                    <a:pt x="53" y="18"/>
                  </a:lnTo>
                  <a:lnTo>
                    <a:pt x="71" y="16"/>
                  </a:lnTo>
                  <a:lnTo>
                    <a:pt x="88" y="16"/>
                  </a:lnTo>
                  <a:lnTo>
                    <a:pt x="103" y="18"/>
                  </a:lnTo>
                  <a:lnTo>
                    <a:pt x="120" y="20"/>
                  </a:lnTo>
                  <a:lnTo>
                    <a:pt x="138" y="22"/>
                  </a:lnTo>
                  <a:lnTo>
                    <a:pt x="142" y="6"/>
                  </a:lnTo>
                </a:path>
              </a:pathLst>
            </a:cu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87" name="Freeform 101">
              <a:extLst>
                <a:ext uri="{FF2B5EF4-FFF2-40B4-BE49-F238E27FC236}">
                  <a16:creationId xmlns:a16="http://schemas.microsoft.com/office/drawing/2014/main" id="{3D5E7F41-9CFD-CCB8-EC80-5E5E70592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1" y="2790"/>
              <a:ext cx="150" cy="70"/>
            </a:xfrm>
            <a:custGeom>
              <a:avLst/>
              <a:gdLst>
                <a:gd name="T0" fmla="*/ 149 w 150"/>
                <a:gd name="T1" fmla="*/ 56 h 70"/>
                <a:gd name="T2" fmla="*/ 132 w 150"/>
                <a:gd name="T3" fmla="*/ 46 h 70"/>
                <a:gd name="T4" fmla="*/ 115 w 150"/>
                <a:gd name="T5" fmla="*/ 39 h 70"/>
                <a:gd name="T6" fmla="*/ 95 w 150"/>
                <a:gd name="T7" fmla="*/ 31 h 70"/>
                <a:gd name="T8" fmla="*/ 78 w 150"/>
                <a:gd name="T9" fmla="*/ 23 h 70"/>
                <a:gd name="T10" fmla="*/ 59 w 150"/>
                <a:gd name="T11" fmla="*/ 16 h 70"/>
                <a:gd name="T12" fmla="*/ 42 w 150"/>
                <a:gd name="T13" fmla="*/ 10 h 70"/>
                <a:gd name="T14" fmla="*/ 23 w 150"/>
                <a:gd name="T15" fmla="*/ 6 h 70"/>
                <a:gd name="T16" fmla="*/ 4 w 150"/>
                <a:gd name="T17" fmla="*/ 0 h 70"/>
                <a:gd name="T18" fmla="*/ 0 w 150"/>
                <a:gd name="T19" fmla="*/ 16 h 70"/>
                <a:gd name="T20" fmla="*/ 19 w 150"/>
                <a:gd name="T21" fmla="*/ 21 h 70"/>
                <a:gd name="T22" fmla="*/ 36 w 150"/>
                <a:gd name="T23" fmla="*/ 25 h 70"/>
                <a:gd name="T24" fmla="*/ 55 w 150"/>
                <a:gd name="T25" fmla="*/ 31 h 70"/>
                <a:gd name="T26" fmla="*/ 72 w 150"/>
                <a:gd name="T27" fmla="*/ 39 h 70"/>
                <a:gd name="T28" fmla="*/ 90 w 150"/>
                <a:gd name="T29" fmla="*/ 44 h 70"/>
                <a:gd name="T30" fmla="*/ 107 w 150"/>
                <a:gd name="T31" fmla="*/ 52 h 70"/>
                <a:gd name="T32" fmla="*/ 124 w 150"/>
                <a:gd name="T33" fmla="*/ 60 h 70"/>
                <a:gd name="T34" fmla="*/ 141 w 150"/>
                <a:gd name="T35" fmla="*/ 69 h 70"/>
                <a:gd name="T36" fmla="*/ 149 w 150"/>
                <a:gd name="T37" fmla="*/ 56 h 7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50" h="70">
                  <a:moveTo>
                    <a:pt x="149" y="56"/>
                  </a:moveTo>
                  <a:lnTo>
                    <a:pt x="132" y="46"/>
                  </a:lnTo>
                  <a:lnTo>
                    <a:pt x="115" y="39"/>
                  </a:lnTo>
                  <a:lnTo>
                    <a:pt x="95" y="31"/>
                  </a:lnTo>
                  <a:lnTo>
                    <a:pt x="78" y="23"/>
                  </a:lnTo>
                  <a:lnTo>
                    <a:pt x="59" y="16"/>
                  </a:lnTo>
                  <a:lnTo>
                    <a:pt x="42" y="10"/>
                  </a:lnTo>
                  <a:lnTo>
                    <a:pt x="23" y="6"/>
                  </a:lnTo>
                  <a:lnTo>
                    <a:pt x="4" y="0"/>
                  </a:lnTo>
                  <a:lnTo>
                    <a:pt x="0" y="16"/>
                  </a:lnTo>
                  <a:lnTo>
                    <a:pt x="19" y="21"/>
                  </a:lnTo>
                  <a:lnTo>
                    <a:pt x="36" y="25"/>
                  </a:lnTo>
                  <a:lnTo>
                    <a:pt x="55" y="31"/>
                  </a:lnTo>
                  <a:lnTo>
                    <a:pt x="72" y="39"/>
                  </a:lnTo>
                  <a:lnTo>
                    <a:pt x="90" y="44"/>
                  </a:lnTo>
                  <a:lnTo>
                    <a:pt x="107" y="52"/>
                  </a:lnTo>
                  <a:lnTo>
                    <a:pt x="124" y="60"/>
                  </a:lnTo>
                  <a:lnTo>
                    <a:pt x="141" y="69"/>
                  </a:lnTo>
                  <a:lnTo>
                    <a:pt x="149" y="56"/>
                  </a:lnTo>
                </a:path>
              </a:pathLst>
            </a:cu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88" name="Freeform 102">
              <a:extLst>
                <a:ext uri="{FF2B5EF4-FFF2-40B4-BE49-F238E27FC236}">
                  <a16:creationId xmlns:a16="http://schemas.microsoft.com/office/drawing/2014/main" id="{481C361E-8536-C8E8-B27E-B0CDD1841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2" y="2846"/>
              <a:ext cx="145" cy="118"/>
            </a:xfrm>
            <a:custGeom>
              <a:avLst/>
              <a:gdLst>
                <a:gd name="T0" fmla="*/ 144 w 145"/>
                <a:gd name="T1" fmla="*/ 107 h 118"/>
                <a:gd name="T2" fmla="*/ 129 w 145"/>
                <a:gd name="T3" fmla="*/ 90 h 118"/>
                <a:gd name="T4" fmla="*/ 113 w 145"/>
                <a:gd name="T5" fmla="*/ 75 h 118"/>
                <a:gd name="T6" fmla="*/ 96 w 145"/>
                <a:gd name="T7" fmla="*/ 61 h 118"/>
                <a:gd name="T8" fmla="*/ 81 w 145"/>
                <a:gd name="T9" fmla="*/ 48 h 118"/>
                <a:gd name="T10" fmla="*/ 64 w 145"/>
                <a:gd name="T11" fmla="*/ 34 h 118"/>
                <a:gd name="T12" fmla="*/ 45 w 145"/>
                <a:gd name="T13" fmla="*/ 23 h 118"/>
                <a:gd name="T14" fmla="*/ 27 w 145"/>
                <a:gd name="T15" fmla="*/ 11 h 118"/>
                <a:gd name="T16" fmla="*/ 8 w 145"/>
                <a:gd name="T17" fmla="*/ 0 h 118"/>
                <a:gd name="T18" fmla="*/ 0 w 145"/>
                <a:gd name="T19" fmla="*/ 13 h 118"/>
                <a:gd name="T20" fmla="*/ 18 w 145"/>
                <a:gd name="T21" fmla="*/ 25 h 118"/>
                <a:gd name="T22" fmla="*/ 37 w 145"/>
                <a:gd name="T23" fmla="*/ 36 h 118"/>
                <a:gd name="T24" fmla="*/ 54 w 145"/>
                <a:gd name="T25" fmla="*/ 48 h 118"/>
                <a:gd name="T26" fmla="*/ 71 w 145"/>
                <a:gd name="T27" fmla="*/ 61 h 118"/>
                <a:gd name="T28" fmla="*/ 87 w 145"/>
                <a:gd name="T29" fmla="*/ 73 h 118"/>
                <a:gd name="T30" fmla="*/ 102 w 145"/>
                <a:gd name="T31" fmla="*/ 86 h 118"/>
                <a:gd name="T32" fmla="*/ 117 w 145"/>
                <a:gd name="T33" fmla="*/ 101 h 118"/>
                <a:gd name="T34" fmla="*/ 133 w 145"/>
                <a:gd name="T35" fmla="*/ 117 h 118"/>
                <a:gd name="T36" fmla="*/ 144 w 145"/>
                <a:gd name="T37" fmla="*/ 107 h 11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45" h="118">
                  <a:moveTo>
                    <a:pt x="144" y="107"/>
                  </a:moveTo>
                  <a:lnTo>
                    <a:pt x="129" y="90"/>
                  </a:lnTo>
                  <a:lnTo>
                    <a:pt x="113" y="75"/>
                  </a:lnTo>
                  <a:lnTo>
                    <a:pt x="96" y="61"/>
                  </a:lnTo>
                  <a:lnTo>
                    <a:pt x="81" y="48"/>
                  </a:lnTo>
                  <a:lnTo>
                    <a:pt x="64" y="34"/>
                  </a:lnTo>
                  <a:lnTo>
                    <a:pt x="45" y="23"/>
                  </a:lnTo>
                  <a:lnTo>
                    <a:pt x="27" y="11"/>
                  </a:lnTo>
                  <a:lnTo>
                    <a:pt x="8" y="0"/>
                  </a:lnTo>
                  <a:lnTo>
                    <a:pt x="0" y="13"/>
                  </a:lnTo>
                  <a:lnTo>
                    <a:pt x="18" y="25"/>
                  </a:lnTo>
                  <a:lnTo>
                    <a:pt x="37" y="36"/>
                  </a:lnTo>
                  <a:lnTo>
                    <a:pt x="54" y="48"/>
                  </a:lnTo>
                  <a:lnTo>
                    <a:pt x="71" y="61"/>
                  </a:lnTo>
                  <a:lnTo>
                    <a:pt x="87" y="73"/>
                  </a:lnTo>
                  <a:lnTo>
                    <a:pt x="102" y="86"/>
                  </a:lnTo>
                  <a:lnTo>
                    <a:pt x="117" y="101"/>
                  </a:lnTo>
                  <a:lnTo>
                    <a:pt x="133" y="117"/>
                  </a:lnTo>
                  <a:lnTo>
                    <a:pt x="144" y="107"/>
                  </a:lnTo>
                </a:path>
              </a:pathLst>
            </a:cu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89" name="Freeform 103">
              <a:extLst>
                <a:ext uri="{FF2B5EF4-FFF2-40B4-BE49-F238E27FC236}">
                  <a16:creationId xmlns:a16="http://schemas.microsoft.com/office/drawing/2014/main" id="{B7E88845-0C9B-D80F-1D9E-4E844B7AA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" y="2953"/>
              <a:ext cx="117" cy="193"/>
            </a:xfrm>
            <a:custGeom>
              <a:avLst/>
              <a:gdLst>
                <a:gd name="T0" fmla="*/ 116 w 117"/>
                <a:gd name="T1" fmla="*/ 186 h 193"/>
                <a:gd name="T2" fmla="*/ 101 w 117"/>
                <a:gd name="T3" fmla="*/ 148 h 193"/>
                <a:gd name="T4" fmla="*/ 88 w 117"/>
                <a:gd name="T5" fmla="*/ 115 h 193"/>
                <a:gd name="T6" fmla="*/ 72 w 117"/>
                <a:gd name="T7" fmla="*/ 86 h 193"/>
                <a:gd name="T8" fmla="*/ 59 w 117"/>
                <a:gd name="T9" fmla="*/ 63 h 193"/>
                <a:gd name="T10" fmla="*/ 46 w 117"/>
                <a:gd name="T11" fmla="*/ 44 h 193"/>
                <a:gd name="T12" fmla="*/ 34 w 117"/>
                <a:gd name="T13" fmla="*/ 27 h 193"/>
                <a:gd name="T14" fmla="*/ 23 w 117"/>
                <a:gd name="T15" fmla="*/ 12 h 193"/>
                <a:gd name="T16" fmla="*/ 11 w 117"/>
                <a:gd name="T17" fmla="*/ 0 h 193"/>
                <a:gd name="T18" fmla="*/ 0 w 117"/>
                <a:gd name="T19" fmla="*/ 10 h 193"/>
                <a:gd name="T20" fmla="*/ 9 w 117"/>
                <a:gd name="T21" fmla="*/ 23 h 193"/>
                <a:gd name="T22" fmla="*/ 21 w 117"/>
                <a:gd name="T23" fmla="*/ 37 h 193"/>
                <a:gd name="T24" fmla="*/ 32 w 117"/>
                <a:gd name="T25" fmla="*/ 52 h 193"/>
                <a:gd name="T26" fmla="*/ 46 w 117"/>
                <a:gd name="T27" fmla="*/ 71 h 193"/>
                <a:gd name="T28" fmla="*/ 59 w 117"/>
                <a:gd name="T29" fmla="*/ 94 h 193"/>
                <a:gd name="T30" fmla="*/ 72 w 117"/>
                <a:gd name="T31" fmla="*/ 121 h 193"/>
                <a:gd name="T32" fmla="*/ 88 w 117"/>
                <a:gd name="T33" fmla="*/ 153 h 193"/>
                <a:gd name="T34" fmla="*/ 101 w 117"/>
                <a:gd name="T35" fmla="*/ 192 h 193"/>
                <a:gd name="T36" fmla="*/ 116 w 117"/>
                <a:gd name="T37" fmla="*/ 186 h 19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17" h="193">
                  <a:moveTo>
                    <a:pt x="116" y="186"/>
                  </a:moveTo>
                  <a:lnTo>
                    <a:pt x="101" y="148"/>
                  </a:lnTo>
                  <a:lnTo>
                    <a:pt x="88" y="115"/>
                  </a:lnTo>
                  <a:lnTo>
                    <a:pt x="72" y="86"/>
                  </a:lnTo>
                  <a:lnTo>
                    <a:pt x="59" y="63"/>
                  </a:lnTo>
                  <a:lnTo>
                    <a:pt x="46" y="44"/>
                  </a:lnTo>
                  <a:lnTo>
                    <a:pt x="34" y="27"/>
                  </a:lnTo>
                  <a:lnTo>
                    <a:pt x="23" y="12"/>
                  </a:lnTo>
                  <a:lnTo>
                    <a:pt x="11" y="0"/>
                  </a:lnTo>
                  <a:lnTo>
                    <a:pt x="0" y="10"/>
                  </a:lnTo>
                  <a:lnTo>
                    <a:pt x="9" y="23"/>
                  </a:lnTo>
                  <a:lnTo>
                    <a:pt x="21" y="37"/>
                  </a:lnTo>
                  <a:lnTo>
                    <a:pt x="32" y="52"/>
                  </a:lnTo>
                  <a:lnTo>
                    <a:pt x="46" y="71"/>
                  </a:lnTo>
                  <a:lnTo>
                    <a:pt x="59" y="94"/>
                  </a:lnTo>
                  <a:lnTo>
                    <a:pt x="72" y="121"/>
                  </a:lnTo>
                  <a:lnTo>
                    <a:pt x="88" y="153"/>
                  </a:lnTo>
                  <a:lnTo>
                    <a:pt x="101" y="192"/>
                  </a:lnTo>
                  <a:lnTo>
                    <a:pt x="116" y="186"/>
                  </a:lnTo>
                </a:path>
              </a:pathLst>
            </a:cu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90" name="Freeform 104">
              <a:extLst>
                <a:ext uri="{FF2B5EF4-FFF2-40B4-BE49-F238E27FC236}">
                  <a16:creationId xmlns:a16="http://schemas.microsoft.com/office/drawing/2014/main" id="{FD67974F-3F7A-CDC8-BCDC-BA856AAFDB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" y="3141"/>
              <a:ext cx="66" cy="212"/>
            </a:xfrm>
            <a:custGeom>
              <a:avLst/>
              <a:gdLst>
                <a:gd name="T0" fmla="*/ 58 w 66"/>
                <a:gd name="T1" fmla="*/ 209 h 212"/>
                <a:gd name="T2" fmla="*/ 65 w 66"/>
                <a:gd name="T3" fmla="*/ 207 h 212"/>
                <a:gd name="T4" fmla="*/ 15 w 66"/>
                <a:gd name="T5" fmla="*/ 0 h 212"/>
                <a:gd name="T6" fmla="*/ 0 w 66"/>
                <a:gd name="T7" fmla="*/ 4 h 212"/>
                <a:gd name="T8" fmla="*/ 50 w 66"/>
                <a:gd name="T9" fmla="*/ 211 h 212"/>
                <a:gd name="T10" fmla="*/ 58 w 66"/>
                <a:gd name="T11" fmla="*/ 209 h 2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212">
                  <a:moveTo>
                    <a:pt x="58" y="209"/>
                  </a:moveTo>
                  <a:lnTo>
                    <a:pt x="65" y="207"/>
                  </a:lnTo>
                  <a:lnTo>
                    <a:pt x="15" y="0"/>
                  </a:lnTo>
                  <a:lnTo>
                    <a:pt x="0" y="4"/>
                  </a:lnTo>
                  <a:lnTo>
                    <a:pt x="50" y="211"/>
                  </a:lnTo>
                  <a:lnTo>
                    <a:pt x="58" y="209"/>
                  </a:lnTo>
                </a:path>
              </a:pathLst>
            </a:cu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91" name="Freeform 105">
              <a:extLst>
                <a:ext uri="{FF2B5EF4-FFF2-40B4-BE49-F238E27FC236}">
                  <a16:creationId xmlns:a16="http://schemas.microsoft.com/office/drawing/2014/main" id="{C5B57043-731B-3436-EF07-3DD55EE48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6" y="3348"/>
              <a:ext cx="116" cy="371"/>
            </a:xfrm>
            <a:custGeom>
              <a:avLst/>
              <a:gdLst>
                <a:gd name="T0" fmla="*/ 115 w 116"/>
                <a:gd name="T1" fmla="*/ 362 h 371"/>
                <a:gd name="T2" fmla="*/ 102 w 116"/>
                <a:gd name="T3" fmla="*/ 337 h 371"/>
                <a:gd name="T4" fmla="*/ 88 w 116"/>
                <a:gd name="T5" fmla="*/ 312 h 371"/>
                <a:gd name="T6" fmla="*/ 77 w 116"/>
                <a:gd name="T7" fmla="*/ 287 h 371"/>
                <a:gd name="T8" fmla="*/ 67 w 116"/>
                <a:gd name="T9" fmla="*/ 261 h 371"/>
                <a:gd name="T10" fmla="*/ 52 w 116"/>
                <a:gd name="T11" fmla="*/ 211 h 371"/>
                <a:gd name="T12" fmla="*/ 40 w 116"/>
                <a:gd name="T13" fmla="*/ 163 h 371"/>
                <a:gd name="T14" fmla="*/ 33 w 116"/>
                <a:gd name="T15" fmla="*/ 117 h 371"/>
                <a:gd name="T16" fmla="*/ 27 w 116"/>
                <a:gd name="T17" fmla="*/ 73 h 371"/>
                <a:gd name="T18" fmla="*/ 21 w 116"/>
                <a:gd name="T19" fmla="*/ 34 h 371"/>
                <a:gd name="T20" fmla="*/ 15 w 116"/>
                <a:gd name="T21" fmla="*/ 0 h 371"/>
                <a:gd name="T22" fmla="*/ 0 w 116"/>
                <a:gd name="T23" fmla="*/ 4 h 371"/>
                <a:gd name="T24" fmla="*/ 6 w 116"/>
                <a:gd name="T25" fmla="*/ 36 h 371"/>
                <a:gd name="T26" fmla="*/ 11 w 116"/>
                <a:gd name="T27" fmla="*/ 75 h 371"/>
                <a:gd name="T28" fmla="*/ 17 w 116"/>
                <a:gd name="T29" fmla="*/ 119 h 371"/>
                <a:gd name="T30" fmla="*/ 25 w 116"/>
                <a:gd name="T31" fmla="*/ 167 h 371"/>
                <a:gd name="T32" fmla="*/ 36 w 116"/>
                <a:gd name="T33" fmla="*/ 215 h 371"/>
                <a:gd name="T34" fmla="*/ 52 w 116"/>
                <a:gd name="T35" fmla="*/ 266 h 371"/>
                <a:gd name="T36" fmla="*/ 63 w 116"/>
                <a:gd name="T37" fmla="*/ 293 h 371"/>
                <a:gd name="T38" fmla="*/ 75 w 116"/>
                <a:gd name="T39" fmla="*/ 318 h 371"/>
                <a:gd name="T40" fmla="*/ 88 w 116"/>
                <a:gd name="T41" fmla="*/ 345 h 371"/>
                <a:gd name="T42" fmla="*/ 102 w 116"/>
                <a:gd name="T43" fmla="*/ 370 h 371"/>
                <a:gd name="T44" fmla="*/ 115 w 116"/>
                <a:gd name="T45" fmla="*/ 362 h 371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16" h="371">
                  <a:moveTo>
                    <a:pt x="115" y="362"/>
                  </a:moveTo>
                  <a:lnTo>
                    <a:pt x="102" y="337"/>
                  </a:lnTo>
                  <a:lnTo>
                    <a:pt x="88" y="312"/>
                  </a:lnTo>
                  <a:lnTo>
                    <a:pt x="77" y="287"/>
                  </a:lnTo>
                  <a:lnTo>
                    <a:pt x="67" y="261"/>
                  </a:lnTo>
                  <a:lnTo>
                    <a:pt x="52" y="211"/>
                  </a:lnTo>
                  <a:lnTo>
                    <a:pt x="40" y="163"/>
                  </a:lnTo>
                  <a:lnTo>
                    <a:pt x="33" y="117"/>
                  </a:lnTo>
                  <a:lnTo>
                    <a:pt x="27" y="73"/>
                  </a:lnTo>
                  <a:lnTo>
                    <a:pt x="21" y="34"/>
                  </a:lnTo>
                  <a:lnTo>
                    <a:pt x="15" y="0"/>
                  </a:lnTo>
                  <a:lnTo>
                    <a:pt x="0" y="4"/>
                  </a:lnTo>
                  <a:lnTo>
                    <a:pt x="6" y="36"/>
                  </a:lnTo>
                  <a:lnTo>
                    <a:pt x="11" y="75"/>
                  </a:lnTo>
                  <a:lnTo>
                    <a:pt x="17" y="119"/>
                  </a:lnTo>
                  <a:lnTo>
                    <a:pt x="25" y="167"/>
                  </a:lnTo>
                  <a:lnTo>
                    <a:pt x="36" y="215"/>
                  </a:lnTo>
                  <a:lnTo>
                    <a:pt x="52" y="266"/>
                  </a:lnTo>
                  <a:lnTo>
                    <a:pt x="63" y="293"/>
                  </a:lnTo>
                  <a:lnTo>
                    <a:pt x="75" y="318"/>
                  </a:lnTo>
                  <a:lnTo>
                    <a:pt x="88" y="345"/>
                  </a:lnTo>
                  <a:lnTo>
                    <a:pt x="102" y="370"/>
                  </a:lnTo>
                  <a:lnTo>
                    <a:pt x="115" y="362"/>
                  </a:lnTo>
                </a:path>
              </a:pathLst>
            </a:cu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92" name="Freeform 106">
              <a:extLst>
                <a:ext uri="{FF2B5EF4-FFF2-40B4-BE49-F238E27FC236}">
                  <a16:creationId xmlns:a16="http://schemas.microsoft.com/office/drawing/2014/main" id="{70647BFB-D204-38B2-3612-A0DA8FF222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8" y="3710"/>
              <a:ext cx="133" cy="89"/>
            </a:xfrm>
            <a:custGeom>
              <a:avLst/>
              <a:gdLst>
                <a:gd name="T0" fmla="*/ 132 w 133"/>
                <a:gd name="T1" fmla="*/ 73 h 89"/>
                <a:gd name="T2" fmla="*/ 111 w 133"/>
                <a:gd name="T3" fmla="*/ 71 h 89"/>
                <a:gd name="T4" fmla="*/ 91 w 133"/>
                <a:gd name="T5" fmla="*/ 65 h 89"/>
                <a:gd name="T6" fmla="*/ 74 w 133"/>
                <a:gd name="T7" fmla="*/ 58 h 89"/>
                <a:gd name="T8" fmla="*/ 57 w 133"/>
                <a:gd name="T9" fmla="*/ 48 h 89"/>
                <a:gd name="T10" fmla="*/ 44 w 133"/>
                <a:gd name="T11" fmla="*/ 35 h 89"/>
                <a:gd name="T12" fmla="*/ 32 w 133"/>
                <a:gd name="T13" fmla="*/ 23 h 89"/>
                <a:gd name="T14" fmla="*/ 22 w 133"/>
                <a:gd name="T15" fmla="*/ 12 h 89"/>
                <a:gd name="T16" fmla="*/ 13 w 133"/>
                <a:gd name="T17" fmla="*/ 0 h 89"/>
                <a:gd name="T18" fmla="*/ 0 w 133"/>
                <a:gd name="T19" fmla="*/ 8 h 89"/>
                <a:gd name="T20" fmla="*/ 9 w 133"/>
                <a:gd name="T21" fmla="*/ 21 h 89"/>
                <a:gd name="T22" fmla="*/ 21 w 133"/>
                <a:gd name="T23" fmla="*/ 35 h 89"/>
                <a:gd name="T24" fmla="*/ 32 w 133"/>
                <a:gd name="T25" fmla="*/ 48 h 89"/>
                <a:gd name="T26" fmla="*/ 47 w 133"/>
                <a:gd name="T27" fmla="*/ 60 h 89"/>
                <a:gd name="T28" fmla="*/ 67 w 133"/>
                <a:gd name="T29" fmla="*/ 71 h 89"/>
                <a:gd name="T30" fmla="*/ 86 w 133"/>
                <a:gd name="T31" fmla="*/ 81 h 89"/>
                <a:gd name="T32" fmla="*/ 109 w 133"/>
                <a:gd name="T33" fmla="*/ 86 h 89"/>
                <a:gd name="T34" fmla="*/ 132 w 133"/>
                <a:gd name="T35" fmla="*/ 88 h 89"/>
                <a:gd name="T36" fmla="*/ 132 w 133"/>
                <a:gd name="T37" fmla="*/ 73 h 8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33" h="89">
                  <a:moveTo>
                    <a:pt x="132" y="73"/>
                  </a:moveTo>
                  <a:lnTo>
                    <a:pt x="111" y="71"/>
                  </a:lnTo>
                  <a:lnTo>
                    <a:pt x="91" y="65"/>
                  </a:lnTo>
                  <a:lnTo>
                    <a:pt x="74" y="58"/>
                  </a:lnTo>
                  <a:lnTo>
                    <a:pt x="57" y="48"/>
                  </a:lnTo>
                  <a:lnTo>
                    <a:pt x="44" y="35"/>
                  </a:lnTo>
                  <a:lnTo>
                    <a:pt x="32" y="23"/>
                  </a:lnTo>
                  <a:lnTo>
                    <a:pt x="22" y="12"/>
                  </a:lnTo>
                  <a:lnTo>
                    <a:pt x="13" y="0"/>
                  </a:lnTo>
                  <a:lnTo>
                    <a:pt x="0" y="8"/>
                  </a:lnTo>
                  <a:lnTo>
                    <a:pt x="9" y="21"/>
                  </a:lnTo>
                  <a:lnTo>
                    <a:pt x="21" y="35"/>
                  </a:lnTo>
                  <a:lnTo>
                    <a:pt x="32" y="48"/>
                  </a:lnTo>
                  <a:lnTo>
                    <a:pt x="47" y="60"/>
                  </a:lnTo>
                  <a:lnTo>
                    <a:pt x="67" y="71"/>
                  </a:lnTo>
                  <a:lnTo>
                    <a:pt x="86" y="81"/>
                  </a:lnTo>
                  <a:lnTo>
                    <a:pt x="109" y="86"/>
                  </a:lnTo>
                  <a:lnTo>
                    <a:pt x="132" y="88"/>
                  </a:lnTo>
                  <a:lnTo>
                    <a:pt x="132" y="73"/>
                  </a:lnTo>
                </a:path>
              </a:pathLst>
            </a:cu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93" name="Freeform 107">
              <a:extLst>
                <a:ext uri="{FF2B5EF4-FFF2-40B4-BE49-F238E27FC236}">
                  <a16:creationId xmlns:a16="http://schemas.microsoft.com/office/drawing/2014/main" id="{EF9BF5CD-F05A-7FDF-6A5E-FD9FA7165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0" y="3687"/>
              <a:ext cx="156" cy="112"/>
            </a:xfrm>
            <a:custGeom>
              <a:avLst/>
              <a:gdLst>
                <a:gd name="T0" fmla="*/ 143 w 156"/>
                <a:gd name="T1" fmla="*/ 0 h 112"/>
                <a:gd name="T2" fmla="*/ 130 w 156"/>
                <a:gd name="T3" fmla="*/ 14 h 112"/>
                <a:gd name="T4" fmla="*/ 113 w 156"/>
                <a:gd name="T5" fmla="*/ 29 h 112"/>
                <a:gd name="T6" fmla="*/ 94 w 156"/>
                <a:gd name="T7" fmla="*/ 44 h 112"/>
                <a:gd name="T8" fmla="*/ 74 w 156"/>
                <a:gd name="T9" fmla="*/ 60 h 112"/>
                <a:gd name="T10" fmla="*/ 53 w 156"/>
                <a:gd name="T11" fmla="*/ 75 h 112"/>
                <a:gd name="T12" fmla="*/ 32 w 156"/>
                <a:gd name="T13" fmla="*/ 86 h 112"/>
                <a:gd name="T14" fmla="*/ 15 w 156"/>
                <a:gd name="T15" fmla="*/ 94 h 112"/>
                <a:gd name="T16" fmla="*/ 0 w 156"/>
                <a:gd name="T17" fmla="*/ 96 h 112"/>
                <a:gd name="T18" fmla="*/ 0 w 156"/>
                <a:gd name="T19" fmla="*/ 111 h 112"/>
                <a:gd name="T20" fmla="*/ 19 w 156"/>
                <a:gd name="T21" fmla="*/ 109 h 112"/>
                <a:gd name="T22" fmla="*/ 40 w 156"/>
                <a:gd name="T23" fmla="*/ 100 h 112"/>
                <a:gd name="T24" fmla="*/ 61 w 156"/>
                <a:gd name="T25" fmla="*/ 88 h 112"/>
                <a:gd name="T26" fmla="*/ 84 w 156"/>
                <a:gd name="T27" fmla="*/ 73 h 112"/>
                <a:gd name="T28" fmla="*/ 105 w 156"/>
                <a:gd name="T29" fmla="*/ 58 h 112"/>
                <a:gd name="T30" fmla="*/ 124 w 156"/>
                <a:gd name="T31" fmla="*/ 40 h 112"/>
                <a:gd name="T32" fmla="*/ 141 w 156"/>
                <a:gd name="T33" fmla="*/ 25 h 112"/>
                <a:gd name="T34" fmla="*/ 155 w 156"/>
                <a:gd name="T35" fmla="*/ 12 h 112"/>
                <a:gd name="T36" fmla="*/ 143 w 156"/>
                <a:gd name="T37" fmla="*/ 0 h 11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56" h="112">
                  <a:moveTo>
                    <a:pt x="143" y="0"/>
                  </a:moveTo>
                  <a:lnTo>
                    <a:pt x="130" y="14"/>
                  </a:lnTo>
                  <a:lnTo>
                    <a:pt x="113" y="29"/>
                  </a:lnTo>
                  <a:lnTo>
                    <a:pt x="94" y="44"/>
                  </a:lnTo>
                  <a:lnTo>
                    <a:pt x="74" y="60"/>
                  </a:lnTo>
                  <a:lnTo>
                    <a:pt x="53" y="75"/>
                  </a:lnTo>
                  <a:lnTo>
                    <a:pt x="32" y="86"/>
                  </a:lnTo>
                  <a:lnTo>
                    <a:pt x="15" y="94"/>
                  </a:lnTo>
                  <a:lnTo>
                    <a:pt x="0" y="96"/>
                  </a:lnTo>
                  <a:lnTo>
                    <a:pt x="0" y="111"/>
                  </a:lnTo>
                  <a:lnTo>
                    <a:pt x="19" y="109"/>
                  </a:lnTo>
                  <a:lnTo>
                    <a:pt x="40" y="100"/>
                  </a:lnTo>
                  <a:lnTo>
                    <a:pt x="61" y="88"/>
                  </a:lnTo>
                  <a:lnTo>
                    <a:pt x="84" y="73"/>
                  </a:lnTo>
                  <a:lnTo>
                    <a:pt x="105" y="58"/>
                  </a:lnTo>
                  <a:lnTo>
                    <a:pt x="124" y="40"/>
                  </a:lnTo>
                  <a:lnTo>
                    <a:pt x="141" y="25"/>
                  </a:lnTo>
                  <a:lnTo>
                    <a:pt x="155" y="12"/>
                  </a:lnTo>
                  <a:lnTo>
                    <a:pt x="143" y="0"/>
                  </a:lnTo>
                </a:path>
              </a:pathLst>
            </a:cu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94" name="Freeform 108">
              <a:extLst>
                <a:ext uri="{FF2B5EF4-FFF2-40B4-BE49-F238E27FC236}">
                  <a16:creationId xmlns:a16="http://schemas.microsoft.com/office/drawing/2014/main" id="{2174F33A-C8F5-A7C3-96E8-B5501CF05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3" y="3534"/>
              <a:ext cx="149" cy="166"/>
            </a:xfrm>
            <a:custGeom>
              <a:avLst/>
              <a:gdLst>
                <a:gd name="T0" fmla="*/ 136 w 149"/>
                <a:gd name="T1" fmla="*/ 0 h 166"/>
                <a:gd name="T2" fmla="*/ 129 w 149"/>
                <a:gd name="T3" fmla="*/ 7 h 166"/>
                <a:gd name="T4" fmla="*/ 117 w 149"/>
                <a:gd name="T5" fmla="*/ 23 h 166"/>
                <a:gd name="T6" fmla="*/ 100 w 149"/>
                <a:gd name="T7" fmla="*/ 42 h 166"/>
                <a:gd name="T8" fmla="*/ 79 w 149"/>
                <a:gd name="T9" fmla="*/ 65 h 166"/>
                <a:gd name="T10" fmla="*/ 58 w 149"/>
                <a:gd name="T11" fmla="*/ 90 h 166"/>
                <a:gd name="T12" fmla="*/ 37 w 149"/>
                <a:gd name="T13" fmla="*/ 115 h 166"/>
                <a:gd name="T14" fmla="*/ 18 w 149"/>
                <a:gd name="T15" fmla="*/ 136 h 166"/>
                <a:gd name="T16" fmla="*/ 0 w 149"/>
                <a:gd name="T17" fmla="*/ 153 h 166"/>
                <a:gd name="T18" fmla="*/ 12 w 149"/>
                <a:gd name="T19" fmla="*/ 165 h 166"/>
                <a:gd name="T20" fmla="*/ 29 w 149"/>
                <a:gd name="T21" fmla="*/ 147 h 166"/>
                <a:gd name="T22" fmla="*/ 48 w 149"/>
                <a:gd name="T23" fmla="*/ 124 h 166"/>
                <a:gd name="T24" fmla="*/ 71 w 149"/>
                <a:gd name="T25" fmla="*/ 101 h 166"/>
                <a:gd name="T26" fmla="*/ 92 w 149"/>
                <a:gd name="T27" fmla="*/ 76 h 166"/>
                <a:gd name="T28" fmla="*/ 111 w 149"/>
                <a:gd name="T29" fmla="*/ 53 h 166"/>
                <a:gd name="T30" fmla="*/ 129 w 149"/>
                <a:gd name="T31" fmla="*/ 32 h 166"/>
                <a:gd name="T32" fmla="*/ 142 w 149"/>
                <a:gd name="T33" fmla="*/ 19 h 166"/>
                <a:gd name="T34" fmla="*/ 148 w 149"/>
                <a:gd name="T35" fmla="*/ 11 h 166"/>
                <a:gd name="T36" fmla="*/ 136 w 149"/>
                <a:gd name="T37" fmla="*/ 0 h 16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49" h="166">
                  <a:moveTo>
                    <a:pt x="136" y="0"/>
                  </a:moveTo>
                  <a:lnTo>
                    <a:pt x="129" y="7"/>
                  </a:lnTo>
                  <a:lnTo>
                    <a:pt x="117" y="23"/>
                  </a:lnTo>
                  <a:lnTo>
                    <a:pt x="100" y="42"/>
                  </a:lnTo>
                  <a:lnTo>
                    <a:pt x="79" y="65"/>
                  </a:lnTo>
                  <a:lnTo>
                    <a:pt x="58" y="90"/>
                  </a:lnTo>
                  <a:lnTo>
                    <a:pt x="37" y="115"/>
                  </a:lnTo>
                  <a:lnTo>
                    <a:pt x="18" y="136"/>
                  </a:lnTo>
                  <a:lnTo>
                    <a:pt x="0" y="153"/>
                  </a:lnTo>
                  <a:lnTo>
                    <a:pt x="12" y="165"/>
                  </a:lnTo>
                  <a:lnTo>
                    <a:pt x="29" y="147"/>
                  </a:lnTo>
                  <a:lnTo>
                    <a:pt x="48" y="124"/>
                  </a:lnTo>
                  <a:lnTo>
                    <a:pt x="71" y="101"/>
                  </a:lnTo>
                  <a:lnTo>
                    <a:pt x="92" y="76"/>
                  </a:lnTo>
                  <a:lnTo>
                    <a:pt x="111" y="53"/>
                  </a:lnTo>
                  <a:lnTo>
                    <a:pt x="129" y="32"/>
                  </a:lnTo>
                  <a:lnTo>
                    <a:pt x="142" y="19"/>
                  </a:lnTo>
                  <a:lnTo>
                    <a:pt x="148" y="11"/>
                  </a:lnTo>
                  <a:lnTo>
                    <a:pt x="136" y="0"/>
                  </a:lnTo>
                </a:path>
              </a:pathLst>
            </a:cu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95" name="Freeform 109">
              <a:extLst>
                <a:ext uri="{FF2B5EF4-FFF2-40B4-BE49-F238E27FC236}">
                  <a16:creationId xmlns:a16="http://schemas.microsoft.com/office/drawing/2014/main" id="{B082F5B0-9CEE-67F7-9BD4-E2727C8D3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9" y="3386"/>
              <a:ext cx="137" cy="158"/>
            </a:xfrm>
            <a:custGeom>
              <a:avLst/>
              <a:gdLst>
                <a:gd name="T0" fmla="*/ 131 w 137"/>
                <a:gd name="T1" fmla="*/ 6 h 158"/>
                <a:gd name="T2" fmla="*/ 125 w 137"/>
                <a:gd name="T3" fmla="*/ 0 h 158"/>
                <a:gd name="T4" fmla="*/ 0 w 137"/>
                <a:gd name="T5" fmla="*/ 148 h 158"/>
                <a:gd name="T6" fmla="*/ 12 w 137"/>
                <a:gd name="T7" fmla="*/ 157 h 158"/>
                <a:gd name="T8" fmla="*/ 136 w 137"/>
                <a:gd name="T9" fmla="*/ 10 h 158"/>
                <a:gd name="T10" fmla="*/ 131 w 137"/>
                <a:gd name="T11" fmla="*/ 6 h 1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7" h="158">
                  <a:moveTo>
                    <a:pt x="131" y="6"/>
                  </a:moveTo>
                  <a:lnTo>
                    <a:pt x="125" y="0"/>
                  </a:lnTo>
                  <a:lnTo>
                    <a:pt x="0" y="148"/>
                  </a:lnTo>
                  <a:lnTo>
                    <a:pt x="12" y="157"/>
                  </a:lnTo>
                  <a:lnTo>
                    <a:pt x="136" y="10"/>
                  </a:lnTo>
                  <a:lnTo>
                    <a:pt x="131" y="6"/>
                  </a:lnTo>
                </a:path>
              </a:pathLst>
            </a:cu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96" name="Freeform 110">
              <a:extLst>
                <a:ext uri="{FF2B5EF4-FFF2-40B4-BE49-F238E27FC236}">
                  <a16:creationId xmlns:a16="http://schemas.microsoft.com/office/drawing/2014/main" id="{487CC69D-A2DA-A5FD-DED4-97F3070D48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4" y="3241"/>
              <a:ext cx="168" cy="156"/>
            </a:xfrm>
            <a:custGeom>
              <a:avLst/>
              <a:gdLst>
                <a:gd name="T0" fmla="*/ 157 w 168"/>
                <a:gd name="T1" fmla="*/ 0 h 156"/>
                <a:gd name="T2" fmla="*/ 155 w 168"/>
                <a:gd name="T3" fmla="*/ 0 h 156"/>
                <a:gd name="T4" fmla="*/ 142 w 168"/>
                <a:gd name="T5" fmla="*/ 11 h 156"/>
                <a:gd name="T6" fmla="*/ 124 w 168"/>
                <a:gd name="T7" fmla="*/ 24 h 156"/>
                <a:gd name="T8" fmla="*/ 107 w 168"/>
                <a:gd name="T9" fmla="*/ 42 h 156"/>
                <a:gd name="T10" fmla="*/ 86 w 168"/>
                <a:gd name="T11" fmla="*/ 59 h 156"/>
                <a:gd name="T12" fmla="*/ 65 w 168"/>
                <a:gd name="T13" fmla="*/ 78 h 156"/>
                <a:gd name="T14" fmla="*/ 44 w 168"/>
                <a:gd name="T15" fmla="*/ 99 h 156"/>
                <a:gd name="T16" fmla="*/ 21 w 168"/>
                <a:gd name="T17" fmla="*/ 120 h 156"/>
                <a:gd name="T18" fmla="*/ 0 w 168"/>
                <a:gd name="T19" fmla="*/ 145 h 156"/>
                <a:gd name="T20" fmla="*/ 11 w 168"/>
                <a:gd name="T21" fmla="*/ 155 h 156"/>
                <a:gd name="T22" fmla="*/ 32 w 168"/>
                <a:gd name="T23" fmla="*/ 132 h 156"/>
                <a:gd name="T24" fmla="*/ 55 w 168"/>
                <a:gd name="T25" fmla="*/ 111 h 156"/>
                <a:gd name="T26" fmla="*/ 77 w 168"/>
                <a:gd name="T27" fmla="*/ 90 h 156"/>
                <a:gd name="T28" fmla="*/ 98 w 168"/>
                <a:gd name="T29" fmla="*/ 70 h 156"/>
                <a:gd name="T30" fmla="*/ 117 w 168"/>
                <a:gd name="T31" fmla="*/ 53 h 156"/>
                <a:gd name="T32" fmla="*/ 136 w 168"/>
                <a:gd name="T33" fmla="*/ 38 h 156"/>
                <a:gd name="T34" fmla="*/ 151 w 168"/>
                <a:gd name="T35" fmla="*/ 24 h 156"/>
                <a:gd name="T36" fmla="*/ 167 w 168"/>
                <a:gd name="T37" fmla="*/ 13 h 156"/>
                <a:gd name="T38" fmla="*/ 165 w 168"/>
                <a:gd name="T39" fmla="*/ 13 h 156"/>
                <a:gd name="T40" fmla="*/ 157 w 168"/>
                <a:gd name="T41" fmla="*/ 0 h 15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68" h="156">
                  <a:moveTo>
                    <a:pt x="157" y="0"/>
                  </a:moveTo>
                  <a:lnTo>
                    <a:pt x="155" y="0"/>
                  </a:lnTo>
                  <a:lnTo>
                    <a:pt x="142" y="11"/>
                  </a:lnTo>
                  <a:lnTo>
                    <a:pt x="124" y="24"/>
                  </a:lnTo>
                  <a:lnTo>
                    <a:pt x="107" y="42"/>
                  </a:lnTo>
                  <a:lnTo>
                    <a:pt x="86" y="59"/>
                  </a:lnTo>
                  <a:lnTo>
                    <a:pt x="65" y="78"/>
                  </a:lnTo>
                  <a:lnTo>
                    <a:pt x="44" y="99"/>
                  </a:lnTo>
                  <a:lnTo>
                    <a:pt x="21" y="120"/>
                  </a:lnTo>
                  <a:lnTo>
                    <a:pt x="0" y="145"/>
                  </a:lnTo>
                  <a:lnTo>
                    <a:pt x="11" y="155"/>
                  </a:lnTo>
                  <a:lnTo>
                    <a:pt x="32" y="132"/>
                  </a:lnTo>
                  <a:lnTo>
                    <a:pt x="55" y="111"/>
                  </a:lnTo>
                  <a:lnTo>
                    <a:pt x="77" y="90"/>
                  </a:lnTo>
                  <a:lnTo>
                    <a:pt x="98" y="70"/>
                  </a:lnTo>
                  <a:lnTo>
                    <a:pt x="117" y="53"/>
                  </a:lnTo>
                  <a:lnTo>
                    <a:pt x="136" y="38"/>
                  </a:lnTo>
                  <a:lnTo>
                    <a:pt x="151" y="24"/>
                  </a:lnTo>
                  <a:lnTo>
                    <a:pt x="167" y="13"/>
                  </a:lnTo>
                  <a:lnTo>
                    <a:pt x="165" y="13"/>
                  </a:lnTo>
                  <a:lnTo>
                    <a:pt x="157" y="0"/>
                  </a:lnTo>
                </a:path>
              </a:pathLst>
            </a:cu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97" name="Freeform 111">
              <a:extLst>
                <a:ext uri="{FF2B5EF4-FFF2-40B4-BE49-F238E27FC236}">
                  <a16:creationId xmlns:a16="http://schemas.microsoft.com/office/drawing/2014/main" id="{9A2352C4-4FDE-64AF-0B98-15723ECC8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1" y="3216"/>
              <a:ext cx="139" cy="39"/>
            </a:xfrm>
            <a:custGeom>
              <a:avLst/>
              <a:gdLst>
                <a:gd name="T0" fmla="*/ 138 w 139"/>
                <a:gd name="T1" fmla="*/ 3 h 39"/>
                <a:gd name="T2" fmla="*/ 123 w 139"/>
                <a:gd name="T3" fmla="*/ 2 h 39"/>
                <a:gd name="T4" fmla="*/ 105 w 139"/>
                <a:gd name="T5" fmla="*/ 0 h 39"/>
                <a:gd name="T6" fmla="*/ 90 w 139"/>
                <a:gd name="T7" fmla="*/ 0 h 39"/>
                <a:gd name="T8" fmla="*/ 73 w 139"/>
                <a:gd name="T9" fmla="*/ 2 h 39"/>
                <a:gd name="T10" fmla="*/ 56 w 139"/>
                <a:gd name="T11" fmla="*/ 5 h 39"/>
                <a:gd name="T12" fmla="*/ 38 w 139"/>
                <a:gd name="T13" fmla="*/ 9 h 39"/>
                <a:gd name="T14" fmla="*/ 19 w 139"/>
                <a:gd name="T15" fmla="*/ 15 h 39"/>
                <a:gd name="T16" fmla="*/ 0 w 139"/>
                <a:gd name="T17" fmla="*/ 25 h 39"/>
                <a:gd name="T18" fmla="*/ 8 w 139"/>
                <a:gd name="T19" fmla="*/ 38 h 39"/>
                <a:gd name="T20" fmla="*/ 25 w 139"/>
                <a:gd name="T21" fmla="*/ 30 h 39"/>
                <a:gd name="T22" fmla="*/ 42 w 139"/>
                <a:gd name="T23" fmla="*/ 25 h 39"/>
                <a:gd name="T24" fmla="*/ 59 w 139"/>
                <a:gd name="T25" fmla="*/ 21 h 39"/>
                <a:gd name="T26" fmla="*/ 75 w 139"/>
                <a:gd name="T27" fmla="*/ 17 h 39"/>
                <a:gd name="T28" fmla="*/ 90 w 139"/>
                <a:gd name="T29" fmla="*/ 17 h 39"/>
                <a:gd name="T30" fmla="*/ 105 w 139"/>
                <a:gd name="T31" fmla="*/ 17 h 39"/>
                <a:gd name="T32" fmla="*/ 121 w 139"/>
                <a:gd name="T33" fmla="*/ 17 h 39"/>
                <a:gd name="T34" fmla="*/ 136 w 139"/>
                <a:gd name="T35" fmla="*/ 19 h 39"/>
                <a:gd name="T36" fmla="*/ 138 w 139"/>
                <a:gd name="T37" fmla="*/ 3 h 3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39" h="39">
                  <a:moveTo>
                    <a:pt x="138" y="3"/>
                  </a:moveTo>
                  <a:lnTo>
                    <a:pt x="123" y="2"/>
                  </a:lnTo>
                  <a:lnTo>
                    <a:pt x="105" y="0"/>
                  </a:lnTo>
                  <a:lnTo>
                    <a:pt x="90" y="0"/>
                  </a:lnTo>
                  <a:lnTo>
                    <a:pt x="73" y="2"/>
                  </a:lnTo>
                  <a:lnTo>
                    <a:pt x="56" y="5"/>
                  </a:lnTo>
                  <a:lnTo>
                    <a:pt x="38" y="9"/>
                  </a:lnTo>
                  <a:lnTo>
                    <a:pt x="19" y="15"/>
                  </a:lnTo>
                  <a:lnTo>
                    <a:pt x="0" y="25"/>
                  </a:lnTo>
                  <a:lnTo>
                    <a:pt x="8" y="38"/>
                  </a:lnTo>
                  <a:lnTo>
                    <a:pt x="25" y="30"/>
                  </a:lnTo>
                  <a:lnTo>
                    <a:pt x="42" y="25"/>
                  </a:lnTo>
                  <a:lnTo>
                    <a:pt x="59" y="21"/>
                  </a:lnTo>
                  <a:lnTo>
                    <a:pt x="75" y="17"/>
                  </a:lnTo>
                  <a:lnTo>
                    <a:pt x="90" y="17"/>
                  </a:lnTo>
                  <a:lnTo>
                    <a:pt x="105" y="17"/>
                  </a:lnTo>
                  <a:lnTo>
                    <a:pt x="121" y="17"/>
                  </a:lnTo>
                  <a:lnTo>
                    <a:pt x="136" y="19"/>
                  </a:lnTo>
                  <a:lnTo>
                    <a:pt x="138" y="3"/>
                  </a:lnTo>
                </a:path>
              </a:pathLst>
            </a:cu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98" name="Freeform 112">
              <a:extLst>
                <a:ext uri="{FF2B5EF4-FFF2-40B4-BE49-F238E27FC236}">
                  <a16:creationId xmlns:a16="http://schemas.microsoft.com/office/drawing/2014/main" id="{5C6A3B20-CF16-4AA4-E439-195DB1B891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" y="3219"/>
              <a:ext cx="99" cy="134"/>
            </a:xfrm>
            <a:custGeom>
              <a:avLst/>
              <a:gdLst>
                <a:gd name="T0" fmla="*/ 98 w 99"/>
                <a:gd name="T1" fmla="*/ 131 h 134"/>
                <a:gd name="T2" fmla="*/ 94 w 99"/>
                <a:gd name="T3" fmla="*/ 108 h 134"/>
                <a:gd name="T4" fmla="*/ 86 w 99"/>
                <a:gd name="T5" fmla="*/ 87 h 134"/>
                <a:gd name="T6" fmla="*/ 77 w 99"/>
                <a:gd name="T7" fmla="*/ 66 h 134"/>
                <a:gd name="T8" fmla="*/ 65 w 99"/>
                <a:gd name="T9" fmla="*/ 46 h 134"/>
                <a:gd name="T10" fmla="*/ 52 w 99"/>
                <a:gd name="T11" fmla="*/ 29 h 134"/>
                <a:gd name="T12" fmla="*/ 38 w 99"/>
                <a:gd name="T13" fmla="*/ 16 h 134"/>
                <a:gd name="T14" fmla="*/ 21 w 99"/>
                <a:gd name="T15" fmla="*/ 6 h 134"/>
                <a:gd name="T16" fmla="*/ 2 w 99"/>
                <a:gd name="T17" fmla="*/ 0 h 134"/>
                <a:gd name="T18" fmla="*/ 0 w 99"/>
                <a:gd name="T19" fmla="*/ 16 h 134"/>
                <a:gd name="T20" fmla="*/ 13 w 99"/>
                <a:gd name="T21" fmla="*/ 22 h 134"/>
                <a:gd name="T22" fmla="*/ 29 w 99"/>
                <a:gd name="T23" fmla="*/ 29 h 134"/>
                <a:gd name="T24" fmla="*/ 40 w 99"/>
                <a:gd name="T25" fmla="*/ 41 h 134"/>
                <a:gd name="T26" fmla="*/ 54 w 99"/>
                <a:gd name="T27" fmla="*/ 56 h 134"/>
                <a:gd name="T28" fmla="*/ 63 w 99"/>
                <a:gd name="T29" fmla="*/ 73 h 134"/>
                <a:gd name="T30" fmla="*/ 71 w 99"/>
                <a:gd name="T31" fmla="*/ 92 h 134"/>
                <a:gd name="T32" fmla="*/ 79 w 99"/>
                <a:gd name="T33" fmla="*/ 112 h 134"/>
                <a:gd name="T34" fmla="*/ 82 w 99"/>
                <a:gd name="T35" fmla="*/ 133 h 134"/>
                <a:gd name="T36" fmla="*/ 82 w 99"/>
                <a:gd name="T37" fmla="*/ 131 h 134"/>
                <a:gd name="T38" fmla="*/ 98 w 99"/>
                <a:gd name="T39" fmla="*/ 131 h 13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99" h="134">
                  <a:moveTo>
                    <a:pt x="98" y="131"/>
                  </a:moveTo>
                  <a:lnTo>
                    <a:pt x="94" y="108"/>
                  </a:lnTo>
                  <a:lnTo>
                    <a:pt x="86" y="87"/>
                  </a:lnTo>
                  <a:lnTo>
                    <a:pt x="77" y="66"/>
                  </a:lnTo>
                  <a:lnTo>
                    <a:pt x="65" y="46"/>
                  </a:lnTo>
                  <a:lnTo>
                    <a:pt x="52" y="29"/>
                  </a:lnTo>
                  <a:lnTo>
                    <a:pt x="38" y="16"/>
                  </a:lnTo>
                  <a:lnTo>
                    <a:pt x="21" y="6"/>
                  </a:lnTo>
                  <a:lnTo>
                    <a:pt x="2" y="0"/>
                  </a:lnTo>
                  <a:lnTo>
                    <a:pt x="0" y="16"/>
                  </a:lnTo>
                  <a:lnTo>
                    <a:pt x="13" y="22"/>
                  </a:lnTo>
                  <a:lnTo>
                    <a:pt x="29" y="29"/>
                  </a:lnTo>
                  <a:lnTo>
                    <a:pt x="40" y="41"/>
                  </a:lnTo>
                  <a:lnTo>
                    <a:pt x="54" y="56"/>
                  </a:lnTo>
                  <a:lnTo>
                    <a:pt x="63" y="73"/>
                  </a:lnTo>
                  <a:lnTo>
                    <a:pt x="71" y="92"/>
                  </a:lnTo>
                  <a:lnTo>
                    <a:pt x="79" y="112"/>
                  </a:lnTo>
                  <a:lnTo>
                    <a:pt x="82" y="133"/>
                  </a:lnTo>
                  <a:lnTo>
                    <a:pt x="82" y="131"/>
                  </a:lnTo>
                  <a:lnTo>
                    <a:pt x="98" y="131"/>
                  </a:lnTo>
                </a:path>
              </a:pathLst>
            </a:cu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699" name="Freeform 113">
              <a:extLst>
                <a:ext uri="{FF2B5EF4-FFF2-40B4-BE49-F238E27FC236}">
                  <a16:creationId xmlns:a16="http://schemas.microsoft.com/office/drawing/2014/main" id="{BFB7528F-D1D6-1919-0943-0D7A0B2DF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" y="3350"/>
              <a:ext cx="37" cy="511"/>
            </a:xfrm>
            <a:custGeom>
              <a:avLst/>
              <a:gdLst>
                <a:gd name="T0" fmla="*/ 36 w 37"/>
                <a:gd name="T1" fmla="*/ 496 h 511"/>
                <a:gd name="T2" fmla="*/ 35 w 37"/>
                <a:gd name="T3" fmla="*/ 494 h 511"/>
                <a:gd name="T4" fmla="*/ 31 w 37"/>
                <a:gd name="T5" fmla="*/ 492 h 511"/>
                <a:gd name="T6" fmla="*/ 29 w 37"/>
                <a:gd name="T7" fmla="*/ 490 h 511"/>
                <a:gd name="T8" fmla="*/ 27 w 37"/>
                <a:gd name="T9" fmla="*/ 487 h 511"/>
                <a:gd name="T10" fmla="*/ 25 w 37"/>
                <a:gd name="T11" fmla="*/ 481 h 511"/>
                <a:gd name="T12" fmla="*/ 19 w 37"/>
                <a:gd name="T13" fmla="*/ 464 h 511"/>
                <a:gd name="T14" fmla="*/ 17 w 37"/>
                <a:gd name="T15" fmla="*/ 444 h 511"/>
                <a:gd name="T16" fmla="*/ 15 w 37"/>
                <a:gd name="T17" fmla="*/ 389 h 511"/>
                <a:gd name="T18" fmla="*/ 17 w 37"/>
                <a:gd name="T19" fmla="*/ 320 h 511"/>
                <a:gd name="T20" fmla="*/ 21 w 37"/>
                <a:gd name="T21" fmla="*/ 243 h 511"/>
                <a:gd name="T22" fmla="*/ 27 w 37"/>
                <a:gd name="T23" fmla="*/ 163 h 511"/>
                <a:gd name="T24" fmla="*/ 31 w 37"/>
                <a:gd name="T25" fmla="*/ 80 h 511"/>
                <a:gd name="T26" fmla="*/ 31 w 37"/>
                <a:gd name="T27" fmla="*/ 0 h 511"/>
                <a:gd name="T28" fmla="*/ 15 w 37"/>
                <a:gd name="T29" fmla="*/ 0 h 511"/>
                <a:gd name="T30" fmla="*/ 13 w 37"/>
                <a:gd name="T31" fmla="*/ 80 h 511"/>
                <a:gd name="T32" fmla="*/ 10 w 37"/>
                <a:gd name="T33" fmla="*/ 161 h 511"/>
                <a:gd name="T34" fmla="*/ 6 w 37"/>
                <a:gd name="T35" fmla="*/ 243 h 511"/>
                <a:gd name="T36" fmla="*/ 2 w 37"/>
                <a:gd name="T37" fmla="*/ 320 h 511"/>
                <a:gd name="T38" fmla="*/ 0 w 37"/>
                <a:gd name="T39" fmla="*/ 389 h 511"/>
                <a:gd name="T40" fmla="*/ 2 w 37"/>
                <a:gd name="T41" fmla="*/ 444 h 511"/>
                <a:gd name="T42" fmla="*/ 4 w 37"/>
                <a:gd name="T43" fmla="*/ 467 h 511"/>
                <a:gd name="T44" fmla="*/ 10 w 37"/>
                <a:gd name="T45" fmla="*/ 485 h 511"/>
                <a:gd name="T46" fmla="*/ 12 w 37"/>
                <a:gd name="T47" fmla="*/ 494 h 511"/>
                <a:gd name="T48" fmla="*/ 17 w 37"/>
                <a:gd name="T49" fmla="*/ 500 h 511"/>
                <a:gd name="T50" fmla="*/ 21 w 37"/>
                <a:gd name="T51" fmla="*/ 506 h 511"/>
                <a:gd name="T52" fmla="*/ 29 w 37"/>
                <a:gd name="T53" fmla="*/ 510 h 511"/>
                <a:gd name="T54" fmla="*/ 27 w 37"/>
                <a:gd name="T55" fmla="*/ 508 h 511"/>
                <a:gd name="T56" fmla="*/ 36 w 37"/>
                <a:gd name="T57" fmla="*/ 496 h 511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37" h="511">
                  <a:moveTo>
                    <a:pt x="36" y="496"/>
                  </a:moveTo>
                  <a:lnTo>
                    <a:pt x="35" y="494"/>
                  </a:lnTo>
                  <a:lnTo>
                    <a:pt x="31" y="492"/>
                  </a:lnTo>
                  <a:lnTo>
                    <a:pt x="29" y="490"/>
                  </a:lnTo>
                  <a:lnTo>
                    <a:pt x="27" y="487"/>
                  </a:lnTo>
                  <a:lnTo>
                    <a:pt x="25" y="481"/>
                  </a:lnTo>
                  <a:lnTo>
                    <a:pt x="19" y="464"/>
                  </a:lnTo>
                  <a:lnTo>
                    <a:pt x="17" y="444"/>
                  </a:lnTo>
                  <a:lnTo>
                    <a:pt x="15" y="389"/>
                  </a:lnTo>
                  <a:lnTo>
                    <a:pt x="17" y="320"/>
                  </a:lnTo>
                  <a:lnTo>
                    <a:pt x="21" y="243"/>
                  </a:lnTo>
                  <a:lnTo>
                    <a:pt x="27" y="163"/>
                  </a:lnTo>
                  <a:lnTo>
                    <a:pt x="31" y="80"/>
                  </a:lnTo>
                  <a:lnTo>
                    <a:pt x="31" y="0"/>
                  </a:lnTo>
                  <a:lnTo>
                    <a:pt x="15" y="0"/>
                  </a:lnTo>
                  <a:lnTo>
                    <a:pt x="13" y="80"/>
                  </a:lnTo>
                  <a:lnTo>
                    <a:pt x="10" y="161"/>
                  </a:lnTo>
                  <a:lnTo>
                    <a:pt x="6" y="243"/>
                  </a:lnTo>
                  <a:lnTo>
                    <a:pt x="2" y="320"/>
                  </a:lnTo>
                  <a:lnTo>
                    <a:pt x="0" y="389"/>
                  </a:lnTo>
                  <a:lnTo>
                    <a:pt x="2" y="444"/>
                  </a:lnTo>
                  <a:lnTo>
                    <a:pt x="4" y="467"/>
                  </a:lnTo>
                  <a:lnTo>
                    <a:pt x="10" y="485"/>
                  </a:lnTo>
                  <a:lnTo>
                    <a:pt x="12" y="494"/>
                  </a:lnTo>
                  <a:lnTo>
                    <a:pt x="17" y="500"/>
                  </a:lnTo>
                  <a:lnTo>
                    <a:pt x="21" y="506"/>
                  </a:lnTo>
                  <a:lnTo>
                    <a:pt x="29" y="510"/>
                  </a:lnTo>
                  <a:lnTo>
                    <a:pt x="27" y="508"/>
                  </a:lnTo>
                  <a:lnTo>
                    <a:pt x="36" y="496"/>
                  </a:lnTo>
                </a:path>
              </a:pathLst>
            </a:cu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700" name="Freeform 114">
              <a:extLst>
                <a:ext uri="{FF2B5EF4-FFF2-40B4-BE49-F238E27FC236}">
                  <a16:creationId xmlns:a16="http://schemas.microsoft.com/office/drawing/2014/main" id="{BD93DD37-E5BD-4DFF-5212-1A1596E5A0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1" y="3846"/>
              <a:ext cx="169" cy="45"/>
            </a:xfrm>
            <a:custGeom>
              <a:avLst/>
              <a:gdLst>
                <a:gd name="T0" fmla="*/ 161 w 169"/>
                <a:gd name="T1" fmla="*/ 21 h 45"/>
                <a:gd name="T2" fmla="*/ 145 w 169"/>
                <a:gd name="T3" fmla="*/ 25 h 45"/>
                <a:gd name="T4" fmla="*/ 128 w 169"/>
                <a:gd name="T5" fmla="*/ 29 h 45"/>
                <a:gd name="T6" fmla="*/ 105 w 169"/>
                <a:gd name="T7" fmla="*/ 29 h 45"/>
                <a:gd name="T8" fmla="*/ 82 w 169"/>
                <a:gd name="T9" fmla="*/ 27 h 45"/>
                <a:gd name="T10" fmla="*/ 61 w 169"/>
                <a:gd name="T11" fmla="*/ 21 h 45"/>
                <a:gd name="T12" fmla="*/ 40 w 169"/>
                <a:gd name="T13" fmla="*/ 16 h 45"/>
                <a:gd name="T14" fmla="*/ 23 w 169"/>
                <a:gd name="T15" fmla="*/ 8 h 45"/>
                <a:gd name="T16" fmla="*/ 9 w 169"/>
                <a:gd name="T17" fmla="*/ 0 h 45"/>
                <a:gd name="T18" fmla="*/ 0 w 169"/>
                <a:gd name="T19" fmla="*/ 12 h 45"/>
                <a:gd name="T20" fmla="*/ 15 w 169"/>
                <a:gd name="T21" fmla="*/ 21 h 45"/>
                <a:gd name="T22" fmla="*/ 34 w 169"/>
                <a:gd name="T23" fmla="*/ 31 h 45"/>
                <a:gd name="T24" fmla="*/ 57 w 169"/>
                <a:gd name="T25" fmla="*/ 37 h 45"/>
                <a:gd name="T26" fmla="*/ 80 w 169"/>
                <a:gd name="T27" fmla="*/ 42 h 45"/>
                <a:gd name="T28" fmla="*/ 105 w 169"/>
                <a:gd name="T29" fmla="*/ 44 h 45"/>
                <a:gd name="T30" fmla="*/ 128 w 169"/>
                <a:gd name="T31" fmla="*/ 44 h 45"/>
                <a:gd name="T32" fmla="*/ 149 w 169"/>
                <a:gd name="T33" fmla="*/ 40 h 45"/>
                <a:gd name="T34" fmla="*/ 168 w 169"/>
                <a:gd name="T35" fmla="*/ 35 h 45"/>
                <a:gd name="T36" fmla="*/ 161 w 169"/>
                <a:gd name="T37" fmla="*/ 21 h 4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69" h="45">
                  <a:moveTo>
                    <a:pt x="161" y="21"/>
                  </a:moveTo>
                  <a:lnTo>
                    <a:pt x="145" y="25"/>
                  </a:lnTo>
                  <a:lnTo>
                    <a:pt x="128" y="29"/>
                  </a:lnTo>
                  <a:lnTo>
                    <a:pt x="105" y="29"/>
                  </a:lnTo>
                  <a:lnTo>
                    <a:pt x="82" y="27"/>
                  </a:lnTo>
                  <a:lnTo>
                    <a:pt x="61" y="21"/>
                  </a:lnTo>
                  <a:lnTo>
                    <a:pt x="40" y="16"/>
                  </a:lnTo>
                  <a:lnTo>
                    <a:pt x="23" y="8"/>
                  </a:lnTo>
                  <a:lnTo>
                    <a:pt x="9" y="0"/>
                  </a:lnTo>
                  <a:lnTo>
                    <a:pt x="0" y="12"/>
                  </a:lnTo>
                  <a:lnTo>
                    <a:pt x="15" y="21"/>
                  </a:lnTo>
                  <a:lnTo>
                    <a:pt x="34" y="31"/>
                  </a:lnTo>
                  <a:lnTo>
                    <a:pt x="57" y="37"/>
                  </a:lnTo>
                  <a:lnTo>
                    <a:pt x="80" y="42"/>
                  </a:lnTo>
                  <a:lnTo>
                    <a:pt x="105" y="44"/>
                  </a:lnTo>
                  <a:lnTo>
                    <a:pt x="128" y="44"/>
                  </a:lnTo>
                  <a:lnTo>
                    <a:pt x="149" y="40"/>
                  </a:lnTo>
                  <a:lnTo>
                    <a:pt x="168" y="35"/>
                  </a:lnTo>
                  <a:lnTo>
                    <a:pt x="161" y="21"/>
                  </a:lnTo>
                </a:path>
              </a:pathLst>
            </a:cu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701" name="Freeform 115">
              <a:extLst>
                <a:ext uri="{FF2B5EF4-FFF2-40B4-BE49-F238E27FC236}">
                  <a16:creationId xmlns:a16="http://schemas.microsoft.com/office/drawing/2014/main" id="{6F3A2078-54C1-1A19-4D53-608CD3FCE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2" y="3829"/>
              <a:ext cx="68" cy="53"/>
            </a:xfrm>
            <a:custGeom>
              <a:avLst/>
              <a:gdLst>
                <a:gd name="T0" fmla="*/ 57 w 68"/>
                <a:gd name="T1" fmla="*/ 0 h 53"/>
                <a:gd name="T2" fmla="*/ 48 w 68"/>
                <a:gd name="T3" fmla="*/ 8 h 53"/>
                <a:gd name="T4" fmla="*/ 40 w 68"/>
                <a:gd name="T5" fmla="*/ 13 h 53"/>
                <a:gd name="T6" fmla="*/ 36 w 68"/>
                <a:gd name="T7" fmla="*/ 17 h 53"/>
                <a:gd name="T8" fmla="*/ 30 w 68"/>
                <a:gd name="T9" fmla="*/ 19 h 53"/>
                <a:gd name="T10" fmla="*/ 27 w 68"/>
                <a:gd name="T11" fmla="*/ 23 h 53"/>
                <a:gd name="T12" fmla="*/ 21 w 68"/>
                <a:gd name="T13" fmla="*/ 27 h 53"/>
                <a:gd name="T14" fmla="*/ 11 w 68"/>
                <a:gd name="T15" fmla="*/ 31 h 53"/>
                <a:gd name="T16" fmla="*/ 0 w 68"/>
                <a:gd name="T17" fmla="*/ 38 h 53"/>
                <a:gd name="T18" fmla="*/ 7 w 68"/>
                <a:gd name="T19" fmla="*/ 52 h 53"/>
                <a:gd name="T20" fmla="*/ 19 w 68"/>
                <a:gd name="T21" fmla="*/ 44 h 53"/>
                <a:gd name="T22" fmla="*/ 29 w 68"/>
                <a:gd name="T23" fmla="*/ 40 h 53"/>
                <a:gd name="T24" fmla="*/ 34 w 68"/>
                <a:gd name="T25" fmla="*/ 36 h 53"/>
                <a:gd name="T26" fmla="*/ 40 w 68"/>
                <a:gd name="T27" fmla="*/ 33 h 53"/>
                <a:gd name="T28" fmla="*/ 46 w 68"/>
                <a:gd name="T29" fmla="*/ 29 h 53"/>
                <a:gd name="T30" fmla="*/ 50 w 68"/>
                <a:gd name="T31" fmla="*/ 25 h 53"/>
                <a:gd name="T32" fmla="*/ 57 w 68"/>
                <a:gd name="T33" fmla="*/ 19 h 53"/>
                <a:gd name="T34" fmla="*/ 67 w 68"/>
                <a:gd name="T35" fmla="*/ 11 h 53"/>
                <a:gd name="T36" fmla="*/ 57 w 68"/>
                <a:gd name="T37" fmla="*/ 0 h 5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68" h="53">
                  <a:moveTo>
                    <a:pt x="57" y="0"/>
                  </a:moveTo>
                  <a:lnTo>
                    <a:pt x="48" y="8"/>
                  </a:lnTo>
                  <a:lnTo>
                    <a:pt x="40" y="13"/>
                  </a:lnTo>
                  <a:lnTo>
                    <a:pt x="36" y="17"/>
                  </a:lnTo>
                  <a:lnTo>
                    <a:pt x="30" y="19"/>
                  </a:lnTo>
                  <a:lnTo>
                    <a:pt x="27" y="23"/>
                  </a:lnTo>
                  <a:lnTo>
                    <a:pt x="21" y="27"/>
                  </a:lnTo>
                  <a:lnTo>
                    <a:pt x="11" y="31"/>
                  </a:lnTo>
                  <a:lnTo>
                    <a:pt x="0" y="38"/>
                  </a:lnTo>
                  <a:lnTo>
                    <a:pt x="7" y="52"/>
                  </a:lnTo>
                  <a:lnTo>
                    <a:pt x="19" y="44"/>
                  </a:lnTo>
                  <a:lnTo>
                    <a:pt x="29" y="40"/>
                  </a:lnTo>
                  <a:lnTo>
                    <a:pt x="34" y="36"/>
                  </a:lnTo>
                  <a:lnTo>
                    <a:pt x="40" y="33"/>
                  </a:lnTo>
                  <a:lnTo>
                    <a:pt x="46" y="29"/>
                  </a:lnTo>
                  <a:lnTo>
                    <a:pt x="50" y="25"/>
                  </a:lnTo>
                  <a:lnTo>
                    <a:pt x="57" y="19"/>
                  </a:lnTo>
                  <a:lnTo>
                    <a:pt x="67" y="11"/>
                  </a:lnTo>
                  <a:lnTo>
                    <a:pt x="57" y="0"/>
                  </a:lnTo>
                </a:path>
              </a:pathLst>
            </a:cu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702" name="Freeform 116">
              <a:extLst>
                <a:ext uri="{FF2B5EF4-FFF2-40B4-BE49-F238E27FC236}">
                  <a16:creationId xmlns:a16="http://schemas.microsoft.com/office/drawing/2014/main" id="{EC66AD3C-E9FF-5A0C-F03E-3A9DCFEFA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9" y="3787"/>
              <a:ext cx="86" cy="54"/>
            </a:xfrm>
            <a:custGeom>
              <a:avLst/>
              <a:gdLst>
                <a:gd name="T0" fmla="*/ 77 w 86"/>
                <a:gd name="T1" fmla="*/ 0 h 54"/>
                <a:gd name="T2" fmla="*/ 71 w 86"/>
                <a:gd name="T3" fmla="*/ 4 h 54"/>
                <a:gd name="T4" fmla="*/ 63 w 86"/>
                <a:gd name="T5" fmla="*/ 7 h 54"/>
                <a:gd name="T6" fmla="*/ 54 w 86"/>
                <a:gd name="T7" fmla="*/ 11 h 54"/>
                <a:gd name="T8" fmla="*/ 42 w 86"/>
                <a:gd name="T9" fmla="*/ 17 h 54"/>
                <a:gd name="T10" fmla="*/ 31 w 86"/>
                <a:gd name="T11" fmla="*/ 23 h 54"/>
                <a:gd name="T12" fmla="*/ 19 w 86"/>
                <a:gd name="T13" fmla="*/ 30 h 54"/>
                <a:gd name="T14" fmla="*/ 10 w 86"/>
                <a:gd name="T15" fmla="*/ 36 h 54"/>
                <a:gd name="T16" fmla="*/ 0 w 86"/>
                <a:gd name="T17" fmla="*/ 42 h 54"/>
                <a:gd name="T18" fmla="*/ 10 w 86"/>
                <a:gd name="T19" fmla="*/ 53 h 54"/>
                <a:gd name="T20" fmla="*/ 17 w 86"/>
                <a:gd name="T21" fmla="*/ 50 h 54"/>
                <a:gd name="T22" fmla="*/ 27 w 86"/>
                <a:gd name="T23" fmla="*/ 44 h 54"/>
                <a:gd name="T24" fmla="*/ 39 w 86"/>
                <a:gd name="T25" fmla="*/ 38 h 54"/>
                <a:gd name="T26" fmla="*/ 50 w 86"/>
                <a:gd name="T27" fmla="*/ 30 h 54"/>
                <a:gd name="T28" fmla="*/ 62 w 86"/>
                <a:gd name="T29" fmla="*/ 27 h 54"/>
                <a:gd name="T30" fmla="*/ 71 w 86"/>
                <a:gd name="T31" fmla="*/ 21 h 54"/>
                <a:gd name="T32" fmla="*/ 79 w 86"/>
                <a:gd name="T33" fmla="*/ 17 h 54"/>
                <a:gd name="T34" fmla="*/ 85 w 86"/>
                <a:gd name="T35" fmla="*/ 15 h 54"/>
                <a:gd name="T36" fmla="*/ 77 w 86"/>
                <a:gd name="T37" fmla="*/ 0 h 5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86" h="54">
                  <a:moveTo>
                    <a:pt x="77" y="0"/>
                  </a:moveTo>
                  <a:lnTo>
                    <a:pt x="71" y="4"/>
                  </a:lnTo>
                  <a:lnTo>
                    <a:pt x="63" y="7"/>
                  </a:lnTo>
                  <a:lnTo>
                    <a:pt x="54" y="11"/>
                  </a:lnTo>
                  <a:lnTo>
                    <a:pt x="42" y="17"/>
                  </a:lnTo>
                  <a:lnTo>
                    <a:pt x="31" y="23"/>
                  </a:lnTo>
                  <a:lnTo>
                    <a:pt x="19" y="30"/>
                  </a:lnTo>
                  <a:lnTo>
                    <a:pt x="10" y="36"/>
                  </a:lnTo>
                  <a:lnTo>
                    <a:pt x="0" y="42"/>
                  </a:lnTo>
                  <a:lnTo>
                    <a:pt x="10" y="53"/>
                  </a:lnTo>
                  <a:lnTo>
                    <a:pt x="17" y="50"/>
                  </a:lnTo>
                  <a:lnTo>
                    <a:pt x="27" y="44"/>
                  </a:lnTo>
                  <a:lnTo>
                    <a:pt x="39" y="38"/>
                  </a:lnTo>
                  <a:lnTo>
                    <a:pt x="50" y="30"/>
                  </a:lnTo>
                  <a:lnTo>
                    <a:pt x="62" y="27"/>
                  </a:lnTo>
                  <a:lnTo>
                    <a:pt x="71" y="21"/>
                  </a:lnTo>
                  <a:lnTo>
                    <a:pt x="79" y="17"/>
                  </a:lnTo>
                  <a:lnTo>
                    <a:pt x="85" y="15"/>
                  </a:lnTo>
                  <a:lnTo>
                    <a:pt x="77" y="0"/>
                  </a:lnTo>
                </a:path>
              </a:pathLst>
            </a:cu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703" name="Freeform 117">
              <a:extLst>
                <a:ext uri="{FF2B5EF4-FFF2-40B4-BE49-F238E27FC236}">
                  <a16:creationId xmlns:a16="http://schemas.microsoft.com/office/drawing/2014/main" id="{932F89C7-6C3C-6875-A670-2035F65C6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6" y="3766"/>
              <a:ext cx="47" cy="37"/>
            </a:xfrm>
            <a:custGeom>
              <a:avLst/>
              <a:gdLst>
                <a:gd name="T0" fmla="*/ 40 w 47"/>
                <a:gd name="T1" fmla="*/ 0 h 37"/>
                <a:gd name="T2" fmla="*/ 36 w 47"/>
                <a:gd name="T3" fmla="*/ 2 h 37"/>
                <a:gd name="T4" fmla="*/ 31 w 47"/>
                <a:gd name="T5" fmla="*/ 4 h 37"/>
                <a:gd name="T6" fmla="*/ 25 w 47"/>
                <a:gd name="T7" fmla="*/ 7 h 37"/>
                <a:gd name="T8" fmla="*/ 19 w 47"/>
                <a:gd name="T9" fmla="*/ 11 h 37"/>
                <a:gd name="T10" fmla="*/ 13 w 47"/>
                <a:gd name="T11" fmla="*/ 15 h 37"/>
                <a:gd name="T12" fmla="*/ 8 w 47"/>
                <a:gd name="T13" fmla="*/ 17 h 37"/>
                <a:gd name="T14" fmla="*/ 4 w 47"/>
                <a:gd name="T15" fmla="*/ 21 h 37"/>
                <a:gd name="T16" fmla="*/ 0 w 47"/>
                <a:gd name="T17" fmla="*/ 21 h 37"/>
                <a:gd name="T18" fmla="*/ 8 w 47"/>
                <a:gd name="T19" fmla="*/ 36 h 37"/>
                <a:gd name="T20" fmla="*/ 11 w 47"/>
                <a:gd name="T21" fmla="*/ 34 h 37"/>
                <a:gd name="T22" fmla="*/ 15 w 47"/>
                <a:gd name="T23" fmla="*/ 30 h 37"/>
                <a:gd name="T24" fmla="*/ 21 w 47"/>
                <a:gd name="T25" fmla="*/ 28 h 37"/>
                <a:gd name="T26" fmla="*/ 27 w 47"/>
                <a:gd name="T27" fmla="*/ 25 h 37"/>
                <a:gd name="T28" fmla="*/ 32 w 47"/>
                <a:gd name="T29" fmla="*/ 21 h 37"/>
                <a:gd name="T30" fmla="*/ 38 w 47"/>
                <a:gd name="T31" fmla="*/ 19 h 37"/>
                <a:gd name="T32" fmla="*/ 42 w 47"/>
                <a:gd name="T33" fmla="*/ 17 h 37"/>
                <a:gd name="T34" fmla="*/ 46 w 47"/>
                <a:gd name="T35" fmla="*/ 15 h 37"/>
                <a:gd name="T36" fmla="*/ 40 w 47"/>
                <a:gd name="T37" fmla="*/ 0 h 3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7" h="37">
                  <a:moveTo>
                    <a:pt x="40" y="0"/>
                  </a:moveTo>
                  <a:lnTo>
                    <a:pt x="36" y="2"/>
                  </a:lnTo>
                  <a:lnTo>
                    <a:pt x="31" y="4"/>
                  </a:lnTo>
                  <a:lnTo>
                    <a:pt x="25" y="7"/>
                  </a:lnTo>
                  <a:lnTo>
                    <a:pt x="19" y="11"/>
                  </a:lnTo>
                  <a:lnTo>
                    <a:pt x="13" y="15"/>
                  </a:lnTo>
                  <a:lnTo>
                    <a:pt x="8" y="17"/>
                  </a:lnTo>
                  <a:lnTo>
                    <a:pt x="4" y="21"/>
                  </a:lnTo>
                  <a:lnTo>
                    <a:pt x="0" y="21"/>
                  </a:lnTo>
                  <a:lnTo>
                    <a:pt x="8" y="36"/>
                  </a:lnTo>
                  <a:lnTo>
                    <a:pt x="11" y="34"/>
                  </a:lnTo>
                  <a:lnTo>
                    <a:pt x="15" y="30"/>
                  </a:lnTo>
                  <a:lnTo>
                    <a:pt x="21" y="28"/>
                  </a:lnTo>
                  <a:lnTo>
                    <a:pt x="27" y="25"/>
                  </a:lnTo>
                  <a:lnTo>
                    <a:pt x="32" y="21"/>
                  </a:lnTo>
                  <a:lnTo>
                    <a:pt x="38" y="19"/>
                  </a:lnTo>
                  <a:lnTo>
                    <a:pt x="42" y="17"/>
                  </a:lnTo>
                  <a:lnTo>
                    <a:pt x="46" y="15"/>
                  </a:lnTo>
                  <a:lnTo>
                    <a:pt x="40" y="0"/>
                  </a:lnTo>
                </a:path>
              </a:pathLst>
            </a:cu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704" name="Rectangle 118">
              <a:extLst>
                <a:ext uri="{FF2B5EF4-FFF2-40B4-BE49-F238E27FC236}">
                  <a16:creationId xmlns:a16="http://schemas.microsoft.com/office/drawing/2014/main" id="{ADF3E6C5-03E9-32E3-25E5-4384F2E57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7" y="3227"/>
              <a:ext cx="561" cy="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45" tIns="46023" rIns="92045" bIns="46023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FF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slow fading</a:t>
              </a:r>
            </a:p>
          </p:txBody>
        </p:sp>
        <p:sp>
          <p:nvSpPr>
            <p:cNvPr id="67705" name="Rectangle 119">
              <a:extLst>
                <a:ext uri="{FF2B5EF4-FFF2-40B4-BE49-F238E27FC236}">
                  <a16:creationId xmlns:a16="http://schemas.microsoft.com/office/drawing/2014/main" id="{43070A4B-D92F-ED28-63B4-32AA63E0F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3505"/>
              <a:ext cx="522" cy="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45" tIns="46023" rIns="92045" bIns="46023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fast fading</a:t>
              </a:r>
            </a:p>
          </p:txBody>
        </p:sp>
        <p:sp>
          <p:nvSpPr>
            <p:cNvPr id="67706" name="Rectangle 120">
              <a:extLst>
                <a:ext uri="{FF2B5EF4-FFF2-40B4-BE49-F238E27FC236}">
                  <a16:creationId xmlns:a16="http://schemas.microsoft.com/office/drawing/2014/main" id="{2FBBC219-0AC0-EAD1-F215-18CC16283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5" y="3116"/>
              <a:ext cx="460" cy="1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45" tIns="46023" rIns="92045" bIns="46023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path loss</a:t>
              </a:r>
            </a:p>
          </p:txBody>
        </p:sp>
        <p:sp>
          <p:nvSpPr>
            <p:cNvPr id="67707" name="Freeform 121">
              <a:extLst>
                <a:ext uri="{FF2B5EF4-FFF2-40B4-BE49-F238E27FC236}">
                  <a16:creationId xmlns:a16="http://schemas.microsoft.com/office/drawing/2014/main" id="{47723110-75D8-5582-1432-51D62AE577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2" y="2873"/>
              <a:ext cx="2315" cy="1026"/>
            </a:xfrm>
            <a:custGeom>
              <a:avLst/>
              <a:gdLst>
                <a:gd name="T0" fmla="*/ 2312 w 2315"/>
                <a:gd name="T1" fmla="*/ 1017 h 1026"/>
                <a:gd name="T2" fmla="*/ 2314 w 2315"/>
                <a:gd name="T3" fmla="*/ 1010 h 1026"/>
                <a:gd name="T4" fmla="*/ 6 w 2315"/>
                <a:gd name="T5" fmla="*/ 0 h 1026"/>
                <a:gd name="T6" fmla="*/ 0 w 2315"/>
                <a:gd name="T7" fmla="*/ 15 h 1026"/>
                <a:gd name="T8" fmla="*/ 2309 w 2315"/>
                <a:gd name="T9" fmla="*/ 1025 h 1026"/>
                <a:gd name="T10" fmla="*/ 2312 w 2315"/>
                <a:gd name="T11" fmla="*/ 1017 h 10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15" h="1026">
                  <a:moveTo>
                    <a:pt x="2312" y="1017"/>
                  </a:moveTo>
                  <a:lnTo>
                    <a:pt x="2314" y="1010"/>
                  </a:lnTo>
                  <a:lnTo>
                    <a:pt x="6" y="0"/>
                  </a:lnTo>
                  <a:lnTo>
                    <a:pt x="0" y="15"/>
                  </a:lnTo>
                  <a:lnTo>
                    <a:pt x="2309" y="1025"/>
                  </a:lnTo>
                  <a:lnTo>
                    <a:pt x="2312" y="1017"/>
                  </a:lnTo>
                </a:path>
              </a:pathLst>
            </a:custGeom>
            <a:solidFill>
              <a:srgbClr val="00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708" name="Line 122">
              <a:extLst>
                <a:ext uri="{FF2B5EF4-FFF2-40B4-BE49-F238E27FC236}">
                  <a16:creationId xmlns:a16="http://schemas.microsoft.com/office/drawing/2014/main" id="{D7469FD3-D547-9439-CCDC-5B3FB8D57B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0" y="3591"/>
              <a:ext cx="99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709" name="Line 123">
              <a:extLst>
                <a:ext uri="{FF2B5EF4-FFF2-40B4-BE49-F238E27FC236}">
                  <a16:creationId xmlns:a16="http://schemas.microsoft.com/office/drawing/2014/main" id="{5589BC62-8D33-3D11-B314-5A9C4EB928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0" y="3331"/>
              <a:ext cx="100" cy="0"/>
            </a:xfrm>
            <a:prstGeom prst="line">
              <a:avLst/>
            </a:prstGeom>
            <a:noFill/>
            <a:ln w="12700">
              <a:solidFill>
                <a:srgbClr val="00FF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710" name="Line 124">
              <a:extLst>
                <a:ext uri="{FF2B5EF4-FFF2-40B4-BE49-F238E27FC236}">
                  <a16:creationId xmlns:a16="http://schemas.microsoft.com/office/drawing/2014/main" id="{695474C1-E803-C5AF-39B5-E58BCEAE0C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5" y="3267"/>
              <a:ext cx="0" cy="100"/>
            </a:xfrm>
            <a:prstGeom prst="line">
              <a:avLst/>
            </a:prstGeom>
            <a:noFill/>
            <a:ln w="12700">
              <a:solidFill>
                <a:srgbClr val="0066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711" name="Freeform 125">
              <a:extLst>
                <a:ext uri="{FF2B5EF4-FFF2-40B4-BE49-F238E27FC236}">
                  <a16:creationId xmlns:a16="http://schemas.microsoft.com/office/drawing/2014/main" id="{01420910-F9DC-DBBD-67BA-F048F6593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924" y="4105"/>
              <a:ext cx="2805" cy="17"/>
            </a:xfrm>
            <a:custGeom>
              <a:avLst/>
              <a:gdLst>
                <a:gd name="T0" fmla="*/ 0 w 2805"/>
                <a:gd name="T1" fmla="*/ 8 h 17"/>
                <a:gd name="T2" fmla="*/ 5 w 2805"/>
                <a:gd name="T3" fmla="*/ 16 h 17"/>
                <a:gd name="T4" fmla="*/ 2804 w 2805"/>
                <a:gd name="T5" fmla="*/ 16 h 17"/>
                <a:gd name="T6" fmla="*/ 2804 w 2805"/>
                <a:gd name="T7" fmla="*/ 0 h 17"/>
                <a:gd name="T8" fmla="*/ 5 w 2805"/>
                <a:gd name="T9" fmla="*/ 0 h 17"/>
                <a:gd name="T10" fmla="*/ 11 w 2805"/>
                <a:gd name="T11" fmla="*/ 8 h 17"/>
                <a:gd name="T12" fmla="*/ 0 w 2805"/>
                <a:gd name="T13" fmla="*/ 8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05" h="17">
                  <a:moveTo>
                    <a:pt x="0" y="8"/>
                  </a:moveTo>
                  <a:lnTo>
                    <a:pt x="5" y="16"/>
                  </a:lnTo>
                  <a:lnTo>
                    <a:pt x="2804" y="16"/>
                  </a:lnTo>
                  <a:lnTo>
                    <a:pt x="2804" y="0"/>
                  </a:lnTo>
                  <a:lnTo>
                    <a:pt x="5" y="0"/>
                  </a:lnTo>
                  <a:lnTo>
                    <a:pt x="11" y="8"/>
                  </a:lnTo>
                  <a:lnTo>
                    <a:pt x="0" y="8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712" name="Freeform 126">
              <a:extLst>
                <a:ext uri="{FF2B5EF4-FFF2-40B4-BE49-F238E27FC236}">
                  <a16:creationId xmlns:a16="http://schemas.microsoft.com/office/drawing/2014/main" id="{AD81B0B8-8AC9-9ED1-D528-507A88E5A3F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4" y="2612"/>
              <a:ext cx="17" cy="1500"/>
            </a:xfrm>
            <a:custGeom>
              <a:avLst/>
              <a:gdLst>
                <a:gd name="T0" fmla="*/ 7 w 17"/>
                <a:gd name="T1" fmla="*/ 0 h 1500"/>
                <a:gd name="T2" fmla="*/ 0 w 17"/>
                <a:gd name="T3" fmla="*/ 0 h 1500"/>
                <a:gd name="T4" fmla="*/ 0 w 17"/>
                <a:gd name="T5" fmla="*/ 1499 h 1500"/>
                <a:gd name="T6" fmla="*/ 16 w 17"/>
                <a:gd name="T7" fmla="*/ 1499 h 1500"/>
                <a:gd name="T8" fmla="*/ 16 w 17"/>
                <a:gd name="T9" fmla="*/ 0 h 1500"/>
                <a:gd name="T10" fmla="*/ 7 w 17"/>
                <a:gd name="T11" fmla="*/ 0 h 15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1500">
                  <a:moveTo>
                    <a:pt x="7" y="0"/>
                  </a:moveTo>
                  <a:lnTo>
                    <a:pt x="0" y="0"/>
                  </a:lnTo>
                  <a:lnTo>
                    <a:pt x="0" y="1499"/>
                  </a:lnTo>
                  <a:lnTo>
                    <a:pt x="16" y="1499"/>
                  </a:lnTo>
                  <a:lnTo>
                    <a:pt x="16" y="0"/>
                  </a:lnTo>
                  <a:lnTo>
                    <a:pt x="7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713" name="Freeform 127">
              <a:extLst>
                <a:ext uri="{FF2B5EF4-FFF2-40B4-BE49-F238E27FC236}">
                  <a16:creationId xmlns:a16="http://schemas.microsoft.com/office/drawing/2014/main" id="{655A968B-169B-9E3D-2F18-D559CB861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899" y="2531"/>
              <a:ext cx="62" cy="103"/>
            </a:xfrm>
            <a:custGeom>
              <a:avLst/>
              <a:gdLst>
                <a:gd name="T0" fmla="*/ 19 w 62"/>
                <a:gd name="T1" fmla="*/ 52 h 103"/>
                <a:gd name="T2" fmla="*/ 15 w 62"/>
                <a:gd name="T3" fmla="*/ 60 h 103"/>
                <a:gd name="T4" fmla="*/ 13 w 62"/>
                <a:gd name="T5" fmla="*/ 66 h 103"/>
                <a:gd name="T6" fmla="*/ 11 w 62"/>
                <a:gd name="T7" fmla="*/ 73 h 103"/>
                <a:gd name="T8" fmla="*/ 9 w 62"/>
                <a:gd name="T9" fmla="*/ 79 h 103"/>
                <a:gd name="T10" fmla="*/ 7 w 62"/>
                <a:gd name="T11" fmla="*/ 85 h 103"/>
                <a:gd name="T12" fmla="*/ 5 w 62"/>
                <a:gd name="T13" fmla="*/ 91 h 103"/>
                <a:gd name="T14" fmla="*/ 2 w 62"/>
                <a:gd name="T15" fmla="*/ 96 h 103"/>
                <a:gd name="T16" fmla="*/ 0 w 62"/>
                <a:gd name="T17" fmla="*/ 102 h 103"/>
                <a:gd name="T18" fmla="*/ 61 w 62"/>
                <a:gd name="T19" fmla="*/ 102 h 103"/>
                <a:gd name="T20" fmla="*/ 59 w 62"/>
                <a:gd name="T21" fmla="*/ 98 h 103"/>
                <a:gd name="T22" fmla="*/ 57 w 62"/>
                <a:gd name="T23" fmla="*/ 94 h 103"/>
                <a:gd name="T24" fmla="*/ 55 w 62"/>
                <a:gd name="T25" fmla="*/ 89 h 103"/>
                <a:gd name="T26" fmla="*/ 53 w 62"/>
                <a:gd name="T27" fmla="*/ 83 h 103"/>
                <a:gd name="T28" fmla="*/ 50 w 62"/>
                <a:gd name="T29" fmla="*/ 75 h 103"/>
                <a:gd name="T30" fmla="*/ 48 w 62"/>
                <a:gd name="T31" fmla="*/ 68 h 103"/>
                <a:gd name="T32" fmla="*/ 46 w 62"/>
                <a:gd name="T33" fmla="*/ 60 h 103"/>
                <a:gd name="T34" fmla="*/ 42 w 62"/>
                <a:gd name="T35" fmla="*/ 52 h 103"/>
                <a:gd name="T36" fmla="*/ 40 w 62"/>
                <a:gd name="T37" fmla="*/ 45 h 103"/>
                <a:gd name="T38" fmla="*/ 38 w 62"/>
                <a:gd name="T39" fmla="*/ 37 h 103"/>
                <a:gd name="T40" fmla="*/ 36 w 62"/>
                <a:gd name="T41" fmla="*/ 29 h 103"/>
                <a:gd name="T42" fmla="*/ 34 w 62"/>
                <a:gd name="T43" fmla="*/ 23 h 103"/>
                <a:gd name="T44" fmla="*/ 34 w 62"/>
                <a:gd name="T45" fmla="*/ 16 h 103"/>
                <a:gd name="T46" fmla="*/ 32 w 62"/>
                <a:gd name="T47" fmla="*/ 10 h 103"/>
                <a:gd name="T48" fmla="*/ 30 w 62"/>
                <a:gd name="T49" fmla="*/ 4 h 103"/>
                <a:gd name="T50" fmla="*/ 30 w 62"/>
                <a:gd name="T51" fmla="*/ 0 h 103"/>
                <a:gd name="T52" fmla="*/ 30 w 62"/>
                <a:gd name="T53" fmla="*/ 4 h 103"/>
                <a:gd name="T54" fmla="*/ 28 w 62"/>
                <a:gd name="T55" fmla="*/ 10 h 103"/>
                <a:gd name="T56" fmla="*/ 27 w 62"/>
                <a:gd name="T57" fmla="*/ 16 h 103"/>
                <a:gd name="T58" fmla="*/ 27 w 62"/>
                <a:gd name="T59" fmla="*/ 23 h 103"/>
                <a:gd name="T60" fmla="*/ 25 w 62"/>
                <a:gd name="T61" fmla="*/ 29 h 103"/>
                <a:gd name="T62" fmla="*/ 23 w 62"/>
                <a:gd name="T63" fmla="*/ 37 h 103"/>
                <a:gd name="T64" fmla="*/ 21 w 62"/>
                <a:gd name="T65" fmla="*/ 45 h 103"/>
                <a:gd name="T66" fmla="*/ 19 w 62"/>
                <a:gd name="T67" fmla="*/ 52 h 10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62" h="103">
                  <a:moveTo>
                    <a:pt x="19" y="52"/>
                  </a:moveTo>
                  <a:lnTo>
                    <a:pt x="15" y="60"/>
                  </a:lnTo>
                  <a:lnTo>
                    <a:pt x="13" y="66"/>
                  </a:lnTo>
                  <a:lnTo>
                    <a:pt x="11" y="73"/>
                  </a:lnTo>
                  <a:lnTo>
                    <a:pt x="9" y="79"/>
                  </a:lnTo>
                  <a:lnTo>
                    <a:pt x="7" y="85"/>
                  </a:lnTo>
                  <a:lnTo>
                    <a:pt x="5" y="91"/>
                  </a:lnTo>
                  <a:lnTo>
                    <a:pt x="2" y="96"/>
                  </a:lnTo>
                  <a:lnTo>
                    <a:pt x="0" y="102"/>
                  </a:lnTo>
                  <a:lnTo>
                    <a:pt x="61" y="102"/>
                  </a:lnTo>
                  <a:lnTo>
                    <a:pt x="59" y="98"/>
                  </a:lnTo>
                  <a:lnTo>
                    <a:pt x="57" y="94"/>
                  </a:lnTo>
                  <a:lnTo>
                    <a:pt x="55" y="89"/>
                  </a:lnTo>
                  <a:lnTo>
                    <a:pt x="53" y="83"/>
                  </a:lnTo>
                  <a:lnTo>
                    <a:pt x="50" y="75"/>
                  </a:lnTo>
                  <a:lnTo>
                    <a:pt x="48" y="68"/>
                  </a:lnTo>
                  <a:lnTo>
                    <a:pt x="46" y="60"/>
                  </a:lnTo>
                  <a:lnTo>
                    <a:pt x="42" y="52"/>
                  </a:lnTo>
                  <a:lnTo>
                    <a:pt x="40" y="45"/>
                  </a:lnTo>
                  <a:lnTo>
                    <a:pt x="38" y="37"/>
                  </a:lnTo>
                  <a:lnTo>
                    <a:pt x="36" y="29"/>
                  </a:lnTo>
                  <a:lnTo>
                    <a:pt x="34" y="23"/>
                  </a:lnTo>
                  <a:lnTo>
                    <a:pt x="34" y="16"/>
                  </a:lnTo>
                  <a:lnTo>
                    <a:pt x="32" y="10"/>
                  </a:lnTo>
                  <a:lnTo>
                    <a:pt x="30" y="4"/>
                  </a:lnTo>
                  <a:lnTo>
                    <a:pt x="30" y="0"/>
                  </a:lnTo>
                  <a:lnTo>
                    <a:pt x="30" y="4"/>
                  </a:lnTo>
                  <a:lnTo>
                    <a:pt x="28" y="10"/>
                  </a:lnTo>
                  <a:lnTo>
                    <a:pt x="27" y="16"/>
                  </a:lnTo>
                  <a:lnTo>
                    <a:pt x="27" y="23"/>
                  </a:lnTo>
                  <a:lnTo>
                    <a:pt x="25" y="29"/>
                  </a:lnTo>
                  <a:lnTo>
                    <a:pt x="23" y="37"/>
                  </a:lnTo>
                  <a:lnTo>
                    <a:pt x="21" y="45"/>
                  </a:lnTo>
                  <a:lnTo>
                    <a:pt x="19" y="5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714" name="Freeform 128">
              <a:extLst>
                <a:ext uri="{FF2B5EF4-FFF2-40B4-BE49-F238E27FC236}">
                  <a16:creationId xmlns:a16="http://schemas.microsoft.com/office/drawing/2014/main" id="{0EC6967A-03EC-24FC-191C-FEA6C11CBC78}"/>
                </a:ext>
              </a:extLst>
            </p:cNvPr>
            <p:cNvSpPr>
              <a:spLocks/>
            </p:cNvSpPr>
            <p:nvPr/>
          </p:nvSpPr>
          <p:spPr bwMode="auto">
            <a:xfrm>
              <a:off x="899" y="2531"/>
              <a:ext cx="62" cy="103"/>
            </a:xfrm>
            <a:custGeom>
              <a:avLst/>
              <a:gdLst>
                <a:gd name="T0" fmla="*/ 19 w 62"/>
                <a:gd name="T1" fmla="*/ 52 h 103"/>
                <a:gd name="T2" fmla="*/ 15 w 62"/>
                <a:gd name="T3" fmla="*/ 60 h 103"/>
                <a:gd name="T4" fmla="*/ 13 w 62"/>
                <a:gd name="T5" fmla="*/ 66 h 103"/>
                <a:gd name="T6" fmla="*/ 11 w 62"/>
                <a:gd name="T7" fmla="*/ 73 h 103"/>
                <a:gd name="T8" fmla="*/ 9 w 62"/>
                <a:gd name="T9" fmla="*/ 79 h 103"/>
                <a:gd name="T10" fmla="*/ 7 w 62"/>
                <a:gd name="T11" fmla="*/ 85 h 103"/>
                <a:gd name="T12" fmla="*/ 5 w 62"/>
                <a:gd name="T13" fmla="*/ 91 h 103"/>
                <a:gd name="T14" fmla="*/ 2 w 62"/>
                <a:gd name="T15" fmla="*/ 96 h 103"/>
                <a:gd name="T16" fmla="*/ 0 w 62"/>
                <a:gd name="T17" fmla="*/ 102 h 103"/>
                <a:gd name="T18" fmla="*/ 0 w 62"/>
                <a:gd name="T19" fmla="*/ 102 h 103"/>
                <a:gd name="T20" fmla="*/ 61 w 62"/>
                <a:gd name="T21" fmla="*/ 102 h 103"/>
                <a:gd name="T22" fmla="*/ 61 w 62"/>
                <a:gd name="T23" fmla="*/ 102 h 103"/>
                <a:gd name="T24" fmla="*/ 59 w 62"/>
                <a:gd name="T25" fmla="*/ 98 h 103"/>
                <a:gd name="T26" fmla="*/ 57 w 62"/>
                <a:gd name="T27" fmla="*/ 94 h 103"/>
                <a:gd name="T28" fmla="*/ 55 w 62"/>
                <a:gd name="T29" fmla="*/ 89 h 103"/>
                <a:gd name="T30" fmla="*/ 53 w 62"/>
                <a:gd name="T31" fmla="*/ 83 h 103"/>
                <a:gd name="T32" fmla="*/ 50 w 62"/>
                <a:gd name="T33" fmla="*/ 75 h 103"/>
                <a:gd name="T34" fmla="*/ 48 w 62"/>
                <a:gd name="T35" fmla="*/ 68 h 103"/>
                <a:gd name="T36" fmla="*/ 46 w 62"/>
                <a:gd name="T37" fmla="*/ 60 h 103"/>
                <a:gd name="T38" fmla="*/ 42 w 62"/>
                <a:gd name="T39" fmla="*/ 52 h 103"/>
                <a:gd name="T40" fmla="*/ 40 w 62"/>
                <a:gd name="T41" fmla="*/ 45 h 103"/>
                <a:gd name="T42" fmla="*/ 38 w 62"/>
                <a:gd name="T43" fmla="*/ 37 h 103"/>
                <a:gd name="T44" fmla="*/ 36 w 62"/>
                <a:gd name="T45" fmla="*/ 29 h 103"/>
                <a:gd name="T46" fmla="*/ 34 w 62"/>
                <a:gd name="T47" fmla="*/ 23 h 103"/>
                <a:gd name="T48" fmla="*/ 34 w 62"/>
                <a:gd name="T49" fmla="*/ 16 h 103"/>
                <a:gd name="T50" fmla="*/ 32 w 62"/>
                <a:gd name="T51" fmla="*/ 10 h 103"/>
                <a:gd name="T52" fmla="*/ 30 w 62"/>
                <a:gd name="T53" fmla="*/ 4 h 103"/>
                <a:gd name="T54" fmla="*/ 30 w 62"/>
                <a:gd name="T55" fmla="*/ 0 h 103"/>
                <a:gd name="T56" fmla="*/ 30 w 62"/>
                <a:gd name="T57" fmla="*/ 4 h 103"/>
                <a:gd name="T58" fmla="*/ 28 w 62"/>
                <a:gd name="T59" fmla="*/ 10 h 103"/>
                <a:gd name="T60" fmla="*/ 27 w 62"/>
                <a:gd name="T61" fmla="*/ 16 h 103"/>
                <a:gd name="T62" fmla="*/ 27 w 62"/>
                <a:gd name="T63" fmla="*/ 23 h 103"/>
                <a:gd name="T64" fmla="*/ 25 w 62"/>
                <a:gd name="T65" fmla="*/ 29 h 103"/>
                <a:gd name="T66" fmla="*/ 23 w 62"/>
                <a:gd name="T67" fmla="*/ 37 h 103"/>
                <a:gd name="T68" fmla="*/ 21 w 62"/>
                <a:gd name="T69" fmla="*/ 45 h 103"/>
                <a:gd name="T70" fmla="*/ 19 w 62"/>
                <a:gd name="T71" fmla="*/ 52 h 103"/>
                <a:gd name="T72" fmla="*/ 19 w 62"/>
                <a:gd name="T73" fmla="*/ 52 h 103"/>
                <a:gd name="T74" fmla="*/ 19 w 62"/>
                <a:gd name="T75" fmla="*/ 52 h 10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62" h="103">
                  <a:moveTo>
                    <a:pt x="19" y="52"/>
                  </a:moveTo>
                  <a:lnTo>
                    <a:pt x="15" y="60"/>
                  </a:lnTo>
                  <a:lnTo>
                    <a:pt x="13" y="66"/>
                  </a:lnTo>
                  <a:lnTo>
                    <a:pt x="11" y="73"/>
                  </a:lnTo>
                  <a:lnTo>
                    <a:pt x="9" y="79"/>
                  </a:lnTo>
                  <a:lnTo>
                    <a:pt x="7" y="85"/>
                  </a:lnTo>
                  <a:lnTo>
                    <a:pt x="5" y="91"/>
                  </a:lnTo>
                  <a:lnTo>
                    <a:pt x="2" y="96"/>
                  </a:lnTo>
                  <a:lnTo>
                    <a:pt x="0" y="102"/>
                  </a:lnTo>
                  <a:lnTo>
                    <a:pt x="61" y="102"/>
                  </a:lnTo>
                  <a:lnTo>
                    <a:pt x="59" y="98"/>
                  </a:lnTo>
                  <a:lnTo>
                    <a:pt x="57" y="94"/>
                  </a:lnTo>
                  <a:lnTo>
                    <a:pt x="55" y="89"/>
                  </a:lnTo>
                  <a:lnTo>
                    <a:pt x="53" y="83"/>
                  </a:lnTo>
                  <a:lnTo>
                    <a:pt x="50" y="75"/>
                  </a:lnTo>
                  <a:lnTo>
                    <a:pt x="48" y="68"/>
                  </a:lnTo>
                  <a:lnTo>
                    <a:pt x="46" y="60"/>
                  </a:lnTo>
                  <a:lnTo>
                    <a:pt x="42" y="52"/>
                  </a:lnTo>
                  <a:lnTo>
                    <a:pt x="40" y="45"/>
                  </a:lnTo>
                  <a:lnTo>
                    <a:pt x="38" y="37"/>
                  </a:lnTo>
                  <a:lnTo>
                    <a:pt x="36" y="29"/>
                  </a:lnTo>
                  <a:lnTo>
                    <a:pt x="34" y="23"/>
                  </a:lnTo>
                  <a:lnTo>
                    <a:pt x="34" y="16"/>
                  </a:lnTo>
                  <a:lnTo>
                    <a:pt x="32" y="10"/>
                  </a:lnTo>
                  <a:lnTo>
                    <a:pt x="30" y="4"/>
                  </a:lnTo>
                  <a:lnTo>
                    <a:pt x="30" y="0"/>
                  </a:lnTo>
                  <a:lnTo>
                    <a:pt x="30" y="4"/>
                  </a:lnTo>
                  <a:lnTo>
                    <a:pt x="28" y="10"/>
                  </a:lnTo>
                  <a:lnTo>
                    <a:pt x="27" y="16"/>
                  </a:lnTo>
                  <a:lnTo>
                    <a:pt x="27" y="23"/>
                  </a:lnTo>
                  <a:lnTo>
                    <a:pt x="25" y="29"/>
                  </a:lnTo>
                  <a:lnTo>
                    <a:pt x="23" y="37"/>
                  </a:lnTo>
                  <a:lnTo>
                    <a:pt x="21" y="45"/>
                  </a:lnTo>
                  <a:lnTo>
                    <a:pt x="19" y="5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715" name="Freeform 129">
              <a:extLst>
                <a:ext uri="{FF2B5EF4-FFF2-40B4-BE49-F238E27FC236}">
                  <a16:creationId xmlns:a16="http://schemas.microsoft.com/office/drawing/2014/main" id="{6948CADE-8AF4-7591-4F1E-630279BA4B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" y="4080"/>
              <a:ext cx="103" cy="62"/>
            </a:xfrm>
            <a:custGeom>
              <a:avLst/>
              <a:gdLst>
                <a:gd name="T0" fmla="*/ 48 w 103"/>
                <a:gd name="T1" fmla="*/ 17 h 62"/>
                <a:gd name="T2" fmla="*/ 40 w 103"/>
                <a:gd name="T3" fmla="*/ 15 h 62"/>
                <a:gd name="T4" fmla="*/ 35 w 103"/>
                <a:gd name="T5" fmla="*/ 13 h 62"/>
                <a:gd name="T6" fmla="*/ 29 w 103"/>
                <a:gd name="T7" fmla="*/ 12 h 62"/>
                <a:gd name="T8" fmla="*/ 23 w 103"/>
                <a:gd name="T9" fmla="*/ 10 h 62"/>
                <a:gd name="T10" fmla="*/ 17 w 103"/>
                <a:gd name="T11" fmla="*/ 8 h 62"/>
                <a:gd name="T12" fmla="*/ 12 w 103"/>
                <a:gd name="T13" fmla="*/ 6 h 62"/>
                <a:gd name="T14" fmla="*/ 6 w 103"/>
                <a:gd name="T15" fmla="*/ 2 h 62"/>
                <a:gd name="T16" fmla="*/ 0 w 103"/>
                <a:gd name="T17" fmla="*/ 0 h 62"/>
                <a:gd name="T18" fmla="*/ 0 w 103"/>
                <a:gd name="T19" fmla="*/ 61 h 62"/>
                <a:gd name="T20" fmla="*/ 2 w 103"/>
                <a:gd name="T21" fmla="*/ 59 h 62"/>
                <a:gd name="T22" fmla="*/ 8 w 103"/>
                <a:gd name="T23" fmla="*/ 58 h 62"/>
                <a:gd name="T24" fmla="*/ 12 w 103"/>
                <a:gd name="T25" fmla="*/ 56 h 62"/>
                <a:gd name="T26" fmla="*/ 19 w 103"/>
                <a:gd name="T27" fmla="*/ 54 h 62"/>
                <a:gd name="T28" fmla="*/ 25 w 103"/>
                <a:gd name="T29" fmla="*/ 50 h 62"/>
                <a:gd name="T30" fmla="*/ 33 w 103"/>
                <a:gd name="T31" fmla="*/ 48 h 62"/>
                <a:gd name="T32" fmla="*/ 40 w 103"/>
                <a:gd name="T33" fmla="*/ 46 h 62"/>
                <a:gd name="T34" fmla="*/ 48 w 103"/>
                <a:gd name="T35" fmla="*/ 42 h 62"/>
                <a:gd name="T36" fmla="*/ 56 w 103"/>
                <a:gd name="T37" fmla="*/ 40 h 62"/>
                <a:gd name="T38" fmla="*/ 63 w 103"/>
                <a:gd name="T39" fmla="*/ 38 h 62"/>
                <a:gd name="T40" fmla="*/ 71 w 103"/>
                <a:gd name="T41" fmla="*/ 36 h 62"/>
                <a:gd name="T42" fmla="*/ 79 w 103"/>
                <a:gd name="T43" fmla="*/ 35 h 62"/>
                <a:gd name="T44" fmla="*/ 84 w 103"/>
                <a:gd name="T45" fmla="*/ 33 h 62"/>
                <a:gd name="T46" fmla="*/ 90 w 103"/>
                <a:gd name="T47" fmla="*/ 33 h 62"/>
                <a:gd name="T48" fmla="*/ 96 w 103"/>
                <a:gd name="T49" fmla="*/ 31 h 62"/>
                <a:gd name="T50" fmla="*/ 102 w 103"/>
                <a:gd name="T51" fmla="*/ 31 h 62"/>
                <a:gd name="T52" fmla="*/ 96 w 103"/>
                <a:gd name="T53" fmla="*/ 31 h 62"/>
                <a:gd name="T54" fmla="*/ 90 w 103"/>
                <a:gd name="T55" fmla="*/ 29 h 62"/>
                <a:gd name="T56" fmla="*/ 84 w 103"/>
                <a:gd name="T57" fmla="*/ 27 h 62"/>
                <a:gd name="T58" fmla="*/ 79 w 103"/>
                <a:gd name="T59" fmla="*/ 27 h 62"/>
                <a:gd name="T60" fmla="*/ 71 w 103"/>
                <a:gd name="T61" fmla="*/ 25 h 62"/>
                <a:gd name="T62" fmla="*/ 63 w 103"/>
                <a:gd name="T63" fmla="*/ 23 h 62"/>
                <a:gd name="T64" fmla="*/ 56 w 103"/>
                <a:gd name="T65" fmla="*/ 21 h 62"/>
                <a:gd name="T66" fmla="*/ 48 w 103"/>
                <a:gd name="T67" fmla="*/ 17 h 6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3" h="62">
                  <a:moveTo>
                    <a:pt x="48" y="17"/>
                  </a:moveTo>
                  <a:lnTo>
                    <a:pt x="40" y="15"/>
                  </a:lnTo>
                  <a:lnTo>
                    <a:pt x="35" y="13"/>
                  </a:lnTo>
                  <a:lnTo>
                    <a:pt x="29" y="12"/>
                  </a:lnTo>
                  <a:lnTo>
                    <a:pt x="23" y="10"/>
                  </a:lnTo>
                  <a:lnTo>
                    <a:pt x="17" y="8"/>
                  </a:lnTo>
                  <a:lnTo>
                    <a:pt x="12" y="6"/>
                  </a:lnTo>
                  <a:lnTo>
                    <a:pt x="6" y="2"/>
                  </a:lnTo>
                  <a:lnTo>
                    <a:pt x="0" y="0"/>
                  </a:lnTo>
                  <a:lnTo>
                    <a:pt x="0" y="61"/>
                  </a:lnTo>
                  <a:lnTo>
                    <a:pt x="2" y="59"/>
                  </a:lnTo>
                  <a:lnTo>
                    <a:pt x="8" y="58"/>
                  </a:lnTo>
                  <a:lnTo>
                    <a:pt x="12" y="56"/>
                  </a:lnTo>
                  <a:lnTo>
                    <a:pt x="19" y="54"/>
                  </a:lnTo>
                  <a:lnTo>
                    <a:pt x="25" y="50"/>
                  </a:lnTo>
                  <a:lnTo>
                    <a:pt x="33" y="48"/>
                  </a:lnTo>
                  <a:lnTo>
                    <a:pt x="40" y="46"/>
                  </a:lnTo>
                  <a:lnTo>
                    <a:pt x="48" y="42"/>
                  </a:lnTo>
                  <a:lnTo>
                    <a:pt x="56" y="40"/>
                  </a:lnTo>
                  <a:lnTo>
                    <a:pt x="63" y="38"/>
                  </a:lnTo>
                  <a:lnTo>
                    <a:pt x="71" y="36"/>
                  </a:lnTo>
                  <a:lnTo>
                    <a:pt x="79" y="35"/>
                  </a:lnTo>
                  <a:lnTo>
                    <a:pt x="84" y="33"/>
                  </a:lnTo>
                  <a:lnTo>
                    <a:pt x="90" y="33"/>
                  </a:lnTo>
                  <a:lnTo>
                    <a:pt x="96" y="31"/>
                  </a:lnTo>
                  <a:lnTo>
                    <a:pt x="102" y="31"/>
                  </a:lnTo>
                  <a:lnTo>
                    <a:pt x="96" y="31"/>
                  </a:lnTo>
                  <a:lnTo>
                    <a:pt x="90" y="29"/>
                  </a:lnTo>
                  <a:lnTo>
                    <a:pt x="84" y="27"/>
                  </a:lnTo>
                  <a:lnTo>
                    <a:pt x="79" y="27"/>
                  </a:lnTo>
                  <a:lnTo>
                    <a:pt x="71" y="25"/>
                  </a:lnTo>
                  <a:lnTo>
                    <a:pt x="63" y="23"/>
                  </a:lnTo>
                  <a:lnTo>
                    <a:pt x="56" y="21"/>
                  </a:lnTo>
                  <a:lnTo>
                    <a:pt x="48" y="1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716" name="Freeform 130">
              <a:extLst>
                <a:ext uri="{FF2B5EF4-FFF2-40B4-BE49-F238E27FC236}">
                  <a16:creationId xmlns:a16="http://schemas.microsoft.com/office/drawing/2014/main" id="{D07A4FFA-67B2-6B07-54F2-C654387F6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" y="4080"/>
              <a:ext cx="103" cy="62"/>
            </a:xfrm>
            <a:custGeom>
              <a:avLst/>
              <a:gdLst>
                <a:gd name="T0" fmla="*/ 48 w 103"/>
                <a:gd name="T1" fmla="*/ 17 h 62"/>
                <a:gd name="T2" fmla="*/ 40 w 103"/>
                <a:gd name="T3" fmla="*/ 15 h 62"/>
                <a:gd name="T4" fmla="*/ 35 w 103"/>
                <a:gd name="T5" fmla="*/ 13 h 62"/>
                <a:gd name="T6" fmla="*/ 29 w 103"/>
                <a:gd name="T7" fmla="*/ 12 h 62"/>
                <a:gd name="T8" fmla="*/ 23 w 103"/>
                <a:gd name="T9" fmla="*/ 10 h 62"/>
                <a:gd name="T10" fmla="*/ 17 w 103"/>
                <a:gd name="T11" fmla="*/ 8 h 62"/>
                <a:gd name="T12" fmla="*/ 12 w 103"/>
                <a:gd name="T13" fmla="*/ 6 h 62"/>
                <a:gd name="T14" fmla="*/ 6 w 103"/>
                <a:gd name="T15" fmla="*/ 2 h 62"/>
                <a:gd name="T16" fmla="*/ 0 w 103"/>
                <a:gd name="T17" fmla="*/ 0 h 62"/>
                <a:gd name="T18" fmla="*/ 0 w 103"/>
                <a:gd name="T19" fmla="*/ 0 h 62"/>
                <a:gd name="T20" fmla="*/ 0 w 103"/>
                <a:gd name="T21" fmla="*/ 61 h 62"/>
                <a:gd name="T22" fmla="*/ 0 w 103"/>
                <a:gd name="T23" fmla="*/ 61 h 62"/>
                <a:gd name="T24" fmla="*/ 2 w 103"/>
                <a:gd name="T25" fmla="*/ 59 h 62"/>
                <a:gd name="T26" fmla="*/ 8 w 103"/>
                <a:gd name="T27" fmla="*/ 58 h 62"/>
                <a:gd name="T28" fmla="*/ 12 w 103"/>
                <a:gd name="T29" fmla="*/ 56 h 62"/>
                <a:gd name="T30" fmla="*/ 19 w 103"/>
                <a:gd name="T31" fmla="*/ 54 h 62"/>
                <a:gd name="T32" fmla="*/ 25 w 103"/>
                <a:gd name="T33" fmla="*/ 50 h 62"/>
                <a:gd name="T34" fmla="*/ 33 w 103"/>
                <a:gd name="T35" fmla="*/ 48 h 62"/>
                <a:gd name="T36" fmla="*/ 40 w 103"/>
                <a:gd name="T37" fmla="*/ 46 h 62"/>
                <a:gd name="T38" fmla="*/ 48 w 103"/>
                <a:gd name="T39" fmla="*/ 42 h 62"/>
                <a:gd name="T40" fmla="*/ 56 w 103"/>
                <a:gd name="T41" fmla="*/ 40 h 62"/>
                <a:gd name="T42" fmla="*/ 63 w 103"/>
                <a:gd name="T43" fmla="*/ 38 h 62"/>
                <a:gd name="T44" fmla="*/ 71 w 103"/>
                <a:gd name="T45" fmla="*/ 36 h 62"/>
                <a:gd name="T46" fmla="*/ 79 w 103"/>
                <a:gd name="T47" fmla="*/ 35 h 62"/>
                <a:gd name="T48" fmla="*/ 84 w 103"/>
                <a:gd name="T49" fmla="*/ 33 h 62"/>
                <a:gd name="T50" fmla="*/ 90 w 103"/>
                <a:gd name="T51" fmla="*/ 33 h 62"/>
                <a:gd name="T52" fmla="*/ 96 w 103"/>
                <a:gd name="T53" fmla="*/ 31 h 62"/>
                <a:gd name="T54" fmla="*/ 102 w 103"/>
                <a:gd name="T55" fmla="*/ 31 h 62"/>
                <a:gd name="T56" fmla="*/ 96 w 103"/>
                <a:gd name="T57" fmla="*/ 31 h 62"/>
                <a:gd name="T58" fmla="*/ 90 w 103"/>
                <a:gd name="T59" fmla="*/ 29 h 62"/>
                <a:gd name="T60" fmla="*/ 84 w 103"/>
                <a:gd name="T61" fmla="*/ 27 h 62"/>
                <a:gd name="T62" fmla="*/ 79 w 103"/>
                <a:gd name="T63" fmla="*/ 27 h 62"/>
                <a:gd name="T64" fmla="*/ 71 w 103"/>
                <a:gd name="T65" fmla="*/ 25 h 62"/>
                <a:gd name="T66" fmla="*/ 63 w 103"/>
                <a:gd name="T67" fmla="*/ 23 h 62"/>
                <a:gd name="T68" fmla="*/ 56 w 103"/>
                <a:gd name="T69" fmla="*/ 21 h 62"/>
                <a:gd name="T70" fmla="*/ 48 w 103"/>
                <a:gd name="T71" fmla="*/ 17 h 62"/>
                <a:gd name="T72" fmla="*/ 48 w 103"/>
                <a:gd name="T73" fmla="*/ 17 h 62"/>
                <a:gd name="T74" fmla="*/ 48 w 103"/>
                <a:gd name="T75" fmla="*/ 17 h 6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03" h="62">
                  <a:moveTo>
                    <a:pt x="48" y="17"/>
                  </a:moveTo>
                  <a:lnTo>
                    <a:pt x="40" y="15"/>
                  </a:lnTo>
                  <a:lnTo>
                    <a:pt x="35" y="13"/>
                  </a:lnTo>
                  <a:lnTo>
                    <a:pt x="29" y="12"/>
                  </a:lnTo>
                  <a:lnTo>
                    <a:pt x="23" y="10"/>
                  </a:lnTo>
                  <a:lnTo>
                    <a:pt x="17" y="8"/>
                  </a:lnTo>
                  <a:lnTo>
                    <a:pt x="12" y="6"/>
                  </a:lnTo>
                  <a:lnTo>
                    <a:pt x="6" y="2"/>
                  </a:lnTo>
                  <a:lnTo>
                    <a:pt x="0" y="0"/>
                  </a:lnTo>
                  <a:lnTo>
                    <a:pt x="0" y="61"/>
                  </a:lnTo>
                  <a:lnTo>
                    <a:pt x="2" y="59"/>
                  </a:lnTo>
                  <a:lnTo>
                    <a:pt x="8" y="58"/>
                  </a:lnTo>
                  <a:lnTo>
                    <a:pt x="12" y="56"/>
                  </a:lnTo>
                  <a:lnTo>
                    <a:pt x="19" y="54"/>
                  </a:lnTo>
                  <a:lnTo>
                    <a:pt x="25" y="50"/>
                  </a:lnTo>
                  <a:lnTo>
                    <a:pt x="33" y="48"/>
                  </a:lnTo>
                  <a:lnTo>
                    <a:pt x="40" y="46"/>
                  </a:lnTo>
                  <a:lnTo>
                    <a:pt x="48" y="42"/>
                  </a:lnTo>
                  <a:lnTo>
                    <a:pt x="56" y="40"/>
                  </a:lnTo>
                  <a:lnTo>
                    <a:pt x="63" y="38"/>
                  </a:lnTo>
                  <a:lnTo>
                    <a:pt x="71" y="36"/>
                  </a:lnTo>
                  <a:lnTo>
                    <a:pt x="79" y="35"/>
                  </a:lnTo>
                  <a:lnTo>
                    <a:pt x="84" y="33"/>
                  </a:lnTo>
                  <a:lnTo>
                    <a:pt x="90" y="33"/>
                  </a:lnTo>
                  <a:lnTo>
                    <a:pt x="96" y="31"/>
                  </a:lnTo>
                  <a:lnTo>
                    <a:pt x="102" y="31"/>
                  </a:lnTo>
                  <a:lnTo>
                    <a:pt x="96" y="31"/>
                  </a:lnTo>
                  <a:lnTo>
                    <a:pt x="90" y="29"/>
                  </a:lnTo>
                  <a:lnTo>
                    <a:pt x="84" y="27"/>
                  </a:lnTo>
                  <a:lnTo>
                    <a:pt x="79" y="27"/>
                  </a:lnTo>
                  <a:lnTo>
                    <a:pt x="71" y="25"/>
                  </a:lnTo>
                  <a:lnTo>
                    <a:pt x="63" y="23"/>
                  </a:lnTo>
                  <a:lnTo>
                    <a:pt x="56" y="21"/>
                  </a:lnTo>
                  <a:lnTo>
                    <a:pt x="48" y="17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endParaRPr>
            </a:p>
          </p:txBody>
        </p:sp>
        <p:sp>
          <p:nvSpPr>
            <p:cNvPr id="67717" name="Rectangle 131">
              <a:extLst>
                <a:ext uri="{FF2B5EF4-FFF2-40B4-BE49-F238E27FC236}">
                  <a16:creationId xmlns:a16="http://schemas.microsoft.com/office/drawing/2014/main" id="{A678E5DC-26B2-0581-B413-5752FDE6B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4120"/>
              <a:ext cx="639" cy="1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45" tIns="46023" rIns="92045" bIns="46023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log (distance)</a:t>
              </a:r>
            </a:p>
          </p:txBody>
        </p:sp>
        <p:sp>
          <p:nvSpPr>
            <p:cNvPr id="67718" name="Rectangle 132">
              <a:extLst>
                <a:ext uri="{FF2B5EF4-FFF2-40B4-BE49-F238E27FC236}">
                  <a16:creationId xmlns:a16="http://schemas.microsoft.com/office/drawing/2014/main" id="{1E305BA9-91EB-08AF-2B51-6F526F033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" y="2639"/>
              <a:ext cx="485" cy="1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45" tIns="46023" rIns="92045" bIns="46023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Received </a:t>
              </a:r>
            </a:p>
          </p:txBody>
        </p:sp>
        <p:sp>
          <p:nvSpPr>
            <p:cNvPr id="67719" name="Rectangle 133">
              <a:extLst>
                <a:ext uri="{FF2B5EF4-FFF2-40B4-BE49-F238E27FC236}">
                  <a16:creationId xmlns:a16="http://schemas.microsoft.com/office/drawing/2014/main" id="{4D0861B3-95C5-F292-BD38-127685DDFB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" y="2773"/>
              <a:ext cx="367" cy="1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45" tIns="46023" rIns="92045" bIns="46023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Signal </a:t>
              </a:r>
            </a:p>
          </p:txBody>
        </p:sp>
        <p:sp>
          <p:nvSpPr>
            <p:cNvPr id="67720" name="Rectangle 134">
              <a:extLst>
                <a:ext uri="{FF2B5EF4-FFF2-40B4-BE49-F238E27FC236}">
                  <a16:creationId xmlns:a16="http://schemas.microsoft.com/office/drawing/2014/main" id="{885033F5-6F3E-5C64-8981-9C60BC0DFC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" y="2909"/>
              <a:ext cx="368" cy="1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45" tIns="46023" rIns="92045" bIns="46023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Power </a:t>
              </a:r>
            </a:p>
          </p:txBody>
        </p:sp>
        <p:sp>
          <p:nvSpPr>
            <p:cNvPr id="67721" name="Rectangle 135">
              <a:extLst>
                <a:ext uri="{FF2B5EF4-FFF2-40B4-BE49-F238E27FC236}">
                  <a16:creationId xmlns:a16="http://schemas.microsoft.com/office/drawing/2014/main" id="{C213833A-8274-B549-C47B-B844A89E97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" y="3045"/>
              <a:ext cx="338" cy="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45" tIns="46023" rIns="92045" bIns="46023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(dBm)</a:t>
              </a:r>
            </a:p>
          </p:txBody>
        </p:sp>
      </p:grpSp>
      <p:sp>
        <p:nvSpPr>
          <p:cNvPr id="67587" name="Rectangle 136">
            <a:extLst>
              <a:ext uri="{FF2B5EF4-FFF2-40B4-BE49-F238E27FC236}">
                <a16:creationId xmlns:a16="http://schemas.microsoft.com/office/drawing/2014/main" id="{688C2BA5-6710-7348-D9EC-982385E03C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Typical Picture</a:t>
            </a:r>
          </a:p>
        </p:txBody>
      </p:sp>
      <p:sp>
        <p:nvSpPr>
          <p:cNvPr id="67588" name="Slide Number Placeholder 1">
            <a:extLst>
              <a:ext uri="{FF2B5EF4-FFF2-40B4-BE49-F238E27FC236}">
                <a16:creationId xmlns:a16="http://schemas.microsoft.com/office/drawing/2014/main" id="{1DFDE5B5-4A32-9F43-01D3-590BE59C9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Date Placeholder 3">
            <a:extLst>
              <a:ext uri="{FF2B5EF4-FFF2-40B4-BE49-F238E27FC236}">
                <a16:creationId xmlns:a16="http://schemas.microsoft.com/office/drawing/2014/main" id="{16B46F59-4D45-A9CD-92D8-0686D7F13C4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Sridhar Iyer</a:t>
            </a:r>
          </a:p>
        </p:txBody>
      </p:sp>
      <p:sp>
        <p:nvSpPr>
          <p:cNvPr id="69635" name="Footer Placeholder 4">
            <a:extLst>
              <a:ext uri="{FF2B5EF4-FFF2-40B4-BE49-F238E27FC236}">
                <a16:creationId xmlns:a16="http://schemas.microsoft.com/office/drawing/2014/main" id="{67588107-5612-53DF-A26D-4A7B0344D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IIT Bombay</a:t>
            </a:r>
          </a:p>
        </p:txBody>
      </p:sp>
      <p:sp>
        <p:nvSpPr>
          <p:cNvPr id="69636" name="Slide Number Placeholder 5">
            <a:extLst>
              <a:ext uri="{FF2B5EF4-FFF2-40B4-BE49-F238E27FC236}">
                <a16:creationId xmlns:a16="http://schemas.microsoft.com/office/drawing/2014/main" id="{D2FD6C31-EB9D-0613-2880-3801F571C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40322D-BC4D-47E7-8284-B70386C69E79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9637" name="Rectangle 2">
            <a:extLst>
              <a:ext uri="{FF2B5EF4-FFF2-40B4-BE49-F238E27FC236}">
                <a16:creationId xmlns:a16="http://schemas.microsoft.com/office/drawing/2014/main" id="{BA30748A-6047-17F2-AA90-4154A5D63D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76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400"/>
              <a:t>Attenuation</a:t>
            </a:r>
          </a:p>
        </p:txBody>
      </p:sp>
      <p:sp>
        <p:nvSpPr>
          <p:cNvPr id="69638" name="Rectangle 3">
            <a:extLst>
              <a:ext uri="{FF2B5EF4-FFF2-40B4-BE49-F238E27FC236}">
                <a16:creationId xmlns:a16="http://schemas.microsoft.com/office/drawing/2014/main" id="{1D1AB6DA-070A-E670-362A-C1101060DF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8153400" cy="4953000"/>
          </a:xfrm>
        </p:spPr>
        <p:txBody>
          <a:bodyPr/>
          <a:lstStyle/>
          <a:p>
            <a:pPr eaLnBrk="1" hangingPunct="1"/>
            <a:r>
              <a:rPr lang="en-US" altLang="en-US"/>
              <a:t>Strength of signal falls off with distance over transmission medium</a:t>
            </a:r>
          </a:p>
          <a:p>
            <a:pPr eaLnBrk="1" hangingPunct="1"/>
            <a:r>
              <a:rPr lang="en-US" altLang="en-US"/>
              <a:t>Attenuation factors for unguided media:</a:t>
            </a:r>
          </a:p>
          <a:p>
            <a:pPr lvl="1" eaLnBrk="1" hangingPunct="1"/>
            <a:r>
              <a:rPr lang="en-US" altLang="en-US"/>
              <a:t>Received signal must have sufficient strength so that circuitry in the receiver can interpret the signal</a:t>
            </a:r>
          </a:p>
          <a:p>
            <a:pPr lvl="1" eaLnBrk="1" hangingPunct="1"/>
            <a:r>
              <a:rPr lang="en-US" altLang="en-US"/>
              <a:t>Signal must maintain a level sufficiently higher than noise to be received without error</a:t>
            </a:r>
          </a:p>
          <a:p>
            <a:pPr lvl="1" eaLnBrk="1" hangingPunct="1"/>
            <a:r>
              <a:rPr lang="en-US" altLang="en-US"/>
              <a:t>Attenuation is greater at higher frequencies, causing distortion</a:t>
            </a:r>
          </a:p>
          <a:p>
            <a:pPr eaLnBrk="1" hangingPunct="1"/>
            <a:r>
              <a:rPr lang="en-US" altLang="en-US"/>
              <a:t>Approach: amplifiers that strengthen higher frequencies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3B081DF4-9D51-01B8-3E26-559A2A74AF5F}"/>
              </a:ext>
            </a:extLst>
          </p:cNvPr>
          <p:cNvSpPr txBox="1">
            <a:spLocks/>
          </p:cNvSpPr>
          <p:nvPr/>
        </p:nvSpPr>
        <p:spPr>
          <a:xfrm>
            <a:off x="470010" y="228600"/>
            <a:ext cx="8581803" cy="695325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Number Placeholder 4">
            <a:extLst>
              <a:ext uri="{FF2B5EF4-FFF2-40B4-BE49-F238E27FC236}">
                <a16:creationId xmlns:a16="http://schemas.microsoft.com/office/drawing/2014/main" id="{DB14F759-F002-4C65-CBE0-4DFBF657A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747E374-465A-4858-A934-ED2FC19363BD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5C8F3170-F2A7-3FB4-E7B2-D3EA2C4C4E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126413" cy="1143000"/>
          </a:xfrm>
        </p:spPr>
        <p:txBody>
          <a:bodyPr/>
          <a:lstStyle/>
          <a:p>
            <a:pPr eaLnBrk="1" hangingPunct="1"/>
            <a:r>
              <a:rPr lang="en-US" altLang="en-US" sz="3400"/>
              <a:t>Attenuation: Propagation &amp; Range</a:t>
            </a:r>
          </a:p>
        </p:txBody>
      </p:sp>
      <p:pic>
        <p:nvPicPr>
          <p:cNvPr id="70660" name="Picture 3">
            <a:extLst>
              <a:ext uri="{FF2B5EF4-FFF2-40B4-BE49-F238E27FC236}">
                <a16:creationId xmlns:a16="http://schemas.microsoft.com/office/drawing/2014/main" id="{40CE4BA4-2A19-D15A-C576-BE1EF0551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47813"/>
            <a:ext cx="8382000" cy="4700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BDE02057-8A53-6A56-FEF3-4D53F4873162}"/>
              </a:ext>
            </a:extLst>
          </p:cNvPr>
          <p:cNvSpPr txBox="1">
            <a:spLocks/>
          </p:cNvSpPr>
          <p:nvPr/>
        </p:nvSpPr>
        <p:spPr>
          <a:xfrm>
            <a:off x="457200" y="404813"/>
            <a:ext cx="8581803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Oval 2">
            <a:extLst>
              <a:ext uri="{FF2B5EF4-FFF2-40B4-BE49-F238E27FC236}">
                <a16:creationId xmlns:a16="http://schemas.microsoft.com/office/drawing/2014/main" id="{64A59250-6F2C-64E9-6634-8D6085C30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136775"/>
            <a:ext cx="3348038" cy="3346450"/>
          </a:xfrm>
          <a:prstGeom prst="ellipse">
            <a:avLst/>
          </a:prstGeom>
          <a:solidFill>
            <a:srgbClr val="EAEAEA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1683" name="Oval 3">
            <a:extLst>
              <a:ext uri="{FF2B5EF4-FFF2-40B4-BE49-F238E27FC236}">
                <a16:creationId xmlns:a16="http://schemas.microsoft.com/office/drawing/2014/main" id="{F8652BBE-CAE1-9EB8-6B65-308629FE4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2413" y="2592388"/>
            <a:ext cx="2435225" cy="243363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1684" name="Oval 4">
            <a:extLst>
              <a:ext uri="{FF2B5EF4-FFF2-40B4-BE49-F238E27FC236}">
                <a16:creationId xmlns:a16="http://schemas.microsoft.com/office/drawing/2014/main" id="{AB98031D-EDCA-297C-9F90-E8B6B0A04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5813" y="3124200"/>
            <a:ext cx="1370012" cy="1370013"/>
          </a:xfrm>
          <a:prstGeom prst="ellipse">
            <a:avLst/>
          </a:prstGeom>
          <a:solidFill>
            <a:srgbClr val="808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1685" name="Oval 5">
            <a:extLst>
              <a:ext uri="{FF2B5EF4-FFF2-40B4-BE49-F238E27FC236}">
                <a16:creationId xmlns:a16="http://schemas.microsoft.com/office/drawing/2014/main" id="{C425F184-7E7A-6841-6E95-A3E3F09F8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3825" y="3733800"/>
            <a:ext cx="152400" cy="15081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1686" name="Text Box 6">
            <a:extLst>
              <a:ext uri="{FF2B5EF4-FFF2-40B4-BE49-F238E27FC236}">
                <a16:creationId xmlns:a16="http://schemas.microsoft.com/office/drawing/2014/main" id="{B921A64C-6CF5-BE33-C88C-C0694C91BB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4838" y="4418013"/>
            <a:ext cx="842962" cy="303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ADAF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76" tIns="45637" rIns="91276" bIns="45637">
            <a:spAutoFit/>
          </a:bodyPr>
          <a:lstStyle>
            <a:lvl1pPr defTabSz="912813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12813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12813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12813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distance</a:t>
            </a:r>
          </a:p>
        </p:txBody>
      </p:sp>
      <p:sp>
        <p:nvSpPr>
          <p:cNvPr id="71687" name="Text Box 7">
            <a:extLst>
              <a:ext uri="{FF2B5EF4-FFF2-40B4-BE49-F238E27FC236}">
                <a16:creationId xmlns:a16="http://schemas.microsoft.com/office/drawing/2014/main" id="{1D8F2425-3FD1-A719-0E65-D12CE2153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0613" y="3429000"/>
            <a:ext cx="7239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ADAF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76" tIns="45637" rIns="91276" bIns="45637">
            <a:spAutoFit/>
          </a:bodyPr>
          <a:lstStyle>
            <a:lvl1pPr defTabSz="912813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12813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12813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12813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sender</a:t>
            </a:r>
          </a:p>
        </p:txBody>
      </p:sp>
      <p:sp>
        <p:nvSpPr>
          <p:cNvPr id="71688" name="Line 8">
            <a:extLst>
              <a:ext uri="{FF2B5EF4-FFF2-40B4-BE49-F238E27FC236}">
                <a16:creationId xmlns:a16="http://schemas.microsoft.com/office/drawing/2014/main" id="{49DFDCEE-D6A5-0AD6-8264-FF0B754444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0025" y="3810000"/>
            <a:ext cx="1903413" cy="987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1689" name="Text Box 9">
            <a:extLst>
              <a:ext uri="{FF2B5EF4-FFF2-40B4-BE49-F238E27FC236}">
                <a16:creationId xmlns:a16="http://schemas.microsoft.com/office/drawing/2014/main" id="{54CE4952-AF6B-8ABA-C206-0FC752A347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2013" y="4037013"/>
            <a:ext cx="11779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ADAF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76" tIns="45637" rIns="91276" bIns="45637">
            <a:spAutoFit/>
          </a:bodyPr>
          <a:lstStyle>
            <a:lvl1pPr defTabSz="912813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12813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12813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12813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transmission</a:t>
            </a:r>
          </a:p>
        </p:txBody>
      </p:sp>
      <p:sp>
        <p:nvSpPr>
          <p:cNvPr id="71690" name="Text Box 10">
            <a:extLst>
              <a:ext uri="{FF2B5EF4-FFF2-40B4-BE49-F238E27FC236}">
                <a16:creationId xmlns:a16="http://schemas.microsoft.com/office/drawing/2014/main" id="{0CFBF215-380C-563E-9D35-842AEA5DB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4413" y="4646613"/>
            <a:ext cx="901700" cy="303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ADAF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76" tIns="45637" rIns="91276" bIns="45637">
            <a:spAutoFit/>
          </a:bodyPr>
          <a:lstStyle>
            <a:lvl1pPr defTabSz="912813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12813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12813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12813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detection</a:t>
            </a:r>
          </a:p>
        </p:txBody>
      </p:sp>
      <p:sp>
        <p:nvSpPr>
          <p:cNvPr id="71691" name="Text Box 11">
            <a:extLst>
              <a:ext uri="{FF2B5EF4-FFF2-40B4-BE49-F238E27FC236}">
                <a16:creationId xmlns:a16="http://schemas.microsoft.com/office/drawing/2014/main" id="{20E0A767-057B-9C5A-050A-3E1D5A55E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2013" y="5102225"/>
            <a:ext cx="1117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ADAF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76" tIns="45637" rIns="91276" bIns="45637">
            <a:spAutoFit/>
          </a:bodyPr>
          <a:lstStyle>
            <a:lvl1pPr defTabSz="912813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12813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12813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12813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2813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interference</a:t>
            </a:r>
          </a:p>
        </p:txBody>
      </p:sp>
      <p:sp>
        <p:nvSpPr>
          <p:cNvPr id="71692" name="Rectangle 12">
            <a:extLst>
              <a:ext uri="{FF2B5EF4-FFF2-40B4-BE49-F238E27FC236}">
                <a16:creationId xmlns:a16="http://schemas.microsoft.com/office/drawing/2014/main" id="{B917D232-AC0B-726F-57BC-B985EC434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147763"/>
            <a:ext cx="8521700" cy="517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276" tIns="45637" rIns="91276" bIns="45637"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Transmission range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communication possible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low error rate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Detection range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detection of the signal </a:t>
            </a:r>
            <a:b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</a:b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possible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no communication </a:t>
            </a:r>
            <a:b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</a:b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possible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Interference range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signal may not be </a:t>
            </a:r>
            <a:b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</a:b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detected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signal adds to the </a:t>
            </a:r>
            <a:b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</a:b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background noise</a:t>
            </a:r>
          </a:p>
        </p:txBody>
      </p:sp>
      <p:sp>
        <p:nvSpPr>
          <p:cNvPr id="71693" name="Rectangle 13">
            <a:extLst>
              <a:ext uri="{FF2B5EF4-FFF2-40B4-BE49-F238E27FC236}">
                <a16:creationId xmlns:a16="http://schemas.microsoft.com/office/drawing/2014/main" id="{A5EF7195-8284-3F93-CCEB-AE69C4D5F5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924800" cy="661988"/>
          </a:xfrm>
        </p:spPr>
        <p:txBody>
          <a:bodyPr/>
          <a:lstStyle/>
          <a:p>
            <a:pPr eaLnBrk="1" hangingPunct="1"/>
            <a:r>
              <a:rPr lang="en-US" altLang="en-US"/>
              <a:t>Signal </a:t>
            </a:r>
            <a:r>
              <a:rPr lang="en-US" altLang="zh-CN">
                <a:ea typeface="SimSun" panose="02010600030101010101" pitchFamily="2" charset="-122"/>
              </a:rPr>
              <a:t>P</a:t>
            </a:r>
            <a:r>
              <a:rPr lang="en-US" altLang="en-US"/>
              <a:t>ropagation </a:t>
            </a:r>
            <a:r>
              <a:rPr lang="en-US" altLang="zh-CN">
                <a:ea typeface="SimSun" panose="02010600030101010101" pitchFamily="2" charset="-122"/>
              </a:rPr>
              <a:t>R</a:t>
            </a:r>
            <a:r>
              <a:rPr lang="en-US" altLang="en-US"/>
              <a:t>anges</a:t>
            </a:r>
          </a:p>
        </p:txBody>
      </p:sp>
      <p:sp>
        <p:nvSpPr>
          <p:cNvPr id="71694" name="Slide Number Placeholder 1">
            <a:extLst>
              <a:ext uri="{FF2B5EF4-FFF2-40B4-BE49-F238E27FC236}">
                <a16:creationId xmlns:a16="http://schemas.microsoft.com/office/drawing/2014/main" id="{0809EDB3-C401-FEF0-93D2-59CBE621B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5C5887-392C-499B-828D-4665E5A240C8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590551A9-28A9-6809-140C-F2922BA85710}"/>
              </a:ext>
            </a:extLst>
          </p:cNvPr>
          <p:cNvSpPr txBox="1">
            <a:spLocks/>
          </p:cNvSpPr>
          <p:nvPr/>
        </p:nvSpPr>
        <p:spPr>
          <a:xfrm>
            <a:off x="470010" y="228600"/>
            <a:ext cx="8581803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C60CA506-07CC-6BF0-4483-723CE53B77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Signal, Noise, and Interference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40FF626D-1A7B-10C3-9F15-0F918D3A57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6088" y="1414463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US"/>
              <a:t>Signal (S)</a:t>
            </a:r>
          </a:p>
          <a:p>
            <a:pPr eaLnBrk="1" hangingPunct="1"/>
            <a:r>
              <a:rPr lang="en-US" altLang="en-US"/>
              <a:t>Noise (N)</a:t>
            </a:r>
          </a:p>
          <a:p>
            <a:pPr lvl="1" eaLnBrk="1" hangingPunct="1"/>
            <a:r>
              <a:rPr lang="en-US" altLang="en-US"/>
              <a:t>Includes thermal noise and background radiation</a:t>
            </a:r>
          </a:p>
          <a:p>
            <a:pPr eaLnBrk="1" hangingPunct="1"/>
            <a:r>
              <a:rPr lang="en-US" altLang="en-US"/>
              <a:t>Interference (I)</a:t>
            </a:r>
          </a:p>
          <a:p>
            <a:pPr lvl="1" eaLnBrk="1" hangingPunct="1"/>
            <a:r>
              <a:rPr lang="en-US" altLang="en-US"/>
              <a:t>Signals from other transmitting sources</a:t>
            </a:r>
          </a:p>
          <a:p>
            <a:pPr eaLnBrk="1" hangingPunct="1"/>
            <a:r>
              <a:rPr lang="en-US" altLang="en-US"/>
              <a:t>SINR = S/(N+I) (sometimes also denoted as SNR)</a:t>
            </a:r>
          </a:p>
          <a:p>
            <a:pPr eaLnBrk="1" hangingPunct="1"/>
            <a:r>
              <a:rPr lang="en-US" altLang="en-US"/>
              <a:t>Large SINR = easier to extract signal from noise</a:t>
            </a:r>
          </a:p>
        </p:txBody>
      </p:sp>
      <p:sp>
        <p:nvSpPr>
          <p:cNvPr id="73732" name="Slide Number Placeholder 1">
            <a:extLst>
              <a:ext uri="{FF2B5EF4-FFF2-40B4-BE49-F238E27FC236}">
                <a16:creationId xmlns:a16="http://schemas.microsoft.com/office/drawing/2014/main" id="{720A55C3-A7D2-D499-94DF-2AE0DC523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D7C0B2-121E-4506-91F7-75C2C72A4EFD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3AA2046D-9982-2757-2C28-70FEC0520670}"/>
              </a:ext>
            </a:extLst>
          </p:cNvPr>
          <p:cNvSpPr txBox="1">
            <a:spLocks/>
          </p:cNvSpPr>
          <p:nvPr/>
        </p:nvSpPr>
        <p:spPr>
          <a:xfrm>
            <a:off x="424752" y="452437"/>
            <a:ext cx="8581803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ED57F8C2-81C8-33A6-510C-5ED671CC32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772400" cy="815975"/>
          </a:xfrm>
        </p:spPr>
        <p:txBody>
          <a:bodyPr/>
          <a:lstStyle/>
          <a:p>
            <a:pPr eaLnBrk="1" hangingPunct="1"/>
            <a:r>
              <a:rPr lang="en-US" altLang="en-US"/>
              <a:t>dB and Power conversion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2196862B-889B-3E15-86F4-6A5F906D0F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8775" y="1165225"/>
            <a:ext cx="8458200" cy="4838700"/>
          </a:xfrm>
        </p:spPr>
        <p:txBody>
          <a:bodyPr/>
          <a:lstStyle/>
          <a:p>
            <a:pPr eaLnBrk="1" hangingPunct="1"/>
            <a:r>
              <a:rPr lang="en-US" altLang="en-US"/>
              <a:t>dB</a:t>
            </a:r>
          </a:p>
          <a:p>
            <a:pPr lvl="1" eaLnBrk="1" hangingPunct="1"/>
            <a:r>
              <a:rPr lang="en-US" altLang="en-US"/>
              <a:t>Denote the difference between two power levels</a:t>
            </a:r>
          </a:p>
          <a:p>
            <a:pPr lvl="1" eaLnBrk="1" hangingPunct="1"/>
            <a:r>
              <a:rPr lang="en-US" altLang="en-US"/>
              <a:t>(P2/P1)[dB] = 10 * log10 (P2/P1)</a:t>
            </a:r>
          </a:p>
          <a:p>
            <a:pPr lvl="1" eaLnBrk="1" hangingPunct="1"/>
            <a:r>
              <a:rPr lang="en-US" altLang="en-US"/>
              <a:t>P2/P1 = 10^(A/10)</a:t>
            </a:r>
          </a:p>
          <a:p>
            <a:pPr lvl="1" eaLnBrk="1" hangingPunct="1"/>
            <a:r>
              <a:rPr lang="en-US" altLang="en-US"/>
              <a:t>Example 1: P2 = 10 P1, P2/P1=10dB</a:t>
            </a:r>
          </a:p>
          <a:p>
            <a:pPr lvl="1" eaLnBrk="1" hangingPunct="1"/>
            <a:r>
              <a:rPr lang="en-US" altLang="en-US"/>
              <a:t>Example 2: P2/P1 = 33dB, P2 = 2000 P1</a:t>
            </a:r>
          </a:p>
          <a:p>
            <a:pPr eaLnBrk="1" hangingPunct="1"/>
            <a:r>
              <a:rPr lang="en-US" altLang="en-US"/>
              <a:t>dBm and dBW</a:t>
            </a:r>
          </a:p>
          <a:p>
            <a:pPr lvl="1" eaLnBrk="1" hangingPunct="1"/>
            <a:r>
              <a:rPr lang="en-US" altLang="en-US"/>
              <a:t>Denote the power level relative to 1 mW or 1 W</a:t>
            </a:r>
          </a:p>
          <a:p>
            <a:pPr lvl="1" eaLnBrk="1" hangingPunct="1"/>
            <a:r>
              <a:rPr lang="en-US" altLang="en-US"/>
              <a:t>P[dBm] = 10*log10(P/1mW)</a:t>
            </a:r>
          </a:p>
          <a:p>
            <a:pPr lvl="1" eaLnBrk="1" hangingPunct="1"/>
            <a:r>
              <a:rPr lang="en-US" altLang="en-US"/>
              <a:t>P[dBW] = 10*log10(P/1W)</a:t>
            </a:r>
          </a:p>
          <a:p>
            <a:pPr lvl="1" eaLnBrk="1" hangingPunct="1"/>
            <a:r>
              <a:rPr lang="en-US" altLang="en-US"/>
              <a:t>Example: P = 0.001mW = -30dBm, P = 100W = 20dBW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173081-4E4C-5CAE-2F88-DC5D6B6DA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4425" y="2547938"/>
            <a:ext cx="2720975" cy="706437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10dB: factor of 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3dB: factor of 2</a:t>
            </a:r>
          </a:p>
        </p:txBody>
      </p:sp>
      <p:sp>
        <p:nvSpPr>
          <p:cNvPr id="75781" name="Slide Number Placeholder 2">
            <a:extLst>
              <a:ext uri="{FF2B5EF4-FFF2-40B4-BE49-F238E27FC236}">
                <a16:creationId xmlns:a16="http://schemas.microsoft.com/office/drawing/2014/main" id="{00A97106-D8B2-3FE9-BBE1-5A812819B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A104D3A-546B-4C0F-9313-DE670B994A48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B88DEE55-1016-F5B6-B280-F188648D1A20}"/>
              </a:ext>
            </a:extLst>
          </p:cNvPr>
          <p:cNvSpPr txBox="1">
            <a:spLocks/>
          </p:cNvSpPr>
          <p:nvPr/>
        </p:nvSpPr>
        <p:spPr>
          <a:xfrm>
            <a:off x="470010" y="228600"/>
            <a:ext cx="8581803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5">
            <a:extLst>
              <a:ext uri="{FF2B5EF4-FFF2-40B4-BE49-F238E27FC236}">
                <a16:creationId xmlns:a16="http://schemas.microsoft.com/office/drawing/2014/main" id="{3CC3EE5F-E414-5BD6-4FC0-25C5A0417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8D3105D-3020-404D-804B-77E0044BF4A1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61CD962D-F99D-BC3D-840D-EF08F2087E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Wireless Link Characteristics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A5749C85-D08B-D7AC-1AD4-70B8EA21EA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7350" y="1416050"/>
            <a:ext cx="4422775" cy="4464050"/>
          </a:xfrm>
        </p:spPr>
        <p:txBody>
          <a:bodyPr/>
          <a:lstStyle/>
          <a:p>
            <a:pPr>
              <a:tabLst>
                <a:tab pos="746125" algn="l"/>
              </a:tabLst>
              <a:defRPr/>
            </a:pPr>
            <a:r>
              <a:rPr lang="en-US" altLang="en-US" sz="2400" dirty="0"/>
              <a:t>SNR: signal-to-noise ratio</a:t>
            </a:r>
          </a:p>
          <a:p>
            <a:pPr lvl="1">
              <a:tabLst>
                <a:tab pos="746125" algn="l"/>
              </a:tabLst>
              <a:defRPr/>
            </a:pPr>
            <a:r>
              <a:rPr lang="en-US" altLang="en-US" sz="2000" dirty="0"/>
              <a:t>larger SNR – easier to extract signal from noise</a:t>
            </a:r>
          </a:p>
          <a:p>
            <a:pPr marL="457200" lvl="1" indent="0">
              <a:buFont typeface="ZapfDingbats" pitchFamily="82" charset="2"/>
              <a:buNone/>
              <a:tabLst>
                <a:tab pos="746125" algn="l"/>
              </a:tabLst>
              <a:defRPr/>
            </a:pPr>
            <a:endParaRPr lang="en-US" altLang="en-US" i="1" dirty="0">
              <a:solidFill>
                <a:srgbClr val="FF3300"/>
              </a:solidFill>
            </a:endParaRPr>
          </a:p>
          <a:p>
            <a:pPr>
              <a:defRPr/>
            </a:pPr>
            <a:r>
              <a:rPr lang="en-US" altLang="en-US" sz="2400" i="1" dirty="0">
                <a:solidFill>
                  <a:srgbClr val="FF3300"/>
                </a:solidFill>
              </a:rPr>
              <a:t>SNR versus BER tradeoffs</a:t>
            </a:r>
          </a:p>
          <a:p>
            <a:pPr lvl="1">
              <a:defRPr/>
            </a:pPr>
            <a:r>
              <a:rPr lang="en-US" altLang="en-US" sz="2000" i="1" dirty="0">
                <a:solidFill>
                  <a:schemeClr val="accent2"/>
                </a:solidFill>
              </a:rPr>
              <a:t>given physical layer:</a:t>
            </a:r>
            <a:r>
              <a:rPr lang="en-US" altLang="en-US" sz="2000" dirty="0"/>
              <a:t> increase power -&gt; increase SNR-&gt;decrease BER</a:t>
            </a:r>
          </a:p>
          <a:p>
            <a:pPr lvl="1">
              <a:defRPr/>
            </a:pPr>
            <a:r>
              <a:rPr lang="en-US" altLang="en-US" sz="2000" i="1" dirty="0">
                <a:solidFill>
                  <a:schemeClr val="accent2"/>
                </a:solidFill>
              </a:rPr>
              <a:t>given SNR:</a:t>
            </a:r>
            <a:r>
              <a:rPr lang="en-US" altLang="en-US" sz="2000" dirty="0"/>
              <a:t> choose physical layer that meets BER requirement, giving highest throughput</a:t>
            </a:r>
          </a:p>
          <a:p>
            <a:pPr lvl="1">
              <a:buFont typeface="ZapfDingbats" pitchFamily="82" charset="2"/>
              <a:buNone/>
              <a:defRPr/>
            </a:pPr>
            <a:endParaRPr lang="en-US" altLang="en-US" sz="2000" dirty="0"/>
          </a:p>
        </p:txBody>
      </p:sp>
      <p:sp>
        <p:nvSpPr>
          <p:cNvPr id="77829" name="Freeform 4">
            <a:extLst>
              <a:ext uri="{FF2B5EF4-FFF2-40B4-BE49-F238E27FC236}">
                <a16:creationId xmlns:a16="http://schemas.microsoft.com/office/drawing/2014/main" id="{B9E60247-5FDC-34F8-2FB7-C6545F444DBE}"/>
              </a:ext>
            </a:extLst>
          </p:cNvPr>
          <p:cNvSpPr>
            <a:spLocks/>
          </p:cNvSpPr>
          <p:nvPr/>
        </p:nvSpPr>
        <p:spPr bwMode="auto">
          <a:xfrm>
            <a:off x="5641975" y="1954213"/>
            <a:ext cx="609600" cy="2527300"/>
          </a:xfrm>
          <a:custGeom>
            <a:avLst/>
            <a:gdLst>
              <a:gd name="T0" fmla="*/ 0 w 384"/>
              <a:gd name="T1" fmla="*/ 0 h 1592"/>
              <a:gd name="T2" fmla="*/ 2147483646 w 384"/>
              <a:gd name="T3" fmla="*/ 2147483646 h 1592"/>
              <a:gd name="T4" fmla="*/ 2147483646 w 384"/>
              <a:gd name="T5" fmla="*/ 2147483646 h 1592"/>
              <a:gd name="T6" fmla="*/ 2147483646 w 384"/>
              <a:gd name="T7" fmla="*/ 2147483646 h 159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592"/>
              <a:gd name="T14" fmla="*/ 384 w 384"/>
              <a:gd name="T15" fmla="*/ 1592 h 15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592">
                <a:moveTo>
                  <a:pt x="0" y="0"/>
                </a:moveTo>
                <a:cubicBezTo>
                  <a:pt x="66" y="110"/>
                  <a:pt x="133" y="220"/>
                  <a:pt x="184" y="384"/>
                </a:cubicBezTo>
                <a:cubicBezTo>
                  <a:pt x="235" y="548"/>
                  <a:pt x="271" y="783"/>
                  <a:pt x="304" y="984"/>
                </a:cubicBezTo>
                <a:cubicBezTo>
                  <a:pt x="337" y="1185"/>
                  <a:pt x="371" y="1492"/>
                  <a:pt x="384" y="1592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7830" name="Freeform 5">
            <a:extLst>
              <a:ext uri="{FF2B5EF4-FFF2-40B4-BE49-F238E27FC236}">
                <a16:creationId xmlns:a16="http://schemas.microsoft.com/office/drawing/2014/main" id="{FBE828F7-6461-09E5-A540-4606E1181607}"/>
              </a:ext>
            </a:extLst>
          </p:cNvPr>
          <p:cNvSpPr>
            <a:spLocks/>
          </p:cNvSpPr>
          <p:nvPr/>
        </p:nvSpPr>
        <p:spPr bwMode="auto">
          <a:xfrm>
            <a:off x="6289675" y="1624013"/>
            <a:ext cx="685800" cy="2857500"/>
          </a:xfrm>
          <a:custGeom>
            <a:avLst/>
            <a:gdLst>
              <a:gd name="T0" fmla="*/ 0 w 432"/>
              <a:gd name="T1" fmla="*/ 0 h 1800"/>
              <a:gd name="T2" fmla="*/ 2147483646 w 432"/>
              <a:gd name="T3" fmla="*/ 2147483646 h 1800"/>
              <a:gd name="T4" fmla="*/ 2147483646 w 432"/>
              <a:gd name="T5" fmla="*/ 2147483646 h 1800"/>
              <a:gd name="T6" fmla="*/ 2147483646 w 432"/>
              <a:gd name="T7" fmla="*/ 2147483646 h 1800"/>
              <a:gd name="T8" fmla="*/ 2147483646 w 432"/>
              <a:gd name="T9" fmla="*/ 2147483646 h 1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32"/>
              <a:gd name="T16" fmla="*/ 0 h 1800"/>
              <a:gd name="T17" fmla="*/ 432 w 432"/>
              <a:gd name="T18" fmla="*/ 1800 h 18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32" h="1800">
                <a:moveTo>
                  <a:pt x="0" y="0"/>
                </a:moveTo>
                <a:cubicBezTo>
                  <a:pt x="62" y="98"/>
                  <a:pt x="125" y="196"/>
                  <a:pt x="168" y="296"/>
                </a:cubicBezTo>
                <a:cubicBezTo>
                  <a:pt x="211" y="396"/>
                  <a:pt x="224" y="451"/>
                  <a:pt x="256" y="600"/>
                </a:cubicBezTo>
                <a:cubicBezTo>
                  <a:pt x="288" y="749"/>
                  <a:pt x="331" y="992"/>
                  <a:pt x="360" y="1192"/>
                </a:cubicBezTo>
                <a:cubicBezTo>
                  <a:pt x="389" y="1392"/>
                  <a:pt x="410" y="1596"/>
                  <a:pt x="432" y="180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7831" name="Freeform 6">
            <a:extLst>
              <a:ext uri="{FF2B5EF4-FFF2-40B4-BE49-F238E27FC236}">
                <a16:creationId xmlns:a16="http://schemas.microsoft.com/office/drawing/2014/main" id="{E1BF6E41-4938-BD64-2250-BC9B45A7B504}"/>
              </a:ext>
            </a:extLst>
          </p:cNvPr>
          <p:cNvSpPr>
            <a:spLocks/>
          </p:cNvSpPr>
          <p:nvPr/>
        </p:nvSpPr>
        <p:spPr bwMode="auto">
          <a:xfrm>
            <a:off x="7204075" y="1624013"/>
            <a:ext cx="647700" cy="2844800"/>
          </a:xfrm>
          <a:custGeom>
            <a:avLst/>
            <a:gdLst>
              <a:gd name="T0" fmla="*/ 0 w 408"/>
              <a:gd name="T1" fmla="*/ 0 h 1792"/>
              <a:gd name="T2" fmla="*/ 2147483646 w 408"/>
              <a:gd name="T3" fmla="*/ 2147483646 h 1792"/>
              <a:gd name="T4" fmla="*/ 2147483646 w 408"/>
              <a:gd name="T5" fmla="*/ 2147483646 h 1792"/>
              <a:gd name="T6" fmla="*/ 2147483646 w 408"/>
              <a:gd name="T7" fmla="*/ 2147483646 h 1792"/>
              <a:gd name="T8" fmla="*/ 2147483646 w 408"/>
              <a:gd name="T9" fmla="*/ 2147483646 h 1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8"/>
              <a:gd name="T16" fmla="*/ 0 h 1792"/>
              <a:gd name="T17" fmla="*/ 408 w 408"/>
              <a:gd name="T18" fmla="*/ 1792 h 1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8" h="1792">
                <a:moveTo>
                  <a:pt x="0" y="0"/>
                </a:moveTo>
                <a:cubicBezTo>
                  <a:pt x="56" y="98"/>
                  <a:pt x="113" y="197"/>
                  <a:pt x="152" y="296"/>
                </a:cubicBezTo>
                <a:cubicBezTo>
                  <a:pt x="191" y="395"/>
                  <a:pt x="200" y="443"/>
                  <a:pt x="232" y="592"/>
                </a:cubicBezTo>
                <a:cubicBezTo>
                  <a:pt x="264" y="741"/>
                  <a:pt x="315" y="992"/>
                  <a:pt x="344" y="1192"/>
                </a:cubicBezTo>
                <a:cubicBezTo>
                  <a:pt x="373" y="1392"/>
                  <a:pt x="397" y="1691"/>
                  <a:pt x="408" y="1792"/>
                </a:cubicBezTo>
              </a:path>
            </a:pathLst>
          </a:custGeom>
          <a:noFill/>
          <a:ln w="28575" cap="flat" cmpd="sng">
            <a:solidFill>
              <a:srgbClr val="0099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7832" name="Rectangle 7">
            <a:extLst>
              <a:ext uri="{FF2B5EF4-FFF2-40B4-BE49-F238E27FC236}">
                <a16:creationId xmlns:a16="http://schemas.microsoft.com/office/drawing/2014/main" id="{CD6278DA-1C6D-41E8-F39B-0FCC6B685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4038" y="1611313"/>
            <a:ext cx="2862262" cy="2879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7833" name="Line 8">
            <a:extLst>
              <a:ext uri="{FF2B5EF4-FFF2-40B4-BE49-F238E27FC236}">
                <a16:creationId xmlns:a16="http://schemas.microsoft.com/office/drawing/2014/main" id="{9817C70A-59F4-EE90-2D55-E7FEB34802C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4038" y="2106613"/>
            <a:ext cx="2847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7834" name="Line 9">
            <a:extLst>
              <a:ext uri="{FF2B5EF4-FFF2-40B4-BE49-F238E27FC236}">
                <a16:creationId xmlns:a16="http://schemas.microsoft.com/office/drawing/2014/main" id="{21133DA7-E2C0-4F49-4601-E96B78AD07E9}"/>
              </a:ext>
            </a:extLst>
          </p:cNvPr>
          <p:cNvSpPr>
            <a:spLocks noChangeShapeType="1"/>
          </p:cNvSpPr>
          <p:nvPr/>
        </p:nvSpPr>
        <p:spPr bwMode="auto">
          <a:xfrm>
            <a:off x="5643563" y="2573338"/>
            <a:ext cx="2847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7835" name="Line 10">
            <a:extLst>
              <a:ext uri="{FF2B5EF4-FFF2-40B4-BE49-F238E27FC236}">
                <a16:creationId xmlns:a16="http://schemas.microsoft.com/office/drawing/2014/main" id="{39AC7BB4-F4E4-335B-F3FE-733C5BA10A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3088" y="3052763"/>
            <a:ext cx="2847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7836" name="Line 11">
            <a:extLst>
              <a:ext uri="{FF2B5EF4-FFF2-40B4-BE49-F238E27FC236}">
                <a16:creationId xmlns:a16="http://schemas.microsoft.com/office/drawing/2014/main" id="{6340E0E2-9F01-1768-A1AC-D1BBA6100D81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2613" y="3519488"/>
            <a:ext cx="2847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7837" name="Line 12">
            <a:extLst>
              <a:ext uri="{FF2B5EF4-FFF2-40B4-BE49-F238E27FC236}">
                <a16:creationId xmlns:a16="http://schemas.microsoft.com/office/drawing/2014/main" id="{D3136344-8252-79E6-52C6-42CC56D646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72138" y="4002088"/>
            <a:ext cx="2847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7838" name="Line 13">
            <a:extLst>
              <a:ext uri="{FF2B5EF4-FFF2-40B4-BE49-F238E27FC236}">
                <a16:creationId xmlns:a16="http://schemas.microsoft.com/office/drawing/2014/main" id="{7A00B89E-C72A-3F64-FC80-99C10B1E250B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3338" y="1611313"/>
            <a:ext cx="0" cy="2879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7839" name="Line 14">
            <a:extLst>
              <a:ext uri="{FF2B5EF4-FFF2-40B4-BE49-F238E27FC236}">
                <a16:creationId xmlns:a16="http://schemas.microsoft.com/office/drawing/2014/main" id="{966823F6-2CAE-51E6-068D-0108DC230EF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9775" y="1630363"/>
            <a:ext cx="0" cy="2876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7840" name="Line 15">
            <a:extLst>
              <a:ext uri="{FF2B5EF4-FFF2-40B4-BE49-F238E27FC236}">
                <a16:creationId xmlns:a16="http://schemas.microsoft.com/office/drawing/2014/main" id="{C6DC9E0E-382C-FCF9-3E70-806EC193E9F9}"/>
              </a:ext>
            </a:extLst>
          </p:cNvPr>
          <p:cNvSpPr>
            <a:spLocks noChangeShapeType="1"/>
          </p:cNvSpPr>
          <p:nvPr/>
        </p:nvSpPr>
        <p:spPr bwMode="auto">
          <a:xfrm>
            <a:off x="7796213" y="1617663"/>
            <a:ext cx="0" cy="2879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7841" name="Text Box 16">
            <a:extLst>
              <a:ext uri="{FF2B5EF4-FFF2-40B4-BE49-F238E27FC236}">
                <a16:creationId xmlns:a16="http://schemas.microsoft.com/office/drawing/2014/main" id="{5B84F191-3427-B556-8686-83CC4D2AC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6013" y="4468813"/>
            <a:ext cx="352425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10</a:t>
            </a:r>
            <a:endParaRPr kumimoji="0" lang="en-US" altLang="en-US" sz="1200" b="0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7842" name="Text Box 17">
            <a:extLst>
              <a:ext uri="{FF2B5EF4-FFF2-40B4-BE49-F238E27FC236}">
                <a16:creationId xmlns:a16="http://schemas.microsoft.com/office/drawing/2014/main" id="{8353C09E-FC4D-3AE9-5F14-EFE5D8BA74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4038" y="4468813"/>
            <a:ext cx="3524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20</a:t>
            </a:r>
            <a:endParaRPr kumimoji="0" lang="en-US" altLang="en-US" sz="1200" b="0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7843" name="Text Box 18">
            <a:extLst>
              <a:ext uri="{FF2B5EF4-FFF2-40B4-BE49-F238E27FC236}">
                <a16:creationId xmlns:a16="http://schemas.microsoft.com/office/drawing/2014/main" id="{642B0448-A69C-7883-5BB2-3A9BD8950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4600" y="4471988"/>
            <a:ext cx="3524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30</a:t>
            </a:r>
            <a:endParaRPr kumimoji="0" lang="en-US" altLang="en-US" sz="1200" b="0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7844" name="Text Box 19">
            <a:extLst>
              <a:ext uri="{FF2B5EF4-FFF2-40B4-BE49-F238E27FC236}">
                <a16:creationId xmlns:a16="http://schemas.microsoft.com/office/drawing/2014/main" id="{67B9491D-2632-2A50-4E71-AB267256B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6913" y="4475163"/>
            <a:ext cx="3524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40</a:t>
            </a:r>
            <a:endParaRPr kumimoji="0" lang="en-US" altLang="en-US" sz="1200" b="0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7845" name="Line 20">
            <a:extLst>
              <a:ext uri="{FF2B5EF4-FFF2-40B4-BE49-F238E27FC236}">
                <a16:creationId xmlns:a16="http://schemas.microsoft.com/office/drawing/2014/main" id="{D86FDD3A-1912-E408-9658-16BB97D32973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8838" y="6138863"/>
            <a:ext cx="4318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7846" name="Line 21">
            <a:extLst>
              <a:ext uri="{FF2B5EF4-FFF2-40B4-BE49-F238E27FC236}">
                <a16:creationId xmlns:a16="http://schemas.microsoft.com/office/drawing/2014/main" id="{62DC72A8-D249-7E31-4BB7-0880B098290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8838" y="5745163"/>
            <a:ext cx="4318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7847" name="Line 22">
            <a:extLst>
              <a:ext uri="{FF2B5EF4-FFF2-40B4-BE49-F238E27FC236}">
                <a16:creationId xmlns:a16="http://schemas.microsoft.com/office/drawing/2014/main" id="{A246FABB-437B-5F49-E7F6-35EC6CE5AFD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1538" y="5326063"/>
            <a:ext cx="393700" cy="0"/>
          </a:xfrm>
          <a:prstGeom prst="line">
            <a:avLst/>
          </a:prstGeom>
          <a:noFill/>
          <a:ln w="28575">
            <a:solidFill>
              <a:srgbClr val="0099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7848" name="Text Box 23">
            <a:extLst>
              <a:ext uri="{FF2B5EF4-FFF2-40B4-BE49-F238E27FC236}">
                <a16:creationId xmlns:a16="http://schemas.microsoft.com/office/drawing/2014/main" id="{1B73C7F9-D6D4-C99B-E019-51BC451B1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00" y="5192713"/>
            <a:ext cx="16319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QAM256 (8 Mbps)</a:t>
            </a:r>
          </a:p>
        </p:txBody>
      </p:sp>
      <p:sp>
        <p:nvSpPr>
          <p:cNvPr id="77849" name="Text Box 24">
            <a:extLst>
              <a:ext uri="{FF2B5EF4-FFF2-40B4-BE49-F238E27FC236}">
                <a16:creationId xmlns:a16="http://schemas.microsoft.com/office/drawing/2014/main" id="{915EBF94-4655-9DCB-2940-E59B7BFE6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7300" y="5586413"/>
            <a:ext cx="15335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QAM16 (4 Mbps)</a:t>
            </a:r>
          </a:p>
        </p:txBody>
      </p:sp>
      <p:sp>
        <p:nvSpPr>
          <p:cNvPr id="77850" name="Text Box 25">
            <a:extLst>
              <a:ext uri="{FF2B5EF4-FFF2-40B4-BE49-F238E27FC236}">
                <a16:creationId xmlns:a16="http://schemas.microsoft.com/office/drawing/2014/main" id="{E84E7924-23B0-2D4D-B447-AD8B8F716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3175" y="5992813"/>
            <a:ext cx="14081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BPSK (1 Mbps)</a:t>
            </a:r>
          </a:p>
        </p:txBody>
      </p:sp>
      <p:sp>
        <p:nvSpPr>
          <p:cNvPr id="77851" name="Text Box 26">
            <a:extLst>
              <a:ext uri="{FF2B5EF4-FFF2-40B4-BE49-F238E27FC236}">
                <a16:creationId xmlns:a16="http://schemas.microsoft.com/office/drawing/2014/main" id="{9AC2B1AD-29AB-6722-330F-DEB096699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4668838"/>
            <a:ext cx="8953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SNR(dB)</a:t>
            </a:r>
          </a:p>
        </p:txBody>
      </p:sp>
      <p:sp>
        <p:nvSpPr>
          <p:cNvPr id="77852" name="Text Box 27">
            <a:extLst>
              <a:ext uri="{FF2B5EF4-FFF2-40B4-BE49-F238E27FC236}">
                <a16:creationId xmlns:a16="http://schemas.microsoft.com/office/drawing/2014/main" id="{3DF43A66-442D-1932-CCFF-E05385204E6F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4762500" y="2943226"/>
            <a:ext cx="549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BER</a:t>
            </a:r>
          </a:p>
        </p:txBody>
      </p:sp>
      <p:sp>
        <p:nvSpPr>
          <p:cNvPr id="77853" name="Text Box 28">
            <a:extLst>
              <a:ext uri="{FF2B5EF4-FFF2-40B4-BE49-F238E27FC236}">
                <a16:creationId xmlns:a16="http://schemas.microsoft.com/office/drawing/2014/main" id="{6E62820D-76F7-AB86-5137-34FFF3AC2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9688" y="1474788"/>
            <a:ext cx="4429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10</a:t>
            </a:r>
            <a:r>
              <a:rPr kumimoji="0" lang="en-US" altLang="en-US" sz="12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-1</a:t>
            </a:r>
          </a:p>
        </p:txBody>
      </p:sp>
      <p:sp>
        <p:nvSpPr>
          <p:cNvPr id="77854" name="Text Box 29">
            <a:extLst>
              <a:ext uri="{FF2B5EF4-FFF2-40B4-BE49-F238E27FC236}">
                <a16:creationId xmlns:a16="http://schemas.microsoft.com/office/drawing/2014/main" id="{E38E3E8E-1A6B-A5DC-7BE5-F26DFA9F5A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8738" y="1957388"/>
            <a:ext cx="442912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10</a:t>
            </a:r>
            <a:r>
              <a:rPr kumimoji="0" lang="en-US" altLang="en-US" sz="12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-2</a:t>
            </a:r>
          </a:p>
        </p:txBody>
      </p:sp>
      <p:sp>
        <p:nvSpPr>
          <p:cNvPr id="77855" name="Text Box 30">
            <a:extLst>
              <a:ext uri="{FF2B5EF4-FFF2-40B4-BE49-F238E27FC236}">
                <a16:creationId xmlns:a16="http://schemas.microsoft.com/office/drawing/2014/main" id="{81406615-B8AA-8300-3A66-6A18A8978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9213" y="2424113"/>
            <a:ext cx="442912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10</a:t>
            </a:r>
            <a:r>
              <a:rPr kumimoji="0" lang="en-US" altLang="en-US" sz="12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-3</a:t>
            </a:r>
          </a:p>
        </p:txBody>
      </p:sp>
      <p:sp>
        <p:nvSpPr>
          <p:cNvPr id="77856" name="Text Box 31">
            <a:extLst>
              <a:ext uri="{FF2B5EF4-FFF2-40B4-BE49-F238E27FC236}">
                <a16:creationId xmlns:a16="http://schemas.microsoft.com/office/drawing/2014/main" id="{C3AA111D-1BF3-1C77-2209-1557F8E5E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8738" y="3357563"/>
            <a:ext cx="442912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10</a:t>
            </a:r>
            <a:r>
              <a:rPr kumimoji="0" lang="en-US" altLang="en-US" sz="12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-5</a:t>
            </a:r>
          </a:p>
        </p:txBody>
      </p:sp>
      <p:sp>
        <p:nvSpPr>
          <p:cNvPr id="77857" name="Text Box 32">
            <a:extLst>
              <a:ext uri="{FF2B5EF4-FFF2-40B4-BE49-F238E27FC236}">
                <a16:creationId xmlns:a16="http://schemas.microsoft.com/office/drawing/2014/main" id="{1355D5AA-1BE9-5482-F811-A55EE58F5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0" y="3836988"/>
            <a:ext cx="4429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10</a:t>
            </a:r>
            <a:r>
              <a:rPr kumimoji="0" lang="en-US" altLang="en-US" sz="12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-6</a:t>
            </a:r>
          </a:p>
        </p:txBody>
      </p:sp>
      <p:sp>
        <p:nvSpPr>
          <p:cNvPr id="77858" name="Text Box 33">
            <a:extLst>
              <a:ext uri="{FF2B5EF4-FFF2-40B4-BE49-F238E27FC236}">
                <a16:creationId xmlns:a16="http://schemas.microsoft.com/office/drawing/2014/main" id="{0712C646-B376-95D3-924B-CA703E4F5B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3975" y="4332288"/>
            <a:ext cx="4429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10</a:t>
            </a:r>
            <a:r>
              <a:rPr kumimoji="0" lang="en-US" altLang="en-US" sz="12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-7</a:t>
            </a:r>
          </a:p>
        </p:txBody>
      </p:sp>
      <p:sp>
        <p:nvSpPr>
          <p:cNvPr id="77859" name="Text Box 34">
            <a:extLst>
              <a:ext uri="{FF2B5EF4-FFF2-40B4-BE49-F238E27FC236}">
                <a16:creationId xmlns:a16="http://schemas.microsoft.com/office/drawing/2014/main" id="{CA1FA215-A97D-6312-4A89-227E437F2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1275" y="2913063"/>
            <a:ext cx="44291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10</a:t>
            </a:r>
            <a:r>
              <a:rPr kumimoji="0" lang="en-US" altLang="en-US" sz="12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-4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DA0FCE57-3640-253D-1624-B15A757DB954}"/>
              </a:ext>
            </a:extLst>
          </p:cNvPr>
          <p:cNvSpPr txBox="1">
            <a:spLocks/>
          </p:cNvSpPr>
          <p:nvPr/>
        </p:nvSpPr>
        <p:spPr>
          <a:xfrm>
            <a:off x="257397" y="365126"/>
            <a:ext cx="8581803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6">
            <a:extLst>
              <a:ext uri="{FF2B5EF4-FFF2-40B4-BE49-F238E27FC236}">
                <a16:creationId xmlns:a16="http://schemas.microsoft.com/office/drawing/2014/main" id="{7D5E4538-58A3-9040-A67A-ECFA377A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F088996-CA1D-4774-9E83-2AFBF37E2FEE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9875" name="Rectangle 73">
            <a:extLst>
              <a:ext uri="{FF2B5EF4-FFF2-40B4-BE49-F238E27FC236}">
                <a16:creationId xmlns:a16="http://schemas.microsoft.com/office/drawing/2014/main" id="{649585F4-985E-9CE1-E349-C5DA0EF8E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38" y="274638"/>
            <a:ext cx="7772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sng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Rate Adaptation</a:t>
            </a:r>
          </a:p>
        </p:txBody>
      </p:sp>
      <p:sp>
        <p:nvSpPr>
          <p:cNvPr id="79876" name="Rectangle 90">
            <a:extLst>
              <a:ext uri="{FF2B5EF4-FFF2-40B4-BE49-F238E27FC236}">
                <a16:creationId xmlns:a16="http://schemas.microsoft.com/office/drawing/2014/main" id="{6A459DE4-852D-248A-1A13-EE557E7D145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22288" y="1631950"/>
            <a:ext cx="4214812" cy="4648200"/>
          </a:xfrm>
        </p:spPr>
        <p:txBody>
          <a:bodyPr/>
          <a:lstStyle/>
          <a:p>
            <a:pPr>
              <a:tabLst>
                <a:tab pos="746125" algn="l"/>
              </a:tabLst>
            </a:pPr>
            <a:r>
              <a:rPr lang="en-US" altLang="en-US" sz="2400"/>
              <a:t>base station, mobile dynamically change transmission rate (physical layer modulation technique) as mobile moves, SNR varies </a:t>
            </a:r>
          </a:p>
        </p:txBody>
      </p:sp>
      <p:sp>
        <p:nvSpPr>
          <p:cNvPr id="79877" name="Line 140">
            <a:extLst>
              <a:ext uri="{FF2B5EF4-FFF2-40B4-BE49-F238E27FC236}">
                <a16:creationId xmlns:a16="http://schemas.microsoft.com/office/drawing/2014/main" id="{5511025E-6481-B442-0F41-09CD711AB43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7788" y="4818063"/>
            <a:ext cx="296862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9878" name="Line 141">
            <a:extLst>
              <a:ext uri="{FF2B5EF4-FFF2-40B4-BE49-F238E27FC236}">
                <a16:creationId xmlns:a16="http://schemas.microsoft.com/office/drawing/2014/main" id="{9484DB1F-117D-F67B-D2B6-22ECFD3EE8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7788" y="4645025"/>
            <a:ext cx="296862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9879" name="Line 142">
            <a:extLst>
              <a:ext uri="{FF2B5EF4-FFF2-40B4-BE49-F238E27FC236}">
                <a16:creationId xmlns:a16="http://schemas.microsoft.com/office/drawing/2014/main" id="{86537453-7405-AAE2-C557-4471CCBD54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7313" y="4475163"/>
            <a:ext cx="269875" cy="0"/>
          </a:xfrm>
          <a:prstGeom prst="line">
            <a:avLst/>
          </a:prstGeom>
          <a:noFill/>
          <a:ln w="28575">
            <a:solidFill>
              <a:srgbClr val="0099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9880" name="Text Box 143">
            <a:extLst>
              <a:ext uri="{FF2B5EF4-FFF2-40B4-BE49-F238E27FC236}">
                <a16:creationId xmlns:a16="http://schemas.microsoft.com/office/drawing/2014/main" id="{0F12FAEA-D9B8-B6A7-2B8E-60B16D6B3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0363" y="4349750"/>
            <a:ext cx="12176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QAM256 (8 Mbps)</a:t>
            </a:r>
          </a:p>
        </p:txBody>
      </p:sp>
      <p:sp>
        <p:nvSpPr>
          <p:cNvPr id="79881" name="Text Box 144">
            <a:extLst>
              <a:ext uri="{FF2B5EF4-FFF2-40B4-BE49-F238E27FC236}">
                <a16:creationId xmlns:a16="http://schemas.microsoft.com/office/drawing/2014/main" id="{62A44821-71CC-B067-5959-35150FB04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2425" y="4503738"/>
            <a:ext cx="11477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QAM16 (4 Mbps)</a:t>
            </a:r>
          </a:p>
        </p:txBody>
      </p:sp>
      <p:sp>
        <p:nvSpPr>
          <p:cNvPr id="79882" name="Text Box 145">
            <a:extLst>
              <a:ext uri="{FF2B5EF4-FFF2-40B4-BE49-F238E27FC236}">
                <a16:creationId xmlns:a16="http://schemas.microsoft.com/office/drawing/2014/main" id="{12DF8688-2BEF-E31B-187F-BCB9718C8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1950" y="4684713"/>
            <a:ext cx="105568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BPSK (1 Mbps)</a:t>
            </a:r>
          </a:p>
        </p:txBody>
      </p:sp>
      <p:sp>
        <p:nvSpPr>
          <p:cNvPr id="79883" name="Freeform 124">
            <a:extLst>
              <a:ext uri="{FF2B5EF4-FFF2-40B4-BE49-F238E27FC236}">
                <a16:creationId xmlns:a16="http://schemas.microsoft.com/office/drawing/2014/main" id="{2E40E509-ECFD-991A-7A9F-EE9C11C3FC3D}"/>
              </a:ext>
            </a:extLst>
          </p:cNvPr>
          <p:cNvSpPr>
            <a:spLocks/>
          </p:cNvSpPr>
          <p:nvPr/>
        </p:nvSpPr>
        <p:spPr bwMode="auto">
          <a:xfrm>
            <a:off x="6242050" y="1936750"/>
            <a:ext cx="631825" cy="1687513"/>
          </a:xfrm>
          <a:custGeom>
            <a:avLst/>
            <a:gdLst>
              <a:gd name="T0" fmla="*/ 0 w 384"/>
              <a:gd name="T1" fmla="*/ 0 h 1592"/>
              <a:gd name="T2" fmla="*/ 2147483646 w 384"/>
              <a:gd name="T3" fmla="*/ 2147483646 h 1592"/>
              <a:gd name="T4" fmla="*/ 2147483646 w 384"/>
              <a:gd name="T5" fmla="*/ 2147483646 h 1592"/>
              <a:gd name="T6" fmla="*/ 2147483646 w 384"/>
              <a:gd name="T7" fmla="*/ 2147483646 h 159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592"/>
              <a:gd name="T14" fmla="*/ 384 w 384"/>
              <a:gd name="T15" fmla="*/ 1592 h 15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592">
                <a:moveTo>
                  <a:pt x="0" y="0"/>
                </a:moveTo>
                <a:cubicBezTo>
                  <a:pt x="66" y="110"/>
                  <a:pt x="133" y="220"/>
                  <a:pt x="184" y="384"/>
                </a:cubicBezTo>
                <a:cubicBezTo>
                  <a:pt x="235" y="548"/>
                  <a:pt x="271" y="783"/>
                  <a:pt x="304" y="984"/>
                </a:cubicBezTo>
                <a:cubicBezTo>
                  <a:pt x="337" y="1185"/>
                  <a:pt x="371" y="1492"/>
                  <a:pt x="384" y="1592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9884" name="Freeform 125">
            <a:extLst>
              <a:ext uri="{FF2B5EF4-FFF2-40B4-BE49-F238E27FC236}">
                <a16:creationId xmlns:a16="http://schemas.microsoft.com/office/drawing/2014/main" id="{126C0DB0-7C6A-A212-6147-C0139FD29E48}"/>
              </a:ext>
            </a:extLst>
          </p:cNvPr>
          <p:cNvSpPr>
            <a:spLocks/>
          </p:cNvSpPr>
          <p:nvPr/>
        </p:nvSpPr>
        <p:spPr bwMode="auto">
          <a:xfrm>
            <a:off x="6650038" y="1782763"/>
            <a:ext cx="604837" cy="1879600"/>
          </a:xfrm>
          <a:custGeom>
            <a:avLst/>
            <a:gdLst>
              <a:gd name="T0" fmla="*/ 0 w 432"/>
              <a:gd name="T1" fmla="*/ 0 h 1800"/>
              <a:gd name="T2" fmla="*/ 2147483646 w 432"/>
              <a:gd name="T3" fmla="*/ 2147483646 h 1800"/>
              <a:gd name="T4" fmla="*/ 2147483646 w 432"/>
              <a:gd name="T5" fmla="*/ 2147483646 h 1800"/>
              <a:gd name="T6" fmla="*/ 2147483646 w 432"/>
              <a:gd name="T7" fmla="*/ 2147483646 h 1800"/>
              <a:gd name="T8" fmla="*/ 2147483646 w 432"/>
              <a:gd name="T9" fmla="*/ 2147483646 h 1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32"/>
              <a:gd name="T16" fmla="*/ 0 h 1800"/>
              <a:gd name="T17" fmla="*/ 432 w 432"/>
              <a:gd name="T18" fmla="*/ 1800 h 18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32" h="1800">
                <a:moveTo>
                  <a:pt x="0" y="0"/>
                </a:moveTo>
                <a:cubicBezTo>
                  <a:pt x="62" y="98"/>
                  <a:pt x="125" y="196"/>
                  <a:pt x="168" y="296"/>
                </a:cubicBezTo>
                <a:cubicBezTo>
                  <a:pt x="211" y="396"/>
                  <a:pt x="224" y="451"/>
                  <a:pt x="256" y="600"/>
                </a:cubicBezTo>
                <a:cubicBezTo>
                  <a:pt x="288" y="749"/>
                  <a:pt x="331" y="992"/>
                  <a:pt x="360" y="1192"/>
                </a:cubicBezTo>
                <a:cubicBezTo>
                  <a:pt x="389" y="1392"/>
                  <a:pt x="410" y="1596"/>
                  <a:pt x="432" y="180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9885" name="Freeform 126">
            <a:extLst>
              <a:ext uri="{FF2B5EF4-FFF2-40B4-BE49-F238E27FC236}">
                <a16:creationId xmlns:a16="http://schemas.microsoft.com/office/drawing/2014/main" id="{D1A1DC5E-C527-34BD-6BF5-6A8CC616AB24}"/>
              </a:ext>
            </a:extLst>
          </p:cNvPr>
          <p:cNvSpPr>
            <a:spLocks/>
          </p:cNvSpPr>
          <p:nvPr/>
        </p:nvSpPr>
        <p:spPr bwMode="auto">
          <a:xfrm>
            <a:off x="7088188" y="1782763"/>
            <a:ext cx="571500" cy="1889125"/>
          </a:xfrm>
          <a:custGeom>
            <a:avLst/>
            <a:gdLst>
              <a:gd name="T0" fmla="*/ 0 w 408"/>
              <a:gd name="T1" fmla="*/ 0 h 1792"/>
              <a:gd name="T2" fmla="*/ 2147483646 w 408"/>
              <a:gd name="T3" fmla="*/ 2147483646 h 1792"/>
              <a:gd name="T4" fmla="*/ 2147483646 w 408"/>
              <a:gd name="T5" fmla="*/ 2147483646 h 1792"/>
              <a:gd name="T6" fmla="*/ 2147483646 w 408"/>
              <a:gd name="T7" fmla="*/ 2147483646 h 1792"/>
              <a:gd name="T8" fmla="*/ 2147483646 w 408"/>
              <a:gd name="T9" fmla="*/ 2147483646 h 1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8"/>
              <a:gd name="T16" fmla="*/ 0 h 1792"/>
              <a:gd name="T17" fmla="*/ 408 w 408"/>
              <a:gd name="T18" fmla="*/ 1792 h 1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8" h="1792">
                <a:moveTo>
                  <a:pt x="0" y="0"/>
                </a:moveTo>
                <a:cubicBezTo>
                  <a:pt x="56" y="98"/>
                  <a:pt x="113" y="197"/>
                  <a:pt x="152" y="296"/>
                </a:cubicBezTo>
                <a:cubicBezTo>
                  <a:pt x="191" y="395"/>
                  <a:pt x="200" y="443"/>
                  <a:pt x="232" y="592"/>
                </a:cubicBezTo>
                <a:cubicBezTo>
                  <a:pt x="264" y="741"/>
                  <a:pt x="315" y="992"/>
                  <a:pt x="344" y="1192"/>
                </a:cubicBezTo>
                <a:cubicBezTo>
                  <a:pt x="373" y="1392"/>
                  <a:pt x="397" y="1691"/>
                  <a:pt x="408" y="1792"/>
                </a:cubicBezTo>
              </a:path>
            </a:pathLst>
          </a:custGeom>
          <a:noFill/>
          <a:ln w="28575" cap="flat" cmpd="sng">
            <a:solidFill>
              <a:srgbClr val="0099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9886" name="Rectangle 127">
            <a:extLst>
              <a:ext uri="{FF2B5EF4-FFF2-40B4-BE49-F238E27FC236}">
                <a16:creationId xmlns:a16="http://schemas.microsoft.com/office/drawing/2014/main" id="{F90367B0-6159-4A14-81B4-A81045A56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1774825"/>
            <a:ext cx="1847850" cy="1911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9887" name="Line 128">
            <a:extLst>
              <a:ext uri="{FF2B5EF4-FFF2-40B4-BE49-F238E27FC236}">
                <a16:creationId xmlns:a16="http://schemas.microsoft.com/office/drawing/2014/main" id="{21FA6432-6999-02D5-3D43-6939BA04821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7763" y="2103438"/>
            <a:ext cx="1838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9888" name="Line 129">
            <a:extLst>
              <a:ext uri="{FF2B5EF4-FFF2-40B4-BE49-F238E27FC236}">
                <a16:creationId xmlns:a16="http://schemas.microsoft.com/office/drawing/2014/main" id="{737C9D04-2815-2373-8D96-81E88646B14E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4113" y="2413000"/>
            <a:ext cx="1838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9889" name="Line 130">
            <a:extLst>
              <a:ext uri="{FF2B5EF4-FFF2-40B4-BE49-F238E27FC236}">
                <a16:creationId xmlns:a16="http://schemas.microsoft.com/office/drawing/2014/main" id="{182B1E40-0AEB-867E-FAB6-78571160DB3B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8875" y="2732088"/>
            <a:ext cx="18399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9890" name="Line 131">
            <a:extLst>
              <a:ext uri="{FF2B5EF4-FFF2-40B4-BE49-F238E27FC236}">
                <a16:creationId xmlns:a16="http://schemas.microsoft.com/office/drawing/2014/main" id="{688B985F-40C6-6F2E-9253-5F40A3B66DF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5225" y="3041650"/>
            <a:ext cx="18399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9891" name="Line 132">
            <a:extLst>
              <a:ext uri="{FF2B5EF4-FFF2-40B4-BE49-F238E27FC236}">
                <a16:creationId xmlns:a16="http://schemas.microsoft.com/office/drawing/2014/main" id="{7FFFD3FF-1521-CAED-80ED-C8BE96CB20E3}"/>
              </a:ext>
            </a:extLst>
          </p:cNvPr>
          <p:cNvSpPr>
            <a:spLocks noChangeShapeType="1"/>
          </p:cNvSpPr>
          <p:nvPr/>
        </p:nvSpPr>
        <p:spPr bwMode="auto">
          <a:xfrm>
            <a:off x="6251575" y="3362325"/>
            <a:ext cx="18399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9892" name="Line 133">
            <a:extLst>
              <a:ext uri="{FF2B5EF4-FFF2-40B4-BE49-F238E27FC236}">
                <a16:creationId xmlns:a16="http://schemas.microsoft.com/office/drawing/2014/main" id="{6B419B25-D606-5696-7AAC-5FBFB7C9CF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0363" y="1774825"/>
            <a:ext cx="0" cy="1911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9893" name="Line 134">
            <a:extLst>
              <a:ext uri="{FF2B5EF4-FFF2-40B4-BE49-F238E27FC236}">
                <a16:creationId xmlns:a16="http://schemas.microsoft.com/office/drawing/2014/main" id="{A0131A09-D859-7567-1B01-992D53C91A6E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7563" y="1785938"/>
            <a:ext cx="0" cy="1911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9894" name="Line 135">
            <a:extLst>
              <a:ext uri="{FF2B5EF4-FFF2-40B4-BE49-F238E27FC236}">
                <a16:creationId xmlns:a16="http://schemas.microsoft.com/office/drawing/2014/main" id="{C84BACD2-7E61-260C-096B-E0259EB978A2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3175" y="1779588"/>
            <a:ext cx="0" cy="1911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9895" name="Text Box 136">
            <a:extLst>
              <a:ext uri="{FF2B5EF4-FFF2-40B4-BE49-F238E27FC236}">
                <a16:creationId xmlns:a16="http://schemas.microsoft.com/office/drawing/2014/main" id="{B1F8E632-0E63-9691-ECAB-0D5AB3E53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36718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10</a:t>
            </a:r>
            <a:endParaRPr kumimoji="0" lang="en-US" altLang="en-US" sz="1200" b="0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9896" name="Text Box 137">
            <a:extLst>
              <a:ext uri="{FF2B5EF4-FFF2-40B4-BE49-F238E27FC236}">
                <a16:creationId xmlns:a16="http://schemas.microsoft.com/office/drawing/2014/main" id="{4E9B391D-91BC-683C-EA34-41B983D95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6913" y="36718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20</a:t>
            </a:r>
            <a:endParaRPr kumimoji="0" lang="en-US" altLang="en-US" sz="1200" b="0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9897" name="Text Box 138">
            <a:extLst>
              <a:ext uri="{FF2B5EF4-FFF2-40B4-BE49-F238E27FC236}">
                <a16:creationId xmlns:a16="http://schemas.microsoft.com/office/drawing/2014/main" id="{1C1ECEC9-D20A-9127-1E8F-4B548AEA2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0" y="3673475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30</a:t>
            </a:r>
            <a:endParaRPr kumimoji="0" lang="en-US" altLang="en-US" sz="1200" b="0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9898" name="Text Box 139">
            <a:extLst>
              <a:ext uri="{FF2B5EF4-FFF2-40B4-BE49-F238E27FC236}">
                <a16:creationId xmlns:a16="http://schemas.microsoft.com/office/drawing/2014/main" id="{F6866FE1-54FC-2D2F-FC45-2119C61BB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9725" y="367665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40</a:t>
            </a:r>
            <a:endParaRPr kumimoji="0" lang="en-US" altLang="en-US" sz="1200" b="0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9899" name="Text Box 146">
            <a:extLst>
              <a:ext uri="{FF2B5EF4-FFF2-40B4-BE49-F238E27FC236}">
                <a16:creationId xmlns:a16="http://schemas.microsoft.com/office/drawing/2014/main" id="{F6D4A966-49B7-AFC2-2564-20145A509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4825" y="3805238"/>
            <a:ext cx="8953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SNR(dB)</a:t>
            </a:r>
          </a:p>
        </p:txBody>
      </p:sp>
      <p:sp>
        <p:nvSpPr>
          <p:cNvPr id="79900" name="Text Box 147">
            <a:extLst>
              <a:ext uri="{FF2B5EF4-FFF2-40B4-BE49-F238E27FC236}">
                <a16:creationId xmlns:a16="http://schemas.microsoft.com/office/drawing/2014/main" id="{5E3FB4CE-5C4E-488E-3A8F-3A9B19428EB2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5525294" y="2512219"/>
            <a:ext cx="5508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BER</a:t>
            </a:r>
          </a:p>
        </p:txBody>
      </p:sp>
      <p:sp>
        <p:nvSpPr>
          <p:cNvPr id="79901" name="Text Box 148">
            <a:extLst>
              <a:ext uri="{FF2B5EF4-FFF2-40B4-BE49-F238E27FC236}">
                <a16:creationId xmlns:a16="http://schemas.microsoft.com/office/drawing/2014/main" id="{C71B8201-5051-1B43-6D4F-877BE0436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75" y="1617663"/>
            <a:ext cx="4429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10</a:t>
            </a:r>
            <a:r>
              <a:rPr kumimoji="0" lang="en-US" altLang="en-US" sz="12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-1</a:t>
            </a:r>
          </a:p>
        </p:txBody>
      </p:sp>
      <p:sp>
        <p:nvSpPr>
          <p:cNvPr id="79902" name="Text Box 149">
            <a:extLst>
              <a:ext uri="{FF2B5EF4-FFF2-40B4-BE49-F238E27FC236}">
                <a16:creationId xmlns:a16="http://schemas.microsoft.com/office/drawing/2014/main" id="{A5431CC8-C846-6EFC-F810-D38226981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0575" y="1936750"/>
            <a:ext cx="4429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10</a:t>
            </a:r>
            <a:r>
              <a:rPr kumimoji="0" lang="en-US" altLang="en-US" sz="12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-2</a:t>
            </a:r>
          </a:p>
        </p:txBody>
      </p:sp>
      <p:sp>
        <p:nvSpPr>
          <p:cNvPr id="79903" name="Text Box 150">
            <a:extLst>
              <a:ext uri="{FF2B5EF4-FFF2-40B4-BE49-F238E27FC236}">
                <a16:creationId xmlns:a16="http://schemas.microsoft.com/office/drawing/2014/main" id="{4C787C86-4348-398A-A96B-E570B3DF1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2638" y="2247900"/>
            <a:ext cx="44291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10</a:t>
            </a:r>
            <a:r>
              <a:rPr kumimoji="0" lang="en-US" altLang="en-US" sz="12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-3</a:t>
            </a:r>
          </a:p>
        </p:txBody>
      </p:sp>
      <p:sp>
        <p:nvSpPr>
          <p:cNvPr id="79904" name="Text Box 151">
            <a:extLst>
              <a:ext uri="{FF2B5EF4-FFF2-40B4-BE49-F238E27FC236}">
                <a16:creationId xmlns:a16="http://schemas.microsoft.com/office/drawing/2014/main" id="{8F7C58A0-63C2-1D39-C510-A6524E5DA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0575" y="2868613"/>
            <a:ext cx="4429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10</a:t>
            </a:r>
            <a:r>
              <a:rPr kumimoji="0" lang="en-US" altLang="en-US" sz="12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-5</a:t>
            </a:r>
          </a:p>
        </p:txBody>
      </p:sp>
      <p:sp>
        <p:nvSpPr>
          <p:cNvPr id="79905" name="Text Box 152">
            <a:extLst>
              <a:ext uri="{FF2B5EF4-FFF2-40B4-BE49-F238E27FC236}">
                <a16:creationId xmlns:a16="http://schemas.microsoft.com/office/drawing/2014/main" id="{5AEBAABD-3938-48D2-6C31-4B127989B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2163" y="3187700"/>
            <a:ext cx="44291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10</a:t>
            </a:r>
            <a:r>
              <a:rPr kumimoji="0" lang="en-US" altLang="en-US" sz="12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-6</a:t>
            </a:r>
          </a:p>
        </p:txBody>
      </p:sp>
      <p:sp>
        <p:nvSpPr>
          <p:cNvPr id="79906" name="Text Box 153">
            <a:extLst>
              <a:ext uri="{FF2B5EF4-FFF2-40B4-BE49-F238E27FC236}">
                <a16:creationId xmlns:a16="http://schemas.microsoft.com/office/drawing/2014/main" id="{79D03091-AB38-082C-17A0-C8528DF09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5813" y="3516313"/>
            <a:ext cx="4429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10</a:t>
            </a:r>
            <a:r>
              <a:rPr kumimoji="0" lang="en-US" altLang="en-US" sz="12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-7</a:t>
            </a:r>
          </a:p>
        </p:txBody>
      </p:sp>
      <p:sp>
        <p:nvSpPr>
          <p:cNvPr id="79907" name="Text Box 154">
            <a:extLst>
              <a:ext uri="{FF2B5EF4-FFF2-40B4-BE49-F238E27FC236}">
                <a16:creationId xmlns:a16="http://schemas.microsoft.com/office/drawing/2014/main" id="{61FFC6C9-E9A4-D025-0927-91DB61EF8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9463" y="2571750"/>
            <a:ext cx="44291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10</a:t>
            </a:r>
            <a:r>
              <a:rPr kumimoji="0" lang="en-US" altLang="en-US" sz="12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-4</a:t>
            </a:r>
          </a:p>
        </p:txBody>
      </p:sp>
      <p:sp>
        <p:nvSpPr>
          <p:cNvPr id="536734" name="Oval 158">
            <a:extLst>
              <a:ext uri="{FF2B5EF4-FFF2-40B4-BE49-F238E27FC236}">
                <a16:creationId xmlns:a16="http://schemas.microsoft.com/office/drawing/2014/main" id="{C6DA0217-E7DC-55B9-096C-90CFBD6CB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1738" y="3306763"/>
            <a:ext cx="152400" cy="1619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9909" name="Oval 159">
            <a:extLst>
              <a:ext uri="{FF2B5EF4-FFF2-40B4-BE49-F238E27FC236}">
                <a16:creationId xmlns:a16="http://schemas.microsoft.com/office/drawing/2014/main" id="{A40754E5-F6FA-41E8-6921-64BBB4F48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6050" y="4911725"/>
            <a:ext cx="152400" cy="1619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9910" name="Text Box 160">
            <a:extLst>
              <a:ext uri="{FF2B5EF4-FFF2-40B4-BE49-F238E27FC236}">
                <a16:creationId xmlns:a16="http://schemas.microsoft.com/office/drawing/2014/main" id="{4FE02195-3021-E24B-A569-3197BF9BB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1475" y="4875213"/>
            <a:ext cx="101758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operating point</a:t>
            </a:r>
          </a:p>
        </p:txBody>
      </p:sp>
      <p:sp>
        <p:nvSpPr>
          <p:cNvPr id="536737" name="Text Box 161">
            <a:extLst>
              <a:ext uri="{FF2B5EF4-FFF2-40B4-BE49-F238E27FC236}">
                <a16:creationId xmlns:a16="http://schemas.microsoft.com/office/drawing/2014/main" id="{E05477C3-E099-2F93-C145-1A42FA9B48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9813" y="4143375"/>
            <a:ext cx="3203575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1. SNR decreases, BER increase as node moves away from base station</a:t>
            </a:r>
          </a:p>
        </p:txBody>
      </p:sp>
      <p:sp>
        <p:nvSpPr>
          <p:cNvPr id="536738" name="Text Box 162">
            <a:extLst>
              <a:ext uri="{FF2B5EF4-FFF2-40B4-BE49-F238E27FC236}">
                <a16:creationId xmlns:a16="http://schemas.microsoft.com/office/drawing/2014/main" id="{605089A7-3019-7AC7-46D3-34497CCCDD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413" y="5105400"/>
            <a:ext cx="320357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2. When BER becomes too high, switch to lower transmission rate but with lower BER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6 -3.33333E-6 C -0.00138 -0.0162 -0.00277 -0.03217 -0.0052 -0.04792 C -0.00763 -0.06366 -0.01145 -0.08032 -0.01423 -0.09421 C -0.01701 -0.1081 -0.01909 -0.11829 -0.02187 -0.13171 C -0.02465 -0.14514 -0.02847 -0.16505 -0.0309 -0.17454 C -0.03333 -0.18403 -0.03368 -0.18264 -0.03593 -0.18819 C -0.03819 -0.19375 -0.04166 -0.20116 -0.04496 -0.20856 " pathEditMode="relative" rAng="0" ptsTypes="aaaaaaA">
                                      <p:cBhvr>
                                        <p:cTn id="6" dur="2000" fill="hold"/>
                                        <p:tgtEl>
                                          <p:spTgt spid="5367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496 -0.20857 C -0.04496 -0.20857 -0.04444 -0.09329 -0.04374 0.02222 " pathEditMode="relative" ptsTypes="aA">
                                      <p:cBhvr>
                                        <p:cTn id="12" dur="2000" fill="hold"/>
                                        <p:tgtEl>
                                          <p:spTgt spid="5367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375 0.02222 C -0.04583 0.00856 -0.04791 -0.00486 -0.05017 -0.02223 C -0.05243 -0.03959 -0.05468 -0.06227 -0.05781 -0.08195 C -0.06093 -0.10162 -0.06753 -0.13033 -0.06944 -0.14005 " pathEditMode="relative" ptsTypes="aaaA">
                                      <p:cBhvr>
                                        <p:cTn id="18" dur="2000" fill="hold"/>
                                        <p:tgtEl>
                                          <p:spTgt spid="5367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6734" grpId="0" animBg="1"/>
      <p:bldP spid="536734" grpId="1" animBg="1"/>
      <p:bldP spid="536734" grpId="2" animBg="1"/>
      <p:bldP spid="536737" grpId="0"/>
      <p:bldP spid="53673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70F6E-2EBD-047F-4170-1609B8F49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D9D14A3-E25D-9560-DA35-5FABB2B37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8001000" y="6324600"/>
            <a:ext cx="914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kern="0"/>
            </a:defPPr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E6DC49-94C5-441A-8361-BBAD8F3388BC}" type="slidenum">
              <a:rPr lang="en-US" altLang="en-US" smtClean="0"/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sp>
        <p:nvSpPr>
          <p:cNvPr id="1884162" name="Rectangle 2">
            <a:extLst>
              <a:ext uri="{FF2B5EF4-FFF2-40B4-BE49-F238E27FC236}">
                <a16:creationId xmlns:a16="http://schemas.microsoft.com/office/drawing/2014/main" id="{6274EACD-6F0A-D715-03E2-56E66A7932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200400"/>
            <a:ext cx="8305800" cy="861774"/>
          </a:xfrm>
        </p:spPr>
        <p:txBody>
          <a:bodyPr/>
          <a:lstStyle/>
          <a:p>
            <a:r>
              <a:rPr lang="en-US" sz="2800" dirty="0"/>
              <a:t>Understanding Wireless Communication: </a:t>
            </a:r>
            <a:r>
              <a:rPr lang="en-US" sz="2800" dirty="0">
                <a:solidFill>
                  <a:srgbClr val="FF0000"/>
                </a:solidFill>
              </a:rPr>
              <a:t>Barriers</a:t>
            </a:r>
            <a:endParaRPr lang="en-US" sz="28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0210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900" y="2895091"/>
            <a:ext cx="7357109" cy="18851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405765" algn="l"/>
              </a:tabLst>
            </a:pP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spc="-55" dirty="0">
                <a:latin typeface="Arial MT"/>
                <a:cs typeface="Arial MT"/>
              </a:rPr>
              <a:t>wired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60" dirty="0">
                <a:latin typeface="Arial MT"/>
                <a:cs typeface="Arial MT"/>
              </a:rPr>
              <a:t>networks,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45" dirty="0">
                <a:latin typeface="Arial MT"/>
                <a:cs typeface="Arial MT"/>
              </a:rPr>
              <a:t>link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b="1" spc="-25" dirty="0">
                <a:latin typeface="Arial"/>
                <a:cs typeface="Arial"/>
              </a:rPr>
              <a:t>bit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spc="-45" dirty="0">
                <a:latin typeface="Arial"/>
                <a:cs typeface="Arial"/>
              </a:rPr>
              <a:t>error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spc="-50" dirty="0">
                <a:latin typeface="Arial"/>
                <a:cs typeface="Arial"/>
              </a:rPr>
              <a:t>rate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spc="-10" dirty="0">
                <a:latin typeface="Arial MT"/>
                <a:cs typeface="Arial MT"/>
              </a:rPr>
              <a:t>is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b="1" spc="-60" dirty="0">
                <a:solidFill>
                  <a:srgbClr val="00B050"/>
                </a:solidFill>
                <a:latin typeface="Arial"/>
                <a:cs typeface="Arial"/>
              </a:rPr>
              <a:t>10</a:t>
            </a:r>
            <a:r>
              <a:rPr sz="2000" b="1" spc="-89" baseline="24305" dirty="0">
                <a:solidFill>
                  <a:srgbClr val="00B050"/>
                </a:solidFill>
                <a:latin typeface="Arial"/>
                <a:cs typeface="Arial"/>
              </a:rPr>
              <a:t>-</a:t>
            </a:r>
            <a:r>
              <a:rPr sz="2000" b="1" baseline="24305" dirty="0">
                <a:solidFill>
                  <a:srgbClr val="00B050"/>
                </a:solidFill>
                <a:latin typeface="Arial"/>
                <a:cs typeface="Arial"/>
              </a:rPr>
              <a:t>12</a:t>
            </a:r>
            <a:r>
              <a:rPr sz="2000" b="1" spc="179" baseline="2430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00B050"/>
                </a:solidFill>
                <a:latin typeface="Arial"/>
                <a:cs typeface="Arial"/>
              </a:rPr>
              <a:t>and</a:t>
            </a:r>
            <a:r>
              <a:rPr sz="2000" b="1" spc="-1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0B050"/>
                </a:solidFill>
                <a:latin typeface="Arial"/>
                <a:cs typeface="Arial"/>
              </a:rPr>
              <a:t>less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2000" dirty="0">
              <a:latin typeface="Arial"/>
              <a:cs typeface="Arial"/>
            </a:endParaRPr>
          </a:p>
          <a:p>
            <a:pPr marL="405765" indent="-342265">
              <a:lnSpc>
                <a:spcPct val="100000"/>
              </a:lnSpc>
              <a:buChar char="•"/>
              <a:tabLst>
                <a:tab pos="405765" algn="l"/>
              </a:tabLst>
            </a:pPr>
            <a:r>
              <a:rPr sz="2000" spc="-55" dirty="0">
                <a:latin typeface="Arial MT"/>
                <a:cs typeface="Arial MT"/>
              </a:rPr>
              <a:t>Wireless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55" dirty="0">
                <a:latin typeface="Arial MT"/>
                <a:cs typeface="Arial MT"/>
              </a:rPr>
              <a:t>networks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45" dirty="0">
                <a:latin typeface="Arial MT"/>
                <a:cs typeface="Arial MT"/>
              </a:rPr>
              <a:t>are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b="1" spc="-40" dirty="0">
                <a:solidFill>
                  <a:srgbClr val="FF0000"/>
                </a:solidFill>
                <a:latin typeface="Arial"/>
                <a:cs typeface="Arial"/>
              </a:rPr>
              <a:t>far</a:t>
            </a:r>
            <a:r>
              <a:rPr sz="2000" b="1" spc="-1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50" dirty="0">
                <a:solidFill>
                  <a:srgbClr val="FF0000"/>
                </a:solidFill>
                <a:latin typeface="Arial"/>
                <a:cs typeface="Arial"/>
              </a:rPr>
              <a:t>from</a:t>
            </a:r>
            <a:r>
              <a:rPr sz="2000" b="1" spc="-1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45" dirty="0">
                <a:solidFill>
                  <a:srgbClr val="FF0000"/>
                </a:solidFill>
                <a:latin typeface="Arial"/>
                <a:cs typeface="Arial"/>
              </a:rPr>
              <a:t>that</a:t>
            </a:r>
            <a:r>
              <a:rPr sz="2000" b="1" spc="-1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Arial"/>
                <a:cs typeface="Arial"/>
              </a:rPr>
              <a:t>target</a:t>
            </a:r>
            <a:endParaRPr sz="2000" dirty="0">
              <a:latin typeface="Arial"/>
              <a:cs typeface="Arial"/>
            </a:endParaRPr>
          </a:p>
          <a:p>
            <a:pPr marL="520065">
              <a:lnSpc>
                <a:spcPct val="100000"/>
              </a:lnSpc>
              <a:spcBef>
                <a:spcPts val="25"/>
              </a:spcBef>
            </a:pPr>
            <a:r>
              <a:rPr sz="2000" dirty="0">
                <a:latin typeface="Arial MT"/>
                <a:cs typeface="Arial MT"/>
              </a:rPr>
              <a:t>–</a:t>
            </a:r>
            <a:r>
              <a:rPr sz="2000" spc="235" dirty="0">
                <a:latin typeface="Arial MT"/>
                <a:cs typeface="Arial MT"/>
              </a:rPr>
              <a:t> </a:t>
            </a:r>
            <a:r>
              <a:rPr sz="2000" spc="-45" dirty="0">
                <a:latin typeface="Arial MT"/>
                <a:cs typeface="Arial MT"/>
              </a:rPr>
              <a:t>Bit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spc="-55" dirty="0">
                <a:latin typeface="Arial MT"/>
                <a:cs typeface="Arial MT"/>
              </a:rPr>
              <a:t>error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55" dirty="0">
                <a:latin typeface="Arial MT"/>
                <a:cs typeface="Arial MT"/>
              </a:rPr>
              <a:t>rates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of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b="1" spc="-60" dirty="0">
                <a:latin typeface="Arial"/>
                <a:cs typeface="Arial"/>
              </a:rPr>
              <a:t>10</a:t>
            </a:r>
            <a:r>
              <a:rPr sz="2000" b="1" spc="-89" baseline="24305" dirty="0">
                <a:latin typeface="Arial"/>
                <a:cs typeface="Arial"/>
              </a:rPr>
              <a:t>-</a:t>
            </a:r>
            <a:r>
              <a:rPr sz="2000" b="1" baseline="24305" dirty="0">
                <a:latin typeface="Arial"/>
                <a:cs typeface="Arial"/>
              </a:rPr>
              <a:t>6</a:t>
            </a:r>
            <a:r>
              <a:rPr sz="2000" b="1" spc="187" baseline="24305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and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spc="-45" dirty="0">
                <a:latin typeface="Arial"/>
                <a:cs typeface="Arial"/>
              </a:rPr>
              <a:t>above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spc="-40" dirty="0">
                <a:latin typeface="Arial MT"/>
                <a:cs typeface="Arial MT"/>
              </a:rPr>
              <a:t>are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common!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2000" dirty="0">
              <a:latin typeface="Arial MT"/>
              <a:cs typeface="Arial MT"/>
            </a:endParaRPr>
          </a:p>
          <a:p>
            <a:pPr marL="405765" indent="-342265">
              <a:lnSpc>
                <a:spcPct val="100000"/>
              </a:lnSpc>
              <a:buFont typeface="Arial MT"/>
              <a:buChar char="•"/>
              <a:tabLst>
                <a:tab pos="405765" algn="l"/>
              </a:tabLst>
            </a:pPr>
            <a:r>
              <a:rPr sz="2000" b="1" i="1" spc="-20" dirty="0">
                <a:latin typeface="Arial"/>
                <a:cs typeface="Arial"/>
              </a:rPr>
              <a:t>Why?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015">
              <a:lnSpc>
                <a:spcPct val="100000"/>
              </a:lnSpc>
              <a:spcBef>
                <a:spcPts val="100"/>
              </a:spcBef>
            </a:pPr>
            <a:r>
              <a:rPr spc="-110" dirty="0">
                <a:solidFill>
                  <a:srgbClr val="C00000"/>
                </a:solidFill>
              </a:rPr>
              <a:t>Wireless</a:t>
            </a:r>
            <a:r>
              <a:rPr spc="-170" dirty="0">
                <a:solidFill>
                  <a:srgbClr val="C00000"/>
                </a:solidFill>
              </a:rPr>
              <a:t> </a:t>
            </a:r>
            <a:r>
              <a:rPr spc="-55" dirty="0">
                <a:solidFill>
                  <a:srgbClr val="C00000"/>
                </a:solidFill>
              </a:rPr>
              <a:t>is</a:t>
            </a:r>
            <a:r>
              <a:rPr spc="-170" dirty="0">
                <a:solidFill>
                  <a:srgbClr val="C00000"/>
                </a:solidFill>
              </a:rPr>
              <a:t> </a:t>
            </a:r>
            <a:r>
              <a:rPr spc="-85" dirty="0">
                <a:solidFill>
                  <a:srgbClr val="C00000"/>
                </a:solidFill>
              </a:rPr>
              <a:t>less</a:t>
            </a:r>
            <a:r>
              <a:rPr spc="-170" dirty="0">
                <a:solidFill>
                  <a:srgbClr val="C00000"/>
                </a:solidFill>
              </a:rPr>
              <a:t> </a:t>
            </a:r>
            <a:r>
              <a:rPr spc="-75" dirty="0">
                <a:solidFill>
                  <a:srgbClr val="C00000"/>
                </a:solidFill>
              </a:rPr>
              <a:t>reliable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098286" y="2252460"/>
            <a:ext cx="3042920" cy="152400"/>
            <a:chOff x="3098286" y="2252460"/>
            <a:chExt cx="3042920" cy="152400"/>
          </a:xfrm>
        </p:grpSpPr>
        <p:sp>
          <p:nvSpPr>
            <p:cNvPr id="5" name="object 5"/>
            <p:cNvSpPr/>
            <p:nvPr/>
          </p:nvSpPr>
          <p:spPr>
            <a:xfrm>
              <a:off x="3174347" y="2328519"/>
              <a:ext cx="1369060" cy="0"/>
            </a:xfrm>
            <a:custGeom>
              <a:avLst/>
              <a:gdLst/>
              <a:ahLst/>
              <a:cxnLst/>
              <a:rect l="l" t="t" r="r" b="b"/>
              <a:pathLst>
                <a:path w="1369060">
                  <a:moveTo>
                    <a:pt x="0" y="0"/>
                  </a:moveTo>
                  <a:lnTo>
                    <a:pt x="1369066" y="1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8286" y="2252460"/>
              <a:ext cx="152118" cy="15211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43403" y="2328519"/>
              <a:ext cx="1521460" cy="0"/>
            </a:xfrm>
            <a:custGeom>
              <a:avLst/>
              <a:gdLst/>
              <a:ahLst/>
              <a:cxnLst/>
              <a:rect l="l" t="t" r="r" b="b"/>
              <a:pathLst>
                <a:path w="1521460">
                  <a:moveTo>
                    <a:pt x="0" y="0"/>
                  </a:moveTo>
                  <a:lnTo>
                    <a:pt x="1521184" y="1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88527" y="2252460"/>
              <a:ext cx="152118" cy="15211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764105" y="1816100"/>
            <a:ext cx="683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Alice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8305800" y="6556326"/>
            <a:ext cx="624008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6525">
              <a:lnSpc>
                <a:spcPts val="1645"/>
              </a:lnSpc>
            </a:pPr>
            <a:fld id="{81D60167-4931-47E6-BA6A-407CBD079E47}" type="slidenum">
              <a:rPr spc="-50" dirty="0"/>
              <a:t>40</a:t>
            </a:fld>
            <a:endParaRPr spc="-50" dirty="0"/>
          </a:p>
        </p:txBody>
      </p:sp>
      <p:sp>
        <p:nvSpPr>
          <p:cNvPr id="10" name="object 10"/>
          <p:cNvSpPr txBox="1"/>
          <p:nvPr/>
        </p:nvSpPr>
        <p:spPr>
          <a:xfrm>
            <a:off x="5753502" y="1782571"/>
            <a:ext cx="550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Times New Roman"/>
                <a:cs typeface="Times New Roman"/>
              </a:rPr>
              <a:t>Bob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5700" y="1649475"/>
            <a:ext cx="4759325" cy="13993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3335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spc="-45" dirty="0">
                <a:latin typeface="Arial"/>
                <a:cs typeface="Arial"/>
              </a:rPr>
              <a:t>Wired</a:t>
            </a:r>
            <a:r>
              <a:rPr sz="2400" b="1" spc="-15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networks:</a:t>
            </a:r>
            <a:endParaRPr sz="2400" dirty="0">
              <a:latin typeface="Arial"/>
              <a:cs typeface="Arial"/>
            </a:endParaRPr>
          </a:p>
          <a:p>
            <a:pPr marL="12700" marR="5080">
              <a:lnSpc>
                <a:spcPct val="80400"/>
              </a:lnSpc>
              <a:spcBef>
                <a:spcPts val="635"/>
              </a:spcBef>
            </a:pPr>
            <a:r>
              <a:rPr sz="2400" spc="-35" dirty="0">
                <a:latin typeface="Arial MT"/>
                <a:cs typeface="Arial MT"/>
              </a:rPr>
              <a:t>Alice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30" dirty="0">
                <a:latin typeface="Arial MT"/>
                <a:cs typeface="Arial MT"/>
              </a:rPr>
              <a:t>and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55" dirty="0">
                <a:latin typeface="Arial MT"/>
                <a:cs typeface="Arial MT"/>
              </a:rPr>
              <a:t>Bob’s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55" dirty="0">
                <a:latin typeface="Arial MT"/>
                <a:cs typeface="Arial MT"/>
              </a:rPr>
              <a:t>conversation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 </a:t>
            </a:r>
            <a:r>
              <a:rPr sz="2400" b="1" spc="-60" dirty="0">
                <a:solidFill>
                  <a:srgbClr val="009900"/>
                </a:solidFill>
                <a:latin typeface="Arial"/>
                <a:cs typeface="Arial"/>
              </a:rPr>
              <a:t>independent</a:t>
            </a:r>
            <a:r>
              <a:rPr sz="2400" b="1" spc="-135" dirty="0">
                <a:solidFill>
                  <a:srgbClr val="0099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9900"/>
                </a:solidFill>
                <a:latin typeface="Arial"/>
                <a:cs typeface="Arial"/>
              </a:rPr>
              <a:t>of</a:t>
            </a:r>
            <a:r>
              <a:rPr sz="2400" b="1" spc="-140" dirty="0">
                <a:solidFill>
                  <a:srgbClr val="009900"/>
                </a:solidFill>
                <a:latin typeface="Arial"/>
                <a:cs typeface="Arial"/>
              </a:rPr>
              <a:t> </a:t>
            </a:r>
            <a:r>
              <a:rPr sz="2400" spc="-40" dirty="0">
                <a:latin typeface="Arial MT"/>
                <a:cs typeface="Arial MT"/>
              </a:rPr>
              <a:t>Cathy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spc="-55" dirty="0">
                <a:latin typeface="Arial MT"/>
                <a:cs typeface="Arial MT"/>
              </a:rPr>
              <a:t>Eve’s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conversation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5700" y="4456683"/>
            <a:ext cx="4744720" cy="1062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spc="-50" dirty="0">
                <a:latin typeface="Arial"/>
                <a:cs typeface="Arial"/>
              </a:rPr>
              <a:t>Wireless</a:t>
            </a:r>
            <a:r>
              <a:rPr sz="2400" b="1" spc="-14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networks:</a:t>
            </a:r>
            <a:endParaRPr sz="2400" dirty="0">
              <a:latin typeface="Arial"/>
              <a:cs typeface="Arial"/>
            </a:endParaRPr>
          </a:p>
          <a:p>
            <a:pPr marL="12700" marR="5080">
              <a:lnSpc>
                <a:spcPct val="80400"/>
              </a:lnSpc>
              <a:spcBef>
                <a:spcPts val="705"/>
              </a:spcBef>
            </a:pPr>
            <a:r>
              <a:rPr sz="2400" spc="-40" dirty="0">
                <a:latin typeface="Arial MT"/>
                <a:cs typeface="Arial MT"/>
              </a:rPr>
              <a:t>Close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b="1" spc="-10" dirty="0">
                <a:latin typeface="Arial"/>
                <a:cs typeface="Arial"/>
              </a:rPr>
              <a:t>wireless </a:t>
            </a:r>
            <a:r>
              <a:rPr sz="2400" spc="-55" dirty="0">
                <a:latin typeface="Arial MT"/>
                <a:cs typeface="Arial MT"/>
              </a:rPr>
              <a:t>conversations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b="1" spc="-45" dirty="0">
                <a:solidFill>
                  <a:srgbClr val="FF0000"/>
                </a:solidFill>
                <a:latin typeface="Arial"/>
                <a:cs typeface="Arial"/>
              </a:rPr>
              <a:t>share</a:t>
            </a:r>
            <a:r>
              <a:rPr sz="2400" b="1" spc="-1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3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400" b="1" spc="-1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Arial"/>
                <a:cs typeface="Arial"/>
              </a:rPr>
              <a:t>same </a:t>
            </a:r>
            <a:r>
              <a:rPr sz="2400" b="1" spc="-50" dirty="0">
                <a:solidFill>
                  <a:srgbClr val="FF0000"/>
                </a:solidFill>
                <a:latin typeface="Arial"/>
                <a:cs typeface="Arial"/>
              </a:rPr>
              <a:t>wireless</a:t>
            </a:r>
            <a:r>
              <a:rPr sz="2400" b="1" spc="-1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medium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57750" y="593851"/>
            <a:ext cx="59645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0" dirty="0">
                <a:solidFill>
                  <a:srgbClr val="FF0000"/>
                </a:solidFill>
              </a:rPr>
              <a:t>Wireless</a:t>
            </a:r>
            <a:r>
              <a:rPr spc="-185" dirty="0">
                <a:solidFill>
                  <a:srgbClr val="FF0000"/>
                </a:solidFill>
              </a:rPr>
              <a:t> </a:t>
            </a:r>
            <a:r>
              <a:rPr spc="-55" dirty="0">
                <a:solidFill>
                  <a:srgbClr val="FF0000"/>
                </a:solidFill>
              </a:rPr>
              <a:t>is</a:t>
            </a:r>
            <a:r>
              <a:rPr spc="-18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</a:t>
            </a:r>
            <a:r>
              <a:rPr spc="-185" dirty="0">
                <a:solidFill>
                  <a:srgbClr val="FF0000"/>
                </a:solidFill>
              </a:rPr>
              <a:t> </a:t>
            </a:r>
            <a:r>
              <a:rPr spc="-95" dirty="0">
                <a:solidFill>
                  <a:srgbClr val="FF0000"/>
                </a:solidFill>
              </a:rPr>
              <a:t>shared</a:t>
            </a:r>
            <a:r>
              <a:rPr spc="-185" dirty="0">
                <a:solidFill>
                  <a:srgbClr val="FF0000"/>
                </a:solidFill>
              </a:rPr>
              <a:t> </a:t>
            </a:r>
            <a:r>
              <a:rPr spc="-55" dirty="0">
                <a:solidFill>
                  <a:srgbClr val="FF0000"/>
                </a:solidFill>
              </a:rPr>
              <a:t>medium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332591" y="2212054"/>
            <a:ext cx="3042920" cy="152400"/>
            <a:chOff x="5332591" y="2212054"/>
            <a:chExt cx="3042920" cy="152400"/>
          </a:xfrm>
        </p:grpSpPr>
        <p:sp>
          <p:nvSpPr>
            <p:cNvPr id="6" name="object 6"/>
            <p:cNvSpPr/>
            <p:nvPr/>
          </p:nvSpPr>
          <p:spPr>
            <a:xfrm>
              <a:off x="5484709" y="2288113"/>
              <a:ext cx="2814320" cy="0"/>
            </a:xfrm>
            <a:custGeom>
              <a:avLst/>
              <a:gdLst/>
              <a:ahLst/>
              <a:cxnLst/>
              <a:rect l="l" t="t" r="r" b="b"/>
              <a:pathLst>
                <a:path w="2814320">
                  <a:moveTo>
                    <a:pt x="0" y="0"/>
                  </a:moveTo>
                  <a:lnTo>
                    <a:pt x="2814189" y="1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2591" y="2212054"/>
              <a:ext cx="152118" cy="15211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22838" y="2212054"/>
              <a:ext cx="152118" cy="152118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4961602" y="3154221"/>
            <a:ext cx="3511550" cy="3435985"/>
            <a:chOff x="4961602" y="3154221"/>
            <a:chExt cx="3511550" cy="3435985"/>
          </a:xfrm>
        </p:grpSpPr>
        <p:sp>
          <p:nvSpPr>
            <p:cNvPr id="10" name="object 10"/>
            <p:cNvSpPr/>
            <p:nvPr/>
          </p:nvSpPr>
          <p:spPr>
            <a:xfrm>
              <a:off x="4967952" y="3160571"/>
              <a:ext cx="2738755" cy="2738755"/>
            </a:xfrm>
            <a:custGeom>
              <a:avLst/>
              <a:gdLst/>
              <a:ahLst/>
              <a:cxnLst/>
              <a:rect l="l" t="t" r="r" b="b"/>
              <a:pathLst>
                <a:path w="2738754" h="2738754">
                  <a:moveTo>
                    <a:pt x="1369065" y="0"/>
                  </a:moveTo>
                  <a:lnTo>
                    <a:pt x="1321001" y="827"/>
                  </a:lnTo>
                  <a:lnTo>
                    <a:pt x="1273353" y="3293"/>
                  </a:lnTo>
                  <a:lnTo>
                    <a:pt x="1226149" y="7369"/>
                  </a:lnTo>
                  <a:lnTo>
                    <a:pt x="1179415" y="13029"/>
                  </a:lnTo>
                  <a:lnTo>
                    <a:pt x="1133178" y="20245"/>
                  </a:lnTo>
                  <a:lnTo>
                    <a:pt x="1087466" y="28990"/>
                  </a:lnTo>
                  <a:lnTo>
                    <a:pt x="1042306" y="39237"/>
                  </a:lnTo>
                  <a:lnTo>
                    <a:pt x="997724" y="50959"/>
                  </a:lnTo>
                  <a:lnTo>
                    <a:pt x="953749" y="64128"/>
                  </a:lnTo>
                  <a:lnTo>
                    <a:pt x="910406" y="78718"/>
                  </a:lnTo>
                  <a:lnTo>
                    <a:pt x="867724" y="94702"/>
                  </a:lnTo>
                  <a:lnTo>
                    <a:pt x="825730" y="112051"/>
                  </a:lnTo>
                  <a:lnTo>
                    <a:pt x="784450" y="130740"/>
                  </a:lnTo>
                  <a:lnTo>
                    <a:pt x="743912" y="150741"/>
                  </a:lnTo>
                  <a:lnTo>
                    <a:pt x="704143" y="172026"/>
                  </a:lnTo>
                  <a:lnTo>
                    <a:pt x="665170" y="194569"/>
                  </a:lnTo>
                  <a:lnTo>
                    <a:pt x="627021" y="218343"/>
                  </a:lnTo>
                  <a:lnTo>
                    <a:pt x="589722" y="243320"/>
                  </a:lnTo>
                  <a:lnTo>
                    <a:pt x="553300" y="269473"/>
                  </a:lnTo>
                  <a:lnTo>
                    <a:pt x="517783" y="296775"/>
                  </a:lnTo>
                  <a:lnTo>
                    <a:pt x="483198" y="325199"/>
                  </a:lnTo>
                  <a:lnTo>
                    <a:pt x="449571" y="354717"/>
                  </a:lnTo>
                  <a:lnTo>
                    <a:pt x="416931" y="385304"/>
                  </a:lnTo>
                  <a:lnTo>
                    <a:pt x="385304" y="416931"/>
                  </a:lnTo>
                  <a:lnTo>
                    <a:pt x="354718" y="449571"/>
                  </a:lnTo>
                  <a:lnTo>
                    <a:pt x="325199" y="483197"/>
                  </a:lnTo>
                  <a:lnTo>
                    <a:pt x="296775" y="517782"/>
                  </a:lnTo>
                  <a:lnTo>
                    <a:pt x="269473" y="553299"/>
                  </a:lnTo>
                  <a:lnTo>
                    <a:pt x="243320" y="589721"/>
                  </a:lnTo>
                  <a:lnTo>
                    <a:pt x="218343" y="627020"/>
                  </a:lnTo>
                  <a:lnTo>
                    <a:pt x="194569" y="665170"/>
                  </a:lnTo>
                  <a:lnTo>
                    <a:pt x="172026" y="704142"/>
                  </a:lnTo>
                  <a:lnTo>
                    <a:pt x="150741" y="743911"/>
                  </a:lnTo>
                  <a:lnTo>
                    <a:pt x="130740" y="784449"/>
                  </a:lnTo>
                  <a:lnTo>
                    <a:pt x="112051" y="825729"/>
                  </a:lnTo>
                  <a:lnTo>
                    <a:pt x="94702" y="867723"/>
                  </a:lnTo>
                  <a:lnTo>
                    <a:pt x="78718" y="910405"/>
                  </a:lnTo>
                  <a:lnTo>
                    <a:pt x="64128" y="953747"/>
                  </a:lnTo>
                  <a:lnTo>
                    <a:pt x="50959" y="997723"/>
                  </a:lnTo>
                  <a:lnTo>
                    <a:pt x="39237" y="1042304"/>
                  </a:lnTo>
                  <a:lnTo>
                    <a:pt x="28990" y="1087465"/>
                  </a:lnTo>
                  <a:lnTo>
                    <a:pt x="20245" y="1133177"/>
                  </a:lnTo>
                  <a:lnTo>
                    <a:pt x="13029" y="1179413"/>
                  </a:lnTo>
                  <a:lnTo>
                    <a:pt x="7369" y="1226148"/>
                  </a:lnTo>
                  <a:lnTo>
                    <a:pt x="3293" y="1273352"/>
                  </a:lnTo>
                  <a:lnTo>
                    <a:pt x="827" y="1321000"/>
                  </a:lnTo>
                  <a:lnTo>
                    <a:pt x="0" y="1369063"/>
                  </a:lnTo>
                  <a:lnTo>
                    <a:pt x="827" y="1417127"/>
                  </a:lnTo>
                  <a:lnTo>
                    <a:pt x="3293" y="1464775"/>
                  </a:lnTo>
                  <a:lnTo>
                    <a:pt x="7369" y="1511979"/>
                  </a:lnTo>
                  <a:lnTo>
                    <a:pt x="13029" y="1558713"/>
                  </a:lnTo>
                  <a:lnTo>
                    <a:pt x="20245" y="1604950"/>
                  </a:lnTo>
                  <a:lnTo>
                    <a:pt x="28990" y="1650662"/>
                  </a:lnTo>
                  <a:lnTo>
                    <a:pt x="39237" y="1695822"/>
                  </a:lnTo>
                  <a:lnTo>
                    <a:pt x="50959" y="1740404"/>
                  </a:lnTo>
                  <a:lnTo>
                    <a:pt x="64128" y="1784379"/>
                  </a:lnTo>
                  <a:lnTo>
                    <a:pt x="78718" y="1827721"/>
                  </a:lnTo>
                  <a:lnTo>
                    <a:pt x="94702" y="1870403"/>
                  </a:lnTo>
                  <a:lnTo>
                    <a:pt x="112051" y="1912398"/>
                  </a:lnTo>
                  <a:lnTo>
                    <a:pt x="130740" y="1953677"/>
                  </a:lnTo>
                  <a:lnTo>
                    <a:pt x="150741" y="1994215"/>
                  </a:lnTo>
                  <a:lnTo>
                    <a:pt x="172026" y="2033984"/>
                  </a:lnTo>
                  <a:lnTo>
                    <a:pt x="194569" y="2072957"/>
                  </a:lnTo>
                  <a:lnTo>
                    <a:pt x="218343" y="2111107"/>
                  </a:lnTo>
                  <a:lnTo>
                    <a:pt x="243320" y="2148406"/>
                  </a:lnTo>
                  <a:lnTo>
                    <a:pt x="269473" y="2184828"/>
                  </a:lnTo>
                  <a:lnTo>
                    <a:pt x="296775" y="2220345"/>
                  </a:lnTo>
                  <a:lnTo>
                    <a:pt x="325199" y="2254930"/>
                  </a:lnTo>
                  <a:lnTo>
                    <a:pt x="354718" y="2288556"/>
                  </a:lnTo>
                  <a:lnTo>
                    <a:pt x="385304" y="2321196"/>
                  </a:lnTo>
                  <a:lnTo>
                    <a:pt x="416931" y="2352823"/>
                  </a:lnTo>
                  <a:lnTo>
                    <a:pt x="449571" y="2383410"/>
                  </a:lnTo>
                  <a:lnTo>
                    <a:pt x="483198" y="2412928"/>
                  </a:lnTo>
                  <a:lnTo>
                    <a:pt x="517783" y="2441352"/>
                  </a:lnTo>
                  <a:lnTo>
                    <a:pt x="553300" y="2468654"/>
                  </a:lnTo>
                  <a:lnTo>
                    <a:pt x="589722" y="2494808"/>
                  </a:lnTo>
                  <a:lnTo>
                    <a:pt x="627021" y="2519784"/>
                  </a:lnTo>
                  <a:lnTo>
                    <a:pt x="665170" y="2543558"/>
                  </a:lnTo>
                  <a:lnTo>
                    <a:pt x="704143" y="2566101"/>
                  </a:lnTo>
                  <a:lnTo>
                    <a:pt x="743912" y="2587387"/>
                  </a:lnTo>
                  <a:lnTo>
                    <a:pt x="784450" y="2607387"/>
                  </a:lnTo>
                  <a:lnTo>
                    <a:pt x="825730" y="2626076"/>
                  </a:lnTo>
                  <a:lnTo>
                    <a:pt x="867724" y="2643426"/>
                  </a:lnTo>
                  <a:lnTo>
                    <a:pt x="910406" y="2659409"/>
                  </a:lnTo>
                  <a:lnTo>
                    <a:pt x="953749" y="2673999"/>
                  </a:lnTo>
                  <a:lnTo>
                    <a:pt x="997724" y="2687169"/>
                  </a:lnTo>
                  <a:lnTo>
                    <a:pt x="1042306" y="2698891"/>
                  </a:lnTo>
                  <a:lnTo>
                    <a:pt x="1087466" y="2709138"/>
                  </a:lnTo>
                  <a:lnTo>
                    <a:pt x="1133178" y="2717883"/>
                  </a:lnTo>
                  <a:lnTo>
                    <a:pt x="1179415" y="2725098"/>
                  </a:lnTo>
                  <a:lnTo>
                    <a:pt x="1226149" y="2730758"/>
                  </a:lnTo>
                  <a:lnTo>
                    <a:pt x="1273353" y="2734834"/>
                  </a:lnTo>
                  <a:lnTo>
                    <a:pt x="1321001" y="2737300"/>
                  </a:lnTo>
                  <a:lnTo>
                    <a:pt x="1369065" y="2738128"/>
                  </a:lnTo>
                  <a:lnTo>
                    <a:pt x="1417128" y="2737300"/>
                  </a:lnTo>
                  <a:lnTo>
                    <a:pt x="1464776" y="2734834"/>
                  </a:lnTo>
                  <a:lnTo>
                    <a:pt x="1511980" y="2730758"/>
                  </a:lnTo>
                  <a:lnTo>
                    <a:pt x="1558714" y="2725098"/>
                  </a:lnTo>
                  <a:lnTo>
                    <a:pt x="1604951" y="2717883"/>
                  </a:lnTo>
                  <a:lnTo>
                    <a:pt x="1650663" y="2709138"/>
                  </a:lnTo>
                  <a:lnTo>
                    <a:pt x="1695823" y="2698891"/>
                  </a:lnTo>
                  <a:lnTo>
                    <a:pt x="1740405" y="2687169"/>
                  </a:lnTo>
                  <a:lnTo>
                    <a:pt x="1784380" y="2673999"/>
                  </a:lnTo>
                  <a:lnTo>
                    <a:pt x="1827722" y="2659409"/>
                  </a:lnTo>
                  <a:lnTo>
                    <a:pt x="1870404" y="2643426"/>
                  </a:lnTo>
                  <a:lnTo>
                    <a:pt x="1912398" y="2626076"/>
                  </a:lnTo>
                  <a:lnTo>
                    <a:pt x="1953678" y="2607387"/>
                  </a:lnTo>
                  <a:lnTo>
                    <a:pt x="1994216" y="2587387"/>
                  </a:lnTo>
                  <a:lnTo>
                    <a:pt x="2033985" y="2566101"/>
                  </a:lnTo>
                  <a:lnTo>
                    <a:pt x="2072958" y="2543558"/>
                  </a:lnTo>
                  <a:lnTo>
                    <a:pt x="2111107" y="2519784"/>
                  </a:lnTo>
                  <a:lnTo>
                    <a:pt x="2148407" y="2494808"/>
                  </a:lnTo>
                  <a:lnTo>
                    <a:pt x="2184828" y="2468654"/>
                  </a:lnTo>
                  <a:lnTo>
                    <a:pt x="2220345" y="2441352"/>
                  </a:lnTo>
                  <a:lnTo>
                    <a:pt x="2254931" y="2412928"/>
                  </a:lnTo>
                  <a:lnTo>
                    <a:pt x="2288557" y="2383410"/>
                  </a:lnTo>
                  <a:lnTo>
                    <a:pt x="2321197" y="2352823"/>
                  </a:lnTo>
                  <a:lnTo>
                    <a:pt x="2352824" y="2321196"/>
                  </a:lnTo>
                  <a:lnTo>
                    <a:pt x="2383410" y="2288556"/>
                  </a:lnTo>
                  <a:lnTo>
                    <a:pt x="2412929" y="2254930"/>
                  </a:lnTo>
                  <a:lnTo>
                    <a:pt x="2441353" y="2220345"/>
                  </a:lnTo>
                  <a:lnTo>
                    <a:pt x="2468655" y="2184828"/>
                  </a:lnTo>
                  <a:lnTo>
                    <a:pt x="2494808" y="2148406"/>
                  </a:lnTo>
                  <a:lnTo>
                    <a:pt x="2519785" y="2111107"/>
                  </a:lnTo>
                  <a:lnTo>
                    <a:pt x="2543558" y="2072957"/>
                  </a:lnTo>
                  <a:lnTo>
                    <a:pt x="2566102" y="2033984"/>
                  </a:lnTo>
                  <a:lnTo>
                    <a:pt x="2587387" y="1994215"/>
                  </a:lnTo>
                  <a:lnTo>
                    <a:pt x="2607388" y="1953677"/>
                  </a:lnTo>
                  <a:lnTo>
                    <a:pt x="2626076" y="1912398"/>
                  </a:lnTo>
                  <a:lnTo>
                    <a:pt x="2643426" y="1870403"/>
                  </a:lnTo>
                  <a:lnTo>
                    <a:pt x="2659410" y="1827721"/>
                  </a:lnTo>
                  <a:lnTo>
                    <a:pt x="2674000" y="1784379"/>
                  </a:lnTo>
                  <a:lnTo>
                    <a:pt x="2687169" y="1740404"/>
                  </a:lnTo>
                  <a:lnTo>
                    <a:pt x="2698891" y="1695822"/>
                  </a:lnTo>
                  <a:lnTo>
                    <a:pt x="2709138" y="1650662"/>
                  </a:lnTo>
                  <a:lnTo>
                    <a:pt x="2717883" y="1604950"/>
                  </a:lnTo>
                  <a:lnTo>
                    <a:pt x="2725099" y="1558713"/>
                  </a:lnTo>
                  <a:lnTo>
                    <a:pt x="2730759" y="1511979"/>
                  </a:lnTo>
                  <a:lnTo>
                    <a:pt x="2734835" y="1464775"/>
                  </a:lnTo>
                  <a:lnTo>
                    <a:pt x="2737300" y="1417127"/>
                  </a:lnTo>
                  <a:lnTo>
                    <a:pt x="2738128" y="1369063"/>
                  </a:lnTo>
                  <a:lnTo>
                    <a:pt x="2737300" y="1321000"/>
                  </a:lnTo>
                  <a:lnTo>
                    <a:pt x="2734835" y="1273352"/>
                  </a:lnTo>
                  <a:lnTo>
                    <a:pt x="2730759" y="1226148"/>
                  </a:lnTo>
                  <a:lnTo>
                    <a:pt x="2725099" y="1179413"/>
                  </a:lnTo>
                  <a:lnTo>
                    <a:pt x="2717883" y="1133177"/>
                  </a:lnTo>
                  <a:lnTo>
                    <a:pt x="2709138" y="1087465"/>
                  </a:lnTo>
                  <a:lnTo>
                    <a:pt x="2698891" y="1042304"/>
                  </a:lnTo>
                  <a:lnTo>
                    <a:pt x="2687169" y="997723"/>
                  </a:lnTo>
                  <a:lnTo>
                    <a:pt x="2674000" y="953747"/>
                  </a:lnTo>
                  <a:lnTo>
                    <a:pt x="2659410" y="910405"/>
                  </a:lnTo>
                  <a:lnTo>
                    <a:pt x="2643426" y="867723"/>
                  </a:lnTo>
                  <a:lnTo>
                    <a:pt x="2626076" y="825729"/>
                  </a:lnTo>
                  <a:lnTo>
                    <a:pt x="2607388" y="784449"/>
                  </a:lnTo>
                  <a:lnTo>
                    <a:pt x="2587387" y="743911"/>
                  </a:lnTo>
                  <a:lnTo>
                    <a:pt x="2566102" y="704142"/>
                  </a:lnTo>
                  <a:lnTo>
                    <a:pt x="2543558" y="665170"/>
                  </a:lnTo>
                  <a:lnTo>
                    <a:pt x="2519785" y="627020"/>
                  </a:lnTo>
                  <a:lnTo>
                    <a:pt x="2494808" y="589721"/>
                  </a:lnTo>
                  <a:lnTo>
                    <a:pt x="2468655" y="553299"/>
                  </a:lnTo>
                  <a:lnTo>
                    <a:pt x="2441353" y="517782"/>
                  </a:lnTo>
                  <a:lnTo>
                    <a:pt x="2412929" y="483197"/>
                  </a:lnTo>
                  <a:lnTo>
                    <a:pt x="2383410" y="449571"/>
                  </a:lnTo>
                  <a:lnTo>
                    <a:pt x="2352824" y="416931"/>
                  </a:lnTo>
                  <a:lnTo>
                    <a:pt x="2321197" y="385304"/>
                  </a:lnTo>
                  <a:lnTo>
                    <a:pt x="2288557" y="354717"/>
                  </a:lnTo>
                  <a:lnTo>
                    <a:pt x="2254931" y="325199"/>
                  </a:lnTo>
                  <a:lnTo>
                    <a:pt x="2220345" y="296775"/>
                  </a:lnTo>
                  <a:lnTo>
                    <a:pt x="2184828" y="269473"/>
                  </a:lnTo>
                  <a:lnTo>
                    <a:pt x="2148407" y="243320"/>
                  </a:lnTo>
                  <a:lnTo>
                    <a:pt x="2111107" y="218343"/>
                  </a:lnTo>
                  <a:lnTo>
                    <a:pt x="2072958" y="194569"/>
                  </a:lnTo>
                  <a:lnTo>
                    <a:pt x="2033985" y="172026"/>
                  </a:lnTo>
                  <a:lnTo>
                    <a:pt x="1994216" y="150741"/>
                  </a:lnTo>
                  <a:lnTo>
                    <a:pt x="1953678" y="130740"/>
                  </a:lnTo>
                  <a:lnTo>
                    <a:pt x="1912398" y="112051"/>
                  </a:lnTo>
                  <a:lnTo>
                    <a:pt x="1870404" y="94702"/>
                  </a:lnTo>
                  <a:lnTo>
                    <a:pt x="1827722" y="78718"/>
                  </a:lnTo>
                  <a:lnTo>
                    <a:pt x="1784380" y="64128"/>
                  </a:lnTo>
                  <a:lnTo>
                    <a:pt x="1740405" y="50959"/>
                  </a:lnTo>
                  <a:lnTo>
                    <a:pt x="1695823" y="39237"/>
                  </a:lnTo>
                  <a:lnTo>
                    <a:pt x="1650663" y="28990"/>
                  </a:lnTo>
                  <a:lnTo>
                    <a:pt x="1604951" y="20245"/>
                  </a:lnTo>
                  <a:lnTo>
                    <a:pt x="1558714" y="13029"/>
                  </a:lnTo>
                  <a:lnTo>
                    <a:pt x="1511980" y="7369"/>
                  </a:lnTo>
                  <a:lnTo>
                    <a:pt x="1464776" y="3293"/>
                  </a:lnTo>
                  <a:lnTo>
                    <a:pt x="1417128" y="827"/>
                  </a:lnTo>
                  <a:lnTo>
                    <a:pt x="1369065" y="0"/>
                  </a:lnTo>
                  <a:close/>
                </a:path>
              </a:pathLst>
            </a:custGeom>
            <a:solidFill>
              <a:srgbClr val="99CCFF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67952" y="3160571"/>
              <a:ext cx="2738755" cy="2738755"/>
            </a:xfrm>
            <a:custGeom>
              <a:avLst/>
              <a:gdLst/>
              <a:ahLst/>
              <a:cxnLst/>
              <a:rect l="l" t="t" r="r" b="b"/>
              <a:pathLst>
                <a:path w="2738754" h="2738754">
                  <a:moveTo>
                    <a:pt x="0" y="1369065"/>
                  </a:moveTo>
                  <a:lnTo>
                    <a:pt x="827" y="1321001"/>
                  </a:lnTo>
                  <a:lnTo>
                    <a:pt x="3293" y="1273353"/>
                  </a:lnTo>
                  <a:lnTo>
                    <a:pt x="7369" y="1226149"/>
                  </a:lnTo>
                  <a:lnTo>
                    <a:pt x="13029" y="1179415"/>
                  </a:lnTo>
                  <a:lnTo>
                    <a:pt x="20245" y="1133178"/>
                  </a:lnTo>
                  <a:lnTo>
                    <a:pt x="28990" y="1087466"/>
                  </a:lnTo>
                  <a:lnTo>
                    <a:pt x="39237" y="1042305"/>
                  </a:lnTo>
                  <a:lnTo>
                    <a:pt x="50959" y="997724"/>
                  </a:lnTo>
                  <a:lnTo>
                    <a:pt x="64128" y="953748"/>
                  </a:lnTo>
                  <a:lnTo>
                    <a:pt x="78718" y="910406"/>
                  </a:lnTo>
                  <a:lnTo>
                    <a:pt x="94702" y="867724"/>
                  </a:lnTo>
                  <a:lnTo>
                    <a:pt x="112051" y="825730"/>
                  </a:lnTo>
                  <a:lnTo>
                    <a:pt x="130740" y="784450"/>
                  </a:lnTo>
                  <a:lnTo>
                    <a:pt x="150741" y="743912"/>
                  </a:lnTo>
                  <a:lnTo>
                    <a:pt x="172026" y="704143"/>
                  </a:lnTo>
                  <a:lnTo>
                    <a:pt x="194569" y="665170"/>
                  </a:lnTo>
                  <a:lnTo>
                    <a:pt x="218343" y="627021"/>
                  </a:lnTo>
                  <a:lnTo>
                    <a:pt x="243320" y="589721"/>
                  </a:lnTo>
                  <a:lnTo>
                    <a:pt x="269473" y="553300"/>
                  </a:lnTo>
                  <a:lnTo>
                    <a:pt x="296775" y="517783"/>
                  </a:lnTo>
                  <a:lnTo>
                    <a:pt x="325199" y="483197"/>
                  </a:lnTo>
                  <a:lnTo>
                    <a:pt x="354718" y="449571"/>
                  </a:lnTo>
                  <a:lnTo>
                    <a:pt x="385304" y="416931"/>
                  </a:lnTo>
                  <a:lnTo>
                    <a:pt x="416931" y="385304"/>
                  </a:lnTo>
                  <a:lnTo>
                    <a:pt x="449571" y="354718"/>
                  </a:lnTo>
                  <a:lnTo>
                    <a:pt x="483197" y="325199"/>
                  </a:lnTo>
                  <a:lnTo>
                    <a:pt x="517783" y="296775"/>
                  </a:lnTo>
                  <a:lnTo>
                    <a:pt x="553300" y="269473"/>
                  </a:lnTo>
                  <a:lnTo>
                    <a:pt x="589721" y="243320"/>
                  </a:lnTo>
                  <a:lnTo>
                    <a:pt x="627021" y="218343"/>
                  </a:lnTo>
                  <a:lnTo>
                    <a:pt x="665170" y="194569"/>
                  </a:lnTo>
                  <a:lnTo>
                    <a:pt x="704143" y="172026"/>
                  </a:lnTo>
                  <a:lnTo>
                    <a:pt x="743912" y="150741"/>
                  </a:lnTo>
                  <a:lnTo>
                    <a:pt x="784450" y="130740"/>
                  </a:lnTo>
                  <a:lnTo>
                    <a:pt x="825730" y="112051"/>
                  </a:lnTo>
                  <a:lnTo>
                    <a:pt x="867724" y="94702"/>
                  </a:lnTo>
                  <a:lnTo>
                    <a:pt x="910406" y="78718"/>
                  </a:lnTo>
                  <a:lnTo>
                    <a:pt x="953748" y="64128"/>
                  </a:lnTo>
                  <a:lnTo>
                    <a:pt x="997724" y="50959"/>
                  </a:lnTo>
                  <a:lnTo>
                    <a:pt x="1042305" y="39237"/>
                  </a:lnTo>
                  <a:lnTo>
                    <a:pt x="1087466" y="28990"/>
                  </a:lnTo>
                  <a:lnTo>
                    <a:pt x="1133178" y="20245"/>
                  </a:lnTo>
                  <a:lnTo>
                    <a:pt x="1179415" y="13029"/>
                  </a:lnTo>
                  <a:lnTo>
                    <a:pt x="1226149" y="7369"/>
                  </a:lnTo>
                  <a:lnTo>
                    <a:pt x="1273353" y="3293"/>
                  </a:lnTo>
                  <a:lnTo>
                    <a:pt x="1321001" y="827"/>
                  </a:lnTo>
                  <a:lnTo>
                    <a:pt x="1369065" y="0"/>
                  </a:lnTo>
                  <a:lnTo>
                    <a:pt x="1417128" y="827"/>
                  </a:lnTo>
                  <a:lnTo>
                    <a:pt x="1464776" y="3293"/>
                  </a:lnTo>
                  <a:lnTo>
                    <a:pt x="1511980" y="7369"/>
                  </a:lnTo>
                  <a:lnTo>
                    <a:pt x="1558714" y="13029"/>
                  </a:lnTo>
                  <a:lnTo>
                    <a:pt x="1604951" y="20245"/>
                  </a:lnTo>
                  <a:lnTo>
                    <a:pt x="1650663" y="28990"/>
                  </a:lnTo>
                  <a:lnTo>
                    <a:pt x="1695823" y="39237"/>
                  </a:lnTo>
                  <a:lnTo>
                    <a:pt x="1740405" y="50959"/>
                  </a:lnTo>
                  <a:lnTo>
                    <a:pt x="1784380" y="64128"/>
                  </a:lnTo>
                  <a:lnTo>
                    <a:pt x="1827722" y="78718"/>
                  </a:lnTo>
                  <a:lnTo>
                    <a:pt x="1870404" y="94702"/>
                  </a:lnTo>
                  <a:lnTo>
                    <a:pt x="1912399" y="112051"/>
                  </a:lnTo>
                  <a:lnTo>
                    <a:pt x="1953678" y="130740"/>
                  </a:lnTo>
                  <a:lnTo>
                    <a:pt x="1994216" y="150741"/>
                  </a:lnTo>
                  <a:lnTo>
                    <a:pt x="2033985" y="172026"/>
                  </a:lnTo>
                  <a:lnTo>
                    <a:pt x="2072958" y="194569"/>
                  </a:lnTo>
                  <a:lnTo>
                    <a:pt x="2111108" y="218343"/>
                  </a:lnTo>
                  <a:lnTo>
                    <a:pt x="2148407" y="243320"/>
                  </a:lnTo>
                  <a:lnTo>
                    <a:pt x="2184829" y="269473"/>
                  </a:lnTo>
                  <a:lnTo>
                    <a:pt x="2220346" y="296775"/>
                  </a:lnTo>
                  <a:lnTo>
                    <a:pt x="2254931" y="325199"/>
                  </a:lnTo>
                  <a:lnTo>
                    <a:pt x="2288557" y="354718"/>
                  </a:lnTo>
                  <a:lnTo>
                    <a:pt x="2321197" y="385304"/>
                  </a:lnTo>
                  <a:lnTo>
                    <a:pt x="2352824" y="416931"/>
                  </a:lnTo>
                  <a:lnTo>
                    <a:pt x="2383410" y="449571"/>
                  </a:lnTo>
                  <a:lnTo>
                    <a:pt x="2412929" y="483197"/>
                  </a:lnTo>
                  <a:lnTo>
                    <a:pt x="2441353" y="517783"/>
                  </a:lnTo>
                  <a:lnTo>
                    <a:pt x="2468655" y="553300"/>
                  </a:lnTo>
                  <a:lnTo>
                    <a:pt x="2494808" y="589721"/>
                  </a:lnTo>
                  <a:lnTo>
                    <a:pt x="2519785" y="627021"/>
                  </a:lnTo>
                  <a:lnTo>
                    <a:pt x="2543559" y="665170"/>
                  </a:lnTo>
                  <a:lnTo>
                    <a:pt x="2566102" y="704143"/>
                  </a:lnTo>
                  <a:lnTo>
                    <a:pt x="2587387" y="743912"/>
                  </a:lnTo>
                  <a:lnTo>
                    <a:pt x="2607388" y="784450"/>
                  </a:lnTo>
                  <a:lnTo>
                    <a:pt x="2626077" y="825730"/>
                  </a:lnTo>
                  <a:lnTo>
                    <a:pt x="2643426" y="867724"/>
                  </a:lnTo>
                  <a:lnTo>
                    <a:pt x="2659410" y="910406"/>
                  </a:lnTo>
                  <a:lnTo>
                    <a:pt x="2674000" y="953748"/>
                  </a:lnTo>
                  <a:lnTo>
                    <a:pt x="2687169" y="997724"/>
                  </a:lnTo>
                  <a:lnTo>
                    <a:pt x="2698891" y="1042305"/>
                  </a:lnTo>
                  <a:lnTo>
                    <a:pt x="2709138" y="1087466"/>
                  </a:lnTo>
                  <a:lnTo>
                    <a:pt x="2717883" y="1133178"/>
                  </a:lnTo>
                  <a:lnTo>
                    <a:pt x="2725099" y="1179415"/>
                  </a:lnTo>
                  <a:lnTo>
                    <a:pt x="2730759" y="1226149"/>
                  </a:lnTo>
                  <a:lnTo>
                    <a:pt x="2734835" y="1273353"/>
                  </a:lnTo>
                  <a:lnTo>
                    <a:pt x="2737301" y="1321001"/>
                  </a:lnTo>
                  <a:lnTo>
                    <a:pt x="2738129" y="1369065"/>
                  </a:lnTo>
                  <a:lnTo>
                    <a:pt x="2737301" y="1417128"/>
                  </a:lnTo>
                  <a:lnTo>
                    <a:pt x="2734835" y="1464776"/>
                  </a:lnTo>
                  <a:lnTo>
                    <a:pt x="2730759" y="1511980"/>
                  </a:lnTo>
                  <a:lnTo>
                    <a:pt x="2725099" y="1558714"/>
                  </a:lnTo>
                  <a:lnTo>
                    <a:pt x="2717883" y="1604951"/>
                  </a:lnTo>
                  <a:lnTo>
                    <a:pt x="2709138" y="1650663"/>
                  </a:lnTo>
                  <a:lnTo>
                    <a:pt x="2698891" y="1695823"/>
                  </a:lnTo>
                  <a:lnTo>
                    <a:pt x="2687169" y="1740405"/>
                  </a:lnTo>
                  <a:lnTo>
                    <a:pt x="2674000" y="1784380"/>
                  </a:lnTo>
                  <a:lnTo>
                    <a:pt x="2659410" y="1827722"/>
                  </a:lnTo>
                  <a:lnTo>
                    <a:pt x="2643426" y="1870404"/>
                  </a:lnTo>
                  <a:lnTo>
                    <a:pt x="2626077" y="1912399"/>
                  </a:lnTo>
                  <a:lnTo>
                    <a:pt x="2607388" y="1953678"/>
                  </a:lnTo>
                  <a:lnTo>
                    <a:pt x="2587387" y="1994216"/>
                  </a:lnTo>
                  <a:lnTo>
                    <a:pt x="2566102" y="2033985"/>
                  </a:lnTo>
                  <a:lnTo>
                    <a:pt x="2543559" y="2072958"/>
                  </a:lnTo>
                  <a:lnTo>
                    <a:pt x="2519785" y="2111108"/>
                  </a:lnTo>
                  <a:lnTo>
                    <a:pt x="2494808" y="2148407"/>
                  </a:lnTo>
                  <a:lnTo>
                    <a:pt x="2468655" y="2184829"/>
                  </a:lnTo>
                  <a:lnTo>
                    <a:pt x="2441353" y="2220346"/>
                  </a:lnTo>
                  <a:lnTo>
                    <a:pt x="2412929" y="2254931"/>
                  </a:lnTo>
                  <a:lnTo>
                    <a:pt x="2383410" y="2288557"/>
                  </a:lnTo>
                  <a:lnTo>
                    <a:pt x="2352824" y="2321197"/>
                  </a:lnTo>
                  <a:lnTo>
                    <a:pt x="2321197" y="2352824"/>
                  </a:lnTo>
                  <a:lnTo>
                    <a:pt x="2288557" y="2383410"/>
                  </a:lnTo>
                  <a:lnTo>
                    <a:pt x="2254931" y="2412929"/>
                  </a:lnTo>
                  <a:lnTo>
                    <a:pt x="2220346" y="2441353"/>
                  </a:lnTo>
                  <a:lnTo>
                    <a:pt x="2184829" y="2468655"/>
                  </a:lnTo>
                  <a:lnTo>
                    <a:pt x="2148407" y="2494808"/>
                  </a:lnTo>
                  <a:lnTo>
                    <a:pt x="2111108" y="2519785"/>
                  </a:lnTo>
                  <a:lnTo>
                    <a:pt x="2072958" y="2543559"/>
                  </a:lnTo>
                  <a:lnTo>
                    <a:pt x="2033985" y="2566102"/>
                  </a:lnTo>
                  <a:lnTo>
                    <a:pt x="1994216" y="2587387"/>
                  </a:lnTo>
                  <a:lnTo>
                    <a:pt x="1953678" y="2607388"/>
                  </a:lnTo>
                  <a:lnTo>
                    <a:pt x="1912399" y="2626077"/>
                  </a:lnTo>
                  <a:lnTo>
                    <a:pt x="1870404" y="2643426"/>
                  </a:lnTo>
                  <a:lnTo>
                    <a:pt x="1827722" y="2659410"/>
                  </a:lnTo>
                  <a:lnTo>
                    <a:pt x="1784380" y="2674000"/>
                  </a:lnTo>
                  <a:lnTo>
                    <a:pt x="1740405" y="2687169"/>
                  </a:lnTo>
                  <a:lnTo>
                    <a:pt x="1695823" y="2698891"/>
                  </a:lnTo>
                  <a:lnTo>
                    <a:pt x="1650663" y="2709138"/>
                  </a:lnTo>
                  <a:lnTo>
                    <a:pt x="1604951" y="2717883"/>
                  </a:lnTo>
                  <a:lnTo>
                    <a:pt x="1558714" y="2725099"/>
                  </a:lnTo>
                  <a:lnTo>
                    <a:pt x="1511980" y="2730759"/>
                  </a:lnTo>
                  <a:lnTo>
                    <a:pt x="1464776" y="2734835"/>
                  </a:lnTo>
                  <a:lnTo>
                    <a:pt x="1417128" y="2737301"/>
                  </a:lnTo>
                  <a:lnTo>
                    <a:pt x="1369065" y="2738129"/>
                  </a:lnTo>
                  <a:lnTo>
                    <a:pt x="1321001" y="2737301"/>
                  </a:lnTo>
                  <a:lnTo>
                    <a:pt x="1273353" y="2734835"/>
                  </a:lnTo>
                  <a:lnTo>
                    <a:pt x="1226149" y="2730759"/>
                  </a:lnTo>
                  <a:lnTo>
                    <a:pt x="1179415" y="2725099"/>
                  </a:lnTo>
                  <a:lnTo>
                    <a:pt x="1133178" y="2717883"/>
                  </a:lnTo>
                  <a:lnTo>
                    <a:pt x="1087466" y="2709138"/>
                  </a:lnTo>
                  <a:lnTo>
                    <a:pt x="1042305" y="2698891"/>
                  </a:lnTo>
                  <a:lnTo>
                    <a:pt x="997724" y="2687169"/>
                  </a:lnTo>
                  <a:lnTo>
                    <a:pt x="953748" y="2674000"/>
                  </a:lnTo>
                  <a:lnTo>
                    <a:pt x="910406" y="2659410"/>
                  </a:lnTo>
                  <a:lnTo>
                    <a:pt x="867724" y="2643426"/>
                  </a:lnTo>
                  <a:lnTo>
                    <a:pt x="825730" y="2626077"/>
                  </a:lnTo>
                  <a:lnTo>
                    <a:pt x="784450" y="2607388"/>
                  </a:lnTo>
                  <a:lnTo>
                    <a:pt x="743912" y="2587387"/>
                  </a:lnTo>
                  <a:lnTo>
                    <a:pt x="704143" y="2566102"/>
                  </a:lnTo>
                  <a:lnTo>
                    <a:pt x="665170" y="2543559"/>
                  </a:lnTo>
                  <a:lnTo>
                    <a:pt x="627021" y="2519785"/>
                  </a:lnTo>
                  <a:lnTo>
                    <a:pt x="589721" y="2494808"/>
                  </a:lnTo>
                  <a:lnTo>
                    <a:pt x="553300" y="2468655"/>
                  </a:lnTo>
                  <a:lnTo>
                    <a:pt x="517783" y="2441353"/>
                  </a:lnTo>
                  <a:lnTo>
                    <a:pt x="483197" y="2412929"/>
                  </a:lnTo>
                  <a:lnTo>
                    <a:pt x="449571" y="2383410"/>
                  </a:lnTo>
                  <a:lnTo>
                    <a:pt x="416931" y="2352824"/>
                  </a:lnTo>
                  <a:lnTo>
                    <a:pt x="385304" y="2321197"/>
                  </a:lnTo>
                  <a:lnTo>
                    <a:pt x="354718" y="2288557"/>
                  </a:lnTo>
                  <a:lnTo>
                    <a:pt x="325199" y="2254931"/>
                  </a:lnTo>
                  <a:lnTo>
                    <a:pt x="296775" y="2220346"/>
                  </a:lnTo>
                  <a:lnTo>
                    <a:pt x="269473" y="2184829"/>
                  </a:lnTo>
                  <a:lnTo>
                    <a:pt x="243320" y="2148407"/>
                  </a:lnTo>
                  <a:lnTo>
                    <a:pt x="218343" y="2111108"/>
                  </a:lnTo>
                  <a:lnTo>
                    <a:pt x="194569" y="2072958"/>
                  </a:lnTo>
                  <a:lnTo>
                    <a:pt x="172026" y="2033985"/>
                  </a:lnTo>
                  <a:lnTo>
                    <a:pt x="150741" y="1994216"/>
                  </a:lnTo>
                  <a:lnTo>
                    <a:pt x="130740" y="1953678"/>
                  </a:lnTo>
                  <a:lnTo>
                    <a:pt x="112051" y="1912399"/>
                  </a:lnTo>
                  <a:lnTo>
                    <a:pt x="94702" y="1870404"/>
                  </a:lnTo>
                  <a:lnTo>
                    <a:pt x="78718" y="1827722"/>
                  </a:lnTo>
                  <a:lnTo>
                    <a:pt x="64128" y="1784380"/>
                  </a:lnTo>
                  <a:lnTo>
                    <a:pt x="50959" y="1740405"/>
                  </a:lnTo>
                  <a:lnTo>
                    <a:pt x="39237" y="1695823"/>
                  </a:lnTo>
                  <a:lnTo>
                    <a:pt x="28990" y="1650663"/>
                  </a:lnTo>
                  <a:lnTo>
                    <a:pt x="20245" y="1604951"/>
                  </a:lnTo>
                  <a:lnTo>
                    <a:pt x="13029" y="1558714"/>
                  </a:lnTo>
                  <a:lnTo>
                    <a:pt x="7369" y="1511980"/>
                  </a:lnTo>
                  <a:lnTo>
                    <a:pt x="3293" y="1464776"/>
                  </a:lnTo>
                  <a:lnTo>
                    <a:pt x="827" y="1417128"/>
                  </a:lnTo>
                  <a:lnTo>
                    <a:pt x="0" y="1369065"/>
                  </a:lnTo>
                  <a:close/>
                </a:path>
              </a:pathLst>
            </a:custGeom>
            <a:ln w="12700">
              <a:solidFill>
                <a:srgbClr val="99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60957" y="4453576"/>
              <a:ext cx="152118" cy="15211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728544" y="3845102"/>
              <a:ext cx="2738755" cy="2738755"/>
            </a:xfrm>
            <a:custGeom>
              <a:avLst/>
              <a:gdLst/>
              <a:ahLst/>
              <a:cxnLst/>
              <a:rect l="l" t="t" r="r" b="b"/>
              <a:pathLst>
                <a:path w="2738754" h="2738754">
                  <a:moveTo>
                    <a:pt x="1369063" y="0"/>
                  </a:moveTo>
                  <a:lnTo>
                    <a:pt x="1321000" y="827"/>
                  </a:lnTo>
                  <a:lnTo>
                    <a:pt x="1273352" y="3293"/>
                  </a:lnTo>
                  <a:lnTo>
                    <a:pt x="1226148" y="7369"/>
                  </a:lnTo>
                  <a:lnTo>
                    <a:pt x="1179413" y="13029"/>
                  </a:lnTo>
                  <a:lnTo>
                    <a:pt x="1133177" y="20245"/>
                  </a:lnTo>
                  <a:lnTo>
                    <a:pt x="1087465" y="28990"/>
                  </a:lnTo>
                  <a:lnTo>
                    <a:pt x="1042304" y="39237"/>
                  </a:lnTo>
                  <a:lnTo>
                    <a:pt x="997723" y="50959"/>
                  </a:lnTo>
                  <a:lnTo>
                    <a:pt x="953747" y="64128"/>
                  </a:lnTo>
                  <a:lnTo>
                    <a:pt x="910405" y="78718"/>
                  </a:lnTo>
                  <a:lnTo>
                    <a:pt x="867723" y="94702"/>
                  </a:lnTo>
                  <a:lnTo>
                    <a:pt x="825729" y="112051"/>
                  </a:lnTo>
                  <a:lnTo>
                    <a:pt x="784449" y="130740"/>
                  </a:lnTo>
                  <a:lnTo>
                    <a:pt x="743911" y="150741"/>
                  </a:lnTo>
                  <a:lnTo>
                    <a:pt x="704142" y="172026"/>
                  </a:lnTo>
                  <a:lnTo>
                    <a:pt x="665170" y="194569"/>
                  </a:lnTo>
                  <a:lnTo>
                    <a:pt x="627020" y="218343"/>
                  </a:lnTo>
                  <a:lnTo>
                    <a:pt x="589721" y="243320"/>
                  </a:lnTo>
                  <a:lnTo>
                    <a:pt x="553299" y="269473"/>
                  </a:lnTo>
                  <a:lnTo>
                    <a:pt x="517782" y="296775"/>
                  </a:lnTo>
                  <a:lnTo>
                    <a:pt x="483197" y="325199"/>
                  </a:lnTo>
                  <a:lnTo>
                    <a:pt x="449571" y="354718"/>
                  </a:lnTo>
                  <a:lnTo>
                    <a:pt x="416931" y="385304"/>
                  </a:lnTo>
                  <a:lnTo>
                    <a:pt x="385304" y="416931"/>
                  </a:lnTo>
                  <a:lnTo>
                    <a:pt x="354717" y="449571"/>
                  </a:lnTo>
                  <a:lnTo>
                    <a:pt x="325199" y="483198"/>
                  </a:lnTo>
                  <a:lnTo>
                    <a:pt x="296775" y="517783"/>
                  </a:lnTo>
                  <a:lnTo>
                    <a:pt x="269473" y="553300"/>
                  </a:lnTo>
                  <a:lnTo>
                    <a:pt x="243320" y="589722"/>
                  </a:lnTo>
                  <a:lnTo>
                    <a:pt x="218343" y="627021"/>
                  </a:lnTo>
                  <a:lnTo>
                    <a:pt x="194569" y="665170"/>
                  </a:lnTo>
                  <a:lnTo>
                    <a:pt x="172026" y="704143"/>
                  </a:lnTo>
                  <a:lnTo>
                    <a:pt x="150741" y="743912"/>
                  </a:lnTo>
                  <a:lnTo>
                    <a:pt x="130740" y="784450"/>
                  </a:lnTo>
                  <a:lnTo>
                    <a:pt x="112051" y="825730"/>
                  </a:lnTo>
                  <a:lnTo>
                    <a:pt x="94702" y="867724"/>
                  </a:lnTo>
                  <a:lnTo>
                    <a:pt x="78718" y="910406"/>
                  </a:lnTo>
                  <a:lnTo>
                    <a:pt x="64128" y="953749"/>
                  </a:lnTo>
                  <a:lnTo>
                    <a:pt x="50959" y="997724"/>
                  </a:lnTo>
                  <a:lnTo>
                    <a:pt x="39237" y="1042306"/>
                  </a:lnTo>
                  <a:lnTo>
                    <a:pt x="28990" y="1087466"/>
                  </a:lnTo>
                  <a:lnTo>
                    <a:pt x="20245" y="1133178"/>
                  </a:lnTo>
                  <a:lnTo>
                    <a:pt x="13029" y="1179415"/>
                  </a:lnTo>
                  <a:lnTo>
                    <a:pt x="7369" y="1226149"/>
                  </a:lnTo>
                  <a:lnTo>
                    <a:pt x="3293" y="1273353"/>
                  </a:lnTo>
                  <a:lnTo>
                    <a:pt x="827" y="1321001"/>
                  </a:lnTo>
                  <a:lnTo>
                    <a:pt x="0" y="1369065"/>
                  </a:lnTo>
                  <a:lnTo>
                    <a:pt x="827" y="1417128"/>
                  </a:lnTo>
                  <a:lnTo>
                    <a:pt x="3293" y="1464776"/>
                  </a:lnTo>
                  <a:lnTo>
                    <a:pt x="7369" y="1511980"/>
                  </a:lnTo>
                  <a:lnTo>
                    <a:pt x="13029" y="1558714"/>
                  </a:lnTo>
                  <a:lnTo>
                    <a:pt x="20245" y="1604951"/>
                  </a:lnTo>
                  <a:lnTo>
                    <a:pt x="28990" y="1650663"/>
                  </a:lnTo>
                  <a:lnTo>
                    <a:pt x="39237" y="1695823"/>
                  </a:lnTo>
                  <a:lnTo>
                    <a:pt x="50959" y="1740405"/>
                  </a:lnTo>
                  <a:lnTo>
                    <a:pt x="64128" y="1784380"/>
                  </a:lnTo>
                  <a:lnTo>
                    <a:pt x="78718" y="1827722"/>
                  </a:lnTo>
                  <a:lnTo>
                    <a:pt x="94702" y="1870404"/>
                  </a:lnTo>
                  <a:lnTo>
                    <a:pt x="112051" y="1912399"/>
                  </a:lnTo>
                  <a:lnTo>
                    <a:pt x="130740" y="1953678"/>
                  </a:lnTo>
                  <a:lnTo>
                    <a:pt x="150741" y="1994216"/>
                  </a:lnTo>
                  <a:lnTo>
                    <a:pt x="172026" y="2033985"/>
                  </a:lnTo>
                  <a:lnTo>
                    <a:pt x="194569" y="2072958"/>
                  </a:lnTo>
                  <a:lnTo>
                    <a:pt x="218343" y="2111108"/>
                  </a:lnTo>
                  <a:lnTo>
                    <a:pt x="243320" y="2148407"/>
                  </a:lnTo>
                  <a:lnTo>
                    <a:pt x="269473" y="2184829"/>
                  </a:lnTo>
                  <a:lnTo>
                    <a:pt x="296775" y="2220346"/>
                  </a:lnTo>
                  <a:lnTo>
                    <a:pt x="325199" y="2254931"/>
                  </a:lnTo>
                  <a:lnTo>
                    <a:pt x="354717" y="2288557"/>
                  </a:lnTo>
                  <a:lnTo>
                    <a:pt x="385304" y="2321197"/>
                  </a:lnTo>
                  <a:lnTo>
                    <a:pt x="416931" y="2352824"/>
                  </a:lnTo>
                  <a:lnTo>
                    <a:pt x="449571" y="2383410"/>
                  </a:lnTo>
                  <a:lnTo>
                    <a:pt x="483197" y="2412929"/>
                  </a:lnTo>
                  <a:lnTo>
                    <a:pt x="517782" y="2441353"/>
                  </a:lnTo>
                  <a:lnTo>
                    <a:pt x="553299" y="2468655"/>
                  </a:lnTo>
                  <a:lnTo>
                    <a:pt x="589721" y="2494808"/>
                  </a:lnTo>
                  <a:lnTo>
                    <a:pt x="627020" y="2519785"/>
                  </a:lnTo>
                  <a:lnTo>
                    <a:pt x="665170" y="2543559"/>
                  </a:lnTo>
                  <a:lnTo>
                    <a:pt x="704142" y="2566102"/>
                  </a:lnTo>
                  <a:lnTo>
                    <a:pt x="743911" y="2587387"/>
                  </a:lnTo>
                  <a:lnTo>
                    <a:pt x="784449" y="2607388"/>
                  </a:lnTo>
                  <a:lnTo>
                    <a:pt x="825729" y="2626077"/>
                  </a:lnTo>
                  <a:lnTo>
                    <a:pt x="867723" y="2643426"/>
                  </a:lnTo>
                  <a:lnTo>
                    <a:pt x="910405" y="2659410"/>
                  </a:lnTo>
                  <a:lnTo>
                    <a:pt x="953747" y="2674000"/>
                  </a:lnTo>
                  <a:lnTo>
                    <a:pt x="997723" y="2687169"/>
                  </a:lnTo>
                  <a:lnTo>
                    <a:pt x="1042304" y="2698891"/>
                  </a:lnTo>
                  <a:lnTo>
                    <a:pt x="1087465" y="2709138"/>
                  </a:lnTo>
                  <a:lnTo>
                    <a:pt x="1133177" y="2717883"/>
                  </a:lnTo>
                  <a:lnTo>
                    <a:pt x="1179413" y="2725099"/>
                  </a:lnTo>
                  <a:lnTo>
                    <a:pt x="1226148" y="2730759"/>
                  </a:lnTo>
                  <a:lnTo>
                    <a:pt x="1273352" y="2734835"/>
                  </a:lnTo>
                  <a:lnTo>
                    <a:pt x="1321000" y="2737301"/>
                  </a:lnTo>
                  <a:lnTo>
                    <a:pt x="1369063" y="2738129"/>
                  </a:lnTo>
                  <a:lnTo>
                    <a:pt x="1417127" y="2737301"/>
                  </a:lnTo>
                  <a:lnTo>
                    <a:pt x="1464775" y="2734835"/>
                  </a:lnTo>
                  <a:lnTo>
                    <a:pt x="1511979" y="2730759"/>
                  </a:lnTo>
                  <a:lnTo>
                    <a:pt x="1558713" y="2725099"/>
                  </a:lnTo>
                  <a:lnTo>
                    <a:pt x="1604950" y="2717883"/>
                  </a:lnTo>
                  <a:lnTo>
                    <a:pt x="1650662" y="2709138"/>
                  </a:lnTo>
                  <a:lnTo>
                    <a:pt x="1695822" y="2698891"/>
                  </a:lnTo>
                  <a:lnTo>
                    <a:pt x="1740404" y="2687169"/>
                  </a:lnTo>
                  <a:lnTo>
                    <a:pt x="1784379" y="2674000"/>
                  </a:lnTo>
                  <a:lnTo>
                    <a:pt x="1827722" y="2659410"/>
                  </a:lnTo>
                  <a:lnTo>
                    <a:pt x="1870403" y="2643426"/>
                  </a:lnTo>
                  <a:lnTo>
                    <a:pt x="1912398" y="2626077"/>
                  </a:lnTo>
                  <a:lnTo>
                    <a:pt x="1953678" y="2607388"/>
                  </a:lnTo>
                  <a:lnTo>
                    <a:pt x="1994215" y="2587387"/>
                  </a:lnTo>
                  <a:lnTo>
                    <a:pt x="2033985" y="2566102"/>
                  </a:lnTo>
                  <a:lnTo>
                    <a:pt x="2072957" y="2543559"/>
                  </a:lnTo>
                  <a:lnTo>
                    <a:pt x="2111107" y="2519785"/>
                  </a:lnTo>
                  <a:lnTo>
                    <a:pt x="2148406" y="2494808"/>
                  </a:lnTo>
                  <a:lnTo>
                    <a:pt x="2184828" y="2468655"/>
                  </a:lnTo>
                  <a:lnTo>
                    <a:pt x="2220345" y="2441353"/>
                  </a:lnTo>
                  <a:lnTo>
                    <a:pt x="2254930" y="2412929"/>
                  </a:lnTo>
                  <a:lnTo>
                    <a:pt x="2288557" y="2383410"/>
                  </a:lnTo>
                  <a:lnTo>
                    <a:pt x="2321197" y="2352824"/>
                  </a:lnTo>
                  <a:lnTo>
                    <a:pt x="2352823" y="2321197"/>
                  </a:lnTo>
                  <a:lnTo>
                    <a:pt x="2383410" y="2288557"/>
                  </a:lnTo>
                  <a:lnTo>
                    <a:pt x="2412929" y="2254931"/>
                  </a:lnTo>
                  <a:lnTo>
                    <a:pt x="2441353" y="2220346"/>
                  </a:lnTo>
                  <a:lnTo>
                    <a:pt x="2468655" y="2184829"/>
                  </a:lnTo>
                  <a:lnTo>
                    <a:pt x="2494808" y="2148407"/>
                  </a:lnTo>
                  <a:lnTo>
                    <a:pt x="2519785" y="2111108"/>
                  </a:lnTo>
                  <a:lnTo>
                    <a:pt x="2543558" y="2072958"/>
                  </a:lnTo>
                  <a:lnTo>
                    <a:pt x="2566102" y="2033985"/>
                  </a:lnTo>
                  <a:lnTo>
                    <a:pt x="2587387" y="1994216"/>
                  </a:lnTo>
                  <a:lnTo>
                    <a:pt x="2607388" y="1953678"/>
                  </a:lnTo>
                  <a:lnTo>
                    <a:pt x="2626076" y="1912399"/>
                  </a:lnTo>
                  <a:lnTo>
                    <a:pt x="2643426" y="1870404"/>
                  </a:lnTo>
                  <a:lnTo>
                    <a:pt x="2659410" y="1827722"/>
                  </a:lnTo>
                  <a:lnTo>
                    <a:pt x="2674000" y="1784380"/>
                  </a:lnTo>
                  <a:lnTo>
                    <a:pt x="2687169" y="1740405"/>
                  </a:lnTo>
                  <a:lnTo>
                    <a:pt x="2698891" y="1695823"/>
                  </a:lnTo>
                  <a:lnTo>
                    <a:pt x="2709138" y="1650663"/>
                  </a:lnTo>
                  <a:lnTo>
                    <a:pt x="2717883" y="1604951"/>
                  </a:lnTo>
                  <a:lnTo>
                    <a:pt x="2725099" y="1558714"/>
                  </a:lnTo>
                  <a:lnTo>
                    <a:pt x="2730759" y="1511980"/>
                  </a:lnTo>
                  <a:lnTo>
                    <a:pt x="2734835" y="1464776"/>
                  </a:lnTo>
                  <a:lnTo>
                    <a:pt x="2737300" y="1417128"/>
                  </a:lnTo>
                  <a:lnTo>
                    <a:pt x="2738128" y="1369065"/>
                  </a:lnTo>
                  <a:lnTo>
                    <a:pt x="2737300" y="1321001"/>
                  </a:lnTo>
                  <a:lnTo>
                    <a:pt x="2734835" y="1273353"/>
                  </a:lnTo>
                  <a:lnTo>
                    <a:pt x="2730759" y="1226149"/>
                  </a:lnTo>
                  <a:lnTo>
                    <a:pt x="2725099" y="1179415"/>
                  </a:lnTo>
                  <a:lnTo>
                    <a:pt x="2717883" y="1133178"/>
                  </a:lnTo>
                  <a:lnTo>
                    <a:pt x="2709138" y="1087466"/>
                  </a:lnTo>
                  <a:lnTo>
                    <a:pt x="2698891" y="1042306"/>
                  </a:lnTo>
                  <a:lnTo>
                    <a:pt x="2687169" y="997724"/>
                  </a:lnTo>
                  <a:lnTo>
                    <a:pt x="2674000" y="953749"/>
                  </a:lnTo>
                  <a:lnTo>
                    <a:pt x="2659410" y="910406"/>
                  </a:lnTo>
                  <a:lnTo>
                    <a:pt x="2643426" y="867724"/>
                  </a:lnTo>
                  <a:lnTo>
                    <a:pt x="2626076" y="825730"/>
                  </a:lnTo>
                  <a:lnTo>
                    <a:pt x="2607388" y="784450"/>
                  </a:lnTo>
                  <a:lnTo>
                    <a:pt x="2587387" y="743912"/>
                  </a:lnTo>
                  <a:lnTo>
                    <a:pt x="2566102" y="704143"/>
                  </a:lnTo>
                  <a:lnTo>
                    <a:pt x="2543558" y="665170"/>
                  </a:lnTo>
                  <a:lnTo>
                    <a:pt x="2519785" y="627021"/>
                  </a:lnTo>
                  <a:lnTo>
                    <a:pt x="2494808" y="589722"/>
                  </a:lnTo>
                  <a:lnTo>
                    <a:pt x="2468655" y="553300"/>
                  </a:lnTo>
                  <a:lnTo>
                    <a:pt x="2441353" y="517783"/>
                  </a:lnTo>
                  <a:lnTo>
                    <a:pt x="2412929" y="483198"/>
                  </a:lnTo>
                  <a:lnTo>
                    <a:pt x="2383410" y="449571"/>
                  </a:lnTo>
                  <a:lnTo>
                    <a:pt x="2352823" y="416931"/>
                  </a:lnTo>
                  <a:lnTo>
                    <a:pt x="2321197" y="385304"/>
                  </a:lnTo>
                  <a:lnTo>
                    <a:pt x="2288557" y="354718"/>
                  </a:lnTo>
                  <a:lnTo>
                    <a:pt x="2254930" y="325199"/>
                  </a:lnTo>
                  <a:lnTo>
                    <a:pt x="2220345" y="296775"/>
                  </a:lnTo>
                  <a:lnTo>
                    <a:pt x="2184828" y="269473"/>
                  </a:lnTo>
                  <a:lnTo>
                    <a:pt x="2148406" y="243320"/>
                  </a:lnTo>
                  <a:lnTo>
                    <a:pt x="2111107" y="218343"/>
                  </a:lnTo>
                  <a:lnTo>
                    <a:pt x="2072957" y="194569"/>
                  </a:lnTo>
                  <a:lnTo>
                    <a:pt x="2033985" y="172026"/>
                  </a:lnTo>
                  <a:lnTo>
                    <a:pt x="1994215" y="150741"/>
                  </a:lnTo>
                  <a:lnTo>
                    <a:pt x="1953678" y="130740"/>
                  </a:lnTo>
                  <a:lnTo>
                    <a:pt x="1912398" y="112051"/>
                  </a:lnTo>
                  <a:lnTo>
                    <a:pt x="1870403" y="94702"/>
                  </a:lnTo>
                  <a:lnTo>
                    <a:pt x="1827722" y="78718"/>
                  </a:lnTo>
                  <a:lnTo>
                    <a:pt x="1784379" y="64128"/>
                  </a:lnTo>
                  <a:lnTo>
                    <a:pt x="1740404" y="50959"/>
                  </a:lnTo>
                  <a:lnTo>
                    <a:pt x="1695822" y="39237"/>
                  </a:lnTo>
                  <a:lnTo>
                    <a:pt x="1650662" y="28990"/>
                  </a:lnTo>
                  <a:lnTo>
                    <a:pt x="1604950" y="20245"/>
                  </a:lnTo>
                  <a:lnTo>
                    <a:pt x="1558713" y="13029"/>
                  </a:lnTo>
                  <a:lnTo>
                    <a:pt x="1511979" y="7369"/>
                  </a:lnTo>
                  <a:lnTo>
                    <a:pt x="1464775" y="3293"/>
                  </a:lnTo>
                  <a:lnTo>
                    <a:pt x="1417127" y="827"/>
                  </a:lnTo>
                  <a:lnTo>
                    <a:pt x="1369063" y="0"/>
                  </a:lnTo>
                  <a:close/>
                </a:path>
              </a:pathLst>
            </a:custGeom>
            <a:solidFill>
              <a:srgbClr val="FFC5CF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28544" y="3845102"/>
              <a:ext cx="2738755" cy="2738755"/>
            </a:xfrm>
            <a:custGeom>
              <a:avLst/>
              <a:gdLst/>
              <a:ahLst/>
              <a:cxnLst/>
              <a:rect l="l" t="t" r="r" b="b"/>
              <a:pathLst>
                <a:path w="2738754" h="2738754">
                  <a:moveTo>
                    <a:pt x="0" y="1369065"/>
                  </a:moveTo>
                  <a:lnTo>
                    <a:pt x="827" y="1321001"/>
                  </a:lnTo>
                  <a:lnTo>
                    <a:pt x="3293" y="1273353"/>
                  </a:lnTo>
                  <a:lnTo>
                    <a:pt x="7369" y="1226149"/>
                  </a:lnTo>
                  <a:lnTo>
                    <a:pt x="13029" y="1179415"/>
                  </a:lnTo>
                  <a:lnTo>
                    <a:pt x="20245" y="1133178"/>
                  </a:lnTo>
                  <a:lnTo>
                    <a:pt x="28990" y="1087466"/>
                  </a:lnTo>
                  <a:lnTo>
                    <a:pt x="39237" y="1042305"/>
                  </a:lnTo>
                  <a:lnTo>
                    <a:pt x="50959" y="997724"/>
                  </a:lnTo>
                  <a:lnTo>
                    <a:pt x="64128" y="953748"/>
                  </a:lnTo>
                  <a:lnTo>
                    <a:pt x="78718" y="910406"/>
                  </a:lnTo>
                  <a:lnTo>
                    <a:pt x="94702" y="867724"/>
                  </a:lnTo>
                  <a:lnTo>
                    <a:pt x="112051" y="825730"/>
                  </a:lnTo>
                  <a:lnTo>
                    <a:pt x="130740" y="784450"/>
                  </a:lnTo>
                  <a:lnTo>
                    <a:pt x="150741" y="743912"/>
                  </a:lnTo>
                  <a:lnTo>
                    <a:pt x="172026" y="704143"/>
                  </a:lnTo>
                  <a:lnTo>
                    <a:pt x="194569" y="665170"/>
                  </a:lnTo>
                  <a:lnTo>
                    <a:pt x="218343" y="627021"/>
                  </a:lnTo>
                  <a:lnTo>
                    <a:pt x="243320" y="589721"/>
                  </a:lnTo>
                  <a:lnTo>
                    <a:pt x="269473" y="553300"/>
                  </a:lnTo>
                  <a:lnTo>
                    <a:pt x="296775" y="517783"/>
                  </a:lnTo>
                  <a:lnTo>
                    <a:pt x="325199" y="483197"/>
                  </a:lnTo>
                  <a:lnTo>
                    <a:pt x="354718" y="449571"/>
                  </a:lnTo>
                  <a:lnTo>
                    <a:pt x="385304" y="416931"/>
                  </a:lnTo>
                  <a:lnTo>
                    <a:pt x="416931" y="385304"/>
                  </a:lnTo>
                  <a:lnTo>
                    <a:pt x="449571" y="354718"/>
                  </a:lnTo>
                  <a:lnTo>
                    <a:pt x="483197" y="325199"/>
                  </a:lnTo>
                  <a:lnTo>
                    <a:pt x="517783" y="296775"/>
                  </a:lnTo>
                  <a:lnTo>
                    <a:pt x="553300" y="269473"/>
                  </a:lnTo>
                  <a:lnTo>
                    <a:pt x="589721" y="243320"/>
                  </a:lnTo>
                  <a:lnTo>
                    <a:pt x="627021" y="218343"/>
                  </a:lnTo>
                  <a:lnTo>
                    <a:pt x="665170" y="194569"/>
                  </a:lnTo>
                  <a:lnTo>
                    <a:pt x="704143" y="172026"/>
                  </a:lnTo>
                  <a:lnTo>
                    <a:pt x="743912" y="150741"/>
                  </a:lnTo>
                  <a:lnTo>
                    <a:pt x="784450" y="130740"/>
                  </a:lnTo>
                  <a:lnTo>
                    <a:pt x="825730" y="112051"/>
                  </a:lnTo>
                  <a:lnTo>
                    <a:pt x="867724" y="94702"/>
                  </a:lnTo>
                  <a:lnTo>
                    <a:pt x="910406" y="78718"/>
                  </a:lnTo>
                  <a:lnTo>
                    <a:pt x="953748" y="64128"/>
                  </a:lnTo>
                  <a:lnTo>
                    <a:pt x="997724" y="50959"/>
                  </a:lnTo>
                  <a:lnTo>
                    <a:pt x="1042305" y="39237"/>
                  </a:lnTo>
                  <a:lnTo>
                    <a:pt x="1087466" y="28990"/>
                  </a:lnTo>
                  <a:lnTo>
                    <a:pt x="1133178" y="20245"/>
                  </a:lnTo>
                  <a:lnTo>
                    <a:pt x="1179415" y="13029"/>
                  </a:lnTo>
                  <a:lnTo>
                    <a:pt x="1226149" y="7369"/>
                  </a:lnTo>
                  <a:lnTo>
                    <a:pt x="1273353" y="3293"/>
                  </a:lnTo>
                  <a:lnTo>
                    <a:pt x="1321001" y="827"/>
                  </a:lnTo>
                  <a:lnTo>
                    <a:pt x="1369065" y="0"/>
                  </a:lnTo>
                  <a:lnTo>
                    <a:pt x="1417128" y="827"/>
                  </a:lnTo>
                  <a:lnTo>
                    <a:pt x="1464776" y="3293"/>
                  </a:lnTo>
                  <a:lnTo>
                    <a:pt x="1511980" y="7369"/>
                  </a:lnTo>
                  <a:lnTo>
                    <a:pt x="1558714" y="13029"/>
                  </a:lnTo>
                  <a:lnTo>
                    <a:pt x="1604951" y="20245"/>
                  </a:lnTo>
                  <a:lnTo>
                    <a:pt x="1650663" y="28990"/>
                  </a:lnTo>
                  <a:lnTo>
                    <a:pt x="1695823" y="39237"/>
                  </a:lnTo>
                  <a:lnTo>
                    <a:pt x="1740405" y="50959"/>
                  </a:lnTo>
                  <a:lnTo>
                    <a:pt x="1784380" y="64128"/>
                  </a:lnTo>
                  <a:lnTo>
                    <a:pt x="1827722" y="78718"/>
                  </a:lnTo>
                  <a:lnTo>
                    <a:pt x="1870404" y="94702"/>
                  </a:lnTo>
                  <a:lnTo>
                    <a:pt x="1912399" y="112051"/>
                  </a:lnTo>
                  <a:lnTo>
                    <a:pt x="1953678" y="130740"/>
                  </a:lnTo>
                  <a:lnTo>
                    <a:pt x="1994216" y="150741"/>
                  </a:lnTo>
                  <a:lnTo>
                    <a:pt x="2033985" y="172026"/>
                  </a:lnTo>
                  <a:lnTo>
                    <a:pt x="2072958" y="194569"/>
                  </a:lnTo>
                  <a:lnTo>
                    <a:pt x="2111108" y="218343"/>
                  </a:lnTo>
                  <a:lnTo>
                    <a:pt x="2148407" y="243320"/>
                  </a:lnTo>
                  <a:lnTo>
                    <a:pt x="2184829" y="269473"/>
                  </a:lnTo>
                  <a:lnTo>
                    <a:pt x="2220346" y="296775"/>
                  </a:lnTo>
                  <a:lnTo>
                    <a:pt x="2254931" y="325199"/>
                  </a:lnTo>
                  <a:lnTo>
                    <a:pt x="2288557" y="354718"/>
                  </a:lnTo>
                  <a:lnTo>
                    <a:pt x="2321197" y="385304"/>
                  </a:lnTo>
                  <a:lnTo>
                    <a:pt x="2352824" y="416931"/>
                  </a:lnTo>
                  <a:lnTo>
                    <a:pt x="2383410" y="449571"/>
                  </a:lnTo>
                  <a:lnTo>
                    <a:pt x="2412929" y="483197"/>
                  </a:lnTo>
                  <a:lnTo>
                    <a:pt x="2441353" y="517783"/>
                  </a:lnTo>
                  <a:lnTo>
                    <a:pt x="2468655" y="553300"/>
                  </a:lnTo>
                  <a:lnTo>
                    <a:pt x="2494808" y="589721"/>
                  </a:lnTo>
                  <a:lnTo>
                    <a:pt x="2519785" y="627021"/>
                  </a:lnTo>
                  <a:lnTo>
                    <a:pt x="2543559" y="665170"/>
                  </a:lnTo>
                  <a:lnTo>
                    <a:pt x="2566102" y="704143"/>
                  </a:lnTo>
                  <a:lnTo>
                    <a:pt x="2587387" y="743912"/>
                  </a:lnTo>
                  <a:lnTo>
                    <a:pt x="2607388" y="784450"/>
                  </a:lnTo>
                  <a:lnTo>
                    <a:pt x="2626077" y="825730"/>
                  </a:lnTo>
                  <a:lnTo>
                    <a:pt x="2643426" y="867724"/>
                  </a:lnTo>
                  <a:lnTo>
                    <a:pt x="2659410" y="910406"/>
                  </a:lnTo>
                  <a:lnTo>
                    <a:pt x="2674000" y="953748"/>
                  </a:lnTo>
                  <a:lnTo>
                    <a:pt x="2687169" y="997724"/>
                  </a:lnTo>
                  <a:lnTo>
                    <a:pt x="2698891" y="1042305"/>
                  </a:lnTo>
                  <a:lnTo>
                    <a:pt x="2709138" y="1087466"/>
                  </a:lnTo>
                  <a:lnTo>
                    <a:pt x="2717883" y="1133178"/>
                  </a:lnTo>
                  <a:lnTo>
                    <a:pt x="2725099" y="1179415"/>
                  </a:lnTo>
                  <a:lnTo>
                    <a:pt x="2730759" y="1226149"/>
                  </a:lnTo>
                  <a:lnTo>
                    <a:pt x="2734835" y="1273353"/>
                  </a:lnTo>
                  <a:lnTo>
                    <a:pt x="2737301" y="1321001"/>
                  </a:lnTo>
                  <a:lnTo>
                    <a:pt x="2738129" y="1369065"/>
                  </a:lnTo>
                  <a:lnTo>
                    <a:pt x="2737301" y="1417128"/>
                  </a:lnTo>
                  <a:lnTo>
                    <a:pt x="2734835" y="1464776"/>
                  </a:lnTo>
                  <a:lnTo>
                    <a:pt x="2730759" y="1511980"/>
                  </a:lnTo>
                  <a:lnTo>
                    <a:pt x="2725099" y="1558714"/>
                  </a:lnTo>
                  <a:lnTo>
                    <a:pt x="2717883" y="1604951"/>
                  </a:lnTo>
                  <a:lnTo>
                    <a:pt x="2709138" y="1650663"/>
                  </a:lnTo>
                  <a:lnTo>
                    <a:pt x="2698891" y="1695823"/>
                  </a:lnTo>
                  <a:lnTo>
                    <a:pt x="2687169" y="1740405"/>
                  </a:lnTo>
                  <a:lnTo>
                    <a:pt x="2674000" y="1784380"/>
                  </a:lnTo>
                  <a:lnTo>
                    <a:pt x="2659410" y="1827722"/>
                  </a:lnTo>
                  <a:lnTo>
                    <a:pt x="2643426" y="1870404"/>
                  </a:lnTo>
                  <a:lnTo>
                    <a:pt x="2626077" y="1912399"/>
                  </a:lnTo>
                  <a:lnTo>
                    <a:pt x="2607388" y="1953678"/>
                  </a:lnTo>
                  <a:lnTo>
                    <a:pt x="2587387" y="1994216"/>
                  </a:lnTo>
                  <a:lnTo>
                    <a:pt x="2566102" y="2033985"/>
                  </a:lnTo>
                  <a:lnTo>
                    <a:pt x="2543559" y="2072958"/>
                  </a:lnTo>
                  <a:lnTo>
                    <a:pt x="2519785" y="2111108"/>
                  </a:lnTo>
                  <a:lnTo>
                    <a:pt x="2494808" y="2148407"/>
                  </a:lnTo>
                  <a:lnTo>
                    <a:pt x="2468655" y="2184829"/>
                  </a:lnTo>
                  <a:lnTo>
                    <a:pt x="2441353" y="2220346"/>
                  </a:lnTo>
                  <a:lnTo>
                    <a:pt x="2412929" y="2254931"/>
                  </a:lnTo>
                  <a:lnTo>
                    <a:pt x="2383410" y="2288557"/>
                  </a:lnTo>
                  <a:lnTo>
                    <a:pt x="2352824" y="2321197"/>
                  </a:lnTo>
                  <a:lnTo>
                    <a:pt x="2321197" y="2352824"/>
                  </a:lnTo>
                  <a:lnTo>
                    <a:pt x="2288557" y="2383410"/>
                  </a:lnTo>
                  <a:lnTo>
                    <a:pt x="2254931" y="2412929"/>
                  </a:lnTo>
                  <a:lnTo>
                    <a:pt x="2220346" y="2441353"/>
                  </a:lnTo>
                  <a:lnTo>
                    <a:pt x="2184829" y="2468655"/>
                  </a:lnTo>
                  <a:lnTo>
                    <a:pt x="2148407" y="2494808"/>
                  </a:lnTo>
                  <a:lnTo>
                    <a:pt x="2111108" y="2519785"/>
                  </a:lnTo>
                  <a:lnTo>
                    <a:pt x="2072958" y="2543559"/>
                  </a:lnTo>
                  <a:lnTo>
                    <a:pt x="2033985" y="2566102"/>
                  </a:lnTo>
                  <a:lnTo>
                    <a:pt x="1994216" y="2587387"/>
                  </a:lnTo>
                  <a:lnTo>
                    <a:pt x="1953678" y="2607388"/>
                  </a:lnTo>
                  <a:lnTo>
                    <a:pt x="1912399" y="2626077"/>
                  </a:lnTo>
                  <a:lnTo>
                    <a:pt x="1870404" y="2643426"/>
                  </a:lnTo>
                  <a:lnTo>
                    <a:pt x="1827722" y="2659410"/>
                  </a:lnTo>
                  <a:lnTo>
                    <a:pt x="1784380" y="2674000"/>
                  </a:lnTo>
                  <a:lnTo>
                    <a:pt x="1740405" y="2687169"/>
                  </a:lnTo>
                  <a:lnTo>
                    <a:pt x="1695823" y="2698891"/>
                  </a:lnTo>
                  <a:lnTo>
                    <a:pt x="1650663" y="2709138"/>
                  </a:lnTo>
                  <a:lnTo>
                    <a:pt x="1604951" y="2717883"/>
                  </a:lnTo>
                  <a:lnTo>
                    <a:pt x="1558714" y="2725099"/>
                  </a:lnTo>
                  <a:lnTo>
                    <a:pt x="1511980" y="2730759"/>
                  </a:lnTo>
                  <a:lnTo>
                    <a:pt x="1464776" y="2734835"/>
                  </a:lnTo>
                  <a:lnTo>
                    <a:pt x="1417128" y="2737301"/>
                  </a:lnTo>
                  <a:lnTo>
                    <a:pt x="1369065" y="2738129"/>
                  </a:lnTo>
                  <a:lnTo>
                    <a:pt x="1321001" y="2737301"/>
                  </a:lnTo>
                  <a:lnTo>
                    <a:pt x="1273353" y="2734835"/>
                  </a:lnTo>
                  <a:lnTo>
                    <a:pt x="1226149" y="2730759"/>
                  </a:lnTo>
                  <a:lnTo>
                    <a:pt x="1179415" y="2725099"/>
                  </a:lnTo>
                  <a:lnTo>
                    <a:pt x="1133178" y="2717883"/>
                  </a:lnTo>
                  <a:lnTo>
                    <a:pt x="1087466" y="2709138"/>
                  </a:lnTo>
                  <a:lnTo>
                    <a:pt x="1042305" y="2698891"/>
                  </a:lnTo>
                  <a:lnTo>
                    <a:pt x="997724" y="2687169"/>
                  </a:lnTo>
                  <a:lnTo>
                    <a:pt x="953748" y="2674000"/>
                  </a:lnTo>
                  <a:lnTo>
                    <a:pt x="910406" y="2659410"/>
                  </a:lnTo>
                  <a:lnTo>
                    <a:pt x="867724" y="2643426"/>
                  </a:lnTo>
                  <a:lnTo>
                    <a:pt x="825730" y="2626077"/>
                  </a:lnTo>
                  <a:lnTo>
                    <a:pt x="784450" y="2607388"/>
                  </a:lnTo>
                  <a:lnTo>
                    <a:pt x="743912" y="2587387"/>
                  </a:lnTo>
                  <a:lnTo>
                    <a:pt x="704143" y="2566102"/>
                  </a:lnTo>
                  <a:lnTo>
                    <a:pt x="665170" y="2543559"/>
                  </a:lnTo>
                  <a:lnTo>
                    <a:pt x="627021" y="2519785"/>
                  </a:lnTo>
                  <a:lnTo>
                    <a:pt x="589721" y="2494808"/>
                  </a:lnTo>
                  <a:lnTo>
                    <a:pt x="553300" y="2468655"/>
                  </a:lnTo>
                  <a:lnTo>
                    <a:pt x="517783" y="2441353"/>
                  </a:lnTo>
                  <a:lnTo>
                    <a:pt x="483197" y="2412929"/>
                  </a:lnTo>
                  <a:lnTo>
                    <a:pt x="449571" y="2383410"/>
                  </a:lnTo>
                  <a:lnTo>
                    <a:pt x="416931" y="2352824"/>
                  </a:lnTo>
                  <a:lnTo>
                    <a:pt x="385304" y="2321197"/>
                  </a:lnTo>
                  <a:lnTo>
                    <a:pt x="354718" y="2288557"/>
                  </a:lnTo>
                  <a:lnTo>
                    <a:pt x="325199" y="2254931"/>
                  </a:lnTo>
                  <a:lnTo>
                    <a:pt x="296775" y="2220346"/>
                  </a:lnTo>
                  <a:lnTo>
                    <a:pt x="269473" y="2184829"/>
                  </a:lnTo>
                  <a:lnTo>
                    <a:pt x="243320" y="2148407"/>
                  </a:lnTo>
                  <a:lnTo>
                    <a:pt x="218343" y="2111108"/>
                  </a:lnTo>
                  <a:lnTo>
                    <a:pt x="194569" y="2072958"/>
                  </a:lnTo>
                  <a:lnTo>
                    <a:pt x="172026" y="2033985"/>
                  </a:lnTo>
                  <a:lnTo>
                    <a:pt x="150741" y="1994216"/>
                  </a:lnTo>
                  <a:lnTo>
                    <a:pt x="130740" y="1953678"/>
                  </a:lnTo>
                  <a:lnTo>
                    <a:pt x="112051" y="1912399"/>
                  </a:lnTo>
                  <a:lnTo>
                    <a:pt x="94702" y="1870404"/>
                  </a:lnTo>
                  <a:lnTo>
                    <a:pt x="78718" y="1827722"/>
                  </a:lnTo>
                  <a:lnTo>
                    <a:pt x="64128" y="1784380"/>
                  </a:lnTo>
                  <a:lnTo>
                    <a:pt x="50959" y="1740405"/>
                  </a:lnTo>
                  <a:lnTo>
                    <a:pt x="39237" y="1695823"/>
                  </a:lnTo>
                  <a:lnTo>
                    <a:pt x="28990" y="1650663"/>
                  </a:lnTo>
                  <a:lnTo>
                    <a:pt x="20245" y="1604951"/>
                  </a:lnTo>
                  <a:lnTo>
                    <a:pt x="13029" y="1558714"/>
                  </a:lnTo>
                  <a:lnTo>
                    <a:pt x="7369" y="1511980"/>
                  </a:lnTo>
                  <a:lnTo>
                    <a:pt x="3293" y="1464776"/>
                  </a:lnTo>
                  <a:lnTo>
                    <a:pt x="827" y="1417128"/>
                  </a:lnTo>
                  <a:lnTo>
                    <a:pt x="0" y="1369065"/>
                  </a:lnTo>
                  <a:close/>
                </a:path>
              </a:pathLst>
            </a:custGeom>
            <a:ln w="12700">
              <a:solidFill>
                <a:srgbClr val="FFC5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21547" y="5138107"/>
              <a:ext cx="152118" cy="152118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999995" y="1776476"/>
            <a:ext cx="683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Alice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88502" y="1736852"/>
            <a:ext cx="550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Times New Roman"/>
                <a:cs typeface="Times New Roman"/>
              </a:rPr>
              <a:t>Bob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099807" y="1764287"/>
            <a:ext cx="2900045" cy="1047750"/>
            <a:chOff x="5099807" y="1764287"/>
            <a:chExt cx="2900045" cy="1047750"/>
          </a:xfrm>
        </p:grpSpPr>
        <p:sp>
          <p:nvSpPr>
            <p:cNvPr id="19" name="object 19"/>
            <p:cNvSpPr/>
            <p:nvPr/>
          </p:nvSpPr>
          <p:spPr>
            <a:xfrm>
              <a:off x="5247928" y="1840095"/>
              <a:ext cx="2675890" cy="872490"/>
            </a:xfrm>
            <a:custGeom>
              <a:avLst/>
              <a:gdLst/>
              <a:ahLst/>
              <a:cxnLst/>
              <a:rect l="l" t="t" r="r" b="b"/>
              <a:pathLst>
                <a:path w="2675890" h="872489">
                  <a:moveTo>
                    <a:pt x="0" y="872455"/>
                  </a:moveTo>
                  <a:lnTo>
                    <a:pt x="2675533" y="0"/>
                  </a:lnTo>
                </a:path>
              </a:pathLst>
            </a:custGeom>
            <a:ln w="50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9807" y="2660323"/>
              <a:ext cx="151614" cy="15161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47652" y="1764287"/>
              <a:ext cx="151614" cy="151615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6937289" y="1398523"/>
            <a:ext cx="821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Cathy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8374956" y="6556326"/>
            <a:ext cx="554852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6525">
              <a:lnSpc>
                <a:spcPts val="1645"/>
              </a:lnSpc>
            </a:pPr>
            <a:fld id="{81D60167-4931-47E6-BA6A-407CBD079E47}" type="slidenum">
              <a:rPr spc="-50" dirty="0"/>
              <a:t>41</a:t>
            </a:fld>
            <a:endParaRPr spc="-50" dirty="0"/>
          </a:p>
        </p:txBody>
      </p:sp>
      <p:sp>
        <p:nvSpPr>
          <p:cNvPr id="23" name="object 23"/>
          <p:cNvSpPr txBox="1"/>
          <p:nvPr/>
        </p:nvSpPr>
        <p:spPr>
          <a:xfrm>
            <a:off x="5325706" y="2703067"/>
            <a:ext cx="516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Times New Roman"/>
                <a:cs typeface="Times New Roman"/>
              </a:rPr>
              <a:t>Eve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D9B65A2-79F3-32E1-02C2-88781B314E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72C8E57-475F-4E5B-B40B-5973D2A46384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sp>
        <p:nvSpPr>
          <p:cNvPr id="1884162" name="Rectangle 2">
            <a:extLst>
              <a:ext uri="{FF2B5EF4-FFF2-40B4-BE49-F238E27FC236}">
                <a16:creationId xmlns:a16="http://schemas.microsoft.com/office/drawing/2014/main" id="{0660428D-3FAE-54D3-22F5-EFFE1900E5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Wireless Links: </a:t>
            </a:r>
            <a:r>
              <a:rPr lang="en-US" altLang="en-US" dirty="0">
                <a:solidFill>
                  <a:srgbClr val="FF0000"/>
                </a:solidFill>
              </a:rPr>
              <a:t>High Bit Error Rate</a:t>
            </a:r>
          </a:p>
        </p:txBody>
      </p:sp>
      <p:sp>
        <p:nvSpPr>
          <p:cNvPr id="1884163" name="Rectangle 3">
            <a:extLst>
              <a:ext uri="{FF2B5EF4-FFF2-40B4-BE49-F238E27FC236}">
                <a16:creationId xmlns:a16="http://schemas.microsoft.com/office/drawing/2014/main" id="{28CA8CA5-C755-A91D-7E35-E0CA08EE84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458200" cy="52578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“</a:t>
            </a:r>
            <a:r>
              <a:rPr lang="en-US" sz="1800" b="1" dirty="0">
                <a:solidFill>
                  <a:schemeClr val="tx1"/>
                </a:solidFill>
              </a:rPr>
              <a:t>Wireless communication often faces disruptions from the environment, causing more errors in the received data, known as a </a:t>
            </a:r>
            <a:r>
              <a:rPr lang="en-US" sz="1800" b="1" dirty="0">
                <a:solidFill>
                  <a:srgbClr val="FF0000"/>
                </a:solidFill>
              </a:rPr>
              <a:t>high Bit Error Rate (BER).”</a:t>
            </a:r>
          </a:p>
          <a:p>
            <a:pPr marL="0" indent="0">
              <a:buNone/>
            </a:pPr>
            <a:r>
              <a:rPr lang="en-US" altLang="en-US" sz="1800" b="1" dirty="0">
                <a:solidFill>
                  <a:schemeClr val="accent1"/>
                </a:solidFill>
              </a:rPr>
              <a:t>Factors Contributing to </a:t>
            </a:r>
            <a:r>
              <a:rPr lang="en-US" altLang="en-US" sz="1800" b="1" dirty="0">
                <a:solidFill>
                  <a:srgbClr val="FF0000"/>
                </a:solidFill>
              </a:rPr>
              <a:t>High BER</a:t>
            </a:r>
            <a:r>
              <a:rPr lang="en-US" altLang="en-US" sz="1800" b="1" dirty="0">
                <a:solidFill>
                  <a:schemeClr val="accent1"/>
                </a:solidFill>
              </a:rPr>
              <a:t>::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400" dirty="0"/>
              <a:t>Signal Attenuation:</a:t>
            </a:r>
          </a:p>
          <a:p>
            <a:pPr lvl="1"/>
            <a:r>
              <a:rPr lang="en-US" sz="1400" dirty="0"/>
              <a:t>Signal gets weaker with distance or obstacles, making it harder to receive clearly.</a:t>
            </a:r>
            <a:endParaRPr lang="en-US" altLang="en-US" sz="1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Noise and Interference:</a:t>
            </a:r>
          </a:p>
          <a:p>
            <a:pPr lvl="1"/>
            <a:r>
              <a:rPr lang="en-US" sz="1400" dirty="0"/>
              <a:t>Other electronic signals mix with the intended one, causing data errors.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Multipath Fading &amp; Environmental Obstructions:</a:t>
            </a:r>
          </a:p>
          <a:p>
            <a:pPr lvl="1"/>
            <a:r>
              <a:rPr lang="en-US" sz="1400" dirty="0"/>
              <a:t>Reflected signals arrive at different times, distorting the original message.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Doppler Shift (Mobility):</a:t>
            </a:r>
          </a:p>
          <a:p>
            <a:pPr lvl="1"/>
            <a:r>
              <a:rPr lang="en-US" sz="1400" dirty="0"/>
              <a:t>Movement causes frequency changes, making signal decoding difficult.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dirty="0">
                <a:solidFill>
                  <a:srgbClr val="0000FF"/>
                </a:solidFill>
              </a:rPr>
              <a:t>Broadcast Limitations at </a:t>
            </a:r>
            <a:r>
              <a:rPr lang="en-US" altLang="en-US" dirty="0"/>
              <a:t>Wireless Links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0AA77BEE-29F1-568F-CA01-53A95F6BB0EE}"/>
              </a:ext>
            </a:extLst>
          </p:cNvPr>
          <p:cNvSpPr txBox="1">
            <a:spLocks/>
          </p:cNvSpPr>
          <p:nvPr/>
        </p:nvSpPr>
        <p:spPr>
          <a:xfrm>
            <a:off x="257397" y="295275"/>
            <a:ext cx="8581803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8BC3168-776B-C11F-58C3-541254B3EE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3F0BA3-A1BF-4B7A-B454-4DDD9B606BF0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sp>
        <p:nvSpPr>
          <p:cNvPr id="1890306" name="Rectangle 2">
            <a:extLst>
              <a:ext uri="{FF2B5EF4-FFF2-40B4-BE49-F238E27FC236}">
                <a16:creationId xmlns:a16="http://schemas.microsoft.com/office/drawing/2014/main" id="{C40543FC-5CEA-97A2-E647-CC18A59929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Dealing With Bit Errors</a:t>
            </a:r>
          </a:p>
        </p:txBody>
      </p:sp>
      <p:sp>
        <p:nvSpPr>
          <p:cNvPr id="1890307" name="Rectangle 3">
            <a:extLst>
              <a:ext uri="{FF2B5EF4-FFF2-40B4-BE49-F238E27FC236}">
                <a16:creationId xmlns:a16="http://schemas.microsoft.com/office/drawing/2014/main" id="{DDFF150C-CEE6-3D05-1943-5DE4F4791E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Wireless vs. wired links</a:t>
            </a:r>
          </a:p>
          <a:p>
            <a:pPr lvl="1"/>
            <a:r>
              <a:rPr lang="en-US" altLang="en-US" dirty="0"/>
              <a:t>Wired: most loss is due to congestion</a:t>
            </a:r>
          </a:p>
          <a:p>
            <a:pPr lvl="1"/>
            <a:r>
              <a:rPr lang="en-US" altLang="en-US" dirty="0"/>
              <a:t>Wireless: higher, time-varying bit-error ate</a:t>
            </a:r>
          </a:p>
          <a:p>
            <a:r>
              <a:rPr lang="en-US" altLang="en-US" dirty="0"/>
              <a:t>Dealing with high bit-error rates</a:t>
            </a:r>
          </a:p>
          <a:p>
            <a:pPr lvl="1"/>
            <a:r>
              <a:rPr lang="en-US" altLang="en-US" dirty="0"/>
              <a:t>Sender could increase transmission power</a:t>
            </a:r>
          </a:p>
          <a:p>
            <a:pPr lvl="2"/>
            <a:r>
              <a:rPr lang="en-US" altLang="en-US" dirty="0"/>
              <a:t>Requires more energy (bad for battery-powered hosts)</a:t>
            </a:r>
          </a:p>
          <a:p>
            <a:pPr lvl="2"/>
            <a:r>
              <a:rPr lang="en-US" altLang="en-US" dirty="0"/>
              <a:t>Creates more interference with other senders</a:t>
            </a:r>
          </a:p>
          <a:p>
            <a:pPr lvl="1"/>
            <a:r>
              <a:rPr lang="en-US" altLang="en-US" dirty="0"/>
              <a:t>Stronger error detection and recovery</a:t>
            </a:r>
          </a:p>
          <a:p>
            <a:pPr lvl="2"/>
            <a:r>
              <a:rPr lang="en-US" altLang="en-US" dirty="0"/>
              <a:t>More powerful error detection codes</a:t>
            </a:r>
          </a:p>
          <a:p>
            <a:pPr lvl="2"/>
            <a:r>
              <a:rPr lang="en-US" altLang="en-US" dirty="0"/>
              <a:t>Link-layer retransmission of corrupted frames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12B14C6C-A639-80C5-7C0F-77132E072FB6}"/>
              </a:ext>
            </a:extLst>
          </p:cNvPr>
          <p:cNvSpPr txBox="1">
            <a:spLocks/>
          </p:cNvSpPr>
          <p:nvPr/>
        </p:nvSpPr>
        <p:spPr>
          <a:xfrm>
            <a:off x="281098" y="362331"/>
            <a:ext cx="8581803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2850101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59B3D-4BAF-114B-8642-71C81D88B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AF827DF-2BD5-CC6C-E267-C38F0A7096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72C8E57-475F-4E5B-B40B-5973D2A46384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sp>
        <p:nvSpPr>
          <p:cNvPr id="1884162" name="Rectangle 2">
            <a:extLst>
              <a:ext uri="{FF2B5EF4-FFF2-40B4-BE49-F238E27FC236}">
                <a16:creationId xmlns:a16="http://schemas.microsoft.com/office/drawing/2014/main" id="{1479783A-9467-6161-80B9-067A31A52E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1" y="3200400"/>
            <a:ext cx="5562600" cy="685800"/>
          </a:xfrm>
        </p:spPr>
        <p:txBody>
          <a:bodyPr/>
          <a:lstStyle/>
          <a:p>
            <a:r>
              <a:rPr lang="en-US" sz="3600" dirty="0">
                <a:solidFill>
                  <a:srgbClr val="C00000"/>
                </a:solidFill>
              </a:rPr>
              <a:t>1. Signal Attenuation</a:t>
            </a:r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5484856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178F9-13A6-B60A-2952-A28E57DF8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B387EF2-1423-C8FE-CC63-5B14A45F37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72C8E57-475F-4E5B-B40B-5973D2A46384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grpSp>
        <p:nvGrpSpPr>
          <p:cNvPr id="1884168" name="Group 8">
            <a:extLst>
              <a:ext uri="{FF2B5EF4-FFF2-40B4-BE49-F238E27FC236}">
                <a16:creationId xmlns:a16="http://schemas.microsoft.com/office/drawing/2014/main" id="{B0A8855A-4952-CD56-DBB1-E28C0D7F54FF}"/>
              </a:ext>
            </a:extLst>
          </p:cNvPr>
          <p:cNvGrpSpPr>
            <a:grpSpLocks/>
          </p:cNvGrpSpPr>
          <p:nvPr/>
        </p:nvGrpSpPr>
        <p:grpSpPr bwMode="auto">
          <a:xfrm>
            <a:off x="1268413" y="2743201"/>
            <a:ext cx="5894387" cy="2743200"/>
            <a:chOff x="1259" y="2233"/>
            <a:chExt cx="3266" cy="1968"/>
          </a:xfrm>
        </p:grpSpPr>
        <p:pic>
          <p:nvPicPr>
            <p:cNvPr id="1884165" name="Picture 5">
              <a:extLst>
                <a:ext uri="{FF2B5EF4-FFF2-40B4-BE49-F238E27FC236}">
                  <a16:creationId xmlns:a16="http://schemas.microsoft.com/office/drawing/2014/main" id="{5FC35EED-C94F-4880-639C-137E32236A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4" y="2281"/>
              <a:ext cx="2952" cy="1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84166" name="Rectangle 6">
              <a:extLst>
                <a:ext uri="{FF2B5EF4-FFF2-40B4-BE49-F238E27FC236}">
                  <a16:creationId xmlns:a16="http://schemas.microsoft.com/office/drawing/2014/main" id="{54B9CD9D-6F62-F3F9-A672-E8485746D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9" y="3660"/>
              <a:ext cx="3266" cy="5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84167" name="Rectangle 7">
              <a:extLst>
                <a:ext uri="{FF2B5EF4-FFF2-40B4-BE49-F238E27FC236}">
                  <a16:creationId xmlns:a16="http://schemas.microsoft.com/office/drawing/2014/main" id="{36359389-A96C-EC0C-4906-3465B5D072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3" y="2233"/>
              <a:ext cx="339" cy="17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</p:grpSp>
      <p:sp>
        <p:nvSpPr>
          <p:cNvPr id="1884162" name="Rectangle 2">
            <a:extLst>
              <a:ext uri="{FF2B5EF4-FFF2-40B4-BE49-F238E27FC236}">
                <a16:creationId xmlns:a16="http://schemas.microsoft.com/office/drawing/2014/main" id="{871D9E5E-ECC4-8701-AB25-ED24D24AD6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C00000"/>
                </a:solidFill>
              </a:rPr>
              <a:t>1. Signal Attenuation</a:t>
            </a:r>
            <a:endParaRPr lang="en-US" altLang="en-US" sz="3600" dirty="0"/>
          </a:p>
        </p:txBody>
      </p:sp>
      <p:sp>
        <p:nvSpPr>
          <p:cNvPr id="1884163" name="Rectangle 3">
            <a:extLst>
              <a:ext uri="{FF2B5EF4-FFF2-40B4-BE49-F238E27FC236}">
                <a16:creationId xmlns:a16="http://schemas.microsoft.com/office/drawing/2014/main" id="{5F623331-863C-B51B-7141-8617E5117C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19201"/>
            <a:ext cx="8458200" cy="1295400"/>
          </a:xfrm>
        </p:spPr>
        <p:txBody>
          <a:bodyPr/>
          <a:lstStyle/>
          <a:p>
            <a:r>
              <a:rPr lang="en-US" sz="2400" dirty="0">
                <a:solidFill>
                  <a:srgbClr val="C00000"/>
                </a:solidFill>
              </a:rPr>
              <a:t>Signal Attenuation:: </a:t>
            </a:r>
            <a:r>
              <a:rPr lang="en-US" altLang="en-US" sz="2400" dirty="0"/>
              <a:t>Decreasing signal strength</a:t>
            </a:r>
          </a:p>
          <a:p>
            <a:pPr lvl="1"/>
            <a:r>
              <a:rPr lang="en-US" altLang="en-US" sz="2000" dirty="0"/>
              <a:t>Disperses as it travels greater distance</a:t>
            </a:r>
          </a:p>
          <a:p>
            <a:pPr lvl="1"/>
            <a:r>
              <a:rPr lang="en-US" altLang="en-US" sz="2000" dirty="0"/>
              <a:t>Attenuates as it passes through matter</a:t>
            </a:r>
          </a:p>
          <a:p>
            <a:pPr lvl="1">
              <a:buFont typeface="Helvetica" panose="020B0604020202020204" pitchFamily="34" charset="0"/>
              <a:buNone/>
            </a:pPr>
            <a:endParaRPr lang="en-US" altLang="en-US" sz="1600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C4124A8E-2FF7-29D4-8D07-59C00B997783}"/>
              </a:ext>
            </a:extLst>
          </p:cNvPr>
          <p:cNvSpPr txBox="1">
            <a:spLocks/>
          </p:cNvSpPr>
          <p:nvPr/>
        </p:nvSpPr>
        <p:spPr>
          <a:xfrm>
            <a:off x="352254" y="335001"/>
            <a:ext cx="7801146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5082859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B6288-732B-AD3C-C9EA-4FC5C68FC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55177F8-BAAE-37F4-5B93-14A744F868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72C8E57-475F-4E5B-B40B-5973D2A46384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sp>
        <p:nvSpPr>
          <p:cNvPr id="1884162" name="Rectangle 2">
            <a:extLst>
              <a:ext uri="{FF2B5EF4-FFF2-40B4-BE49-F238E27FC236}">
                <a16:creationId xmlns:a16="http://schemas.microsoft.com/office/drawing/2014/main" id="{A68592D1-BFBD-0B27-416C-8AE78D4BB0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C00000"/>
                </a:solidFill>
              </a:rPr>
              <a:t>1.Signal Attenuation:: High BER</a:t>
            </a:r>
            <a:endParaRPr lang="en-US" altLang="en-US" dirty="0"/>
          </a:p>
        </p:txBody>
      </p:sp>
      <p:sp>
        <p:nvSpPr>
          <p:cNvPr id="1884163" name="Rectangle 3">
            <a:extLst>
              <a:ext uri="{FF2B5EF4-FFF2-40B4-BE49-F238E27FC236}">
                <a16:creationId xmlns:a16="http://schemas.microsoft.com/office/drawing/2014/main" id="{34281ACA-66AC-5A99-8EF1-C053A97FBB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458200" cy="1868033"/>
          </a:xfrm>
        </p:spPr>
        <p:txBody>
          <a:bodyPr/>
          <a:lstStyle/>
          <a:p>
            <a:r>
              <a:rPr lang="en-US" altLang="en-US" sz="2400" dirty="0"/>
              <a:t>Decreasing signal strength</a:t>
            </a:r>
          </a:p>
          <a:p>
            <a:pPr lvl="1"/>
            <a:r>
              <a:rPr lang="en-US" altLang="en-US" sz="2000" dirty="0"/>
              <a:t>Disperses as it travels greater distance</a:t>
            </a:r>
          </a:p>
          <a:p>
            <a:pPr lvl="1"/>
            <a:r>
              <a:rPr lang="en-US" altLang="en-US" sz="2000" dirty="0"/>
              <a:t>Attenuates as it passes through matter</a:t>
            </a:r>
          </a:p>
          <a:p>
            <a:pPr lvl="2"/>
            <a:r>
              <a:rPr lang="en-US" altLang="en-US" sz="1800" dirty="0"/>
              <a:t>Metal particles present in air</a:t>
            </a:r>
          </a:p>
          <a:p>
            <a:pPr lvl="2"/>
            <a:r>
              <a:rPr lang="en-US" altLang="en-US" sz="1800" dirty="0"/>
              <a:t>Noice and interference</a:t>
            </a:r>
          </a:p>
          <a:p>
            <a:pPr lvl="1">
              <a:buFont typeface="Helvetica" panose="020B0604020202020204" pitchFamily="34" charset="0"/>
              <a:buNone/>
            </a:pPr>
            <a:endParaRPr lang="en-US" alt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18AD49-288E-C2F0-9EFA-9586EE0CA1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8627" y="2964027"/>
            <a:ext cx="3630166" cy="24201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100E4C-EEBD-7731-094B-6941FF816E56}"/>
              </a:ext>
            </a:extLst>
          </p:cNvPr>
          <p:cNvSpPr txBox="1"/>
          <p:nvPr/>
        </p:nvSpPr>
        <p:spPr>
          <a:xfrm>
            <a:off x="504639" y="5825608"/>
            <a:ext cx="84581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Lower signal-to-noise ratio (SNR) increases the probability of bit errors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2996400A-F749-5684-93DA-9E594697B069}"/>
              </a:ext>
            </a:extLst>
          </p:cNvPr>
          <p:cNvSpPr txBox="1">
            <a:spLocks/>
          </p:cNvSpPr>
          <p:nvPr/>
        </p:nvSpPr>
        <p:spPr>
          <a:xfrm>
            <a:off x="352254" y="335001"/>
            <a:ext cx="7801146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3365262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396FD-0B9C-2BC0-FEB3-881E6D952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C9A35C4-4B83-35EF-A49C-2F83ED5BFD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72C8E57-475F-4E5B-B40B-5973D2A46384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sp>
        <p:nvSpPr>
          <p:cNvPr id="1884162" name="Rectangle 2">
            <a:extLst>
              <a:ext uri="{FF2B5EF4-FFF2-40B4-BE49-F238E27FC236}">
                <a16:creationId xmlns:a16="http://schemas.microsoft.com/office/drawing/2014/main" id="{3619018B-89D8-4853-1D03-272C33BBF6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C00000"/>
                </a:solidFill>
              </a:rPr>
              <a:t>1.Signal Attenuation</a:t>
            </a:r>
            <a:endParaRPr lang="en-US" altLang="en-US" dirty="0"/>
          </a:p>
        </p:txBody>
      </p:sp>
      <p:sp>
        <p:nvSpPr>
          <p:cNvPr id="1884163" name="Rectangle 3">
            <a:extLst>
              <a:ext uri="{FF2B5EF4-FFF2-40B4-BE49-F238E27FC236}">
                <a16:creationId xmlns:a16="http://schemas.microsoft.com/office/drawing/2014/main" id="{74913AD9-A21C-9727-1707-83E953A254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199" y="1219201"/>
            <a:ext cx="8190279" cy="728166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Received Signal Strength:: </a:t>
            </a:r>
            <a:r>
              <a:rPr lang="en-US" altLang="en-US" dirty="0">
                <a:solidFill>
                  <a:srgbClr val="00B0F0"/>
                </a:solidFill>
              </a:rPr>
              <a:t>Wired</a:t>
            </a:r>
            <a:r>
              <a:rPr lang="en-US" altLang="en-US" dirty="0"/>
              <a:t> vs </a:t>
            </a:r>
            <a:r>
              <a:rPr lang="en-US" altLang="en-US" dirty="0">
                <a:solidFill>
                  <a:srgbClr val="FF0000"/>
                </a:solidFill>
              </a:rPr>
              <a:t>Wireless</a:t>
            </a:r>
          </a:p>
          <a:p>
            <a:pPr lvl="1">
              <a:buFont typeface="Helvetica" panose="020B0604020202020204" pitchFamily="34" charset="0"/>
              <a:buNone/>
            </a:pPr>
            <a:endParaRPr lang="en-US" altLang="en-US" sz="2000" dirty="0"/>
          </a:p>
        </p:txBody>
      </p:sp>
      <p:grpSp>
        <p:nvGrpSpPr>
          <p:cNvPr id="5" name="Group 21">
            <a:extLst>
              <a:ext uri="{FF2B5EF4-FFF2-40B4-BE49-F238E27FC236}">
                <a16:creationId xmlns:a16="http://schemas.microsoft.com/office/drawing/2014/main" id="{E58E7D75-85B9-5BC9-2D39-B21289B57C8F}"/>
              </a:ext>
            </a:extLst>
          </p:cNvPr>
          <p:cNvGrpSpPr>
            <a:grpSpLocks/>
          </p:cNvGrpSpPr>
          <p:nvPr/>
        </p:nvGrpSpPr>
        <p:grpSpPr bwMode="auto">
          <a:xfrm>
            <a:off x="4673450" y="3819144"/>
            <a:ext cx="3684715" cy="2642616"/>
            <a:chOff x="3264" y="1698"/>
            <a:chExt cx="2176" cy="1404"/>
          </a:xfrm>
        </p:grpSpPr>
        <p:grpSp>
          <p:nvGrpSpPr>
            <p:cNvPr id="6" name="Group 22">
              <a:extLst>
                <a:ext uri="{FF2B5EF4-FFF2-40B4-BE49-F238E27FC236}">
                  <a16:creationId xmlns:a16="http://schemas.microsoft.com/office/drawing/2014/main" id="{1F73E932-4AC5-E33A-322A-B20CF2C5DE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4" y="1698"/>
              <a:ext cx="2113" cy="455"/>
              <a:chOff x="3256" y="1911"/>
              <a:chExt cx="2113" cy="455"/>
            </a:xfrm>
          </p:grpSpPr>
          <p:grpSp>
            <p:nvGrpSpPr>
              <p:cNvPr id="17" name="Group 23">
                <a:extLst>
                  <a:ext uri="{FF2B5EF4-FFF2-40B4-BE49-F238E27FC236}">
                    <a16:creationId xmlns:a16="http://schemas.microsoft.com/office/drawing/2014/main" id="{0C803F72-3B2A-5D12-FE56-375A1EBDB7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03" y="1911"/>
                <a:ext cx="482" cy="439"/>
                <a:chOff x="2870" y="1518"/>
                <a:chExt cx="292" cy="320"/>
              </a:xfrm>
            </p:grpSpPr>
            <p:graphicFrame>
              <p:nvGraphicFramePr>
                <p:cNvPr id="27" name="Object 24">
                  <a:extLst>
                    <a:ext uri="{FF2B5EF4-FFF2-40B4-BE49-F238E27FC236}">
                      <a16:creationId xmlns:a16="http://schemas.microsoft.com/office/drawing/2014/main" id="{1F71C0F0-836A-AA48-60EB-43E3FECE384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3" imgW="819000" imgH="847800" progId="MS_ClipArt_Gallery.2">
                        <p:embed/>
                      </p:oleObj>
                    </mc:Choice>
                    <mc:Fallback>
                      <p:oleObj name="Clip" r:id="rId3" imgW="819000" imgH="847800" progId="MS_ClipArt_Gallery.2">
                        <p:embed/>
                        <p:pic>
                          <p:nvPicPr>
                            <p:cNvPr id="27" name="Object 24">
                              <a:extLst>
                                <a:ext uri="{FF2B5EF4-FFF2-40B4-BE49-F238E27FC236}">
                                  <a16:creationId xmlns:a16="http://schemas.microsoft.com/office/drawing/2014/main" id="{1F71C0F0-836A-AA48-60EB-43E3FECE3841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70" y="1518"/>
                              <a:ext cx="272" cy="2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8" name="Object 25">
                  <a:extLst>
                    <a:ext uri="{FF2B5EF4-FFF2-40B4-BE49-F238E27FC236}">
                      <a16:creationId xmlns:a16="http://schemas.microsoft.com/office/drawing/2014/main" id="{E819FF80-583F-B916-5B30-3C7D1FFF6EE0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5" imgW="1266840" imgH="1200240" progId="MS_ClipArt_Gallery.2">
                        <p:embed/>
                      </p:oleObj>
                    </mc:Choice>
                    <mc:Fallback>
                      <p:oleObj name="Clip" r:id="rId5" imgW="1266840" imgH="1200240" progId="MS_ClipArt_Gallery.2">
                        <p:embed/>
                        <p:pic>
                          <p:nvPicPr>
                            <p:cNvPr id="28" name="Object 25">
                              <a:extLst>
                                <a:ext uri="{FF2B5EF4-FFF2-40B4-BE49-F238E27FC236}">
                                  <a16:creationId xmlns:a16="http://schemas.microsoft.com/office/drawing/2014/main" id="{E819FF80-583F-B916-5B30-3C7D1FFF6EE0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13" y="1602"/>
                              <a:ext cx="249" cy="2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8" name="Group 26">
                <a:extLst>
                  <a:ext uri="{FF2B5EF4-FFF2-40B4-BE49-F238E27FC236}">
                    <a16:creationId xmlns:a16="http://schemas.microsoft.com/office/drawing/2014/main" id="{48F82D36-E056-85F8-5B28-63AEED7562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37" y="1919"/>
                <a:ext cx="482" cy="439"/>
                <a:chOff x="2870" y="1518"/>
                <a:chExt cx="292" cy="320"/>
              </a:xfrm>
            </p:grpSpPr>
            <p:graphicFrame>
              <p:nvGraphicFramePr>
                <p:cNvPr id="25" name="Object 24">
                  <a:extLst>
                    <a:ext uri="{FF2B5EF4-FFF2-40B4-BE49-F238E27FC236}">
                      <a16:creationId xmlns:a16="http://schemas.microsoft.com/office/drawing/2014/main" id="{09963156-B18E-CAAC-2DEE-F913F3BB462D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3" imgW="819000" imgH="847800" progId="MS_ClipArt_Gallery.2">
                        <p:embed/>
                      </p:oleObj>
                    </mc:Choice>
                    <mc:Fallback>
                      <p:oleObj name="Clip" r:id="rId3" imgW="819000" imgH="847800" progId="MS_ClipArt_Gallery.2">
                        <p:embed/>
                        <p:pic>
                          <p:nvPicPr>
                            <p:cNvPr id="25" name="Object 24">
                              <a:extLst>
                                <a:ext uri="{FF2B5EF4-FFF2-40B4-BE49-F238E27FC236}">
                                  <a16:creationId xmlns:a16="http://schemas.microsoft.com/office/drawing/2014/main" id="{09963156-B18E-CAAC-2DEE-F913F3BB462D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70" y="1518"/>
                              <a:ext cx="272" cy="2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6" name="Object 25">
                  <a:extLst>
                    <a:ext uri="{FF2B5EF4-FFF2-40B4-BE49-F238E27FC236}">
                      <a16:creationId xmlns:a16="http://schemas.microsoft.com/office/drawing/2014/main" id="{57908FFD-4644-CDF4-C0EF-60647F4E90AD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5" imgW="1266840" imgH="1200240" progId="MS_ClipArt_Gallery.2">
                        <p:embed/>
                      </p:oleObj>
                    </mc:Choice>
                    <mc:Fallback>
                      <p:oleObj name="Clip" r:id="rId5" imgW="1266840" imgH="1200240" progId="MS_ClipArt_Gallery.2">
                        <p:embed/>
                        <p:pic>
                          <p:nvPicPr>
                            <p:cNvPr id="26" name="Object 25">
                              <a:extLst>
                                <a:ext uri="{FF2B5EF4-FFF2-40B4-BE49-F238E27FC236}">
                                  <a16:creationId xmlns:a16="http://schemas.microsoft.com/office/drawing/2014/main" id="{57908FFD-4644-CDF4-C0EF-60647F4E90AD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13" y="1602"/>
                              <a:ext cx="249" cy="2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9" name="Text Box 29">
                <a:extLst>
                  <a:ext uri="{FF2B5EF4-FFF2-40B4-BE49-F238E27FC236}">
                    <a16:creationId xmlns:a16="http://schemas.microsoft.com/office/drawing/2014/main" id="{F91F9B49-AB00-1DC8-0CBB-817E8D9F63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56" y="2029"/>
                <a:ext cx="180" cy="1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Arial"/>
                  </a:rPr>
                  <a:t>A</a:t>
                </a:r>
              </a:p>
            </p:txBody>
          </p:sp>
          <p:sp>
            <p:nvSpPr>
              <p:cNvPr id="20" name="Text Box 30">
                <a:extLst>
                  <a:ext uri="{FF2B5EF4-FFF2-40B4-BE49-F238E27FC236}">
                    <a16:creationId xmlns:a16="http://schemas.microsoft.com/office/drawing/2014/main" id="{64EE44ED-9B1A-FA3A-6834-7683898C4B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59" y="2027"/>
                <a:ext cx="207" cy="1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Arial"/>
                  </a:rPr>
                  <a:t>B</a:t>
                </a:r>
              </a:p>
            </p:txBody>
          </p:sp>
          <p:sp>
            <p:nvSpPr>
              <p:cNvPr id="21" name="Text Box 31">
                <a:extLst>
                  <a:ext uri="{FF2B5EF4-FFF2-40B4-BE49-F238E27FC236}">
                    <a16:creationId xmlns:a16="http://schemas.microsoft.com/office/drawing/2014/main" id="{F36B2E2E-4ECB-6B0F-590A-0A1351B099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03" y="2054"/>
                <a:ext cx="166" cy="1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Arial"/>
                  </a:rPr>
                  <a:t>C</a:t>
                </a:r>
              </a:p>
            </p:txBody>
          </p:sp>
          <p:grpSp>
            <p:nvGrpSpPr>
              <p:cNvPr id="22" name="Group 32">
                <a:extLst>
                  <a:ext uri="{FF2B5EF4-FFF2-40B4-BE49-F238E27FC236}">
                    <a16:creationId xmlns:a16="http://schemas.microsoft.com/office/drawing/2014/main" id="{1DB646F7-6709-6B57-68EB-A399E6FAD7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26" y="1927"/>
                <a:ext cx="482" cy="439"/>
                <a:chOff x="2870" y="1518"/>
                <a:chExt cx="292" cy="320"/>
              </a:xfrm>
            </p:grpSpPr>
            <p:graphicFrame>
              <p:nvGraphicFramePr>
                <p:cNvPr id="23" name="Object 33">
                  <a:extLst>
                    <a:ext uri="{FF2B5EF4-FFF2-40B4-BE49-F238E27FC236}">
                      <a16:creationId xmlns:a16="http://schemas.microsoft.com/office/drawing/2014/main" id="{3C887C53-F21E-AD08-E10F-6D51E17E93DC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3" imgW="819000" imgH="847800" progId="MS_ClipArt_Gallery.2">
                        <p:embed/>
                      </p:oleObj>
                    </mc:Choice>
                    <mc:Fallback>
                      <p:oleObj name="Clip" r:id="rId3" imgW="819000" imgH="847800" progId="MS_ClipArt_Gallery.2">
                        <p:embed/>
                        <p:pic>
                          <p:nvPicPr>
                            <p:cNvPr id="23" name="Object 33">
                              <a:extLst>
                                <a:ext uri="{FF2B5EF4-FFF2-40B4-BE49-F238E27FC236}">
                                  <a16:creationId xmlns:a16="http://schemas.microsoft.com/office/drawing/2014/main" id="{3C887C53-F21E-AD08-E10F-6D51E17E93DC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70" y="1518"/>
                              <a:ext cx="272" cy="2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4" name="Object 34">
                  <a:extLst>
                    <a:ext uri="{FF2B5EF4-FFF2-40B4-BE49-F238E27FC236}">
                      <a16:creationId xmlns:a16="http://schemas.microsoft.com/office/drawing/2014/main" id="{95EA8AE3-3056-9D81-73C9-29CC2011B308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7" imgW="1266840" imgH="1200240" progId="MS_ClipArt_Gallery.2">
                        <p:embed/>
                      </p:oleObj>
                    </mc:Choice>
                    <mc:Fallback>
                      <p:oleObj name="Clip" r:id="rId7" imgW="1266840" imgH="1200240" progId="MS_ClipArt_Gallery.2">
                        <p:embed/>
                        <p:pic>
                          <p:nvPicPr>
                            <p:cNvPr id="24" name="Object 34">
                              <a:extLst>
                                <a:ext uri="{FF2B5EF4-FFF2-40B4-BE49-F238E27FC236}">
                                  <a16:creationId xmlns:a16="http://schemas.microsoft.com/office/drawing/2014/main" id="{95EA8AE3-3056-9D81-73C9-29CC2011B308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13" y="1602"/>
                              <a:ext cx="249" cy="2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7" name="Text Box 35">
              <a:extLst>
                <a:ext uri="{FF2B5EF4-FFF2-40B4-BE49-F238E27FC236}">
                  <a16:creationId xmlns:a16="http://schemas.microsoft.com/office/drawing/2014/main" id="{5DA3C767-76A5-6191-8E03-40B0789383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0" y="2337"/>
              <a:ext cx="487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A’s signal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strength</a:t>
              </a:r>
            </a:p>
          </p:txBody>
        </p:sp>
        <p:sp>
          <p:nvSpPr>
            <p:cNvPr id="8" name="Line 36">
              <a:extLst>
                <a:ext uri="{FF2B5EF4-FFF2-40B4-BE49-F238E27FC236}">
                  <a16:creationId xmlns:a16="http://schemas.microsoft.com/office/drawing/2014/main" id="{FBBB1707-1EF8-BBB5-8764-3449D19BA8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9" y="2985"/>
              <a:ext cx="2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9" name="Line 37">
              <a:extLst>
                <a:ext uri="{FF2B5EF4-FFF2-40B4-BE49-F238E27FC236}">
                  <a16:creationId xmlns:a16="http://schemas.microsoft.com/office/drawing/2014/main" id="{A44D2A69-4DE4-4ACE-0D8D-EBD1656C8B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5" y="2242"/>
              <a:ext cx="0" cy="7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0" name="Freeform 38">
              <a:extLst>
                <a:ext uri="{FF2B5EF4-FFF2-40B4-BE49-F238E27FC236}">
                  <a16:creationId xmlns:a16="http://schemas.microsoft.com/office/drawing/2014/main" id="{2831F7B3-B566-326B-B832-649D5999C4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7" y="2277"/>
              <a:ext cx="1887" cy="681"/>
            </a:xfrm>
            <a:custGeom>
              <a:avLst/>
              <a:gdLst>
                <a:gd name="T0" fmla="*/ 0 w 1887"/>
                <a:gd name="T1" fmla="*/ 0 h 681"/>
                <a:gd name="T2" fmla="*/ 966 w 1887"/>
                <a:gd name="T3" fmla="*/ 151 h 681"/>
                <a:gd name="T4" fmla="*/ 1373 w 1887"/>
                <a:gd name="T5" fmla="*/ 594 h 681"/>
                <a:gd name="T6" fmla="*/ 1887 w 1887"/>
                <a:gd name="T7" fmla="*/ 673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87" h="681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1" name="Text Box 39">
              <a:extLst>
                <a:ext uri="{FF2B5EF4-FFF2-40B4-BE49-F238E27FC236}">
                  <a16:creationId xmlns:a16="http://schemas.microsoft.com/office/drawing/2014/main" id="{62C4962C-79F7-F7E5-805D-157698FB94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8" y="2962"/>
              <a:ext cx="297" cy="1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space</a:t>
              </a:r>
            </a:p>
          </p:txBody>
        </p:sp>
        <p:sp>
          <p:nvSpPr>
            <p:cNvPr id="12" name="Freeform 40">
              <a:extLst>
                <a:ext uri="{FF2B5EF4-FFF2-40B4-BE49-F238E27FC236}">
                  <a16:creationId xmlns:a16="http://schemas.microsoft.com/office/drawing/2014/main" id="{C00CB6AC-78AA-CE85-56AD-A5401F17F35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427" y="2258"/>
              <a:ext cx="1887" cy="681"/>
            </a:xfrm>
            <a:custGeom>
              <a:avLst/>
              <a:gdLst>
                <a:gd name="T0" fmla="*/ 0 w 1887"/>
                <a:gd name="T1" fmla="*/ 0 h 681"/>
                <a:gd name="T2" fmla="*/ 966 w 1887"/>
                <a:gd name="T3" fmla="*/ 151 h 681"/>
                <a:gd name="T4" fmla="*/ 1373 w 1887"/>
                <a:gd name="T5" fmla="*/ 594 h 681"/>
                <a:gd name="T6" fmla="*/ 1887 w 1887"/>
                <a:gd name="T7" fmla="*/ 673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87" h="681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3" name="Text Box 41">
              <a:extLst>
                <a:ext uri="{FF2B5EF4-FFF2-40B4-BE49-F238E27FC236}">
                  <a16:creationId xmlns:a16="http://schemas.microsoft.com/office/drawing/2014/main" id="{3232983B-1F91-57B5-64AA-C7324B01E7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5" y="2292"/>
              <a:ext cx="475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C’s signal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strength</a:t>
              </a:r>
            </a:p>
          </p:txBody>
        </p:sp>
        <p:sp>
          <p:nvSpPr>
            <p:cNvPr id="14" name="Line 42">
              <a:extLst>
                <a:ext uri="{FF2B5EF4-FFF2-40B4-BE49-F238E27FC236}">
                  <a16:creationId xmlns:a16="http://schemas.microsoft.com/office/drawing/2014/main" id="{53130D1B-2997-05F6-1D89-F77AFC352A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4" y="2171"/>
              <a:ext cx="17" cy="7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5" name="Line 43">
              <a:extLst>
                <a:ext uri="{FF2B5EF4-FFF2-40B4-BE49-F238E27FC236}">
                  <a16:creationId xmlns:a16="http://schemas.microsoft.com/office/drawing/2014/main" id="{F65DBE11-0E89-2B78-41E2-9B58A012C4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3" y="2214"/>
              <a:ext cx="0" cy="7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6" name="Line 44">
              <a:extLst>
                <a:ext uri="{FF2B5EF4-FFF2-40B4-BE49-F238E27FC236}">
                  <a16:creationId xmlns:a16="http://schemas.microsoft.com/office/drawing/2014/main" id="{A752D4F2-C3FA-CBEE-A8BE-D505F2FA3E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4" y="2204"/>
              <a:ext cx="0" cy="7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</p:grpSp>
      <p:pic>
        <p:nvPicPr>
          <p:cNvPr id="3" name="Picture 2" descr="A diagram of a computer and a signal&#10;&#10;AI-generated content may be incorrect.">
            <a:extLst>
              <a:ext uri="{FF2B5EF4-FFF2-40B4-BE49-F238E27FC236}">
                <a16:creationId xmlns:a16="http://schemas.microsoft.com/office/drawing/2014/main" id="{94B4E1EC-153F-2085-961D-AFBFD12A113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25" y="2763233"/>
            <a:ext cx="4025759" cy="2067114"/>
          </a:xfrm>
          <a:prstGeom prst="rect">
            <a:avLst/>
          </a:prstGeom>
        </p:spPr>
      </p:pic>
      <p:sp>
        <p:nvSpPr>
          <p:cNvPr id="29" name="Rectangle 3">
            <a:extLst>
              <a:ext uri="{FF2B5EF4-FFF2-40B4-BE49-F238E27FC236}">
                <a16:creationId xmlns:a16="http://schemas.microsoft.com/office/drawing/2014/main" id="{33AB3341-633C-0F41-06B9-EE3631F31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2581" y="2972039"/>
            <a:ext cx="3886186" cy="728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3838" indent="-223838" algn="l" rtl="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800" kern="120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1pPr>
            <a:lvl2pPr marL="563563" indent="-223838" algn="l" rtl="0" eaLnBrk="0" fontAlgn="base" hangingPunct="0">
              <a:spcBef>
                <a:spcPct val="10000"/>
              </a:spcBef>
              <a:spcAft>
                <a:spcPct val="0"/>
              </a:spcAft>
              <a:buFont typeface="Helvetica" panose="020B0604020202020204" pitchFamily="34" charset="0"/>
              <a:buChar char="–"/>
              <a:defRPr sz="2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1225" indent="-233363" algn="l" rtl="0" eaLnBrk="0" fontAlgn="base" hangingPunct="0">
              <a:spcBef>
                <a:spcPct val="10000"/>
              </a:spcBef>
              <a:spcAft>
                <a:spcPct val="0"/>
              </a:spcAft>
              <a:buFont typeface="Wingdings" panose="05000000000000000000" pitchFamily="2" charset="2"/>
              <a:buChar char="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33363" algn="l" rtl="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1597025" indent="-223838" algn="l" rtl="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000" b="1" dirty="0">
                <a:solidFill>
                  <a:srgbClr val="7030A0"/>
                </a:solidFill>
              </a:rPr>
              <a:t>Received Signal Strength in </a:t>
            </a:r>
            <a:r>
              <a:rPr lang="en-US" altLang="en-US" sz="2000" b="1" dirty="0">
                <a:solidFill>
                  <a:srgbClr val="FF0000"/>
                </a:solidFill>
              </a:rPr>
              <a:t>Wireless Networks</a:t>
            </a:r>
          </a:p>
          <a:p>
            <a:pPr lvl="1">
              <a:buFont typeface="Helvetica" panose="020B0604020202020204" pitchFamily="34" charset="0"/>
              <a:buNone/>
            </a:pPr>
            <a:endParaRPr lang="en-US" altLang="en-US" sz="1600" dirty="0"/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9F2D3E8B-B1FD-D267-D655-521793C63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704" y="1969190"/>
            <a:ext cx="4025760" cy="728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3838" indent="-223838" algn="l" rtl="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800" kern="120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1pPr>
            <a:lvl2pPr marL="563563" indent="-223838" algn="l" rtl="0" eaLnBrk="0" fontAlgn="base" hangingPunct="0">
              <a:spcBef>
                <a:spcPct val="10000"/>
              </a:spcBef>
              <a:spcAft>
                <a:spcPct val="0"/>
              </a:spcAft>
              <a:buFont typeface="Helvetica" panose="020B0604020202020204" pitchFamily="34" charset="0"/>
              <a:buChar char="–"/>
              <a:defRPr sz="2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1225" indent="-233363" algn="l" rtl="0" eaLnBrk="0" fontAlgn="base" hangingPunct="0">
              <a:spcBef>
                <a:spcPct val="10000"/>
              </a:spcBef>
              <a:spcAft>
                <a:spcPct val="0"/>
              </a:spcAft>
              <a:buFont typeface="Wingdings" panose="05000000000000000000" pitchFamily="2" charset="2"/>
              <a:buChar char="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33363" algn="l" rtl="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1597025" indent="-223838" algn="l" rtl="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Received Signal Strength in </a:t>
            </a:r>
            <a:r>
              <a:rPr lang="en-US" altLang="en-US" sz="2000" b="1" dirty="0">
                <a:solidFill>
                  <a:srgbClr val="00B0F0"/>
                </a:solidFill>
              </a:rPr>
              <a:t>Wired Networks</a:t>
            </a:r>
          </a:p>
          <a:p>
            <a:pPr lvl="1">
              <a:buFont typeface="Helvetica" panose="020B0604020202020204" pitchFamily="34" charset="0"/>
              <a:buNone/>
            </a:pPr>
            <a:endParaRPr lang="en-US" altLang="en-US" sz="1600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E472DE24-2106-5838-9B87-3CA9E95A3C7B}"/>
              </a:ext>
            </a:extLst>
          </p:cNvPr>
          <p:cNvSpPr txBox="1">
            <a:spLocks/>
          </p:cNvSpPr>
          <p:nvPr/>
        </p:nvSpPr>
        <p:spPr>
          <a:xfrm>
            <a:off x="352254" y="335001"/>
            <a:ext cx="7801146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1419901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220F0-2CB3-B944-415E-FA35300FC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B9A2ED-F789-49F6-1E01-6176C02FF4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72C8E57-475F-4E5B-B40B-5973D2A46384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sp>
        <p:nvSpPr>
          <p:cNvPr id="1884162" name="Rectangle 2">
            <a:extLst>
              <a:ext uri="{FF2B5EF4-FFF2-40B4-BE49-F238E27FC236}">
                <a16:creationId xmlns:a16="http://schemas.microsoft.com/office/drawing/2014/main" id="{3EF8A738-9BAC-02BE-01DD-2657978153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C00000"/>
                </a:solidFill>
              </a:rPr>
              <a:t>1.Signal Attenuation</a:t>
            </a:r>
            <a:endParaRPr lang="en-US" altLang="en-US" dirty="0"/>
          </a:p>
        </p:txBody>
      </p:sp>
      <p:pic>
        <p:nvPicPr>
          <p:cNvPr id="3" name="Picture 2" descr="A diagram of a computer and a signal&#10;&#10;AI-generated content may be incorrect.">
            <a:extLst>
              <a:ext uri="{FF2B5EF4-FFF2-40B4-BE49-F238E27FC236}">
                <a16:creationId xmlns:a16="http://schemas.microsoft.com/office/drawing/2014/main" id="{5AD04CDD-C65C-0E2C-7EF5-109654B043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25" y="2763233"/>
            <a:ext cx="4025759" cy="2067114"/>
          </a:xfrm>
          <a:prstGeom prst="rect">
            <a:avLst/>
          </a:prstGeom>
        </p:spPr>
      </p:pic>
      <p:sp>
        <p:nvSpPr>
          <p:cNvPr id="30" name="Rectangle 3">
            <a:extLst>
              <a:ext uri="{FF2B5EF4-FFF2-40B4-BE49-F238E27FC236}">
                <a16:creationId xmlns:a16="http://schemas.microsoft.com/office/drawing/2014/main" id="{C3F93F63-436C-48B9-711C-737A92346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704" y="1969190"/>
            <a:ext cx="4025760" cy="728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3838" indent="-223838" algn="l" rtl="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800" kern="120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1pPr>
            <a:lvl2pPr marL="563563" indent="-223838" algn="l" rtl="0" eaLnBrk="0" fontAlgn="base" hangingPunct="0">
              <a:spcBef>
                <a:spcPct val="10000"/>
              </a:spcBef>
              <a:spcAft>
                <a:spcPct val="0"/>
              </a:spcAft>
              <a:buFont typeface="Helvetica" panose="020B0604020202020204" pitchFamily="34" charset="0"/>
              <a:buChar char="–"/>
              <a:defRPr sz="2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1225" indent="-233363" algn="l" rtl="0" eaLnBrk="0" fontAlgn="base" hangingPunct="0">
              <a:spcBef>
                <a:spcPct val="10000"/>
              </a:spcBef>
              <a:spcAft>
                <a:spcPct val="0"/>
              </a:spcAft>
              <a:buFont typeface="Wingdings" panose="05000000000000000000" pitchFamily="2" charset="2"/>
              <a:buChar char="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33363" algn="l" rtl="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1597025" indent="-223838" algn="l" rtl="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Received Signal Strength in </a:t>
            </a:r>
            <a:r>
              <a:rPr lang="en-US" altLang="en-US" sz="2000" b="1" dirty="0">
                <a:solidFill>
                  <a:srgbClr val="00B0F0"/>
                </a:solidFill>
              </a:rPr>
              <a:t>Wired Networks</a:t>
            </a:r>
          </a:p>
          <a:p>
            <a:pPr lvl="1">
              <a:buFont typeface="Helvetica" panose="020B0604020202020204" pitchFamily="34" charset="0"/>
              <a:buNone/>
            </a:pPr>
            <a:endParaRPr lang="en-US" altLang="en-US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BE04A1-D0A7-E069-3178-8814F8B37C90}"/>
              </a:ext>
            </a:extLst>
          </p:cNvPr>
          <p:cNvSpPr txBox="1"/>
          <p:nvPr/>
        </p:nvSpPr>
        <p:spPr>
          <a:xfrm>
            <a:off x="4497984" y="1676400"/>
            <a:ext cx="449361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Reason: Minimal Signal Loss in Wired</a:t>
            </a:r>
          </a:p>
          <a:p>
            <a:pPr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Signals travel through </a:t>
            </a:r>
            <a:r>
              <a:rPr lang="en-US" b="1" dirty="0"/>
              <a:t>guided media</a:t>
            </a:r>
            <a:r>
              <a:rPr lang="en-US" dirty="0"/>
              <a:t> like copper or fiber.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These media </a:t>
            </a:r>
            <a:r>
              <a:rPr lang="en-US" b="1" dirty="0"/>
              <a:t>shield signals</a:t>
            </a:r>
            <a:r>
              <a:rPr lang="en-US" dirty="0"/>
              <a:t> from external interference and </a:t>
            </a:r>
            <a:r>
              <a:rPr lang="en-US" b="1" dirty="0"/>
              <a:t>minimize attenuation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Losses due to resistance or cable imperfections are </a:t>
            </a:r>
            <a:r>
              <a:rPr lang="en-US" b="1" dirty="0"/>
              <a:t>very small</a:t>
            </a:r>
            <a:r>
              <a:rPr lang="en-US" dirty="0"/>
              <a:t> over short-to-moderate distances.</a:t>
            </a:r>
          </a:p>
          <a:p>
            <a:endParaRPr lang="en-US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CA0654F-4D55-E788-CF38-3DFE3222E0E8}"/>
              </a:ext>
            </a:extLst>
          </p:cNvPr>
          <p:cNvSpPr txBox="1">
            <a:spLocks/>
          </p:cNvSpPr>
          <p:nvPr/>
        </p:nvSpPr>
        <p:spPr>
          <a:xfrm>
            <a:off x="352254" y="335001"/>
            <a:ext cx="7801146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8949066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7C659-0A09-AC0C-963C-174C58997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971800E-C9EF-A45D-13CC-65AB9203D2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72C8E57-475F-4E5B-B40B-5973D2A46384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sp>
        <p:nvSpPr>
          <p:cNvPr id="1884162" name="Rectangle 2">
            <a:extLst>
              <a:ext uri="{FF2B5EF4-FFF2-40B4-BE49-F238E27FC236}">
                <a16:creationId xmlns:a16="http://schemas.microsoft.com/office/drawing/2014/main" id="{CAAE068D-127F-C15E-69A2-232C4882C8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C00000"/>
                </a:solidFill>
              </a:rPr>
              <a:t>1.Signal Attenuation</a:t>
            </a:r>
            <a:endParaRPr lang="en-US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B02021-137C-0DBD-4861-F559B8E27F99}"/>
              </a:ext>
            </a:extLst>
          </p:cNvPr>
          <p:cNvSpPr txBox="1"/>
          <p:nvPr/>
        </p:nvSpPr>
        <p:spPr>
          <a:xfrm>
            <a:off x="4358160" y="1676400"/>
            <a:ext cx="46334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Reason: Higher Signal Loss in Wireless</a:t>
            </a:r>
          </a:p>
          <a:p>
            <a:pPr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In wireless networks, RSS </a:t>
            </a:r>
            <a:r>
              <a:rPr lang="en-US" b="1" dirty="0"/>
              <a:t>drops rapidly</a:t>
            </a:r>
            <a:r>
              <a:rPr lang="en-US" dirty="0"/>
              <a:t> with distance due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Path loss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Obstacles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Noise and interference</a:t>
            </a:r>
            <a:endParaRPr lang="en-US" dirty="0"/>
          </a:p>
          <a:p>
            <a:endParaRPr lang="en-US" dirty="0"/>
          </a:p>
        </p:txBody>
      </p:sp>
      <p:grpSp>
        <p:nvGrpSpPr>
          <p:cNvPr id="4" name="Group 21">
            <a:extLst>
              <a:ext uri="{FF2B5EF4-FFF2-40B4-BE49-F238E27FC236}">
                <a16:creationId xmlns:a16="http://schemas.microsoft.com/office/drawing/2014/main" id="{60430853-8A8C-C9D3-436D-BBB25D5AD33C}"/>
              </a:ext>
            </a:extLst>
          </p:cNvPr>
          <p:cNvGrpSpPr>
            <a:grpSpLocks/>
          </p:cNvGrpSpPr>
          <p:nvPr/>
        </p:nvGrpSpPr>
        <p:grpSpPr bwMode="auto">
          <a:xfrm>
            <a:off x="416091" y="2590800"/>
            <a:ext cx="3684715" cy="2642616"/>
            <a:chOff x="3264" y="1698"/>
            <a:chExt cx="2176" cy="1404"/>
          </a:xfrm>
        </p:grpSpPr>
        <p:grpSp>
          <p:nvGrpSpPr>
            <p:cNvPr id="5" name="Group 22">
              <a:extLst>
                <a:ext uri="{FF2B5EF4-FFF2-40B4-BE49-F238E27FC236}">
                  <a16:creationId xmlns:a16="http://schemas.microsoft.com/office/drawing/2014/main" id="{DD39B184-DA14-61DB-CB65-874F4572E7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4" y="1698"/>
              <a:ext cx="2113" cy="455"/>
              <a:chOff x="3256" y="1911"/>
              <a:chExt cx="2113" cy="455"/>
            </a:xfrm>
          </p:grpSpPr>
          <p:grpSp>
            <p:nvGrpSpPr>
              <p:cNvPr id="16" name="Group 23">
                <a:extLst>
                  <a:ext uri="{FF2B5EF4-FFF2-40B4-BE49-F238E27FC236}">
                    <a16:creationId xmlns:a16="http://schemas.microsoft.com/office/drawing/2014/main" id="{620863D4-CC14-FD8B-1031-571825F10C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03" y="1911"/>
                <a:ext cx="482" cy="439"/>
                <a:chOff x="2870" y="1518"/>
                <a:chExt cx="292" cy="320"/>
              </a:xfrm>
            </p:grpSpPr>
            <p:graphicFrame>
              <p:nvGraphicFramePr>
                <p:cNvPr id="26" name="Object 24">
                  <a:extLst>
                    <a:ext uri="{FF2B5EF4-FFF2-40B4-BE49-F238E27FC236}">
                      <a16:creationId xmlns:a16="http://schemas.microsoft.com/office/drawing/2014/main" id="{3A2D9FBA-191B-C664-D75C-1AC04133872B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3" imgW="819000" imgH="847800" progId="MS_ClipArt_Gallery.2">
                        <p:embed/>
                      </p:oleObj>
                    </mc:Choice>
                    <mc:Fallback>
                      <p:oleObj name="Clip" r:id="rId3" imgW="819000" imgH="847800" progId="MS_ClipArt_Gallery.2">
                        <p:embed/>
                        <p:pic>
                          <p:nvPicPr>
                            <p:cNvPr id="26" name="Object 24">
                              <a:extLst>
                                <a:ext uri="{FF2B5EF4-FFF2-40B4-BE49-F238E27FC236}">
                                  <a16:creationId xmlns:a16="http://schemas.microsoft.com/office/drawing/2014/main" id="{3A2D9FBA-191B-C664-D75C-1AC04133872B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70" y="1518"/>
                              <a:ext cx="272" cy="2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7" name="Object 25">
                  <a:extLst>
                    <a:ext uri="{FF2B5EF4-FFF2-40B4-BE49-F238E27FC236}">
                      <a16:creationId xmlns:a16="http://schemas.microsoft.com/office/drawing/2014/main" id="{BF3E81E7-4CC8-1566-18F2-64BB529CAA9B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5" imgW="1266840" imgH="1200240" progId="MS_ClipArt_Gallery.2">
                        <p:embed/>
                      </p:oleObj>
                    </mc:Choice>
                    <mc:Fallback>
                      <p:oleObj name="Clip" r:id="rId5" imgW="1266840" imgH="1200240" progId="MS_ClipArt_Gallery.2">
                        <p:embed/>
                        <p:pic>
                          <p:nvPicPr>
                            <p:cNvPr id="27" name="Object 25">
                              <a:extLst>
                                <a:ext uri="{FF2B5EF4-FFF2-40B4-BE49-F238E27FC236}">
                                  <a16:creationId xmlns:a16="http://schemas.microsoft.com/office/drawing/2014/main" id="{BF3E81E7-4CC8-1566-18F2-64BB529CAA9B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13" y="1602"/>
                              <a:ext cx="249" cy="2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7" name="Group 26">
                <a:extLst>
                  <a:ext uri="{FF2B5EF4-FFF2-40B4-BE49-F238E27FC236}">
                    <a16:creationId xmlns:a16="http://schemas.microsoft.com/office/drawing/2014/main" id="{58FCDDF5-6449-1F3A-98CC-1451BE7654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37" y="1919"/>
                <a:ext cx="482" cy="439"/>
                <a:chOff x="2870" y="1518"/>
                <a:chExt cx="292" cy="320"/>
              </a:xfrm>
            </p:grpSpPr>
            <p:graphicFrame>
              <p:nvGraphicFramePr>
                <p:cNvPr id="24" name="Object 23">
                  <a:extLst>
                    <a:ext uri="{FF2B5EF4-FFF2-40B4-BE49-F238E27FC236}">
                      <a16:creationId xmlns:a16="http://schemas.microsoft.com/office/drawing/2014/main" id="{B753D305-3CE3-91FB-EC95-5876F6949398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3" imgW="819000" imgH="847800" progId="MS_ClipArt_Gallery.2">
                        <p:embed/>
                      </p:oleObj>
                    </mc:Choice>
                    <mc:Fallback>
                      <p:oleObj name="Clip" r:id="rId3" imgW="819000" imgH="847800" progId="MS_ClipArt_Gallery.2">
                        <p:embed/>
                        <p:pic>
                          <p:nvPicPr>
                            <p:cNvPr id="24" name="Object 23">
                              <a:extLst>
                                <a:ext uri="{FF2B5EF4-FFF2-40B4-BE49-F238E27FC236}">
                                  <a16:creationId xmlns:a16="http://schemas.microsoft.com/office/drawing/2014/main" id="{B753D305-3CE3-91FB-EC95-5876F6949398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70" y="1518"/>
                              <a:ext cx="272" cy="2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5" name="Object 24">
                  <a:extLst>
                    <a:ext uri="{FF2B5EF4-FFF2-40B4-BE49-F238E27FC236}">
                      <a16:creationId xmlns:a16="http://schemas.microsoft.com/office/drawing/2014/main" id="{DB4F2AC1-AAC0-48BB-81B0-0E466141EF3C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5" imgW="1266840" imgH="1200240" progId="MS_ClipArt_Gallery.2">
                        <p:embed/>
                      </p:oleObj>
                    </mc:Choice>
                    <mc:Fallback>
                      <p:oleObj name="Clip" r:id="rId5" imgW="1266840" imgH="1200240" progId="MS_ClipArt_Gallery.2">
                        <p:embed/>
                        <p:pic>
                          <p:nvPicPr>
                            <p:cNvPr id="25" name="Object 24">
                              <a:extLst>
                                <a:ext uri="{FF2B5EF4-FFF2-40B4-BE49-F238E27FC236}">
                                  <a16:creationId xmlns:a16="http://schemas.microsoft.com/office/drawing/2014/main" id="{DB4F2AC1-AAC0-48BB-81B0-0E466141EF3C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13" y="1602"/>
                              <a:ext cx="249" cy="2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8" name="Text Box 29">
                <a:extLst>
                  <a:ext uri="{FF2B5EF4-FFF2-40B4-BE49-F238E27FC236}">
                    <a16:creationId xmlns:a16="http://schemas.microsoft.com/office/drawing/2014/main" id="{41E5147D-1FC2-D4C2-ABBB-E3518D0D90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56" y="2029"/>
                <a:ext cx="180" cy="1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Arial"/>
                  </a:rPr>
                  <a:t>A</a:t>
                </a:r>
              </a:p>
            </p:txBody>
          </p:sp>
          <p:sp>
            <p:nvSpPr>
              <p:cNvPr id="19" name="Text Box 30">
                <a:extLst>
                  <a:ext uri="{FF2B5EF4-FFF2-40B4-BE49-F238E27FC236}">
                    <a16:creationId xmlns:a16="http://schemas.microsoft.com/office/drawing/2014/main" id="{D7364735-12AE-E1BC-A421-46649C01F0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59" y="2027"/>
                <a:ext cx="207" cy="1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Arial"/>
                  </a:rPr>
                  <a:t>B</a:t>
                </a:r>
              </a:p>
            </p:txBody>
          </p:sp>
          <p:sp>
            <p:nvSpPr>
              <p:cNvPr id="20" name="Text Box 31">
                <a:extLst>
                  <a:ext uri="{FF2B5EF4-FFF2-40B4-BE49-F238E27FC236}">
                    <a16:creationId xmlns:a16="http://schemas.microsoft.com/office/drawing/2014/main" id="{A38D7961-3617-3D01-E4A4-01DE1C3A98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03" y="2054"/>
                <a:ext cx="166" cy="1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Arial"/>
                  </a:rPr>
                  <a:t>C</a:t>
                </a:r>
              </a:p>
            </p:txBody>
          </p:sp>
          <p:grpSp>
            <p:nvGrpSpPr>
              <p:cNvPr id="21" name="Group 32">
                <a:extLst>
                  <a:ext uri="{FF2B5EF4-FFF2-40B4-BE49-F238E27FC236}">
                    <a16:creationId xmlns:a16="http://schemas.microsoft.com/office/drawing/2014/main" id="{9F0E9D8F-A1C4-CAC7-8692-8B05EB19D6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26" y="1927"/>
                <a:ext cx="482" cy="439"/>
                <a:chOff x="2870" y="1518"/>
                <a:chExt cx="292" cy="320"/>
              </a:xfrm>
            </p:grpSpPr>
            <p:graphicFrame>
              <p:nvGraphicFramePr>
                <p:cNvPr id="22" name="Object 33">
                  <a:extLst>
                    <a:ext uri="{FF2B5EF4-FFF2-40B4-BE49-F238E27FC236}">
                      <a16:creationId xmlns:a16="http://schemas.microsoft.com/office/drawing/2014/main" id="{6BF0AD55-A813-BEE5-1860-A7B6E1A72BEE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3" imgW="819000" imgH="847800" progId="MS_ClipArt_Gallery.2">
                        <p:embed/>
                      </p:oleObj>
                    </mc:Choice>
                    <mc:Fallback>
                      <p:oleObj name="Clip" r:id="rId3" imgW="819000" imgH="847800" progId="MS_ClipArt_Gallery.2">
                        <p:embed/>
                        <p:pic>
                          <p:nvPicPr>
                            <p:cNvPr id="22" name="Object 33">
                              <a:extLst>
                                <a:ext uri="{FF2B5EF4-FFF2-40B4-BE49-F238E27FC236}">
                                  <a16:creationId xmlns:a16="http://schemas.microsoft.com/office/drawing/2014/main" id="{6BF0AD55-A813-BEE5-1860-A7B6E1A72BEE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70" y="1518"/>
                              <a:ext cx="272" cy="2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3" name="Object 34">
                  <a:extLst>
                    <a:ext uri="{FF2B5EF4-FFF2-40B4-BE49-F238E27FC236}">
                      <a16:creationId xmlns:a16="http://schemas.microsoft.com/office/drawing/2014/main" id="{6B141949-5DD2-1954-7507-4022B4C26FF0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7" imgW="1266840" imgH="1200240" progId="MS_ClipArt_Gallery.2">
                        <p:embed/>
                      </p:oleObj>
                    </mc:Choice>
                    <mc:Fallback>
                      <p:oleObj name="Clip" r:id="rId7" imgW="1266840" imgH="1200240" progId="MS_ClipArt_Gallery.2">
                        <p:embed/>
                        <p:pic>
                          <p:nvPicPr>
                            <p:cNvPr id="23" name="Object 34">
                              <a:extLst>
                                <a:ext uri="{FF2B5EF4-FFF2-40B4-BE49-F238E27FC236}">
                                  <a16:creationId xmlns:a16="http://schemas.microsoft.com/office/drawing/2014/main" id="{6B141949-5DD2-1954-7507-4022B4C26FF0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13" y="1602"/>
                              <a:ext cx="249" cy="2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6" name="Text Box 35">
              <a:extLst>
                <a:ext uri="{FF2B5EF4-FFF2-40B4-BE49-F238E27FC236}">
                  <a16:creationId xmlns:a16="http://schemas.microsoft.com/office/drawing/2014/main" id="{0A6B901B-4893-F231-5055-4445D15FCB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0" y="2337"/>
              <a:ext cx="487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A’s signal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strength</a:t>
              </a:r>
            </a:p>
          </p:txBody>
        </p:sp>
        <p:sp>
          <p:nvSpPr>
            <p:cNvPr id="7" name="Line 36">
              <a:extLst>
                <a:ext uri="{FF2B5EF4-FFF2-40B4-BE49-F238E27FC236}">
                  <a16:creationId xmlns:a16="http://schemas.microsoft.com/office/drawing/2014/main" id="{4FBC2147-8769-3014-A5B2-C4FF7F221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9" y="2985"/>
              <a:ext cx="2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8" name="Line 37">
              <a:extLst>
                <a:ext uri="{FF2B5EF4-FFF2-40B4-BE49-F238E27FC236}">
                  <a16:creationId xmlns:a16="http://schemas.microsoft.com/office/drawing/2014/main" id="{F29B6DC4-AFE3-49B7-C709-FD2FED4D2A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5" y="2242"/>
              <a:ext cx="0" cy="7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9" name="Freeform 38">
              <a:extLst>
                <a:ext uri="{FF2B5EF4-FFF2-40B4-BE49-F238E27FC236}">
                  <a16:creationId xmlns:a16="http://schemas.microsoft.com/office/drawing/2014/main" id="{1495D0D2-F5D1-0961-0CBC-36547900D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7" y="2277"/>
              <a:ext cx="1887" cy="681"/>
            </a:xfrm>
            <a:custGeom>
              <a:avLst/>
              <a:gdLst>
                <a:gd name="T0" fmla="*/ 0 w 1887"/>
                <a:gd name="T1" fmla="*/ 0 h 681"/>
                <a:gd name="T2" fmla="*/ 966 w 1887"/>
                <a:gd name="T3" fmla="*/ 151 h 681"/>
                <a:gd name="T4" fmla="*/ 1373 w 1887"/>
                <a:gd name="T5" fmla="*/ 594 h 681"/>
                <a:gd name="T6" fmla="*/ 1887 w 1887"/>
                <a:gd name="T7" fmla="*/ 673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87" h="681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0" name="Text Box 39">
              <a:extLst>
                <a:ext uri="{FF2B5EF4-FFF2-40B4-BE49-F238E27FC236}">
                  <a16:creationId xmlns:a16="http://schemas.microsoft.com/office/drawing/2014/main" id="{C717BA5C-04EC-75FA-D89C-66E5977523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8" y="2962"/>
              <a:ext cx="297" cy="1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space</a:t>
              </a:r>
            </a:p>
          </p:txBody>
        </p:sp>
        <p:sp>
          <p:nvSpPr>
            <p:cNvPr id="11" name="Freeform 40">
              <a:extLst>
                <a:ext uri="{FF2B5EF4-FFF2-40B4-BE49-F238E27FC236}">
                  <a16:creationId xmlns:a16="http://schemas.microsoft.com/office/drawing/2014/main" id="{33BCE396-B5A5-9D18-55D4-B950D19F792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427" y="2258"/>
              <a:ext cx="1887" cy="681"/>
            </a:xfrm>
            <a:custGeom>
              <a:avLst/>
              <a:gdLst>
                <a:gd name="T0" fmla="*/ 0 w 1887"/>
                <a:gd name="T1" fmla="*/ 0 h 681"/>
                <a:gd name="T2" fmla="*/ 966 w 1887"/>
                <a:gd name="T3" fmla="*/ 151 h 681"/>
                <a:gd name="T4" fmla="*/ 1373 w 1887"/>
                <a:gd name="T5" fmla="*/ 594 h 681"/>
                <a:gd name="T6" fmla="*/ 1887 w 1887"/>
                <a:gd name="T7" fmla="*/ 673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87" h="681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2" name="Text Box 41">
              <a:extLst>
                <a:ext uri="{FF2B5EF4-FFF2-40B4-BE49-F238E27FC236}">
                  <a16:creationId xmlns:a16="http://schemas.microsoft.com/office/drawing/2014/main" id="{A27F95BA-A585-5BF4-2584-08078ABB00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5" y="2292"/>
              <a:ext cx="475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C’s signal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strength</a:t>
              </a:r>
            </a:p>
          </p:txBody>
        </p:sp>
        <p:sp>
          <p:nvSpPr>
            <p:cNvPr id="13" name="Line 42">
              <a:extLst>
                <a:ext uri="{FF2B5EF4-FFF2-40B4-BE49-F238E27FC236}">
                  <a16:creationId xmlns:a16="http://schemas.microsoft.com/office/drawing/2014/main" id="{CF931564-04B5-A472-1849-F65AE609D5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4" y="2171"/>
              <a:ext cx="17" cy="7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4" name="Line 43">
              <a:extLst>
                <a:ext uri="{FF2B5EF4-FFF2-40B4-BE49-F238E27FC236}">
                  <a16:creationId xmlns:a16="http://schemas.microsoft.com/office/drawing/2014/main" id="{61541840-C633-8127-8D8E-BD35D39D76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3" y="2214"/>
              <a:ext cx="0" cy="7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5" name="Line 44">
              <a:extLst>
                <a:ext uri="{FF2B5EF4-FFF2-40B4-BE49-F238E27FC236}">
                  <a16:creationId xmlns:a16="http://schemas.microsoft.com/office/drawing/2014/main" id="{DF72043C-4758-08F1-7D6A-8CEC64B913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4" y="2204"/>
              <a:ext cx="0" cy="7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</p:grpSp>
      <p:sp>
        <p:nvSpPr>
          <p:cNvPr id="28" name="Rectangle 3">
            <a:extLst>
              <a:ext uri="{FF2B5EF4-FFF2-40B4-BE49-F238E27FC236}">
                <a16:creationId xmlns:a16="http://schemas.microsoft.com/office/drawing/2014/main" id="{DDD769C5-B5E2-88CC-BB02-972391A98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222" y="1743695"/>
            <a:ext cx="3886186" cy="728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3838" indent="-223838" algn="l" rtl="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800" kern="120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1pPr>
            <a:lvl2pPr marL="563563" indent="-223838" algn="l" rtl="0" eaLnBrk="0" fontAlgn="base" hangingPunct="0">
              <a:spcBef>
                <a:spcPct val="10000"/>
              </a:spcBef>
              <a:spcAft>
                <a:spcPct val="0"/>
              </a:spcAft>
              <a:buFont typeface="Helvetica" panose="020B0604020202020204" pitchFamily="34" charset="0"/>
              <a:buChar char="–"/>
              <a:defRPr sz="2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1225" indent="-233363" algn="l" rtl="0" eaLnBrk="0" fontAlgn="base" hangingPunct="0">
              <a:spcBef>
                <a:spcPct val="10000"/>
              </a:spcBef>
              <a:spcAft>
                <a:spcPct val="0"/>
              </a:spcAft>
              <a:buFont typeface="Wingdings" panose="05000000000000000000" pitchFamily="2" charset="2"/>
              <a:buChar char="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33363" algn="l" rtl="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1597025" indent="-223838" algn="l" rtl="0" eaLnBrk="0" fontAlgn="base" hangingPunct="0">
              <a:spcBef>
                <a:spcPct val="1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000" b="1" dirty="0">
                <a:solidFill>
                  <a:srgbClr val="7030A0"/>
                </a:solidFill>
              </a:rPr>
              <a:t>Received Signal Strength in </a:t>
            </a:r>
            <a:r>
              <a:rPr lang="en-US" altLang="en-US" sz="2000" b="1" dirty="0">
                <a:solidFill>
                  <a:srgbClr val="FF0000"/>
                </a:solidFill>
              </a:rPr>
              <a:t>Wireless Networks</a:t>
            </a:r>
          </a:p>
          <a:p>
            <a:pPr lvl="1">
              <a:buFont typeface="Helvetica" panose="020B0604020202020204" pitchFamily="34" charset="0"/>
              <a:buNone/>
            </a:pPr>
            <a:endParaRPr lang="en-US" altLang="en-US" sz="1600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10B9433D-033A-5E6D-A7E0-30D8F39E7196}"/>
              </a:ext>
            </a:extLst>
          </p:cNvPr>
          <p:cNvSpPr txBox="1">
            <a:spLocks/>
          </p:cNvSpPr>
          <p:nvPr/>
        </p:nvSpPr>
        <p:spPr>
          <a:xfrm>
            <a:off x="352254" y="335001"/>
            <a:ext cx="7801146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268418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3EBD51FF-00C7-C09C-373A-7FB5709192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sz="3600" dirty="0">
                <a:solidFill>
                  <a:srgbClr val="C00000"/>
                </a:solidFill>
              </a:rPr>
              <a:t>1.Signal Attenuation</a:t>
            </a:r>
            <a:endParaRPr lang="en-US" altLang="en-US" dirty="0"/>
          </a:p>
        </p:txBody>
      </p:sp>
      <p:pic>
        <p:nvPicPr>
          <p:cNvPr id="45059" name="Picture 3">
            <a:extLst>
              <a:ext uri="{FF2B5EF4-FFF2-40B4-BE49-F238E27FC236}">
                <a16:creationId xmlns:a16="http://schemas.microsoft.com/office/drawing/2014/main" id="{B2477F44-15A8-96A5-21E6-8B01FB02E9A8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0" y="3457575"/>
            <a:ext cx="2809875" cy="347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5060" name="Line 4">
            <a:extLst>
              <a:ext uri="{FF2B5EF4-FFF2-40B4-BE49-F238E27FC236}">
                <a16:creationId xmlns:a16="http://schemas.microsoft.com/office/drawing/2014/main" id="{FE5350DB-A5DF-9A27-7EA4-A5D8A6E1DD2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29200" y="3600450"/>
            <a:ext cx="533400" cy="381000"/>
          </a:xfrm>
          <a:prstGeom prst="line">
            <a:avLst/>
          </a:prstGeom>
          <a:noFill/>
          <a:ln w="1016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45061" name="Picture 5">
            <a:extLst>
              <a:ext uri="{FF2B5EF4-FFF2-40B4-BE49-F238E27FC236}">
                <a16:creationId xmlns:a16="http://schemas.microsoft.com/office/drawing/2014/main" id="{D9613A60-A0B9-3B3E-6630-D49FD0A21C55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6175" y="5762625"/>
            <a:ext cx="962025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5062" name="Line 6">
            <a:extLst>
              <a:ext uri="{FF2B5EF4-FFF2-40B4-BE49-F238E27FC236}">
                <a16:creationId xmlns:a16="http://schemas.microsoft.com/office/drawing/2014/main" id="{6AB2BC95-E113-4DAA-9A24-AB4A38AF195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4286250"/>
            <a:ext cx="76200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3" name="Line 7">
            <a:extLst>
              <a:ext uri="{FF2B5EF4-FFF2-40B4-BE49-F238E27FC236}">
                <a16:creationId xmlns:a16="http://schemas.microsoft.com/office/drawing/2014/main" id="{7995AC4F-3AFF-C114-A264-D6F6B5AE931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4895850"/>
            <a:ext cx="152400" cy="381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4" name="Line 8">
            <a:extLst>
              <a:ext uri="{FF2B5EF4-FFF2-40B4-BE49-F238E27FC236}">
                <a16:creationId xmlns:a16="http://schemas.microsoft.com/office/drawing/2014/main" id="{62E80D27-7529-3BDB-0C0E-F4124C9209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2000" y="5276850"/>
            <a:ext cx="2438400" cy="838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5" name="Line 9">
            <a:extLst>
              <a:ext uri="{FF2B5EF4-FFF2-40B4-BE49-F238E27FC236}">
                <a16:creationId xmlns:a16="http://schemas.microsoft.com/office/drawing/2014/main" id="{C7C26846-FC49-1F0B-B04D-4E4D14A701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5200650"/>
            <a:ext cx="76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6" name="Line 10">
            <a:extLst>
              <a:ext uri="{FF2B5EF4-FFF2-40B4-BE49-F238E27FC236}">
                <a16:creationId xmlns:a16="http://schemas.microsoft.com/office/drawing/2014/main" id="{2D7E1D53-A671-0894-ABA2-45C3398F287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05200" y="5429250"/>
            <a:ext cx="3810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7" name="Line 11">
            <a:extLst>
              <a:ext uri="{FF2B5EF4-FFF2-40B4-BE49-F238E27FC236}">
                <a16:creationId xmlns:a16="http://schemas.microsoft.com/office/drawing/2014/main" id="{0B8C98DA-CA38-7BE7-B16B-723EA831FE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48000" y="6267450"/>
            <a:ext cx="5334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8" name="Line 12">
            <a:extLst>
              <a:ext uri="{FF2B5EF4-FFF2-40B4-BE49-F238E27FC236}">
                <a16:creationId xmlns:a16="http://schemas.microsoft.com/office/drawing/2014/main" id="{755D5F4C-1E63-0FD0-4D65-E97D05D9F9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1000" y="5124450"/>
            <a:ext cx="762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9" name="Line 13">
            <a:extLst>
              <a:ext uri="{FF2B5EF4-FFF2-40B4-BE49-F238E27FC236}">
                <a16:creationId xmlns:a16="http://schemas.microsoft.com/office/drawing/2014/main" id="{6AA89C93-E773-BE28-F78A-B76CCAFFD83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5124450"/>
            <a:ext cx="762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0" name="Line 14">
            <a:extLst>
              <a:ext uri="{FF2B5EF4-FFF2-40B4-BE49-F238E27FC236}">
                <a16:creationId xmlns:a16="http://schemas.microsoft.com/office/drawing/2014/main" id="{F3479A21-CB1F-87FC-C2F6-7C7006052D5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5429250"/>
            <a:ext cx="762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1" name="Line 15">
            <a:extLst>
              <a:ext uri="{FF2B5EF4-FFF2-40B4-BE49-F238E27FC236}">
                <a16:creationId xmlns:a16="http://schemas.microsoft.com/office/drawing/2014/main" id="{5C356A70-8C06-46DF-A31B-3339707CBCF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5429250"/>
            <a:ext cx="2286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2" name="Line 16">
            <a:extLst>
              <a:ext uri="{FF2B5EF4-FFF2-40B4-BE49-F238E27FC236}">
                <a16:creationId xmlns:a16="http://schemas.microsoft.com/office/drawing/2014/main" id="{2D097473-DC41-399C-E55C-1A9F720E2F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0" y="6267450"/>
            <a:ext cx="1524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3" name="Line 17">
            <a:extLst>
              <a:ext uri="{FF2B5EF4-FFF2-40B4-BE49-F238E27FC236}">
                <a16:creationId xmlns:a16="http://schemas.microsoft.com/office/drawing/2014/main" id="{DA062C26-C9E3-D685-86D0-326854AAE2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641985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4" name="Rectangle 18">
            <a:extLst>
              <a:ext uri="{FF2B5EF4-FFF2-40B4-BE49-F238E27FC236}">
                <a16:creationId xmlns:a16="http://schemas.microsoft.com/office/drawing/2014/main" id="{A8B039D7-BCB2-3D6A-806D-CDEF27B82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914478"/>
            <a:ext cx="5029200" cy="1016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The </a:t>
            </a:r>
            <a:r>
              <a:rPr lang="en-US" alt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higher frequencies </a:t>
            </a:r>
            <a:r>
              <a:rPr lang="en-US" alt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will</a:t>
            </a:r>
          </a:p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usually encounter </a:t>
            </a:r>
            <a:r>
              <a:rPr lang="en-US" alt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more “loss” </a:t>
            </a:r>
          </a:p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in “real world” situations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C561C977-96B2-0B7A-EC66-37280038ADF6}"/>
              </a:ext>
            </a:extLst>
          </p:cNvPr>
          <p:cNvSpPr txBox="1">
            <a:spLocks/>
          </p:cNvSpPr>
          <p:nvPr/>
        </p:nvSpPr>
        <p:spPr>
          <a:xfrm>
            <a:off x="352254" y="335001"/>
            <a:ext cx="7801146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3278961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480DE-8A27-56B5-5797-5CB256CC7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3590535-9394-CCC4-7273-B399E4DCAF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72C8E57-475F-4E5B-B40B-5973D2A46384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sp>
        <p:nvSpPr>
          <p:cNvPr id="1884162" name="Rectangle 2">
            <a:extLst>
              <a:ext uri="{FF2B5EF4-FFF2-40B4-BE49-F238E27FC236}">
                <a16:creationId xmlns:a16="http://schemas.microsoft.com/office/drawing/2014/main" id="{F8FDBBFB-08D8-2F02-333E-739EFE3111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0200" y="3200400"/>
            <a:ext cx="6400800" cy="685800"/>
          </a:xfrm>
        </p:spPr>
        <p:txBody>
          <a:bodyPr/>
          <a:lstStyle/>
          <a:p>
            <a:r>
              <a:rPr lang="en-US" sz="3600" dirty="0"/>
              <a:t>2. Noise and Interference</a:t>
            </a:r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9081721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2DE6ED53-F916-47C0-7AB7-D137E9193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368" y="1235075"/>
            <a:ext cx="8069263" cy="6858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Categories of Noise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C392DE27-CDCA-CA38-6A13-606D0FFF2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828800"/>
            <a:ext cx="5470240" cy="39624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Thermal Noise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r>
              <a:rPr lang="en-US" altLang="en-US" sz="2400" dirty="0"/>
              <a:t>Intermodulation noise</a:t>
            </a:r>
          </a:p>
          <a:p>
            <a:pPr lvl="1" eaLnBrk="1" hangingPunct="1"/>
            <a:r>
              <a:rPr lang="en-US" sz="1200" dirty="0"/>
              <a:t>Occurs when </a:t>
            </a:r>
            <a:r>
              <a:rPr lang="en-US" sz="1200" b="1" dirty="0"/>
              <a:t>signals at different frequencies mix</a:t>
            </a:r>
            <a:r>
              <a:rPr lang="en-US" sz="1200" dirty="0"/>
              <a:t> and produce additional unwanted signals.</a:t>
            </a:r>
            <a:endParaRPr lang="en-US" altLang="en-US" sz="2000" dirty="0"/>
          </a:p>
          <a:p>
            <a:pPr eaLnBrk="1" hangingPunct="1"/>
            <a:r>
              <a:rPr lang="en-US" altLang="en-US" sz="2400" dirty="0"/>
              <a:t>Crosstalk</a:t>
            </a:r>
          </a:p>
          <a:p>
            <a:pPr lvl="1" eaLnBrk="1" hangingPunct="1"/>
            <a:r>
              <a:rPr lang="en-US" sz="1200" dirty="0"/>
              <a:t>Unwanted </a:t>
            </a:r>
            <a:r>
              <a:rPr lang="en-US" sz="1200" b="1" dirty="0"/>
              <a:t>signal leakage</a:t>
            </a:r>
            <a:r>
              <a:rPr lang="en-US" sz="1200" dirty="0"/>
              <a:t> between adjacent cables or channels.</a:t>
            </a:r>
            <a:endParaRPr lang="en-US" altLang="en-US" sz="2000" dirty="0"/>
          </a:p>
          <a:p>
            <a:pPr eaLnBrk="1" hangingPunct="1"/>
            <a:r>
              <a:rPr lang="en-US" altLang="en-US" sz="2400" dirty="0"/>
              <a:t>Impulse Noise </a:t>
            </a:r>
          </a:p>
          <a:p>
            <a:pPr eaLnBrk="1" hangingPunct="1"/>
            <a:endParaRPr lang="en-US" altLang="en-US" sz="2400" dirty="0"/>
          </a:p>
        </p:txBody>
      </p:sp>
      <p:sp>
        <p:nvSpPr>
          <p:cNvPr id="72708" name="Slide Number Placeholder 5">
            <a:extLst>
              <a:ext uri="{FF2B5EF4-FFF2-40B4-BE49-F238E27FC236}">
                <a16:creationId xmlns:a16="http://schemas.microsoft.com/office/drawing/2014/main" id="{3CEE220B-A2A3-5CED-F52B-C50AADFA54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3240EC26-C11C-458E-9143-BEA77934E330}" type="slidenum">
              <a:rPr lang="en-US" altLang="en-US" smtClean="0"/>
              <a:pPr>
                <a:spcBef>
                  <a:spcPct val="0"/>
                </a:spcBef>
                <a:buFontTx/>
                <a:buNone/>
                <a:defRPr/>
              </a:pPr>
              <a:t>52</a:t>
            </a:fld>
            <a:endParaRPr lang="en-US" altLang="en-US" sz="1200">
              <a:solidFill>
                <a:srgbClr val="89898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1B591FF-09F4-249D-E376-A94690F28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069263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3200" dirty="0"/>
              <a:t>2. Noise and Interference</a:t>
            </a:r>
            <a:endParaRPr lang="en-US" altLang="en-US" sz="32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E8D619B-62AE-3162-F933-6354A9301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228199"/>
            <a:ext cx="472440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Caused by the random motion of electrons in a conductor.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Present in all electronic devices and transmission media.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Increases with temperature; affects all frequencies uniformly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76A5E01-6C66-137D-3823-A78E6A033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105323"/>
            <a:ext cx="553709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Sudden, short-duration high-energy spikes.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Caused by lightning, switching equipment, or power line disturbances.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Particularly harmful to digital communication; can corrupt multiple bits at once.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7FDD3149-090A-A970-110B-8AC4CE8BADCC}"/>
              </a:ext>
            </a:extLst>
          </p:cNvPr>
          <p:cNvSpPr txBox="1">
            <a:spLocks/>
          </p:cNvSpPr>
          <p:nvPr/>
        </p:nvSpPr>
        <p:spPr>
          <a:xfrm>
            <a:off x="352254" y="335001"/>
            <a:ext cx="7801146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8D6EC-9F2C-A66B-06D7-F2A1A3C9E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8803DB0-88D7-9946-4718-F8CAB45AAA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6E3A97-7337-4819-AE86-B376A40F5303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sp>
        <p:nvSpPr>
          <p:cNvPr id="1886214" name="Rectangle 6">
            <a:extLst>
              <a:ext uri="{FF2B5EF4-FFF2-40B4-BE49-F238E27FC236}">
                <a16:creationId xmlns:a16="http://schemas.microsoft.com/office/drawing/2014/main" id="{98344C8C-9364-079D-87FA-3A4EB74C16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2. Noise and Interference</a:t>
            </a:r>
            <a:endParaRPr lang="en-US" altLang="en-US" sz="3200" dirty="0"/>
          </a:p>
        </p:txBody>
      </p:sp>
      <p:sp>
        <p:nvSpPr>
          <p:cNvPr id="1886215" name="Rectangle 7">
            <a:extLst>
              <a:ext uri="{FF2B5EF4-FFF2-40B4-BE49-F238E27FC236}">
                <a16:creationId xmlns:a16="http://schemas.microsoft.com/office/drawing/2014/main" id="{2D377265-BFA6-D287-7AE2-F3EA465393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458200" cy="2282825"/>
          </a:xfrm>
        </p:spPr>
        <p:txBody>
          <a:bodyPr/>
          <a:lstStyle/>
          <a:p>
            <a:r>
              <a:rPr lang="en-US" altLang="en-US" dirty="0"/>
              <a:t>Interference from other sources</a:t>
            </a:r>
          </a:p>
          <a:p>
            <a:pPr lvl="1"/>
            <a:r>
              <a:rPr lang="en-US" altLang="en-US" dirty="0"/>
              <a:t>Radio sources in same frequency band</a:t>
            </a:r>
          </a:p>
          <a:p>
            <a:pPr lvl="1"/>
            <a:r>
              <a:rPr lang="en-US" altLang="en-US" dirty="0"/>
              <a:t>E.g., 2.4 GHz wireless phone interferes with 802.11b wireless LAN</a:t>
            </a:r>
          </a:p>
          <a:p>
            <a:pPr lvl="1"/>
            <a:r>
              <a:rPr lang="en-US" altLang="en-US" dirty="0"/>
              <a:t>Electromagnetic noise (e.g., microwave oven)</a:t>
            </a:r>
          </a:p>
          <a:p>
            <a:pPr lvl="1">
              <a:buFont typeface="Helvetica" panose="020B0604020202020204" pitchFamily="34" charset="0"/>
              <a:buNone/>
            </a:pPr>
            <a:endParaRPr lang="en-US" altLang="en-US" sz="1800" dirty="0"/>
          </a:p>
        </p:txBody>
      </p:sp>
      <p:pic>
        <p:nvPicPr>
          <p:cNvPr id="1886217" name="Picture 9">
            <a:extLst>
              <a:ext uri="{FF2B5EF4-FFF2-40B4-BE49-F238E27FC236}">
                <a16:creationId xmlns:a16="http://schemas.microsoft.com/office/drawing/2014/main" id="{52034102-446B-9EC9-A80C-7587A9AA2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38" y="3889375"/>
            <a:ext cx="7758112" cy="261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A7E48367-66AD-87FB-9F92-32D1E1303127}"/>
              </a:ext>
            </a:extLst>
          </p:cNvPr>
          <p:cNvSpPr txBox="1">
            <a:spLocks/>
          </p:cNvSpPr>
          <p:nvPr/>
        </p:nvSpPr>
        <p:spPr>
          <a:xfrm>
            <a:off x="352254" y="335001"/>
            <a:ext cx="7801146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18760025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E8C88782-AAC6-0E1A-2912-78A1449B53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EM Spectrum	</a:t>
            </a:r>
          </a:p>
        </p:txBody>
      </p:sp>
      <p:sp>
        <p:nvSpPr>
          <p:cNvPr id="38915" name="Line 3">
            <a:extLst>
              <a:ext uri="{FF2B5EF4-FFF2-40B4-BE49-F238E27FC236}">
                <a16:creationId xmlns:a16="http://schemas.microsoft.com/office/drawing/2014/main" id="{D9C185BC-8746-CC85-5C5C-575AD4FF377F}"/>
              </a:ext>
            </a:extLst>
          </p:cNvPr>
          <p:cNvSpPr>
            <a:spLocks noChangeShapeType="1"/>
          </p:cNvSpPr>
          <p:nvPr/>
        </p:nvSpPr>
        <p:spPr bwMode="auto">
          <a:xfrm>
            <a:off x="760413" y="4799013"/>
            <a:ext cx="75025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916" name="Text Box 4">
            <a:extLst>
              <a:ext uri="{FF2B5EF4-FFF2-40B4-BE49-F238E27FC236}">
                <a16:creationId xmlns:a16="http://schemas.microsoft.com/office/drawing/2014/main" id="{349AED3A-43D5-FE80-3F66-B7B0D2D41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4489450"/>
            <a:ext cx="369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2800" b="1">
                <a:latin typeface="Courier New" panose="02070309020205020404" pitchFamily="49" charset="0"/>
                <a:sym typeface="Symbol" panose="05050102010706020507" pitchFamily="18" charset="2"/>
              </a:rPr>
              <a:t></a:t>
            </a:r>
            <a:endParaRPr lang="en-US" altLang="en-US" sz="2800" b="1">
              <a:latin typeface="Courier New" panose="02070309020205020404" pitchFamily="49" charset="0"/>
            </a:endParaRPr>
          </a:p>
        </p:txBody>
      </p:sp>
      <p:sp>
        <p:nvSpPr>
          <p:cNvPr id="38917" name="Text Box 5">
            <a:extLst>
              <a:ext uri="{FF2B5EF4-FFF2-40B4-BE49-F238E27FC236}">
                <a16:creationId xmlns:a16="http://schemas.microsoft.com/office/drawing/2014/main" id="{C84E2505-5CAF-785E-8E77-B80B76427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" y="5495925"/>
            <a:ext cx="75136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2000"/>
              <a:t>Propagation characteristics are different in each frequency band</a:t>
            </a:r>
            <a:r>
              <a:rPr lang="en-US" altLang="en-US" sz="1800" b="1">
                <a:solidFill>
                  <a:srgbClr val="0033FF"/>
                </a:solidFill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38918" name="Text Box 6">
            <a:extLst>
              <a:ext uri="{FF2B5EF4-FFF2-40B4-BE49-F238E27FC236}">
                <a16:creationId xmlns:a16="http://schemas.microsoft.com/office/drawing/2014/main" id="{F97C1F4C-4C1A-EEE7-A4B8-40EC49518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3100" y="4473575"/>
            <a:ext cx="4651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1600">
                <a:sym typeface="Symbol" panose="05050102010706020507" pitchFamily="18" charset="2"/>
              </a:rPr>
              <a:t>UV</a:t>
            </a:r>
            <a:endParaRPr lang="en-US" altLang="en-US" sz="1600"/>
          </a:p>
        </p:txBody>
      </p:sp>
      <p:sp>
        <p:nvSpPr>
          <p:cNvPr id="38919" name="Text Box 7">
            <a:extLst>
              <a:ext uri="{FF2B5EF4-FFF2-40B4-BE49-F238E27FC236}">
                <a16:creationId xmlns:a16="http://schemas.microsoft.com/office/drawing/2014/main" id="{EF230347-47D4-9FD9-1EAB-9CEA217D3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4851400"/>
            <a:ext cx="7159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sym typeface="Symbol" panose="05050102010706020507" pitchFamily="18" charset="2"/>
              </a:rPr>
              <a:t>1 MHz</a:t>
            </a:r>
            <a:endParaRPr lang="en-US" altLang="en-US" sz="1400">
              <a:latin typeface="Courier New" panose="02070309020205020404" pitchFamily="49" charset="0"/>
            </a:endParaRPr>
          </a:p>
        </p:txBody>
      </p:sp>
      <p:sp>
        <p:nvSpPr>
          <p:cNvPr id="38920" name="Text Box 8">
            <a:extLst>
              <a:ext uri="{FF2B5EF4-FFF2-40B4-BE49-F238E27FC236}">
                <a16:creationId xmlns:a16="http://schemas.microsoft.com/office/drawing/2014/main" id="{5ECC45A5-8882-0E4F-0DBF-2FF2EC204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4856163"/>
            <a:ext cx="7159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sym typeface="Symbol" panose="05050102010706020507" pitchFamily="18" charset="2"/>
              </a:rPr>
              <a:t>1 kHz</a:t>
            </a:r>
            <a:endParaRPr lang="en-US" altLang="en-US" sz="1400">
              <a:latin typeface="Courier New" panose="02070309020205020404" pitchFamily="49" charset="0"/>
            </a:endParaRPr>
          </a:p>
        </p:txBody>
      </p:sp>
      <p:sp>
        <p:nvSpPr>
          <p:cNvPr id="38921" name="Text Box 9">
            <a:extLst>
              <a:ext uri="{FF2B5EF4-FFF2-40B4-BE49-F238E27FC236}">
                <a16:creationId xmlns:a16="http://schemas.microsoft.com/office/drawing/2014/main" id="{8383E33E-0E40-CDA4-0662-2519DE9C7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9263" y="4851400"/>
            <a:ext cx="7159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sym typeface="Symbol" panose="05050102010706020507" pitchFamily="18" charset="2"/>
              </a:rPr>
              <a:t>1 GHz</a:t>
            </a:r>
            <a:endParaRPr lang="en-US" altLang="en-US" sz="1400">
              <a:latin typeface="Courier New" panose="02070309020205020404" pitchFamily="49" charset="0"/>
            </a:endParaRPr>
          </a:p>
        </p:txBody>
      </p:sp>
      <p:sp>
        <p:nvSpPr>
          <p:cNvPr id="38922" name="Text Box 10">
            <a:extLst>
              <a:ext uri="{FF2B5EF4-FFF2-40B4-BE49-F238E27FC236}">
                <a16:creationId xmlns:a16="http://schemas.microsoft.com/office/drawing/2014/main" id="{D71A0A5F-CB54-3F92-DA48-5E98030A7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1925" y="4864100"/>
            <a:ext cx="7159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sym typeface="Symbol" panose="05050102010706020507" pitchFamily="18" charset="2"/>
              </a:rPr>
              <a:t>1 THz</a:t>
            </a:r>
            <a:endParaRPr lang="en-US" altLang="en-US" sz="1400">
              <a:latin typeface="Courier New" panose="02070309020205020404" pitchFamily="49" charset="0"/>
            </a:endParaRPr>
          </a:p>
        </p:txBody>
      </p:sp>
      <p:sp>
        <p:nvSpPr>
          <p:cNvPr id="38923" name="Text Box 11">
            <a:extLst>
              <a:ext uri="{FF2B5EF4-FFF2-40B4-BE49-F238E27FC236}">
                <a16:creationId xmlns:a16="http://schemas.microsoft.com/office/drawing/2014/main" id="{74A7A0AD-2307-B7F9-5023-8FA9019DD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4488" y="4897438"/>
            <a:ext cx="7159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sym typeface="Symbol" panose="05050102010706020507" pitchFamily="18" charset="2"/>
              </a:rPr>
              <a:t>1 PHz</a:t>
            </a:r>
            <a:endParaRPr lang="en-US" altLang="en-US" sz="1400">
              <a:latin typeface="Courier New" panose="02070309020205020404" pitchFamily="49" charset="0"/>
            </a:endParaRPr>
          </a:p>
        </p:txBody>
      </p:sp>
      <p:sp>
        <p:nvSpPr>
          <p:cNvPr id="38924" name="Text Box 12">
            <a:extLst>
              <a:ext uri="{FF2B5EF4-FFF2-40B4-BE49-F238E27FC236}">
                <a16:creationId xmlns:a16="http://schemas.microsoft.com/office/drawing/2014/main" id="{7EF73B28-EF11-654A-3090-490F525ED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0963" y="4894263"/>
            <a:ext cx="7159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sym typeface="Symbol" panose="05050102010706020507" pitchFamily="18" charset="2"/>
              </a:rPr>
              <a:t>1 EHz</a:t>
            </a:r>
            <a:endParaRPr lang="en-US" altLang="en-US" sz="1400">
              <a:latin typeface="Courier New" panose="02070309020205020404" pitchFamily="49" charset="0"/>
            </a:endParaRPr>
          </a:p>
        </p:txBody>
      </p:sp>
      <p:sp>
        <p:nvSpPr>
          <p:cNvPr id="38925" name="Line 13">
            <a:extLst>
              <a:ext uri="{FF2B5EF4-FFF2-40B4-BE49-F238E27FC236}">
                <a16:creationId xmlns:a16="http://schemas.microsoft.com/office/drawing/2014/main" id="{7A0AFB4F-79D5-8737-4413-B54433A9321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0988" y="4448175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926" name="Line 14">
            <a:extLst>
              <a:ext uri="{FF2B5EF4-FFF2-40B4-BE49-F238E27FC236}">
                <a16:creationId xmlns:a16="http://schemas.microsoft.com/office/drawing/2014/main" id="{43DAAB90-6B93-9DC0-8BAD-DE77860F2B23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5463" y="4462463"/>
            <a:ext cx="0" cy="442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927" name="Text Box 15">
            <a:extLst>
              <a:ext uri="{FF2B5EF4-FFF2-40B4-BE49-F238E27FC236}">
                <a16:creationId xmlns:a16="http://schemas.microsoft.com/office/drawing/2014/main" id="{2F67A310-DDE8-26BD-F79F-6B1F75BC0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7363" y="4478338"/>
            <a:ext cx="8731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1600">
                <a:sym typeface="Symbol" panose="05050102010706020507" pitchFamily="18" charset="2"/>
              </a:rPr>
              <a:t>infrared</a:t>
            </a:r>
            <a:endParaRPr lang="en-US" altLang="en-US" sz="1600"/>
          </a:p>
        </p:txBody>
      </p:sp>
      <p:sp>
        <p:nvSpPr>
          <p:cNvPr id="38928" name="Text Box 16">
            <a:extLst>
              <a:ext uri="{FF2B5EF4-FFF2-40B4-BE49-F238E27FC236}">
                <a16:creationId xmlns:a16="http://schemas.microsoft.com/office/drawing/2014/main" id="{320F1A65-BF0E-FFFD-2763-AFCD676E3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9050" y="4467225"/>
            <a:ext cx="7461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1600">
                <a:sym typeface="Symbol" panose="05050102010706020507" pitchFamily="18" charset="2"/>
              </a:rPr>
              <a:t>visible</a:t>
            </a:r>
            <a:endParaRPr lang="en-US" altLang="en-US" sz="1600"/>
          </a:p>
        </p:txBody>
      </p:sp>
      <p:sp>
        <p:nvSpPr>
          <p:cNvPr id="38929" name="Text Box 17">
            <a:extLst>
              <a:ext uri="{FF2B5EF4-FFF2-40B4-BE49-F238E27FC236}">
                <a16:creationId xmlns:a16="http://schemas.microsoft.com/office/drawing/2014/main" id="{6CD23C7A-D92E-4466-0A4F-BF31DFCE7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8050" y="4140200"/>
            <a:ext cx="7604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1600">
                <a:sym typeface="Symbol" panose="05050102010706020507" pitchFamily="18" charset="2"/>
              </a:rPr>
              <a:t>X rays</a:t>
            </a:r>
            <a:endParaRPr lang="en-US" altLang="en-US" sz="1600"/>
          </a:p>
        </p:txBody>
      </p:sp>
      <p:sp>
        <p:nvSpPr>
          <p:cNvPr id="38930" name="Text Box 18">
            <a:extLst>
              <a:ext uri="{FF2B5EF4-FFF2-40B4-BE49-F238E27FC236}">
                <a16:creationId xmlns:a16="http://schemas.microsoft.com/office/drawing/2014/main" id="{B231B0AF-B38E-B3DA-9741-97602060F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6075" y="4375150"/>
            <a:ext cx="13493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1600">
                <a:sym typeface="Symbol" panose="05050102010706020507" pitchFamily="18" charset="2"/>
              </a:rPr>
              <a:t>Gamma rays</a:t>
            </a:r>
            <a:endParaRPr lang="en-US" altLang="en-US" sz="1600"/>
          </a:p>
        </p:txBody>
      </p:sp>
      <p:sp>
        <p:nvSpPr>
          <p:cNvPr id="38931" name="Line 19">
            <a:extLst>
              <a:ext uri="{FF2B5EF4-FFF2-40B4-BE49-F238E27FC236}">
                <a16:creationId xmlns:a16="http://schemas.microsoft.com/office/drawing/2014/main" id="{62A12792-6212-A1E5-7FAC-8E447C75D3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9163" y="4433888"/>
            <a:ext cx="11080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932" name="Line 20">
            <a:extLst>
              <a:ext uri="{FF2B5EF4-FFF2-40B4-BE49-F238E27FC236}">
                <a16:creationId xmlns:a16="http://schemas.microsoft.com/office/drawing/2014/main" id="{C81BF8A6-66E0-07AA-A565-3B120E0309D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4488" y="4700588"/>
            <a:ext cx="11080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38933" name="Group 21">
            <a:extLst>
              <a:ext uri="{FF2B5EF4-FFF2-40B4-BE49-F238E27FC236}">
                <a16:creationId xmlns:a16="http://schemas.microsoft.com/office/drawing/2014/main" id="{6EE194EA-232A-1C77-F858-1AC5A1714016}"/>
              </a:ext>
            </a:extLst>
          </p:cNvPr>
          <p:cNvGrpSpPr>
            <a:grpSpLocks/>
          </p:cNvGrpSpPr>
          <p:nvPr/>
        </p:nvGrpSpPr>
        <p:grpSpPr bwMode="auto">
          <a:xfrm>
            <a:off x="247650" y="1009650"/>
            <a:ext cx="8629650" cy="3465513"/>
            <a:chOff x="156" y="636"/>
            <a:chExt cx="5436" cy="2183"/>
          </a:xfrm>
        </p:grpSpPr>
        <p:grpSp>
          <p:nvGrpSpPr>
            <p:cNvPr id="38934" name="Group 22">
              <a:extLst>
                <a:ext uri="{FF2B5EF4-FFF2-40B4-BE49-F238E27FC236}">
                  <a16:creationId xmlns:a16="http://schemas.microsoft.com/office/drawing/2014/main" id="{873E47B7-B6CE-1199-F6F8-0994CA425A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7" y="1430"/>
              <a:ext cx="4628" cy="240"/>
              <a:chOff x="337" y="1430"/>
              <a:chExt cx="4628" cy="240"/>
            </a:xfrm>
          </p:grpSpPr>
          <p:sp>
            <p:nvSpPr>
              <p:cNvPr id="38935" name="Rectangle 23">
                <a:extLst>
                  <a:ext uri="{FF2B5EF4-FFF2-40B4-BE49-F238E27FC236}">
                    <a16:creationId xmlns:a16="http://schemas.microsoft.com/office/drawing/2014/main" id="{8FBFC06D-0553-A2BA-3F86-80A0E5CF1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" y="1431"/>
                <a:ext cx="515" cy="239"/>
              </a:xfrm>
              <a:prstGeom prst="rect">
                <a:avLst/>
              </a:prstGeom>
              <a:solidFill>
                <a:srgbClr val="F0FA24"/>
              </a:solidFill>
              <a:ln w="12700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33FF"/>
                    </a:solidFill>
                    <a:latin typeface="Courier New" panose="02070309020205020404" pitchFamily="49" charset="0"/>
                  </a:rPr>
                  <a:t>LF</a:t>
                </a:r>
              </a:p>
            </p:txBody>
          </p:sp>
          <p:sp>
            <p:nvSpPr>
              <p:cNvPr id="38936" name="Rectangle 24">
                <a:extLst>
                  <a:ext uri="{FF2B5EF4-FFF2-40B4-BE49-F238E27FC236}">
                    <a16:creationId xmlns:a16="http://schemas.microsoft.com/office/drawing/2014/main" id="{99847D6D-6121-FCE3-FFC9-74F74ADA7B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4" y="1431"/>
                <a:ext cx="637" cy="239"/>
              </a:xfrm>
              <a:prstGeom prst="rect">
                <a:avLst/>
              </a:prstGeom>
              <a:solidFill>
                <a:srgbClr val="F0FA24"/>
              </a:solidFill>
              <a:ln w="12700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33FF"/>
                    </a:solidFill>
                    <a:latin typeface="Courier New" panose="02070309020205020404" pitchFamily="49" charset="0"/>
                  </a:rPr>
                  <a:t>HF</a:t>
                </a:r>
              </a:p>
            </p:txBody>
          </p:sp>
          <p:sp>
            <p:nvSpPr>
              <p:cNvPr id="38937" name="Rectangle 25">
                <a:extLst>
                  <a:ext uri="{FF2B5EF4-FFF2-40B4-BE49-F238E27FC236}">
                    <a16:creationId xmlns:a16="http://schemas.microsoft.com/office/drawing/2014/main" id="{62F054DF-66FF-399D-C94A-CEADAF3BCB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2" y="1430"/>
                <a:ext cx="637" cy="239"/>
              </a:xfrm>
              <a:prstGeom prst="rect">
                <a:avLst/>
              </a:prstGeom>
              <a:solidFill>
                <a:srgbClr val="F0FA24"/>
              </a:solidFill>
              <a:ln w="12700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33FF"/>
                    </a:solidFill>
                    <a:latin typeface="Courier New" panose="02070309020205020404" pitchFamily="49" charset="0"/>
                  </a:rPr>
                  <a:t>VHF</a:t>
                </a:r>
              </a:p>
            </p:txBody>
          </p:sp>
          <p:sp>
            <p:nvSpPr>
              <p:cNvPr id="38938" name="Rectangle 26">
                <a:extLst>
                  <a:ext uri="{FF2B5EF4-FFF2-40B4-BE49-F238E27FC236}">
                    <a16:creationId xmlns:a16="http://schemas.microsoft.com/office/drawing/2014/main" id="{4D5A8727-D853-FF83-2CC7-A3779C58C7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7" y="1430"/>
                <a:ext cx="925" cy="239"/>
              </a:xfrm>
              <a:prstGeom prst="rect">
                <a:avLst/>
              </a:prstGeom>
              <a:solidFill>
                <a:srgbClr val="F0FA24"/>
              </a:solidFill>
              <a:ln w="12700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33FF"/>
                    </a:solidFill>
                    <a:latin typeface="Courier New" panose="02070309020205020404" pitchFamily="49" charset="0"/>
                  </a:rPr>
                  <a:t>UHF</a:t>
                </a:r>
              </a:p>
            </p:txBody>
          </p:sp>
          <p:sp>
            <p:nvSpPr>
              <p:cNvPr id="38939" name="Rectangle 27">
                <a:extLst>
                  <a:ext uri="{FF2B5EF4-FFF2-40B4-BE49-F238E27FC236}">
                    <a16:creationId xmlns:a16="http://schemas.microsoft.com/office/drawing/2014/main" id="{0871F908-85AC-935D-BEED-9823BA1493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5" y="1430"/>
                <a:ext cx="637" cy="239"/>
              </a:xfrm>
              <a:prstGeom prst="rect">
                <a:avLst/>
              </a:prstGeom>
              <a:solidFill>
                <a:srgbClr val="F0FA24"/>
              </a:solidFill>
              <a:ln w="12700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33FF"/>
                    </a:solidFill>
                    <a:latin typeface="Courier New" panose="02070309020205020404" pitchFamily="49" charset="0"/>
                  </a:rPr>
                  <a:t>SHF</a:t>
                </a:r>
              </a:p>
            </p:txBody>
          </p:sp>
          <p:sp>
            <p:nvSpPr>
              <p:cNvPr id="38940" name="Rectangle 28">
                <a:extLst>
                  <a:ext uri="{FF2B5EF4-FFF2-40B4-BE49-F238E27FC236}">
                    <a16:creationId xmlns:a16="http://schemas.microsoft.com/office/drawing/2014/main" id="{6B3124BE-3544-1DB1-7238-45869E4A0D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1430"/>
                <a:ext cx="637" cy="239"/>
              </a:xfrm>
              <a:prstGeom prst="rect">
                <a:avLst/>
              </a:prstGeom>
              <a:solidFill>
                <a:srgbClr val="F0FA24"/>
              </a:solidFill>
              <a:ln w="12700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33FF"/>
                    </a:solidFill>
                    <a:latin typeface="Courier New" panose="02070309020205020404" pitchFamily="49" charset="0"/>
                  </a:rPr>
                  <a:t>EHF</a:t>
                </a:r>
              </a:p>
            </p:txBody>
          </p:sp>
          <p:sp>
            <p:nvSpPr>
              <p:cNvPr id="38941" name="Rectangle 29">
                <a:extLst>
                  <a:ext uri="{FF2B5EF4-FFF2-40B4-BE49-F238E27FC236}">
                    <a16:creationId xmlns:a16="http://schemas.microsoft.com/office/drawing/2014/main" id="{F72819AA-3E72-0A35-211C-25A80D1685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7" y="1431"/>
                <a:ext cx="637" cy="239"/>
              </a:xfrm>
              <a:prstGeom prst="rect">
                <a:avLst/>
              </a:prstGeom>
              <a:solidFill>
                <a:srgbClr val="F0FA24"/>
              </a:solidFill>
              <a:ln w="12700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33FF"/>
                    </a:solidFill>
                    <a:latin typeface="Courier New" panose="02070309020205020404" pitchFamily="49" charset="0"/>
                  </a:rPr>
                  <a:t>MF</a:t>
                </a:r>
              </a:p>
            </p:txBody>
          </p:sp>
        </p:grpSp>
        <p:sp>
          <p:nvSpPr>
            <p:cNvPr id="38942" name="Text Box 30">
              <a:extLst>
                <a:ext uri="{FF2B5EF4-FFF2-40B4-BE49-F238E27FC236}">
                  <a16:creationId xmlns:a16="http://schemas.microsoft.com/office/drawing/2014/main" id="{0F2AA64C-65B6-A988-1586-AC2A42019C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815157">
              <a:off x="843" y="1060"/>
              <a:ext cx="62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0FA2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>
                  <a:sym typeface="Symbol" panose="05050102010706020507" pitchFamily="18" charset="2"/>
                </a:rPr>
                <a:t>AM radio</a:t>
              </a:r>
              <a:endParaRPr lang="en-US" altLang="en-US" sz="1600"/>
            </a:p>
          </p:txBody>
        </p:sp>
        <p:sp>
          <p:nvSpPr>
            <p:cNvPr id="38943" name="Text Box 31">
              <a:extLst>
                <a:ext uri="{FF2B5EF4-FFF2-40B4-BE49-F238E27FC236}">
                  <a16:creationId xmlns:a16="http://schemas.microsoft.com/office/drawing/2014/main" id="{DCC9419D-FF49-6DCE-1C92-2F1F3E25FE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815157">
              <a:off x="1612" y="1031"/>
              <a:ext cx="67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0FA2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>
                  <a:sym typeface="Symbol" panose="05050102010706020507" pitchFamily="18" charset="2"/>
                </a:rPr>
                <a:t>S/W radio</a:t>
              </a:r>
              <a:endParaRPr lang="en-US" altLang="en-US" sz="1600"/>
            </a:p>
          </p:txBody>
        </p:sp>
        <p:sp>
          <p:nvSpPr>
            <p:cNvPr id="38944" name="Text Box 32">
              <a:extLst>
                <a:ext uri="{FF2B5EF4-FFF2-40B4-BE49-F238E27FC236}">
                  <a16:creationId xmlns:a16="http://schemas.microsoft.com/office/drawing/2014/main" id="{30E15005-B6D9-939A-5464-1A569025AB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815157">
              <a:off x="2083" y="1025"/>
              <a:ext cx="62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0FA2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>
                  <a:sym typeface="Symbol" panose="05050102010706020507" pitchFamily="18" charset="2"/>
                </a:rPr>
                <a:t>FM radio</a:t>
              </a:r>
              <a:endParaRPr lang="en-US" altLang="en-US" sz="1600"/>
            </a:p>
          </p:txBody>
        </p:sp>
        <p:sp>
          <p:nvSpPr>
            <p:cNvPr id="38945" name="Text Box 33">
              <a:extLst>
                <a:ext uri="{FF2B5EF4-FFF2-40B4-BE49-F238E27FC236}">
                  <a16:creationId xmlns:a16="http://schemas.microsoft.com/office/drawing/2014/main" id="{639BD13C-D520-2506-E963-9070CF64AA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815157">
              <a:off x="2394" y="1055"/>
              <a:ext cx="62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0FA2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>
                  <a:sym typeface="Symbol" panose="05050102010706020507" pitchFamily="18" charset="2"/>
                </a:rPr>
                <a:t>TV</a:t>
              </a:r>
              <a:endParaRPr lang="en-US" altLang="en-US" sz="1600"/>
            </a:p>
          </p:txBody>
        </p:sp>
        <p:sp>
          <p:nvSpPr>
            <p:cNvPr id="38946" name="Text Box 34">
              <a:extLst>
                <a:ext uri="{FF2B5EF4-FFF2-40B4-BE49-F238E27FC236}">
                  <a16:creationId xmlns:a16="http://schemas.microsoft.com/office/drawing/2014/main" id="{E46B1029-E8CB-4C2C-24BD-A0D59D83DD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815157">
              <a:off x="2679" y="1043"/>
              <a:ext cx="62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0FA2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>
                  <a:sym typeface="Symbol" panose="05050102010706020507" pitchFamily="18" charset="2"/>
                </a:rPr>
                <a:t>TV</a:t>
              </a:r>
              <a:endParaRPr lang="en-US" altLang="en-US" sz="1600"/>
            </a:p>
          </p:txBody>
        </p:sp>
        <p:sp>
          <p:nvSpPr>
            <p:cNvPr id="38947" name="Text Box 35">
              <a:extLst>
                <a:ext uri="{FF2B5EF4-FFF2-40B4-BE49-F238E27FC236}">
                  <a16:creationId xmlns:a16="http://schemas.microsoft.com/office/drawing/2014/main" id="{4A44181B-796E-3F19-DDDE-9BA39AD497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815157">
              <a:off x="2865" y="1085"/>
              <a:ext cx="62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0FA2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>
                  <a:sym typeface="Symbol" panose="05050102010706020507" pitchFamily="18" charset="2"/>
                </a:rPr>
                <a:t>cellular</a:t>
              </a:r>
              <a:endParaRPr lang="en-US" altLang="en-US" sz="1600"/>
            </a:p>
          </p:txBody>
        </p:sp>
        <p:sp>
          <p:nvSpPr>
            <p:cNvPr id="38948" name="Text Box 36">
              <a:extLst>
                <a:ext uri="{FF2B5EF4-FFF2-40B4-BE49-F238E27FC236}">
                  <a16:creationId xmlns:a16="http://schemas.microsoft.com/office/drawing/2014/main" id="{C00401DF-4997-0E71-30B3-DE853F3C92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5" y="1547"/>
              <a:ext cx="2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0FA2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b="1">
                  <a:latin typeface="Courier New" panose="02070309020205020404" pitchFamily="49" charset="0"/>
                  <a:sym typeface="Symbol" panose="05050102010706020507" pitchFamily="18" charset="2"/>
                </a:rPr>
                <a:t></a:t>
              </a:r>
              <a:endParaRPr lang="en-US" altLang="en-US" b="1">
                <a:latin typeface="Courier New" panose="02070309020205020404" pitchFamily="49" charset="0"/>
              </a:endParaRPr>
            </a:p>
          </p:txBody>
        </p:sp>
        <p:sp>
          <p:nvSpPr>
            <p:cNvPr id="38949" name="Line 37">
              <a:extLst>
                <a:ext uri="{FF2B5EF4-FFF2-40B4-BE49-F238E27FC236}">
                  <a16:creationId xmlns:a16="http://schemas.microsoft.com/office/drawing/2014/main" id="{4062839E-34B1-E0F8-6B92-157DD49233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57" y="1719"/>
              <a:ext cx="820" cy="108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8950" name="Line 38">
              <a:extLst>
                <a:ext uri="{FF2B5EF4-FFF2-40B4-BE49-F238E27FC236}">
                  <a16:creationId xmlns:a16="http://schemas.microsoft.com/office/drawing/2014/main" id="{16756AD8-EBDE-7438-7C04-98A4C9D730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2" y="1719"/>
              <a:ext cx="2496" cy="1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pSp>
          <p:nvGrpSpPr>
            <p:cNvPr id="38951" name="Group 39">
              <a:extLst>
                <a:ext uri="{FF2B5EF4-FFF2-40B4-BE49-F238E27FC236}">
                  <a16:creationId xmlns:a16="http://schemas.microsoft.com/office/drawing/2014/main" id="{890F9136-2D50-BCD3-3801-D19B560D13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30" y="636"/>
              <a:ext cx="1721" cy="1181"/>
              <a:chOff x="3330" y="636"/>
              <a:chExt cx="1721" cy="1181"/>
            </a:xfrm>
          </p:grpSpPr>
          <p:sp>
            <p:nvSpPr>
              <p:cNvPr id="38952" name="Text Box 40">
                <a:extLst>
                  <a:ext uri="{FF2B5EF4-FFF2-40B4-BE49-F238E27FC236}">
                    <a16:creationId xmlns:a16="http://schemas.microsoft.com/office/drawing/2014/main" id="{0ADFE37F-DE47-3F4E-0687-42EB8FD197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0" y="808"/>
                <a:ext cx="987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0FA2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bg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400">
                    <a:latin typeface="Courier New" panose="02070309020205020404" pitchFamily="49" charset="0"/>
                  </a:rPr>
                  <a:t>902 – 928 Mhz</a:t>
                </a:r>
              </a:p>
            </p:txBody>
          </p:sp>
          <p:sp>
            <p:nvSpPr>
              <p:cNvPr id="38953" name="Text Box 41">
                <a:extLst>
                  <a:ext uri="{FF2B5EF4-FFF2-40B4-BE49-F238E27FC236}">
                    <a16:creationId xmlns:a16="http://schemas.microsoft.com/office/drawing/2014/main" id="{C442B499-08BC-A1E3-862F-DEB49E8247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2" y="983"/>
                <a:ext cx="118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0FA2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bg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400">
                    <a:latin typeface="Courier New" panose="02070309020205020404" pitchFamily="49" charset="0"/>
                  </a:rPr>
                  <a:t>2.4 – 2.4835 Ghz</a:t>
                </a:r>
              </a:p>
            </p:txBody>
          </p:sp>
          <p:sp>
            <p:nvSpPr>
              <p:cNvPr id="38954" name="Text Box 42">
                <a:extLst>
                  <a:ext uri="{FF2B5EF4-FFF2-40B4-BE49-F238E27FC236}">
                    <a16:creationId xmlns:a16="http://schemas.microsoft.com/office/drawing/2014/main" id="{D3B6ED9F-D9CB-A6DF-D68D-35ADA1D678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96" y="1207"/>
                <a:ext cx="1255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0FA2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bg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400">
                    <a:latin typeface="Courier New" panose="02070309020205020404" pitchFamily="49" charset="0"/>
                  </a:rPr>
                  <a:t>5.725 – 5.785 Ghz</a:t>
                </a:r>
              </a:p>
            </p:txBody>
          </p:sp>
          <p:sp>
            <p:nvSpPr>
              <p:cNvPr id="38955" name="Text Box 43">
                <a:extLst>
                  <a:ext uri="{FF2B5EF4-FFF2-40B4-BE49-F238E27FC236}">
                    <a16:creationId xmlns:a16="http://schemas.microsoft.com/office/drawing/2014/main" id="{CB36C106-D3B7-6637-6182-E71F0DCEC3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75" y="636"/>
                <a:ext cx="80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0FA2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bg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0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ISM band</a:t>
                </a:r>
                <a:endParaRPr lang="en-US" altLang="en-US" sz="2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8956" name="Rectangle 44">
                <a:extLst>
                  <a:ext uri="{FF2B5EF4-FFF2-40B4-BE49-F238E27FC236}">
                    <a16:creationId xmlns:a16="http://schemas.microsoft.com/office/drawing/2014/main" id="{63F3CF53-3C5A-B250-2361-547281B404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5" y="1032"/>
                <a:ext cx="45" cy="785"/>
              </a:xfrm>
              <a:prstGeom prst="rect">
                <a:avLst/>
              </a:prstGeom>
              <a:solidFill>
                <a:srgbClr val="FF3300">
                  <a:alpha val="50000"/>
                </a:srgbClr>
              </a:solidFill>
              <a:ln w="12700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8957" name="Rectangle 45">
                <a:extLst>
                  <a:ext uri="{FF2B5EF4-FFF2-40B4-BE49-F238E27FC236}">
                    <a16:creationId xmlns:a16="http://schemas.microsoft.com/office/drawing/2014/main" id="{53FA17DE-2ED0-3D8D-4C85-3E72F1B9B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7" y="1132"/>
                <a:ext cx="45" cy="673"/>
              </a:xfrm>
              <a:prstGeom prst="rect">
                <a:avLst/>
              </a:prstGeom>
              <a:solidFill>
                <a:srgbClr val="FF3300">
                  <a:alpha val="50000"/>
                </a:srgbClr>
              </a:solidFill>
              <a:ln w="12700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8958" name="Rectangle 46">
                <a:extLst>
                  <a:ext uri="{FF2B5EF4-FFF2-40B4-BE49-F238E27FC236}">
                    <a16:creationId xmlns:a16="http://schemas.microsoft.com/office/drawing/2014/main" id="{28B1AAD3-9F3C-3234-BBC3-AE3C010AA8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0" y="1322"/>
                <a:ext cx="53" cy="489"/>
              </a:xfrm>
              <a:prstGeom prst="rect">
                <a:avLst/>
              </a:prstGeom>
              <a:solidFill>
                <a:srgbClr val="FF3300">
                  <a:alpha val="50000"/>
                </a:srgbClr>
              </a:solidFill>
              <a:ln w="12700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38959" name="Group 47">
              <a:extLst>
                <a:ext uri="{FF2B5EF4-FFF2-40B4-BE49-F238E27FC236}">
                  <a16:creationId xmlns:a16="http://schemas.microsoft.com/office/drawing/2014/main" id="{3AD440C2-952C-9BAE-83CB-8AD353EBE2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6" y="1679"/>
              <a:ext cx="5436" cy="542"/>
              <a:chOff x="156" y="1679"/>
              <a:chExt cx="5436" cy="542"/>
            </a:xfrm>
          </p:grpSpPr>
          <p:sp>
            <p:nvSpPr>
              <p:cNvPr id="38960" name="Line 48">
                <a:extLst>
                  <a:ext uri="{FF2B5EF4-FFF2-40B4-BE49-F238E27FC236}">
                    <a16:creationId xmlns:a16="http://schemas.microsoft.com/office/drawing/2014/main" id="{61B4EB62-4E2F-F43D-4FF8-FC0BFD2156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9" y="1690"/>
                <a:ext cx="50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8961" name="Text Box 49">
                <a:extLst>
                  <a:ext uri="{FF2B5EF4-FFF2-40B4-BE49-F238E27FC236}">
                    <a16:creationId xmlns:a16="http://schemas.microsoft.com/office/drawing/2014/main" id="{1F98A4DF-F537-507B-DBB4-D8EB7D79A2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71" y="1913"/>
                <a:ext cx="22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0FA2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bg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b="1">
                    <a:latin typeface="Courier New" panose="02070309020205020404" pitchFamily="49" charset="0"/>
                    <a:sym typeface="Symbol" panose="05050102010706020507" pitchFamily="18" charset="2"/>
                  </a:rPr>
                  <a:t></a:t>
                </a:r>
                <a:endParaRPr lang="en-US" altLang="en-US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38962" name="Text Box 50">
                <a:extLst>
                  <a:ext uri="{FF2B5EF4-FFF2-40B4-BE49-F238E27FC236}">
                    <a16:creationId xmlns:a16="http://schemas.microsoft.com/office/drawing/2014/main" id="{969F0B67-D696-1BCD-4CA8-A8C9F8D50E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" y="1765"/>
                <a:ext cx="451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0FA2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bg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400">
                    <a:latin typeface="Courier New" panose="02070309020205020404" pitchFamily="49" charset="0"/>
                    <a:sym typeface="Symbol" panose="05050102010706020507" pitchFamily="18" charset="2"/>
                  </a:rPr>
                  <a:t>30kHz</a:t>
                </a:r>
                <a:endParaRPr lang="en-US" altLang="en-US" sz="1400">
                  <a:latin typeface="Courier New" panose="02070309020205020404" pitchFamily="49" charset="0"/>
                </a:endParaRPr>
              </a:p>
            </p:txBody>
          </p:sp>
          <p:sp>
            <p:nvSpPr>
              <p:cNvPr id="38963" name="Text Box 51">
                <a:extLst>
                  <a:ext uri="{FF2B5EF4-FFF2-40B4-BE49-F238E27FC236}">
                    <a16:creationId xmlns:a16="http://schemas.microsoft.com/office/drawing/2014/main" id="{EE4E2D03-6037-3515-DC03-8EB5626499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0" y="1765"/>
                <a:ext cx="51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0FA2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bg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400">
                    <a:latin typeface="Courier New" panose="02070309020205020404" pitchFamily="49" charset="0"/>
                    <a:sym typeface="Symbol" panose="05050102010706020507" pitchFamily="18" charset="2"/>
                  </a:rPr>
                  <a:t>300kHz</a:t>
                </a:r>
                <a:endParaRPr lang="en-US" altLang="en-US" sz="1400">
                  <a:latin typeface="Courier New" panose="02070309020205020404" pitchFamily="49" charset="0"/>
                </a:endParaRPr>
              </a:p>
            </p:txBody>
          </p:sp>
          <p:sp>
            <p:nvSpPr>
              <p:cNvPr id="38964" name="Text Box 52">
                <a:extLst>
                  <a:ext uri="{FF2B5EF4-FFF2-40B4-BE49-F238E27FC236}">
                    <a16:creationId xmlns:a16="http://schemas.microsoft.com/office/drawing/2014/main" id="{3D67D96A-2C14-C3BD-6C60-F6786ABF19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85" y="1754"/>
                <a:ext cx="384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0FA2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bg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400">
                    <a:latin typeface="Courier New" panose="02070309020205020404" pitchFamily="49" charset="0"/>
                    <a:sym typeface="Symbol" panose="05050102010706020507" pitchFamily="18" charset="2"/>
                  </a:rPr>
                  <a:t>3MHz</a:t>
                </a:r>
                <a:endParaRPr lang="en-US" altLang="en-US" sz="1400">
                  <a:latin typeface="Courier New" panose="02070309020205020404" pitchFamily="49" charset="0"/>
                </a:endParaRPr>
              </a:p>
            </p:txBody>
          </p:sp>
          <p:sp>
            <p:nvSpPr>
              <p:cNvPr id="38965" name="Text Box 53">
                <a:extLst>
                  <a:ext uri="{FF2B5EF4-FFF2-40B4-BE49-F238E27FC236}">
                    <a16:creationId xmlns:a16="http://schemas.microsoft.com/office/drawing/2014/main" id="{0819C0C2-59FC-B3AD-0D0E-D7ED5CBA63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99" y="1744"/>
                <a:ext cx="451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0FA2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bg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400">
                    <a:latin typeface="Courier New" panose="02070309020205020404" pitchFamily="49" charset="0"/>
                    <a:sym typeface="Symbol" panose="05050102010706020507" pitchFamily="18" charset="2"/>
                  </a:rPr>
                  <a:t>30MHz</a:t>
                </a:r>
                <a:endParaRPr lang="en-US" altLang="en-US" sz="1400">
                  <a:latin typeface="Courier New" panose="02070309020205020404" pitchFamily="49" charset="0"/>
                </a:endParaRPr>
              </a:p>
            </p:txBody>
          </p:sp>
          <p:sp>
            <p:nvSpPr>
              <p:cNvPr id="38966" name="Text Box 54">
                <a:extLst>
                  <a:ext uri="{FF2B5EF4-FFF2-40B4-BE49-F238E27FC236}">
                    <a16:creationId xmlns:a16="http://schemas.microsoft.com/office/drawing/2014/main" id="{91D02F18-2BA2-515D-2669-B12122E8FE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64" y="1743"/>
                <a:ext cx="51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0FA2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bg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400">
                    <a:latin typeface="Courier New" panose="02070309020205020404" pitchFamily="49" charset="0"/>
                    <a:sym typeface="Symbol" panose="05050102010706020507" pitchFamily="18" charset="2"/>
                  </a:rPr>
                  <a:t>300MHz</a:t>
                </a:r>
                <a:endParaRPr lang="en-US" altLang="en-US" sz="1400">
                  <a:latin typeface="Courier New" panose="02070309020205020404" pitchFamily="49" charset="0"/>
                </a:endParaRPr>
              </a:p>
            </p:txBody>
          </p:sp>
          <p:sp>
            <p:nvSpPr>
              <p:cNvPr id="38967" name="Text Box 55">
                <a:extLst>
                  <a:ext uri="{FF2B5EF4-FFF2-40B4-BE49-F238E27FC236}">
                    <a16:creationId xmlns:a16="http://schemas.microsoft.com/office/drawing/2014/main" id="{3244C8E1-0171-382E-3D1B-D48B88ADDA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07" y="1752"/>
                <a:ext cx="451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0FA2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bg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400">
                    <a:latin typeface="Courier New" panose="02070309020205020404" pitchFamily="49" charset="0"/>
                    <a:sym typeface="Symbol" panose="05050102010706020507" pitchFamily="18" charset="2"/>
                  </a:rPr>
                  <a:t>30GHz</a:t>
                </a:r>
                <a:endParaRPr lang="en-US" altLang="en-US" sz="1400">
                  <a:latin typeface="Courier New" panose="02070309020205020404" pitchFamily="49" charset="0"/>
                </a:endParaRPr>
              </a:p>
            </p:txBody>
          </p:sp>
          <p:sp>
            <p:nvSpPr>
              <p:cNvPr id="38968" name="Text Box 56">
                <a:extLst>
                  <a:ext uri="{FF2B5EF4-FFF2-40B4-BE49-F238E27FC236}">
                    <a16:creationId xmlns:a16="http://schemas.microsoft.com/office/drawing/2014/main" id="{8E743EB9-9CC2-EC1D-83D3-8AD3CD2C3F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41" y="1752"/>
                <a:ext cx="51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0FA2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bg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400">
                    <a:latin typeface="Courier New" panose="02070309020205020404" pitchFamily="49" charset="0"/>
                    <a:sym typeface="Symbol" panose="05050102010706020507" pitchFamily="18" charset="2"/>
                  </a:rPr>
                  <a:t>300GHz</a:t>
                </a:r>
                <a:endParaRPr lang="en-US" altLang="en-US" sz="1400">
                  <a:latin typeface="Courier New" panose="02070309020205020404" pitchFamily="49" charset="0"/>
                </a:endParaRPr>
              </a:p>
            </p:txBody>
          </p:sp>
          <p:sp>
            <p:nvSpPr>
              <p:cNvPr id="38969" name="Line 57">
                <a:extLst>
                  <a:ext uri="{FF2B5EF4-FFF2-40B4-BE49-F238E27FC236}">
                    <a16:creationId xmlns:a16="http://schemas.microsoft.com/office/drawing/2014/main" id="{5AA19254-A0C2-0EBE-385A-81DFA1CB67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" y="1682"/>
                <a:ext cx="0" cy="7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8970" name="Line 58">
                <a:extLst>
                  <a:ext uri="{FF2B5EF4-FFF2-40B4-BE49-F238E27FC236}">
                    <a16:creationId xmlns:a16="http://schemas.microsoft.com/office/drawing/2014/main" id="{108CC825-EDB0-84FB-C6C1-F684E18E04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8" y="1697"/>
                <a:ext cx="0" cy="7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8971" name="Line 59">
                <a:extLst>
                  <a:ext uri="{FF2B5EF4-FFF2-40B4-BE49-F238E27FC236}">
                    <a16:creationId xmlns:a16="http://schemas.microsoft.com/office/drawing/2014/main" id="{8D83B6C3-EEB0-5A19-801E-9293DA0C07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5" y="1685"/>
                <a:ext cx="0" cy="7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8972" name="Line 60">
                <a:extLst>
                  <a:ext uri="{FF2B5EF4-FFF2-40B4-BE49-F238E27FC236}">
                    <a16:creationId xmlns:a16="http://schemas.microsoft.com/office/drawing/2014/main" id="{A490AF92-4DD8-34DF-9BF1-FE4EBFF9B9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1" y="1691"/>
                <a:ext cx="0" cy="7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8973" name="Line 61">
                <a:extLst>
                  <a:ext uri="{FF2B5EF4-FFF2-40B4-BE49-F238E27FC236}">
                    <a16:creationId xmlns:a16="http://schemas.microsoft.com/office/drawing/2014/main" id="{502C49D7-43A4-C627-0F9B-0331E99995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6" y="1697"/>
                <a:ext cx="0" cy="7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8974" name="Line 62">
                <a:extLst>
                  <a:ext uri="{FF2B5EF4-FFF2-40B4-BE49-F238E27FC236}">
                    <a16:creationId xmlns:a16="http://schemas.microsoft.com/office/drawing/2014/main" id="{7CD5929D-83BB-9BE9-A8B3-08FF9EFCD2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6" y="1691"/>
                <a:ext cx="0" cy="7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8975" name="Line 63">
                <a:extLst>
                  <a:ext uri="{FF2B5EF4-FFF2-40B4-BE49-F238E27FC236}">
                    <a16:creationId xmlns:a16="http://schemas.microsoft.com/office/drawing/2014/main" id="{F7E8D95D-F692-CA86-497D-11503D38AF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3" y="1679"/>
                <a:ext cx="0" cy="7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8976" name="Text Box 64">
                <a:extLst>
                  <a:ext uri="{FF2B5EF4-FFF2-40B4-BE49-F238E27FC236}">
                    <a16:creationId xmlns:a16="http://schemas.microsoft.com/office/drawing/2014/main" id="{0B3454F6-3BF5-1152-3A4E-92DF817C52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6" y="2023"/>
                <a:ext cx="384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0FA2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bg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400">
                    <a:latin typeface="Courier New" panose="02070309020205020404" pitchFamily="49" charset="0"/>
                    <a:sym typeface="Symbol" panose="05050102010706020507" pitchFamily="18" charset="2"/>
                  </a:rPr>
                  <a:t>10km</a:t>
                </a:r>
                <a:endParaRPr lang="en-US" altLang="en-US" sz="1400">
                  <a:latin typeface="Courier New" panose="02070309020205020404" pitchFamily="49" charset="0"/>
                </a:endParaRPr>
              </a:p>
            </p:txBody>
          </p:sp>
          <p:sp>
            <p:nvSpPr>
              <p:cNvPr id="38977" name="Text Box 65">
                <a:extLst>
                  <a:ext uri="{FF2B5EF4-FFF2-40B4-BE49-F238E27FC236}">
                    <a16:creationId xmlns:a16="http://schemas.microsoft.com/office/drawing/2014/main" id="{544CB7EF-9CFF-6E9B-05CF-71DA108270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4" y="2029"/>
                <a:ext cx="317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0FA2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bg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400">
                    <a:latin typeface="Courier New" panose="02070309020205020404" pitchFamily="49" charset="0"/>
                    <a:sym typeface="Symbol" panose="05050102010706020507" pitchFamily="18" charset="2"/>
                  </a:rPr>
                  <a:t>1km</a:t>
                </a:r>
                <a:endParaRPr lang="en-US" altLang="en-US" sz="1400">
                  <a:latin typeface="Courier New" panose="02070309020205020404" pitchFamily="49" charset="0"/>
                </a:endParaRPr>
              </a:p>
            </p:txBody>
          </p:sp>
          <p:sp>
            <p:nvSpPr>
              <p:cNvPr id="38978" name="Text Box 66">
                <a:extLst>
                  <a:ext uri="{FF2B5EF4-FFF2-40B4-BE49-F238E27FC236}">
                    <a16:creationId xmlns:a16="http://schemas.microsoft.com/office/drawing/2014/main" id="{7854A708-F33B-2711-BEC9-D5E14CEE81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2" y="2017"/>
                <a:ext cx="384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0FA2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bg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400">
                    <a:latin typeface="Courier New" panose="02070309020205020404" pitchFamily="49" charset="0"/>
                    <a:sym typeface="Symbol" panose="05050102010706020507" pitchFamily="18" charset="2"/>
                  </a:rPr>
                  <a:t>100m</a:t>
                </a:r>
                <a:endParaRPr lang="en-US" altLang="en-US" sz="1400">
                  <a:latin typeface="Courier New" panose="02070309020205020404" pitchFamily="49" charset="0"/>
                </a:endParaRPr>
              </a:p>
            </p:txBody>
          </p:sp>
          <p:sp>
            <p:nvSpPr>
              <p:cNvPr id="38979" name="Text Box 67">
                <a:extLst>
                  <a:ext uri="{FF2B5EF4-FFF2-40B4-BE49-F238E27FC236}">
                    <a16:creationId xmlns:a16="http://schemas.microsoft.com/office/drawing/2014/main" id="{7253F8B7-5AB6-B94B-9E78-5450E30265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9" y="2000"/>
                <a:ext cx="317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0FA2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bg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400">
                    <a:latin typeface="Courier New" panose="02070309020205020404" pitchFamily="49" charset="0"/>
                    <a:sym typeface="Symbol" panose="05050102010706020507" pitchFamily="18" charset="2"/>
                  </a:rPr>
                  <a:t>10m</a:t>
                </a:r>
                <a:endParaRPr lang="en-US" altLang="en-US" sz="1400">
                  <a:latin typeface="Courier New" panose="02070309020205020404" pitchFamily="49" charset="0"/>
                </a:endParaRPr>
              </a:p>
            </p:txBody>
          </p:sp>
          <p:sp>
            <p:nvSpPr>
              <p:cNvPr id="38980" name="Text Box 68">
                <a:extLst>
                  <a:ext uri="{FF2B5EF4-FFF2-40B4-BE49-F238E27FC236}">
                    <a16:creationId xmlns:a16="http://schemas.microsoft.com/office/drawing/2014/main" id="{91A17F0F-552F-FDDA-7290-180E3E80EF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6" y="2009"/>
                <a:ext cx="25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0FA2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bg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400">
                    <a:latin typeface="Courier New" panose="02070309020205020404" pitchFamily="49" charset="0"/>
                    <a:sym typeface="Symbol" panose="05050102010706020507" pitchFamily="18" charset="2"/>
                  </a:rPr>
                  <a:t>1m</a:t>
                </a:r>
                <a:endParaRPr lang="en-US" altLang="en-US" sz="1400">
                  <a:latin typeface="Courier New" panose="02070309020205020404" pitchFamily="49" charset="0"/>
                </a:endParaRPr>
              </a:p>
            </p:txBody>
          </p:sp>
          <p:sp>
            <p:nvSpPr>
              <p:cNvPr id="38981" name="Text Box 69">
                <a:extLst>
                  <a:ext uri="{FF2B5EF4-FFF2-40B4-BE49-F238E27FC236}">
                    <a16:creationId xmlns:a16="http://schemas.microsoft.com/office/drawing/2014/main" id="{6652AA72-DFBD-ACF0-EB9A-93F8703B3D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560" y="1993"/>
                <a:ext cx="50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0FA2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bg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400">
                    <a:latin typeface="Courier New" panose="02070309020205020404" pitchFamily="49" charset="0"/>
                    <a:sym typeface="Symbol" panose="05050102010706020507" pitchFamily="18" charset="2"/>
                  </a:rPr>
                  <a:t>10cm</a:t>
                </a:r>
                <a:endParaRPr lang="en-US" altLang="en-US" sz="1400">
                  <a:latin typeface="Courier New" panose="02070309020205020404" pitchFamily="49" charset="0"/>
                </a:endParaRPr>
              </a:p>
            </p:txBody>
          </p:sp>
          <p:sp>
            <p:nvSpPr>
              <p:cNvPr id="38982" name="Text Box 70">
                <a:extLst>
                  <a:ext uri="{FF2B5EF4-FFF2-40B4-BE49-F238E27FC236}">
                    <a16:creationId xmlns:a16="http://schemas.microsoft.com/office/drawing/2014/main" id="{C1DBCB82-B4B5-7D65-5263-966AAA1B28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4206" y="2002"/>
                <a:ext cx="50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0FA2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bg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400">
                    <a:latin typeface="Courier New" panose="02070309020205020404" pitchFamily="49" charset="0"/>
                    <a:sym typeface="Symbol" panose="05050102010706020507" pitchFamily="18" charset="2"/>
                  </a:rPr>
                  <a:t>1cm</a:t>
                </a:r>
                <a:endParaRPr lang="en-US" altLang="en-US" sz="1400">
                  <a:latin typeface="Courier New" panose="02070309020205020404" pitchFamily="49" charset="0"/>
                </a:endParaRPr>
              </a:p>
            </p:txBody>
          </p:sp>
          <p:sp>
            <p:nvSpPr>
              <p:cNvPr id="38983" name="Text Box 71">
                <a:extLst>
                  <a:ext uri="{FF2B5EF4-FFF2-40B4-BE49-F238E27FC236}">
                    <a16:creationId xmlns:a16="http://schemas.microsoft.com/office/drawing/2014/main" id="{4AC12308-534F-0F35-3E23-F3E74C5771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4756" y="1985"/>
                <a:ext cx="50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0FA2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bg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400">
                    <a:latin typeface="Courier New" panose="02070309020205020404" pitchFamily="49" charset="0"/>
                    <a:sym typeface="Symbol" panose="05050102010706020507" pitchFamily="18" charset="2"/>
                  </a:rPr>
                  <a:t>100mm</a:t>
                </a:r>
                <a:endParaRPr lang="en-US" altLang="en-US" sz="1400">
                  <a:latin typeface="Courier New" panose="02070309020205020404" pitchFamily="49" charset="0"/>
                </a:endParaRPr>
              </a:p>
            </p:txBody>
          </p:sp>
          <p:sp>
            <p:nvSpPr>
              <p:cNvPr id="38984" name="Text Box 72">
                <a:extLst>
                  <a:ext uri="{FF2B5EF4-FFF2-40B4-BE49-F238E27FC236}">
                    <a16:creationId xmlns:a16="http://schemas.microsoft.com/office/drawing/2014/main" id="{8121307B-5E46-7D2D-2007-2696C0B36B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11" y="1753"/>
                <a:ext cx="384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0FA2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bg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400">
                    <a:latin typeface="Courier New" panose="02070309020205020404" pitchFamily="49" charset="0"/>
                    <a:sym typeface="Symbol" panose="05050102010706020507" pitchFamily="18" charset="2"/>
                  </a:rPr>
                  <a:t>3GHz</a:t>
                </a:r>
                <a:endParaRPr lang="en-US" altLang="en-US" sz="1400">
                  <a:latin typeface="Courier New" panose="02070309020205020404" pitchFamily="49" charset="0"/>
                </a:endParaRPr>
              </a:p>
            </p:txBody>
          </p:sp>
          <p:sp>
            <p:nvSpPr>
              <p:cNvPr id="38985" name="Line 73">
                <a:extLst>
                  <a:ext uri="{FF2B5EF4-FFF2-40B4-BE49-F238E27FC236}">
                    <a16:creationId xmlns:a16="http://schemas.microsoft.com/office/drawing/2014/main" id="{852A6104-4A16-C6A4-936B-8A46ABFCAA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1694"/>
                <a:ext cx="0" cy="7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2" name="object 2">
            <a:extLst>
              <a:ext uri="{FF2B5EF4-FFF2-40B4-BE49-F238E27FC236}">
                <a16:creationId xmlns:a16="http://schemas.microsoft.com/office/drawing/2014/main" id="{4F2581BD-243E-BDCF-1C55-2ED7FD54E40A}"/>
              </a:ext>
            </a:extLst>
          </p:cNvPr>
          <p:cNvSpPr txBox="1">
            <a:spLocks/>
          </p:cNvSpPr>
          <p:nvPr/>
        </p:nvSpPr>
        <p:spPr>
          <a:xfrm>
            <a:off x="352254" y="335001"/>
            <a:ext cx="7801146" cy="695325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194903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94B20-EC9A-205F-A54F-9521E06F1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8CC01689-6A28-2846-F283-2DFEF7854B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EM Spectrum:: </a:t>
            </a:r>
            <a:r>
              <a:rPr lang="en-US" dirty="0">
                <a:solidFill>
                  <a:srgbClr val="FF0000"/>
                </a:solidFill>
              </a:rPr>
              <a:t>ISM Band </a:t>
            </a:r>
            <a:r>
              <a:rPr lang="en-US" altLang="en-US" dirty="0"/>
              <a:t>	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A08764-7A85-C1DF-40D6-E1998E47A20B}"/>
              </a:ext>
            </a:extLst>
          </p:cNvPr>
          <p:cNvSpPr txBox="1"/>
          <p:nvPr/>
        </p:nvSpPr>
        <p:spPr>
          <a:xfrm>
            <a:off x="533400" y="1400020"/>
            <a:ext cx="8458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ISM Band (</a:t>
            </a:r>
            <a:r>
              <a:rPr lang="en-US" dirty="0">
                <a:solidFill>
                  <a:srgbClr val="FF0000"/>
                </a:solidFill>
              </a:rPr>
              <a:t>Industrial, Scientific, and Medical Band</a:t>
            </a:r>
            <a:r>
              <a:rPr lang="en-US" dirty="0">
                <a:solidFill>
                  <a:srgbClr val="0070C0"/>
                </a:solidFill>
              </a:rPr>
              <a:t>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00B050"/>
                </a:solidFill>
              </a:rPr>
              <a:t>Key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License-free usage (no regulatory approval needed, with power limits).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Common in Wi-Fi, Bluetooth, RFID, microwave ovens, and cordless phones.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Operates under power and interference constraints to coexist with other users.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96A96CA-7381-1312-4445-67D2C4227E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415087"/>
              </p:ext>
            </p:extLst>
          </p:nvPr>
        </p:nvGraphicFramePr>
        <p:xfrm>
          <a:off x="457200" y="3708344"/>
          <a:ext cx="8458200" cy="1828800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:a16="http://schemas.microsoft.com/office/drawing/2014/main" val="2182767266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1970219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rgbClr val="00B0F0"/>
                          </a:solidFill>
                        </a:rPr>
                        <a:t>Frequency Band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00B0F0"/>
                          </a:solidFill>
                        </a:rPr>
                        <a:t>Common Uses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260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433 MHz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RFID, remote controls (Europe)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343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868 MHz / 915 MHz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IoT devices, Zigbee, LPWAN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746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/>
                        <a:t>2.4 GHz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Wi-Fi (802.11b/g/n), Bluetooth, Microwave ovens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017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/>
                        <a:t>5.8 GHz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b="0" dirty="0">
                          <a:solidFill>
                            <a:srgbClr val="FF0000"/>
                          </a:solidFill>
                        </a:rPr>
                        <a:t>Wi-Fi (802.11a/n/ac), radar, ISM devices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08517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C5B0E19-C80D-0D6B-A35F-5E95012024C7}"/>
              </a:ext>
            </a:extLst>
          </p:cNvPr>
          <p:cNvSpPr txBox="1"/>
          <p:nvPr/>
        </p:nvSpPr>
        <p:spPr>
          <a:xfrm>
            <a:off x="457200" y="5715000"/>
            <a:ext cx="8001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This can cause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interference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, especially between Wi-Fi and microwave ovens.</a:t>
            </a:r>
          </a:p>
          <a:p>
            <a:pPr lvl="1"/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 Wi-Fi devices often switch to 5 GHz or 6 GHz to avoid congestion.</a:t>
            </a:r>
            <a:endParaRPr lang="en-US" altLang="en-US" sz="1800"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4EF519C0-2785-1A08-0880-3A345C28003D}"/>
              </a:ext>
            </a:extLst>
          </p:cNvPr>
          <p:cNvSpPr txBox="1">
            <a:spLocks/>
          </p:cNvSpPr>
          <p:nvPr/>
        </p:nvSpPr>
        <p:spPr>
          <a:xfrm>
            <a:off x="352254" y="335001"/>
            <a:ext cx="7801146" cy="695325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1637640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65E3D-CBE8-7C97-AEDD-D792E6BA4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F215810-AEBA-68BB-87C4-6F86056C05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6E3A97-7337-4819-AE86-B376A40F5303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sp>
        <p:nvSpPr>
          <p:cNvPr id="1886214" name="Rectangle 6">
            <a:extLst>
              <a:ext uri="{FF2B5EF4-FFF2-40B4-BE49-F238E27FC236}">
                <a16:creationId xmlns:a16="http://schemas.microsoft.com/office/drawing/2014/main" id="{0711F396-4439-B115-6D44-748C097C69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2.Noise and Interference:: High BER</a:t>
            </a:r>
            <a:endParaRPr lang="en-US" altLang="en-US" sz="3200" dirty="0"/>
          </a:p>
        </p:txBody>
      </p:sp>
      <p:sp>
        <p:nvSpPr>
          <p:cNvPr id="1886215" name="Rectangle 7">
            <a:extLst>
              <a:ext uri="{FF2B5EF4-FFF2-40B4-BE49-F238E27FC236}">
                <a16:creationId xmlns:a16="http://schemas.microsoft.com/office/drawing/2014/main" id="{BA43612F-9244-C84C-ACE4-319B0845BF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0728" y="1371600"/>
            <a:ext cx="8458200" cy="24384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b="1" dirty="0">
                <a:solidFill>
                  <a:srgbClr val="FF0000"/>
                </a:solidFill>
              </a:rPr>
              <a:t>How Noise &amp; Interference Increase Bit Error Rate (BER)</a:t>
            </a:r>
          </a:p>
          <a:p>
            <a:r>
              <a:rPr lang="en-US" altLang="en-US" sz="1800" dirty="0">
                <a:solidFill>
                  <a:schemeClr val="accent2"/>
                </a:solidFill>
              </a:rPr>
              <a:t>Noise (thermal, impulse) distorts the signal, making it hard to detect correct bits.</a:t>
            </a:r>
          </a:p>
          <a:p>
            <a:r>
              <a:rPr lang="en-US" altLang="en-US" sz="1800" dirty="0">
                <a:solidFill>
                  <a:schemeClr val="accent2"/>
                </a:solidFill>
              </a:rPr>
              <a:t>Interference from nearby devices overlaps signals, causing bit confusion.</a:t>
            </a:r>
          </a:p>
          <a:p>
            <a:r>
              <a:rPr lang="en-US" altLang="en-US" sz="1800" dirty="0">
                <a:solidFill>
                  <a:schemeClr val="accent2"/>
                </a:solidFill>
              </a:rPr>
              <a:t>Low SNR reduces the receiver’s ability to distinguish between 0s and 1s.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0D17248E-69EA-1ABF-B76D-734ACD34DC64}"/>
              </a:ext>
            </a:extLst>
          </p:cNvPr>
          <p:cNvSpPr txBox="1">
            <a:spLocks/>
          </p:cNvSpPr>
          <p:nvPr/>
        </p:nvSpPr>
        <p:spPr>
          <a:xfrm>
            <a:off x="352254" y="335001"/>
            <a:ext cx="7801146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392894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2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2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2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AA79F-E6CC-FBCC-EFE7-549EF68CE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305A134-1F27-674B-2E13-A2BA72A56D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72C8E57-475F-4E5B-B40B-5973D2A46384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sp>
        <p:nvSpPr>
          <p:cNvPr id="1884162" name="Rectangle 2">
            <a:extLst>
              <a:ext uri="{FF2B5EF4-FFF2-40B4-BE49-F238E27FC236}">
                <a16:creationId xmlns:a16="http://schemas.microsoft.com/office/drawing/2014/main" id="{58B9AF52-1800-671E-353B-08D87D22E7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1" y="3200400"/>
            <a:ext cx="7086599" cy="685800"/>
          </a:xfrm>
        </p:spPr>
        <p:txBody>
          <a:bodyPr/>
          <a:lstStyle/>
          <a:p>
            <a:r>
              <a:rPr lang="en-US" sz="3600" dirty="0"/>
              <a:t>3. Multipath Fading &amp; Environmental Obstructions</a:t>
            </a:r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0628604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>
            <a:extLst>
              <a:ext uri="{FF2B5EF4-FFF2-40B4-BE49-F238E27FC236}">
                <a16:creationId xmlns:a16="http://schemas.microsoft.com/office/drawing/2014/main" id="{341C179D-524A-6D90-1E17-5B5B00799F0A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5575" y="5362575"/>
            <a:ext cx="885825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7107" name="Freeform 3">
            <a:extLst>
              <a:ext uri="{FF2B5EF4-FFF2-40B4-BE49-F238E27FC236}">
                <a16:creationId xmlns:a16="http://schemas.microsoft.com/office/drawing/2014/main" id="{E922279A-0F37-7D8F-E2E2-902A7C0A934C}"/>
              </a:ext>
            </a:extLst>
          </p:cNvPr>
          <p:cNvSpPr>
            <a:spLocks/>
          </p:cNvSpPr>
          <p:nvPr/>
        </p:nvSpPr>
        <p:spPr bwMode="auto">
          <a:xfrm>
            <a:off x="7751763" y="2444750"/>
            <a:ext cx="77787" cy="69850"/>
          </a:xfrm>
          <a:custGeom>
            <a:avLst/>
            <a:gdLst>
              <a:gd name="T0" fmla="*/ 17 w 49"/>
              <a:gd name="T1" fmla="*/ 4 h 44"/>
              <a:gd name="T2" fmla="*/ 0 w 49"/>
              <a:gd name="T3" fmla="*/ 0 h 44"/>
              <a:gd name="T4" fmla="*/ 4 w 49"/>
              <a:gd name="T5" fmla="*/ 6 h 44"/>
              <a:gd name="T6" fmla="*/ 4 w 49"/>
              <a:gd name="T7" fmla="*/ 12 h 44"/>
              <a:gd name="T8" fmla="*/ 8 w 49"/>
              <a:gd name="T9" fmla="*/ 18 h 44"/>
              <a:gd name="T10" fmla="*/ 13 w 49"/>
              <a:gd name="T11" fmla="*/ 25 h 44"/>
              <a:gd name="T12" fmla="*/ 15 w 49"/>
              <a:gd name="T13" fmla="*/ 31 h 44"/>
              <a:gd name="T14" fmla="*/ 21 w 49"/>
              <a:gd name="T15" fmla="*/ 35 h 44"/>
              <a:gd name="T16" fmla="*/ 35 w 49"/>
              <a:gd name="T17" fmla="*/ 39 h 44"/>
              <a:gd name="T18" fmla="*/ 42 w 49"/>
              <a:gd name="T19" fmla="*/ 43 h 44"/>
              <a:gd name="T20" fmla="*/ 48 w 49"/>
              <a:gd name="T21" fmla="*/ 37 h 44"/>
              <a:gd name="T22" fmla="*/ 48 w 49"/>
              <a:gd name="T23" fmla="*/ 31 h 44"/>
              <a:gd name="T24" fmla="*/ 48 w 49"/>
              <a:gd name="T25" fmla="*/ 25 h 44"/>
              <a:gd name="T26" fmla="*/ 46 w 49"/>
              <a:gd name="T27" fmla="*/ 18 h 44"/>
              <a:gd name="T28" fmla="*/ 40 w 49"/>
              <a:gd name="T29" fmla="*/ 16 h 44"/>
              <a:gd name="T30" fmla="*/ 33 w 49"/>
              <a:gd name="T31" fmla="*/ 10 h 44"/>
              <a:gd name="T32" fmla="*/ 27 w 49"/>
              <a:gd name="T33" fmla="*/ 8 h 44"/>
              <a:gd name="T34" fmla="*/ 21 w 49"/>
              <a:gd name="T35" fmla="*/ 4 h 44"/>
              <a:gd name="T36" fmla="*/ 15 w 49"/>
              <a:gd name="T37" fmla="*/ 2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49" h="44">
                <a:moveTo>
                  <a:pt x="17" y="4"/>
                </a:moveTo>
                <a:lnTo>
                  <a:pt x="0" y="0"/>
                </a:lnTo>
                <a:lnTo>
                  <a:pt x="4" y="6"/>
                </a:lnTo>
                <a:lnTo>
                  <a:pt x="4" y="12"/>
                </a:lnTo>
                <a:lnTo>
                  <a:pt x="8" y="18"/>
                </a:lnTo>
                <a:lnTo>
                  <a:pt x="13" y="25"/>
                </a:lnTo>
                <a:lnTo>
                  <a:pt x="15" y="31"/>
                </a:lnTo>
                <a:lnTo>
                  <a:pt x="21" y="35"/>
                </a:lnTo>
                <a:lnTo>
                  <a:pt x="35" y="39"/>
                </a:lnTo>
                <a:lnTo>
                  <a:pt x="42" y="43"/>
                </a:lnTo>
                <a:lnTo>
                  <a:pt x="48" y="37"/>
                </a:lnTo>
                <a:lnTo>
                  <a:pt x="48" y="31"/>
                </a:lnTo>
                <a:lnTo>
                  <a:pt x="48" y="25"/>
                </a:lnTo>
                <a:lnTo>
                  <a:pt x="46" y="18"/>
                </a:lnTo>
                <a:lnTo>
                  <a:pt x="40" y="16"/>
                </a:lnTo>
                <a:lnTo>
                  <a:pt x="33" y="10"/>
                </a:lnTo>
                <a:lnTo>
                  <a:pt x="27" y="8"/>
                </a:lnTo>
                <a:lnTo>
                  <a:pt x="21" y="4"/>
                </a:lnTo>
                <a:lnTo>
                  <a:pt x="15" y="2"/>
                </a:lnTo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7108" name="Picture 4">
            <a:extLst>
              <a:ext uri="{FF2B5EF4-FFF2-40B4-BE49-F238E27FC236}">
                <a16:creationId xmlns:a16="http://schemas.microsoft.com/office/drawing/2014/main" id="{65378B26-CD40-4199-AD09-06C0579B2BD4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6338" y="2681288"/>
            <a:ext cx="773112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7109" name="Freeform 5">
            <a:extLst>
              <a:ext uri="{FF2B5EF4-FFF2-40B4-BE49-F238E27FC236}">
                <a16:creationId xmlns:a16="http://schemas.microsoft.com/office/drawing/2014/main" id="{72656697-4570-6166-FB04-99333269F3A1}"/>
              </a:ext>
            </a:extLst>
          </p:cNvPr>
          <p:cNvSpPr>
            <a:spLocks/>
          </p:cNvSpPr>
          <p:nvPr/>
        </p:nvSpPr>
        <p:spPr bwMode="auto">
          <a:xfrm>
            <a:off x="7904163" y="2597150"/>
            <a:ext cx="77787" cy="69850"/>
          </a:xfrm>
          <a:custGeom>
            <a:avLst/>
            <a:gdLst>
              <a:gd name="T0" fmla="*/ 17 w 49"/>
              <a:gd name="T1" fmla="*/ 4 h 44"/>
              <a:gd name="T2" fmla="*/ 0 w 49"/>
              <a:gd name="T3" fmla="*/ 0 h 44"/>
              <a:gd name="T4" fmla="*/ 4 w 49"/>
              <a:gd name="T5" fmla="*/ 6 h 44"/>
              <a:gd name="T6" fmla="*/ 4 w 49"/>
              <a:gd name="T7" fmla="*/ 12 h 44"/>
              <a:gd name="T8" fmla="*/ 8 w 49"/>
              <a:gd name="T9" fmla="*/ 18 h 44"/>
              <a:gd name="T10" fmla="*/ 13 w 49"/>
              <a:gd name="T11" fmla="*/ 25 h 44"/>
              <a:gd name="T12" fmla="*/ 15 w 49"/>
              <a:gd name="T13" fmla="*/ 31 h 44"/>
              <a:gd name="T14" fmla="*/ 21 w 49"/>
              <a:gd name="T15" fmla="*/ 35 h 44"/>
              <a:gd name="T16" fmla="*/ 35 w 49"/>
              <a:gd name="T17" fmla="*/ 39 h 44"/>
              <a:gd name="T18" fmla="*/ 42 w 49"/>
              <a:gd name="T19" fmla="*/ 43 h 44"/>
              <a:gd name="T20" fmla="*/ 48 w 49"/>
              <a:gd name="T21" fmla="*/ 37 h 44"/>
              <a:gd name="T22" fmla="*/ 48 w 49"/>
              <a:gd name="T23" fmla="*/ 31 h 44"/>
              <a:gd name="T24" fmla="*/ 48 w 49"/>
              <a:gd name="T25" fmla="*/ 25 h 44"/>
              <a:gd name="T26" fmla="*/ 46 w 49"/>
              <a:gd name="T27" fmla="*/ 18 h 44"/>
              <a:gd name="T28" fmla="*/ 40 w 49"/>
              <a:gd name="T29" fmla="*/ 16 h 44"/>
              <a:gd name="T30" fmla="*/ 33 w 49"/>
              <a:gd name="T31" fmla="*/ 10 h 44"/>
              <a:gd name="T32" fmla="*/ 27 w 49"/>
              <a:gd name="T33" fmla="*/ 8 h 44"/>
              <a:gd name="T34" fmla="*/ 21 w 49"/>
              <a:gd name="T35" fmla="*/ 4 h 44"/>
              <a:gd name="T36" fmla="*/ 15 w 49"/>
              <a:gd name="T37" fmla="*/ 2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49" h="44">
                <a:moveTo>
                  <a:pt x="17" y="4"/>
                </a:moveTo>
                <a:lnTo>
                  <a:pt x="0" y="0"/>
                </a:lnTo>
                <a:lnTo>
                  <a:pt x="4" y="6"/>
                </a:lnTo>
                <a:lnTo>
                  <a:pt x="4" y="12"/>
                </a:lnTo>
                <a:lnTo>
                  <a:pt x="8" y="18"/>
                </a:lnTo>
                <a:lnTo>
                  <a:pt x="13" y="25"/>
                </a:lnTo>
                <a:lnTo>
                  <a:pt x="15" y="31"/>
                </a:lnTo>
                <a:lnTo>
                  <a:pt x="21" y="35"/>
                </a:lnTo>
                <a:lnTo>
                  <a:pt x="35" y="39"/>
                </a:lnTo>
                <a:lnTo>
                  <a:pt x="42" y="43"/>
                </a:lnTo>
                <a:lnTo>
                  <a:pt x="48" y="37"/>
                </a:lnTo>
                <a:lnTo>
                  <a:pt x="48" y="31"/>
                </a:lnTo>
                <a:lnTo>
                  <a:pt x="48" y="25"/>
                </a:lnTo>
                <a:lnTo>
                  <a:pt x="46" y="18"/>
                </a:lnTo>
                <a:lnTo>
                  <a:pt x="40" y="16"/>
                </a:lnTo>
                <a:lnTo>
                  <a:pt x="33" y="10"/>
                </a:lnTo>
                <a:lnTo>
                  <a:pt x="27" y="8"/>
                </a:lnTo>
                <a:lnTo>
                  <a:pt x="21" y="4"/>
                </a:lnTo>
                <a:lnTo>
                  <a:pt x="15" y="2"/>
                </a:lnTo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0" name="Freeform 6">
            <a:extLst>
              <a:ext uri="{FF2B5EF4-FFF2-40B4-BE49-F238E27FC236}">
                <a16:creationId xmlns:a16="http://schemas.microsoft.com/office/drawing/2014/main" id="{D598FA1A-7B8C-5010-1E5C-5B541A2CE4E3}"/>
              </a:ext>
            </a:extLst>
          </p:cNvPr>
          <p:cNvSpPr>
            <a:spLocks/>
          </p:cNvSpPr>
          <p:nvPr/>
        </p:nvSpPr>
        <p:spPr bwMode="auto">
          <a:xfrm>
            <a:off x="8062913" y="2755900"/>
            <a:ext cx="65087" cy="57150"/>
          </a:xfrm>
          <a:custGeom>
            <a:avLst/>
            <a:gdLst>
              <a:gd name="T0" fmla="*/ 14 w 41"/>
              <a:gd name="T1" fmla="*/ 3 h 36"/>
              <a:gd name="T2" fmla="*/ 0 w 41"/>
              <a:gd name="T3" fmla="*/ 0 h 36"/>
              <a:gd name="T4" fmla="*/ 3 w 41"/>
              <a:gd name="T5" fmla="*/ 5 h 36"/>
              <a:gd name="T6" fmla="*/ 3 w 41"/>
              <a:gd name="T7" fmla="*/ 10 h 36"/>
              <a:gd name="T8" fmla="*/ 7 w 41"/>
              <a:gd name="T9" fmla="*/ 15 h 36"/>
              <a:gd name="T10" fmla="*/ 10 w 41"/>
              <a:gd name="T11" fmla="*/ 20 h 36"/>
              <a:gd name="T12" fmla="*/ 12 w 41"/>
              <a:gd name="T13" fmla="*/ 25 h 36"/>
              <a:gd name="T14" fmla="*/ 17 w 41"/>
              <a:gd name="T15" fmla="*/ 28 h 36"/>
              <a:gd name="T16" fmla="*/ 30 w 41"/>
              <a:gd name="T17" fmla="*/ 32 h 36"/>
              <a:gd name="T18" fmla="*/ 35 w 41"/>
              <a:gd name="T19" fmla="*/ 35 h 36"/>
              <a:gd name="T20" fmla="*/ 40 w 41"/>
              <a:gd name="T21" fmla="*/ 30 h 36"/>
              <a:gd name="T22" fmla="*/ 40 w 41"/>
              <a:gd name="T23" fmla="*/ 25 h 36"/>
              <a:gd name="T24" fmla="*/ 40 w 41"/>
              <a:gd name="T25" fmla="*/ 20 h 36"/>
              <a:gd name="T26" fmla="*/ 38 w 41"/>
              <a:gd name="T27" fmla="*/ 15 h 36"/>
              <a:gd name="T28" fmla="*/ 33 w 41"/>
              <a:gd name="T29" fmla="*/ 13 h 36"/>
              <a:gd name="T30" fmla="*/ 28 w 41"/>
              <a:gd name="T31" fmla="*/ 8 h 36"/>
              <a:gd name="T32" fmla="*/ 23 w 41"/>
              <a:gd name="T33" fmla="*/ 7 h 36"/>
              <a:gd name="T34" fmla="*/ 17 w 41"/>
              <a:gd name="T35" fmla="*/ 3 h 36"/>
              <a:gd name="T36" fmla="*/ 12 w 41"/>
              <a:gd name="T37" fmla="*/ 2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41" h="36">
                <a:moveTo>
                  <a:pt x="14" y="3"/>
                </a:moveTo>
                <a:lnTo>
                  <a:pt x="0" y="0"/>
                </a:lnTo>
                <a:lnTo>
                  <a:pt x="3" y="5"/>
                </a:lnTo>
                <a:lnTo>
                  <a:pt x="3" y="10"/>
                </a:lnTo>
                <a:lnTo>
                  <a:pt x="7" y="15"/>
                </a:lnTo>
                <a:lnTo>
                  <a:pt x="10" y="20"/>
                </a:lnTo>
                <a:lnTo>
                  <a:pt x="12" y="25"/>
                </a:lnTo>
                <a:lnTo>
                  <a:pt x="17" y="28"/>
                </a:lnTo>
                <a:lnTo>
                  <a:pt x="30" y="32"/>
                </a:lnTo>
                <a:lnTo>
                  <a:pt x="35" y="35"/>
                </a:lnTo>
                <a:lnTo>
                  <a:pt x="40" y="30"/>
                </a:lnTo>
                <a:lnTo>
                  <a:pt x="40" y="25"/>
                </a:lnTo>
                <a:lnTo>
                  <a:pt x="40" y="20"/>
                </a:lnTo>
                <a:lnTo>
                  <a:pt x="38" y="15"/>
                </a:lnTo>
                <a:lnTo>
                  <a:pt x="33" y="13"/>
                </a:lnTo>
                <a:lnTo>
                  <a:pt x="28" y="8"/>
                </a:lnTo>
                <a:lnTo>
                  <a:pt x="23" y="7"/>
                </a:lnTo>
                <a:lnTo>
                  <a:pt x="17" y="3"/>
                </a:lnTo>
                <a:lnTo>
                  <a:pt x="12" y="2"/>
                </a:lnTo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1" name="Freeform 7">
            <a:extLst>
              <a:ext uri="{FF2B5EF4-FFF2-40B4-BE49-F238E27FC236}">
                <a16:creationId xmlns:a16="http://schemas.microsoft.com/office/drawing/2014/main" id="{BFE2B5FD-ED3F-D926-62DE-2436CD745F26}"/>
              </a:ext>
            </a:extLst>
          </p:cNvPr>
          <p:cNvSpPr>
            <a:spLocks/>
          </p:cNvSpPr>
          <p:nvPr/>
        </p:nvSpPr>
        <p:spPr bwMode="auto">
          <a:xfrm>
            <a:off x="8132763" y="2444750"/>
            <a:ext cx="77787" cy="69850"/>
          </a:xfrm>
          <a:custGeom>
            <a:avLst/>
            <a:gdLst>
              <a:gd name="T0" fmla="*/ 17 w 49"/>
              <a:gd name="T1" fmla="*/ 4 h 44"/>
              <a:gd name="T2" fmla="*/ 0 w 49"/>
              <a:gd name="T3" fmla="*/ 0 h 44"/>
              <a:gd name="T4" fmla="*/ 4 w 49"/>
              <a:gd name="T5" fmla="*/ 6 h 44"/>
              <a:gd name="T6" fmla="*/ 4 w 49"/>
              <a:gd name="T7" fmla="*/ 12 h 44"/>
              <a:gd name="T8" fmla="*/ 8 w 49"/>
              <a:gd name="T9" fmla="*/ 18 h 44"/>
              <a:gd name="T10" fmla="*/ 13 w 49"/>
              <a:gd name="T11" fmla="*/ 25 h 44"/>
              <a:gd name="T12" fmla="*/ 15 w 49"/>
              <a:gd name="T13" fmla="*/ 31 h 44"/>
              <a:gd name="T14" fmla="*/ 21 w 49"/>
              <a:gd name="T15" fmla="*/ 35 h 44"/>
              <a:gd name="T16" fmla="*/ 35 w 49"/>
              <a:gd name="T17" fmla="*/ 39 h 44"/>
              <a:gd name="T18" fmla="*/ 42 w 49"/>
              <a:gd name="T19" fmla="*/ 43 h 44"/>
              <a:gd name="T20" fmla="*/ 48 w 49"/>
              <a:gd name="T21" fmla="*/ 37 h 44"/>
              <a:gd name="T22" fmla="*/ 48 w 49"/>
              <a:gd name="T23" fmla="*/ 31 h 44"/>
              <a:gd name="T24" fmla="*/ 48 w 49"/>
              <a:gd name="T25" fmla="*/ 25 h 44"/>
              <a:gd name="T26" fmla="*/ 46 w 49"/>
              <a:gd name="T27" fmla="*/ 18 h 44"/>
              <a:gd name="T28" fmla="*/ 40 w 49"/>
              <a:gd name="T29" fmla="*/ 16 h 44"/>
              <a:gd name="T30" fmla="*/ 33 w 49"/>
              <a:gd name="T31" fmla="*/ 10 h 44"/>
              <a:gd name="T32" fmla="*/ 27 w 49"/>
              <a:gd name="T33" fmla="*/ 8 h 44"/>
              <a:gd name="T34" fmla="*/ 21 w 49"/>
              <a:gd name="T35" fmla="*/ 4 h 44"/>
              <a:gd name="T36" fmla="*/ 15 w 49"/>
              <a:gd name="T37" fmla="*/ 2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49" h="44">
                <a:moveTo>
                  <a:pt x="17" y="4"/>
                </a:moveTo>
                <a:lnTo>
                  <a:pt x="0" y="0"/>
                </a:lnTo>
                <a:lnTo>
                  <a:pt x="4" y="6"/>
                </a:lnTo>
                <a:lnTo>
                  <a:pt x="4" y="12"/>
                </a:lnTo>
                <a:lnTo>
                  <a:pt x="8" y="18"/>
                </a:lnTo>
                <a:lnTo>
                  <a:pt x="13" y="25"/>
                </a:lnTo>
                <a:lnTo>
                  <a:pt x="15" y="31"/>
                </a:lnTo>
                <a:lnTo>
                  <a:pt x="21" y="35"/>
                </a:lnTo>
                <a:lnTo>
                  <a:pt x="35" y="39"/>
                </a:lnTo>
                <a:lnTo>
                  <a:pt x="42" y="43"/>
                </a:lnTo>
                <a:lnTo>
                  <a:pt x="48" y="37"/>
                </a:lnTo>
                <a:lnTo>
                  <a:pt x="48" y="31"/>
                </a:lnTo>
                <a:lnTo>
                  <a:pt x="48" y="25"/>
                </a:lnTo>
                <a:lnTo>
                  <a:pt x="46" y="18"/>
                </a:lnTo>
                <a:lnTo>
                  <a:pt x="40" y="16"/>
                </a:lnTo>
                <a:lnTo>
                  <a:pt x="33" y="10"/>
                </a:lnTo>
                <a:lnTo>
                  <a:pt x="27" y="8"/>
                </a:lnTo>
                <a:lnTo>
                  <a:pt x="21" y="4"/>
                </a:lnTo>
                <a:lnTo>
                  <a:pt x="15" y="2"/>
                </a:lnTo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2" name="Freeform 8">
            <a:extLst>
              <a:ext uri="{FF2B5EF4-FFF2-40B4-BE49-F238E27FC236}">
                <a16:creationId xmlns:a16="http://schemas.microsoft.com/office/drawing/2014/main" id="{E729A987-7184-0FA9-2814-4E773AC33961}"/>
              </a:ext>
            </a:extLst>
          </p:cNvPr>
          <p:cNvSpPr>
            <a:spLocks/>
          </p:cNvSpPr>
          <p:nvPr/>
        </p:nvSpPr>
        <p:spPr bwMode="auto">
          <a:xfrm>
            <a:off x="7523163" y="2444750"/>
            <a:ext cx="77787" cy="69850"/>
          </a:xfrm>
          <a:custGeom>
            <a:avLst/>
            <a:gdLst>
              <a:gd name="T0" fmla="*/ 17 w 49"/>
              <a:gd name="T1" fmla="*/ 4 h 44"/>
              <a:gd name="T2" fmla="*/ 0 w 49"/>
              <a:gd name="T3" fmla="*/ 0 h 44"/>
              <a:gd name="T4" fmla="*/ 4 w 49"/>
              <a:gd name="T5" fmla="*/ 6 h 44"/>
              <a:gd name="T6" fmla="*/ 4 w 49"/>
              <a:gd name="T7" fmla="*/ 12 h 44"/>
              <a:gd name="T8" fmla="*/ 8 w 49"/>
              <a:gd name="T9" fmla="*/ 18 h 44"/>
              <a:gd name="T10" fmla="*/ 13 w 49"/>
              <a:gd name="T11" fmla="*/ 25 h 44"/>
              <a:gd name="T12" fmla="*/ 15 w 49"/>
              <a:gd name="T13" fmla="*/ 31 h 44"/>
              <a:gd name="T14" fmla="*/ 21 w 49"/>
              <a:gd name="T15" fmla="*/ 35 h 44"/>
              <a:gd name="T16" fmla="*/ 35 w 49"/>
              <a:gd name="T17" fmla="*/ 39 h 44"/>
              <a:gd name="T18" fmla="*/ 42 w 49"/>
              <a:gd name="T19" fmla="*/ 43 h 44"/>
              <a:gd name="T20" fmla="*/ 48 w 49"/>
              <a:gd name="T21" fmla="*/ 37 h 44"/>
              <a:gd name="T22" fmla="*/ 48 w 49"/>
              <a:gd name="T23" fmla="*/ 31 h 44"/>
              <a:gd name="T24" fmla="*/ 48 w 49"/>
              <a:gd name="T25" fmla="*/ 25 h 44"/>
              <a:gd name="T26" fmla="*/ 46 w 49"/>
              <a:gd name="T27" fmla="*/ 18 h 44"/>
              <a:gd name="T28" fmla="*/ 40 w 49"/>
              <a:gd name="T29" fmla="*/ 16 h 44"/>
              <a:gd name="T30" fmla="*/ 33 w 49"/>
              <a:gd name="T31" fmla="*/ 10 h 44"/>
              <a:gd name="T32" fmla="*/ 27 w 49"/>
              <a:gd name="T33" fmla="*/ 8 h 44"/>
              <a:gd name="T34" fmla="*/ 21 w 49"/>
              <a:gd name="T35" fmla="*/ 4 h 44"/>
              <a:gd name="T36" fmla="*/ 15 w 49"/>
              <a:gd name="T37" fmla="*/ 2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49" h="44">
                <a:moveTo>
                  <a:pt x="17" y="4"/>
                </a:moveTo>
                <a:lnTo>
                  <a:pt x="0" y="0"/>
                </a:lnTo>
                <a:lnTo>
                  <a:pt x="4" y="6"/>
                </a:lnTo>
                <a:lnTo>
                  <a:pt x="4" y="12"/>
                </a:lnTo>
                <a:lnTo>
                  <a:pt x="8" y="18"/>
                </a:lnTo>
                <a:lnTo>
                  <a:pt x="13" y="25"/>
                </a:lnTo>
                <a:lnTo>
                  <a:pt x="15" y="31"/>
                </a:lnTo>
                <a:lnTo>
                  <a:pt x="21" y="35"/>
                </a:lnTo>
                <a:lnTo>
                  <a:pt x="35" y="39"/>
                </a:lnTo>
                <a:lnTo>
                  <a:pt x="42" y="43"/>
                </a:lnTo>
                <a:lnTo>
                  <a:pt x="48" y="37"/>
                </a:lnTo>
                <a:lnTo>
                  <a:pt x="48" y="31"/>
                </a:lnTo>
                <a:lnTo>
                  <a:pt x="48" y="25"/>
                </a:lnTo>
                <a:lnTo>
                  <a:pt x="46" y="18"/>
                </a:lnTo>
                <a:lnTo>
                  <a:pt x="40" y="16"/>
                </a:lnTo>
                <a:lnTo>
                  <a:pt x="33" y="10"/>
                </a:lnTo>
                <a:lnTo>
                  <a:pt x="27" y="8"/>
                </a:lnTo>
                <a:lnTo>
                  <a:pt x="21" y="4"/>
                </a:lnTo>
                <a:lnTo>
                  <a:pt x="15" y="2"/>
                </a:lnTo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3" name="Freeform 9">
            <a:extLst>
              <a:ext uri="{FF2B5EF4-FFF2-40B4-BE49-F238E27FC236}">
                <a16:creationId xmlns:a16="http://schemas.microsoft.com/office/drawing/2014/main" id="{7A0F999C-D55D-EAFA-8D64-D85D26FD8E84}"/>
              </a:ext>
            </a:extLst>
          </p:cNvPr>
          <p:cNvSpPr>
            <a:spLocks/>
          </p:cNvSpPr>
          <p:nvPr/>
        </p:nvSpPr>
        <p:spPr bwMode="auto">
          <a:xfrm>
            <a:off x="7523163" y="2673350"/>
            <a:ext cx="77787" cy="69850"/>
          </a:xfrm>
          <a:custGeom>
            <a:avLst/>
            <a:gdLst>
              <a:gd name="T0" fmla="*/ 17 w 49"/>
              <a:gd name="T1" fmla="*/ 4 h 44"/>
              <a:gd name="T2" fmla="*/ 0 w 49"/>
              <a:gd name="T3" fmla="*/ 0 h 44"/>
              <a:gd name="T4" fmla="*/ 4 w 49"/>
              <a:gd name="T5" fmla="*/ 6 h 44"/>
              <a:gd name="T6" fmla="*/ 4 w 49"/>
              <a:gd name="T7" fmla="*/ 12 h 44"/>
              <a:gd name="T8" fmla="*/ 8 w 49"/>
              <a:gd name="T9" fmla="*/ 18 h 44"/>
              <a:gd name="T10" fmla="*/ 13 w 49"/>
              <a:gd name="T11" fmla="*/ 25 h 44"/>
              <a:gd name="T12" fmla="*/ 15 w 49"/>
              <a:gd name="T13" fmla="*/ 31 h 44"/>
              <a:gd name="T14" fmla="*/ 21 w 49"/>
              <a:gd name="T15" fmla="*/ 35 h 44"/>
              <a:gd name="T16" fmla="*/ 35 w 49"/>
              <a:gd name="T17" fmla="*/ 39 h 44"/>
              <a:gd name="T18" fmla="*/ 42 w 49"/>
              <a:gd name="T19" fmla="*/ 43 h 44"/>
              <a:gd name="T20" fmla="*/ 48 w 49"/>
              <a:gd name="T21" fmla="*/ 37 h 44"/>
              <a:gd name="T22" fmla="*/ 48 w 49"/>
              <a:gd name="T23" fmla="*/ 31 h 44"/>
              <a:gd name="T24" fmla="*/ 48 w 49"/>
              <a:gd name="T25" fmla="*/ 25 h 44"/>
              <a:gd name="T26" fmla="*/ 46 w 49"/>
              <a:gd name="T27" fmla="*/ 18 h 44"/>
              <a:gd name="T28" fmla="*/ 40 w 49"/>
              <a:gd name="T29" fmla="*/ 16 h 44"/>
              <a:gd name="T30" fmla="*/ 33 w 49"/>
              <a:gd name="T31" fmla="*/ 10 h 44"/>
              <a:gd name="T32" fmla="*/ 27 w 49"/>
              <a:gd name="T33" fmla="*/ 8 h 44"/>
              <a:gd name="T34" fmla="*/ 21 w 49"/>
              <a:gd name="T35" fmla="*/ 4 h 44"/>
              <a:gd name="T36" fmla="*/ 15 w 49"/>
              <a:gd name="T37" fmla="*/ 2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49" h="44">
                <a:moveTo>
                  <a:pt x="17" y="4"/>
                </a:moveTo>
                <a:lnTo>
                  <a:pt x="0" y="0"/>
                </a:lnTo>
                <a:lnTo>
                  <a:pt x="4" y="6"/>
                </a:lnTo>
                <a:lnTo>
                  <a:pt x="4" y="12"/>
                </a:lnTo>
                <a:lnTo>
                  <a:pt x="8" y="18"/>
                </a:lnTo>
                <a:lnTo>
                  <a:pt x="13" y="25"/>
                </a:lnTo>
                <a:lnTo>
                  <a:pt x="15" y="31"/>
                </a:lnTo>
                <a:lnTo>
                  <a:pt x="21" y="35"/>
                </a:lnTo>
                <a:lnTo>
                  <a:pt x="35" y="39"/>
                </a:lnTo>
                <a:lnTo>
                  <a:pt x="42" y="43"/>
                </a:lnTo>
                <a:lnTo>
                  <a:pt x="48" y="37"/>
                </a:lnTo>
                <a:lnTo>
                  <a:pt x="48" y="31"/>
                </a:lnTo>
                <a:lnTo>
                  <a:pt x="48" y="25"/>
                </a:lnTo>
                <a:lnTo>
                  <a:pt x="46" y="18"/>
                </a:lnTo>
                <a:lnTo>
                  <a:pt x="40" y="16"/>
                </a:lnTo>
                <a:lnTo>
                  <a:pt x="33" y="10"/>
                </a:lnTo>
                <a:lnTo>
                  <a:pt x="27" y="8"/>
                </a:lnTo>
                <a:lnTo>
                  <a:pt x="21" y="4"/>
                </a:lnTo>
                <a:lnTo>
                  <a:pt x="15" y="2"/>
                </a:lnTo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4" name="Freeform 10">
            <a:extLst>
              <a:ext uri="{FF2B5EF4-FFF2-40B4-BE49-F238E27FC236}">
                <a16:creationId xmlns:a16="http://schemas.microsoft.com/office/drawing/2014/main" id="{A7EF2064-EEA8-2AF3-BDF4-A6BD1A42C489}"/>
              </a:ext>
            </a:extLst>
          </p:cNvPr>
          <p:cNvSpPr>
            <a:spLocks/>
          </p:cNvSpPr>
          <p:nvPr/>
        </p:nvSpPr>
        <p:spPr bwMode="auto">
          <a:xfrm>
            <a:off x="7980363" y="2444750"/>
            <a:ext cx="77787" cy="69850"/>
          </a:xfrm>
          <a:custGeom>
            <a:avLst/>
            <a:gdLst>
              <a:gd name="T0" fmla="*/ 17 w 49"/>
              <a:gd name="T1" fmla="*/ 4 h 44"/>
              <a:gd name="T2" fmla="*/ 0 w 49"/>
              <a:gd name="T3" fmla="*/ 0 h 44"/>
              <a:gd name="T4" fmla="*/ 4 w 49"/>
              <a:gd name="T5" fmla="*/ 6 h 44"/>
              <a:gd name="T6" fmla="*/ 4 w 49"/>
              <a:gd name="T7" fmla="*/ 12 h 44"/>
              <a:gd name="T8" fmla="*/ 8 w 49"/>
              <a:gd name="T9" fmla="*/ 18 h 44"/>
              <a:gd name="T10" fmla="*/ 13 w 49"/>
              <a:gd name="T11" fmla="*/ 25 h 44"/>
              <a:gd name="T12" fmla="*/ 15 w 49"/>
              <a:gd name="T13" fmla="*/ 31 h 44"/>
              <a:gd name="T14" fmla="*/ 21 w 49"/>
              <a:gd name="T15" fmla="*/ 35 h 44"/>
              <a:gd name="T16" fmla="*/ 35 w 49"/>
              <a:gd name="T17" fmla="*/ 39 h 44"/>
              <a:gd name="T18" fmla="*/ 42 w 49"/>
              <a:gd name="T19" fmla="*/ 43 h 44"/>
              <a:gd name="T20" fmla="*/ 48 w 49"/>
              <a:gd name="T21" fmla="*/ 37 h 44"/>
              <a:gd name="T22" fmla="*/ 48 w 49"/>
              <a:gd name="T23" fmla="*/ 31 h 44"/>
              <a:gd name="T24" fmla="*/ 48 w 49"/>
              <a:gd name="T25" fmla="*/ 25 h 44"/>
              <a:gd name="T26" fmla="*/ 46 w 49"/>
              <a:gd name="T27" fmla="*/ 18 h 44"/>
              <a:gd name="T28" fmla="*/ 40 w 49"/>
              <a:gd name="T29" fmla="*/ 16 h 44"/>
              <a:gd name="T30" fmla="*/ 33 w 49"/>
              <a:gd name="T31" fmla="*/ 10 h 44"/>
              <a:gd name="T32" fmla="*/ 27 w 49"/>
              <a:gd name="T33" fmla="*/ 8 h 44"/>
              <a:gd name="T34" fmla="*/ 21 w 49"/>
              <a:gd name="T35" fmla="*/ 4 h 44"/>
              <a:gd name="T36" fmla="*/ 15 w 49"/>
              <a:gd name="T37" fmla="*/ 2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49" h="44">
                <a:moveTo>
                  <a:pt x="17" y="4"/>
                </a:moveTo>
                <a:lnTo>
                  <a:pt x="0" y="0"/>
                </a:lnTo>
                <a:lnTo>
                  <a:pt x="4" y="6"/>
                </a:lnTo>
                <a:lnTo>
                  <a:pt x="4" y="12"/>
                </a:lnTo>
                <a:lnTo>
                  <a:pt x="8" y="18"/>
                </a:lnTo>
                <a:lnTo>
                  <a:pt x="13" y="25"/>
                </a:lnTo>
                <a:lnTo>
                  <a:pt x="15" y="31"/>
                </a:lnTo>
                <a:lnTo>
                  <a:pt x="21" y="35"/>
                </a:lnTo>
                <a:lnTo>
                  <a:pt x="35" y="39"/>
                </a:lnTo>
                <a:lnTo>
                  <a:pt x="42" y="43"/>
                </a:lnTo>
                <a:lnTo>
                  <a:pt x="48" y="37"/>
                </a:lnTo>
                <a:lnTo>
                  <a:pt x="48" y="31"/>
                </a:lnTo>
                <a:lnTo>
                  <a:pt x="48" y="25"/>
                </a:lnTo>
                <a:lnTo>
                  <a:pt x="46" y="18"/>
                </a:lnTo>
                <a:lnTo>
                  <a:pt x="40" y="16"/>
                </a:lnTo>
                <a:lnTo>
                  <a:pt x="33" y="10"/>
                </a:lnTo>
                <a:lnTo>
                  <a:pt x="27" y="8"/>
                </a:lnTo>
                <a:lnTo>
                  <a:pt x="21" y="4"/>
                </a:lnTo>
                <a:lnTo>
                  <a:pt x="15" y="2"/>
                </a:lnTo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5" name="Freeform 11">
            <a:extLst>
              <a:ext uri="{FF2B5EF4-FFF2-40B4-BE49-F238E27FC236}">
                <a16:creationId xmlns:a16="http://schemas.microsoft.com/office/drawing/2014/main" id="{E49FD6C9-DD82-1B98-0612-9F182940E627}"/>
              </a:ext>
            </a:extLst>
          </p:cNvPr>
          <p:cNvSpPr>
            <a:spLocks/>
          </p:cNvSpPr>
          <p:nvPr/>
        </p:nvSpPr>
        <p:spPr bwMode="auto">
          <a:xfrm>
            <a:off x="7681913" y="2603500"/>
            <a:ext cx="65087" cy="57150"/>
          </a:xfrm>
          <a:custGeom>
            <a:avLst/>
            <a:gdLst>
              <a:gd name="T0" fmla="*/ 14 w 41"/>
              <a:gd name="T1" fmla="*/ 3 h 36"/>
              <a:gd name="T2" fmla="*/ 0 w 41"/>
              <a:gd name="T3" fmla="*/ 0 h 36"/>
              <a:gd name="T4" fmla="*/ 3 w 41"/>
              <a:gd name="T5" fmla="*/ 5 h 36"/>
              <a:gd name="T6" fmla="*/ 3 w 41"/>
              <a:gd name="T7" fmla="*/ 10 h 36"/>
              <a:gd name="T8" fmla="*/ 7 w 41"/>
              <a:gd name="T9" fmla="*/ 15 h 36"/>
              <a:gd name="T10" fmla="*/ 10 w 41"/>
              <a:gd name="T11" fmla="*/ 20 h 36"/>
              <a:gd name="T12" fmla="*/ 12 w 41"/>
              <a:gd name="T13" fmla="*/ 25 h 36"/>
              <a:gd name="T14" fmla="*/ 17 w 41"/>
              <a:gd name="T15" fmla="*/ 28 h 36"/>
              <a:gd name="T16" fmla="*/ 30 w 41"/>
              <a:gd name="T17" fmla="*/ 32 h 36"/>
              <a:gd name="T18" fmla="*/ 35 w 41"/>
              <a:gd name="T19" fmla="*/ 35 h 36"/>
              <a:gd name="T20" fmla="*/ 40 w 41"/>
              <a:gd name="T21" fmla="*/ 30 h 36"/>
              <a:gd name="T22" fmla="*/ 40 w 41"/>
              <a:gd name="T23" fmla="*/ 25 h 36"/>
              <a:gd name="T24" fmla="*/ 40 w 41"/>
              <a:gd name="T25" fmla="*/ 20 h 36"/>
              <a:gd name="T26" fmla="*/ 38 w 41"/>
              <a:gd name="T27" fmla="*/ 15 h 36"/>
              <a:gd name="T28" fmla="*/ 33 w 41"/>
              <a:gd name="T29" fmla="*/ 13 h 36"/>
              <a:gd name="T30" fmla="*/ 28 w 41"/>
              <a:gd name="T31" fmla="*/ 8 h 36"/>
              <a:gd name="T32" fmla="*/ 23 w 41"/>
              <a:gd name="T33" fmla="*/ 7 h 36"/>
              <a:gd name="T34" fmla="*/ 17 w 41"/>
              <a:gd name="T35" fmla="*/ 3 h 36"/>
              <a:gd name="T36" fmla="*/ 12 w 41"/>
              <a:gd name="T37" fmla="*/ 2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41" h="36">
                <a:moveTo>
                  <a:pt x="14" y="3"/>
                </a:moveTo>
                <a:lnTo>
                  <a:pt x="0" y="0"/>
                </a:lnTo>
                <a:lnTo>
                  <a:pt x="3" y="5"/>
                </a:lnTo>
                <a:lnTo>
                  <a:pt x="3" y="10"/>
                </a:lnTo>
                <a:lnTo>
                  <a:pt x="7" y="15"/>
                </a:lnTo>
                <a:lnTo>
                  <a:pt x="10" y="20"/>
                </a:lnTo>
                <a:lnTo>
                  <a:pt x="12" y="25"/>
                </a:lnTo>
                <a:lnTo>
                  <a:pt x="17" y="28"/>
                </a:lnTo>
                <a:lnTo>
                  <a:pt x="30" y="32"/>
                </a:lnTo>
                <a:lnTo>
                  <a:pt x="35" y="35"/>
                </a:lnTo>
                <a:lnTo>
                  <a:pt x="40" y="30"/>
                </a:lnTo>
                <a:lnTo>
                  <a:pt x="40" y="25"/>
                </a:lnTo>
                <a:lnTo>
                  <a:pt x="40" y="20"/>
                </a:lnTo>
                <a:lnTo>
                  <a:pt x="38" y="15"/>
                </a:lnTo>
                <a:lnTo>
                  <a:pt x="33" y="13"/>
                </a:lnTo>
                <a:lnTo>
                  <a:pt x="28" y="8"/>
                </a:lnTo>
                <a:lnTo>
                  <a:pt x="23" y="7"/>
                </a:lnTo>
                <a:lnTo>
                  <a:pt x="17" y="3"/>
                </a:lnTo>
                <a:lnTo>
                  <a:pt x="12" y="2"/>
                </a:lnTo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6" name="Freeform 12">
            <a:extLst>
              <a:ext uri="{FF2B5EF4-FFF2-40B4-BE49-F238E27FC236}">
                <a16:creationId xmlns:a16="http://schemas.microsoft.com/office/drawing/2014/main" id="{C188B03D-5138-8E04-73CE-6722596BA3DE}"/>
              </a:ext>
            </a:extLst>
          </p:cNvPr>
          <p:cNvSpPr>
            <a:spLocks/>
          </p:cNvSpPr>
          <p:nvPr/>
        </p:nvSpPr>
        <p:spPr bwMode="auto">
          <a:xfrm>
            <a:off x="8139113" y="2603500"/>
            <a:ext cx="65087" cy="57150"/>
          </a:xfrm>
          <a:custGeom>
            <a:avLst/>
            <a:gdLst>
              <a:gd name="T0" fmla="*/ 14 w 41"/>
              <a:gd name="T1" fmla="*/ 3 h 36"/>
              <a:gd name="T2" fmla="*/ 0 w 41"/>
              <a:gd name="T3" fmla="*/ 0 h 36"/>
              <a:gd name="T4" fmla="*/ 3 w 41"/>
              <a:gd name="T5" fmla="*/ 5 h 36"/>
              <a:gd name="T6" fmla="*/ 3 w 41"/>
              <a:gd name="T7" fmla="*/ 10 h 36"/>
              <a:gd name="T8" fmla="*/ 7 w 41"/>
              <a:gd name="T9" fmla="*/ 15 h 36"/>
              <a:gd name="T10" fmla="*/ 10 w 41"/>
              <a:gd name="T11" fmla="*/ 20 h 36"/>
              <a:gd name="T12" fmla="*/ 12 w 41"/>
              <a:gd name="T13" fmla="*/ 25 h 36"/>
              <a:gd name="T14" fmla="*/ 17 w 41"/>
              <a:gd name="T15" fmla="*/ 28 h 36"/>
              <a:gd name="T16" fmla="*/ 30 w 41"/>
              <a:gd name="T17" fmla="*/ 32 h 36"/>
              <a:gd name="T18" fmla="*/ 35 w 41"/>
              <a:gd name="T19" fmla="*/ 35 h 36"/>
              <a:gd name="T20" fmla="*/ 40 w 41"/>
              <a:gd name="T21" fmla="*/ 30 h 36"/>
              <a:gd name="T22" fmla="*/ 40 w 41"/>
              <a:gd name="T23" fmla="*/ 25 h 36"/>
              <a:gd name="T24" fmla="*/ 40 w 41"/>
              <a:gd name="T25" fmla="*/ 20 h 36"/>
              <a:gd name="T26" fmla="*/ 38 w 41"/>
              <a:gd name="T27" fmla="*/ 15 h 36"/>
              <a:gd name="T28" fmla="*/ 33 w 41"/>
              <a:gd name="T29" fmla="*/ 13 h 36"/>
              <a:gd name="T30" fmla="*/ 28 w 41"/>
              <a:gd name="T31" fmla="*/ 8 h 36"/>
              <a:gd name="T32" fmla="*/ 23 w 41"/>
              <a:gd name="T33" fmla="*/ 7 h 36"/>
              <a:gd name="T34" fmla="*/ 17 w 41"/>
              <a:gd name="T35" fmla="*/ 3 h 36"/>
              <a:gd name="T36" fmla="*/ 12 w 41"/>
              <a:gd name="T37" fmla="*/ 2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41" h="36">
                <a:moveTo>
                  <a:pt x="14" y="3"/>
                </a:moveTo>
                <a:lnTo>
                  <a:pt x="0" y="0"/>
                </a:lnTo>
                <a:lnTo>
                  <a:pt x="3" y="5"/>
                </a:lnTo>
                <a:lnTo>
                  <a:pt x="3" y="10"/>
                </a:lnTo>
                <a:lnTo>
                  <a:pt x="7" y="15"/>
                </a:lnTo>
                <a:lnTo>
                  <a:pt x="10" y="20"/>
                </a:lnTo>
                <a:lnTo>
                  <a:pt x="12" y="25"/>
                </a:lnTo>
                <a:lnTo>
                  <a:pt x="17" y="28"/>
                </a:lnTo>
                <a:lnTo>
                  <a:pt x="30" y="32"/>
                </a:lnTo>
                <a:lnTo>
                  <a:pt x="35" y="35"/>
                </a:lnTo>
                <a:lnTo>
                  <a:pt x="40" y="30"/>
                </a:lnTo>
                <a:lnTo>
                  <a:pt x="40" y="25"/>
                </a:lnTo>
                <a:lnTo>
                  <a:pt x="40" y="20"/>
                </a:lnTo>
                <a:lnTo>
                  <a:pt x="38" y="15"/>
                </a:lnTo>
                <a:lnTo>
                  <a:pt x="33" y="13"/>
                </a:lnTo>
                <a:lnTo>
                  <a:pt x="28" y="8"/>
                </a:lnTo>
                <a:lnTo>
                  <a:pt x="23" y="7"/>
                </a:lnTo>
                <a:lnTo>
                  <a:pt x="17" y="3"/>
                </a:lnTo>
                <a:lnTo>
                  <a:pt x="12" y="2"/>
                </a:lnTo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7" name="Freeform 13">
            <a:extLst>
              <a:ext uri="{FF2B5EF4-FFF2-40B4-BE49-F238E27FC236}">
                <a16:creationId xmlns:a16="http://schemas.microsoft.com/office/drawing/2014/main" id="{F6783330-C02B-8956-B715-2034748D793B}"/>
              </a:ext>
            </a:extLst>
          </p:cNvPr>
          <p:cNvSpPr>
            <a:spLocks/>
          </p:cNvSpPr>
          <p:nvPr/>
        </p:nvSpPr>
        <p:spPr bwMode="auto">
          <a:xfrm>
            <a:off x="7675563" y="2749550"/>
            <a:ext cx="77787" cy="69850"/>
          </a:xfrm>
          <a:custGeom>
            <a:avLst/>
            <a:gdLst>
              <a:gd name="T0" fmla="*/ 17 w 49"/>
              <a:gd name="T1" fmla="*/ 4 h 44"/>
              <a:gd name="T2" fmla="*/ 0 w 49"/>
              <a:gd name="T3" fmla="*/ 0 h 44"/>
              <a:gd name="T4" fmla="*/ 4 w 49"/>
              <a:gd name="T5" fmla="*/ 6 h 44"/>
              <a:gd name="T6" fmla="*/ 4 w 49"/>
              <a:gd name="T7" fmla="*/ 12 h 44"/>
              <a:gd name="T8" fmla="*/ 8 w 49"/>
              <a:gd name="T9" fmla="*/ 18 h 44"/>
              <a:gd name="T10" fmla="*/ 13 w 49"/>
              <a:gd name="T11" fmla="*/ 25 h 44"/>
              <a:gd name="T12" fmla="*/ 15 w 49"/>
              <a:gd name="T13" fmla="*/ 31 h 44"/>
              <a:gd name="T14" fmla="*/ 21 w 49"/>
              <a:gd name="T15" fmla="*/ 35 h 44"/>
              <a:gd name="T16" fmla="*/ 35 w 49"/>
              <a:gd name="T17" fmla="*/ 39 h 44"/>
              <a:gd name="T18" fmla="*/ 42 w 49"/>
              <a:gd name="T19" fmla="*/ 43 h 44"/>
              <a:gd name="T20" fmla="*/ 48 w 49"/>
              <a:gd name="T21" fmla="*/ 37 h 44"/>
              <a:gd name="T22" fmla="*/ 48 w 49"/>
              <a:gd name="T23" fmla="*/ 31 h 44"/>
              <a:gd name="T24" fmla="*/ 48 w 49"/>
              <a:gd name="T25" fmla="*/ 25 h 44"/>
              <a:gd name="T26" fmla="*/ 46 w 49"/>
              <a:gd name="T27" fmla="*/ 18 h 44"/>
              <a:gd name="T28" fmla="*/ 40 w 49"/>
              <a:gd name="T29" fmla="*/ 16 h 44"/>
              <a:gd name="T30" fmla="*/ 33 w 49"/>
              <a:gd name="T31" fmla="*/ 10 h 44"/>
              <a:gd name="T32" fmla="*/ 27 w 49"/>
              <a:gd name="T33" fmla="*/ 8 h 44"/>
              <a:gd name="T34" fmla="*/ 21 w 49"/>
              <a:gd name="T35" fmla="*/ 4 h 44"/>
              <a:gd name="T36" fmla="*/ 15 w 49"/>
              <a:gd name="T37" fmla="*/ 2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49" h="44">
                <a:moveTo>
                  <a:pt x="17" y="4"/>
                </a:moveTo>
                <a:lnTo>
                  <a:pt x="0" y="0"/>
                </a:lnTo>
                <a:lnTo>
                  <a:pt x="4" y="6"/>
                </a:lnTo>
                <a:lnTo>
                  <a:pt x="4" y="12"/>
                </a:lnTo>
                <a:lnTo>
                  <a:pt x="8" y="18"/>
                </a:lnTo>
                <a:lnTo>
                  <a:pt x="13" y="25"/>
                </a:lnTo>
                <a:lnTo>
                  <a:pt x="15" y="31"/>
                </a:lnTo>
                <a:lnTo>
                  <a:pt x="21" y="35"/>
                </a:lnTo>
                <a:lnTo>
                  <a:pt x="35" y="39"/>
                </a:lnTo>
                <a:lnTo>
                  <a:pt x="42" y="43"/>
                </a:lnTo>
                <a:lnTo>
                  <a:pt x="48" y="37"/>
                </a:lnTo>
                <a:lnTo>
                  <a:pt x="48" y="31"/>
                </a:lnTo>
                <a:lnTo>
                  <a:pt x="48" y="25"/>
                </a:lnTo>
                <a:lnTo>
                  <a:pt x="46" y="18"/>
                </a:lnTo>
                <a:lnTo>
                  <a:pt x="40" y="16"/>
                </a:lnTo>
                <a:lnTo>
                  <a:pt x="33" y="10"/>
                </a:lnTo>
                <a:lnTo>
                  <a:pt x="27" y="8"/>
                </a:lnTo>
                <a:lnTo>
                  <a:pt x="21" y="4"/>
                </a:lnTo>
                <a:lnTo>
                  <a:pt x="15" y="2"/>
                </a:lnTo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8" name="Freeform 14">
            <a:extLst>
              <a:ext uri="{FF2B5EF4-FFF2-40B4-BE49-F238E27FC236}">
                <a16:creationId xmlns:a16="http://schemas.microsoft.com/office/drawing/2014/main" id="{E18E8731-7295-4D1C-508F-9ADEA353BFA2}"/>
              </a:ext>
            </a:extLst>
          </p:cNvPr>
          <p:cNvSpPr>
            <a:spLocks/>
          </p:cNvSpPr>
          <p:nvPr/>
        </p:nvSpPr>
        <p:spPr bwMode="auto">
          <a:xfrm>
            <a:off x="7827963" y="2749550"/>
            <a:ext cx="74612" cy="68263"/>
          </a:xfrm>
          <a:custGeom>
            <a:avLst/>
            <a:gdLst>
              <a:gd name="T0" fmla="*/ 16 w 47"/>
              <a:gd name="T1" fmla="*/ 4 h 43"/>
              <a:gd name="T2" fmla="*/ 0 w 47"/>
              <a:gd name="T3" fmla="*/ 0 h 43"/>
              <a:gd name="T4" fmla="*/ 4 w 47"/>
              <a:gd name="T5" fmla="*/ 6 h 43"/>
              <a:gd name="T6" fmla="*/ 4 w 47"/>
              <a:gd name="T7" fmla="*/ 12 h 43"/>
              <a:gd name="T8" fmla="*/ 8 w 47"/>
              <a:gd name="T9" fmla="*/ 18 h 43"/>
              <a:gd name="T10" fmla="*/ 12 w 47"/>
              <a:gd name="T11" fmla="*/ 24 h 43"/>
              <a:gd name="T12" fmla="*/ 14 w 47"/>
              <a:gd name="T13" fmla="*/ 30 h 43"/>
              <a:gd name="T14" fmla="*/ 20 w 47"/>
              <a:gd name="T15" fmla="*/ 34 h 43"/>
              <a:gd name="T16" fmla="*/ 34 w 47"/>
              <a:gd name="T17" fmla="*/ 38 h 43"/>
              <a:gd name="T18" fmla="*/ 40 w 47"/>
              <a:gd name="T19" fmla="*/ 42 h 43"/>
              <a:gd name="T20" fmla="*/ 46 w 47"/>
              <a:gd name="T21" fmla="*/ 36 h 43"/>
              <a:gd name="T22" fmla="*/ 46 w 47"/>
              <a:gd name="T23" fmla="*/ 30 h 43"/>
              <a:gd name="T24" fmla="*/ 46 w 47"/>
              <a:gd name="T25" fmla="*/ 24 h 43"/>
              <a:gd name="T26" fmla="*/ 44 w 47"/>
              <a:gd name="T27" fmla="*/ 18 h 43"/>
              <a:gd name="T28" fmla="*/ 38 w 47"/>
              <a:gd name="T29" fmla="*/ 16 h 43"/>
              <a:gd name="T30" fmla="*/ 32 w 47"/>
              <a:gd name="T31" fmla="*/ 10 h 43"/>
              <a:gd name="T32" fmla="*/ 26 w 47"/>
              <a:gd name="T33" fmla="*/ 8 h 43"/>
              <a:gd name="T34" fmla="*/ 20 w 47"/>
              <a:gd name="T35" fmla="*/ 4 h 43"/>
              <a:gd name="T36" fmla="*/ 14 w 47"/>
              <a:gd name="T37" fmla="*/ 2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47" h="43">
                <a:moveTo>
                  <a:pt x="16" y="4"/>
                </a:moveTo>
                <a:lnTo>
                  <a:pt x="0" y="0"/>
                </a:lnTo>
                <a:lnTo>
                  <a:pt x="4" y="6"/>
                </a:lnTo>
                <a:lnTo>
                  <a:pt x="4" y="12"/>
                </a:lnTo>
                <a:lnTo>
                  <a:pt x="8" y="18"/>
                </a:lnTo>
                <a:lnTo>
                  <a:pt x="12" y="24"/>
                </a:lnTo>
                <a:lnTo>
                  <a:pt x="14" y="30"/>
                </a:lnTo>
                <a:lnTo>
                  <a:pt x="20" y="34"/>
                </a:lnTo>
                <a:lnTo>
                  <a:pt x="34" y="38"/>
                </a:lnTo>
                <a:lnTo>
                  <a:pt x="40" y="42"/>
                </a:lnTo>
                <a:lnTo>
                  <a:pt x="46" y="36"/>
                </a:lnTo>
                <a:lnTo>
                  <a:pt x="46" y="30"/>
                </a:lnTo>
                <a:lnTo>
                  <a:pt x="46" y="24"/>
                </a:lnTo>
                <a:lnTo>
                  <a:pt x="44" y="18"/>
                </a:lnTo>
                <a:lnTo>
                  <a:pt x="38" y="16"/>
                </a:lnTo>
                <a:lnTo>
                  <a:pt x="32" y="10"/>
                </a:lnTo>
                <a:lnTo>
                  <a:pt x="26" y="8"/>
                </a:lnTo>
                <a:lnTo>
                  <a:pt x="20" y="4"/>
                </a:lnTo>
                <a:lnTo>
                  <a:pt x="14" y="2"/>
                </a:lnTo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9" name="Rectangle 15">
            <a:extLst>
              <a:ext uri="{FF2B5EF4-FFF2-40B4-BE49-F238E27FC236}">
                <a16:creationId xmlns:a16="http://schemas.microsoft.com/office/drawing/2014/main" id="{B5DF60DF-5B49-071A-A3DF-A7F032D89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" y="2984500"/>
            <a:ext cx="1041400" cy="1193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20" name="Rectangle 16">
            <a:extLst>
              <a:ext uri="{FF2B5EF4-FFF2-40B4-BE49-F238E27FC236}">
                <a16:creationId xmlns:a16="http://schemas.microsoft.com/office/drawing/2014/main" id="{CCEAB677-8355-8DF9-AB98-BE9AA2DF4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1900" y="3136900"/>
            <a:ext cx="3556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21" name="Line 17">
            <a:extLst>
              <a:ext uri="{FF2B5EF4-FFF2-40B4-BE49-F238E27FC236}">
                <a16:creationId xmlns:a16="http://schemas.microsoft.com/office/drawing/2014/main" id="{ADE8C24E-6F05-AF61-964E-A9D299C7815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2971800"/>
            <a:ext cx="533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22" name="Line 18">
            <a:extLst>
              <a:ext uri="{FF2B5EF4-FFF2-40B4-BE49-F238E27FC236}">
                <a16:creationId xmlns:a16="http://schemas.microsoft.com/office/drawing/2014/main" id="{D2119498-A12D-DD61-969D-5E85488FEE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00200" y="297180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23" name="Line 19">
            <a:extLst>
              <a:ext uri="{FF2B5EF4-FFF2-40B4-BE49-F238E27FC236}">
                <a16:creationId xmlns:a16="http://schemas.microsoft.com/office/drawing/2014/main" id="{CD7D14F4-9386-7F7F-A644-7B12E447DCE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600200" y="3581400"/>
            <a:ext cx="15240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24" name="Line 20">
            <a:extLst>
              <a:ext uri="{FF2B5EF4-FFF2-40B4-BE49-F238E27FC236}">
                <a16:creationId xmlns:a16="http://schemas.microsoft.com/office/drawing/2014/main" id="{5D7D5C84-D6DF-55BA-4D2D-B2ABD4015B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" y="3581400"/>
            <a:ext cx="53340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25" name="Line 21">
            <a:extLst>
              <a:ext uri="{FF2B5EF4-FFF2-40B4-BE49-F238E27FC236}">
                <a16:creationId xmlns:a16="http://schemas.microsoft.com/office/drawing/2014/main" id="{7CDC0037-9F16-07AD-1A6B-1026BBE227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43000" y="33528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26" name="Line 22">
            <a:extLst>
              <a:ext uri="{FF2B5EF4-FFF2-40B4-BE49-F238E27FC236}">
                <a16:creationId xmlns:a16="http://schemas.microsoft.com/office/drawing/2014/main" id="{DC818389-E727-CE98-DB58-14332F06460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335280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27" name="Line 23">
            <a:extLst>
              <a:ext uri="{FF2B5EF4-FFF2-40B4-BE49-F238E27FC236}">
                <a16:creationId xmlns:a16="http://schemas.microsoft.com/office/drawing/2014/main" id="{DCB3197B-A098-15FF-0D8C-55D0F7EECF6A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3352800"/>
            <a:ext cx="15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28" name="Line 24">
            <a:extLst>
              <a:ext uri="{FF2B5EF4-FFF2-40B4-BE49-F238E27FC236}">
                <a16:creationId xmlns:a16="http://schemas.microsoft.com/office/drawing/2014/main" id="{DBF22DD2-937B-7EA1-E6C2-E8B62D10B229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352800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29" name="Line 25">
            <a:extLst>
              <a:ext uri="{FF2B5EF4-FFF2-40B4-BE49-F238E27FC236}">
                <a16:creationId xmlns:a16="http://schemas.microsoft.com/office/drawing/2014/main" id="{90DE5C6E-A968-F36B-1940-C0D9E75991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43000" y="3352800"/>
            <a:ext cx="7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30" name="Line 26">
            <a:extLst>
              <a:ext uri="{FF2B5EF4-FFF2-40B4-BE49-F238E27FC236}">
                <a16:creationId xmlns:a16="http://schemas.microsoft.com/office/drawing/2014/main" id="{9998984C-6B91-94DA-2894-758CA887DD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33528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31" name="Line 27">
            <a:extLst>
              <a:ext uri="{FF2B5EF4-FFF2-40B4-BE49-F238E27FC236}">
                <a16:creationId xmlns:a16="http://schemas.microsoft.com/office/drawing/2014/main" id="{F681193B-59BC-1988-6008-9A6C4F35C48F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3733800"/>
            <a:ext cx="762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32" name="Line 28">
            <a:extLst>
              <a:ext uri="{FF2B5EF4-FFF2-40B4-BE49-F238E27FC236}">
                <a16:creationId xmlns:a16="http://schemas.microsoft.com/office/drawing/2014/main" id="{EFC9A5B3-A628-951B-0C2C-1E799E04F5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352800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47133" name="Picture 29">
            <a:extLst>
              <a:ext uri="{FF2B5EF4-FFF2-40B4-BE49-F238E27FC236}">
                <a16:creationId xmlns:a16="http://schemas.microsoft.com/office/drawing/2014/main" id="{24F6685E-8458-7040-58A8-99A5DAE21E24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313" y="3579813"/>
            <a:ext cx="217487" cy="382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7134" name="Picture 30">
            <a:extLst>
              <a:ext uri="{FF2B5EF4-FFF2-40B4-BE49-F238E27FC236}">
                <a16:creationId xmlns:a16="http://schemas.microsoft.com/office/drawing/2014/main" id="{F1C41BE2-A6C3-5D22-A763-16B96DBC6543}"/>
              </a:ext>
            </a:extLst>
          </p:cNvPr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25" y="3263900"/>
            <a:ext cx="204788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7135" name="Picture 31">
            <a:extLst>
              <a:ext uri="{FF2B5EF4-FFF2-40B4-BE49-F238E27FC236}">
                <a16:creationId xmlns:a16="http://schemas.microsoft.com/office/drawing/2014/main" id="{77FA5109-503F-F5A6-09CB-3A4A955D6621}"/>
              </a:ext>
            </a:extLst>
          </p:cNvPr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438400"/>
            <a:ext cx="2895600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7136" name="Picture 32">
            <a:extLst>
              <a:ext uri="{FF2B5EF4-FFF2-40B4-BE49-F238E27FC236}">
                <a16:creationId xmlns:a16="http://schemas.microsoft.com/office/drawing/2014/main" id="{7DFD8EAD-1103-F565-4888-A694A093CF2F}"/>
              </a:ext>
            </a:extLst>
          </p:cNvPr>
          <p:cNvPicPr>
            <a:picLocks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38" y="4429125"/>
            <a:ext cx="2495550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7137" name="Line 33">
            <a:extLst>
              <a:ext uri="{FF2B5EF4-FFF2-40B4-BE49-F238E27FC236}">
                <a16:creationId xmlns:a16="http://schemas.microsoft.com/office/drawing/2014/main" id="{FC1CED1A-3C74-4833-65A6-FF4594DE5AD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4495800"/>
            <a:ext cx="0" cy="838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38" name="Line 34">
            <a:extLst>
              <a:ext uri="{FF2B5EF4-FFF2-40B4-BE49-F238E27FC236}">
                <a16:creationId xmlns:a16="http://schemas.microsoft.com/office/drawing/2014/main" id="{C1B572DE-4CA2-A3C3-5A4D-E49548481F1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4419600"/>
            <a:ext cx="17526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39" name="Line 35">
            <a:extLst>
              <a:ext uri="{FF2B5EF4-FFF2-40B4-BE49-F238E27FC236}">
                <a16:creationId xmlns:a16="http://schemas.microsoft.com/office/drawing/2014/main" id="{AC865238-EA0C-2F38-1C88-4B1AC40DA8AA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4419600"/>
            <a:ext cx="0" cy="152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40" name="Line 36">
            <a:extLst>
              <a:ext uri="{FF2B5EF4-FFF2-40B4-BE49-F238E27FC236}">
                <a16:creationId xmlns:a16="http://schemas.microsoft.com/office/drawing/2014/main" id="{AF5B7B58-1E5F-CE42-C217-B89C868028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5334000"/>
            <a:ext cx="1524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41" name="Line 37">
            <a:extLst>
              <a:ext uri="{FF2B5EF4-FFF2-40B4-BE49-F238E27FC236}">
                <a16:creationId xmlns:a16="http://schemas.microsoft.com/office/drawing/2014/main" id="{E98BB623-56AA-BE6C-A7C3-11B2240BF5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800" y="5334000"/>
            <a:ext cx="762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42" name="Line 38">
            <a:extLst>
              <a:ext uri="{FF2B5EF4-FFF2-40B4-BE49-F238E27FC236}">
                <a16:creationId xmlns:a16="http://schemas.microsoft.com/office/drawing/2014/main" id="{22F0AE3C-6E47-F97C-2A83-27C9EF229D5C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4419600"/>
            <a:ext cx="0" cy="685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43" name="Line 39">
            <a:extLst>
              <a:ext uri="{FF2B5EF4-FFF2-40B4-BE49-F238E27FC236}">
                <a16:creationId xmlns:a16="http://schemas.microsoft.com/office/drawing/2014/main" id="{A2256F9E-DB3E-AC0A-EA47-085ABD41737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4495800"/>
            <a:ext cx="0" cy="762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44" name="Line 40">
            <a:extLst>
              <a:ext uri="{FF2B5EF4-FFF2-40B4-BE49-F238E27FC236}">
                <a16:creationId xmlns:a16="http://schemas.microsoft.com/office/drawing/2014/main" id="{21D40D31-ADEA-323D-24AF-2E74D8CC37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4419600"/>
            <a:ext cx="0" cy="838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45" name="Line 41">
            <a:extLst>
              <a:ext uri="{FF2B5EF4-FFF2-40B4-BE49-F238E27FC236}">
                <a16:creationId xmlns:a16="http://schemas.microsoft.com/office/drawing/2014/main" id="{E11882D9-5735-15D5-9F54-2972CD27F3E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4876800"/>
            <a:ext cx="16764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47146" name="Picture 42">
            <a:extLst>
              <a:ext uri="{FF2B5EF4-FFF2-40B4-BE49-F238E27FC236}">
                <a16:creationId xmlns:a16="http://schemas.microsoft.com/office/drawing/2014/main" id="{A8385C6A-208A-921F-57B3-42C0E674F690}"/>
              </a:ext>
            </a:extLst>
          </p:cNvPr>
          <p:cNvPicPr>
            <a:picLocks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6338" y="4586288"/>
            <a:ext cx="628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7147" name="Picture 43">
            <a:extLst>
              <a:ext uri="{FF2B5EF4-FFF2-40B4-BE49-F238E27FC236}">
                <a16:creationId xmlns:a16="http://schemas.microsoft.com/office/drawing/2014/main" id="{09DAE5BD-36DB-0B7D-5C88-6F778AA9D93C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3513" y="2970213"/>
            <a:ext cx="598487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7148" name="Rectangle 44">
            <a:extLst>
              <a:ext uri="{FF2B5EF4-FFF2-40B4-BE49-F238E27FC236}">
                <a16:creationId xmlns:a16="http://schemas.microsoft.com/office/drawing/2014/main" id="{60FE937C-5E44-B881-0A62-901EB2A73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5500" y="4508500"/>
            <a:ext cx="50800" cy="1193800"/>
          </a:xfrm>
          <a:prstGeom prst="rect">
            <a:avLst/>
          </a:prstGeom>
          <a:solidFill>
            <a:schemeClr val="hlink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49" name="Freeform 45">
            <a:extLst>
              <a:ext uri="{FF2B5EF4-FFF2-40B4-BE49-F238E27FC236}">
                <a16:creationId xmlns:a16="http://schemas.microsoft.com/office/drawing/2014/main" id="{77768535-9136-F89A-0108-CFE7DFCEED6C}"/>
              </a:ext>
            </a:extLst>
          </p:cNvPr>
          <p:cNvSpPr>
            <a:spLocks/>
          </p:cNvSpPr>
          <p:nvPr/>
        </p:nvSpPr>
        <p:spPr bwMode="auto">
          <a:xfrm>
            <a:off x="609600" y="1676400"/>
            <a:ext cx="8059738" cy="782638"/>
          </a:xfrm>
          <a:custGeom>
            <a:avLst/>
            <a:gdLst>
              <a:gd name="T0" fmla="*/ 108 w 5077"/>
              <a:gd name="T1" fmla="*/ 492 h 493"/>
              <a:gd name="T2" fmla="*/ 348 w 5077"/>
              <a:gd name="T3" fmla="*/ 468 h 493"/>
              <a:gd name="T4" fmla="*/ 660 w 5077"/>
              <a:gd name="T5" fmla="*/ 432 h 493"/>
              <a:gd name="T6" fmla="*/ 912 w 5077"/>
              <a:gd name="T7" fmla="*/ 372 h 493"/>
              <a:gd name="T8" fmla="*/ 1056 w 5077"/>
              <a:gd name="T9" fmla="*/ 240 h 493"/>
              <a:gd name="T10" fmla="*/ 1392 w 5077"/>
              <a:gd name="T11" fmla="*/ 108 h 493"/>
              <a:gd name="T12" fmla="*/ 1536 w 5077"/>
              <a:gd name="T13" fmla="*/ 0 h 493"/>
              <a:gd name="T14" fmla="*/ 1668 w 5077"/>
              <a:gd name="T15" fmla="*/ 108 h 493"/>
              <a:gd name="T16" fmla="*/ 1824 w 5077"/>
              <a:gd name="T17" fmla="*/ 180 h 493"/>
              <a:gd name="T18" fmla="*/ 2016 w 5077"/>
              <a:gd name="T19" fmla="*/ 180 h 493"/>
              <a:gd name="T20" fmla="*/ 2232 w 5077"/>
              <a:gd name="T21" fmla="*/ 192 h 493"/>
              <a:gd name="T22" fmla="*/ 2448 w 5077"/>
              <a:gd name="T23" fmla="*/ 264 h 493"/>
              <a:gd name="T24" fmla="*/ 2592 w 5077"/>
              <a:gd name="T25" fmla="*/ 312 h 493"/>
              <a:gd name="T26" fmla="*/ 2880 w 5077"/>
              <a:gd name="T27" fmla="*/ 288 h 493"/>
              <a:gd name="T28" fmla="*/ 3096 w 5077"/>
              <a:gd name="T29" fmla="*/ 168 h 493"/>
              <a:gd name="T30" fmla="*/ 3240 w 5077"/>
              <a:gd name="T31" fmla="*/ 84 h 493"/>
              <a:gd name="T32" fmla="*/ 3540 w 5077"/>
              <a:gd name="T33" fmla="*/ 84 h 493"/>
              <a:gd name="T34" fmla="*/ 3744 w 5077"/>
              <a:gd name="T35" fmla="*/ 120 h 493"/>
              <a:gd name="T36" fmla="*/ 3888 w 5077"/>
              <a:gd name="T37" fmla="*/ 204 h 493"/>
              <a:gd name="T38" fmla="*/ 4044 w 5077"/>
              <a:gd name="T39" fmla="*/ 204 h 493"/>
              <a:gd name="T40" fmla="*/ 4248 w 5077"/>
              <a:gd name="T41" fmla="*/ 156 h 493"/>
              <a:gd name="T42" fmla="*/ 4404 w 5077"/>
              <a:gd name="T43" fmla="*/ 84 h 493"/>
              <a:gd name="T44" fmla="*/ 4704 w 5077"/>
              <a:gd name="T45" fmla="*/ 72 h 493"/>
              <a:gd name="T46" fmla="*/ 4896 w 5077"/>
              <a:gd name="T47" fmla="*/ 156 h 493"/>
              <a:gd name="T48" fmla="*/ 5040 w 5077"/>
              <a:gd name="T49" fmla="*/ 204 h 493"/>
              <a:gd name="T50" fmla="*/ 5076 w 5077"/>
              <a:gd name="T51" fmla="*/ 300 h 493"/>
              <a:gd name="T52" fmla="*/ 4920 w 5077"/>
              <a:gd name="T53" fmla="*/ 372 h 493"/>
              <a:gd name="T54" fmla="*/ 4776 w 5077"/>
              <a:gd name="T55" fmla="*/ 384 h 493"/>
              <a:gd name="T56" fmla="*/ 4608 w 5077"/>
              <a:gd name="T57" fmla="*/ 408 h 493"/>
              <a:gd name="T58" fmla="*/ 4416 w 5077"/>
              <a:gd name="T59" fmla="*/ 408 h 493"/>
              <a:gd name="T60" fmla="*/ 4236 w 5077"/>
              <a:gd name="T61" fmla="*/ 408 h 493"/>
              <a:gd name="T62" fmla="*/ 3996 w 5077"/>
              <a:gd name="T63" fmla="*/ 408 h 493"/>
              <a:gd name="T64" fmla="*/ 3744 w 5077"/>
              <a:gd name="T65" fmla="*/ 408 h 493"/>
              <a:gd name="T66" fmla="*/ 3588 w 5077"/>
              <a:gd name="T67" fmla="*/ 408 h 493"/>
              <a:gd name="T68" fmla="*/ 3384 w 5077"/>
              <a:gd name="T69" fmla="*/ 408 h 493"/>
              <a:gd name="T70" fmla="*/ 3168 w 5077"/>
              <a:gd name="T71" fmla="*/ 408 h 493"/>
              <a:gd name="T72" fmla="*/ 2964 w 5077"/>
              <a:gd name="T73" fmla="*/ 408 h 493"/>
              <a:gd name="T74" fmla="*/ 2760 w 5077"/>
              <a:gd name="T75" fmla="*/ 408 h 493"/>
              <a:gd name="T76" fmla="*/ 2616 w 5077"/>
              <a:gd name="T77" fmla="*/ 408 h 493"/>
              <a:gd name="T78" fmla="*/ 2292 w 5077"/>
              <a:gd name="T79" fmla="*/ 408 h 493"/>
              <a:gd name="T80" fmla="*/ 2112 w 5077"/>
              <a:gd name="T81" fmla="*/ 420 h 493"/>
              <a:gd name="T82" fmla="*/ 1848 w 5077"/>
              <a:gd name="T83" fmla="*/ 420 h 493"/>
              <a:gd name="T84" fmla="*/ 1644 w 5077"/>
              <a:gd name="T85" fmla="*/ 420 h 493"/>
              <a:gd name="T86" fmla="*/ 1416 w 5077"/>
              <a:gd name="T87" fmla="*/ 420 h 493"/>
              <a:gd name="T88" fmla="*/ 1260 w 5077"/>
              <a:gd name="T89" fmla="*/ 432 h 493"/>
              <a:gd name="T90" fmla="*/ 1032 w 5077"/>
              <a:gd name="T91" fmla="*/ 432 h 493"/>
              <a:gd name="T92" fmla="*/ 780 w 5077"/>
              <a:gd name="T93" fmla="*/ 444 h 493"/>
              <a:gd name="T94" fmla="*/ 552 w 5077"/>
              <a:gd name="T95" fmla="*/ 492 h 493"/>
              <a:gd name="T96" fmla="*/ 360 w 5077"/>
              <a:gd name="T97" fmla="*/ 492 h 493"/>
              <a:gd name="T98" fmla="*/ 204 w 5077"/>
              <a:gd name="T99" fmla="*/ 492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5077" h="493">
                <a:moveTo>
                  <a:pt x="0" y="480"/>
                </a:moveTo>
                <a:lnTo>
                  <a:pt x="36" y="492"/>
                </a:lnTo>
                <a:lnTo>
                  <a:pt x="72" y="492"/>
                </a:lnTo>
                <a:lnTo>
                  <a:pt x="108" y="492"/>
                </a:lnTo>
                <a:lnTo>
                  <a:pt x="204" y="480"/>
                </a:lnTo>
                <a:lnTo>
                  <a:pt x="240" y="480"/>
                </a:lnTo>
                <a:lnTo>
                  <a:pt x="276" y="480"/>
                </a:lnTo>
                <a:lnTo>
                  <a:pt x="348" y="468"/>
                </a:lnTo>
                <a:lnTo>
                  <a:pt x="420" y="468"/>
                </a:lnTo>
                <a:lnTo>
                  <a:pt x="468" y="456"/>
                </a:lnTo>
                <a:lnTo>
                  <a:pt x="564" y="444"/>
                </a:lnTo>
                <a:lnTo>
                  <a:pt x="660" y="432"/>
                </a:lnTo>
                <a:lnTo>
                  <a:pt x="696" y="408"/>
                </a:lnTo>
                <a:lnTo>
                  <a:pt x="768" y="396"/>
                </a:lnTo>
                <a:lnTo>
                  <a:pt x="840" y="384"/>
                </a:lnTo>
                <a:lnTo>
                  <a:pt x="912" y="372"/>
                </a:lnTo>
                <a:lnTo>
                  <a:pt x="948" y="336"/>
                </a:lnTo>
                <a:lnTo>
                  <a:pt x="972" y="300"/>
                </a:lnTo>
                <a:lnTo>
                  <a:pt x="1020" y="276"/>
                </a:lnTo>
                <a:lnTo>
                  <a:pt x="1056" y="240"/>
                </a:lnTo>
                <a:lnTo>
                  <a:pt x="1128" y="216"/>
                </a:lnTo>
                <a:lnTo>
                  <a:pt x="1224" y="192"/>
                </a:lnTo>
                <a:lnTo>
                  <a:pt x="1320" y="120"/>
                </a:lnTo>
                <a:lnTo>
                  <a:pt x="1392" y="108"/>
                </a:lnTo>
                <a:lnTo>
                  <a:pt x="1428" y="96"/>
                </a:lnTo>
                <a:lnTo>
                  <a:pt x="1464" y="84"/>
                </a:lnTo>
                <a:lnTo>
                  <a:pt x="1500" y="72"/>
                </a:lnTo>
                <a:lnTo>
                  <a:pt x="1536" y="0"/>
                </a:lnTo>
                <a:lnTo>
                  <a:pt x="1572" y="24"/>
                </a:lnTo>
                <a:lnTo>
                  <a:pt x="1596" y="60"/>
                </a:lnTo>
                <a:lnTo>
                  <a:pt x="1632" y="84"/>
                </a:lnTo>
                <a:lnTo>
                  <a:pt x="1668" y="108"/>
                </a:lnTo>
                <a:lnTo>
                  <a:pt x="1704" y="132"/>
                </a:lnTo>
                <a:lnTo>
                  <a:pt x="1740" y="156"/>
                </a:lnTo>
                <a:lnTo>
                  <a:pt x="1776" y="156"/>
                </a:lnTo>
                <a:lnTo>
                  <a:pt x="1824" y="180"/>
                </a:lnTo>
                <a:lnTo>
                  <a:pt x="1896" y="180"/>
                </a:lnTo>
                <a:lnTo>
                  <a:pt x="1932" y="180"/>
                </a:lnTo>
                <a:lnTo>
                  <a:pt x="1980" y="180"/>
                </a:lnTo>
                <a:lnTo>
                  <a:pt x="2016" y="180"/>
                </a:lnTo>
                <a:lnTo>
                  <a:pt x="2088" y="180"/>
                </a:lnTo>
                <a:lnTo>
                  <a:pt x="2124" y="180"/>
                </a:lnTo>
                <a:lnTo>
                  <a:pt x="2196" y="180"/>
                </a:lnTo>
                <a:lnTo>
                  <a:pt x="2232" y="192"/>
                </a:lnTo>
                <a:lnTo>
                  <a:pt x="2328" y="204"/>
                </a:lnTo>
                <a:lnTo>
                  <a:pt x="2376" y="228"/>
                </a:lnTo>
                <a:lnTo>
                  <a:pt x="2412" y="240"/>
                </a:lnTo>
                <a:lnTo>
                  <a:pt x="2448" y="264"/>
                </a:lnTo>
                <a:lnTo>
                  <a:pt x="2484" y="300"/>
                </a:lnTo>
                <a:lnTo>
                  <a:pt x="2520" y="312"/>
                </a:lnTo>
                <a:lnTo>
                  <a:pt x="2556" y="324"/>
                </a:lnTo>
                <a:lnTo>
                  <a:pt x="2592" y="312"/>
                </a:lnTo>
                <a:lnTo>
                  <a:pt x="2640" y="312"/>
                </a:lnTo>
                <a:lnTo>
                  <a:pt x="2712" y="300"/>
                </a:lnTo>
                <a:lnTo>
                  <a:pt x="2784" y="300"/>
                </a:lnTo>
                <a:lnTo>
                  <a:pt x="2880" y="288"/>
                </a:lnTo>
                <a:lnTo>
                  <a:pt x="2928" y="276"/>
                </a:lnTo>
                <a:lnTo>
                  <a:pt x="2964" y="228"/>
                </a:lnTo>
                <a:lnTo>
                  <a:pt x="3060" y="192"/>
                </a:lnTo>
                <a:lnTo>
                  <a:pt x="3096" y="168"/>
                </a:lnTo>
                <a:lnTo>
                  <a:pt x="3132" y="132"/>
                </a:lnTo>
                <a:lnTo>
                  <a:pt x="3168" y="120"/>
                </a:lnTo>
                <a:lnTo>
                  <a:pt x="3204" y="96"/>
                </a:lnTo>
                <a:lnTo>
                  <a:pt x="3240" y="84"/>
                </a:lnTo>
                <a:lnTo>
                  <a:pt x="3336" y="72"/>
                </a:lnTo>
                <a:lnTo>
                  <a:pt x="3408" y="72"/>
                </a:lnTo>
                <a:lnTo>
                  <a:pt x="3504" y="72"/>
                </a:lnTo>
                <a:lnTo>
                  <a:pt x="3540" y="84"/>
                </a:lnTo>
                <a:lnTo>
                  <a:pt x="3588" y="84"/>
                </a:lnTo>
                <a:lnTo>
                  <a:pt x="3660" y="96"/>
                </a:lnTo>
                <a:lnTo>
                  <a:pt x="3708" y="108"/>
                </a:lnTo>
                <a:lnTo>
                  <a:pt x="3744" y="120"/>
                </a:lnTo>
                <a:lnTo>
                  <a:pt x="3780" y="144"/>
                </a:lnTo>
                <a:lnTo>
                  <a:pt x="3816" y="168"/>
                </a:lnTo>
                <a:lnTo>
                  <a:pt x="3852" y="180"/>
                </a:lnTo>
                <a:lnTo>
                  <a:pt x="3888" y="204"/>
                </a:lnTo>
                <a:lnTo>
                  <a:pt x="3924" y="204"/>
                </a:lnTo>
                <a:lnTo>
                  <a:pt x="3960" y="204"/>
                </a:lnTo>
                <a:lnTo>
                  <a:pt x="3996" y="204"/>
                </a:lnTo>
                <a:lnTo>
                  <a:pt x="4044" y="204"/>
                </a:lnTo>
                <a:lnTo>
                  <a:pt x="4080" y="192"/>
                </a:lnTo>
                <a:lnTo>
                  <a:pt x="4116" y="192"/>
                </a:lnTo>
                <a:lnTo>
                  <a:pt x="4152" y="180"/>
                </a:lnTo>
                <a:lnTo>
                  <a:pt x="4248" y="156"/>
                </a:lnTo>
                <a:lnTo>
                  <a:pt x="4284" y="132"/>
                </a:lnTo>
                <a:lnTo>
                  <a:pt x="4320" y="120"/>
                </a:lnTo>
                <a:lnTo>
                  <a:pt x="4368" y="96"/>
                </a:lnTo>
                <a:lnTo>
                  <a:pt x="4404" y="84"/>
                </a:lnTo>
                <a:lnTo>
                  <a:pt x="4500" y="72"/>
                </a:lnTo>
                <a:lnTo>
                  <a:pt x="4596" y="72"/>
                </a:lnTo>
                <a:lnTo>
                  <a:pt x="4668" y="72"/>
                </a:lnTo>
                <a:lnTo>
                  <a:pt x="4704" y="72"/>
                </a:lnTo>
                <a:lnTo>
                  <a:pt x="4800" y="84"/>
                </a:lnTo>
                <a:lnTo>
                  <a:pt x="4836" y="84"/>
                </a:lnTo>
                <a:lnTo>
                  <a:pt x="4860" y="120"/>
                </a:lnTo>
                <a:lnTo>
                  <a:pt x="4896" y="156"/>
                </a:lnTo>
                <a:lnTo>
                  <a:pt x="4932" y="168"/>
                </a:lnTo>
                <a:lnTo>
                  <a:pt x="4968" y="180"/>
                </a:lnTo>
                <a:lnTo>
                  <a:pt x="5004" y="204"/>
                </a:lnTo>
                <a:lnTo>
                  <a:pt x="5040" y="204"/>
                </a:lnTo>
                <a:lnTo>
                  <a:pt x="5040" y="192"/>
                </a:lnTo>
                <a:lnTo>
                  <a:pt x="5040" y="228"/>
                </a:lnTo>
                <a:lnTo>
                  <a:pt x="5064" y="264"/>
                </a:lnTo>
                <a:lnTo>
                  <a:pt x="5076" y="300"/>
                </a:lnTo>
                <a:lnTo>
                  <a:pt x="5076" y="336"/>
                </a:lnTo>
                <a:lnTo>
                  <a:pt x="5040" y="360"/>
                </a:lnTo>
                <a:lnTo>
                  <a:pt x="5004" y="372"/>
                </a:lnTo>
                <a:lnTo>
                  <a:pt x="4920" y="372"/>
                </a:lnTo>
                <a:lnTo>
                  <a:pt x="4884" y="372"/>
                </a:lnTo>
                <a:lnTo>
                  <a:pt x="4848" y="372"/>
                </a:lnTo>
                <a:lnTo>
                  <a:pt x="4812" y="372"/>
                </a:lnTo>
                <a:lnTo>
                  <a:pt x="4776" y="384"/>
                </a:lnTo>
                <a:lnTo>
                  <a:pt x="4740" y="396"/>
                </a:lnTo>
                <a:lnTo>
                  <a:pt x="4692" y="396"/>
                </a:lnTo>
                <a:lnTo>
                  <a:pt x="4644" y="408"/>
                </a:lnTo>
                <a:lnTo>
                  <a:pt x="4608" y="408"/>
                </a:lnTo>
                <a:lnTo>
                  <a:pt x="4572" y="408"/>
                </a:lnTo>
                <a:lnTo>
                  <a:pt x="4500" y="408"/>
                </a:lnTo>
                <a:lnTo>
                  <a:pt x="4452" y="408"/>
                </a:lnTo>
                <a:lnTo>
                  <a:pt x="4416" y="408"/>
                </a:lnTo>
                <a:lnTo>
                  <a:pt x="4368" y="408"/>
                </a:lnTo>
                <a:lnTo>
                  <a:pt x="4320" y="408"/>
                </a:lnTo>
                <a:lnTo>
                  <a:pt x="4284" y="408"/>
                </a:lnTo>
                <a:lnTo>
                  <a:pt x="4236" y="408"/>
                </a:lnTo>
                <a:lnTo>
                  <a:pt x="4200" y="408"/>
                </a:lnTo>
                <a:lnTo>
                  <a:pt x="4104" y="408"/>
                </a:lnTo>
                <a:lnTo>
                  <a:pt x="4032" y="408"/>
                </a:lnTo>
                <a:lnTo>
                  <a:pt x="3996" y="408"/>
                </a:lnTo>
                <a:lnTo>
                  <a:pt x="3924" y="408"/>
                </a:lnTo>
                <a:lnTo>
                  <a:pt x="3828" y="408"/>
                </a:lnTo>
                <a:lnTo>
                  <a:pt x="3792" y="408"/>
                </a:lnTo>
                <a:lnTo>
                  <a:pt x="3744" y="408"/>
                </a:lnTo>
                <a:lnTo>
                  <a:pt x="3696" y="408"/>
                </a:lnTo>
                <a:lnTo>
                  <a:pt x="3660" y="408"/>
                </a:lnTo>
                <a:lnTo>
                  <a:pt x="3624" y="408"/>
                </a:lnTo>
                <a:lnTo>
                  <a:pt x="3588" y="408"/>
                </a:lnTo>
                <a:lnTo>
                  <a:pt x="3552" y="408"/>
                </a:lnTo>
                <a:lnTo>
                  <a:pt x="3516" y="408"/>
                </a:lnTo>
                <a:lnTo>
                  <a:pt x="3480" y="408"/>
                </a:lnTo>
                <a:lnTo>
                  <a:pt x="3384" y="408"/>
                </a:lnTo>
                <a:lnTo>
                  <a:pt x="3312" y="408"/>
                </a:lnTo>
                <a:lnTo>
                  <a:pt x="3240" y="408"/>
                </a:lnTo>
                <a:lnTo>
                  <a:pt x="3204" y="408"/>
                </a:lnTo>
                <a:lnTo>
                  <a:pt x="3168" y="408"/>
                </a:lnTo>
                <a:lnTo>
                  <a:pt x="3132" y="408"/>
                </a:lnTo>
                <a:lnTo>
                  <a:pt x="3096" y="408"/>
                </a:lnTo>
                <a:lnTo>
                  <a:pt x="3048" y="408"/>
                </a:lnTo>
                <a:lnTo>
                  <a:pt x="2964" y="408"/>
                </a:lnTo>
                <a:lnTo>
                  <a:pt x="2868" y="408"/>
                </a:lnTo>
                <a:lnTo>
                  <a:pt x="2832" y="408"/>
                </a:lnTo>
                <a:lnTo>
                  <a:pt x="2796" y="408"/>
                </a:lnTo>
                <a:lnTo>
                  <a:pt x="2760" y="408"/>
                </a:lnTo>
                <a:lnTo>
                  <a:pt x="2724" y="408"/>
                </a:lnTo>
                <a:lnTo>
                  <a:pt x="2688" y="408"/>
                </a:lnTo>
                <a:lnTo>
                  <a:pt x="2652" y="408"/>
                </a:lnTo>
                <a:lnTo>
                  <a:pt x="2616" y="408"/>
                </a:lnTo>
                <a:lnTo>
                  <a:pt x="2520" y="408"/>
                </a:lnTo>
                <a:lnTo>
                  <a:pt x="2424" y="408"/>
                </a:lnTo>
                <a:lnTo>
                  <a:pt x="2328" y="408"/>
                </a:lnTo>
                <a:lnTo>
                  <a:pt x="2292" y="408"/>
                </a:lnTo>
                <a:lnTo>
                  <a:pt x="2256" y="408"/>
                </a:lnTo>
                <a:lnTo>
                  <a:pt x="2220" y="408"/>
                </a:lnTo>
                <a:lnTo>
                  <a:pt x="2184" y="408"/>
                </a:lnTo>
                <a:lnTo>
                  <a:pt x="2112" y="420"/>
                </a:lnTo>
                <a:lnTo>
                  <a:pt x="2076" y="420"/>
                </a:lnTo>
                <a:lnTo>
                  <a:pt x="2040" y="420"/>
                </a:lnTo>
                <a:lnTo>
                  <a:pt x="1944" y="420"/>
                </a:lnTo>
                <a:lnTo>
                  <a:pt x="1848" y="420"/>
                </a:lnTo>
                <a:lnTo>
                  <a:pt x="1812" y="420"/>
                </a:lnTo>
                <a:lnTo>
                  <a:pt x="1776" y="420"/>
                </a:lnTo>
                <a:lnTo>
                  <a:pt x="1680" y="420"/>
                </a:lnTo>
                <a:lnTo>
                  <a:pt x="1644" y="420"/>
                </a:lnTo>
                <a:lnTo>
                  <a:pt x="1596" y="420"/>
                </a:lnTo>
                <a:lnTo>
                  <a:pt x="1524" y="420"/>
                </a:lnTo>
                <a:lnTo>
                  <a:pt x="1452" y="420"/>
                </a:lnTo>
                <a:lnTo>
                  <a:pt x="1416" y="420"/>
                </a:lnTo>
                <a:lnTo>
                  <a:pt x="1368" y="432"/>
                </a:lnTo>
                <a:lnTo>
                  <a:pt x="1332" y="432"/>
                </a:lnTo>
                <a:lnTo>
                  <a:pt x="1296" y="432"/>
                </a:lnTo>
                <a:lnTo>
                  <a:pt x="1260" y="432"/>
                </a:lnTo>
                <a:lnTo>
                  <a:pt x="1224" y="444"/>
                </a:lnTo>
                <a:lnTo>
                  <a:pt x="1140" y="432"/>
                </a:lnTo>
                <a:lnTo>
                  <a:pt x="1068" y="432"/>
                </a:lnTo>
                <a:lnTo>
                  <a:pt x="1032" y="432"/>
                </a:lnTo>
                <a:lnTo>
                  <a:pt x="984" y="432"/>
                </a:lnTo>
                <a:lnTo>
                  <a:pt x="948" y="432"/>
                </a:lnTo>
                <a:lnTo>
                  <a:pt x="876" y="444"/>
                </a:lnTo>
                <a:lnTo>
                  <a:pt x="780" y="444"/>
                </a:lnTo>
                <a:lnTo>
                  <a:pt x="660" y="456"/>
                </a:lnTo>
                <a:lnTo>
                  <a:pt x="624" y="468"/>
                </a:lnTo>
                <a:lnTo>
                  <a:pt x="588" y="480"/>
                </a:lnTo>
                <a:lnTo>
                  <a:pt x="552" y="492"/>
                </a:lnTo>
                <a:lnTo>
                  <a:pt x="516" y="492"/>
                </a:lnTo>
                <a:lnTo>
                  <a:pt x="480" y="492"/>
                </a:lnTo>
                <a:lnTo>
                  <a:pt x="396" y="492"/>
                </a:lnTo>
                <a:lnTo>
                  <a:pt x="360" y="492"/>
                </a:lnTo>
                <a:lnTo>
                  <a:pt x="312" y="492"/>
                </a:lnTo>
                <a:lnTo>
                  <a:pt x="276" y="492"/>
                </a:lnTo>
                <a:lnTo>
                  <a:pt x="240" y="492"/>
                </a:lnTo>
                <a:lnTo>
                  <a:pt x="204" y="492"/>
                </a:lnTo>
                <a:lnTo>
                  <a:pt x="168" y="492"/>
                </a:lnTo>
                <a:lnTo>
                  <a:pt x="120" y="492"/>
                </a:lnTo>
                <a:lnTo>
                  <a:pt x="84" y="492"/>
                </a:lnTo>
              </a:path>
            </a:pathLst>
          </a:custGeom>
          <a:solidFill>
            <a:srgbClr val="618FFD"/>
          </a:solidFill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50" name="Rectangle 46">
            <a:extLst>
              <a:ext uri="{FF2B5EF4-FFF2-40B4-BE49-F238E27FC236}">
                <a16:creationId xmlns:a16="http://schemas.microsoft.com/office/drawing/2014/main" id="{2D5500A6-A9C8-B7E2-8FC1-7E8FC6D98A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132556"/>
            <a:ext cx="9067800" cy="1143000"/>
          </a:xfrm>
          <a:noFill/>
          <a:ln/>
        </p:spPr>
        <p:txBody>
          <a:bodyPr lIns="92075" tIns="46038" rIns="92075" bIns="46038"/>
          <a:lstStyle/>
          <a:p>
            <a:r>
              <a:rPr lang="en-US" altLang="en-US" sz="2800" dirty="0"/>
              <a:t>The Cluttered World of </a:t>
            </a:r>
            <a:br>
              <a:rPr lang="en-US" altLang="en-US" sz="2800" dirty="0"/>
            </a:br>
            <a:r>
              <a:rPr lang="en-US" altLang="en-US" sz="2800" dirty="0"/>
              <a:t>Radio Waves</a:t>
            </a:r>
          </a:p>
        </p:txBody>
      </p:sp>
      <p:sp>
        <p:nvSpPr>
          <p:cNvPr id="47151" name="Rectangle 47">
            <a:extLst>
              <a:ext uri="{FF2B5EF4-FFF2-40B4-BE49-F238E27FC236}">
                <a16:creationId xmlns:a16="http://schemas.microsoft.com/office/drawing/2014/main" id="{A9FCB02F-F442-7E70-9177-A0146FBDC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6925" y="5691188"/>
            <a:ext cx="679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</a:rPr>
              <a:t>walls</a:t>
            </a:r>
          </a:p>
        </p:txBody>
      </p:sp>
      <p:sp>
        <p:nvSpPr>
          <p:cNvPr id="47152" name="Rectangle 48">
            <a:extLst>
              <a:ext uri="{FF2B5EF4-FFF2-40B4-BE49-F238E27FC236}">
                <a16:creationId xmlns:a16="http://schemas.microsoft.com/office/drawing/2014/main" id="{7EEA040B-0091-2A0E-40C9-D766202AA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25" y="3862388"/>
            <a:ext cx="1035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</a:rPr>
              <a:t>hallways</a:t>
            </a:r>
          </a:p>
        </p:txBody>
      </p:sp>
      <p:sp>
        <p:nvSpPr>
          <p:cNvPr id="47153" name="Rectangle 49">
            <a:extLst>
              <a:ext uri="{FF2B5EF4-FFF2-40B4-BE49-F238E27FC236}">
                <a16:creationId xmlns:a16="http://schemas.microsoft.com/office/drawing/2014/main" id="{B51440B2-A04E-48F6-BA34-10B29DE97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0525" y="4090988"/>
            <a:ext cx="1035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</a:rPr>
              <a:t>windows</a:t>
            </a:r>
          </a:p>
        </p:txBody>
      </p:sp>
      <p:sp>
        <p:nvSpPr>
          <p:cNvPr id="47154" name="Rectangle 50">
            <a:extLst>
              <a:ext uri="{FF2B5EF4-FFF2-40B4-BE49-F238E27FC236}">
                <a16:creationId xmlns:a16="http://schemas.microsoft.com/office/drawing/2014/main" id="{C06ECEDA-F146-DB05-4F8C-AAA4EE051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125" y="5310188"/>
            <a:ext cx="654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</a:rPr>
              <a:t>trees</a:t>
            </a:r>
          </a:p>
        </p:txBody>
      </p:sp>
      <p:sp>
        <p:nvSpPr>
          <p:cNvPr id="47155" name="Rectangle 51">
            <a:extLst>
              <a:ext uri="{FF2B5EF4-FFF2-40B4-BE49-F238E27FC236}">
                <a16:creationId xmlns:a16="http://schemas.microsoft.com/office/drawing/2014/main" id="{D9643E9D-582E-2219-C434-C894233E7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7925" y="4319588"/>
            <a:ext cx="946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</a:rPr>
              <a:t>vehicles</a:t>
            </a:r>
          </a:p>
        </p:txBody>
      </p:sp>
      <p:sp>
        <p:nvSpPr>
          <p:cNvPr id="47156" name="Rectangle 52">
            <a:extLst>
              <a:ext uri="{FF2B5EF4-FFF2-40B4-BE49-F238E27FC236}">
                <a16:creationId xmlns:a16="http://schemas.microsoft.com/office/drawing/2014/main" id="{0DC49FE5-6F8B-15D2-1069-91E060F47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25" y="2490788"/>
            <a:ext cx="590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</a:rPr>
              <a:t>rain</a:t>
            </a:r>
          </a:p>
        </p:txBody>
      </p:sp>
      <p:sp>
        <p:nvSpPr>
          <p:cNvPr id="47157" name="Rectangle 53">
            <a:extLst>
              <a:ext uri="{FF2B5EF4-FFF2-40B4-BE49-F238E27FC236}">
                <a16:creationId xmlns:a16="http://schemas.microsoft.com/office/drawing/2014/main" id="{461890CD-426F-2F34-05B4-360EF9ECA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925" y="1652588"/>
            <a:ext cx="590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</a:rPr>
              <a:t>hills</a:t>
            </a:r>
          </a:p>
        </p:txBody>
      </p:sp>
      <p:sp>
        <p:nvSpPr>
          <p:cNvPr id="47158" name="Line 54">
            <a:extLst>
              <a:ext uri="{FF2B5EF4-FFF2-40B4-BE49-F238E27FC236}">
                <a16:creationId xmlns:a16="http://schemas.microsoft.com/office/drawing/2014/main" id="{1F34F267-3D98-38AA-6A39-DAFE273CA0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4200" y="2590800"/>
            <a:ext cx="0" cy="1143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59" name="Line 55">
            <a:extLst>
              <a:ext uri="{FF2B5EF4-FFF2-40B4-BE49-F238E27FC236}">
                <a16:creationId xmlns:a16="http://schemas.microsoft.com/office/drawing/2014/main" id="{7CD14B15-FE6D-9228-FAC4-1F4864C6E55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514600"/>
            <a:ext cx="457200" cy="76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60" name="Line 56">
            <a:extLst>
              <a:ext uri="{FF2B5EF4-FFF2-40B4-BE49-F238E27FC236}">
                <a16:creationId xmlns:a16="http://schemas.microsoft.com/office/drawing/2014/main" id="{0ACFBA97-1C41-CCFC-894B-E8FA4E2C3E2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667000"/>
            <a:ext cx="457200" cy="76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61" name="Line 57">
            <a:extLst>
              <a:ext uri="{FF2B5EF4-FFF2-40B4-BE49-F238E27FC236}">
                <a16:creationId xmlns:a16="http://schemas.microsoft.com/office/drawing/2014/main" id="{3E2481F5-AF56-EB36-46CF-074430EC368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819400"/>
            <a:ext cx="457200" cy="76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62" name="Line 58">
            <a:extLst>
              <a:ext uri="{FF2B5EF4-FFF2-40B4-BE49-F238E27FC236}">
                <a16:creationId xmlns:a16="http://schemas.microsoft.com/office/drawing/2014/main" id="{46027F92-18DD-581F-3D45-415053DFA1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971800"/>
            <a:ext cx="457200" cy="76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63" name="Line 59">
            <a:extLst>
              <a:ext uri="{FF2B5EF4-FFF2-40B4-BE49-F238E27FC236}">
                <a16:creationId xmlns:a16="http://schemas.microsoft.com/office/drawing/2014/main" id="{025130E5-798A-735E-264A-71FC7DF981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3124200"/>
            <a:ext cx="457200" cy="76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64" name="Line 60">
            <a:extLst>
              <a:ext uri="{FF2B5EF4-FFF2-40B4-BE49-F238E27FC236}">
                <a16:creationId xmlns:a16="http://schemas.microsoft.com/office/drawing/2014/main" id="{5C2A103A-BB2C-53EC-20B7-BA383C9A7F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3276600"/>
            <a:ext cx="457200" cy="76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65" name="Line 61">
            <a:extLst>
              <a:ext uri="{FF2B5EF4-FFF2-40B4-BE49-F238E27FC236}">
                <a16:creationId xmlns:a16="http://schemas.microsoft.com/office/drawing/2014/main" id="{6C9DA70A-1144-538E-75E4-BFD18569DC2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3429000"/>
            <a:ext cx="533400" cy="76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66" name="Line 62">
            <a:extLst>
              <a:ext uri="{FF2B5EF4-FFF2-40B4-BE49-F238E27FC236}">
                <a16:creationId xmlns:a16="http://schemas.microsoft.com/office/drawing/2014/main" id="{C2DA9A6A-0629-2912-EAFC-E0A21671F3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3581400"/>
            <a:ext cx="457200" cy="76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67" name="Line 63">
            <a:extLst>
              <a:ext uri="{FF2B5EF4-FFF2-40B4-BE49-F238E27FC236}">
                <a16:creationId xmlns:a16="http://schemas.microsoft.com/office/drawing/2014/main" id="{72F7549C-5D93-C4AD-719A-F0D6C2B224C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514600"/>
            <a:ext cx="0" cy="1143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68" name="Line 64">
            <a:extLst>
              <a:ext uri="{FF2B5EF4-FFF2-40B4-BE49-F238E27FC236}">
                <a16:creationId xmlns:a16="http://schemas.microsoft.com/office/drawing/2014/main" id="{52AAD57B-85CC-A868-77F2-3D69925C952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590800"/>
            <a:ext cx="0" cy="1066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69" name="Line 65">
            <a:extLst>
              <a:ext uri="{FF2B5EF4-FFF2-40B4-BE49-F238E27FC236}">
                <a16:creationId xmlns:a16="http://schemas.microsoft.com/office/drawing/2014/main" id="{21A913E9-C0CA-F8D4-7FC9-03C992C5A8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4200" y="2514600"/>
            <a:ext cx="152400" cy="76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70" name="Line 66">
            <a:extLst>
              <a:ext uri="{FF2B5EF4-FFF2-40B4-BE49-F238E27FC236}">
                <a16:creationId xmlns:a16="http://schemas.microsoft.com/office/drawing/2014/main" id="{887DFA50-BC8B-8E90-683C-FB76C19D25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4200" y="2667000"/>
            <a:ext cx="152400" cy="76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71" name="Line 67">
            <a:extLst>
              <a:ext uri="{FF2B5EF4-FFF2-40B4-BE49-F238E27FC236}">
                <a16:creationId xmlns:a16="http://schemas.microsoft.com/office/drawing/2014/main" id="{C32C80C6-A657-CF71-A81A-FED448CE7F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4200" y="2819400"/>
            <a:ext cx="152400" cy="76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72" name="Line 68">
            <a:extLst>
              <a:ext uri="{FF2B5EF4-FFF2-40B4-BE49-F238E27FC236}">
                <a16:creationId xmlns:a16="http://schemas.microsoft.com/office/drawing/2014/main" id="{5762C16D-6F9C-C31C-67B7-40B134DCE5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4200" y="2971800"/>
            <a:ext cx="152400" cy="76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73" name="Line 69">
            <a:extLst>
              <a:ext uri="{FF2B5EF4-FFF2-40B4-BE49-F238E27FC236}">
                <a16:creationId xmlns:a16="http://schemas.microsoft.com/office/drawing/2014/main" id="{128D635B-63C3-5332-B279-A1DC4CB36C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4200" y="3124200"/>
            <a:ext cx="152400" cy="76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74" name="Line 70">
            <a:extLst>
              <a:ext uri="{FF2B5EF4-FFF2-40B4-BE49-F238E27FC236}">
                <a16:creationId xmlns:a16="http://schemas.microsoft.com/office/drawing/2014/main" id="{06C7C346-1022-3C8B-CB1C-5632FD07C5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4200" y="3276600"/>
            <a:ext cx="152400" cy="76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75" name="Line 71">
            <a:extLst>
              <a:ext uri="{FF2B5EF4-FFF2-40B4-BE49-F238E27FC236}">
                <a16:creationId xmlns:a16="http://schemas.microsoft.com/office/drawing/2014/main" id="{7B56478A-2293-A9CF-5E81-228C1B7274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4200" y="3581400"/>
            <a:ext cx="152400" cy="76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76" name="Line 72">
            <a:extLst>
              <a:ext uri="{FF2B5EF4-FFF2-40B4-BE49-F238E27FC236}">
                <a16:creationId xmlns:a16="http://schemas.microsoft.com/office/drawing/2014/main" id="{F207C3D6-F3F4-8C9E-4199-A0CDF66523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4200" y="3429000"/>
            <a:ext cx="152400" cy="76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77" name="Rectangle 73">
            <a:extLst>
              <a:ext uri="{FF2B5EF4-FFF2-40B4-BE49-F238E27FC236}">
                <a16:creationId xmlns:a16="http://schemas.microsoft.com/office/drawing/2014/main" id="{37FDFEDD-7F27-E1C6-B955-B9B5796B3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0725" y="2338388"/>
            <a:ext cx="882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</a:rPr>
              <a:t>girders</a:t>
            </a:r>
          </a:p>
        </p:txBody>
      </p:sp>
      <p:sp>
        <p:nvSpPr>
          <p:cNvPr id="47178" name="Line 74">
            <a:extLst>
              <a:ext uri="{FF2B5EF4-FFF2-40B4-BE49-F238E27FC236}">
                <a16:creationId xmlns:a16="http://schemas.microsoft.com/office/drawing/2014/main" id="{58BB03C2-1297-1835-DD83-8C3FCF1F940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29000" y="3581400"/>
            <a:ext cx="2286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79" name="Line 75">
            <a:extLst>
              <a:ext uri="{FF2B5EF4-FFF2-40B4-BE49-F238E27FC236}">
                <a16:creationId xmlns:a16="http://schemas.microsoft.com/office/drawing/2014/main" id="{752BAB9E-72C5-3D69-95AD-830ACF8753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4200" y="3962400"/>
            <a:ext cx="5334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80" name="Line 76">
            <a:extLst>
              <a:ext uri="{FF2B5EF4-FFF2-40B4-BE49-F238E27FC236}">
                <a16:creationId xmlns:a16="http://schemas.microsoft.com/office/drawing/2014/main" id="{3F97DF6A-CD70-FC0D-420D-C4F692F03D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9000" y="4267200"/>
            <a:ext cx="3048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81" name="Line 77">
            <a:extLst>
              <a:ext uri="{FF2B5EF4-FFF2-40B4-BE49-F238E27FC236}">
                <a16:creationId xmlns:a16="http://schemas.microsoft.com/office/drawing/2014/main" id="{9E520E5A-BE00-FB9D-BB52-33ACAD41819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828800" y="3733800"/>
            <a:ext cx="18288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82" name="Line 78">
            <a:extLst>
              <a:ext uri="{FF2B5EF4-FFF2-40B4-BE49-F238E27FC236}">
                <a16:creationId xmlns:a16="http://schemas.microsoft.com/office/drawing/2014/main" id="{35F03DE0-7460-5874-831E-2B53528B43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0" y="3962400"/>
            <a:ext cx="10668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353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3BF0A82-7D16-69A3-6AA4-547B039CEC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F50400-75A0-425B-ABF8-85EFCA113FB9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sp>
        <p:nvSpPr>
          <p:cNvPr id="1888258" name="Rectangle 2">
            <a:extLst>
              <a:ext uri="{FF2B5EF4-FFF2-40B4-BE49-F238E27FC236}">
                <a16:creationId xmlns:a16="http://schemas.microsoft.com/office/drawing/2014/main" id="{4447A46C-023A-76E6-36C9-3E6004A133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03357"/>
            <a:ext cx="8069263" cy="685800"/>
          </a:xfrm>
        </p:spPr>
        <p:txBody>
          <a:bodyPr/>
          <a:lstStyle/>
          <a:p>
            <a:r>
              <a:rPr lang="en-US" sz="3600" dirty="0"/>
              <a:t>3.Multipath Fading &amp; Environmental Obstructions: High BER</a:t>
            </a:r>
          </a:p>
        </p:txBody>
      </p:sp>
      <p:sp>
        <p:nvSpPr>
          <p:cNvPr id="1888259" name="Rectangle 3">
            <a:extLst>
              <a:ext uri="{FF2B5EF4-FFF2-40B4-BE49-F238E27FC236}">
                <a16:creationId xmlns:a16="http://schemas.microsoft.com/office/drawing/2014/main" id="{3AC583CA-6B66-4CD1-0D55-E1CA0220F5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8944" y="1454944"/>
            <a:ext cx="8458200" cy="2704305"/>
          </a:xfrm>
        </p:spPr>
        <p:txBody>
          <a:bodyPr/>
          <a:lstStyle/>
          <a:p>
            <a:r>
              <a:rPr lang="en-US" altLang="en-US" sz="2400" dirty="0"/>
              <a:t>Multi-path propagation</a:t>
            </a:r>
          </a:p>
          <a:p>
            <a:pPr lvl="1"/>
            <a:r>
              <a:rPr lang="en-US" altLang="en-US" sz="2000" dirty="0"/>
              <a:t>Electromagnetic waves reflect off objects</a:t>
            </a:r>
          </a:p>
          <a:p>
            <a:pPr lvl="1"/>
            <a:r>
              <a:rPr lang="en-US" altLang="en-US" sz="2000" dirty="0"/>
              <a:t>Taking many paths of different lengths</a:t>
            </a:r>
          </a:p>
          <a:p>
            <a:pPr lvl="1"/>
            <a:r>
              <a:rPr lang="en-US" altLang="en-US" sz="2000" dirty="0"/>
              <a:t>Causing blurring of signal at the receiver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Multipath fading</a:t>
            </a:r>
            <a:r>
              <a:rPr lang="en-US" sz="2000" dirty="0">
                <a:solidFill>
                  <a:srgbClr val="FF0000"/>
                </a:solidFill>
              </a:rPr>
              <a:t> causes signal distortion and delays, increasing errors (BER).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 lvl="1">
              <a:buFont typeface="Helvetica" panose="020B0604020202020204" pitchFamily="34" charset="0"/>
              <a:buNone/>
            </a:pPr>
            <a:endParaRPr lang="en-US" altLang="en-US" sz="1600" dirty="0"/>
          </a:p>
        </p:txBody>
      </p:sp>
      <p:grpSp>
        <p:nvGrpSpPr>
          <p:cNvPr id="1888279" name="Group 23">
            <a:extLst>
              <a:ext uri="{FF2B5EF4-FFF2-40B4-BE49-F238E27FC236}">
                <a16:creationId xmlns:a16="http://schemas.microsoft.com/office/drawing/2014/main" id="{863BD625-747B-0170-9353-B2884738DD8B}"/>
              </a:ext>
            </a:extLst>
          </p:cNvPr>
          <p:cNvGrpSpPr>
            <a:grpSpLocks/>
          </p:cNvGrpSpPr>
          <p:nvPr/>
        </p:nvGrpSpPr>
        <p:grpSpPr bwMode="auto">
          <a:xfrm>
            <a:off x="962025" y="3533775"/>
            <a:ext cx="7959725" cy="3324225"/>
            <a:chOff x="606" y="2226"/>
            <a:chExt cx="5014" cy="2094"/>
          </a:xfrm>
        </p:grpSpPr>
        <p:pic>
          <p:nvPicPr>
            <p:cNvPr id="1888262" name="Picture 6">
              <a:extLst>
                <a:ext uri="{FF2B5EF4-FFF2-40B4-BE49-F238E27FC236}">
                  <a16:creationId xmlns:a16="http://schemas.microsoft.com/office/drawing/2014/main" id="{04BABDE8-3D14-B387-9DDD-66EF69CC41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" y="2226"/>
              <a:ext cx="4669" cy="20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88263" name="Rectangle 7">
              <a:extLst>
                <a:ext uri="{FF2B5EF4-FFF2-40B4-BE49-F238E27FC236}">
                  <a16:creationId xmlns:a16="http://schemas.microsoft.com/office/drawing/2014/main" id="{5B586BF0-12C7-EAC2-AF98-5AE13846E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5" y="2257"/>
              <a:ext cx="459" cy="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88264" name="Rectangle 8">
              <a:extLst>
                <a:ext uri="{FF2B5EF4-FFF2-40B4-BE49-F238E27FC236}">
                  <a16:creationId xmlns:a16="http://schemas.microsoft.com/office/drawing/2014/main" id="{8C4498B9-57C3-B4C1-07F0-6048D8C60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8" y="2571"/>
              <a:ext cx="242" cy="1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88265" name="Rectangle 9">
              <a:extLst>
                <a:ext uri="{FF2B5EF4-FFF2-40B4-BE49-F238E27FC236}">
                  <a16:creationId xmlns:a16="http://schemas.microsoft.com/office/drawing/2014/main" id="{3698E234-1E4D-E784-EA07-9BE8079C3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5" y="2644"/>
              <a:ext cx="169" cy="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88267" name="Rectangle 11">
              <a:extLst>
                <a:ext uri="{FF2B5EF4-FFF2-40B4-BE49-F238E27FC236}">
                  <a16:creationId xmlns:a16="http://schemas.microsoft.com/office/drawing/2014/main" id="{7BEDDAA1-2E66-DD21-097B-2F537825F4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3" y="2692"/>
              <a:ext cx="387" cy="1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88268" name="Rectangle 12">
              <a:extLst>
                <a:ext uri="{FF2B5EF4-FFF2-40B4-BE49-F238E27FC236}">
                  <a16:creationId xmlns:a16="http://schemas.microsoft.com/office/drawing/2014/main" id="{5177D7DF-892F-3BCF-1C5B-BEE491B61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9" y="3394"/>
              <a:ext cx="556" cy="1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88269" name="Rectangle 13">
              <a:extLst>
                <a:ext uri="{FF2B5EF4-FFF2-40B4-BE49-F238E27FC236}">
                  <a16:creationId xmlns:a16="http://schemas.microsoft.com/office/drawing/2014/main" id="{73772E50-CADD-5197-2249-73078B6A19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3" y="2910"/>
              <a:ext cx="508" cy="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88270" name="Oval 14">
              <a:extLst>
                <a:ext uri="{FF2B5EF4-FFF2-40B4-BE49-F238E27FC236}">
                  <a16:creationId xmlns:a16="http://schemas.microsoft.com/office/drawing/2014/main" id="{AB3225BC-A652-1BEB-A80D-F526BEFC7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6" y="2934"/>
              <a:ext cx="73" cy="4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88271" name="Oval 15">
              <a:extLst>
                <a:ext uri="{FF2B5EF4-FFF2-40B4-BE49-F238E27FC236}">
                  <a16:creationId xmlns:a16="http://schemas.microsoft.com/office/drawing/2014/main" id="{EA546A74-FF73-AFB2-061E-888854909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2" y="2620"/>
              <a:ext cx="145" cy="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88272" name="Rectangle 16">
              <a:extLst>
                <a:ext uri="{FF2B5EF4-FFF2-40B4-BE49-F238E27FC236}">
                  <a16:creationId xmlns:a16="http://schemas.microsoft.com/office/drawing/2014/main" id="{FC712610-E354-F260-F517-511DA5924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5" y="3418"/>
              <a:ext cx="460" cy="12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88273" name="Rectangle 17">
              <a:extLst>
                <a:ext uri="{FF2B5EF4-FFF2-40B4-BE49-F238E27FC236}">
                  <a16:creationId xmlns:a16="http://schemas.microsoft.com/office/drawing/2014/main" id="{B697D77A-BAF2-65B2-685A-73E1FFD2F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9" y="4047"/>
              <a:ext cx="412" cy="12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88274" name="Rectangle 18">
              <a:extLst>
                <a:ext uri="{FF2B5EF4-FFF2-40B4-BE49-F238E27FC236}">
                  <a16:creationId xmlns:a16="http://schemas.microsoft.com/office/drawing/2014/main" id="{E6C21E77-1C66-9BA9-F961-26846E8B52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4" y="3636"/>
              <a:ext cx="387" cy="12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88275" name="Oval 19">
              <a:extLst>
                <a:ext uri="{FF2B5EF4-FFF2-40B4-BE49-F238E27FC236}">
                  <a16:creationId xmlns:a16="http://schemas.microsoft.com/office/drawing/2014/main" id="{1CB9E0CD-F92D-B198-45FB-21BE500DDF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5" y="3660"/>
              <a:ext cx="97" cy="73"/>
            </a:xfrm>
            <a:prstGeom prst="ellipse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88276" name="Text Box 20">
              <a:extLst>
                <a:ext uri="{FF2B5EF4-FFF2-40B4-BE49-F238E27FC236}">
                  <a16:creationId xmlns:a16="http://schemas.microsoft.com/office/drawing/2014/main" id="{11202536-4435-0A3C-A7B1-D39781DA2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4" y="2475"/>
              <a:ext cx="72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Arial"/>
                </a:rPr>
                <a:t>receiver</a:t>
              </a:r>
            </a:p>
          </p:txBody>
        </p:sp>
        <p:sp>
          <p:nvSpPr>
            <p:cNvPr id="1888277" name="Text Box 21">
              <a:extLst>
                <a:ext uri="{FF2B5EF4-FFF2-40B4-BE49-F238E27FC236}">
                  <a16:creationId xmlns:a16="http://schemas.microsoft.com/office/drawing/2014/main" id="{086FF101-D8A5-FEFE-6102-C6E54CED14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0" y="2668"/>
              <a:ext cx="95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Arial"/>
                </a:rPr>
                <a:t>transmitter</a:t>
              </a:r>
            </a:p>
          </p:txBody>
        </p:sp>
        <p:sp>
          <p:nvSpPr>
            <p:cNvPr id="1888278" name="Line 22">
              <a:extLst>
                <a:ext uri="{FF2B5EF4-FFF2-40B4-BE49-F238E27FC236}">
                  <a16:creationId xmlns:a16="http://schemas.microsoft.com/office/drawing/2014/main" id="{57074467-BDB0-DFFA-44AC-22B756A6D8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46" y="2886"/>
              <a:ext cx="3242" cy="14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</p:grpSp>
      <p:sp>
        <p:nvSpPr>
          <p:cNvPr id="3" name="object 2">
            <a:extLst>
              <a:ext uri="{FF2B5EF4-FFF2-40B4-BE49-F238E27FC236}">
                <a16:creationId xmlns:a16="http://schemas.microsoft.com/office/drawing/2014/main" id="{9DCC732E-2BDB-38A1-51E1-6C5DCCF363B1}"/>
              </a:ext>
            </a:extLst>
          </p:cNvPr>
          <p:cNvSpPr txBox="1">
            <a:spLocks/>
          </p:cNvSpPr>
          <p:nvPr/>
        </p:nvSpPr>
        <p:spPr>
          <a:xfrm>
            <a:off x="352254" y="335001"/>
            <a:ext cx="7801146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Oval 2">
            <a:extLst>
              <a:ext uri="{FF2B5EF4-FFF2-40B4-BE49-F238E27FC236}">
                <a16:creationId xmlns:a16="http://schemas.microsoft.com/office/drawing/2014/main" id="{7C676551-AA97-E788-1E63-3E63706EB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4888" y="2306638"/>
            <a:ext cx="1033462" cy="954087"/>
          </a:xfrm>
          <a:prstGeom prst="ellipse">
            <a:avLst/>
          </a:prstGeom>
          <a:solidFill>
            <a:schemeClr val="hlink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F6914596-6C83-A3F2-ABC6-3F6C70ADBE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3375" y="275015"/>
            <a:ext cx="8261350" cy="685800"/>
          </a:xfrm>
        </p:spPr>
        <p:txBody>
          <a:bodyPr/>
          <a:lstStyle/>
          <a:p>
            <a:r>
              <a:rPr lang="en-US" sz="3600" dirty="0"/>
              <a:t>3.Multipath Fading &amp; Environmental Obstructions: High BER</a:t>
            </a:r>
            <a:endParaRPr lang="en-US" altLang="en-US" dirty="0"/>
          </a:p>
        </p:txBody>
      </p:sp>
      <p:sp>
        <p:nvSpPr>
          <p:cNvPr id="41988" name="Rectangle 4">
            <a:extLst>
              <a:ext uri="{FF2B5EF4-FFF2-40B4-BE49-F238E27FC236}">
                <a16:creationId xmlns:a16="http://schemas.microsoft.com/office/drawing/2014/main" id="{A51A7679-BDD3-9EBD-5FF0-BDA3C4136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2149475"/>
            <a:ext cx="2257425" cy="1255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989" name="Text Box 5">
            <a:extLst>
              <a:ext uri="{FF2B5EF4-FFF2-40B4-BE49-F238E27FC236}">
                <a16:creationId xmlns:a16="http://schemas.microsoft.com/office/drawing/2014/main" id="{667801B7-3917-485A-9464-29C1B5439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705" y="1422201"/>
            <a:ext cx="4418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2000" dirty="0">
                <a:solidFill>
                  <a:schemeClr val="tx2"/>
                </a:solidFill>
              </a:rPr>
              <a:t>Three basic propagation mechanisms</a:t>
            </a:r>
            <a:endParaRPr lang="en-US" altLang="en-US" sz="1800" b="1" dirty="0">
              <a:solidFill>
                <a:srgbClr val="0033FF"/>
              </a:solidFill>
              <a:latin typeface="Courier New" panose="02070309020205020404" pitchFamily="49" charset="0"/>
            </a:endParaRPr>
          </a:p>
        </p:txBody>
      </p:sp>
      <p:sp>
        <p:nvSpPr>
          <p:cNvPr id="41990" name="Text Box 6">
            <a:extLst>
              <a:ext uri="{FF2B5EF4-FFF2-40B4-BE49-F238E27FC236}">
                <a16:creationId xmlns:a16="http://schemas.microsoft.com/office/drawing/2014/main" id="{2A9ED49B-85BE-6072-0835-41155925F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705" y="4413250"/>
            <a:ext cx="7623175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Char char="•"/>
            </a:pPr>
            <a:r>
              <a:rPr lang="en-US" altLang="en-US" sz="2000" dirty="0"/>
              <a:t> Propagation effects depend on not only on the specific portion of spectrum used for transmission, but also on the bandwidth (or spectral occupancy) of the signal being transmitted</a:t>
            </a:r>
          </a:p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Char char="•"/>
            </a:pPr>
            <a:endParaRPr lang="en-US" altLang="en-US" sz="2000" dirty="0"/>
          </a:p>
          <a:p>
            <a:pPr eaLnBrk="0" hangingPunct="0">
              <a:lnSpc>
                <a:spcPct val="100000"/>
              </a:lnSpc>
              <a:spcBef>
                <a:spcPct val="0"/>
              </a:spcBef>
              <a:buSzTx/>
              <a:buFontTx/>
              <a:buChar char="•"/>
            </a:pPr>
            <a:r>
              <a:rPr lang="en-US" altLang="en-US" sz="2000" dirty="0"/>
              <a:t> Spatial separation of Tx-Rx </a:t>
            </a:r>
          </a:p>
        </p:txBody>
      </p:sp>
      <p:sp>
        <p:nvSpPr>
          <p:cNvPr id="41991" name="Rectangle 7">
            <a:extLst>
              <a:ext uri="{FF2B5EF4-FFF2-40B4-BE49-F238E27FC236}">
                <a16:creationId xmlns:a16="http://schemas.microsoft.com/office/drawing/2014/main" id="{F43071B1-739E-E432-9E91-717C87D93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525" y="2820988"/>
            <a:ext cx="1033463" cy="5699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1992" name="Line 8">
            <a:extLst>
              <a:ext uri="{FF2B5EF4-FFF2-40B4-BE49-F238E27FC236}">
                <a16:creationId xmlns:a16="http://schemas.microsoft.com/office/drawing/2014/main" id="{CE7F243F-A1F6-7468-2D8D-1A3A4386EA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0225" y="2182813"/>
            <a:ext cx="1046163" cy="42386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1993" name="Line 9">
            <a:extLst>
              <a:ext uri="{FF2B5EF4-FFF2-40B4-BE49-F238E27FC236}">
                <a16:creationId xmlns:a16="http://schemas.microsoft.com/office/drawing/2014/main" id="{8FA92562-331D-F9D5-FB7C-D056CBB7A46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0988" y="2182813"/>
            <a:ext cx="1192212" cy="45085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1994" name="Line 10">
            <a:extLst>
              <a:ext uri="{FF2B5EF4-FFF2-40B4-BE49-F238E27FC236}">
                <a16:creationId xmlns:a16="http://schemas.microsoft.com/office/drawing/2014/main" id="{16825EBD-3854-6855-308D-1CEB8F7B8E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86013" y="2646363"/>
            <a:ext cx="317500" cy="45085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1995" name="Rectangle 11">
            <a:extLst>
              <a:ext uri="{FF2B5EF4-FFF2-40B4-BE49-F238E27FC236}">
                <a16:creationId xmlns:a16="http://schemas.microsoft.com/office/drawing/2014/main" id="{1774544A-4075-00B0-8488-4ABA8BFC9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2116138"/>
            <a:ext cx="2257425" cy="12557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996" name="Rectangle 12">
            <a:extLst>
              <a:ext uri="{FF2B5EF4-FFF2-40B4-BE49-F238E27FC236}">
                <a16:creationId xmlns:a16="http://schemas.microsoft.com/office/drawing/2014/main" id="{60F394E4-E757-BB97-8CAC-140139F0B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1213" y="2787650"/>
            <a:ext cx="1033462" cy="56991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1997" name="Line 13">
            <a:extLst>
              <a:ext uri="{FF2B5EF4-FFF2-40B4-BE49-F238E27FC236}">
                <a16:creationId xmlns:a16="http://schemas.microsoft.com/office/drawing/2014/main" id="{299EAAE5-C068-A1B4-F787-7723C43B96C1}"/>
              </a:ext>
            </a:extLst>
          </p:cNvPr>
          <p:cNvSpPr>
            <a:spLocks noChangeShapeType="1"/>
          </p:cNvSpPr>
          <p:nvPr/>
        </p:nvSpPr>
        <p:spPr bwMode="auto">
          <a:xfrm rot="1865414" flipV="1">
            <a:off x="3363913" y="2425700"/>
            <a:ext cx="1046162" cy="423863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1998" name="Line 14">
            <a:extLst>
              <a:ext uri="{FF2B5EF4-FFF2-40B4-BE49-F238E27FC236}">
                <a16:creationId xmlns:a16="http://schemas.microsoft.com/office/drawing/2014/main" id="{94219B19-87E0-0B30-8AD9-F06A19BB4914}"/>
              </a:ext>
            </a:extLst>
          </p:cNvPr>
          <p:cNvSpPr>
            <a:spLocks noChangeShapeType="1"/>
          </p:cNvSpPr>
          <p:nvPr/>
        </p:nvSpPr>
        <p:spPr bwMode="auto">
          <a:xfrm rot="1187949">
            <a:off x="4370388" y="2822575"/>
            <a:ext cx="423862" cy="192088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1999" name="Rectangle 15">
            <a:extLst>
              <a:ext uri="{FF2B5EF4-FFF2-40B4-BE49-F238E27FC236}">
                <a16:creationId xmlns:a16="http://schemas.microsoft.com/office/drawing/2014/main" id="{BEA6E925-3BD8-1C63-1286-857C0BBB3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0625" y="2136775"/>
            <a:ext cx="2257425" cy="1255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00" name="Rectangle 16">
            <a:extLst>
              <a:ext uri="{FF2B5EF4-FFF2-40B4-BE49-F238E27FC236}">
                <a16:creationId xmlns:a16="http://schemas.microsoft.com/office/drawing/2014/main" id="{3FDE8856-C483-CD40-D75D-4FC5C84DD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2808288"/>
            <a:ext cx="1033463" cy="5699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2001" name="Line 17">
            <a:extLst>
              <a:ext uri="{FF2B5EF4-FFF2-40B4-BE49-F238E27FC236}">
                <a16:creationId xmlns:a16="http://schemas.microsoft.com/office/drawing/2014/main" id="{F6F6E343-2407-8BEF-D305-27562772D286}"/>
              </a:ext>
            </a:extLst>
          </p:cNvPr>
          <p:cNvSpPr>
            <a:spLocks noChangeShapeType="1"/>
          </p:cNvSpPr>
          <p:nvPr/>
        </p:nvSpPr>
        <p:spPr bwMode="auto">
          <a:xfrm rot="2027372" flipV="1">
            <a:off x="6362700" y="2170113"/>
            <a:ext cx="1046163" cy="42386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2002" name="Oval 18">
            <a:extLst>
              <a:ext uri="{FF2B5EF4-FFF2-40B4-BE49-F238E27FC236}">
                <a16:creationId xmlns:a16="http://schemas.microsoft.com/office/drawing/2014/main" id="{F36AC19C-4BEA-1978-B200-12FEF9FD0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9350" y="2581275"/>
            <a:ext cx="63500" cy="6191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03" name="Oval 19">
            <a:extLst>
              <a:ext uri="{FF2B5EF4-FFF2-40B4-BE49-F238E27FC236}">
                <a16:creationId xmlns:a16="http://schemas.microsoft.com/office/drawing/2014/main" id="{79407C6B-9BCA-2FC1-F9B0-203F8925B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250" y="2670175"/>
            <a:ext cx="63500" cy="6191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04" name="Oval 20">
            <a:extLst>
              <a:ext uri="{FF2B5EF4-FFF2-40B4-BE49-F238E27FC236}">
                <a16:creationId xmlns:a16="http://schemas.microsoft.com/office/drawing/2014/main" id="{85D38432-3315-C59C-B5BE-F0893C930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3050" y="2835275"/>
            <a:ext cx="63500" cy="6191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05" name="Oval 21">
            <a:extLst>
              <a:ext uri="{FF2B5EF4-FFF2-40B4-BE49-F238E27FC236}">
                <a16:creationId xmlns:a16="http://schemas.microsoft.com/office/drawing/2014/main" id="{53B72B70-EAED-58EF-6A8B-F4DC3E226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5450" y="2746375"/>
            <a:ext cx="63500" cy="6191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06" name="Oval 22">
            <a:extLst>
              <a:ext uri="{FF2B5EF4-FFF2-40B4-BE49-F238E27FC236}">
                <a16:creationId xmlns:a16="http://schemas.microsoft.com/office/drawing/2014/main" id="{F55FBAB4-C177-E384-5456-5AB93A38B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7850" y="2898775"/>
            <a:ext cx="63500" cy="6191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07" name="Oval 23">
            <a:extLst>
              <a:ext uri="{FF2B5EF4-FFF2-40B4-BE49-F238E27FC236}">
                <a16:creationId xmlns:a16="http://schemas.microsoft.com/office/drawing/2014/main" id="{4EFF63FA-5741-A70A-2DEA-0247BD581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9738" y="2998788"/>
            <a:ext cx="63500" cy="619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08" name="Oval 24">
            <a:extLst>
              <a:ext uri="{FF2B5EF4-FFF2-40B4-BE49-F238E27FC236}">
                <a16:creationId xmlns:a16="http://schemas.microsoft.com/office/drawing/2014/main" id="{2C09C324-86CE-B08F-7526-605ACEB58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0" y="2884488"/>
            <a:ext cx="63500" cy="619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09" name="Oval 25">
            <a:extLst>
              <a:ext uri="{FF2B5EF4-FFF2-40B4-BE49-F238E27FC236}">
                <a16:creationId xmlns:a16="http://schemas.microsoft.com/office/drawing/2014/main" id="{1A0F0803-D0B3-7CE0-C7A6-EE9567FE4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5113" y="2600325"/>
            <a:ext cx="63500" cy="6191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10" name="Oval 26">
            <a:extLst>
              <a:ext uri="{FF2B5EF4-FFF2-40B4-BE49-F238E27FC236}">
                <a16:creationId xmlns:a16="http://schemas.microsoft.com/office/drawing/2014/main" id="{1268C322-032C-E7B9-0626-5A1DC175F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0150" y="2708275"/>
            <a:ext cx="63500" cy="6191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11" name="Oval 27">
            <a:extLst>
              <a:ext uri="{FF2B5EF4-FFF2-40B4-BE49-F238E27FC236}">
                <a16:creationId xmlns:a16="http://schemas.microsoft.com/office/drawing/2014/main" id="{49C271B2-36C4-2651-A9FC-3BA06619E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3350" y="2809875"/>
            <a:ext cx="63500" cy="6191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12" name="Oval 28">
            <a:extLst>
              <a:ext uri="{FF2B5EF4-FFF2-40B4-BE49-F238E27FC236}">
                <a16:creationId xmlns:a16="http://schemas.microsoft.com/office/drawing/2014/main" id="{CCBAAFA2-AD8B-A35D-BD72-CAD19E6E3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3850" y="2962275"/>
            <a:ext cx="63500" cy="6191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13" name="Oval 29">
            <a:extLst>
              <a:ext uri="{FF2B5EF4-FFF2-40B4-BE49-F238E27FC236}">
                <a16:creationId xmlns:a16="http://schemas.microsoft.com/office/drawing/2014/main" id="{719529EE-3E27-C5A6-29DA-009DA46C6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6250" y="2873375"/>
            <a:ext cx="63500" cy="6191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14" name="Oval 30">
            <a:extLst>
              <a:ext uri="{FF2B5EF4-FFF2-40B4-BE49-F238E27FC236}">
                <a16:creationId xmlns:a16="http://schemas.microsoft.com/office/drawing/2014/main" id="{8833E5B1-60AE-695C-CD5E-A42CE342D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8650" y="3025775"/>
            <a:ext cx="63500" cy="6191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15" name="Oval 31">
            <a:extLst>
              <a:ext uri="{FF2B5EF4-FFF2-40B4-BE49-F238E27FC236}">
                <a16:creationId xmlns:a16="http://schemas.microsoft.com/office/drawing/2014/main" id="{CB5565BD-3E00-11ED-05FB-F7CEFC34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0538" y="3125788"/>
            <a:ext cx="63500" cy="619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16" name="Oval 32">
            <a:extLst>
              <a:ext uri="{FF2B5EF4-FFF2-40B4-BE49-F238E27FC236}">
                <a16:creationId xmlns:a16="http://schemas.microsoft.com/office/drawing/2014/main" id="{4E1D0713-57DD-F944-ACFE-988985993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7800" y="3011488"/>
            <a:ext cx="63500" cy="619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17" name="Oval 33">
            <a:extLst>
              <a:ext uri="{FF2B5EF4-FFF2-40B4-BE49-F238E27FC236}">
                <a16:creationId xmlns:a16="http://schemas.microsoft.com/office/drawing/2014/main" id="{3E7430F1-A25A-3FB3-E5C6-CA6879568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7813" y="2727325"/>
            <a:ext cx="63500" cy="6191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18" name="Oval 34">
            <a:extLst>
              <a:ext uri="{FF2B5EF4-FFF2-40B4-BE49-F238E27FC236}">
                <a16:creationId xmlns:a16="http://schemas.microsoft.com/office/drawing/2014/main" id="{634AF44A-D6FD-F2DA-5CB5-1DAE9B374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3650" y="2479675"/>
            <a:ext cx="63500" cy="6191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19" name="Oval 35">
            <a:extLst>
              <a:ext uri="{FF2B5EF4-FFF2-40B4-BE49-F238E27FC236}">
                <a16:creationId xmlns:a16="http://schemas.microsoft.com/office/drawing/2014/main" id="{9D457D5C-18AC-F673-0C3C-3AAB892DB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4150" y="2632075"/>
            <a:ext cx="63500" cy="6191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20" name="Oval 36">
            <a:extLst>
              <a:ext uri="{FF2B5EF4-FFF2-40B4-BE49-F238E27FC236}">
                <a16:creationId xmlns:a16="http://schemas.microsoft.com/office/drawing/2014/main" id="{CD2DAAC4-1C97-0255-A01A-258CA3577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6550" y="2543175"/>
            <a:ext cx="63500" cy="6191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21" name="Oval 37">
            <a:extLst>
              <a:ext uri="{FF2B5EF4-FFF2-40B4-BE49-F238E27FC236}">
                <a16:creationId xmlns:a16="http://schemas.microsoft.com/office/drawing/2014/main" id="{4B3855CD-DE3D-855C-454A-23896076B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8950" y="2695575"/>
            <a:ext cx="63500" cy="6191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22" name="Oval 38">
            <a:extLst>
              <a:ext uri="{FF2B5EF4-FFF2-40B4-BE49-F238E27FC236}">
                <a16:creationId xmlns:a16="http://schemas.microsoft.com/office/drawing/2014/main" id="{E981DDFB-1EEC-F6FD-23D3-B142ED500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795588"/>
            <a:ext cx="63500" cy="619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23" name="Oval 39">
            <a:extLst>
              <a:ext uri="{FF2B5EF4-FFF2-40B4-BE49-F238E27FC236}">
                <a16:creationId xmlns:a16="http://schemas.microsoft.com/office/drawing/2014/main" id="{FB84F2C5-741B-5FD4-E1A0-BBA9C828A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8100" y="2681288"/>
            <a:ext cx="63500" cy="619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24" name="Oval 40">
            <a:extLst>
              <a:ext uri="{FF2B5EF4-FFF2-40B4-BE49-F238E27FC236}">
                <a16:creationId xmlns:a16="http://schemas.microsoft.com/office/drawing/2014/main" id="{9E9D5029-C305-278C-4B33-72D09510E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8113" y="2397125"/>
            <a:ext cx="63500" cy="6191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25" name="Oval 41">
            <a:extLst>
              <a:ext uri="{FF2B5EF4-FFF2-40B4-BE49-F238E27FC236}">
                <a16:creationId xmlns:a16="http://schemas.microsoft.com/office/drawing/2014/main" id="{5774F497-69CF-2E07-07D4-1A3EB2FA8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250" y="2505075"/>
            <a:ext cx="63500" cy="6191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26" name="Oval 42">
            <a:extLst>
              <a:ext uri="{FF2B5EF4-FFF2-40B4-BE49-F238E27FC236}">
                <a16:creationId xmlns:a16="http://schemas.microsoft.com/office/drawing/2014/main" id="{764BB48E-5B85-64C5-3294-00D2B638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4450" y="2606675"/>
            <a:ext cx="63500" cy="6191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27" name="Oval 43">
            <a:extLst>
              <a:ext uri="{FF2B5EF4-FFF2-40B4-BE49-F238E27FC236}">
                <a16:creationId xmlns:a16="http://schemas.microsoft.com/office/drawing/2014/main" id="{E4ECCE92-612B-5E50-0619-7E033542C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9550" y="2746375"/>
            <a:ext cx="63500" cy="6191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28" name="Oval 44">
            <a:extLst>
              <a:ext uri="{FF2B5EF4-FFF2-40B4-BE49-F238E27FC236}">
                <a16:creationId xmlns:a16="http://schemas.microsoft.com/office/drawing/2014/main" id="{285224A5-4F2A-A662-E0EC-A5A43D563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7350" y="2670175"/>
            <a:ext cx="63500" cy="6191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29" name="Oval 45">
            <a:extLst>
              <a:ext uri="{FF2B5EF4-FFF2-40B4-BE49-F238E27FC236}">
                <a16:creationId xmlns:a16="http://schemas.microsoft.com/office/drawing/2014/main" id="{7F364E34-77E8-BA92-5B50-FEAE13C2D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9750" y="2822575"/>
            <a:ext cx="63500" cy="6191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30" name="Oval 46">
            <a:extLst>
              <a:ext uri="{FF2B5EF4-FFF2-40B4-BE49-F238E27FC236}">
                <a16:creationId xmlns:a16="http://schemas.microsoft.com/office/drawing/2014/main" id="{B69BCC84-7ED6-FD4B-B4E5-E2B25F985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1638" y="2922588"/>
            <a:ext cx="63500" cy="619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31" name="Oval 47">
            <a:extLst>
              <a:ext uri="{FF2B5EF4-FFF2-40B4-BE49-F238E27FC236}">
                <a16:creationId xmlns:a16="http://schemas.microsoft.com/office/drawing/2014/main" id="{249AFCE8-0EB8-78ED-A1AC-D6DE43B1C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2808288"/>
            <a:ext cx="63500" cy="619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32" name="Oval 48">
            <a:extLst>
              <a:ext uri="{FF2B5EF4-FFF2-40B4-BE49-F238E27FC236}">
                <a16:creationId xmlns:a16="http://schemas.microsoft.com/office/drawing/2014/main" id="{D1DC2E3F-0F23-CF2D-AF08-91F59A0C0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8913" y="2524125"/>
            <a:ext cx="63500" cy="6191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33" name="Line 49">
            <a:extLst>
              <a:ext uri="{FF2B5EF4-FFF2-40B4-BE49-F238E27FC236}">
                <a16:creationId xmlns:a16="http://schemas.microsoft.com/office/drawing/2014/main" id="{40B5ABBC-AB75-BCB9-401C-031845AF356A}"/>
              </a:ext>
            </a:extLst>
          </p:cNvPr>
          <p:cNvSpPr>
            <a:spLocks noChangeShapeType="1"/>
          </p:cNvSpPr>
          <p:nvPr/>
        </p:nvSpPr>
        <p:spPr bwMode="auto">
          <a:xfrm>
            <a:off x="7672388" y="2514600"/>
            <a:ext cx="146050" cy="52388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2034" name="Rectangle 50">
            <a:extLst>
              <a:ext uri="{FF2B5EF4-FFF2-40B4-BE49-F238E27FC236}">
                <a16:creationId xmlns:a16="http://schemas.microsoft.com/office/drawing/2014/main" id="{A4F611C4-F48E-2376-03F4-FB3CF825A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238" y="3470275"/>
            <a:ext cx="120015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50000"/>
              </a:spcBef>
              <a:buSzTx/>
              <a:buFont typeface="Wingdings" panose="05000000000000000000" pitchFamily="2" charset="2"/>
              <a:buNone/>
            </a:pPr>
            <a:r>
              <a:rPr lang="en-US" altLang="en-US" sz="1800"/>
              <a:t>Reflection</a:t>
            </a:r>
          </a:p>
          <a:p>
            <a:pPr eaLnBrk="0" hangingPunct="0">
              <a:lnSpc>
                <a:spcPct val="100000"/>
              </a:lnSpc>
              <a:spcBef>
                <a:spcPct val="50000"/>
              </a:spcBef>
              <a:buSzTx/>
              <a:buFont typeface="Wingdings" panose="05000000000000000000" pitchFamily="2" charset="2"/>
              <a:buNone/>
            </a:pPr>
            <a:r>
              <a:rPr lang="en-US" altLang="en-US" sz="2000">
                <a:cs typeface="Arial" panose="020B0604020202020204" pitchFamily="34" charset="0"/>
              </a:rPr>
              <a:t>λ  &lt;&lt;  D</a:t>
            </a:r>
            <a:endParaRPr lang="en-US" altLang="en-US" sz="2000"/>
          </a:p>
        </p:txBody>
      </p:sp>
      <p:sp>
        <p:nvSpPr>
          <p:cNvPr id="42035" name="Rectangle 51">
            <a:extLst>
              <a:ext uri="{FF2B5EF4-FFF2-40B4-BE49-F238E27FC236}">
                <a16:creationId xmlns:a16="http://schemas.microsoft.com/office/drawing/2014/main" id="{91A2692F-D967-2ADD-6A93-BCDB00DBF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3175" y="3429000"/>
            <a:ext cx="121285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50000"/>
              </a:spcBef>
              <a:buSzTx/>
              <a:buFont typeface="Wingdings" panose="05000000000000000000" pitchFamily="2" charset="2"/>
              <a:buNone/>
            </a:pPr>
            <a:r>
              <a:rPr lang="en-US" altLang="en-US" sz="1800"/>
              <a:t>Diffraction</a:t>
            </a:r>
          </a:p>
          <a:p>
            <a:pPr eaLnBrk="0" hangingPunct="0">
              <a:lnSpc>
                <a:spcPct val="100000"/>
              </a:lnSpc>
              <a:spcBef>
                <a:spcPct val="50000"/>
              </a:spcBef>
              <a:buSzTx/>
              <a:buFont typeface="Wingdings" panose="05000000000000000000" pitchFamily="2" charset="2"/>
              <a:buNone/>
            </a:pPr>
            <a:r>
              <a:rPr lang="en-US" altLang="en-US" sz="2000">
                <a:cs typeface="Arial" panose="020B0604020202020204" pitchFamily="34" charset="0"/>
              </a:rPr>
              <a:t>λ 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</a:t>
            </a:r>
            <a:r>
              <a:rPr lang="en-US" altLang="en-US">
                <a:cs typeface="Arial" panose="020B0604020202020204" pitchFamily="34" charset="0"/>
              </a:rPr>
              <a:t> </a:t>
            </a:r>
            <a:r>
              <a:rPr lang="en-US" altLang="en-US" sz="2000">
                <a:cs typeface="Arial" panose="020B0604020202020204" pitchFamily="34" charset="0"/>
              </a:rPr>
              <a:t> D</a:t>
            </a:r>
            <a:endParaRPr lang="en-US" altLang="en-US" sz="1800"/>
          </a:p>
        </p:txBody>
      </p:sp>
      <p:sp>
        <p:nvSpPr>
          <p:cNvPr id="42036" name="Rectangle 52">
            <a:extLst>
              <a:ext uri="{FF2B5EF4-FFF2-40B4-BE49-F238E27FC236}">
                <a16:creationId xmlns:a16="http://schemas.microsoft.com/office/drawing/2014/main" id="{0B73608E-9613-4F4B-8A47-9BDEB6DF2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6563" y="3424238"/>
            <a:ext cx="121285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FA24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50000"/>
              </a:spcBef>
              <a:buSzTx/>
              <a:buFont typeface="Wingdings" panose="05000000000000000000" pitchFamily="2" charset="2"/>
              <a:buNone/>
            </a:pPr>
            <a:r>
              <a:rPr lang="en-US" altLang="en-US" sz="1800"/>
              <a:t>Scattering</a:t>
            </a:r>
          </a:p>
          <a:p>
            <a:pPr eaLnBrk="0" hangingPunct="0">
              <a:lnSpc>
                <a:spcPct val="100000"/>
              </a:lnSpc>
              <a:spcBef>
                <a:spcPct val="50000"/>
              </a:spcBef>
              <a:buSzTx/>
              <a:buFont typeface="Wingdings" panose="05000000000000000000" pitchFamily="2" charset="2"/>
              <a:buNone/>
            </a:pPr>
            <a:r>
              <a:rPr lang="en-US" altLang="en-US" sz="2000">
                <a:cs typeface="Arial" panose="020B0604020202020204" pitchFamily="34" charset="0"/>
              </a:rPr>
              <a:t>λ 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&gt;&gt;</a:t>
            </a:r>
            <a:r>
              <a:rPr lang="en-US" altLang="en-US" sz="2000">
                <a:cs typeface="Arial" panose="020B0604020202020204" pitchFamily="34" charset="0"/>
              </a:rPr>
              <a:t> D</a:t>
            </a:r>
            <a:endParaRPr lang="en-US" altLang="en-US" sz="180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9A65EEC4-F42D-BE6E-34F2-FB1C1F57D864}"/>
              </a:ext>
            </a:extLst>
          </p:cNvPr>
          <p:cNvSpPr txBox="1">
            <a:spLocks/>
          </p:cNvSpPr>
          <p:nvPr/>
        </p:nvSpPr>
        <p:spPr>
          <a:xfrm>
            <a:off x="354540" y="24984"/>
            <a:ext cx="7801146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1394149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99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9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9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99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0" grpId="0" build="p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05315-B933-1913-A97A-CA536EADE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62" name="Rectangle 2">
            <a:extLst>
              <a:ext uri="{FF2B5EF4-FFF2-40B4-BE49-F238E27FC236}">
                <a16:creationId xmlns:a16="http://schemas.microsoft.com/office/drawing/2014/main" id="{4BE211F9-658D-4F59-47C4-D87112A63B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8069263" cy="685800"/>
          </a:xfrm>
        </p:spPr>
        <p:txBody>
          <a:bodyPr wrap="square" anchor="ctr">
            <a:normAutofit fontScale="90000"/>
          </a:bodyPr>
          <a:lstStyle/>
          <a:p>
            <a:r>
              <a:rPr lang="en-US"/>
              <a:t>3.Multipath Fading &amp; Environmental Obstructions: High BER</a:t>
            </a:r>
            <a:endParaRPr lang="en-US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6EF1E8-1FEB-EC0A-F1FB-9BFE5A2691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457200" y="1329785"/>
            <a:ext cx="8458200" cy="5265229"/>
          </a:xfrm>
          <a:prstGeom prst="rect">
            <a:avLst/>
          </a:prstGeom>
          <a:noFill/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46EE5CE-976C-DB36-2462-0BC2FE773A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001000" y="6324600"/>
            <a:ext cx="914400" cy="381000"/>
          </a:xfrm>
        </p:spPr>
        <p:txBody>
          <a:bodyPr wrap="square" anchor="t">
            <a:normAutofit/>
          </a:bodyPr>
          <a:lstStyle/>
          <a:p>
            <a:pPr marL="0" marR="0" lvl="0" indent="0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272C8E57-475F-4E5B-B40B-5973D2A46384}" type="slidenum">
              <a:rPr kumimoji="0" lang="en-US" altLang="en-US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L="0" marR="0" lvl="0" indent="0" defTabSz="914400" rtl="0" eaLnBrk="1" fontAlgn="base" latinLnBrk="0" hangingPunct="1"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altLang="en-US" b="0" i="0" u="none" strike="noStrike" kern="1200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028F0779-B4C3-F72E-F845-CA86E084F0FF}"/>
              </a:ext>
            </a:extLst>
          </p:cNvPr>
          <p:cNvSpPr txBox="1">
            <a:spLocks/>
          </p:cNvSpPr>
          <p:nvPr/>
        </p:nvSpPr>
        <p:spPr>
          <a:xfrm>
            <a:off x="352254" y="335001"/>
            <a:ext cx="7801146" cy="695325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21187131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B7950-7B11-3282-DF81-95D4AAFE3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AA5064B-989C-C447-D09D-31AACE0D17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72C8E57-475F-4E5B-B40B-5973D2A46384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sp>
        <p:nvSpPr>
          <p:cNvPr id="1884162" name="Rectangle 2">
            <a:extLst>
              <a:ext uri="{FF2B5EF4-FFF2-40B4-BE49-F238E27FC236}">
                <a16:creationId xmlns:a16="http://schemas.microsoft.com/office/drawing/2014/main" id="{62A668A1-5C71-4E92-FD7D-25E3ED5358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3200400"/>
            <a:ext cx="6019801" cy="685800"/>
          </a:xfrm>
        </p:spPr>
        <p:txBody>
          <a:bodyPr/>
          <a:lstStyle/>
          <a:p>
            <a:r>
              <a:rPr lang="en-US" sz="3600" dirty="0"/>
              <a:t>4. Doppler Shift (Mobility):</a:t>
            </a:r>
          </a:p>
        </p:txBody>
      </p:sp>
    </p:spTree>
    <p:extLst>
      <p:ext uri="{BB962C8B-B14F-4D97-AF65-F5344CB8AC3E}">
        <p14:creationId xmlns:p14="http://schemas.microsoft.com/office/powerpoint/2010/main" val="172535831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DDC03-F151-EFC8-F660-6850F7880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E0B9096-71E9-EA88-142B-7B9882D00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72C8E57-475F-4E5B-B40B-5973D2A46384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sp>
        <p:nvSpPr>
          <p:cNvPr id="1884162" name="Rectangle 2">
            <a:extLst>
              <a:ext uri="{FF2B5EF4-FFF2-40B4-BE49-F238E27FC236}">
                <a16:creationId xmlns:a16="http://schemas.microsoft.com/office/drawing/2014/main" id="{607DDDFB-A828-CDA4-FD31-535494E1B3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6858000" cy="685800"/>
          </a:xfrm>
        </p:spPr>
        <p:txBody>
          <a:bodyPr/>
          <a:lstStyle/>
          <a:p>
            <a:r>
              <a:rPr lang="en-US" sz="3600" dirty="0"/>
              <a:t>4.Doppler Shift (Mobility):</a:t>
            </a:r>
          </a:p>
        </p:txBody>
      </p:sp>
      <p:pic>
        <p:nvPicPr>
          <p:cNvPr id="4" name="Picture 3" descr="Diagram of a diagram of a waveform&#10;&#10;AI-generated content may be incorrect.">
            <a:extLst>
              <a:ext uri="{FF2B5EF4-FFF2-40B4-BE49-F238E27FC236}">
                <a16:creationId xmlns:a16="http://schemas.microsoft.com/office/drawing/2014/main" id="{A9EFD78B-7397-AB1C-DEF8-ED4D50A462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24000"/>
            <a:ext cx="7445644" cy="4935876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8FDF4A40-AEB8-87D2-7CA4-0E158E7F5065}"/>
              </a:ext>
            </a:extLst>
          </p:cNvPr>
          <p:cNvSpPr txBox="1">
            <a:spLocks/>
          </p:cNvSpPr>
          <p:nvPr/>
        </p:nvSpPr>
        <p:spPr>
          <a:xfrm>
            <a:off x="352254" y="335001"/>
            <a:ext cx="7801146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4419411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B91BF-CDAF-D93A-750D-77334D2FB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84ABEEB-28D8-B624-7D84-E2FBF0C0E2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72C8E57-475F-4E5B-B40B-5973D2A46384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sp>
        <p:nvSpPr>
          <p:cNvPr id="1884162" name="Rectangle 2">
            <a:extLst>
              <a:ext uri="{FF2B5EF4-FFF2-40B4-BE49-F238E27FC236}">
                <a16:creationId xmlns:a16="http://schemas.microsoft.com/office/drawing/2014/main" id="{B764BB9E-A57D-90AD-28C8-82837799A6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7467600" cy="685800"/>
          </a:xfrm>
        </p:spPr>
        <p:txBody>
          <a:bodyPr/>
          <a:lstStyle/>
          <a:p>
            <a:r>
              <a:rPr lang="en-US" sz="3200" dirty="0"/>
              <a:t>4.Doppler Shift (Mobility): High BER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83EFDE-2221-47FC-A1CB-089441671D3D}"/>
              </a:ext>
            </a:extLst>
          </p:cNvPr>
          <p:cNvSpPr txBox="1"/>
          <p:nvPr/>
        </p:nvSpPr>
        <p:spPr>
          <a:xfrm>
            <a:off x="609600" y="1447800"/>
            <a:ext cx="8001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Doppler Shift</a:t>
            </a:r>
            <a:r>
              <a:rPr lang="en-US" dirty="0"/>
              <a:t> causes </a:t>
            </a:r>
            <a:r>
              <a:rPr lang="en-US" b="1" dirty="0"/>
              <a:t>frequency changes</a:t>
            </a:r>
            <a:r>
              <a:rPr lang="en-US" dirty="0"/>
              <a:t> in the received signal due to relative motion between transmitter and receiver.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leads to </a:t>
            </a:r>
            <a:r>
              <a:rPr lang="en-US" b="1" dirty="0"/>
              <a:t>carrier frequency offset</a:t>
            </a:r>
            <a:r>
              <a:rPr lang="en-US" dirty="0"/>
              <a:t> and </a:t>
            </a:r>
            <a:r>
              <a:rPr lang="en-US" b="1" dirty="0"/>
              <a:t>loss of synchronization</a:t>
            </a:r>
            <a:r>
              <a:rPr lang="en-US" dirty="0"/>
              <a:t> at the receiver.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also increases </a:t>
            </a:r>
            <a:r>
              <a:rPr lang="en-US" b="1" dirty="0"/>
              <a:t>channel variation rate</a:t>
            </a:r>
            <a:r>
              <a:rPr lang="en-US" dirty="0"/>
              <a:t>, making the channel </a:t>
            </a:r>
            <a:r>
              <a:rPr lang="en-US" b="1" dirty="0"/>
              <a:t>time-varying and unpredictable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As a result, symbols may be </a:t>
            </a:r>
            <a:r>
              <a:rPr lang="en-US" b="1" dirty="0"/>
              <a:t>misinterpreted</a:t>
            </a:r>
            <a:r>
              <a:rPr lang="en-US" dirty="0"/>
              <a:t>, especially in high-speed mobility scenarios.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Impact</a:t>
            </a:r>
          </a:p>
          <a:p>
            <a:r>
              <a:rPr lang="en-US" dirty="0">
                <a:solidFill>
                  <a:srgbClr val="FF0000"/>
                </a:solidFill>
              </a:rPr>
              <a:t>→ Distorted signal </a:t>
            </a:r>
            <a:r>
              <a:rPr lang="en-US" dirty="0">
                <a:solidFill>
                  <a:srgbClr val="0070C0"/>
                </a:solidFill>
              </a:rPr>
              <a:t>→ Synchronization errors </a:t>
            </a:r>
            <a:r>
              <a:rPr lang="en-US" dirty="0">
                <a:solidFill>
                  <a:srgbClr val="FF0000"/>
                </a:solidFill>
              </a:rPr>
              <a:t>→ </a:t>
            </a:r>
            <a:r>
              <a:rPr lang="en-US" b="1" dirty="0">
                <a:solidFill>
                  <a:srgbClr val="FF0000"/>
                </a:solidFill>
              </a:rPr>
              <a:t>Higher BER</a:t>
            </a:r>
            <a:endParaRPr lang="en-US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FDE76C02-C8DC-7688-3A30-AE61635DBB24}"/>
              </a:ext>
            </a:extLst>
          </p:cNvPr>
          <p:cNvSpPr txBox="1">
            <a:spLocks/>
          </p:cNvSpPr>
          <p:nvPr/>
        </p:nvSpPr>
        <p:spPr>
          <a:xfrm>
            <a:off x="352254" y="335001"/>
            <a:ext cx="7801146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8595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932B3-CA0F-0785-465B-3B2CF45C4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9F3DA21-0F59-E9B8-8AE2-C8FEAB53EC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72C8E57-475F-4E5B-B40B-5973D2A46384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sp>
        <p:nvSpPr>
          <p:cNvPr id="1884162" name="Rectangle 2">
            <a:extLst>
              <a:ext uri="{FF2B5EF4-FFF2-40B4-BE49-F238E27FC236}">
                <a16:creationId xmlns:a16="http://schemas.microsoft.com/office/drawing/2014/main" id="{90B79F3C-B6D7-2A65-7151-E3FE98D18B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3200400"/>
            <a:ext cx="6781799" cy="685800"/>
          </a:xfrm>
        </p:spPr>
        <p:txBody>
          <a:bodyPr/>
          <a:lstStyle/>
          <a:p>
            <a:r>
              <a:rPr lang="en-US" altLang="en-US" dirty="0">
                <a:solidFill>
                  <a:srgbClr val="0000FF"/>
                </a:solidFill>
              </a:rPr>
              <a:t>5. Broadcast Limitations at </a:t>
            </a:r>
            <a:r>
              <a:rPr lang="en-US" altLang="en-US" dirty="0"/>
              <a:t>Wireless Links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34145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1E448BC-6B01-C915-D2E2-EBCC7A4896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EDFC752-20D1-4E0F-94BE-4FEC6D8886A4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sp>
        <p:nvSpPr>
          <p:cNvPr id="1892354" name="Rectangle 2">
            <a:extLst>
              <a:ext uri="{FF2B5EF4-FFF2-40B4-BE49-F238E27FC236}">
                <a16:creationId xmlns:a16="http://schemas.microsoft.com/office/drawing/2014/main" id="{46731CC1-E303-809F-8224-E672D64F51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5.Wireless Links: Broadcast Limitations</a:t>
            </a:r>
          </a:p>
        </p:txBody>
      </p:sp>
      <p:sp>
        <p:nvSpPr>
          <p:cNvPr id="1892355" name="Rectangle 3">
            <a:extLst>
              <a:ext uri="{FF2B5EF4-FFF2-40B4-BE49-F238E27FC236}">
                <a16:creationId xmlns:a16="http://schemas.microsoft.com/office/drawing/2014/main" id="{7076DA41-5FAD-22FE-ED8D-801BEC2001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Wired broadcast links</a:t>
            </a:r>
          </a:p>
          <a:p>
            <a:pPr lvl="1"/>
            <a:r>
              <a:rPr lang="en-US" altLang="en-US" dirty="0"/>
              <a:t>E.g., Ethernet bridging, in wired LANs</a:t>
            </a:r>
          </a:p>
          <a:p>
            <a:pPr lvl="1"/>
            <a:r>
              <a:rPr lang="en-US" altLang="en-US" dirty="0"/>
              <a:t>All nodes receive transmissions from all other nodes</a:t>
            </a:r>
          </a:p>
          <a:p>
            <a:r>
              <a:rPr lang="en-US" altLang="en-US" dirty="0"/>
              <a:t>Wireless broadcast: hidden terminal problem</a:t>
            </a:r>
          </a:p>
        </p:txBody>
      </p:sp>
      <p:grpSp>
        <p:nvGrpSpPr>
          <p:cNvPr id="1892356" name="Group 4">
            <a:extLst>
              <a:ext uri="{FF2B5EF4-FFF2-40B4-BE49-F238E27FC236}">
                <a16:creationId xmlns:a16="http://schemas.microsoft.com/office/drawing/2014/main" id="{E11F213F-1C2E-9173-E976-1BA752BFD1D7}"/>
              </a:ext>
            </a:extLst>
          </p:cNvPr>
          <p:cNvGrpSpPr>
            <a:grpSpLocks/>
          </p:cNvGrpSpPr>
          <p:nvPr/>
        </p:nvGrpSpPr>
        <p:grpSpPr bwMode="auto">
          <a:xfrm>
            <a:off x="577850" y="3505200"/>
            <a:ext cx="4097338" cy="2803525"/>
            <a:chOff x="759" y="2008"/>
            <a:chExt cx="1962" cy="1018"/>
          </a:xfrm>
        </p:grpSpPr>
        <p:grpSp>
          <p:nvGrpSpPr>
            <p:cNvPr id="1892357" name="Group 5">
              <a:extLst>
                <a:ext uri="{FF2B5EF4-FFF2-40B4-BE49-F238E27FC236}">
                  <a16:creationId xmlns:a16="http://schemas.microsoft.com/office/drawing/2014/main" id="{98F6234B-678F-B52C-AE2C-59500EFEE3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9" y="2018"/>
              <a:ext cx="535" cy="466"/>
              <a:chOff x="2870" y="1518"/>
              <a:chExt cx="292" cy="320"/>
            </a:xfrm>
          </p:grpSpPr>
          <p:graphicFrame>
            <p:nvGraphicFramePr>
              <p:cNvPr id="1892358" name="Object 6">
                <a:extLst>
                  <a:ext uri="{FF2B5EF4-FFF2-40B4-BE49-F238E27FC236}">
                    <a16:creationId xmlns:a16="http://schemas.microsoft.com/office/drawing/2014/main" id="{22A3B322-1186-B373-908F-4A87E738C5A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3" imgW="819000" imgH="847800" progId="MS_ClipArt_Gallery.2">
                      <p:embed/>
                    </p:oleObj>
                  </mc:Choice>
                  <mc:Fallback>
                    <p:oleObj name="Clip" r:id="rId3" imgW="819000" imgH="847800" progId="MS_ClipArt_Gallery.2">
                      <p:embed/>
                      <p:pic>
                        <p:nvPicPr>
                          <p:cNvPr id="1892358" name="Object 6">
                            <a:extLst>
                              <a:ext uri="{FF2B5EF4-FFF2-40B4-BE49-F238E27FC236}">
                                <a16:creationId xmlns:a16="http://schemas.microsoft.com/office/drawing/2014/main" id="{22A3B322-1186-B373-908F-4A87E738C5A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92359" name="Object 7">
                <a:extLst>
                  <a:ext uri="{FF2B5EF4-FFF2-40B4-BE49-F238E27FC236}">
                    <a16:creationId xmlns:a16="http://schemas.microsoft.com/office/drawing/2014/main" id="{84A002C9-21C3-497E-2BB8-62B9EB8B359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5" imgW="1266840" imgH="1200240" progId="MS_ClipArt_Gallery.2">
                      <p:embed/>
                    </p:oleObj>
                  </mc:Choice>
                  <mc:Fallback>
                    <p:oleObj name="Clip" r:id="rId5" imgW="1266840" imgH="1200240" progId="MS_ClipArt_Gallery.2">
                      <p:embed/>
                      <p:pic>
                        <p:nvPicPr>
                          <p:cNvPr id="1892359" name="Object 7">
                            <a:extLst>
                              <a:ext uri="{FF2B5EF4-FFF2-40B4-BE49-F238E27FC236}">
                                <a16:creationId xmlns:a16="http://schemas.microsoft.com/office/drawing/2014/main" id="{84A002C9-21C3-497E-2BB8-62B9EB8B359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892360" name="Freeform 8">
              <a:extLst>
                <a:ext uri="{FF2B5EF4-FFF2-40B4-BE49-F238E27FC236}">
                  <a16:creationId xmlns:a16="http://schemas.microsoft.com/office/drawing/2014/main" id="{4AF3AF9D-8475-2545-86D2-68ECBB23D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" y="2008"/>
              <a:ext cx="1273" cy="684"/>
            </a:xfrm>
            <a:custGeom>
              <a:avLst/>
              <a:gdLst>
                <a:gd name="T0" fmla="*/ 9 w 1273"/>
                <a:gd name="T1" fmla="*/ 675 h 684"/>
                <a:gd name="T2" fmla="*/ 316 w 1273"/>
                <a:gd name="T3" fmla="*/ 0 h 684"/>
                <a:gd name="T4" fmla="*/ 461 w 1273"/>
                <a:gd name="T5" fmla="*/ 228 h 684"/>
                <a:gd name="T6" fmla="*/ 510 w 1273"/>
                <a:gd name="T7" fmla="*/ 119 h 684"/>
                <a:gd name="T8" fmla="*/ 631 w 1273"/>
                <a:gd name="T9" fmla="*/ 467 h 684"/>
                <a:gd name="T10" fmla="*/ 667 w 1273"/>
                <a:gd name="T11" fmla="*/ 391 h 684"/>
                <a:gd name="T12" fmla="*/ 739 w 1273"/>
                <a:gd name="T13" fmla="*/ 464 h 684"/>
                <a:gd name="T14" fmla="*/ 1058 w 1273"/>
                <a:gd name="T15" fmla="*/ 57 h 684"/>
                <a:gd name="T16" fmla="*/ 1273 w 1273"/>
                <a:gd name="T17" fmla="*/ 684 h 684"/>
                <a:gd name="T18" fmla="*/ 0 w 1273"/>
                <a:gd name="T19" fmla="*/ 674 h 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73" h="684">
                  <a:moveTo>
                    <a:pt x="9" y="675"/>
                  </a:moveTo>
                  <a:lnTo>
                    <a:pt x="316" y="0"/>
                  </a:lnTo>
                  <a:lnTo>
                    <a:pt x="461" y="228"/>
                  </a:lnTo>
                  <a:lnTo>
                    <a:pt x="510" y="119"/>
                  </a:lnTo>
                  <a:lnTo>
                    <a:pt x="631" y="467"/>
                  </a:lnTo>
                  <a:lnTo>
                    <a:pt x="667" y="391"/>
                  </a:lnTo>
                  <a:lnTo>
                    <a:pt x="739" y="464"/>
                  </a:lnTo>
                  <a:lnTo>
                    <a:pt x="1058" y="57"/>
                  </a:lnTo>
                  <a:lnTo>
                    <a:pt x="1273" y="684"/>
                  </a:lnTo>
                  <a:lnTo>
                    <a:pt x="0" y="674"/>
                  </a:lnTo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00CC66"/>
                </a:gs>
              </a:gsLst>
              <a:lin ang="5400000" scaled="1"/>
            </a:gra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grpSp>
          <p:nvGrpSpPr>
            <p:cNvPr id="1892361" name="Group 9">
              <a:extLst>
                <a:ext uri="{FF2B5EF4-FFF2-40B4-BE49-F238E27FC236}">
                  <a16:creationId xmlns:a16="http://schemas.microsoft.com/office/drawing/2014/main" id="{BA334B6B-35CF-B8D3-CBAC-7566DA0BBE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3" y="2587"/>
              <a:ext cx="482" cy="439"/>
              <a:chOff x="2870" y="1518"/>
              <a:chExt cx="292" cy="320"/>
            </a:xfrm>
          </p:grpSpPr>
          <p:graphicFrame>
            <p:nvGraphicFramePr>
              <p:cNvPr id="1892362" name="Object 10">
                <a:extLst>
                  <a:ext uri="{FF2B5EF4-FFF2-40B4-BE49-F238E27FC236}">
                    <a16:creationId xmlns:a16="http://schemas.microsoft.com/office/drawing/2014/main" id="{2C3189AF-F00F-8E6C-3265-34AF5207024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3" imgW="819000" imgH="847800" progId="MS_ClipArt_Gallery.2">
                      <p:embed/>
                    </p:oleObj>
                  </mc:Choice>
                  <mc:Fallback>
                    <p:oleObj name="Clip" r:id="rId3" imgW="819000" imgH="847800" progId="MS_ClipArt_Gallery.2">
                      <p:embed/>
                      <p:pic>
                        <p:nvPicPr>
                          <p:cNvPr id="1892362" name="Object 10">
                            <a:extLst>
                              <a:ext uri="{FF2B5EF4-FFF2-40B4-BE49-F238E27FC236}">
                                <a16:creationId xmlns:a16="http://schemas.microsoft.com/office/drawing/2014/main" id="{2C3189AF-F00F-8E6C-3265-34AF5207024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92363" name="Object 11">
                <a:extLst>
                  <a:ext uri="{FF2B5EF4-FFF2-40B4-BE49-F238E27FC236}">
                    <a16:creationId xmlns:a16="http://schemas.microsoft.com/office/drawing/2014/main" id="{9A9D8339-E0E7-60AA-8ED1-A1284F9EF56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5" imgW="1266840" imgH="1200240" progId="MS_ClipArt_Gallery.2">
                      <p:embed/>
                    </p:oleObj>
                  </mc:Choice>
                  <mc:Fallback>
                    <p:oleObj name="Clip" r:id="rId5" imgW="1266840" imgH="1200240" progId="MS_ClipArt_Gallery.2">
                      <p:embed/>
                      <p:pic>
                        <p:nvPicPr>
                          <p:cNvPr id="1892363" name="Object 11">
                            <a:extLst>
                              <a:ext uri="{FF2B5EF4-FFF2-40B4-BE49-F238E27FC236}">
                                <a16:creationId xmlns:a16="http://schemas.microsoft.com/office/drawing/2014/main" id="{9A9D8339-E0E7-60AA-8ED1-A1284F9EF56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892364" name="Group 12">
              <a:extLst>
                <a:ext uri="{FF2B5EF4-FFF2-40B4-BE49-F238E27FC236}">
                  <a16:creationId xmlns:a16="http://schemas.microsoft.com/office/drawing/2014/main" id="{A2C3E05E-46D3-61C4-C08A-F81BC02782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4" y="2391"/>
              <a:ext cx="482" cy="439"/>
              <a:chOff x="2870" y="1518"/>
              <a:chExt cx="292" cy="320"/>
            </a:xfrm>
          </p:grpSpPr>
          <p:graphicFrame>
            <p:nvGraphicFramePr>
              <p:cNvPr id="1892365" name="Object 13">
                <a:extLst>
                  <a:ext uri="{FF2B5EF4-FFF2-40B4-BE49-F238E27FC236}">
                    <a16:creationId xmlns:a16="http://schemas.microsoft.com/office/drawing/2014/main" id="{53AAFADD-B5BE-53E4-55EA-0E0849C61C1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3" imgW="819000" imgH="847800" progId="MS_ClipArt_Gallery.2">
                      <p:embed/>
                    </p:oleObj>
                  </mc:Choice>
                  <mc:Fallback>
                    <p:oleObj name="Clip" r:id="rId3" imgW="819000" imgH="847800" progId="MS_ClipArt_Gallery.2">
                      <p:embed/>
                      <p:pic>
                        <p:nvPicPr>
                          <p:cNvPr id="1892365" name="Object 13">
                            <a:extLst>
                              <a:ext uri="{FF2B5EF4-FFF2-40B4-BE49-F238E27FC236}">
                                <a16:creationId xmlns:a16="http://schemas.microsoft.com/office/drawing/2014/main" id="{53AAFADD-B5BE-53E4-55EA-0E0849C61C1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92366" name="Object 14">
                <a:extLst>
                  <a:ext uri="{FF2B5EF4-FFF2-40B4-BE49-F238E27FC236}">
                    <a16:creationId xmlns:a16="http://schemas.microsoft.com/office/drawing/2014/main" id="{52F9CC1B-237A-F2E1-84D5-666A2BDC176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5" imgW="1266840" imgH="1200240" progId="MS_ClipArt_Gallery.2">
                      <p:embed/>
                    </p:oleObj>
                  </mc:Choice>
                  <mc:Fallback>
                    <p:oleObj name="Clip" r:id="rId5" imgW="1266840" imgH="1200240" progId="MS_ClipArt_Gallery.2">
                      <p:embed/>
                      <p:pic>
                        <p:nvPicPr>
                          <p:cNvPr id="1892366" name="Object 14">
                            <a:extLst>
                              <a:ext uri="{FF2B5EF4-FFF2-40B4-BE49-F238E27FC236}">
                                <a16:creationId xmlns:a16="http://schemas.microsoft.com/office/drawing/2014/main" id="{52F9CC1B-237A-F2E1-84D5-666A2BDC176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892367" name="Line 15">
              <a:extLst>
                <a:ext uri="{FF2B5EF4-FFF2-40B4-BE49-F238E27FC236}">
                  <a16:creationId xmlns:a16="http://schemas.microsoft.com/office/drawing/2014/main" id="{4CD22F81-E7FB-A679-6E6B-1E73B1AC01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61" y="2773"/>
              <a:ext cx="629" cy="10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92368" name="Line 16">
              <a:extLst>
                <a:ext uri="{FF2B5EF4-FFF2-40B4-BE49-F238E27FC236}">
                  <a16:creationId xmlns:a16="http://schemas.microsoft.com/office/drawing/2014/main" id="{5E09C8C8-FB0C-E913-E19A-FF9CADDB67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5" y="2471"/>
              <a:ext cx="257" cy="20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92369" name="Text Box 17">
              <a:extLst>
                <a:ext uri="{FF2B5EF4-FFF2-40B4-BE49-F238E27FC236}">
                  <a16:creationId xmlns:a16="http://schemas.microsoft.com/office/drawing/2014/main" id="{C9C219F0-2896-F63D-FAD9-290345067C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6" y="2705"/>
              <a:ext cx="168" cy="1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A</a:t>
              </a:r>
            </a:p>
          </p:txBody>
        </p:sp>
        <p:sp>
          <p:nvSpPr>
            <p:cNvPr id="1892370" name="Text Box 18">
              <a:extLst>
                <a:ext uri="{FF2B5EF4-FFF2-40B4-BE49-F238E27FC236}">
                  <a16:creationId xmlns:a16="http://schemas.microsoft.com/office/drawing/2014/main" id="{1A675306-65EB-549B-112A-FD3F778E10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4" y="2562"/>
              <a:ext cx="157" cy="1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B</a:t>
              </a:r>
            </a:p>
          </p:txBody>
        </p:sp>
        <p:sp>
          <p:nvSpPr>
            <p:cNvPr id="1892371" name="Text Box 19">
              <a:extLst>
                <a:ext uri="{FF2B5EF4-FFF2-40B4-BE49-F238E27FC236}">
                  <a16:creationId xmlns:a16="http://schemas.microsoft.com/office/drawing/2014/main" id="{B7E5305B-4174-BF0C-F53F-072463B30E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4" y="2118"/>
              <a:ext cx="154" cy="1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C</a:t>
              </a:r>
            </a:p>
          </p:txBody>
        </p:sp>
      </p:grpSp>
      <p:sp>
        <p:nvSpPr>
          <p:cNvPr id="1892373" name="Text Box 21">
            <a:extLst>
              <a:ext uri="{FF2B5EF4-FFF2-40B4-BE49-F238E27FC236}">
                <a16:creationId xmlns:a16="http://schemas.microsoft.com/office/drawing/2014/main" id="{411EBCDC-2469-7A88-FFC2-D660D879C4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25" y="3736975"/>
            <a:ext cx="3833813" cy="2320925"/>
          </a:xfrm>
          <a:prstGeom prst="rect">
            <a:avLst/>
          </a:prstGeom>
          <a:solidFill>
            <a:srgbClr val="CCFFFF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rPr>
              <a:t>A and B hear each other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rPr>
              <a:t>B and C hear each other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rPr>
              <a:t>But, A and C do not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rPr>
              <a:t>So, A and C are unaware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rPr>
              <a:t>of their interference at B.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14FB1D41-DB5A-A03E-D8DB-7FCF6C6184A4}"/>
              </a:ext>
            </a:extLst>
          </p:cNvPr>
          <p:cNvSpPr txBox="1">
            <a:spLocks/>
          </p:cNvSpPr>
          <p:nvPr/>
        </p:nvSpPr>
        <p:spPr>
          <a:xfrm>
            <a:off x="352254" y="335001"/>
            <a:ext cx="7801146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46BCB34-DD10-21E0-FF5F-7B401D8025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3635F44-0182-4976-8CF3-A4F06FA64A92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sp>
        <p:nvSpPr>
          <p:cNvPr id="1894402" name="Rectangle 2">
            <a:extLst>
              <a:ext uri="{FF2B5EF4-FFF2-40B4-BE49-F238E27FC236}">
                <a16:creationId xmlns:a16="http://schemas.microsoft.com/office/drawing/2014/main" id="{A4C554CC-1717-8053-240A-220FD55EAE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5.Wireless Links: Broadcast Limitations</a:t>
            </a:r>
          </a:p>
        </p:txBody>
      </p:sp>
      <p:sp>
        <p:nvSpPr>
          <p:cNvPr id="1894403" name="Rectangle 3">
            <a:extLst>
              <a:ext uri="{FF2B5EF4-FFF2-40B4-BE49-F238E27FC236}">
                <a16:creationId xmlns:a16="http://schemas.microsoft.com/office/drawing/2014/main" id="{2C63844F-5FC9-ACF5-E744-70F9F5D58D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Wired broadcast links</a:t>
            </a:r>
          </a:p>
          <a:p>
            <a:pPr lvl="1"/>
            <a:r>
              <a:rPr lang="en-US" altLang="en-US"/>
              <a:t>E.g., Ethernet bridging, in wired LANs</a:t>
            </a:r>
          </a:p>
          <a:p>
            <a:pPr lvl="1"/>
            <a:r>
              <a:rPr lang="en-US" altLang="en-US"/>
              <a:t>All nodes receive transmissions from all other nodes</a:t>
            </a:r>
          </a:p>
          <a:p>
            <a:r>
              <a:rPr lang="en-US" altLang="en-US"/>
              <a:t>Wireless broadcast: fading over distance</a:t>
            </a:r>
          </a:p>
        </p:txBody>
      </p:sp>
      <p:grpSp>
        <p:nvGrpSpPr>
          <p:cNvPr id="1894421" name="Group 21">
            <a:extLst>
              <a:ext uri="{FF2B5EF4-FFF2-40B4-BE49-F238E27FC236}">
                <a16:creationId xmlns:a16="http://schemas.microsoft.com/office/drawing/2014/main" id="{F34E039D-8E98-277F-99C4-976FEE3A4903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3621088"/>
            <a:ext cx="4243388" cy="2754312"/>
            <a:chOff x="3264" y="1698"/>
            <a:chExt cx="2176" cy="1404"/>
          </a:xfrm>
        </p:grpSpPr>
        <p:grpSp>
          <p:nvGrpSpPr>
            <p:cNvPr id="1894422" name="Group 22">
              <a:extLst>
                <a:ext uri="{FF2B5EF4-FFF2-40B4-BE49-F238E27FC236}">
                  <a16:creationId xmlns:a16="http://schemas.microsoft.com/office/drawing/2014/main" id="{5B739383-CD77-4E94-085E-4892E4895D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4" y="1698"/>
              <a:ext cx="2113" cy="455"/>
              <a:chOff x="3256" y="1911"/>
              <a:chExt cx="2113" cy="455"/>
            </a:xfrm>
          </p:grpSpPr>
          <p:grpSp>
            <p:nvGrpSpPr>
              <p:cNvPr id="1894423" name="Group 23">
                <a:extLst>
                  <a:ext uri="{FF2B5EF4-FFF2-40B4-BE49-F238E27FC236}">
                    <a16:creationId xmlns:a16="http://schemas.microsoft.com/office/drawing/2014/main" id="{83DE5953-BB62-1AD6-EDC0-1F875A476C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03" y="1911"/>
                <a:ext cx="482" cy="439"/>
                <a:chOff x="2870" y="1518"/>
                <a:chExt cx="292" cy="320"/>
              </a:xfrm>
            </p:grpSpPr>
            <p:graphicFrame>
              <p:nvGraphicFramePr>
                <p:cNvPr id="1894424" name="Object 24">
                  <a:extLst>
                    <a:ext uri="{FF2B5EF4-FFF2-40B4-BE49-F238E27FC236}">
                      <a16:creationId xmlns:a16="http://schemas.microsoft.com/office/drawing/2014/main" id="{C006213E-373D-EE2E-71A1-0F7BCBB6756A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3" imgW="819000" imgH="847800" progId="MS_ClipArt_Gallery.2">
                        <p:embed/>
                      </p:oleObj>
                    </mc:Choice>
                    <mc:Fallback>
                      <p:oleObj name="Clip" r:id="rId3" imgW="819000" imgH="847800" progId="MS_ClipArt_Gallery.2">
                        <p:embed/>
                        <p:pic>
                          <p:nvPicPr>
                            <p:cNvPr id="1894424" name="Object 24">
                              <a:extLst>
                                <a:ext uri="{FF2B5EF4-FFF2-40B4-BE49-F238E27FC236}">
                                  <a16:creationId xmlns:a16="http://schemas.microsoft.com/office/drawing/2014/main" id="{C006213E-373D-EE2E-71A1-0F7BCBB6756A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70" y="1518"/>
                              <a:ext cx="272" cy="2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894425" name="Object 25">
                  <a:extLst>
                    <a:ext uri="{FF2B5EF4-FFF2-40B4-BE49-F238E27FC236}">
                      <a16:creationId xmlns:a16="http://schemas.microsoft.com/office/drawing/2014/main" id="{67575694-EF92-9938-EB46-47A622D04659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5" imgW="1266840" imgH="1200240" progId="MS_ClipArt_Gallery.2">
                        <p:embed/>
                      </p:oleObj>
                    </mc:Choice>
                    <mc:Fallback>
                      <p:oleObj name="Clip" r:id="rId5" imgW="1266840" imgH="1200240" progId="MS_ClipArt_Gallery.2">
                        <p:embed/>
                        <p:pic>
                          <p:nvPicPr>
                            <p:cNvPr id="1894425" name="Object 25">
                              <a:extLst>
                                <a:ext uri="{FF2B5EF4-FFF2-40B4-BE49-F238E27FC236}">
                                  <a16:creationId xmlns:a16="http://schemas.microsoft.com/office/drawing/2014/main" id="{67575694-EF92-9938-EB46-47A622D04659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13" y="1602"/>
                              <a:ext cx="249" cy="2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894426" name="Group 26">
                <a:extLst>
                  <a:ext uri="{FF2B5EF4-FFF2-40B4-BE49-F238E27FC236}">
                    <a16:creationId xmlns:a16="http://schemas.microsoft.com/office/drawing/2014/main" id="{A4B3296D-E214-0B94-E11E-B0B6C7CA73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37" y="1919"/>
                <a:ext cx="482" cy="439"/>
                <a:chOff x="2870" y="1518"/>
                <a:chExt cx="292" cy="320"/>
              </a:xfrm>
            </p:grpSpPr>
            <p:graphicFrame>
              <p:nvGraphicFramePr>
                <p:cNvPr id="1894427" name="Object 27">
                  <a:extLst>
                    <a:ext uri="{FF2B5EF4-FFF2-40B4-BE49-F238E27FC236}">
                      <a16:creationId xmlns:a16="http://schemas.microsoft.com/office/drawing/2014/main" id="{D2F99B18-47E3-D1D7-7321-754BD445F52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3" imgW="819000" imgH="847800" progId="MS_ClipArt_Gallery.2">
                        <p:embed/>
                      </p:oleObj>
                    </mc:Choice>
                    <mc:Fallback>
                      <p:oleObj name="Clip" r:id="rId3" imgW="819000" imgH="847800" progId="MS_ClipArt_Gallery.2">
                        <p:embed/>
                        <p:pic>
                          <p:nvPicPr>
                            <p:cNvPr id="1894427" name="Object 27">
                              <a:extLst>
                                <a:ext uri="{FF2B5EF4-FFF2-40B4-BE49-F238E27FC236}">
                                  <a16:creationId xmlns:a16="http://schemas.microsoft.com/office/drawing/2014/main" id="{D2F99B18-47E3-D1D7-7321-754BD445F523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70" y="1518"/>
                              <a:ext cx="272" cy="2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894428" name="Object 28">
                  <a:extLst>
                    <a:ext uri="{FF2B5EF4-FFF2-40B4-BE49-F238E27FC236}">
                      <a16:creationId xmlns:a16="http://schemas.microsoft.com/office/drawing/2014/main" id="{E433DD25-310B-E00B-B260-7C34C35EC33E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5" imgW="1266840" imgH="1200240" progId="MS_ClipArt_Gallery.2">
                        <p:embed/>
                      </p:oleObj>
                    </mc:Choice>
                    <mc:Fallback>
                      <p:oleObj name="Clip" r:id="rId5" imgW="1266840" imgH="1200240" progId="MS_ClipArt_Gallery.2">
                        <p:embed/>
                        <p:pic>
                          <p:nvPicPr>
                            <p:cNvPr id="1894428" name="Object 28">
                              <a:extLst>
                                <a:ext uri="{FF2B5EF4-FFF2-40B4-BE49-F238E27FC236}">
                                  <a16:creationId xmlns:a16="http://schemas.microsoft.com/office/drawing/2014/main" id="{E433DD25-310B-E00B-B260-7C34C35EC33E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13" y="1602"/>
                              <a:ext cx="249" cy="2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894429" name="Text Box 29">
                <a:extLst>
                  <a:ext uri="{FF2B5EF4-FFF2-40B4-BE49-F238E27FC236}">
                    <a16:creationId xmlns:a16="http://schemas.microsoft.com/office/drawing/2014/main" id="{E7F77B50-3A35-4851-6E30-62A3893DB1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56" y="2029"/>
                <a:ext cx="180" cy="1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Arial"/>
                  </a:rPr>
                  <a:t>A</a:t>
                </a:r>
              </a:p>
            </p:txBody>
          </p:sp>
          <p:sp>
            <p:nvSpPr>
              <p:cNvPr id="1894430" name="Text Box 30">
                <a:extLst>
                  <a:ext uri="{FF2B5EF4-FFF2-40B4-BE49-F238E27FC236}">
                    <a16:creationId xmlns:a16="http://schemas.microsoft.com/office/drawing/2014/main" id="{D881BD06-C470-608A-885C-88D2B256D6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59" y="2027"/>
                <a:ext cx="207" cy="1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Arial"/>
                  </a:rPr>
                  <a:t>B</a:t>
                </a:r>
              </a:p>
            </p:txBody>
          </p:sp>
          <p:sp>
            <p:nvSpPr>
              <p:cNvPr id="1894431" name="Text Box 31">
                <a:extLst>
                  <a:ext uri="{FF2B5EF4-FFF2-40B4-BE49-F238E27FC236}">
                    <a16:creationId xmlns:a16="http://schemas.microsoft.com/office/drawing/2014/main" id="{C3E5AFEA-BAC0-5DC7-6E52-47C95217BE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03" y="2054"/>
                <a:ext cx="166" cy="1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Arial"/>
                  </a:rPr>
                  <a:t>C</a:t>
                </a:r>
              </a:p>
            </p:txBody>
          </p:sp>
          <p:grpSp>
            <p:nvGrpSpPr>
              <p:cNvPr id="1894432" name="Group 32">
                <a:extLst>
                  <a:ext uri="{FF2B5EF4-FFF2-40B4-BE49-F238E27FC236}">
                    <a16:creationId xmlns:a16="http://schemas.microsoft.com/office/drawing/2014/main" id="{3CF3C30D-0E04-2F10-0CCF-DCFE5CD4C4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26" y="1927"/>
                <a:ext cx="482" cy="439"/>
                <a:chOff x="2870" y="1518"/>
                <a:chExt cx="292" cy="320"/>
              </a:xfrm>
            </p:grpSpPr>
            <p:graphicFrame>
              <p:nvGraphicFramePr>
                <p:cNvPr id="1894433" name="Object 33">
                  <a:extLst>
                    <a:ext uri="{FF2B5EF4-FFF2-40B4-BE49-F238E27FC236}">
                      <a16:creationId xmlns:a16="http://schemas.microsoft.com/office/drawing/2014/main" id="{A1D5FFC0-56EA-07C2-FBB6-4D5BAD1E1746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3" imgW="819000" imgH="847800" progId="MS_ClipArt_Gallery.2">
                        <p:embed/>
                      </p:oleObj>
                    </mc:Choice>
                    <mc:Fallback>
                      <p:oleObj name="Clip" r:id="rId3" imgW="819000" imgH="847800" progId="MS_ClipArt_Gallery.2">
                        <p:embed/>
                        <p:pic>
                          <p:nvPicPr>
                            <p:cNvPr id="1894433" name="Object 33">
                              <a:extLst>
                                <a:ext uri="{FF2B5EF4-FFF2-40B4-BE49-F238E27FC236}">
                                  <a16:creationId xmlns:a16="http://schemas.microsoft.com/office/drawing/2014/main" id="{A1D5FFC0-56EA-07C2-FBB6-4D5BAD1E1746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70" y="1518"/>
                              <a:ext cx="272" cy="2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894434" name="Object 34">
                  <a:extLst>
                    <a:ext uri="{FF2B5EF4-FFF2-40B4-BE49-F238E27FC236}">
                      <a16:creationId xmlns:a16="http://schemas.microsoft.com/office/drawing/2014/main" id="{AD5F44A9-A2B0-DA74-3C52-250F52BB731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7" imgW="1266840" imgH="1200240" progId="MS_ClipArt_Gallery.2">
                        <p:embed/>
                      </p:oleObj>
                    </mc:Choice>
                    <mc:Fallback>
                      <p:oleObj name="Clip" r:id="rId7" imgW="1266840" imgH="1200240" progId="MS_ClipArt_Gallery.2">
                        <p:embed/>
                        <p:pic>
                          <p:nvPicPr>
                            <p:cNvPr id="1894434" name="Object 34">
                              <a:extLst>
                                <a:ext uri="{FF2B5EF4-FFF2-40B4-BE49-F238E27FC236}">
                                  <a16:creationId xmlns:a16="http://schemas.microsoft.com/office/drawing/2014/main" id="{AD5F44A9-A2B0-DA74-3C52-250F52BB7315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13" y="1602"/>
                              <a:ext cx="249" cy="2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1894435" name="Text Box 35">
              <a:extLst>
                <a:ext uri="{FF2B5EF4-FFF2-40B4-BE49-F238E27FC236}">
                  <a16:creationId xmlns:a16="http://schemas.microsoft.com/office/drawing/2014/main" id="{CA49AB35-31E4-791B-0288-D225051AF0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0" y="2337"/>
              <a:ext cx="487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A’s signal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strength</a:t>
              </a:r>
            </a:p>
          </p:txBody>
        </p:sp>
        <p:sp>
          <p:nvSpPr>
            <p:cNvPr id="1894436" name="Line 36">
              <a:extLst>
                <a:ext uri="{FF2B5EF4-FFF2-40B4-BE49-F238E27FC236}">
                  <a16:creationId xmlns:a16="http://schemas.microsoft.com/office/drawing/2014/main" id="{A4C43F4A-C24C-1957-D601-5FB570AF1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9" y="2985"/>
              <a:ext cx="2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94437" name="Line 37">
              <a:extLst>
                <a:ext uri="{FF2B5EF4-FFF2-40B4-BE49-F238E27FC236}">
                  <a16:creationId xmlns:a16="http://schemas.microsoft.com/office/drawing/2014/main" id="{713EEFE2-FE71-B88B-F2D2-002361C693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5" y="2242"/>
              <a:ext cx="0" cy="7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94438" name="Freeform 38">
              <a:extLst>
                <a:ext uri="{FF2B5EF4-FFF2-40B4-BE49-F238E27FC236}">
                  <a16:creationId xmlns:a16="http://schemas.microsoft.com/office/drawing/2014/main" id="{B2989C8A-84FF-F918-89F5-3BCE7EACF9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7" y="2277"/>
              <a:ext cx="1887" cy="681"/>
            </a:xfrm>
            <a:custGeom>
              <a:avLst/>
              <a:gdLst>
                <a:gd name="T0" fmla="*/ 0 w 1887"/>
                <a:gd name="T1" fmla="*/ 0 h 681"/>
                <a:gd name="T2" fmla="*/ 966 w 1887"/>
                <a:gd name="T3" fmla="*/ 151 h 681"/>
                <a:gd name="T4" fmla="*/ 1373 w 1887"/>
                <a:gd name="T5" fmla="*/ 594 h 681"/>
                <a:gd name="T6" fmla="*/ 1887 w 1887"/>
                <a:gd name="T7" fmla="*/ 673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87" h="681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94439" name="Text Box 39">
              <a:extLst>
                <a:ext uri="{FF2B5EF4-FFF2-40B4-BE49-F238E27FC236}">
                  <a16:creationId xmlns:a16="http://schemas.microsoft.com/office/drawing/2014/main" id="{2593A3A7-4663-5CA4-AEE5-4B5BDFE7B2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8" y="2962"/>
              <a:ext cx="297" cy="1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space</a:t>
              </a:r>
            </a:p>
          </p:txBody>
        </p:sp>
        <p:sp>
          <p:nvSpPr>
            <p:cNvPr id="1894440" name="Freeform 40">
              <a:extLst>
                <a:ext uri="{FF2B5EF4-FFF2-40B4-BE49-F238E27FC236}">
                  <a16:creationId xmlns:a16="http://schemas.microsoft.com/office/drawing/2014/main" id="{1C16E7A0-3B13-DB46-50A1-866FCECF6FB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427" y="2258"/>
              <a:ext cx="1887" cy="681"/>
            </a:xfrm>
            <a:custGeom>
              <a:avLst/>
              <a:gdLst>
                <a:gd name="T0" fmla="*/ 0 w 1887"/>
                <a:gd name="T1" fmla="*/ 0 h 681"/>
                <a:gd name="T2" fmla="*/ 966 w 1887"/>
                <a:gd name="T3" fmla="*/ 151 h 681"/>
                <a:gd name="T4" fmla="*/ 1373 w 1887"/>
                <a:gd name="T5" fmla="*/ 594 h 681"/>
                <a:gd name="T6" fmla="*/ 1887 w 1887"/>
                <a:gd name="T7" fmla="*/ 673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87" h="681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94441" name="Text Box 41">
              <a:extLst>
                <a:ext uri="{FF2B5EF4-FFF2-40B4-BE49-F238E27FC236}">
                  <a16:creationId xmlns:a16="http://schemas.microsoft.com/office/drawing/2014/main" id="{74CC5F37-F75C-176D-9D21-B254475472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5" y="2292"/>
              <a:ext cx="475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C’s signal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strength</a:t>
              </a:r>
            </a:p>
          </p:txBody>
        </p:sp>
        <p:sp>
          <p:nvSpPr>
            <p:cNvPr id="1894442" name="Line 42">
              <a:extLst>
                <a:ext uri="{FF2B5EF4-FFF2-40B4-BE49-F238E27FC236}">
                  <a16:creationId xmlns:a16="http://schemas.microsoft.com/office/drawing/2014/main" id="{ADB69346-F53C-95BD-559F-920D047BB5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4" y="2171"/>
              <a:ext cx="17" cy="7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94443" name="Line 43">
              <a:extLst>
                <a:ext uri="{FF2B5EF4-FFF2-40B4-BE49-F238E27FC236}">
                  <a16:creationId xmlns:a16="http://schemas.microsoft.com/office/drawing/2014/main" id="{0F48DDE2-4E91-83B5-5000-38BB79F5F5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3" y="2214"/>
              <a:ext cx="0" cy="7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94444" name="Line 44">
              <a:extLst>
                <a:ext uri="{FF2B5EF4-FFF2-40B4-BE49-F238E27FC236}">
                  <a16:creationId xmlns:a16="http://schemas.microsoft.com/office/drawing/2014/main" id="{92E67486-AC3D-E3F4-77AF-A598BFDE8E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4" y="2204"/>
              <a:ext cx="0" cy="7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</p:grpSp>
      <p:sp>
        <p:nvSpPr>
          <p:cNvPr id="1894446" name="Text Box 46">
            <a:extLst>
              <a:ext uri="{FF2B5EF4-FFF2-40B4-BE49-F238E27FC236}">
                <a16:creationId xmlns:a16="http://schemas.microsoft.com/office/drawing/2014/main" id="{CEE18B66-3007-A2E7-3451-5D7A763C8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75" y="3795713"/>
            <a:ext cx="3833813" cy="2320925"/>
          </a:xfrm>
          <a:prstGeom prst="rect">
            <a:avLst/>
          </a:prstGeom>
          <a:solidFill>
            <a:srgbClr val="CCFFFF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rPr>
              <a:t>A and B hear each other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rPr>
              <a:t>B and C hear each other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rPr>
              <a:t>But, A and C do not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rPr>
              <a:t>So, A and C are unaware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rPr>
              <a:t>of their interference at B.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7E16DDDD-999B-B150-606C-8084E605C5AD}"/>
              </a:ext>
            </a:extLst>
          </p:cNvPr>
          <p:cNvSpPr txBox="1">
            <a:spLocks/>
          </p:cNvSpPr>
          <p:nvPr/>
        </p:nvSpPr>
        <p:spPr>
          <a:xfrm>
            <a:off x="352254" y="335001"/>
            <a:ext cx="7801146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54C9A-355D-010C-E0AD-B302882D3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8554AF7-5627-7304-B5FA-B2B5311A41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3635F44-0182-4976-8CF3-A4F06FA64A92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sp>
        <p:nvSpPr>
          <p:cNvPr id="1894402" name="Rectangle 2">
            <a:extLst>
              <a:ext uri="{FF2B5EF4-FFF2-40B4-BE49-F238E27FC236}">
                <a16:creationId xmlns:a16="http://schemas.microsoft.com/office/drawing/2014/main" id="{9DDA7FA9-AFD3-9E83-F957-5FDD501F3F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5.Wireless Links: Broadcast Limitations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D5123B3-0D78-BAE3-F4D0-4787017BF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374" y="1373379"/>
            <a:ext cx="835125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Why is this a problem in wireless networks?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8" name="Group 21">
            <a:extLst>
              <a:ext uri="{FF2B5EF4-FFF2-40B4-BE49-F238E27FC236}">
                <a16:creationId xmlns:a16="http://schemas.microsoft.com/office/drawing/2014/main" id="{FA59A792-BC56-1EEF-5B60-7556646BB25B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3511582"/>
            <a:ext cx="4243388" cy="2754312"/>
            <a:chOff x="3264" y="1698"/>
            <a:chExt cx="2176" cy="1404"/>
          </a:xfrm>
        </p:grpSpPr>
        <p:grpSp>
          <p:nvGrpSpPr>
            <p:cNvPr id="9" name="Group 22">
              <a:extLst>
                <a:ext uri="{FF2B5EF4-FFF2-40B4-BE49-F238E27FC236}">
                  <a16:creationId xmlns:a16="http://schemas.microsoft.com/office/drawing/2014/main" id="{6923772E-4CCD-1642-8A64-6F4A88EB8E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4" y="1698"/>
              <a:ext cx="2113" cy="455"/>
              <a:chOff x="3256" y="1911"/>
              <a:chExt cx="2113" cy="455"/>
            </a:xfrm>
          </p:grpSpPr>
          <p:grpSp>
            <p:nvGrpSpPr>
              <p:cNvPr id="20" name="Group 23">
                <a:extLst>
                  <a:ext uri="{FF2B5EF4-FFF2-40B4-BE49-F238E27FC236}">
                    <a16:creationId xmlns:a16="http://schemas.microsoft.com/office/drawing/2014/main" id="{6523B18C-C24A-79CF-685E-B0DFDF4212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03" y="1911"/>
                <a:ext cx="482" cy="439"/>
                <a:chOff x="2870" y="1518"/>
                <a:chExt cx="292" cy="320"/>
              </a:xfrm>
            </p:grpSpPr>
            <p:graphicFrame>
              <p:nvGraphicFramePr>
                <p:cNvPr id="30" name="Object 24">
                  <a:extLst>
                    <a:ext uri="{FF2B5EF4-FFF2-40B4-BE49-F238E27FC236}">
                      <a16:creationId xmlns:a16="http://schemas.microsoft.com/office/drawing/2014/main" id="{715C0D1B-32D7-AAD2-A6A9-47589791695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3" imgW="819000" imgH="847800" progId="MS_ClipArt_Gallery.2">
                        <p:embed/>
                      </p:oleObj>
                    </mc:Choice>
                    <mc:Fallback>
                      <p:oleObj name="Clip" r:id="rId3" imgW="819000" imgH="847800" progId="MS_ClipArt_Gallery.2">
                        <p:embed/>
                        <p:pic>
                          <p:nvPicPr>
                            <p:cNvPr id="30" name="Object 24">
                              <a:extLst>
                                <a:ext uri="{FF2B5EF4-FFF2-40B4-BE49-F238E27FC236}">
                                  <a16:creationId xmlns:a16="http://schemas.microsoft.com/office/drawing/2014/main" id="{715C0D1B-32D7-AAD2-A6A9-475897916955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70" y="1518"/>
                              <a:ext cx="272" cy="2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1" name="Object 25">
                  <a:extLst>
                    <a:ext uri="{FF2B5EF4-FFF2-40B4-BE49-F238E27FC236}">
                      <a16:creationId xmlns:a16="http://schemas.microsoft.com/office/drawing/2014/main" id="{A4187C71-A8F9-2810-6520-1B9FD3280E0B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5" imgW="1266840" imgH="1200240" progId="MS_ClipArt_Gallery.2">
                        <p:embed/>
                      </p:oleObj>
                    </mc:Choice>
                    <mc:Fallback>
                      <p:oleObj name="Clip" r:id="rId5" imgW="1266840" imgH="1200240" progId="MS_ClipArt_Gallery.2">
                        <p:embed/>
                        <p:pic>
                          <p:nvPicPr>
                            <p:cNvPr id="31" name="Object 25">
                              <a:extLst>
                                <a:ext uri="{FF2B5EF4-FFF2-40B4-BE49-F238E27FC236}">
                                  <a16:creationId xmlns:a16="http://schemas.microsoft.com/office/drawing/2014/main" id="{A4187C71-A8F9-2810-6520-1B9FD3280E0B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13" y="1602"/>
                              <a:ext cx="249" cy="2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1" name="Group 26">
                <a:extLst>
                  <a:ext uri="{FF2B5EF4-FFF2-40B4-BE49-F238E27FC236}">
                    <a16:creationId xmlns:a16="http://schemas.microsoft.com/office/drawing/2014/main" id="{2C57CDB0-F124-130C-1AC6-562E1C8FF1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37" y="1919"/>
                <a:ext cx="482" cy="439"/>
                <a:chOff x="2870" y="1518"/>
                <a:chExt cx="292" cy="320"/>
              </a:xfrm>
            </p:grpSpPr>
            <p:graphicFrame>
              <p:nvGraphicFramePr>
                <p:cNvPr id="28" name="Object 27">
                  <a:extLst>
                    <a:ext uri="{FF2B5EF4-FFF2-40B4-BE49-F238E27FC236}">
                      <a16:creationId xmlns:a16="http://schemas.microsoft.com/office/drawing/2014/main" id="{3B4E3183-1571-4711-A6D5-39FA7C31C9A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3" imgW="819000" imgH="847800" progId="MS_ClipArt_Gallery.2">
                        <p:embed/>
                      </p:oleObj>
                    </mc:Choice>
                    <mc:Fallback>
                      <p:oleObj name="Clip" r:id="rId3" imgW="819000" imgH="847800" progId="MS_ClipArt_Gallery.2">
                        <p:embed/>
                        <p:pic>
                          <p:nvPicPr>
                            <p:cNvPr id="28" name="Object 27">
                              <a:extLst>
                                <a:ext uri="{FF2B5EF4-FFF2-40B4-BE49-F238E27FC236}">
                                  <a16:creationId xmlns:a16="http://schemas.microsoft.com/office/drawing/2014/main" id="{3B4E3183-1571-4711-A6D5-39FA7C31C9A1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70" y="1518"/>
                              <a:ext cx="272" cy="2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9" name="Object 28">
                  <a:extLst>
                    <a:ext uri="{FF2B5EF4-FFF2-40B4-BE49-F238E27FC236}">
                      <a16:creationId xmlns:a16="http://schemas.microsoft.com/office/drawing/2014/main" id="{160ED01D-97C9-FF7B-C931-A275748A91A6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5" imgW="1266840" imgH="1200240" progId="MS_ClipArt_Gallery.2">
                        <p:embed/>
                      </p:oleObj>
                    </mc:Choice>
                    <mc:Fallback>
                      <p:oleObj name="Clip" r:id="rId5" imgW="1266840" imgH="1200240" progId="MS_ClipArt_Gallery.2">
                        <p:embed/>
                        <p:pic>
                          <p:nvPicPr>
                            <p:cNvPr id="29" name="Object 28">
                              <a:extLst>
                                <a:ext uri="{FF2B5EF4-FFF2-40B4-BE49-F238E27FC236}">
                                  <a16:creationId xmlns:a16="http://schemas.microsoft.com/office/drawing/2014/main" id="{160ED01D-97C9-FF7B-C931-A275748A91A6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13" y="1602"/>
                              <a:ext cx="249" cy="2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22" name="Text Box 29">
                <a:extLst>
                  <a:ext uri="{FF2B5EF4-FFF2-40B4-BE49-F238E27FC236}">
                    <a16:creationId xmlns:a16="http://schemas.microsoft.com/office/drawing/2014/main" id="{1589E11B-F5B7-2272-6475-736F4896CA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56" y="2029"/>
                <a:ext cx="180" cy="1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Arial"/>
                  </a:rPr>
                  <a:t>A</a:t>
                </a:r>
              </a:p>
            </p:txBody>
          </p:sp>
          <p:sp>
            <p:nvSpPr>
              <p:cNvPr id="23" name="Text Box 30">
                <a:extLst>
                  <a:ext uri="{FF2B5EF4-FFF2-40B4-BE49-F238E27FC236}">
                    <a16:creationId xmlns:a16="http://schemas.microsoft.com/office/drawing/2014/main" id="{FD27FF2B-52A4-4BEE-D0F0-56B35F1227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59" y="2027"/>
                <a:ext cx="207" cy="1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Arial"/>
                  </a:rPr>
                  <a:t>B</a:t>
                </a:r>
              </a:p>
            </p:txBody>
          </p:sp>
          <p:sp>
            <p:nvSpPr>
              <p:cNvPr id="24" name="Text Box 31">
                <a:extLst>
                  <a:ext uri="{FF2B5EF4-FFF2-40B4-BE49-F238E27FC236}">
                    <a16:creationId xmlns:a16="http://schemas.microsoft.com/office/drawing/2014/main" id="{865E8C5D-AA09-006F-4607-704BA617BF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03" y="2054"/>
                <a:ext cx="166" cy="1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Arial"/>
                  </a:rPr>
                  <a:t>C</a:t>
                </a:r>
              </a:p>
            </p:txBody>
          </p:sp>
          <p:grpSp>
            <p:nvGrpSpPr>
              <p:cNvPr id="25" name="Group 32">
                <a:extLst>
                  <a:ext uri="{FF2B5EF4-FFF2-40B4-BE49-F238E27FC236}">
                    <a16:creationId xmlns:a16="http://schemas.microsoft.com/office/drawing/2014/main" id="{FF5FF5A8-5E52-5BAC-5670-6D397A1BD8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26" y="1927"/>
                <a:ext cx="482" cy="439"/>
                <a:chOff x="2870" y="1518"/>
                <a:chExt cx="292" cy="320"/>
              </a:xfrm>
            </p:grpSpPr>
            <p:graphicFrame>
              <p:nvGraphicFramePr>
                <p:cNvPr id="26" name="Object 33">
                  <a:extLst>
                    <a:ext uri="{FF2B5EF4-FFF2-40B4-BE49-F238E27FC236}">
                      <a16:creationId xmlns:a16="http://schemas.microsoft.com/office/drawing/2014/main" id="{B6F53AB6-C56E-92E5-E2EC-FF797E653FBF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3" imgW="819000" imgH="847800" progId="MS_ClipArt_Gallery.2">
                        <p:embed/>
                      </p:oleObj>
                    </mc:Choice>
                    <mc:Fallback>
                      <p:oleObj name="Clip" r:id="rId3" imgW="819000" imgH="847800" progId="MS_ClipArt_Gallery.2">
                        <p:embed/>
                        <p:pic>
                          <p:nvPicPr>
                            <p:cNvPr id="26" name="Object 33">
                              <a:extLst>
                                <a:ext uri="{FF2B5EF4-FFF2-40B4-BE49-F238E27FC236}">
                                  <a16:creationId xmlns:a16="http://schemas.microsoft.com/office/drawing/2014/main" id="{B6F53AB6-C56E-92E5-E2EC-FF797E653FBF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70" y="1518"/>
                              <a:ext cx="272" cy="2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7" name="Object 34">
                  <a:extLst>
                    <a:ext uri="{FF2B5EF4-FFF2-40B4-BE49-F238E27FC236}">
                      <a16:creationId xmlns:a16="http://schemas.microsoft.com/office/drawing/2014/main" id="{A4C94F7C-9314-9E14-3BD9-9063A90F70A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7" imgW="1266840" imgH="1200240" progId="MS_ClipArt_Gallery.2">
                        <p:embed/>
                      </p:oleObj>
                    </mc:Choice>
                    <mc:Fallback>
                      <p:oleObj name="Clip" r:id="rId7" imgW="1266840" imgH="1200240" progId="MS_ClipArt_Gallery.2">
                        <p:embed/>
                        <p:pic>
                          <p:nvPicPr>
                            <p:cNvPr id="27" name="Object 34">
                              <a:extLst>
                                <a:ext uri="{FF2B5EF4-FFF2-40B4-BE49-F238E27FC236}">
                                  <a16:creationId xmlns:a16="http://schemas.microsoft.com/office/drawing/2014/main" id="{A4C94F7C-9314-9E14-3BD9-9063A90F70A5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13" y="1602"/>
                              <a:ext cx="249" cy="2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10" name="Text Box 35">
              <a:extLst>
                <a:ext uri="{FF2B5EF4-FFF2-40B4-BE49-F238E27FC236}">
                  <a16:creationId xmlns:a16="http://schemas.microsoft.com/office/drawing/2014/main" id="{D7EA77AD-E343-CCDC-4D7F-AD7BF2F38B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0" y="2337"/>
              <a:ext cx="487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A’s signal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strength</a:t>
              </a:r>
            </a:p>
          </p:txBody>
        </p:sp>
        <p:sp>
          <p:nvSpPr>
            <p:cNvPr id="11" name="Line 36">
              <a:extLst>
                <a:ext uri="{FF2B5EF4-FFF2-40B4-BE49-F238E27FC236}">
                  <a16:creationId xmlns:a16="http://schemas.microsoft.com/office/drawing/2014/main" id="{AD5BC9DE-A342-7E2C-6B90-954FEA1F67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9" y="2985"/>
              <a:ext cx="2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2" name="Line 37">
              <a:extLst>
                <a:ext uri="{FF2B5EF4-FFF2-40B4-BE49-F238E27FC236}">
                  <a16:creationId xmlns:a16="http://schemas.microsoft.com/office/drawing/2014/main" id="{A87F70D8-09E4-BCFF-6EA8-AE9F3255F5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5" y="2242"/>
              <a:ext cx="0" cy="7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3" name="Freeform 38">
              <a:extLst>
                <a:ext uri="{FF2B5EF4-FFF2-40B4-BE49-F238E27FC236}">
                  <a16:creationId xmlns:a16="http://schemas.microsoft.com/office/drawing/2014/main" id="{99244683-8411-C7D6-F063-699139822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7" y="2277"/>
              <a:ext cx="1887" cy="681"/>
            </a:xfrm>
            <a:custGeom>
              <a:avLst/>
              <a:gdLst>
                <a:gd name="T0" fmla="*/ 0 w 1887"/>
                <a:gd name="T1" fmla="*/ 0 h 681"/>
                <a:gd name="T2" fmla="*/ 966 w 1887"/>
                <a:gd name="T3" fmla="*/ 151 h 681"/>
                <a:gd name="T4" fmla="*/ 1373 w 1887"/>
                <a:gd name="T5" fmla="*/ 594 h 681"/>
                <a:gd name="T6" fmla="*/ 1887 w 1887"/>
                <a:gd name="T7" fmla="*/ 673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87" h="681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4" name="Text Box 39">
              <a:extLst>
                <a:ext uri="{FF2B5EF4-FFF2-40B4-BE49-F238E27FC236}">
                  <a16:creationId xmlns:a16="http://schemas.microsoft.com/office/drawing/2014/main" id="{B209376F-027C-9B6A-F0C4-D1202D79D3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8" y="2962"/>
              <a:ext cx="297" cy="1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space</a:t>
              </a:r>
            </a:p>
          </p:txBody>
        </p:sp>
        <p:sp>
          <p:nvSpPr>
            <p:cNvPr id="15" name="Freeform 40">
              <a:extLst>
                <a:ext uri="{FF2B5EF4-FFF2-40B4-BE49-F238E27FC236}">
                  <a16:creationId xmlns:a16="http://schemas.microsoft.com/office/drawing/2014/main" id="{AF8E3D62-8BAA-202A-CA52-F21517F1BFC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427" y="2258"/>
              <a:ext cx="1887" cy="681"/>
            </a:xfrm>
            <a:custGeom>
              <a:avLst/>
              <a:gdLst>
                <a:gd name="T0" fmla="*/ 0 w 1887"/>
                <a:gd name="T1" fmla="*/ 0 h 681"/>
                <a:gd name="T2" fmla="*/ 966 w 1887"/>
                <a:gd name="T3" fmla="*/ 151 h 681"/>
                <a:gd name="T4" fmla="*/ 1373 w 1887"/>
                <a:gd name="T5" fmla="*/ 594 h 681"/>
                <a:gd name="T6" fmla="*/ 1887 w 1887"/>
                <a:gd name="T7" fmla="*/ 673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87" h="681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6" name="Text Box 41">
              <a:extLst>
                <a:ext uri="{FF2B5EF4-FFF2-40B4-BE49-F238E27FC236}">
                  <a16:creationId xmlns:a16="http://schemas.microsoft.com/office/drawing/2014/main" id="{52187003-34D6-63DA-6804-4E20C08AB1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5" y="2292"/>
              <a:ext cx="475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C’s signal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strength</a:t>
              </a:r>
            </a:p>
          </p:txBody>
        </p:sp>
        <p:sp>
          <p:nvSpPr>
            <p:cNvPr id="17" name="Line 42">
              <a:extLst>
                <a:ext uri="{FF2B5EF4-FFF2-40B4-BE49-F238E27FC236}">
                  <a16:creationId xmlns:a16="http://schemas.microsoft.com/office/drawing/2014/main" id="{45CB9795-0F15-AEA1-F82D-D6C61441FB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4" y="2171"/>
              <a:ext cx="17" cy="7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" name="Line 43">
              <a:extLst>
                <a:ext uri="{FF2B5EF4-FFF2-40B4-BE49-F238E27FC236}">
                  <a16:creationId xmlns:a16="http://schemas.microsoft.com/office/drawing/2014/main" id="{0B307D24-C2E0-94C9-6E5A-A61CA259EB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3" y="2214"/>
              <a:ext cx="0" cy="7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9" name="Line 44">
              <a:extLst>
                <a:ext uri="{FF2B5EF4-FFF2-40B4-BE49-F238E27FC236}">
                  <a16:creationId xmlns:a16="http://schemas.microsoft.com/office/drawing/2014/main" id="{1A7AEC8E-E4AA-4FA0-7F58-2C833C994B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4" y="2204"/>
              <a:ext cx="0" cy="7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</p:grpSp>
      <p:grpSp>
        <p:nvGrpSpPr>
          <p:cNvPr id="3" name="Group 4">
            <a:extLst>
              <a:ext uri="{FF2B5EF4-FFF2-40B4-BE49-F238E27FC236}">
                <a16:creationId xmlns:a16="http://schemas.microsoft.com/office/drawing/2014/main" id="{FB2818A5-1A76-289E-DD9D-4993FB6C4064}"/>
              </a:ext>
            </a:extLst>
          </p:cNvPr>
          <p:cNvGrpSpPr>
            <a:grpSpLocks/>
          </p:cNvGrpSpPr>
          <p:nvPr/>
        </p:nvGrpSpPr>
        <p:grpSpPr bwMode="auto">
          <a:xfrm>
            <a:off x="650606" y="1988271"/>
            <a:ext cx="2478612" cy="2014279"/>
            <a:chOff x="759" y="2008"/>
            <a:chExt cx="1962" cy="1018"/>
          </a:xfrm>
        </p:grpSpPr>
        <p:grpSp>
          <p:nvGrpSpPr>
            <p:cNvPr id="4" name="Group 5">
              <a:extLst>
                <a:ext uri="{FF2B5EF4-FFF2-40B4-BE49-F238E27FC236}">
                  <a16:creationId xmlns:a16="http://schemas.microsoft.com/office/drawing/2014/main" id="{94CD1595-3E68-5ABB-6B56-C13A13CB35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7" y="2018"/>
              <a:ext cx="533" cy="466"/>
              <a:chOff x="2870" y="1518"/>
              <a:chExt cx="291" cy="320"/>
            </a:xfrm>
          </p:grpSpPr>
          <p:graphicFrame>
            <p:nvGraphicFramePr>
              <p:cNvPr id="1894412" name="Object 6">
                <a:extLst>
                  <a:ext uri="{FF2B5EF4-FFF2-40B4-BE49-F238E27FC236}">
                    <a16:creationId xmlns:a16="http://schemas.microsoft.com/office/drawing/2014/main" id="{8C89FCE1-265F-BC44-F166-D956442EC37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3" imgW="819000" imgH="847800" progId="MS_ClipArt_Gallery.2">
                      <p:embed/>
                    </p:oleObj>
                  </mc:Choice>
                  <mc:Fallback>
                    <p:oleObj name="Clip" r:id="rId3" imgW="819000" imgH="847800" progId="MS_ClipArt_Gallery.2">
                      <p:embed/>
                      <p:pic>
                        <p:nvPicPr>
                          <p:cNvPr id="1894412" name="Object 6">
                            <a:extLst>
                              <a:ext uri="{FF2B5EF4-FFF2-40B4-BE49-F238E27FC236}">
                                <a16:creationId xmlns:a16="http://schemas.microsoft.com/office/drawing/2014/main" id="{8C89FCE1-265F-BC44-F166-D956442EC37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94413" name="Object 7">
                <a:extLst>
                  <a:ext uri="{FF2B5EF4-FFF2-40B4-BE49-F238E27FC236}">
                    <a16:creationId xmlns:a16="http://schemas.microsoft.com/office/drawing/2014/main" id="{D5D2ED31-8B17-A585-AE0B-3EB013859C2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00695426"/>
                  </p:ext>
                </p:extLst>
              </p:nvPr>
            </p:nvGraphicFramePr>
            <p:xfrm>
              <a:off x="2912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5" imgW="1266840" imgH="1200240" progId="MS_ClipArt_Gallery.2">
                      <p:embed/>
                    </p:oleObj>
                  </mc:Choice>
                  <mc:Fallback>
                    <p:oleObj name="Clip" r:id="rId5" imgW="1266840" imgH="1200240" progId="MS_ClipArt_Gallery.2">
                      <p:embed/>
                      <p:pic>
                        <p:nvPicPr>
                          <p:cNvPr id="1894413" name="Object 7">
                            <a:extLst>
                              <a:ext uri="{FF2B5EF4-FFF2-40B4-BE49-F238E27FC236}">
                                <a16:creationId xmlns:a16="http://schemas.microsoft.com/office/drawing/2014/main" id="{D5D2ED31-8B17-A585-AE0B-3EB013859C2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2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97BBB235-123A-DEA5-7C6C-0605C9AADB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" y="2008"/>
              <a:ext cx="1273" cy="684"/>
            </a:xfrm>
            <a:custGeom>
              <a:avLst/>
              <a:gdLst>
                <a:gd name="T0" fmla="*/ 9 w 1273"/>
                <a:gd name="T1" fmla="*/ 675 h 684"/>
                <a:gd name="T2" fmla="*/ 316 w 1273"/>
                <a:gd name="T3" fmla="*/ 0 h 684"/>
                <a:gd name="T4" fmla="*/ 461 w 1273"/>
                <a:gd name="T5" fmla="*/ 228 h 684"/>
                <a:gd name="T6" fmla="*/ 510 w 1273"/>
                <a:gd name="T7" fmla="*/ 119 h 684"/>
                <a:gd name="T8" fmla="*/ 631 w 1273"/>
                <a:gd name="T9" fmla="*/ 467 h 684"/>
                <a:gd name="T10" fmla="*/ 667 w 1273"/>
                <a:gd name="T11" fmla="*/ 391 h 684"/>
                <a:gd name="T12" fmla="*/ 739 w 1273"/>
                <a:gd name="T13" fmla="*/ 464 h 684"/>
                <a:gd name="T14" fmla="*/ 1058 w 1273"/>
                <a:gd name="T15" fmla="*/ 57 h 684"/>
                <a:gd name="T16" fmla="*/ 1273 w 1273"/>
                <a:gd name="T17" fmla="*/ 684 h 684"/>
                <a:gd name="T18" fmla="*/ 0 w 1273"/>
                <a:gd name="T19" fmla="*/ 674 h 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73" h="684">
                  <a:moveTo>
                    <a:pt x="9" y="675"/>
                  </a:moveTo>
                  <a:lnTo>
                    <a:pt x="316" y="0"/>
                  </a:lnTo>
                  <a:lnTo>
                    <a:pt x="461" y="228"/>
                  </a:lnTo>
                  <a:lnTo>
                    <a:pt x="510" y="119"/>
                  </a:lnTo>
                  <a:lnTo>
                    <a:pt x="631" y="467"/>
                  </a:lnTo>
                  <a:lnTo>
                    <a:pt x="667" y="391"/>
                  </a:lnTo>
                  <a:lnTo>
                    <a:pt x="739" y="464"/>
                  </a:lnTo>
                  <a:lnTo>
                    <a:pt x="1058" y="57"/>
                  </a:lnTo>
                  <a:lnTo>
                    <a:pt x="1273" y="684"/>
                  </a:lnTo>
                  <a:lnTo>
                    <a:pt x="0" y="674"/>
                  </a:lnTo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00CC66"/>
                </a:gs>
              </a:gsLst>
              <a:lin ang="5400000" scaled="1"/>
            </a:gra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grpSp>
          <p:nvGrpSpPr>
            <p:cNvPr id="1894400" name="Group 9">
              <a:extLst>
                <a:ext uri="{FF2B5EF4-FFF2-40B4-BE49-F238E27FC236}">
                  <a16:creationId xmlns:a16="http://schemas.microsoft.com/office/drawing/2014/main" id="{89203859-93CA-0FD6-6CFD-194B2E407A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3" y="2587"/>
              <a:ext cx="482" cy="439"/>
              <a:chOff x="2870" y="1518"/>
              <a:chExt cx="292" cy="320"/>
            </a:xfrm>
          </p:grpSpPr>
          <p:graphicFrame>
            <p:nvGraphicFramePr>
              <p:cNvPr id="1894410" name="Object 10">
                <a:extLst>
                  <a:ext uri="{FF2B5EF4-FFF2-40B4-BE49-F238E27FC236}">
                    <a16:creationId xmlns:a16="http://schemas.microsoft.com/office/drawing/2014/main" id="{8FA66F92-D204-3B47-ECDE-6A80515B615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3" imgW="819000" imgH="847800" progId="MS_ClipArt_Gallery.2">
                      <p:embed/>
                    </p:oleObj>
                  </mc:Choice>
                  <mc:Fallback>
                    <p:oleObj name="Clip" r:id="rId3" imgW="819000" imgH="847800" progId="MS_ClipArt_Gallery.2">
                      <p:embed/>
                      <p:pic>
                        <p:nvPicPr>
                          <p:cNvPr id="1894410" name="Object 10">
                            <a:extLst>
                              <a:ext uri="{FF2B5EF4-FFF2-40B4-BE49-F238E27FC236}">
                                <a16:creationId xmlns:a16="http://schemas.microsoft.com/office/drawing/2014/main" id="{8FA66F92-D204-3B47-ECDE-6A80515B615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94411" name="Object 11">
                <a:extLst>
                  <a:ext uri="{FF2B5EF4-FFF2-40B4-BE49-F238E27FC236}">
                    <a16:creationId xmlns:a16="http://schemas.microsoft.com/office/drawing/2014/main" id="{A0E0C81B-81BF-7A36-94E7-D196EC54901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5" imgW="1266840" imgH="1200240" progId="MS_ClipArt_Gallery.2">
                      <p:embed/>
                    </p:oleObj>
                  </mc:Choice>
                  <mc:Fallback>
                    <p:oleObj name="Clip" r:id="rId5" imgW="1266840" imgH="1200240" progId="MS_ClipArt_Gallery.2">
                      <p:embed/>
                      <p:pic>
                        <p:nvPicPr>
                          <p:cNvPr id="1894411" name="Object 11">
                            <a:extLst>
                              <a:ext uri="{FF2B5EF4-FFF2-40B4-BE49-F238E27FC236}">
                                <a16:creationId xmlns:a16="http://schemas.microsoft.com/office/drawing/2014/main" id="{A0E0C81B-81BF-7A36-94E7-D196EC54901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894401" name="Group 12">
              <a:extLst>
                <a:ext uri="{FF2B5EF4-FFF2-40B4-BE49-F238E27FC236}">
                  <a16:creationId xmlns:a16="http://schemas.microsoft.com/office/drawing/2014/main" id="{F226C8FD-5423-A20B-C829-3AD5135641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4" y="2391"/>
              <a:ext cx="482" cy="439"/>
              <a:chOff x="2870" y="1518"/>
              <a:chExt cx="292" cy="320"/>
            </a:xfrm>
          </p:grpSpPr>
          <p:graphicFrame>
            <p:nvGraphicFramePr>
              <p:cNvPr id="1894408" name="Object 13">
                <a:extLst>
                  <a:ext uri="{FF2B5EF4-FFF2-40B4-BE49-F238E27FC236}">
                    <a16:creationId xmlns:a16="http://schemas.microsoft.com/office/drawing/2014/main" id="{20A37CFB-D49A-7470-1757-7EEABF90FB3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3" imgW="819000" imgH="847800" progId="MS_ClipArt_Gallery.2">
                      <p:embed/>
                    </p:oleObj>
                  </mc:Choice>
                  <mc:Fallback>
                    <p:oleObj name="Clip" r:id="rId3" imgW="819000" imgH="847800" progId="MS_ClipArt_Gallery.2">
                      <p:embed/>
                      <p:pic>
                        <p:nvPicPr>
                          <p:cNvPr id="1894408" name="Object 13">
                            <a:extLst>
                              <a:ext uri="{FF2B5EF4-FFF2-40B4-BE49-F238E27FC236}">
                                <a16:creationId xmlns:a16="http://schemas.microsoft.com/office/drawing/2014/main" id="{20A37CFB-D49A-7470-1757-7EEABF90FB3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94409" name="Object 14">
                <a:extLst>
                  <a:ext uri="{FF2B5EF4-FFF2-40B4-BE49-F238E27FC236}">
                    <a16:creationId xmlns:a16="http://schemas.microsoft.com/office/drawing/2014/main" id="{33415250-87E7-C7E6-9BB9-3F46EC012D7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5" imgW="1266840" imgH="1200240" progId="MS_ClipArt_Gallery.2">
                      <p:embed/>
                    </p:oleObj>
                  </mc:Choice>
                  <mc:Fallback>
                    <p:oleObj name="Clip" r:id="rId5" imgW="1266840" imgH="1200240" progId="MS_ClipArt_Gallery.2">
                      <p:embed/>
                      <p:pic>
                        <p:nvPicPr>
                          <p:cNvPr id="1894409" name="Object 14">
                            <a:extLst>
                              <a:ext uri="{FF2B5EF4-FFF2-40B4-BE49-F238E27FC236}">
                                <a16:creationId xmlns:a16="http://schemas.microsoft.com/office/drawing/2014/main" id="{33415250-87E7-C7E6-9BB9-3F46EC012D7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894403" name="Line 15">
              <a:extLst>
                <a:ext uri="{FF2B5EF4-FFF2-40B4-BE49-F238E27FC236}">
                  <a16:creationId xmlns:a16="http://schemas.microsoft.com/office/drawing/2014/main" id="{290665E3-87C7-5829-F0CB-17B74EADC3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61" y="2773"/>
              <a:ext cx="629" cy="10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94404" name="Line 16">
              <a:extLst>
                <a:ext uri="{FF2B5EF4-FFF2-40B4-BE49-F238E27FC236}">
                  <a16:creationId xmlns:a16="http://schemas.microsoft.com/office/drawing/2014/main" id="{F4E49C6B-86F2-9581-457F-5D2713B492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5" y="2471"/>
              <a:ext cx="257" cy="20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94405" name="Text Box 17">
              <a:extLst>
                <a:ext uri="{FF2B5EF4-FFF2-40B4-BE49-F238E27FC236}">
                  <a16:creationId xmlns:a16="http://schemas.microsoft.com/office/drawing/2014/main" id="{DCE24210-7F71-E5AF-A064-33A58A6F24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6" y="2705"/>
              <a:ext cx="168" cy="1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A</a:t>
              </a:r>
            </a:p>
          </p:txBody>
        </p:sp>
        <p:sp>
          <p:nvSpPr>
            <p:cNvPr id="1894406" name="Text Box 18">
              <a:extLst>
                <a:ext uri="{FF2B5EF4-FFF2-40B4-BE49-F238E27FC236}">
                  <a16:creationId xmlns:a16="http://schemas.microsoft.com/office/drawing/2014/main" id="{64149891-E647-9F3A-E6C4-5BC469F648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4" y="2562"/>
              <a:ext cx="157" cy="1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B</a:t>
              </a:r>
            </a:p>
          </p:txBody>
        </p:sp>
        <p:sp>
          <p:nvSpPr>
            <p:cNvPr id="1894407" name="Text Box 19">
              <a:extLst>
                <a:ext uri="{FF2B5EF4-FFF2-40B4-BE49-F238E27FC236}">
                  <a16:creationId xmlns:a16="http://schemas.microsoft.com/office/drawing/2014/main" id="{2DC0DB59-F292-A46C-C09E-80D5A6D12C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4" y="2118"/>
              <a:ext cx="154" cy="1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C</a:t>
              </a:r>
            </a:p>
          </p:txBody>
        </p:sp>
      </p:grpSp>
      <p:sp>
        <p:nvSpPr>
          <p:cNvPr id="7" name="object 2">
            <a:extLst>
              <a:ext uri="{FF2B5EF4-FFF2-40B4-BE49-F238E27FC236}">
                <a16:creationId xmlns:a16="http://schemas.microsoft.com/office/drawing/2014/main" id="{2ED96E33-3B41-311F-FBCF-9A8A00015F1B}"/>
              </a:ext>
            </a:extLst>
          </p:cNvPr>
          <p:cNvSpPr txBox="1">
            <a:spLocks/>
          </p:cNvSpPr>
          <p:nvPr/>
        </p:nvSpPr>
        <p:spPr>
          <a:xfrm>
            <a:off x="352254" y="335001"/>
            <a:ext cx="7801146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08093872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EF057-C3AF-8867-5E3C-B8CECBB84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770149B-E3D9-6575-D808-38BEA3D500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3635F44-0182-4976-8CF3-A4F06FA64A92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sp>
        <p:nvSpPr>
          <p:cNvPr id="1894402" name="Rectangle 2">
            <a:extLst>
              <a:ext uri="{FF2B5EF4-FFF2-40B4-BE49-F238E27FC236}">
                <a16:creationId xmlns:a16="http://schemas.microsoft.com/office/drawing/2014/main" id="{B10BCC94-E52A-4907-7C0F-1D654B3F8F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5.Wireless Links: Broadcast Limitations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A0B4E57-2E70-2D70-5EF5-A661CE3B0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811" y="1371600"/>
            <a:ext cx="8232378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B050"/>
                </a:solidFill>
                <a:latin typeface="Arial" panose="020B0604020202020204" pitchFamily="34" charset="0"/>
              </a:rPr>
              <a:t>Why is it NOT a problem in wired networks?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In wired networks, like Ethernet: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All nodes are also connected to a shared medium (the wire).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Every device can “hear” all transmissions with acceptable received Signal Strength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, so they avoid sending at the same time.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(CSMA/CD) </a:t>
            </a:r>
            <a:r>
              <a:rPr lang="en-US" altLang="en-US" dirty="0">
                <a:solidFill>
                  <a:srgbClr val="00B050"/>
                </a:solidFill>
                <a:latin typeface="Arial" panose="020B0604020202020204" pitchFamily="34" charset="0"/>
              </a:rPr>
              <a:t>Collision Detection works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well because all signals are detectable.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94401" name="Picture 1894400" descr="A diagram of a computer and a signal&#10;&#10;AI-generated content may be incorrect.">
            <a:extLst>
              <a:ext uri="{FF2B5EF4-FFF2-40B4-BE49-F238E27FC236}">
                <a16:creationId xmlns:a16="http://schemas.microsoft.com/office/drawing/2014/main" id="{9D2B313F-1FB4-E2D2-C740-AF1D5EFECD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3892391"/>
            <a:ext cx="4953000" cy="2543226"/>
          </a:xfrm>
          <a:prstGeom prst="rect">
            <a:avLst/>
          </a:prstGeom>
        </p:spPr>
      </p:pic>
      <p:grpSp>
        <p:nvGrpSpPr>
          <p:cNvPr id="1894404" name="Group 4">
            <a:extLst>
              <a:ext uri="{FF2B5EF4-FFF2-40B4-BE49-F238E27FC236}">
                <a16:creationId xmlns:a16="http://schemas.microsoft.com/office/drawing/2014/main" id="{E81B5296-9F8C-C834-F4A2-03A4AD155CD3}"/>
              </a:ext>
            </a:extLst>
          </p:cNvPr>
          <p:cNvGrpSpPr>
            <a:grpSpLocks/>
          </p:cNvGrpSpPr>
          <p:nvPr/>
        </p:nvGrpSpPr>
        <p:grpSpPr bwMode="auto">
          <a:xfrm>
            <a:off x="569388" y="3422904"/>
            <a:ext cx="2478612" cy="2014279"/>
            <a:chOff x="759" y="2008"/>
            <a:chExt cx="1962" cy="1018"/>
          </a:xfrm>
        </p:grpSpPr>
        <p:grpSp>
          <p:nvGrpSpPr>
            <p:cNvPr id="1894405" name="Group 5">
              <a:extLst>
                <a:ext uri="{FF2B5EF4-FFF2-40B4-BE49-F238E27FC236}">
                  <a16:creationId xmlns:a16="http://schemas.microsoft.com/office/drawing/2014/main" id="{71C8013E-4572-689C-D7B5-671EECF403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7" y="2018"/>
              <a:ext cx="533" cy="466"/>
              <a:chOff x="2870" y="1518"/>
              <a:chExt cx="291" cy="320"/>
            </a:xfrm>
          </p:grpSpPr>
          <p:graphicFrame>
            <p:nvGraphicFramePr>
              <p:cNvPr id="1894418" name="Object 6">
                <a:extLst>
                  <a:ext uri="{FF2B5EF4-FFF2-40B4-BE49-F238E27FC236}">
                    <a16:creationId xmlns:a16="http://schemas.microsoft.com/office/drawing/2014/main" id="{DD8C40F7-7F62-C338-A68E-88495F44B6A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4" imgW="819000" imgH="847800" progId="MS_ClipArt_Gallery.2">
                      <p:embed/>
                    </p:oleObj>
                  </mc:Choice>
                  <mc:Fallback>
                    <p:oleObj name="Clip" r:id="rId4" imgW="819000" imgH="847800" progId="MS_ClipArt_Gallery.2">
                      <p:embed/>
                      <p:pic>
                        <p:nvPicPr>
                          <p:cNvPr id="1894418" name="Object 6">
                            <a:extLst>
                              <a:ext uri="{FF2B5EF4-FFF2-40B4-BE49-F238E27FC236}">
                                <a16:creationId xmlns:a16="http://schemas.microsoft.com/office/drawing/2014/main" id="{DD8C40F7-7F62-C338-A68E-88495F44B6A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94419" name="Object 7">
                <a:extLst>
                  <a:ext uri="{FF2B5EF4-FFF2-40B4-BE49-F238E27FC236}">
                    <a16:creationId xmlns:a16="http://schemas.microsoft.com/office/drawing/2014/main" id="{990A72CE-D1C9-BA6E-5FD1-9823AAEB464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42206097"/>
                  </p:ext>
                </p:extLst>
              </p:nvPr>
            </p:nvGraphicFramePr>
            <p:xfrm>
              <a:off x="2912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6" imgW="1266840" imgH="1200240" progId="MS_ClipArt_Gallery.2">
                      <p:embed/>
                    </p:oleObj>
                  </mc:Choice>
                  <mc:Fallback>
                    <p:oleObj name="Clip" r:id="rId6" imgW="1266840" imgH="1200240" progId="MS_ClipArt_Gallery.2">
                      <p:embed/>
                      <p:pic>
                        <p:nvPicPr>
                          <p:cNvPr id="1894419" name="Object 7">
                            <a:extLst>
                              <a:ext uri="{FF2B5EF4-FFF2-40B4-BE49-F238E27FC236}">
                                <a16:creationId xmlns:a16="http://schemas.microsoft.com/office/drawing/2014/main" id="{990A72CE-D1C9-BA6E-5FD1-9823AAEB464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2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894406" name="Freeform 8">
              <a:extLst>
                <a:ext uri="{FF2B5EF4-FFF2-40B4-BE49-F238E27FC236}">
                  <a16:creationId xmlns:a16="http://schemas.microsoft.com/office/drawing/2014/main" id="{03D6E4E3-C325-7032-5319-426A87123FC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" y="2008"/>
              <a:ext cx="1273" cy="684"/>
            </a:xfrm>
            <a:custGeom>
              <a:avLst/>
              <a:gdLst>
                <a:gd name="T0" fmla="*/ 9 w 1273"/>
                <a:gd name="T1" fmla="*/ 675 h 684"/>
                <a:gd name="T2" fmla="*/ 316 w 1273"/>
                <a:gd name="T3" fmla="*/ 0 h 684"/>
                <a:gd name="T4" fmla="*/ 461 w 1273"/>
                <a:gd name="T5" fmla="*/ 228 h 684"/>
                <a:gd name="T6" fmla="*/ 510 w 1273"/>
                <a:gd name="T7" fmla="*/ 119 h 684"/>
                <a:gd name="T8" fmla="*/ 631 w 1273"/>
                <a:gd name="T9" fmla="*/ 467 h 684"/>
                <a:gd name="T10" fmla="*/ 667 w 1273"/>
                <a:gd name="T11" fmla="*/ 391 h 684"/>
                <a:gd name="T12" fmla="*/ 739 w 1273"/>
                <a:gd name="T13" fmla="*/ 464 h 684"/>
                <a:gd name="T14" fmla="*/ 1058 w 1273"/>
                <a:gd name="T15" fmla="*/ 57 h 684"/>
                <a:gd name="T16" fmla="*/ 1273 w 1273"/>
                <a:gd name="T17" fmla="*/ 684 h 684"/>
                <a:gd name="T18" fmla="*/ 0 w 1273"/>
                <a:gd name="T19" fmla="*/ 674 h 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73" h="684">
                  <a:moveTo>
                    <a:pt x="9" y="675"/>
                  </a:moveTo>
                  <a:lnTo>
                    <a:pt x="316" y="0"/>
                  </a:lnTo>
                  <a:lnTo>
                    <a:pt x="461" y="228"/>
                  </a:lnTo>
                  <a:lnTo>
                    <a:pt x="510" y="119"/>
                  </a:lnTo>
                  <a:lnTo>
                    <a:pt x="631" y="467"/>
                  </a:lnTo>
                  <a:lnTo>
                    <a:pt x="667" y="391"/>
                  </a:lnTo>
                  <a:lnTo>
                    <a:pt x="739" y="464"/>
                  </a:lnTo>
                  <a:lnTo>
                    <a:pt x="1058" y="57"/>
                  </a:lnTo>
                  <a:lnTo>
                    <a:pt x="1273" y="684"/>
                  </a:lnTo>
                  <a:lnTo>
                    <a:pt x="0" y="674"/>
                  </a:lnTo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00CC66"/>
                </a:gs>
              </a:gsLst>
              <a:lin ang="5400000" scaled="1"/>
            </a:gra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grpSp>
          <p:nvGrpSpPr>
            <p:cNvPr id="1894407" name="Group 9">
              <a:extLst>
                <a:ext uri="{FF2B5EF4-FFF2-40B4-BE49-F238E27FC236}">
                  <a16:creationId xmlns:a16="http://schemas.microsoft.com/office/drawing/2014/main" id="{EB029CD9-4400-6A4F-9FFE-59F8E23135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3" y="2587"/>
              <a:ext cx="482" cy="439"/>
              <a:chOff x="2870" y="1518"/>
              <a:chExt cx="292" cy="320"/>
            </a:xfrm>
          </p:grpSpPr>
          <p:graphicFrame>
            <p:nvGraphicFramePr>
              <p:cNvPr id="1894416" name="Object 10">
                <a:extLst>
                  <a:ext uri="{FF2B5EF4-FFF2-40B4-BE49-F238E27FC236}">
                    <a16:creationId xmlns:a16="http://schemas.microsoft.com/office/drawing/2014/main" id="{F710E8B7-5BEC-1E5C-7B71-F258B213932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4" imgW="819000" imgH="847800" progId="MS_ClipArt_Gallery.2">
                      <p:embed/>
                    </p:oleObj>
                  </mc:Choice>
                  <mc:Fallback>
                    <p:oleObj name="Clip" r:id="rId4" imgW="819000" imgH="847800" progId="MS_ClipArt_Gallery.2">
                      <p:embed/>
                      <p:pic>
                        <p:nvPicPr>
                          <p:cNvPr id="1894416" name="Object 10">
                            <a:extLst>
                              <a:ext uri="{FF2B5EF4-FFF2-40B4-BE49-F238E27FC236}">
                                <a16:creationId xmlns:a16="http://schemas.microsoft.com/office/drawing/2014/main" id="{F710E8B7-5BEC-1E5C-7B71-F258B213932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94417" name="Object 11">
                <a:extLst>
                  <a:ext uri="{FF2B5EF4-FFF2-40B4-BE49-F238E27FC236}">
                    <a16:creationId xmlns:a16="http://schemas.microsoft.com/office/drawing/2014/main" id="{3C6AB763-4BBA-90D8-2C2C-9895957D89D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6" imgW="1266840" imgH="1200240" progId="MS_ClipArt_Gallery.2">
                      <p:embed/>
                    </p:oleObj>
                  </mc:Choice>
                  <mc:Fallback>
                    <p:oleObj name="Clip" r:id="rId6" imgW="1266840" imgH="1200240" progId="MS_ClipArt_Gallery.2">
                      <p:embed/>
                      <p:pic>
                        <p:nvPicPr>
                          <p:cNvPr id="1894417" name="Object 11">
                            <a:extLst>
                              <a:ext uri="{FF2B5EF4-FFF2-40B4-BE49-F238E27FC236}">
                                <a16:creationId xmlns:a16="http://schemas.microsoft.com/office/drawing/2014/main" id="{3C6AB763-4BBA-90D8-2C2C-9895957D89D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894408" name="Group 12">
              <a:extLst>
                <a:ext uri="{FF2B5EF4-FFF2-40B4-BE49-F238E27FC236}">
                  <a16:creationId xmlns:a16="http://schemas.microsoft.com/office/drawing/2014/main" id="{7A9B806E-8435-1FB7-EA3E-4303258415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4" y="2391"/>
              <a:ext cx="482" cy="439"/>
              <a:chOff x="2870" y="1518"/>
              <a:chExt cx="292" cy="320"/>
            </a:xfrm>
          </p:grpSpPr>
          <p:graphicFrame>
            <p:nvGraphicFramePr>
              <p:cNvPr id="1894414" name="Object 13">
                <a:extLst>
                  <a:ext uri="{FF2B5EF4-FFF2-40B4-BE49-F238E27FC236}">
                    <a16:creationId xmlns:a16="http://schemas.microsoft.com/office/drawing/2014/main" id="{32A2AE4B-15C5-EFB1-82FA-754A4FBEE0E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4" imgW="819000" imgH="847800" progId="MS_ClipArt_Gallery.2">
                      <p:embed/>
                    </p:oleObj>
                  </mc:Choice>
                  <mc:Fallback>
                    <p:oleObj name="Clip" r:id="rId4" imgW="819000" imgH="847800" progId="MS_ClipArt_Gallery.2">
                      <p:embed/>
                      <p:pic>
                        <p:nvPicPr>
                          <p:cNvPr id="1894414" name="Object 13">
                            <a:extLst>
                              <a:ext uri="{FF2B5EF4-FFF2-40B4-BE49-F238E27FC236}">
                                <a16:creationId xmlns:a16="http://schemas.microsoft.com/office/drawing/2014/main" id="{32A2AE4B-15C5-EFB1-82FA-754A4FBEE0E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94415" name="Object 14">
                <a:extLst>
                  <a:ext uri="{FF2B5EF4-FFF2-40B4-BE49-F238E27FC236}">
                    <a16:creationId xmlns:a16="http://schemas.microsoft.com/office/drawing/2014/main" id="{BD4883D5-C6D6-1F40-DDE6-FAAB4F06901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6" imgW="1266840" imgH="1200240" progId="MS_ClipArt_Gallery.2">
                      <p:embed/>
                    </p:oleObj>
                  </mc:Choice>
                  <mc:Fallback>
                    <p:oleObj name="Clip" r:id="rId6" imgW="1266840" imgH="1200240" progId="MS_ClipArt_Gallery.2">
                      <p:embed/>
                      <p:pic>
                        <p:nvPicPr>
                          <p:cNvPr id="1894415" name="Object 14">
                            <a:extLst>
                              <a:ext uri="{FF2B5EF4-FFF2-40B4-BE49-F238E27FC236}">
                                <a16:creationId xmlns:a16="http://schemas.microsoft.com/office/drawing/2014/main" id="{BD4883D5-C6D6-1F40-DDE6-FAAB4F06901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894409" name="Line 15">
              <a:extLst>
                <a:ext uri="{FF2B5EF4-FFF2-40B4-BE49-F238E27FC236}">
                  <a16:creationId xmlns:a16="http://schemas.microsoft.com/office/drawing/2014/main" id="{0FC56F3F-4700-6330-7CD0-27ED717BC1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61" y="2773"/>
              <a:ext cx="629" cy="10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94410" name="Line 16">
              <a:extLst>
                <a:ext uri="{FF2B5EF4-FFF2-40B4-BE49-F238E27FC236}">
                  <a16:creationId xmlns:a16="http://schemas.microsoft.com/office/drawing/2014/main" id="{AA2285CF-B361-BAF6-FD14-0C985F779D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5" y="2471"/>
              <a:ext cx="257" cy="20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94411" name="Text Box 17">
              <a:extLst>
                <a:ext uri="{FF2B5EF4-FFF2-40B4-BE49-F238E27FC236}">
                  <a16:creationId xmlns:a16="http://schemas.microsoft.com/office/drawing/2014/main" id="{D0C5CDD9-D05E-02CF-5554-215F4BF575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6" y="2705"/>
              <a:ext cx="168" cy="1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A</a:t>
              </a:r>
            </a:p>
          </p:txBody>
        </p:sp>
        <p:sp>
          <p:nvSpPr>
            <p:cNvPr id="1894412" name="Text Box 18">
              <a:extLst>
                <a:ext uri="{FF2B5EF4-FFF2-40B4-BE49-F238E27FC236}">
                  <a16:creationId xmlns:a16="http://schemas.microsoft.com/office/drawing/2014/main" id="{8E2C0BC8-3D4D-430C-9AE7-C8D621C8F1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4" y="2562"/>
              <a:ext cx="157" cy="1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B</a:t>
              </a:r>
            </a:p>
          </p:txBody>
        </p:sp>
        <p:sp>
          <p:nvSpPr>
            <p:cNvPr id="1894413" name="Text Box 19">
              <a:extLst>
                <a:ext uri="{FF2B5EF4-FFF2-40B4-BE49-F238E27FC236}">
                  <a16:creationId xmlns:a16="http://schemas.microsoft.com/office/drawing/2014/main" id="{28E7E720-DC8F-9C50-6BF9-F47CF8E825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4" y="2118"/>
              <a:ext cx="154" cy="1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C</a:t>
              </a:r>
            </a:p>
          </p:txBody>
        </p:sp>
      </p:grpSp>
      <p:sp>
        <p:nvSpPr>
          <p:cNvPr id="3" name="object 2">
            <a:extLst>
              <a:ext uri="{FF2B5EF4-FFF2-40B4-BE49-F238E27FC236}">
                <a16:creationId xmlns:a16="http://schemas.microsoft.com/office/drawing/2014/main" id="{22F3F8E1-A5C7-3ABE-034B-9C19C34F5BA2}"/>
              </a:ext>
            </a:extLst>
          </p:cNvPr>
          <p:cNvSpPr txBox="1">
            <a:spLocks/>
          </p:cNvSpPr>
          <p:nvPr/>
        </p:nvSpPr>
        <p:spPr>
          <a:xfrm>
            <a:off x="352254" y="335001"/>
            <a:ext cx="7801146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72770978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0880C-5987-8259-B96A-F2D424370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5D9C59A-D18A-CF7F-D994-06C2099E05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3635F44-0182-4976-8CF3-A4F06FA64A92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sp>
        <p:nvSpPr>
          <p:cNvPr id="1894402" name="Rectangle 2">
            <a:extLst>
              <a:ext uri="{FF2B5EF4-FFF2-40B4-BE49-F238E27FC236}">
                <a16:creationId xmlns:a16="http://schemas.microsoft.com/office/drawing/2014/main" id="{7729EFCA-6712-7D1E-EB60-6009053BB5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8305800" cy="685800"/>
          </a:xfrm>
        </p:spPr>
        <p:txBody>
          <a:bodyPr/>
          <a:lstStyle/>
          <a:p>
            <a:r>
              <a:rPr lang="en-US" altLang="en-US" sz="2400" dirty="0"/>
              <a:t>5.Wireless Links: Broadcast Limitations:: High BER</a:t>
            </a:r>
          </a:p>
        </p:txBody>
      </p:sp>
      <p:grpSp>
        <p:nvGrpSpPr>
          <p:cNvPr id="1894421" name="Group 21">
            <a:extLst>
              <a:ext uri="{FF2B5EF4-FFF2-40B4-BE49-F238E27FC236}">
                <a16:creationId xmlns:a16="http://schemas.microsoft.com/office/drawing/2014/main" id="{B32362A4-6E93-A7BE-C079-C7218E6BDD0B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3733800"/>
            <a:ext cx="3803650" cy="2641600"/>
            <a:chOff x="3264" y="1698"/>
            <a:chExt cx="2176" cy="1404"/>
          </a:xfrm>
        </p:grpSpPr>
        <p:grpSp>
          <p:nvGrpSpPr>
            <p:cNvPr id="1894422" name="Group 22">
              <a:extLst>
                <a:ext uri="{FF2B5EF4-FFF2-40B4-BE49-F238E27FC236}">
                  <a16:creationId xmlns:a16="http://schemas.microsoft.com/office/drawing/2014/main" id="{4E9FB70C-E643-1A1D-E437-118926D9F3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4" y="1698"/>
              <a:ext cx="2113" cy="455"/>
              <a:chOff x="3256" y="1911"/>
              <a:chExt cx="2113" cy="455"/>
            </a:xfrm>
          </p:grpSpPr>
          <p:grpSp>
            <p:nvGrpSpPr>
              <p:cNvPr id="1894423" name="Group 23">
                <a:extLst>
                  <a:ext uri="{FF2B5EF4-FFF2-40B4-BE49-F238E27FC236}">
                    <a16:creationId xmlns:a16="http://schemas.microsoft.com/office/drawing/2014/main" id="{053ABDF2-5C63-B9E9-1DBB-E7C391FC81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03" y="1911"/>
                <a:ext cx="482" cy="439"/>
                <a:chOff x="2870" y="1518"/>
                <a:chExt cx="292" cy="320"/>
              </a:xfrm>
            </p:grpSpPr>
            <p:graphicFrame>
              <p:nvGraphicFramePr>
                <p:cNvPr id="1894424" name="Object 24">
                  <a:extLst>
                    <a:ext uri="{FF2B5EF4-FFF2-40B4-BE49-F238E27FC236}">
                      <a16:creationId xmlns:a16="http://schemas.microsoft.com/office/drawing/2014/main" id="{3C22937C-F766-7619-CF2C-59D6B34880E2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3" imgW="819000" imgH="847800" progId="MS_ClipArt_Gallery.2">
                        <p:embed/>
                      </p:oleObj>
                    </mc:Choice>
                    <mc:Fallback>
                      <p:oleObj name="Clip" r:id="rId3" imgW="819000" imgH="847800" progId="MS_ClipArt_Gallery.2">
                        <p:embed/>
                        <p:pic>
                          <p:nvPicPr>
                            <p:cNvPr id="1894424" name="Object 24">
                              <a:extLst>
                                <a:ext uri="{FF2B5EF4-FFF2-40B4-BE49-F238E27FC236}">
                                  <a16:creationId xmlns:a16="http://schemas.microsoft.com/office/drawing/2014/main" id="{3C22937C-F766-7619-CF2C-59D6B34880E2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70" y="1518"/>
                              <a:ext cx="272" cy="2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894425" name="Object 25">
                  <a:extLst>
                    <a:ext uri="{FF2B5EF4-FFF2-40B4-BE49-F238E27FC236}">
                      <a16:creationId xmlns:a16="http://schemas.microsoft.com/office/drawing/2014/main" id="{4C0C1905-71DA-4781-80D1-19DA6B717C9D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5" imgW="1266840" imgH="1200240" progId="MS_ClipArt_Gallery.2">
                        <p:embed/>
                      </p:oleObj>
                    </mc:Choice>
                    <mc:Fallback>
                      <p:oleObj name="Clip" r:id="rId5" imgW="1266840" imgH="1200240" progId="MS_ClipArt_Gallery.2">
                        <p:embed/>
                        <p:pic>
                          <p:nvPicPr>
                            <p:cNvPr id="1894425" name="Object 25">
                              <a:extLst>
                                <a:ext uri="{FF2B5EF4-FFF2-40B4-BE49-F238E27FC236}">
                                  <a16:creationId xmlns:a16="http://schemas.microsoft.com/office/drawing/2014/main" id="{4C0C1905-71DA-4781-80D1-19DA6B717C9D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13" y="1602"/>
                              <a:ext cx="249" cy="2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894426" name="Group 26">
                <a:extLst>
                  <a:ext uri="{FF2B5EF4-FFF2-40B4-BE49-F238E27FC236}">
                    <a16:creationId xmlns:a16="http://schemas.microsoft.com/office/drawing/2014/main" id="{F53F1E3C-4448-FAD2-12F0-6255B79FF3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37" y="1919"/>
                <a:ext cx="482" cy="439"/>
                <a:chOff x="2870" y="1518"/>
                <a:chExt cx="292" cy="320"/>
              </a:xfrm>
            </p:grpSpPr>
            <p:graphicFrame>
              <p:nvGraphicFramePr>
                <p:cNvPr id="1894427" name="Object 27">
                  <a:extLst>
                    <a:ext uri="{FF2B5EF4-FFF2-40B4-BE49-F238E27FC236}">
                      <a16:creationId xmlns:a16="http://schemas.microsoft.com/office/drawing/2014/main" id="{F7687281-7AFA-37EC-5175-95B2EE55EFA2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3" imgW="819000" imgH="847800" progId="MS_ClipArt_Gallery.2">
                        <p:embed/>
                      </p:oleObj>
                    </mc:Choice>
                    <mc:Fallback>
                      <p:oleObj name="Clip" r:id="rId3" imgW="819000" imgH="847800" progId="MS_ClipArt_Gallery.2">
                        <p:embed/>
                        <p:pic>
                          <p:nvPicPr>
                            <p:cNvPr id="1894427" name="Object 27">
                              <a:extLst>
                                <a:ext uri="{FF2B5EF4-FFF2-40B4-BE49-F238E27FC236}">
                                  <a16:creationId xmlns:a16="http://schemas.microsoft.com/office/drawing/2014/main" id="{F7687281-7AFA-37EC-5175-95B2EE55EFA2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70" y="1518"/>
                              <a:ext cx="272" cy="2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894428" name="Object 28">
                  <a:extLst>
                    <a:ext uri="{FF2B5EF4-FFF2-40B4-BE49-F238E27FC236}">
                      <a16:creationId xmlns:a16="http://schemas.microsoft.com/office/drawing/2014/main" id="{330D3E59-93C0-42CA-B22A-43482E08C45E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5" imgW="1266840" imgH="1200240" progId="MS_ClipArt_Gallery.2">
                        <p:embed/>
                      </p:oleObj>
                    </mc:Choice>
                    <mc:Fallback>
                      <p:oleObj name="Clip" r:id="rId5" imgW="1266840" imgH="1200240" progId="MS_ClipArt_Gallery.2">
                        <p:embed/>
                        <p:pic>
                          <p:nvPicPr>
                            <p:cNvPr id="1894428" name="Object 28">
                              <a:extLst>
                                <a:ext uri="{FF2B5EF4-FFF2-40B4-BE49-F238E27FC236}">
                                  <a16:creationId xmlns:a16="http://schemas.microsoft.com/office/drawing/2014/main" id="{330D3E59-93C0-42CA-B22A-43482E08C45E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13" y="1602"/>
                              <a:ext cx="249" cy="2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894429" name="Text Box 29">
                <a:extLst>
                  <a:ext uri="{FF2B5EF4-FFF2-40B4-BE49-F238E27FC236}">
                    <a16:creationId xmlns:a16="http://schemas.microsoft.com/office/drawing/2014/main" id="{4F36396F-D35D-677F-A096-2F4171129F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56" y="2029"/>
                <a:ext cx="180" cy="1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Arial"/>
                  </a:rPr>
                  <a:t>A</a:t>
                </a:r>
              </a:p>
            </p:txBody>
          </p:sp>
          <p:sp>
            <p:nvSpPr>
              <p:cNvPr id="1894430" name="Text Box 30">
                <a:extLst>
                  <a:ext uri="{FF2B5EF4-FFF2-40B4-BE49-F238E27FC236}">
                    <a16:creationId xmlns:a16="http://schemas.microsoft.com/office/drawing/2014/main" id="{2EB3AE9F-B208-23D1-1605-0DC19857B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59" y="2027"/>
                <a:ext cx="207" cy="1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Arial"/>
                  </a:rPr>
                  <a:t>B</a:t>
                </a:r>
              </a:p>
            </p:txBody>
          </p:sp>
          <p:sp>
            <p:nvSpPr>
              <p:cNvPr id="1894431" name="Text Box 31">
                <a:extLst>
                  <a:ext uri="{FF2B5EF4-FFF2-40B4-BE49-F238E27FC236}">
                    <a16:creationId xmlns:a16="http://schemas.microsoft.com/office/drawing/2014/main" id="{1E7A4DC8-9663-CDD5-985A-8922B4645A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03" y="2054"/>
                <a:ext cx="166" cy="1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Arial"/>
                  </a:rPr>
                  <a:t>C</a:t>
                </a:r>
              </a:p>
            </p:txBody>
          </p:sp>
          <p:grpSp>
            <p:nvGrpSpPr>
              <p:cNvPr id="1894432" name="Group 32">
                <a:extLst>
                  <a:ext uri="{FF2B5EF4-FFF2-40B4-BE49-F238E27FC236}">
                    <a16:creationId xmlns:a16="http://schemas.microsoft.com/office/drawing/2014/main" id="{AD7A37ED-BE2C-DEC6-3284-A1762A446C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26" y="1927"/>
                <a:ext cx="482" cy="439"/>
                <a:chOff x="2870" y="1518"/>
                <a:chExt cx="292" cy="320"/>
              </a:xfrm>
            </p:grpSpPr>
            <p:graphicFrame>
              <p:nvGraphicFramePr>
                <p:cNvPr id="1894433" name="Object 33">
                  <a:extLst>
                    <a:ext uri="{FF2B5EF4-FFF2-40B4-BE49-F238E27FC236}">
                      <a16:creationId xmlns:a16="http://schemas.microsoft.com/office/drawing/2014/main" id="{A248AD31-EF0F-71BD-F34D-56A4BFF4B112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3" imgW="819000" imgH="847800" progId="MS_ClipArt_Gallery.2">
                        <p:embed/>
                      </p:oleObj>
                    </mc:Choice>
                    <mc:Fallback>
                      <p:oleObj name="Clip" r:id="rId3" imgW="819000" imgH="847800" progId="MS_ClipArt_Gallery.2">
                        <p:embed/>
                        <p:pic>
                          <p:nvPicPr>
                            <p:cNvPr id="1894433" name="Object 33">
                              <a:extLst>
                                <a:ext uri="{FF2B5EF4-FFF2-40B4-BE49-F238E27FC236}">
                                  <a16:creationId xmlns:a16="http://schemas.microsoft.com/office/drawing/2014/main" id="{A248AD31-EF0F-71BD-F34D-56A4BFF4B112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70" y="1518"/>
                              <a:ext cx="272" cy="2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894434" name="Object 34">
                  <a:extLst>
                    <a:ext uri="{FF2B5EF4-FFF2-40B4-BE49-F238E27FC236}">
                      <a16:creationId xmlns:a16="http://schemas.microsoft.com/office/drawing/2014/main" id="{EECA48A7-E708-6905-4EF7-5087C44A02B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7" imgW="1266840" imgH="1200240" progId="MS_ClipArt_Gallery.2">
                        <p:embed/>
                      </p:oleObj>
                    </mc:Choice>
                    <mc:Fallback>
                      <p:oleObj name="Clip" r:id="rId7" imgW="1266840" imgH="1200240" progId="MS_ClipArt_Gallery.2">
                        <p:embed/>
                        <p:pic>
                          <p:nvPicPr>
                            <p:cNvPr id="1894434" name="Object 34">
                              <a:extLst>
                                <a:ext uri="{FF2B5EF4-FFF2-40B4-BE49-F238E27FC236}">
                                  <a16:creationId xmlns:a16="http://schemas.microsoft.com/office/drawing/2014/main" id="{EECA48A7-E708-6905-4EF7-5087C44A02B3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13" y="1602"/>
                              <a:ext cx="249" cy="2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1894435" name="Text Box 35">
              <a:extLst>
                <a:ext uri="{FF2B5EF4-FFF2-40B4-BE49-F238E27FC236}">
                  <a16:creationId xmlns:a16="http://schemas.microsoft.com/office/drawing/2014/main" id="{5951838C-CD2A-580D-EFCC-369A7C1F98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0" y="2337"/>
              <a:ext cx="487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A’s signal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strength</a:t>
              </a:r>
            </a:p>
          </p:txBody>
        </p:sp>
        <p:sp>
          <p:nvSpPr>
            <p:cNvPr id="1894436" name="Line 36">
              <a:extLst>
                <a:ext uri="{FF2B5EF4-FFF2-40B4-BE49-F238E27FC236}">
                  <a16:creationId xmlns:a16="http://schemas.microsoft.com/office/drawing/2014/main" id="{656D9D62-2900-52D0-DB85-223CB4C556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9" y="2985"/>
              <a:ext cx="2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94437" name="Line 37">
              <a:extLst>
                <a:ext uri="{FF2B5EF4-FFF2-40B4-BE49-F238E27FC236}">
                  <a16:creationId xmlns:a16="http://schemas.microsoft.com/office/drawing/2014/main" id="{EC6BD1CD-73F3-DBE5-B1E3-002552E0FD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5" y="2242"/>
              <a:ext cx="0" cy="7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94438" name="Freeform 38">
              <a:extLst>
                <a:ext uri="{FF2B5EF4-FFF2-40B4-BE49-F238E27FC236}">
                  <a16:creationId xmlns:a16="http://schemas.microsoft.com/office/drawing/2014/main" id="{B7E58613-E006-D7D9-C05A-1C11474C05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7" y="2277"/>
              <a:ext cx="1887" cy="681"/>
            </a:xfrm>
            <a:custGeom>
              <a:avLst/>
              <a:gdLst>
                <a:gd name="T0" fmla="*/ 0 w 1887"/>
                <a:gd name="T1" fmla="*/ 0 h 681"/>
                <a:gd name="T2" fmla="*/ 966 w 1887"/>
                <a:gd name="T3" fmla="*/ 151 h 681"/>
                <a:gd name="T4" fmla="*/ 1373 w 1887"/>
                <a:gd name="T5" fmla="*/ 594 h 681"/>
                <a:gd name="T6" fmla="*/ 1887 w 1887"/>
                <a:gd name="T7" fmla="*/ 673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87" h="681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94439" name="Text Box 39">
              <a:extLst>
                <a:ext uri="{FF2B5EF4-FFF2-40B4-BE49-F238E27FC236}">
                  <a16:creationId xmlns:a16="http://schemas.microsoft.com/office/drawing/2014/main" id="{8C79D265-F08B-62FD-37F3-1F8871C305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8" y="2962"/>
              <a:ext cx="297" cy="1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space</a:t>
              </a:r>
            </a:p>
          </p:txBody>
        </p:sp>
        <p:sp>
          <p:nvSpPr>
            <p:cNvPr id="1894440" name="Freeform 40">
              <a:extLst>
                <a:ext uri="{FF2B5EF4-FFF2-40B4-BE49-F238E27FC236}">
                  <a16:creationId xmlns:a16="http://schemas.microsoft.com/office/drawing/2014/main" id="{BE7C2930-AE9D-5023-E902-FFEC31E82AF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427" y="2258"/>
              <a:ext cx="1887" cy="681"/>
            </a:xfrm>
            <a:custGeom>
              <a:avLst/>
              <a:gdLst>
                <a:gd name="T0" fmla="*/ 0 w 1887"/>
                <a:gd name="T1" fmla="*/ 0 h 681"/>
                <a:gd name="T2" fmla="*/ 966 w 1887"/>
                <a:gd name="T3" fmla="*/ 151 h 681"/>
                <a:gd name="T4" fmla="*/ 1373 w 1887"/>
                <a:gd name="T5" fmla="*/ 594 h 681"/>
                <a:gd name="T6" fmla="*/ 1887 w 1887"/>
                <a:gd name="T7" fmla="*/ 673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87" h="681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94441" name="Text Box 41">
              <a:extLst>
                <a:ext uri="{FF2B5EF4-FFF2-40B4-BE49-F238E27FC236}">
                  <a16:creationId xmlns:a16="http://schemas.microsoft.com/office/drawing/2014/main" id="{42FAB4D6-20AD-23B0-C58E-606D7B6526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5" y="2292"/>
              <a:ext cx="475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C’s signal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Arial"/>
                </a:rPr>
                <a:t>strength</a:t>
              </a:r>
            </a:p>
          </p:txBody>
        </p:sp>
        <p:sp>
          <p:nvSpPr>
            <p:cNvPr id="1894442" name="Line 42">
              <a:extLst>
                <a:ext uri="{FF2B5EF4-FFF2-40B4-BE49-F238E27FC236}">
                  <a16:creationId xmlns:a16="http://schemas.microsoft.com/office/drawing/2014/main" id="{26C72AC0-BE7A-DB33-89B1-7E851BDE60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4" y="2171"/>
              <a:ext cx="17" cy="7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94443" name="Line 43">
              <a:extLst>
                <a:ext uri="{FF2B5EF4-FFF2-40B4-BE49-F238E27FC236}">
                  <a16:creationId xmlns:a16="http://schemas.microsoft.com/office/drawing/2014/main" id="{4FD35DB7-7192-D106-D289-E0ED62B8B8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3" y="2214"/>
              <a:ext cx="0" cy="7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894444" name="Line 44">
              <a:extLst>
                <a:ext uri="{FF2B5EF4-FFF2-40B4-BE49-F238E27FC236}">
                  <a16:creationId xmlns:a16="http://schemas.microsoft.com/office/drawing/2014/main" id="{87939AD1-1E05-C518-C878-67828F9EAA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4" y="2204"/>
              <a:ext cx="0" cy="7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Arial"/>
              </a:endParaRP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4CB902-D911-07C3-C47F-55BE74F575DB}"/>
              </a:ext>
            </a:extLst>
          </p:cNvPr>
          <p:cNvGraphicFramePr>
            <a:graphicFrameLocks noGrp="1"/>
          </p:cNvGraphicFramePr>
          <p:nvPr/>
        </p:nvGraphicFramePr>
        <p:xfrm>
          <a:off x="537956" y="1336124"/>
          <a:ext cx="8458200" cy="1371600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:a16="http://schemas.microsoft.com/office/drawing/2014/main" val="916776757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68012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9197505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Network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Can all devices sense each other?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Hidden Terminal Problem?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849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Wired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902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Wireless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❌ Not always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7309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23969B4-0B9C-3684-AFAA-5C6073C1C570}"/>
              </a:ext>
            </a:extLst>
          </p:cNvPr>
          <p:cNvSpPr txBox="1"/>
          <p:nvPr/>
        </p:nvSpPr>
        <p:spPr>
          <a:xfrm>
            <a:off x="738148" y="2939239"/>
            <a:ext cx="76677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Impact</a:t>
            </a:r>
          </a:p>
          <a:p>
            <a:r>
              <a:rPr lang="en-US" dirty="0">
                <a:solidFill>
                  <a:srgbClr val="FF0000"/>
                </a:solidFill>
              </a:rPr>
              <a:t>→ Undetected collisions at receiver </a:t>
            </a:r>
            <a:r>
              <a:rPr lang="en-US" dirty="0">
                <a:solidFill>
                  <a:srgbClr val="0070C0"/>
                </a:solidFill>
              </a:rPr>
              <a:t>→ Corrupted data </a:t>
            </a:r>
            <a:r>
              <a:rPr lang="en-US" dirty="0">
                <a:solidFill>
                  <a:srgbClr val="FF0000"/>
                </a:solidFill>
              </a:rPr>
              <a:t>→ </a:t>
            </a:r>
            <a:r>
              <a:rPr lang="en-US" b="1" dirty="0">
                <a:solidFill>
                  <a:srgbClr val="FF0000"/>
                </a:solidFill>
              </a:rPr>
              <a:t>Increased BER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7072633-024E-756D-AF75-A5A5A6DFB9D1}"/>
              </a:ext>
            </a:extLst>
          </p:cNvPr>
          <p:cNvSpPr txBox="1">
            <a:spLocks/>
          </p:cNvSpPr>
          <p:nvPr/>
        </p:nvSpPr>
        <p:spPr>
          <a:xfrm>
            <a:off x="332703" y="199946"/>
            <a:ext cx="7801146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694558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3D8A4-BC4A-7872-B298-D339A9552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A57EACC-32F0-3D58-D061-B1F52D6FAA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72C8E57-475F-4E5B-B40B-5973D2A46384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sp>
        <p:nvSpPr>
          <p:cNvPr id="1884162" name="Rectangle 2">
            <a:extLst>
              <a:ext uri="{FF2B5EF4-FFF2-40B4-BE49-F238E27FC236}">
                <a16:creationId xmlns:a16="http://schemas.microsoft.com/office/drawing/2014/main" id="{52157974-7AEB-8CB3-FAC6-843517F139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200400"/>
            <a:ext cx="8305800" cy="685800"/>
          </a:xfrm>
        </p:spPr>
        <p:txBody>
          <a:bodyPr/>
          <a:lstStyle/>
          <a:p>
            <a:r>
              <a:rPr lang="en-US" sz="2800" dirty="0"/>
              <a:t>Understanding Wireless Communication: </a:t>
            </a:r>
            <a:r>
              <a:rPr lang="en-US" sz="2800" dirty="0">
                <a:solidFill>
                  <a:srgbClr val="0070C0"/>
                </a:solidFill>
              </a:rPr>
              <a:t>Needs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FF0000"/>
                </a:solidFill>
              </a:rPr>
              <a:t>Barriers</a:t>
            </a:r>
            <a:r>
              <a:rPr lang="en-US" sz="2800" dirty="0"/>
              <a:t>, and </a:t>
            </a:r>
            <a:r>
              <a:rPr lang="en-US" sz="2800" dirty="0">
                <a:solidFill>
                  <a:srgbClr val="00B050"/>
                </a:solidFill>
              </a:rPr>
              <a:t>Design Adaptations</a:t>
            </a:r>
          </a:p>
        </p:txBody>
      </p:sp>
    </p:spTree>
    <p:extLst>
      <p:ext uri="{BB962C8B-B14F-4D97-AF65-F5344CB8AC3E}">
        <p14:creationId xmlns:p14="http://schemas.microsoft.com/office/powerpoint/2010/main" val="168989246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CCFB5-7DDB-3780-8F47-F18C51BBC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9A35A2C-75F0-9A48-842C-37276256FD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8001000" y="6324600"/>
            <a:ext cx="914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kern="0"/>
            </a:defPPr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E6DC49-94C5-441A-8361-BBAD8F3388BC}" type="slidenum">
              <a:rPr lang="en-US" altLang="en-US" smtClean="0"/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sp>
        <p:nvSpPr>
          <p:cNvPr id="1884162" name="Rectangle 2">
            <a:extLst>
              <a:ext uri="{FF2B5EF4-FFF2-40B4-BE49-F238E27FC236}">
                <a16:creationId xmlns:a16="http://schemas.microsoft.com/office/drawing/2014/main" id="{0DC55B11-0621-2380-5BD2-5499474BFA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200400"/>
            <a:ext cx="8305800" cy="430887"/>
          </a:xfrm>
        </p:spPr>
        <p:txBody>
          <a:bodyPr/>
          <a:lstStyle/>
          <a:p>
            <a:r>
              <a:rPr lang="en-US" sz="2800" dirty="0"/>
              <a:t>Understanding </a:t>
            </a:r>
            <a:r>
              <a:rPr lang="en-US" sz="2800" dirty="0">
                <a:solidFill>
                  <a:srgbClr val="FF0000"/>
                </a:solidFill>
              </a:rPr>
              <a:t>Wireless </a:t>
            </a:r>
            <a:r>
              <a:rPr lang="en-US" sz="2800" dirty="0"/>
              <a:t>Communication: </a:t>
            </a:r>
            <a:r>
              <a:rPr lang="en-US" sz="2800" dirty="0">
                <a:solidFill>
                  <a:srgbClr val="0070C0"/>
                </a:solidFill>
              </a:rPr>
              <a:t>Needs</a:t>
            </a:r>
            <a:endParaRPr lang="en-US" sz="28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96102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90E92-A898-0B6E-5238-009B2EB11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>
            <a:extLst>
              <a:ext uri="{FF2B5EF4-FFF2-40B4-BE49-F238E27FC236}">
                <a16:creationId xmlns:a16="http://schemas.microsoft.com/office/drawing/2014/main" id="{A5C6AD51-1AA0-9521-DF99-664D848C18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Examples of Communication Requirements</a:t>
            </a:r>
          </a:p>
        </p:txBody>
      </p:sp>
      <p:sp>
        <p:nvSpPr>
          <p:cNvPr id="19462" name="Text Box 6">
            <a:extLst>
              <a:ext uri="{FF2B5EF4-FFF2-40B4-BE49-F238E27FC236}">
                <a16:creationId xmlns:a16="http://schemas.microsoft.com/office/drawing/2014/main" id="{28010B18-CBE5-1A95-FA4C-3B20AB704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2155927"/>
            <a:ext cx="4248150" cy="10191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Arial"/>
              </a:rPr>
              <a:t>bit error probability: &lt; 0.1 %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Arial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Arial"/>
              </a:rPr>
              <a:t>delay: &lt; 100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Arial"/>
              </a:rPr>
              <a:t>ms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Arial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Arial"/>
              </a:rPr>
              <a:t>data rate: 10-15 kbit/s</a:t>
            </a:r>
          </a:p>
        </p:txBody>
      </p:sp>
      <p:sp>
        <p:nvSpPr>
          <p:cNvPr id="19464" name="Text Box 11">
            <a:extLst>
              <a:ext uri="{FF2B5EF4-FFF2-40B4-BE49-F238E27FC236}">
                <a16:creationId xmlns:a16="http://schemas.microsoft.com/office/drawing/2014/main" id="{B0ECFFA4-2240-3453-F9CD-25D800431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3596360"/>
            <a:ext cx="4248150" cy="10191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Arial"/>
              </a:rPr>
              <a:t>bit error probability: &lt; 10</a:t>
            </a:r>
            <a:r>
              <a:rPr kumimoji="0" lang="en-US" sz="20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Arial"/>
              </a:rPr>
              <a:t>-9</a:t>
            </a:r>
            <a:b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Arial"/>
              </a:rPr>
            </a:b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Arial"/>
              </a:rPr>
              <a:t>delay: &lt; 1 day</a:t>
            </a:r>
            <a:b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Arial"/>
              </a:rPr>
            </a:b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Arial"/>
              </a:rPr>
              <a:t>data rate: irrelevant</a:t>
            </a:r>
          </a:p>
        </p:txBody>
      </p:sp>
      <p:pic>
        <p:nvPicPr>
          <p:cNvPr id="12" name="Picture 11" descr="j0090270.wmf">
            <a:extLst>
              <a:ext uri="{FF2B5EF4-FFF2-40B4-BE49-F238E27FC236}">
                <a16:creationId xmlns:a16="http://schemas.microsoft.com/office/drawing/2014/main" id="{F737FC42-58BF-7602-B1B9-4A61BFB405F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15616" y="3380656"/>
            <a:ext cx="982921" cy="14401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7B0756-C8CA-89D9-FC2F-C7FEA2120E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5616" y="2262276"/>
            <a:ext cx="1218671" cy="912826"/>
          </a:xfrm>
          <a:prstGeom prst="rect">
            <a:avLst/>
          </a:prstGeom>
        </p:spPr>
      </p:pic>
      <p:pic>
        <p:nvPicPr>
          <p:cNvPr id="14" name="Picture 13" descr="j0430805.jpg">
            <a:extLst>
              <a:ext uri="{FF2B5EF4-FFF2-40B4-BE49-F238E27FC236}">
                <a16:creationId xmlns:a16="http://schemas.microsoft.com/office/drawing/2014/main" id="{0D7FEE85-B382-69F6-DDCD-7BD2D63E908F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rcRect b="19487"/>
          <a:stretch>
            <a:fillRect/>
          </a:stretch>
        </p:blipFill>
        <p:spPr>
          <a:xfrm>
            <a:off x="7230757" y="2156520"/>
            <a:ext cx="999713" cy="1152128"/>
          </a:xfrm>
          <a:prstGeom prst="rect">
            <a:avLst/>
          </a:prstGeom>
        </p:spPr>
      </p:pic>
      <p:pic>
        <p:nvPicPr>
          <p:cNvPr id="15" name="Picture 14" descr="j0424788.wmf">
            <a:extLst>
              <a:ext uri="{FF2B5EF4-FFF2-40B4-BE49-F238E27FC236}">
                <a16:creationId xmlns:a16="http://schemas.microsoft.com/office/drawing/2014/main" id="{C123A4CC-FFA1-8574-32A6-E77271A324BB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164288" y="3524672"/>
            <a:ext cx="1063503" cy="1252124"/>
          </a:xfrm>
          <a:prstGeom prst="rect">
            <a:avLst/>
          </a:prstGeom>
        </p:spPr>
      </p:pic>
      <p:sp>
        <p:nvSpPr>
          <p:cNvPr id="16" name="Text Box 11">
            <a:extLst>
              <a:ext uri="{FF2B5EF4-FFF2-40B4-BE49-F238E27FC236}">
                <a16:creationId xmlns:a16="http://schemas.microsoft.com/office/drawing/2014/main" id="{101D544C-F7B4-288E-78B4-F80E731DA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1464" y="5080477"/>
            <a:ext cx="4248150" cy="10156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Arial"/>
              </a:rPr>
              <a:t>bit error probability: &lt; 10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Arial"/>
              </a:rPr>
              <a:t>-5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Arial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Arial"/>
              </a:rPr>
              <a:t>delay: &lt; seconds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Arial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Arial"/>
              </a:rPr>
              <a:t>data rate: &lt; 80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Arial"/>
              </a:rPr>
              <a:t>Mbit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Arial"/>
              </a:rPr>
              <a:t>/s</a:t>
            </a:r>
          </a:p>
        </p:txBody>
      </p:sp>
      <p:pic>
        <p:nvPicPr>
          <p:cNvPr id="17" name="Picture 16" descr="j0431540.png">
            <a:extLst>
              <a:ext uri="{FF2B5EF4-FFF2-40B4-BE49-F238E27FC236}">
                <a16:creationId xmlns:a16="http://schemas.microsoft.com/office/drawing/2014/main" id="{9F2217BC-AEA3-0A07-A8E7-6C422731B208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82679" y="5008468"/>
            <a:ext cx="997033" cy="1164200"/>
          </a:xfrm>
          <a:prstGeom prst="rect">
            <a:avLst/>
          </a:prstGeom>
        </p:spPr>
      </p:pic>
      <p:pic>
        <p:nvPicPr>
          <p:cNvPr id="18" name="Picture 17" descr="j0432565.png">
            <a:extLst>
              <a:ext uri="{FF2B5EF4-FFF2-40B4-BE49-F238E27FC236}">
                <a16:creationId xmlns:a16="http://schemas.microsoft.com/office/drawing/2014/main" id="{2FFBFB53-1FD9-E076-D9D4-8551F8DA2874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7097819" y="4864452"/>
            <a:ext cx="1488506" cy="161254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659548A-68D8-56C2-7542-B7B27CD10C4B}"/>
              </a:ext>
            </a:extLst>
          </p:cNvPr>
          <p:cNvSpPr txBox="1"/>
          <p:nvPr/>
        </p:nvSpPr>
        <p:spPr>
          <a:xfrm>
            <a:off x="3907311" y="1796480"/>
            <a:ext cx="15824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8800"/>
                </a:solidFill>
                <a:effectLst/>
                <a:uLnTx/>
                <a:uFillTx/>
                <a:latin typeface="Georgia"/>
                <a:ea typeface="+mn-ea"/>
                <a:cs typeface="Arial"/>
              </a:rPr>
              <a:t>Cell phones: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02E18D-CF3A-B22E-C064-4BE44977CC65}"/>
              </a:ext>
            </a:extLst>
          </p:cNvPr>
          <p:cNvSpPr txBox="1"/>
          <p:nvPr/>
        </p:nvSpPr>
        <p:spPr>
          <a:xfrm>
            <a:off x="3990607" y="3236640"/>
            <a:ext cx="13917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8800"/>
                </a:solidFill>
                <a:effectLst/>
                <a:uLnTx/>
                <a:uFillTx/>
                <a:latin typeface="Georgia"/>
                <a:ea typeface="+mn-ea"/>
                <a:cs typeface="Arial"/>
              </a:rPr>
              <a:t>E-mailing: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3A1876-95C9-B7DA-76BA-27E674A5A37B}"/>
              </a:ext>
            </a:extLst>
          </p:cNvPr>
          <p:cNvSpPr txBox="1"/>
          <p:nvPr/>
        </p:nvSpPr>
        <p:spPr>
          <a:xfrm>
            <a:off x="3707904" y="4752374"/>
            <a:ext cx="2358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8800"/>
                </a:solidFill>
                <a:effectLst/>
                <a:uLnTx/>
                <a:uFillTx/>
                <a:latin typeface="Georgia"/>
                <a:ea typeface="+mn-ea"/>
                <a:cs typeface="Arial"/>
              </a:rPr>
              <a:t>Mobile broadband:</a:t>
            </a:r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EB6BAF84-AD1B-DBE9-CDDB-D9A63BC03F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89CF0B-6BFB-4750-901A-37E970C70430}" type="slidenum">
              <a:rPr kumimoji="0" lang="sv-SE" sz="1400" b="1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sv-SE" sz="1500" b="1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charset="0"/>
              <a:ea typeface="+mn-ea"/>
              <a:cs typeface="Arial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6EEE0253-D484-1372-4715-B9B1F681501A}"/>
              </a:ext>
            </a:extLst>
          </p:cNvPr>
          <p:cNvSpPr txBox="1">
            <a:spLocks/>
          </p:cNvSpPr>
          <p:nvPr/>
        </p:nvSpPr>
        <p:spPr>
          <a:xfrm>
            <a:off x="352254" y="335001"/>
            <a:ext cx="7801146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76652391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99912-A2C0-3A64-051F-CE20E2848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56C756EB-5DE2-8ABF-FDEC-7E868B166E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Multimedia Requirements</a:t>
            </a:r>
          </a:p>
        </p:txBody>
      </p:sp>
      <p:grpSp>
        <p:nvGrpSpPr>
          <p:cNvPr id="81943" name="Group 23">
            <a:extLst>
              <a:ext uri="{FF2B5EF4-FFF2-40B4-BE49-F238E27FC236}">
                <a16:creationId xmlns:a16="http://schemas.microsoft.com/office/drawing/2014/main" id="{F06C88C3-7ABE-6C7B-F7D0-633BB11052D1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2362200"/>
            <a:ext cx="7391400" cy="3105150"/>
            <a:chOff x="804" y="1488"/>
            <a:chExt cx="4164" cy="1956"/>
          </a:xfrm>
        </p:grpSpPr>
        <p:grpSp>
          <p:nvGrpSpPr>
            <p:cNvPr id="81934" name="Group 14">
              <a:extLst>
                <a:ext uri="{FF2B5EF4-FFF2-40B4-BE49-F238E27FC236}">
                  <a16:creationId xmlns:a16="http://schemas.microsoft.com/office/drawing/2014/main" id="{7F77E82F-B260-BF55-1EB0-46E7669B3F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1488"/>
              <a:ext cx="4140" cy="1956"/>
              <a:chOff x="804" y="1440"/>
              <a:chExt cx="4152" cy="2004"/>
            </a:xfrm>
          </p:grpSpPr>
          <p:sp>
            <p:nvSpPr>
              <p:cNvPr id="81924" name="Rectangle 4">
                <a:extLst>
                  <a:ext uri="{FF2B5EF4-FFF2-40B4-BE49-F238E27FC236}">
                    <a16:creationId xmlns:a16="http://schemas.microsoft.com/office/drawing/2014/main" id="{CFB9718A-8763-7488-2310-EE520AE048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4" y="1440"/>
                <a:ext cx="4152" cy="2004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/>
                </a:endParaRPr>
              </a:p>
            </p:txBody>
          </p:sp>
          <p:sp>
            <p:nvSpPr>
              <p:cNvPr id="81925" name="Line 5">
                <a:extLst>
                  <a:ext uri="{FF2B5EF4-FFF2-40B4-BE49-F238E27FC236}">
                    <a16:creationId xmlns:a16="http://schemas.microsoft.com/office/drawing/2014/main" id="{7D0CF43A-1A47-002F-F908-A8A4E982CF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1440"/>
                <a:ext cx="0" cy="200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/>
                </a:endParaRPr>
              </a:p>
            </p:txBody>
          </p:sp>
          <p:sp>
            <p:nvSpPr>
              <p:cNvPr id="81926" name="Line 6">
                <a:extLst>
                  <a:ext uri="{FF2B5EF4-FFF2-40B4-BE49-F238E27FC236}">
                    <a16:creationId xmlns:a16="http://schemas.microsoft.com/office/drawing/2014/main" id="{DF101329-A4C7-7943-0297-AD05FCDE4F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8" y="1440"/>
                <a:ext cx="0" cy="200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/>
                </a:endParaRPr>
              </a:p>
            </p:txBody>
          </p:sp>
          <p:sp>
            <p:nvSpPr>
              <p:cNvPr id="81927" name="Line 7">
                <a:extLst>
                  <a:ext uri="{FF2B5EF4-FFF2-40B4-BE49-F238E27FC236}">
                    <a16:creationId xmlns:a16="http://schemas.microsoft.com/office/drawing/2014/main" id="{2EDC6E65-341F-4544-72E6-5182774665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440"/>
                <a:ext cx="0" cy="200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/>
                </a:endParaRPr>
              </a:p>
            </p:txBody>
          </p:sp>
        </p:grpSp>
        <p:sp>
          <p:nvSpPr>
            <p:cNvPr id="81928" name="Line 8">
              <a:extLst>
                <a:ext uri="{FF2B5EF4-FFF2-40B4-BE49-F238E27FC236}">
                  <a16:creationId xmlns:a16="http://schemas.microsoft.com/office/drawing/2014/main" id="{156FE034-6197-5002-8821-DB756F9DB1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824"/>
              <a:ext cx="415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endParaRPr>
            </a:p>
          </p:txBody>
        </p:sp>
        <p:sp>
          <p:nvSpPr>
            <p:cNvPr id="81929" name="Line 9">
              <a:extLst>
                <a:ext uri="{FF2B5EF4-FFF2-40B4-BE49-F238E27FC236}">
                  <a16:creationId xmlns:a16="http://schemas.microsoft.com/office/drawing/2014/main" id="{55B93889-AE31-D9AA-DD8D-814C04E85F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4" y="2472"/>
              <a:ext cx="415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endParaRPr>
            </a:p>
          </p:txBody>
        </p:sp>
        <p:sp>
          <p:nvSpPr>
            <p:cNvPr id="81930" name="Line 10">
              <a:extLst>
                <a:ext uri="{FF2B5EF4-FFF2-40B4-BE49-F238E27FC236}">
                  <a16:creationId xmlns:a16="http://schemas.microsoft.com/office/drawing/2014/main" id="{44C2B65B-E2BE-3DE5-5FAE-066D4A148B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4" y="2784"/>
              <a:ext cx="415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endParaRPr>
            </a:p>
          </p:txBody>
        </p:sp>
        <p:sp>
          <p:nvSpPr>
            <p:cNvPr id="81931" name="Line 11">
              <a:extLst>
                <a:ext uri="{FF2B5EF4-FFF2-40B4-BE49-F238E27FC236}">
                  <a16:creationId xmlns:a16="http://schemas.microsoft.com/office/drawing/2014/main" id="{B5969FC6-B1DB-C4A4-1B48-5B01FE5DA5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4" y="3108"/>
              <a:ext cx="415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endParaRPr>
            </a:p>
          </p:txBody>
        </p:sp>
        <p:sp>
          <p:nvSpPr>
            <p:cNvPr id="81932" name="Line 12">
              <a:extLst>
                <a:ext uri="{FF2B5EF4-FFF2-40B4-BE49-F238E27FC236}">
                  <a16:creationId xmlns:a16="http://schemas.microsoft.com/office/drawing/2014/main" id="{95B2A2A5-BCA3-0784-4798-AA26C91FA7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160"/>
              <a:ext cx="415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endParaRPr>
            </a:p>
          </p:txBody>
        </p:sp>
      </p:grpSp>
      <p:sp>
        <p:nvSpPr>
          <p:cNvPr id="81935" name="Text Box 15">
            <a:extLst>
              <a:ext uri="{FF2B5EF4-FFF2-40B4-BE49-F238E27FC236}">
                <a16:creationId xmlns:a16="http://schemas.microsoft.com/office/drawing/2014/main" id="{5ACCA80C-4987-A14C-C3B7-C5E647759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2438400"/>
            <a:ext cx="911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t>Voice</a:t>
            </a:r>
          </a:p>
        </p:txBody>
      </p:sp>
      <p:sp>
        <p:nvSpPr>
          <p:cNvPr id="81936" name="Text Box 16">
            <a:extLst>
              <a:ext uri="{FF2B5EF4-FFF2-40B4-BE49-F238E27FC236}">
                <a16:creationId xmlns:a16="http://schemas.microsoft.com/office/drawing/2014/main" id="{DADA0333-A20D-5029-F777-3C385ADCC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438400"/>
            <a:ext cx="946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t>Video</a:t>
            </a:r>
          </a:p>
        </p:txBody>
      </p:sp>
      <p:sp>
        <p:nvSpPr>
          <p:cNvPr id="81937" name="Text Box 17">
            <a:extLst>
              <a:ext uri="{FF2B5EF4-FFF2-40B4-BE49-F238E27FC236}">
                <a16:creationId xmlns:a16="http://schemas.microsoft.com/office/drawing/2014/main" id="{BD896544-2769-4EB2-3896-A447434220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438400"/>
            <a:ext cx="7649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t>Data</a:t>
            </a:r>
          </a:p>
        </p:txBody>
      </p:sp>
      <p:sp>
        <p:nvSpPr>
          <p:cNvPr id="81938" name="Text Box 18">
            <a:extLst>
              <a:ext uri="{FF2B5EF4-FFF2-40B4-BE49-F238E27FC236}">
                <a16:creationId xmlns:a16="http://schemas.microsoft.com/office/drawing/2014/main" id="{64FF6A4A-DCC7-0374-39FA-CE608A5F5E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7138" y="2895600"/>
            <a:ext cx="9286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t>Delay</a:t>
            </a:r>
          </a:p>
        </p:txBody>
      </p:sp>
      <p:sp>
        <p:nvSpPr>
          <p:cNvPr id="81939" name="Text Box 19">
            <a:extLst>
              <a:ext uri="{FF2B5EF4-FFF2-40B4-BE49-F238E27FC236}">
                <a16:creationId xmlns:a16="http://schemas.microsoft.com/office/drawing/2014/main" id="{6EC10578-8BFA-2B83-307A-7E98353BE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" y="3429000"/>
            <a:ext cx="16626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t>Packet Loss</a:t>
            </a:r>
          </a:p>
        </p:txBody>
      </p:sp>
      <p:sp>
        <p:nvSpPr>
          <p:cNvPr id="81940" name="Text Box 20">
            <a:extLst>
              <a:ext uri="{FF2B5EF4-FFF2-40B4-BE49-F238E27FC236}">
                <a16:creationId xmlns:a16="http://schemas.microsoft.com/office/drawing/2014/main" id="{30A0A2A4-C9D6-C8E9-EC96-A3D8EE581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3886200"/>
            <a:ext cx="811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t>BER</a:t>
            </a:r>
          </a:p>
        </p:txBody>
      </p:sp>
      <p:sp>
        <p:nvSpPr>
          <p:cNvPr id="81941" name="Text Box 21">
            <a:extLst>
              <a:ext uri="{FF2B5EF4-FFF2-40B4-BE49-F238E27FC236}">
                <a16:creationId xmlns:a16="http://schemas.microsoft.com/office/drawing/2014/main" id="{D50DCACD-AE27-4969-C9F5-1C95D0E6A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975" y="4419600"/>
            <a:ext cx="14045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t>Data Rate</a:t>
            </a:r>
          </a:p>
        </p:txBody>
      </p:sp>
      <p:sp>
        <p:nvSpPr>
          <p:cNvPr id="81942" name="Text Box 22">
            <a:extLst>
              <a:ext uri="{FF2B5EF4-FFF2-40B4-BE49-F238E27FC236}">
                <a16:creationId xmlns:a16="http://schemas.microsoft.com/office/drawing/2014/main" id="{38A6509C-C92B-A2D8-979F-E9F459B2B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953000"/>
            <a:ext cx="10210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t>Traffic</a:t>
            </a:r>
          </a:p>
        </p:txBody>
      </p:sp>
      <p:sp>
        <p:nvSpPr>
          <p:cNvPr id="81944" name="Text Box 24">
            <a:extLst>
              <a:ext uri="{FF2B5EF4-FFF2-40B4-BE49-F238E27FC236}">
                <a16:creationId xmlns:a16="http://schemas.microsoft.com/office/drawing/2014/main" id="{B5988A4A-CC63-0A6E-84DD-F939C56D12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971800"/>
            <a:ext cx="1187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t>&lt;100ms</a:t>
            </a:r>
          </a:p>
        </p:txBody>
      </p:sp>
      <p:sp>
        <p:nvSpPr>
          <p:cNvPr id="81945" name="Text Box 25">
            <a:extLst>
              <a:ext uri="{FF2B5EF4-FFF2-40B4-BE49-F238E27FC236}">
                <a16:creationId xmlns:a16="http://schemas.microsoft.com/office/drawing/2014/main" id="{BC9E1079-6AE4-6C57-5935-E8F2E764D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971800"/>
            <a:ext cx="28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t>-</a:t>
            </a:r>
          </a:p>
        </p:txBody>
      </p:sp>
      <p:sp>
        <p:nvSpPr>
          <p:cNvPr id="81946" name="Text Box 26">
            <a:extLst>
              <a:ext uri="{FF2B5EF4-FFF2-40B4-BE49-F238E27FC236}">
                <a16:creationId xmlns:a16="http://schemas.microsoft.com/office/drawing/2014/main" id="{39018E0C-A4D9-1345-9BA9-43C78CA1AE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2971800"/>
            <a:ext cx="1187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t>&lt;100ms</a:t>
            </a:r>
          </a:p>
        </p:txBody>
      </p:sp>
      <p:sp>
        <p:nvSpPr>
          <p:cNvPr id="81947" name="Text Box 27">
            <a:extLst>
              <a:ext uri="{FF2B5EF4-FFF2-40B4-BE49-F238E27FC236}">
                <a16:creationId xmlns:a16="http://schemas.microsoft.com/office/drawing/2014/main" id="{9A7DE1D6-4E8B-A795-B948-91FE17871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505200"/>
            <a:ext cx="76815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t>&lt;1%</a:t>
            </a:r>
          </a:p>
        </p:txBody>
      </p:sp>
      <p:sp>
        <p:nvSpPr>
          <p:cNvPr id="81948" name="Text Box 28">
            <a:extLst>
              <a:ext uri="{FF2B5EF4-FFF2-40B4-BE49-F238E27FC236}">
                <a16:creationId xmlns:a16="http://schemas.microsoft.com/office/drawing/2014/main" id="{42F95CB5-F086-CFF6-6C26-DC1D3AC94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505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t>0</a:t>
            </a:r>
          </a:p>
        </p:txBody>
      </p:sp>
      <p:sp>
        <p:nvSpPr>
          <p:cNvPr id="81949" name="Text Box 29">
            <a:extLst>
              <a:ext uri="{FF2B5EF4-FFF2-40B4-BE49-F238E27FC236}">
                <a16:creationId xmlns:a16="http://schemas.microsoft.com/office/drawing/2014/main" id="{5F879DEF-9FDD-FEBF-5EB6-993C2579D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3505200"/>
            <a:ext cx="76815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t>&lt;1%</a:t>
            </a:r>
          </a:p>
        </p:txBody>
      </p:sp>
      <p:sp>
        <p:nvSpPr>
          <p:cNvPr id="81950" name="Text Box 30">
            <a:extLst>
              <a:ext uri="{FF2B5EF4-FFF2-40B4-BE49-F238E27FC236}">
                <a16:creationId xmlns:a16="http://schemas.microsoft.com/office/drawing/2014/main" id="{50F97B85-1F1A-6388-049A-A9A34CD82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3962400"/>
            <a:ext cx="658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t>10</a:t>
            </a:r>
            <a:r>
              <a:rPr kumimoji="0" lang="en-US" altLang="en-US" sz="24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t>-3</a:t>
            </a:r>
          </a:p>
        </p:txBody>
      </p:sp>
      <p:sp>
        <p:nvSpPr>
          <p:cNvPr id="81951" name="Text Box 31">
            <a:extLst>
              <a:ext uri="{FF2B5EF4-FFF2-40B4-BE49-F238E27FC236}">
                <a16:creationId xmlns:a16="http://schemas.microsoft.com/office/drawing/2014/main" id="{D9314F62-1156-F57E-728E-4FD20E5EA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3962400"/>
            <a:ext cx="658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t>10</a:t>
            </a:r>
            <a:r>
              <a:rPr kumimoji="0" lang="en-US" altLang="en-US" sz="24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t>-6</a:t>
            </a:r>
          </a:p>
        </p:txBody>
      </p:sp>
      <p:sp>
        <p:nvSpPr>
          <p:cNvPr id="81952" name="Text Box 32">
            <a:extLst>
              <a:ext uri="{FF2B5EF4-FFF2-40B4-BE49-F238E27FC236}">
                <a16:creationId xmlns:a16="http://schemas.microsoft.com/office/drawing/2014/main" id="{149C502F-9EA7-AAA1-C0DB-0C9C7F210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3962400"/>
            <a:ext cx="658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t>10</a:t>
            </a:r>
            <a:r>
              <a:rPr kumimoji="0" lang="en-US" altLang="en-US" sz="24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t>-6</a:t>
            </a:r>
          </a:p>
        </p:txBody>
      </p:sp>
      <p:sp>
        <p:nvSpPr>
          <p:cNvPr id="81953" name="Text Box 33">
            <a:extLst>
              <a:ext uri="{FF2B5EF4-FFF2-40B4-BE49-F238E27FC236}">
                <a16:creationId xmlns:a16="http://schemas.microsoft.com/office/drawing/2014/main" id="{FA0C24E9-D4D5-1952-E0D2-A9D0292558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4495800"/>
            <a:ext cx="1514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t>8-32 Kbps</a:t>
            </a:r>
            <a:endParaRPr kumimoji="0" lang="en-US" altLang="en-US" sz="2400" b="0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sp>
        <p:nvSpPr>
          <p:cNvPr id="81954" name="Text Box 34">
            <a:extLst>
              <a:ext uri="{FF2B5EF4-FFF2-40B4-BE49-F238E27FC236}">
                <a16:creationId xmlns:a16="http://schemas.microsoft.com/office/drawing/2014/main" id="{92EE37A1-D2C3-A99A-D225-D74F34808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495800"/>
            <a:ext cx="1717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t>1-100 Mbps</a:t>
            </a:r>
            <a:endParaRPr kumimoji="0" lang="en-US" altLang="en-US" sz="2400" b="0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sp>
        <p:nvSpPr>
          <p:cNvPr id="81955" name="Text Box 35">
            <a:extLst>
              <a:ext uri="{FF2B5EF4-FFF2-40B4-BE49-F238E27FC236}">
                <a16:creationId xmlns:a16="http://schemas.microsoft.com/office/drawing/2014/main" id="{0B95CACE-5F55-D517-56D0-53D4FA096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495800"/>
            <a:ext cx="1565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t>1-20 Mbps</a:t>
            </a:r>
            <a:endParaRPr kumimoji="0" lang="en-US" altLang="en-US" sz="2400" b="0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sp>
        <p:nvSpPr>
          <p:cNvPr id="81956" name="Text Box 36">
            <a:extLst>
              <a:ext uri="{FF2B5EF4-FFF2-40B4-BE49-F238E27FC236}">
                <a16:creationId xmlns:a16="http://schemas.microsoft.com/office/drawing/2014/main" id="{2E324725-D46F-ED8E-5E8E-0D76CB807F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4953000"/>
            <a:ext cx="16033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t>Continuous</a:t>
            </a:r>
            <a:endParaRPr kumimoji="0" lang="en-US" altLang="en-US" sz="2400" b="0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sp>
        <p:nvSpPr>
          <p:cNvPr id="81957" name="Text Box 37">
            <a:extLst>
              <a:ext uri="{FF2B5EF4-FFF2-40B4-BE49-F238E27FC236}">
                <a16:creationId xmlns:a16="http://schemas.microsoft.com/office/drawing/2014/main" id="{62B549BE-86AB-4CA6-3E07-6CDCB28E8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4953000"/>
            <a:ext cx="10054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t>Bursty</a:t>
            </a:r>
            <a:endParaRPr kumimoji="0" lang="en-US" altLang="en-US" sz="2400" b="0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sp>
        <p:nvSpPr>
          <p:cNvPr id="81958" name="Text Box 38">
            <a:extLst>
              <a:ext uri="{FF2B5EF4-FFF2-40B4-BE49-F238E27FC236}">
                <a16:creationId xmlns:a16="http://schemas.microsoft.com/office/drawing/2014/main" id="{C6A6052C-C504-23AF-DB20-DD2244527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4953000"/>
            <a:ext cx="16033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t>Continuous</a:t>
            </a:r>
            <a:endParaRPr kumimoji="0" lang="en-US" altLang="en-US" sz="2400" b="0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sp>
        <p:nvSpPr>
          <p:cNvPr id="81959" name="Text Box 39">
            <a:extLst>
              <a:ext uri="{FF2B5EF4-FFF2-40B4-BE49-F238E27FC236}">
                <a16:creationId xmlns:a16="http://schemas.microsoft.com/office/drawing/2014/main" id="{7BAB648D-3DD5-042C-83B5-D6AA0E66E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638800"/>
            <a:ext cx="8413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t>One-size-fits-all protocols and design do not work well</a:t>
            </a:r>
          </a:p>
        </p:txBody>
      </p:sp>
      <p:sp>
        <p:nvSpPr>
          <p:cNvPr id="81960" name="Text Box 40">
            <a:extLst>
              <a:ext uri="{FF2B5EF4-FFF2-40B4-BE49-F238E27FC236}">
                <a16:creationId xmlns:a16="http://schemas.microsoft.com/office/drawing/2014/main" id="{5D393B06-EB2F-F2F5-8C12-26EE33F6F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172200"/>
            <a:ext cx="764350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/>
              </a:rPr>
              <a:t>Wired networks use this approach, with poor results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EC864575-EFB6-4425-979B-8BF2D93ACB0E}"/>
              </a:ext>
            </a:extLst>
          </p:cNvPr>
          <p:cNvSpPr txBox="1">
            <a:spLocks/>
          </p:cNvSpPr>
          <p:nvPr/>
        </p:nvSpPr>
        <p:spPr>
          <a:xfrm>
            <a:off x="352254" y="335001"/>
            <a:ext cx="7801146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824534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9" grpId="0" autoUpdateAnimBg="0"/>
      <p:bldP spid="81960" grpId="0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3F34E-14DD-416C-C853-ECD6A63F0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7A312E7-81D5-E863-F96D-D198FCCF59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8001000" y="6324600"/>
            <a:ext cx="914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kern="0"/>
            </a:defPPr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E6DC49-94C5-441A-8361-BBAD8F3388BC}" type="slidenum">
              <a:rPr lang="en-US" altLang="en-US" smtClean="0"/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/>
            </a:endParaRPr>
          </a:p>
        </p:txBody>
      </p:sp>
      <p:sp>
        <p:nvSpPr>
          <p:cNvPr id="1884162" name="Rectangle 2">
            <a:extLst>
              <a:ext uri="{FF2B5EF4-FFF2-40B4-BE49-F238E27FC236}">
                <a16:creationId xmlns:a16="http://schemas.microsoft.com/office/drawing/2014/main" id="{254C0E6C-B612-615F-13E8-1E79138BB6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200400"/>
            <a:ext cx="8305800" cy="430887"/>
          </a:xfrm>
        </p:spPr>
        <p:txBody>
          <a:bodyPr/>
          <a:lstStyle/>
          <a:p>
            <a:r>
              <a:rPr lang="en-US" sz="2800" dirty="0"/>
              <a:t>Understanding </a:t>
            </a:r>
            <a:r>
              <a:rPr lang="en-US" sz="2800" dirty="0">
                <a:solidFill>
                  <a:srgbClr val="FF0000"/>
                </a:solidFill>
              </a:rPr>
              <a:t>Wireless </a:t>
            </a:r>
            <a:r>
              <a:rPr lang="en-US" sz="2800" dirty="0"/>
              <a:t>Communication: </a:t>
            </a:r>
            <a:r>
              <a:rPr lang="en-US" sz="2800" dirty="0">
                <a:solidFill>
                  <a:srgbClr val="00B050"/>
                </a:solidFill>
              </a:rPr>
              <a:t>Design Adaptations</a:t>
            </a:r>
          </a:p>
        </p:txBody>
      </p:sp>
    </p:spTree>
    <p:extLst>
      <p:ext uri="{BB962C8B-B14F-4D97-AF65-F5344CB8AC3E}">
        <p14:creationId xmlns:p14="http://schemas.microsoft.com/office/powerpoint/2010/main" val="317089680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454FB-9BC6-4E2F-1C87-397A8A715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>
            <a:extLst>
              <a:ext uri="{FF2B5EF4-FFF2-40B4-BE49-F238E27FC236}">
                <a16:creationId xmlns:a16="http://schemas.microsoft.com/office/drawing/2014/main" id="{99803C1A-2588-27AF-6546-07EBBBA037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Design Goals </a:t>
            </a:r>
          </a:p>
        </p:txBody>
      </p:sp>
      <p:sp>
        <p:nvSpPr>
          <p:cNvPr id="196611" name="Rectangle 3">
            <a:extLst>
              <a:ext uri="{FF2B5EF4-FFF2-40B4-BE49-F238E27FC236}">
                <a16:creationId xmlns:a16="http://schemas.microsoft.com/office/drawing/2014/main" id="{0F44F32B-DE22-8AE4-8036-83FAE5A8C8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b="0" dirty="0"/>
              <a:t>Maximize the transmission rate</a:t>
            </a:r>
          </a:p>
          <a:p>
            <a:pPr>
              <a:lnSpc>
                <a:spcPct val="90000"/>
              </a:lnSpc>
            </a:pPr>
            <a:r>
              <a:rPr lang="en-US" sz="2400" b="0" dirty="0"/>
              <a:t>Minimize the probability of error</a:t>
            </a:r>
          </a:p>
          <a:p>
            <a:pPr>
              <a:lnSpc>
                <a:spcPct val="90000"/>
              </a:lnSpc>
            </a:pPr>
            <a:r>
              <a:rPr lang="en-US" sz="2400" b="0" dirty="0"/>
              <a:t>Minimize the required power</a:t>
            </a:r>
          </a:p>
          <a:p>
            <a:pPr>
              <a:lnSpc>
                <a:spcPct val="90000"/>
              </a:lnSpc>
            </a:pPr>
            <a:r>
              <a:rPr lang="en-US" sz="2400" b="0" dirty="0"/>
              <a:t>Minimize the required system bandwidth</a:t>
            </a:r>
          </a:p>
          <a:p>
            <a:pPr>
              <a:lnSpc>
                <a:spcPct val="90000"/>
              </a:lnSpc>
            </a:pPr>
            <a:r>
              <a:rPr lang="en-US" sz="2400" b="0" dirty="0"/>
              <a:t>Maximize system utilization</a:t>
            </a:r>
          </a:p>
          <a:p>
            <a:pPr>
              <a:lnSpc>
                <a:spcPct val="90000"/>
              </a:lnSpc>
            </a:pPr>
            <a:r>
              <a:rPr lang="en-US" sz="2400" b="0" dirty="0"/>
              <a:t>Minimize system complexity</a:t>
            </a:r>
          </a:p>
          <a:p>
            <a:pPr>
              <a:lnSpc>
                <a:spcPct val="90000"/>
              </a:lnSpc>
            </a:pPr>
            <a:r>
              <a:rPr lang="en-US" sz="2400" b="0" dirty="0"/>
              <a:t>Minimize communication delay</a:t>
            </a:r>
          </a:p>
          <a:p>
            <a:pPr>
              <a:lnSpc>
                <a:spcPct val="90000"/>
              </a:lnSpc>
            </a:pPr>
            <a:endParaRPr lang="en-US" sz="2400" b="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b="0" i="1" dirty="0"/>
              <a:t>Some of these goals are in conflict with each other!</a:t>
            </a:r>
            <a:endParaRPr lang="en-US" b="0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AB3079E4-B196-4AF9-E51B-7DCD3914E2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89CF0B-6BFB-4750-901A-37E970C70430}" type="slidenum">
              <a:rPr kumimoji="0" lang="sv-SE" sz="1400" b="1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sv-SE" sz="1500" b="1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charset="0"/>
              <a:ea typeface="+mn-ea"/>
              <a:cs typeface="Arial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469425A0-66AF-ED3B-318E-34280155F036}"/>
              </a:ext>
            </a:extLst>
          </p:cNvPr>
          <p:cNvSpPr txBox="1">
            <a:spLocks/>
          </p:cNvSpPr>
          <p:nvPr/>
        </p:nvSpPr>
        <p:spPr>
          <a:xfrm>
            <a:off x="352254" y="335001"/>
            <a:ext cx="7801146" cy="69532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 lIns="0" tIns="12065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kern="0"/>
            </a:defPPr>
            <a:lvl1pPr marL="0"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kern="1200" cap="none">
                <a:solidFill>
                  <a:schemeClr val="tx1"/>
                </a:solidFill>
                <a:latin typeface="Trebuchet MS"/>
                <a:ea typeface="+mj-ea"/>
                <a:cs typeface="Trebuchet MS"/>
                <a:sym typeface="Arial"/>
              </a:defRPr>
            </a:lvl1pPr>
            <a:lvl2pPr marL="457200"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2700">
              <a:spcBef>
                <a:spcPts val="95"/>
              </a:spcBef>
              <a:defRPr/>
            </a:pP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143733220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23B3D-24E5-D0A2-12CF-3EB3A6056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56EE4394-2F80-39D9-9B28-10202D71E7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Evolution of Current Systems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0DBEE4B4-4AFB-CA49-5EFE-A69F173E03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2425" y="1717675"/>
            <a:ext cx="8591550" cy="41148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800" b="0" dirty="0"/>
              <a:t>Recent past</a:t>
            </a:r>
          </a:p>
          <a:p>
            <a:pPr lvl="1">
              <a:lnSpc>
                <a:spcPct val="70000"/>
              </a:lnSpc>
            </a:pPr>
            <a:r>
              <a:rPr lang="en-US" altLang="en-US" sz="2400" b="0" dirty="0"/>
              <a:t>2G Cellular: ~30-70 Kbps.</a:t>
            </a:r>
          </a:p>
          <a:p>
            <a:pPr lvl="1">
              <a:lnSpc>
                <a:spcPct val="70000"/>
              </a:lnSpc>
            </a:pPr>
            <a:r>
              <a:rPr lang="en-US" altLang="en-US" sz="2400" b="0" dirty="0"/>
              <a:t>WLANs: ~10 Mbps.</a:t>
            </a:r>
          </a:p>
          <a:p>
            <a:pPr lvl="1">
              <a:lnSpc>
                <a:spcPct val="70000"/>
              </a:lnSpc>
            </a:pPr>
            <a:r>
              <a:rPr lang="en-US" altLang="en-US" sz="2400" b="0" dirty="0"/>
              <a:t>3G Cellular: ~300 Kbps.</a:t>
            </a:r>
          </a:p>
          <a:p>
            <a:pPr lvl="1">
              <a:lnSpc>
                <a:spcPct val="70000"/>
              </a:lnSpc>
            </a:pPr>
            <a:r>
              <a:rPr lang="en-US" altLang="en-US" sz="2400" b="0" dirty="0"/>
              <a:t>WLANs: ~70 Mbps.</a:t>
            </a:r>
          </a:p>
          <a:p>
            <a:pPr>
              <a:lnSpc>
                <a:spcPct val="110000"/>
              </a:lnSpc>
            </a:pPr>
            <a:r>
              <a:rPr lang="en-US" altLang="en-US" sz="2800" b="0" dirty="0"/>
              <a:t>Technology Enhancements </a:t>
            </a:r>
          </a:p>
          <a:p>
            <a:pPr lvl="1">
              <a:lnSpc>
                <a:spcPct val="70000"/>
              </a:lnSpc>
            </a:pPr>
            <a:r>
              <a:rPr lang="en-US" altLang="en-US" sz="2400" b="0" dirty="0">
                <a:solidFill>
                  <a:srgbClr val="000000"/>
                </a:solidFill>
              </a:rPr>
              <a:t>Hardware:</a:t>
            </a:r>
            <a:r>
              <a:rPr lang="en-US" altLang="en-US" sz="2400" b="0" dirty="0"/>
              <a:t> Better batteries. Better circuits/processors.</a:t>
            </a:r>
          </a:p>
          <a:p>
            <a:pPr lvl="1">
              <a:lnSpc>
                <a:spcPct val="70000"/>
              </a:lnSpc>
            </a:pPr>
            <a:r>
              <a:rPr lang="en-US" altLang="en-US" sz="2400" b="0" dirty="0">
                <a:solidFill>
                  <a:srgbClr val="000000"/>
                </a:solidFill>
              </a:rPr>
              <a:t>Link:</a:t>
            </a:r>
            <a:r>
              <a:rPr lang="en-US" altLang="en-US" sz="2400" b="0" dirty="0"/>
              <a:t> Antennas, modulation, coding, adaptivity, DSP, BW.</a:t>
            </a:r>
          </a:p>
          <a:p>
            <a:pPr lvl="1">
              <a:lnSpc>
                <a:spcPct val="70000"/>
              </a:lnSpc>
            </a:pPr>
            <a:r>
              <a:rPr lang="en-US" altLang="en-US" sz="2400" b="0" dirty="0">
                <a:solidFill>
                  <a:srgbClr val="000000"/>
                </a:solidFill>
              </a:rPr>
              <a:t>Network:</a:t>
            </a:r>
            <a:r>
              <a:rPr lang="en-US" altLang="en-US" sz="2400" b="0" dirty="0"/>
              <a:t> Dynamic resource allocation. Mobility support.</a:t>
            </a:r>
          </a:p>
          <a:p>
            <a:pPr lvl="1">
              <a:lnSpc>
                <a:spcPct val="70000"/>
              </a:lnSpc>
            </a:pPr>
            <a:r>
              <a:rPr lang="en-US" altLang="en-US" sz="2400" b="0" dirty="0">
                <a:solidFill>
                  <a:srgbClr val="000000"/>
                </a:solidFill>
              </a:rPr>
              <a:t>Application:</a:t>
            </a:r>
            <a:r>
              <a:rPr lang="en-US" altLang="en-US" sz="2400" b="0" dirty="0"/>
              <a:t> Soft and adaptive QoS.</a:t>
            </a:r>
          </a:p>
          <a:p>
            <a:pPr lvl="1">
              <a:lnSpc>
                <a:spcPct val="70000"/>
              </a:lnSpc>
            </a:pPr>
            <a:endParaRPr lang="en-US" altLang="en-US" b="0" dirty="0"/>
          </a:p>
        </p:txBody>
      </p:sp>
      <p:sp>
        <p:nvSpPr>
          <p:cNvPr id="96260" name="Text Box 4">
            <a:extLst>
              <a:ext uri="{FF2B5EF4-FFF2-40B4-BE49-F238E27FC236}">
                <a16:creationId xmlns:a16="http://schemas.microsoft.com/office/drawing/2014/main" id="{29FA5C9B-5FB9-C0FE-2B1D-946DCD7A3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25" y="5749925"/>
            <a:ext cx="184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4000" b="0" i="0" u="none" strike="noStrike" kern="120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365564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10C33-EABC-6E90-B2AF-E1234CEB5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6D02D184-2867-8C66-49F8-3B9B4B83C7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Design Challenges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A91ABD7C-3724-BCE7-24C3-71D3708CE5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0388" y="1936750"/>
            <a:ext cx="800735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b="0" dirty="0"/>
              <a:t>Wireless channels are a difficult and capacity-limited broadcast communications medium</a:t>
            </a:r>
          </a:p>
          <a:p>
            <a:pPr>
              <a:lnSpc>
                <a:spcPct val="20000"/>
              </a:lnSpc>
            </a:pPr>
            <a:endParaRPr lang="en-US" altLang="en-US" sz="2800" b="0" dirty="0"/>
          </a:p>
          <a:p>
            <a:pPr>
              <a:lnSpc>
                <a:spcPct val="90000"/>
              </a:lnSpc>
            </a:pPr>
            <a:r>
              <a:rPr lang="en-US" altLang="en-US" sz="2800" b="0" dirty="0"/>
              <a:t>Traffic patterns, user locations, and network conditions are constantly changing</a:t>
            </a:r>
          </a:p>
          <a:p>
            <a:pPr>
              <a:lnSpc>
                <a:spcPct val="30000"/>
              </a:lnSpc>
            </a:pPr>
            <a:endParaRPr lang="en-US" altLang="en-US" sz="2800" b="0" dirty="0"/>
          </a:p>
          <a:p>
            <a:pPr>
              <a:lnSpc>
                <a:spcPct val="90000"/>
              </a:lnSpc>
            </a:pPr>
            <a:r>
              <a:rPr lang="en-US" altLang="en-US" sz="2800" b="0" dirty="0"/>
              <a:t>Applications are heterogeneous with hard constraints that must be met by the network</a:t>
            </a:r>
          </a:p>
          <a:p>
            <a:pPr>
              <a:lnSpc>
                <a:spcPct val="20000"/>
              </a:lnSpc>
            </a:pPr>
            <a:endParaRPr lang="en-US" altLang="en-US" sz="2800" b="0" dirty="0"/>
          </a:p>
          <a:p>
            <a:pPr>
              <a:lnSpc>
                <a:spcPct val="90000"/>
              </a:lnSpc>
            </a:pPr>
            <a:r>
              <a:rPr lang="en-US" altLang="en-US" sz="2800" b="0" dirty="0"/>
              <a:t>Energy and delay constraints change design principles across all layers of the protocol stack</a:t>
            </a:r>
          </a:p>
        </p:txBody>
      </p:sp>
    </p:spTree>
    <p:extLst>
      <p:ext uri="{BB962C8B-B14F-4D97-AF65-F5344CB8AC3E}">
        <p14:creationId xmlns:p14="http://schemas.microsoft.com/office/powerpoint/2010/main" val="179628748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588F17D-2F40-4CED-05E7-CAB06ADFD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2" name="Rectangle 22">
            <a:extLst>
              <a:ext uri="{FF2B5EF4-FFF2-40B4-BE49-F238E27FC236}">
                <a16:creationId xmlns:a16="http://schemas.microsoft.com/office/drawing/2014/main" id="{39D3B6EA-E3C3-C986-26E7-2F185F8D0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057400"/>
            <a:ext cx="7086600" cy="1295400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</a:rPr>
              <a:t>Computer Science</a:t>
            </a: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DFCA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0261" name="Rectangle 21">
            <a:extLst>
              <a:ext uri="{FF2B5EF4-FFF2-40B4-BE49-F238E27FC236}">
                <a16:creationId xmlns:a16="http://schemas.microsoft.com/office/drawing/2014/main" id="{E9905033-C022-07A9-1712-A46C80F26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886200"/>
            <a:ext cx="7086600" cy="2057400"/>
          </a:xfrm>
          <a:prstGeom prst="rect">
            <a:avLst/>
          </a:prstGeom>
          <a:solidFill>
            <a:srgbClr val="800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</a:rPr>
              <a:t>Electrical Engineering</a:t>
            </a: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70E5AD75-1155-98C1-EA0B-EC6AC6EA53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OSI Model</a:t>
            </a:r>
          </a:p>
        </p:txBody>
      </p:sp>
      <p:grpSp>
        <p:nvGrpSpPr>
          <p:cNvPr id="10264" name="Group 24">
            <a:extLst>
              <a:ext uri="{FF2B5EF4-FFF2-40B4-BE49-F238E27FC236}">
                <a16:creationId xmlns:a16="http://schemas.microsoft.com/office/drawing/2014/main" id="{3848B79D-86A8-98AA-8194-40FE7995C712}"/>
              </a:ext>
            </a:extLst>
          </p:cNvPr>
          <p:cNvGrpSpPr>
            <a:grpSpLocks/>
          </p:cNvGrpSpPr>
          <p:nvPr/>
        </p:nvGrpSpPr>
        <p:grpSpPr bwMode="auto">
          <a:xfrm>
            <a:off x="1408113" y="4775200"/>
            <a:ext cx="1903412" cy="563563"/>
            <a:chOff x="887" y="3008"/>
            <a:chExt cx="1199" cy="355"/>
          </a:xfrm>
        </p:grpSpPr>
        <p:sp>
          <p:nvSpPr>
            <p:cNvPr id="10247" name="Rectangle 7">
              <a:extLst>
                <a:ext uri="{FF2B5EF4-FFF2-40B4-BE49-F238E27FC236}">
                  <a16:creationId xmlns:a16="http://schemas.microsoft.com/office/drawing/2014/main" id="{FA0FF9AE-B4AD-6E99-F20C-0C575FC1B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" y="3008"/>
              <a:ext cx="1199" cy="355"/>
            </a:xfrm>
            <a:prstGeom prst="rect">
              <a:avLst/>
            </a:prstGeom>
            <a:solidFill>
              <a:srgbClr val="FF99FF"/>
            </a:solidFill>
            <a:ln w="12700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99FF"/>
              </a:extrusionClr>
              <a:contourClr>
                <a:srgbClr val="FF99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  <a:flatTx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248" name="Text Box 8">
              <a:extLst>
                <a:ext uri="{FF2B5EF4-FFF2-40B4-BE49-F238E27FC236}">
                  <a16:creationId xmlns:a16="http://schemas.microsoft.com/office/drawing/2014/main" id="{C378871A-FD66-EF84-868C-75594196F2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5" y="3068"/>
              <a:ext cx="4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0FA2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74747"/>
                  </a:solidFill>
                  <a:effectLst/>
                  <a:uLnTx/>
                  <a:uFillTx/>
                </a:rPr>
                <a:t>PHY</a:t>
              </a:r>
            </a:p>
          </p:txBody>
        </p:sp>
      </p:grpSp>
      <p:grpSp>
        <p:nvGrpSpPr>
          <p:cNvPr id="10265" name="Group 25">
            <a:extLst>
              <a:ext uri="{FF2B5EF4-FFF2-40B4-BE49-F238E27FC236}">
                <a16:creationId xmlns:a16="http://schemas.microsoft.com/office/drawing/2014/main" id="{D1864050-A043-91E8-C5CF-C48C5DA29F66}"/>
              </a:ext>
            </a:extLst>
          </p:cNvPr>
          <p:cNvGrpSpPr>
            <a:grpSpLocks/>
          </p:cNvGrpSpPr>
          <p:nvPr/>
        </p:nvGrpSpPr>
        <p:grpSpPr bwMode="auto">
          <a:xfrm>
            <a:off x="1422400" y="4038600"/>
            <a:ext cx="1903413" cy="563563"/>
            <a:chOff x="896" y="2544"/>
            <a:chExt cx="1199" cy="355"/>
          </a:xfrm>
        </p:grpSpPr>
        <p:sp>
          <p:nvSpPr>
            <p:cNvPr id="10249" name="Rectangle 9">
              <a:extLst>
                <a:ext uri="{FF2B5EF4-FFF2-40B4-BE49-F238E27FC236}">
                  <a16:creationId xmlns:a16="http://schemas.microsoft.com/office/drawing/2014/main" id="{8070082E-C021-B50C-862A-1039861F03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" y="2544"/>
              <a:ext cx="1199" cy="355"/>
            </a:xfrm>
            <a:prstGeom prst="rect">
              <a:avLst/>
            </a:prstGeom>
            <a:solidFill>
              <a:srgbClr val="99CCFF"/>
            </a:solidFill>
            <a:ln w="12700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9CCFF"/>
              </a:extrusionClr>
              <a:contourClr>
                <a:srgbClr val="99CC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  <a:flatTx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250" name="Text Box 10">
              <a:extLst>
                <a:ext uri="{FF2B5EF4-FFF2-40B4-BE49-F238E27FC236}">
                  <a16:creationId xmlns:a16="http://schemas.microsoft.com/office/drawing/2014/main" id="{283E22B9-AA47-D6F7-2ACB-92CDC8B0F3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0" y="2604"/>
              <a:ext cx="3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0FA2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74747"/>
                  </a:solidFill>
                  <a:effectLst/>
                  <a:uLnTx/>
                  <a:uFillTx/>
                </a:rPr>
                <a:t>Link</a:t>
              </a:r>
            </a:p>
          </p:txBody>
        </p:sp>
      </p:grpSp>
      <p:grpSp>
        <p:nvGrpSpPr>
          <p:cNvPr id="10266" name="Group 26">
            <a:extLst>
              <a:ext uri="{FF2B5EF4-FFF2-40B4-BE49-F238E27FC236}">
                <a16:creationId xmlns:a16="http://schemas.microsoft.com/office/drawing/2014/main" id="{AE994A57-78D2-20BD-CA21-57B0CE53F91D}"/>
              </a:ext>
            </a:extLst>
          </p:cNvPr>
          <p:cNvGrpSpPr>
            <a:grpSpLocks/>
          </p:cNvGrpSpPr>
          <p:nvPr/>
        </p:nvGrpSpPr>
        <p:grpSpPr bwMode="auto">
          <a:xfrm>
            <a:off x="1409700" y="2946400"/>
            <a:ext cx="1903413" cy="563563"/>
            <a:chOff x="888" y="1856"/>
            <a:chExt cx="1199" cy="355"/>
          </a:xfrm>
        </p:grpSpPr>
        <p:sp>
          <p:nvSpPr>
            <p:cNvPr id="10251" name="Rectangle 11">
              <a:extLst>
                <a:ext uri="{FF2B5EF4-FFF2-40B4-BE49-F238E27FC236}">
                  <a16:creationId xmlns:a16="http://schemas.microsoft.com/office/drawing/2014/main" id="{6539E30D-9295-C169-F7FC-1F2DA651DC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" y="1856"/>
              <a:ext cx="1199" cy="355"/>
            </a:xfrm>
            <a:prstGeom prst="rect">
              <a:avLst/>
            </a:prstGeom>
            <a:solidFill>
              <a:srgbClr val="FFFF99"/>
            </a:solidFill>
            <a:ln w="12700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99"/>
              </a:extrusionClr>
              <a:contourClr>
                <a:srgbClr val="FFFF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  <a:flatTx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252" name="Text Box 12">
              <a:extLst>
                <a:ext uri="{FF2B5EF4-FFF2-40B4-BE49-F238E27FC236}">
                  <a16:creationId xmlns:a16="http://schemas.microsoft.com/office/drawing/2014/main" id="{2D7C1F75-B155-8118-5F8C-CAA1C9BC67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0" y="1916"/>
              <a:ext cx="64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0FA2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74747"/>
                  </a:solidFill>
                  <a:effectLst/>
                  <a:uLnTx/>
                  <a:uFillTx/>
                </a:rPr>
                <a:t>Network</a:t>
              </a:r>
            </a:p>
          </p:txBody>
        </p:sp>
      </p:grpSp>
      <p:grpSp>
        <p:nvGrpSpPr>
          <p:cNvPr id="10267" name="Group 27">
            <a:extLst>
              <a:ext uri="{FF2B5EF4-FFF2-40B4-BE49-F238E27FC236}">
                <a16:creationId xmlns:a16="http://schemas.microsoft.com/office/drawing/2014/main" id="{0D8ADB1A-7EFC-E545-0580-CF68ABAD95A8}"/>
              </a:ext>
            </a:extLst>
          </p:cNvPr>
          <p:cNvGrpSpPr>
            <a:grpSpLocks/>
          </p:cNvGrpSpPr>
          <p:nvPr/>
        </p:nvGrpSpPr>
        <p:grpSpPr bwMode="auto">
          <a:xfrm>
            <a:off x="1422400" y="2209800"/>
            <a:ext cx="1903413" cy="563563"/>
            <a:chOff x="896" y="1392"/>
            <a:chExt cx="1199" cy="355"/>
          </a:xfrm>
        </p:grpSpPr>
        <p:sp>
          <p:nvSpPr>
            <p:cNvPr id="10253" name="Rectangle 13">
              <a:extLst>
                <a:ext uri="{FF2B5EF4-FFF2-40B4-BE49-F238E27FC236}">
                  <a16:creationId xmlns:a16="http://schemas.microsoft.com/office/drawing/2014/main" id="{36A6E0DA-4F39-3CFB-A5DD-B87710207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" y="1392"/>
              <a:ext cx="1199" cy="355"/>
            </a:xfrm>
            <a:prstGeom prst="rect">
              <a:avLst/>
            </a:prstGeom>
            <a:solidFill>
              <a:srgbClr val="FFCC99"/>
            </a:solidFill>
            <a:ln w="12700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CC99"/>
              </a:extrusionClr>
              <a:contourClr>
                <a:srgbClr val="FFCC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  <a:flatTx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254" name="Text Box 14">
              <a:extLst>
                <a:ext uri="{FF2B5EF4-FFF2-40B4-BE49-F238E27FC236}">
                  <a16:creationId xmlns:a16="http://schemas.microsoft.com/office/drawing/2014/main" id="{44BAEB94-8327-3611-803D-6695D280EF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0" y="1452"/>
              <a:ext cx="8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0FA2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74747"/>
                  </a:solidFill>
                  <a:effectLst/>
                  <a:uLnTx/>
                  <a:uFillTx/>
                </a:rPr>
                <a:t>Application</a:t>
              </a:r>
            </a:p>
          </p:txBody>
        </p:sp>
      </p:grpSp>
      <p:grpSp>
        <p:nvGrpSpPr>
          <p:cNvPr id="10258" name="Group 18">
            <a:extLst>
              <a:ext uri="{FF2B5EF4-FFF2-40B4-BE49-F238E27FC236}">
                <a16:creationId xmlns:a16="http://schemas.microsoft.com/office/drawing/2014/main" id="{A2AFC4F9-D673-E6E6-4EE3-156BD64C8484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5532438"/>
            <a:ext cx="1903413" cy="563562"/>
            <a:chOff x="868" y="3140"/>
            <a:chExt cx="1199" cy="355"/>
          </a:xfrm>
        </p:grpSpPr>
        <p:sp>
          <p:nvSpPr>
            <p:cNvPr id="10259" name="Rectangle 19">
              <a:extLst>
                <a:ext uri="{FF2B5EF4-FFF2-40B4-BE49-F238E27FC236}">
                  <a16:creationId xmlns:a16="http://schemas.microsoft.com/office/drawing/2014/main" id="{3C6AA927-EB36-5019-58EB-A7D801B18A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" y="3140"/>
              <a:ext cx="1199" cy="355"/>
            </a:xfrm>
            <a:prstGeom prst="rect">
              <a:avLst/>
            </a:prstGeom>
            <a:solidFill>
              <a:srgbClr val="F0FA24"/>
            </a:solidFill>
            <a:ln w="12700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0FA24"/>
              </a:extrusionClr>
              <a:contourClr>
                <a:srgbClr val="F0FA24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  <a:flatTx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260" name="Text Box 20">
              <a:extLst>
                <a:ext uri="{FF2B5EF4-FFF2-40B4-BE49-F238E27FC236}">
                  <a16:creationId xmlns:a16="http://schemas.microsoft.com/office/drawing/2014/main" id="{C4B7B566-E072-F0C8-BE47-ADFC96EB7E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6" y="3200"/>
              <a:ext cx="7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0FA2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474747"/>
                  </a:solidFill>
                  <a:effectLst/>
                  <a:uLnTx/>
                  <a:uFillTx/>
                </a:rPr>
                <a:t>Spectrum</a:t>
              </a:r>
            </a:p>
          </p:txBody>
        </p:sp>
      </p:grpSp>
      <p:sp>
        <p:nvSpPr>
          <p:cNvPr id="10271" name="AutoShape 31">
            <a:extLst>
              <a:ext uri="{FF2B5EF4-FFF2-40B4-BE49-F238E27FC236}">
                <a16:creationId xmlns:a16="http://schemas.microsoft.com/office/drawing/2014/main" id="{8799D6CE-793D-EDD9-B84B-1DBBD5728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133600"/>
            <a:ext cx="762000" cy="3810000"/>
          </a:xfrm>
          <a:prstGeom prst="upDownArrow">
            <a:avLst>
              <a:gd name="adj1" fmla="val 50000"/>
              <a:gd name="adj2" fmla="val 100000"/>
            </a:avLst>
          </a:prstGeom>
          <a:solidFill>
            <a:srgbClr val="FF9900">
              <a:alpha val="8200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87535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2" grpId="0" animBg="1"/>
      <p:bldP spid="1026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0E95C-5A46-2993-47D2-401F787AF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041A38DC-1CB4-E566-9199-37DE816EB7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Crosslayer Design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438A3991-060C-38AB-B722-C9CDC3E424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1804988"/>
            <a:ext cx="7067550" cy="4368800"/>
          </a:xfrm>
          <a:noFill/>
          <a:ln/>
        </p:spPr>
        <p:txBody>
          <a:bodyPr/>
          <a:lstStyle/>
          <a:p>
            <a:r>
              <a:rPr lang="en-US" altLang="en-US" b="0" dirty="0"/>
              <a:t>Hardware</a:t>
            </a:r>
          </a:p>
          <a:p>
            <a:r>
              <a:rPr lang="en-US" altLang="en-US" b="0" dirty="0"/>
              <a:t>Link</a:t>
            </a:r>
          </a:p>
          <a:p>
            <a:pPr lvl="1">
              <a:lnSpc>
                <a:spcPct val="0"/>
              </a:lnSpc>
              <a:buFont typeface="Wingdings" panose="05000000000000000000" pitchFamily="2" charset="2"/>
              <a:buNone/>
            </a:pPr>
            <a:endParaRPr lang="en-US" altLang="en-US" sz="2400" b="0" dirty="0"/>
          </a:p>
          <a:p>
            <a:pPr>
              <a:lnSpc>
                <a:spcPct val="110000"/>
              </a:lnSpc>
            </a:pPr>
            <a:r>
              <a:rPr lang="en-US" altLang="en-US" b="0" dirty="0"/>
              <a:t>Access</a:t>
            </a:r>
          </a:p>
          <a:p>
            <a:r>
              <a:rPr lang="en-US" altLang="en-US" b="0" dirty="0"/>
              <a:t>Network</a:t>
            </a:r>
            <a:endParaRPr lang="en-US" altLang="en-US" sz="2800" b="0" dirty="0"/>
          </a:p>
          <a:p>
            <a:r>
              <a:rPr lang="en-US" altLang="en-US" b="0" dirty="0"/>
              <a:t>Application</a:t>
            </a:r>
          </a:p>
          <a:p>
            <a:endParaRPr lang="en-US" altLang="en-US" b="0" dirty="0"/>
          </a:p>
        </p:txBody>
      </p:sp>
      <p:sp>
        <p:nvSpPr>
          <p:cNvPr id="100356" name="AutoShape 4">
            <a:extLst>
              <a:ext uri="{FF2B5EF4-FFF2-40B4-BE49-F238E27FC236}">
                <a16:creationId xmlns:a16="http://schemas.microsoft.com/office/drawing/2014/main" id="{85318C04-0254-F5F1-C06A-897780F40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6763" y="2058988"/>
            <a:ext cx="1390650" cy="3184525"/>
          </a:xfrm>
          <a:prstGeom prst="upDownArrow">
            <a:avLst>
              <a:gd name="adj1" fmla="val 50000"/>
              <a:gd name="adj2" fmla="val 45799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0357" name="Text Box 5">
            <a:extLst>
              <a:ext uri="{FF2B5EF4-FFF2-40B4-BE49-F238E27FC236}">
                <a16:creationId xmlns:a16="http://schemas.microsoft.com/office/drawing/2014/main" id="{4375CE09-BFDC-94D0-E5C5-814BC900C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2475" y="2997200"/>
            <a:ext cx="27336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C008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Delay Constraints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C008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Rate Constraints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C008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Energy Constraints</a:t>
            </a:r>
          </a:p>
        </p:txBody>
      </p:sp>
      <p:sp>
        <p:nvSpPr>
          <p:cNvPr id="100358" name="Text Box 6">
            <a:extLst>
              <a:ext uri="{FF2B5EF4-FFF2-40B4-BE49-F238E27FC236}">
                <a16:creationId xmlns:a16="http://schemas.microsoft.com/office/drawing/2014/main" id="{9A667FF7-9839-05C3-4A91-74C1170D3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2908" y="5321300"/>
            <a:ext cx="501432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Adapt across design layers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Reduce uncertainty through scheduling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Provide robustness via diversity</a:t>
            </a:r>
          </a:p>
        </p:txBody>
      </p:sp>
    </p:spTree>
    <p:extLst>
      <p:ext uri="{BB962C8B-B14F-4D97-AF65-F5344CB8AC3E}">
        <p14:creationId xmlns:p14="http://schemas.microsoft.com/office/powerpoint/2010/main" val="984370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s426">
  <a:themeElements>
    <a:clrScheme name="">
      <a:dk1>
        <a:srgbClr val="000000"/>
      </a:dk1>
      <a:lt1>
        <a:srgbClr val="FFFFFF"/>
      </a:lt1>
      <a:dk2>
        <a:srgbClr val="000000"/>
      </a:dk2>
      <a:lt2>
        <a:srgbClr val="777777"/>
      </a:lt2>
      <a:accent1>
        <a:srgbClr val="F47A00"/>
      </a:accent1>
      <a:accent2>
        <a:srgbClr val="000066"/>
      </a:accent2>
      <a:accent3>
        <a:srgbClr val="FFFFFF"/>
      </a:accent3>
      <a:accent4>
        <a:srgbClr val="000000"/>
      </a:accent4>
      <a:accent5>
        <a:srgbClr val="F8BEAA"/>
      </a:accent5>
      <a:accent6>
        <a:srgbClr val="00005C"/>
      </a:accent6>
      <a:hlink>
        <a:srgbClr val="A50021"/>
      </a:hlink>
      <a:folHlink>
        <a:srgbClr val="008000"/>
      </a:folHlink>
    </a:clrScheme>
    <a:fontScheme name="cs426">
      <a:majorFont>
        <a:latin typeface="Helvetica"/>
        <a:ea typeface=""/>
        <a:cs typeface="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0000FF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0000FF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anose="020B0604020202020204" pitchFamily="34" charset="0"/>
          </a:defRPr>
        </a:defPPr>
      </a:lstStyle>
    </a:lnDef>
  </a:objectDefaults>
  <a:extraClrSchemeLst>
    <a:extraClrScheme>
      <a:clrScheme name="cs426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426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426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426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426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426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426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BlueRed">
  <a:themeElements>
    <a:clrScheme name="">
      <a:dk1>
        <a:srgbClr val="474747"/>
      </a:dk1>
      <a:lt1>
        <a:srgbClr val="FFFFFF"/>
      </a:lt1>
      <a:dk2>
        <a:srgbClr val="772655"/>
      </a:dk2>
      <a:lt2>
        <a:srgbClr val="00DFCA"/>
      </a:lt2>
      <a:accent1>
        <a:srgbClr val="DC0081"/>
      </a:accent1>
      <a:accent2>
        <a:srgbClr val="FAFD00"/>
      </a:accent2>
      <a:accent3>
        <a:srgbClr val="BDACB4"/>
      </a:accent3>
      <a:accent4>
        <a:srgbClr val="DADADA"/>
      </a:accent4>
      <a:accent5>
        <a:srgbClr val="EBAAC1"/>
      </a:accent5>
      <a:accent6>
        <a:srgbClr val="E3E500"/>
      </a:accent6>
      <a:hlink>
        <a:srgbClr val="FE9B03"/>
      </a:hlink>
      <a:folHlink>
        <a:srgbClr val="D989B8"/>
      </a:folHlink>
    </a:clrScheme>
    <a:fontScheme name="BlueRed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ueRed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Red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1_BlueRed">
  <a:themeElements>
    <a:clrScheme name="">
      <a:dk1>
        <a:srgbClr val="474747"/>
      </a:dk1>
      <a:lt1>
        <a:srgbClr val="FFFFFF"/>
      </a:lt1>
      <a:dk2>
        <a:srgbClr val="772655"/>
      </a:dk2>
      <a:lt2>
        <a:srgbClr val="00DFCA"/>
      </a:lt2>
      <a:accent1>
        <a:srgbClr val="DC0081"/>
      </a:accent1>
      <a:accent2>
        <a:srgbClr val="FAFD00"/>
      </a:accent2>
      <a:accent3>
        <a:srgbClr val="BDACB4"/>
      </a:accent3>
      <a:accent4>
        <a:srgbClr val="DADADA"/>
      </a:accent4>
      <a:accent5>
        <a:srgbClr val="EBAAC1"/>
      </a:accent5>
      <a:accent6>
        <a:srgbClr val="E3E500"/>
      </a:accent6>
      <a:hlink>
        <a:srgbClr val="FE9B03"/>
      </a:hlink>
      <a:folHlink>
        <a:srgbClr val="D989B8"/>
      </a:folHlink>
    </a:clrScheme>
    <a:fontScheme name="BlueRed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ueRed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Red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1880</TotalTime>
  <Words>5486</Words>
  <Application>Microsoft Office PowerPoint</Application>
  <PresentationFormat>On-screen Show (4:3)</PresentationFormat>
  <Paragraphs>1373</Paragraphs>
  <Slides>80</Slides>
  <Notes>52</Notes>
  <HiddenSlides>0</HiddenSlides>
  <MMClips>0</MMClips>
  <ScaleCrop>false</ScaleCrop>
  <HeadingPairs>
    <vt:vector size="8" baseType="variant">
      <vt:variant>
        <vt:lpstr>Fonts Used</vt:lpstr>
      </vt:variant>
      <vt:variant>
        <vt:i4>18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104" baseType="lpstr">
      <vt:lpstr>SimSun</vt:lpstr>
      <vt:lpstr>Aharoni</vt:lpstr>
      <vt:lpstr>Amasis MT Pro Medium</vt:lpstr>
      <vt:lpstr>Aptos</vt:lpstr>
      <vt:lpstr>Arial</vt:lpstr>
      <vt:lpstr>Arial MT</vt:lpstr>
      <vt:lpstr>Bookman Old Style</vt:lpstr>
      <vt:lpstr>Calibri</vt:lpstr>
      <vt:lpstr>Comic Sans MS</vt:lpstr>
      <vt:lpstr>Courier New</vt:lpstr>
      <vt:lpstr>Garamond</vt:lpstr>
      <vt:lpstr>Georgia</vt:lpstr>
      <vt:lpstr>Helvetica</vt:lpstr>
      <vt:lpstr>Symbol</vt:lpstr>
      <vt:lpstr>Times New Roman</vt:lpstr>
      <vt:lpstr>Webdings</vt:lpstr>
      <vt:lpstr>Wingdings</vt:lpstr>
      <vt:lpstr>ZapfDingbats</vt:lpstr>
      <vt:lpstr>Office Theme</vt:lpstr>
      <vt:lpstr>cs426</vt:lpstr>
      <vt:lpstr>BlueRed</vt:lpstr>
      <vt:lpstr>1_BlueRed</vt:lpstr>
      <vt:lpstr>Default Design</vt:lpstr>
      <vt:lpstr>Clip</vt:lpstr>
      <vt:lpstr>CSE 4615:: Wireless Networks</vt:lpstr>
      <vt:lpstr>What You Learn in This Course</vt:lpstr>
      <vt:lpstr>Structure of the Course</vt:lpstr>
      <vt:lpstr>Recourses of the Course</vt:lpstr>
      <vt:lpstr>Fundamentals of Communications</vt:lpstr>
      <vt:lpstr>PowerPoint Presentation</vt:lpstr>
      <vt:lpstr>Wired  Vs. Wireless Communication</vt:lpstr>
      <vt:lpstr>Wired  Vs. Wireless Communication</vt:lpstr>
      <vt:lpstr>Wired  Vs. Wireless Communication</vt:lpstr>
      <vt:lpstr>Wired  Vs. Wireless Communication</vt:lpstr>
      <vt:lpstr>Wired  Vs. Wireless Communication</vt:lpstr>
      <vt:lpstr>Wired  Vs. Wireless Communication</vt:lpstr>
      <vt:lpstr>Wired  Vs. Wireless Communication</vt:lpstr>
      <vt:lpstr>Wired  Vs. Wireless Communication</vt:lpstr>
      <vt:lpstr>Wired  Vs. Wireless Communication</vt:lpstr>
      <vt:lpstr>Wired  Vs. Wireless Communication</vt:lpstr>
      <vt:lpstr>Wired  Vs. Wireless Communication</vt:lpstr>
      <vt:lpstr>What Are the Limitations of Wireless Communications?</vt:lpstr>
      <vt:lpstr>Embracing Wireless: Key Motivations</vt:lpstr>
      <vt:lpstr>PowerPoint Presentation</vt:lpstr>
      <vt:lpstr>PowerPoint Presentation</vt:lpstr>
      <vt:lpstr>PowerPoint Presentation</vt:lpstr>
      <vt:lpstr>Wireless Link Characteristics</vt:lpstr>
      <vt:lpstr>Wireless Link Characteristics</vt:lpstr>
      <vt:lpstr>Wireless Link Characteristics</vt:lpstr>
      <vt:lpstr>Wireless Link Characteristics</vt:lpstr>
      <vt:lpstr>Impact of Multipath Propagation</vt:lpstr>
      <vt:lpstr>Wireless Link Characteristics– Fading</vt:lpstr>
      <vt:lpstr>Wireless Link Characteristics– Fading</vt:lpstr>
      <vt:lpstr>Wireless Link Characteristics– Fading</vt:lpstr>
      <vt:lpstr>Typical Picture</vt:lpstr>
      <vt:lpstr>Attenuation</vt:lpstr>
      <vt:lpstr>Attenuation: Propagation &amp; Range</vt:lpstr>
      <vt:lpstr>Signal Propagation Ranges</vt:lpstr>
      <vt:lpstr>Signal, Noise, and Interference</vt:lpstr>
      <vt:lpstr>dB and Power conversion</vt:lpstr>
      <vt:lpstr>Wireless Link Characteristics</vt:lpstr>
      <vt:lpstr>PowerPoint Presentation</vt:lpstr>
      <vt:lpstr>Understanding Wireless Communication: Barriers</vt:lpstr>
      <vt:lpstr>Wireless is less reliable</vt:lpstr>
      <vt:lpstr>Wireless is a shared medium</vt:lpstr>
      <vt:lpstr>Wireless Links: High Bit Error Rate</vt:lpstr>
      <vt:lpstr>Dealing With Bit Errors</vt:lpstr>
      <vt:lpstr>1. Signal Attenuation</vt:lpstr>
      <vt:lpstr>1. Signal Attenuation</vt:lpstr>
      <vt:lpstr>1.Signal Attenuation:: High BER</vt:lpstr>
      <vt:lpstr>1.Signal Attenuation</vt:lpstr>
      <vt:lpstr>1.Signal Attenuation</vt:lpstr>
      <vt:lpstr>1.Signal Attenuation</vt:lpstr>
      <vt:lpstr>1.Signal Attenuation</vt:lpstr>
      <vt:lpstr>2. Noise and Interference</vt:lpstr>
      <vt:lpstr>Categories of Noise</vt:lpstr>
      <vt:lpstr>2. Noise and Interference</vt:lpstr>
      <vt:lpstr>EM Spectrum </vt:lpstr>
      <vt:lpstr>EM Spectrum:: ISM Band  </vt:lpstr>
      <vt:lpstr>2.Noise and Interference:: High BER</vt:lpstr>
      <vt:lpstr>3. Multipath Fading &amp; Environmental Obstructions</vt:lpstr>
      <vt:lpstr>The Cluttered World of  Radio Waves</vt:lpstr>
      <vt:lpstr>3.Multipath Fading &amp; Environmental Obstructions: High BER</vt:lpstr>
      <vt:lpstr>3.Multipath Fading &amp; Environmental Obstructions: High BER</vt:lpstr>
      <vt:lpstr>3.Multipath Fading &amp; Environmental Obstructions: High BER</vt:lpstr>
      <vt:lpstr>4. Doppler Shift (Mobility):</vt:lpstr>
      <vt:lpstr>4.Doppler Shift (Mobility):</vt:lpstr>
      <vt:lpstr>4.Doppler Shift (Mobility): High BER</vt:lpstr>
      <vt:lpstr>5. Broadcast Limitations at Wireless Links</vt:lpstr>
      <vt:lpstr>5.Wireless Links: Broadcast Limitations</vt:lpstr>
      <vt:lpstr>5.Wireless Links: Broadcast Limitations</vt:lpstr>
      <vt:lpstr>5.Wireless Links: Broadcast Limitations</vt:lpstr>
      <vt:lpstr>5.Wireless Links: Broadcast Limitations</vt:lpstr>
      <vt:lpstr>5.Wireless Links: Broadcast Limitations:: High BER</vt:lpstr>
      <vt:lpstr>Understanding Wireless Communication: Needs, Barriers, and Design Adaptations</vt:lpstr>
      <vt:lpstr>Understanding Wireless Communication: Needs</vt:lpstr>
      <vt:lpstr>Examples of Communication Requirements</vt:lpstr>
      <vt:lpstr>Multimedia Requirements</vt:lpstr>
      <vt:lpstr>Understanding Wireless Communication: Design Adaptations</vt:lpstr>
      <vt:lpstr>Possible Design Goals </vt:lpstr>
      <vt:lpstr>Evolution of Current Systems</vt:lpstr>
      <vt:lpstr>Design Challenges</vt:lpstr>
      <vt:lpstr>OSI Model</vt:lpstr>
      <vt:lpstr>Crosslayer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Ashraf</dc:creator>
  <cp:lastModifiedBy>Ashraful Alam Khan, Assistant Professor, CSE</cp:lastModifiedBy>
  <cp:revision>99</cp:revision>
  <dcterms:created xsi:type="dcterms:W3CDTF">2025-05-05T09:30:46Z</dcterms:created>
  <dcterms:modified xsi:type="dcterms:W3CDTF">2025-06-27T12:55:48Z</dcterms:modified>
</cp:coreProperties>
</file>