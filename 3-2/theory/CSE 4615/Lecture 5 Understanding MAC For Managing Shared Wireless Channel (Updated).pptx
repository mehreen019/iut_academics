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  <p:sldMasterId id="2147483685" r:id="rId3"/>
    <p:sldMasterId id="2147483686" r:id="rId4"/>
    <p:sldMasterId id="2147483687" r:id="rId5"/>
  </p:sldMasterIdLst>
  <p:notesMasterIdLst>
    <p:notesMasterId r:id="rId42"/>
  </p:notesMasterIdLst>
  <p:sldIdLst>
    <p:sldId id="256" r:id="rId6"/>
    <p:sldId id="257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3" r:id="rId31"/>
    <p:sldId id="30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</p:sldIdLst>
  <p:sldSz cx="9144000" cy="6858000" type="screen4x3"/>
  <p:notesSz cx="9144000" cy="6858000"/>
  <p:embeddedFontLst>
    <p:embeddedFont>
      <p:font typeface="Aharoni" panose="02010803020104030203" pitchFamily="2" charset="-79"/>
      <p:bold r:id="rId43"/>
    </p:embeddedFont>
    <p:embeddedFont>
      <p:font typeface="Comic Sans MS" panose="030F0702030302020204" pitchFamily="66" charset="0"/>
      <p:regular r:id="rId44"/>
      <p:bold r:id="rId45"/>
      <p:italic r:id="rId46"/>
      <p:boldItalic r:id="rId47"/>
    </p:embeddedFont>
    <p:embeddedFont>
      <p:font typeface="Gill Sans" panose="020B0604020202020204" charset="0"/>
      <p:regular r:id="rId48"/>
      <p:bold r:id="rId49"/>
    </p:embeddedFont>
    <p:embeddedFont>
      <p:font typeface="Helvetica Neue" panose="020B0604020202020204" charset="0"/>
      <p:regular r:id="rId50"/>
      <p:bold r:id="rId51"/>
      <p:italic r:id="rId52"/>
      <p:boldItalic r:id="rId53"/>
    </p:embeddedFont>
    <p:embeddedFont>
      <p:font typeface="Noto Sans Symbols" panose="020B0604020202020204" charset="0"/>
      <p:regular r:id="rId54"/>
      <p:bold r:id="rId55"/>
    </p:embeddedFont>
    <p:embeddedFont>
      <p:font typeface="Verdana" panose="020B060403050404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7B94AD-8495-42C7-BC96-5A0394A12AFC}">
  <a:tblStyle styleId="{107B94AD-8495-42C7-BC96-5A0394A12A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font" Target="fonts/font1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61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3.xml"/><Relationship Id="rId51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4.fntdata"/><Relationship Id="rId5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1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1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1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1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7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1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1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1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p2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11188" y="593725"/>
            <a:ext cx="78581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76213" y="1357313"/>
            <a:ext cx="8523287" cy="344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11188" y="593725"/>
            <a:ext cx="78581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11188" y="593725"/>
            <a:ext cx="78581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175700" y="1357884"/>
            <a:ext cx="8524240" cy="344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lvl="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lvl="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52400" y="1143000"/>
            <a:ext cx="8839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5"/>
          <p:cNvCxnSpPr/>
          <p:nvPr/>
        </p:nvCxnSpPr>
        <p:spPr>
          <a:xfrm>
            <a:off x="381000" y="1143000"/>
            <a:ext cx="0" cy="5562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7" name="Google Shape;9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7863" y="317500"/>
            <a:ext cx="6413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Helvetica Neue"/>
              <a:buNone/>
              <a:defRPr sz="1600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1529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2"/>
          </p:nvPr>
        </p:nvSpPr>
        <p:spPr>
          <a:xfrm>
            <a:off x="4762500" y="1219200"/>
            <a:ext cx="41529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Helvetica Neue"/>
              <a:buNone/>
              <a:defRPr sz="1600" b="1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Helvetica Neue"/>
              <a:buNone/>
              <a:defRPr sz="1600" b="1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Helvetica Neue"/>
              <a:buChar char="•"/>
              <a:defRPr sz="2000"/>
            </a:lvl4pPr>
            <a:lvl5pPr marL="2286000" lvl="4" indent="-355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14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14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 rot="5400000">
            <a:off x="1943100" y="-266700"/>
            <a:ext cx="5486400" cy="84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 rot="5400000">
            <a:off x="4676775" y="2466975"/>
            <a:ext cx="63246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 rot="5400000">
            <a:off x="295275" y="390525"/>
            <a:ext cx="6324600" cy="63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4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5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 rot="5400000">
            <a:off x="4902200" y="2112963"/>
            <a:ext cx="5835650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body" idx="1"/>
          </p:nvPr>
        </p:nvSpPr>
        <p:spPr>
          <a:xfrm rot="5400000">
            <a:off x="444500" y="-1587"/>
            <a:ext cx="5835650" cy="641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3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OBJECT_AND_TWO_OBJECTS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3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39"/>
          <p:cNvSpPr txBox="1">
            <a:spLocks noGrp="1"/>
          </p:cNvSpPr>
          <p:nvPr>
            <p:ph type="body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579029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9902974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7700200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3903098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3884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400" y="1295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11188" y="593725"/>
            <a:ext cx="78581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76213" y="1357313"/>
            <a:ext cx="8523287" cy="344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643938" y="6556375"/>
            <a:ext cx="28575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152400" y="1295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254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75700" y="1357884"/>
            <a:ext cx="8524240" cy="344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36525" lvl="0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6525" lvl="1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6525" lvl="2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6525" lvl="3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36525" lvl="4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36525" lvl="5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6525" lvl="6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6525" lvl="7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6525" lvl="8" indent="0">
              <a:lnSpc>
                <a:spcPct val="117499"/>
              </a:lnSpc>
              <a:spcBef>
                <a:spcPts val="0"/>
              </a:spcBef>
              <a:buNone/>
              <a:defRPr sz="1400" b="1" i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652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indent="0" algn="r">
              <a:spcBef>
                <a:spcPts val="0"/>
              </a:spcBef>
              <a:buNone/>
              <a:defRPr sz="1400" b="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13"/>
          <p:cNvCxnSpPr/>
          <p:nvPr/>
        </p:nvCxnSpPr>
        <p:spPr>
          <a:xfrm>
            <a:off x="152400" y="1143000"/>
            <a:ext cx="8839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3"/>
          <p:cNvCxnSpPr/>
          <p:nvPr/>
        </p:nvCxnSpPr>
        <p:spPr>
          <a:xfrm>
            <a:off x="381000" y="1143000"/>
            <a:ext cx="0" cy="5562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5" name="Google Shape;85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97863" y="317500"/>
            <a:ext cx="6413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1400"/>
            </a:lvl1pPr>
            <a:lvl2pPr lvl="1" indent="0" algn="r">
              <a:spcBef>
                <a:spcPts val="0"/>
              </a:spcBef>
              <a:buNone/>
              <a:defRPr sz="1400"/>
            </a:lvl2pPr>
            <a:lvl3pPr lvl="2" indent="0" algn="r">
              <a:spcBef>
                <a:spcPts val="0"/>
              </a:spcBef>
              <a:buNone/>
              <a:defRPr sz="1400"/>
            </a:lvl3pPr>
            <a:lvl4pPr lvl="3" indent="0" algn="r">
              <a:spcBef>
                <a:spcPts val="0"/>
              </a:spcBef>
              <a:buNone/>
              <a:defRPr sz="1400"/>
            </a:lvl4pPr>
            <a:lvl5pPr lvl="4" indent="0" algn="r">
              <a:spcBef>
                <a:spcPts val="0"/>
              </a:spcBef>
              <a:buNone/>
              <a:defRPr sz="1400"/>
            </a:lvl5pPr>
            <a:lvl6pPr lvl="5" indent="0" algn="r">
              <a:spcBef>
                <a:spcPts val="0"/>
              </a:spcBef>
              <a:buNone/>
              <a:defRPr sz="1400"/>
            </a:lvl6pPr>
            <a:lvl7pPr lvl="6" indent="0" algn="r">
              <a:spcBef>
                <a:spcPts val="0"/>
              </a:spcBef>
              <a:buNone/>
              <a:defRPr sz="1400"/>
            </a:lvl7pPr>
            <a:lvl8pPr lvl="7" indent="0" algn="r">
              <a:spcBef>
                <a:spcPts val="0"/>
              </a:spcBef>
              <a:buNone/>
              <a:defRPr sz="1400"/>
            </a:lvl8pPr>
            <a:lvl9pPr lvl="8" indent="0" algn="r">
              <a:spcBef>
                <a:spcPts val="0"/>
              </a:spcBef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295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700" y="1357884"/>
            <a:ext cx="8524240" cy="344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91074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jpg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/>
          <p:nvPr/>
        </p:nvSpPr>
        <p:spPr>
          <a:xfrm>
            <a:off x="152400" y="434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 h="120000" extrusionOk="0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254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1476375" y="685800"/>
            <a:ext cx="7056438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lvl="0" indent="1079500" algn="l" rtl="0">
              <a:lnSpc>
                <a:spcPct val="153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CSE 4615:: Wireless Networks</a:t>
            </a:r>
            <a:endParaRPr sz="28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0"/>
          <p:cNvSpPr txBox="1"/>
          <p:nvPr/>
        </p:nvSpPr>
        <p:spPr>
          <a:xfrm>
            <a:off x="2193925" y="3578226"/>
            <a:ext cx="46799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haron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Lecture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5</a:t>
            </a:r>
            <a:endParaRPr sz="1800" b="0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38" name="Google Shape;238;p40"/>
          <p:cNvSpPr txBox="1"/>
          <p:nvPr/>
        </p:nvSpPr>
        <p:spPr>
          <a:xfrm>
            <a:off x="3429000" y="4359275"/>
            <a:ext cx="5715000" cy="115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Content Contributors: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Kyle Jamieson, Princeton University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152400" y="4343400"/>
            <a:ext cx="3124200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Teacher: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Ashraful Alam Khan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Assistant Professor, CSE, IUT</a:t>
            </a:r>
            <a:endParaRPr/>
          </a:p>
        </p:txBody>
      </p:sp>
      <p:sp>
        <p:nvSpPr>
          <p:cNvPr id="240" name="Google Shape;240;p40"/>
          <p:cNvSpPr txBox="1"/>
          <p:nvPr/>
        </p:nvSpPr>
        <p:spPr>
          <a:xfrm>
            <a:off x="342900" y="1429570"/>
            <a:ext cx="83820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Understanding </a:t>
            </a:r>
            <a:br>
              <a:rPr lang="en-US" sz="28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Medium Access Control Mechanisms </a:t>
            </a:r>
            <a:br>
              <a:rPr lang="en-US" sz="28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For Managing </a:t>
            </a:r>
            <a:br>
              <a:rPr lang="en-US" sz="28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Shared Wireless Channels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525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896798" y="593850"/>
            <a:ext cx="2345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47" name="Google Shape;247;p41"/>
          <p:cNvSpPr txBox="1"/>
          <p:nvPr/>
        </p:nvSpPr>
        <p:spPr>
          <a:xfrm>
            <a:off x="175700" y="1368044"/>
            <a:ext cx="8190230" cy="332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rabicPeriod"/>
            </a:pPr>
            <a:r>
              <a:rPr lang="en-US"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channel access differ between wireless and wired networks?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AutoNum type="arabicPeriod"/>
            </a:pPr>
            <a:r>
              <a:rPr lang="en-US" sz="3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Medium access control: Provisioned protocols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526415" lvl="0" indent="-513715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AutoNum type="arabicPeriod"/>
            </a:pPr>
            <a:r>
              <a:rPr lang="en-US" sz="3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Contention-based medium access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175700" y="1649475"/>
            <a:ext cx="4759325" cy="155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Wired networks: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804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Alice and Bob’s conversation is </a:t>
            </a:r>
            <a:r>
              <a:rPr lang="en-US" sz="28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independent of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Cathy and Eve’s conversation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175700" y="4456683"/>
            <a:ext cx="4744720" cy="157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Wireless networks: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804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Close by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wireless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conversations </a:t>
            </a:r>
            <a:r>
              <a:rPr lang="en-US" sz="2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share the same wireless medium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1557750" y="593851"/>
            <a:ext cx="7473708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Wireless is a shared medium</a:t>
            </a:r>
            <a:endParaRPr dirty="0"/>
          </a:p>
        </p:txBody>
      </p:sp>
      <p:grpSp>
        <p:nvGrpSpPr>
          <p:cNvPr id="269" name="Google Shape;269;p43"/>
          <p:cNvGrpSpPr/>
          <p:nvPr/>
        </p:nvGrpSpPr>
        <p:grpSpPr>
          <a:xfrm>
            <a:off x="5332591" y="2212054"/>
            <a:ext cx="3042365" cy="152118"/>
            <a:chOff x="5332591" y="2212054"/>
            <a:chExt cx="3042365" cy="152118"/>
          </a:xfrm>
        </p:grpSpPr>
        <p:sp>
          <p:nvSpPr>
            <p:cNvPr id="270" name="Google Shape;270;p43"/>
            <p:cNvSpPr/>
            <p:nvPr/>
          </p:nvSpPr>
          <p:spPr>
            <a:xfrm>
              <a:off x="5484709" y="2288113"/>
              <a:ext cx="2814320" cy="0"/>
            </a:xfrm>
            <a:custGeom>
              <a:avLst/>
              <a:gdLst/>
              <a:ahLst/>
              <a:cxnLst/>
              <a:rect l="l" t="t" r="r" b="b"/>
              <a:pathLst>
                <a:path w="2814320" h="120000" extrusionOk="0">
                  <a:moveTo>
                    <a:pt x="0" y="0"/>
                  </a:moveTo>
                  <a:lnTo>
                    <a:pt x="2814189" y="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71" name="Google Shape;271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2591" y="2212054"/>
              <a:ext cx="152118" cy="152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222838" y="2212054"/>
              <a:ext cx="152118" cy="1521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" name="Google Shape;273;p43"/>
          <p:cNvGrpSpPr/>
          <p:nvPr/>
        </p:nvGrpSpPr>
        <p:grpSpPr>
          <a:xfrm>
            <a:off x="4967952" y="3160571"/>
            <a:ext cx="3499347" cy="3423286"/>
            <a:chOff x="4967952" y="3160571"/>
            <a:chExt cx="3499347" cy="3423286"/>
          </a:xfrm>
        </p:grpSpPr>
        <p:sp>
          <p:nvSpPr>
            <p:cNvPr id="274" name="Google Shape;274;p43"/>
            <p:cNvSpPr/>
            <p:nvPr/>
          </p:nvSpPr>
          <p:spPr>
            <a:xfrm>
              <a:off x="4967952" y="3160571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 extrusionOk="0">
                  <a:moveTo>
                    <a:pt x="1369065" y="0"/>
                  </a:moveTo>
                  <a:lnTo>
                    <a:pt x="1321001" y="827"/>
                  </a:lnTo>
                  <a:lnTo>
                    <a:pt x="1273353" y="3293"/>
                  </a:lnTo>
                  <a:lnTo>
                    <a:pt x="1226149" y="7369"/>
                  </a:lnTo>
                  <a:lnTo>
                    <a:pt x="1179415" y="13029"/>
                  </a:lnTo>
                  <a:lnTo>
                    <a:pt x="1133178" y="20245"/>
                  </a:lnTo>
                  <a:lnTo>
                    <a:pt x="1087466" y="28990"/>
                  </a:lnTo>
                  <a:lnTo>
                    <a:pt x="1042306" y="39237"/>
                  </a:lnTo>
                  <a:lnTo>
                    <a:pt x="997724" y="50959"/>
                  </a:lnTo>
                  <a:lnTo>
                    <a:pt x="953749" y="64128"/>
                  </a:lnTo>
                  <a:lnTo>
                    <a:pt x="910406" y="78718"/>
                  </a:lnTo>
                  <a:lnTo>
                    <a:pt x="867724" y="94702"/>
                  </a:lnTo>
                  <a:lnTo>
                    <a:pt x="825730" y="112051"/>
                  </a:lnTo>
                  <a:lnTo>
                    <a:pt x="784450" y="130740"/>
                  </a:lnTo>
                  <a:lnTo>
                    <a:pt x="743912" y="150741"/>
                  </a:lnTo>
                  <a:lnTo>
                    <a:pt x="704143" y="172026"/>
                  </a:lnTo>
                  <a:lnTo>
                    <a:pt x="665170" y="194569"/>
                  </a:lnTo>
                  <a:lnTo>
                    <a:pt x="627021" y="218343"/>
                  </a:lnTo>
                  <a:lnTo>
                    <a:pt x="589722" y="243320"/>
                  </a:lnTo>
                  <a:lnTo>
                    <a:pt x="553300" y="269473"/>
                  </a:lnTo>
                  <a:lnTo>
                    <a:pt x="517783" y="296775"/>
                  </a:lnTo>
                  <a:lnTo>
                    <a:pt x="483198" y="325199"/>
                  </a:lnTo>
                  <a:lnTo>
                    <a:pt x="449571" y="354717"/>
                  </a:lnTo>
                  <a:lnTo>
                    <a:pt x="416931" y="385304"/>
                  </a:lnTo>
                  <a:lnTo>
                    <a:pt x="385304" y="416931"/>
                  </a:lnTo>
                  <a:lnTo>
                    <a:pt x="354718" y="449571"/>
                  </a:lnTo>
                  <a:lnTo>
                    <a:pt x="325199" y="483197"/>
                  </a:lnTo>
                  <a:lnTo>
                    <a:pt x="296775" y="517782"/>
                  </a:lnTo>
                  <a:lnTo>
                    <a:pt x="269473" y="553299"/>
                  </a:lnTo>
                  <a:lnTo>
                    <a:pt x="243320" y="589721"/>
                  </a:lnTo>
                  <a:lnTo>
                    <a:pt x="218343" y="627020"/>
                  </a:lnTo>
                  <a:lnTo>
                    <a:pt x="194569" y="665170"/>
                  </a:lnTo>
                  <a:lnTo>
                    <a:pt x="172026" y="704142"/>
                  </a:lnTo>
                  <a:lnTo>
                    <a:pt x="150741" y="743911"/>
                  </a:lnTo>
                  <a:lnTo>
                    <a:pt x="130740" y="784449"/>
                  </a:lnTo>
                  <a:lnTo>
                    <a:pt x="112051" y="825729"/>
                  </a:lnTo>
                  <a:lnTo>
                    <a:pt x="94702" y="867723"/>
                  </a:lnTo>
                  <a:lnTo>
                    <a:pt x="78718" y="910405"/>
                  </a:lnTo>
                  <a:lnTo>
                    <a:pt x="64128" y="953747"/>
                  </a:lnTo>
                  <a:lnTo>
                    <a:pt x="50959" y="997723"/>
                  </a:lnTo>
                  <a:lnTo>
                    <a:pt x="39237" y="1042304"/>
                  </a:lnTo>
                  <a:lnTo>
                    <a:pt x="28990" y="1087465"/>
                  </a:lnTo>
                  <a:lnTo>
                    <a:pt x="20245" y="1133177"/>
                  </a:lnTo>
                  <a:lnTo>
                    <a:pt x="13029" y="1179413"/>
                  </a:lnTo>
                  <a:lnTo>
                    <a:pt x="7369" y="1226148"/>
                  </a:lnTo>
                  <a:lnTo>
                    <a:pt x="3293" y="1273352"/>
                  </a:lnTo>
                  <a:lnTo>
                    <a:pt x="827" y="1321000"/>
                  </a:lnTo>
                  <a:lnTo>
                    <a:pt x="0" y="1369063"/>
                  </a:lnTo>
                  <a:lnTo>
                    <a:pt x="827" y="1417127"/>
                  </a:lnTo>
                  <a:lnTo>
                    <a:pt x="3293" y="1464775"/>
                  </a:lnTo>
                  <a:lnTo>
                    <a:pt x="7369" y="1511979"/>
                  </a:lnTo>
                  <a:lnTo>
                    <a:pt x="13029" y="1558713"/>
                  </a:lnTo>
                  <a:lnTo>
                    <a:pt x="20245" y="1604950"/>
                  </a:lnTo>
                  <a:lnTo>
                    <a:pt x="28990" y="1650662"/>
                  </a:lnTo>
                  <a:lnTo>
                    <a:pt x="39237" y="1695822"/>
                  </a:lnTo>
                  <a:lnTo>
                    <a:pt x="50959" y="1740404"/>
                  </a:lnTo>
                  <a:lnTo>
                    <a:pt x="64128" y="1784379"/>
                  </a:lnTo>
                  <a:lnTo>
                    <a:pt x="78718" y="1827721"/>
                  </a:lnTo>
                  <a:lnTo>
                    <a:pt x="94702" y="1870403"/>
                  </a:lnTo>
                  <a:lnTo>
                    <a:pt x="112051" y="1912398"/>
                  </a:lnTo>
                  <a:lnTo>
                    <a:pt x="130740" y="1953677"/>
                  </a:lnTo>
                  <a:lnTo>
                    <a:pt x="150741" y="1994215"/>
                  </a:lnTo>
                  <a:lnTo>
                    <a:pt x="172026" y="2033984"/>
                  </a:lnTo>
                  <a:lnTo>
                    <a:pt x="194569" y="2072957"/>
                  </a:lnTo>
                  <a:lnTo>
                    <a:pt x="218343" y="2111107"/>
                  </a:lnTo>
                  <a:lnTo>
                    <a:pt x="243320" y="2148406"/>
                  </a:lnTo>
                  <a:lnTo>
                    <a:pt x="269473" y="2184828"/>
                  </a:lnTo>
                  <a:lnTo>
                    <a:pt x="296775" y="2220345"/>
                  </a:lnTo>
                  <a:lnTo>
                    <a:pt x="325199" y="2254930"/>
                  </a:lnTo>
                  <a:lnTo>
                    <a:pt x="354718" y="2288556"/>
                  </a:lnTo>
                  <a:lnTo>
                    <a:pt x="385304" y="2321196"/>
                  </a:lnTo>
                  <a:lnTo>
                    <a:pt x="416931" y="2352823"/>
                  </a:lnTo>
                  <a:lnTo>
                    <a:pt x="449571" y="2383410"/>
                  </a:lnTo>
                  <a:lnTo>
                    <a:pt x="483198" y="2412928"/>
                  </a:lnTo>
                  <a:lnTo>
                    <a:pt x="517783" y="2441352"/>
                  </a:lnTo>
                  <a:lnTo>
                    <a:pt x="553300" y="2468654"/>
                  </a:lnTo>
                  <a:lnTo>
                    <a:pt x="589722" y="2494808"/>
                  </a:lnTo>
                  <a:lnTo>
                    <a:pt x="627021" y="2519784"/>
                  </a:lnTo>
                  <a:lnTo>
                    <a:pt x="665170" y="2543558"/>
                  </a:lnTo>
                  <a:lnTo>
                    <a:pt x="704143" y="2566101"/>
                  </a:lnTo>
                  <a:lnTo>
                    <a:pt x="743912" y="2587387"/>
                  </a:lnTo>
                  <a:lnTo>
                    <a:pt x="784450" y="2607387"/>
                  </a:lnTo>
                  <a:lnTo>
                    <a:pt x="825730" y="2626076"/>
                  </a:lnTo>
                  <a:lnTo>
                    <a:pt x="867724" y="2643426"/>
                  </a:lnTo>
                  <a:lnTo>
                    <a:pt x="910406" y="2659409"/>
                  </a:lnTo>
                  <a:lnTo>
                    <a:pt x="953749" y="2673999"/>
                  </a:lnTo>
                  <a:lnTo>
                    <a:pt x="997724" y="2687169"/>
                  </a:lnTo>
                  <a:lnTo>
                    <a:pt x="1042306" y="2698891"/>
                  </a:lnTo>
                  <a:lnTo>
                    <a:pt x="1087466" y="2709138"/>
                  </a:lnTo>
                  <a:lnTo>
                    <a:pt x="1133178" y="2717883"/>
                  </a:lnTo>
                  <a:lnTo>
                    <a:pt x="1179415" y="2725098"/>
                  </a:lnTo>
                  <a:lnTo>
                    <a:pt x="1226149" y="2730758"/>
                  </a:lnTo>
                  <a:lnTo>
                    <a:pt x="1273353" y="2734834"/>
                  </a:lnTo>
                  <a:lnTo>
                    <a:pt x="1321001" y="2737300"/>
                  </a:lnTo>
                  <a:lnTo>
                    <a:pt x="1369065" y="2738128"/>
                  </a:lnTo>
                  <a:lnTo>
                    <a:pt x="1417128" y="2737300"/>
                  </a:lnTo>
                  <a:lnTo>
                    <a:pt x="1464776" y="2734834"/>
                  </a:lnTo>
                  <a:lnTo>
                    <a:pt x="1511980" y="2730758"/>
                  </a:lnTo>
                  <a:lnTo>
                    <a:pt x="1558714" y="2725098"/>
                  </a:lnTo>
                  <a:lnTo>
                    <a:pt x="1604951" y="2717883"/>
                  </a:lnTo>
                  <a:lnTo>
                    <a:pt x="1650663" y="2709138"/>
                  </a:lnTo>
                  <a:lnTo>
                    <a:pt x="1695823" y="2698891"/>
                  </a:lnTo>
                  <a:lnTo>
                    <a:pt x="1740405" y="2687169"/>
                  </a:lnTo>
                  <a:lnTo>
                    <a:pt x="1784380" y="2673999"/>
                  </a:lnTo>
                  <a:lnTo>
                    <a:pt x="1827722" y="2659409"/>
                  </a:lnTo>
                  <a:lnTo>
                    <a:pt x="1870404" y="2643426"/>
                  </a:lnTo>
                  <a:lnTo>
                    <a:pt x="1912398" y="2626076"/>
                  </a:lnTo>
                  <a:lnTo>
                    <a:pt x="1953678" y="2607387"/>
                  </a:lnTo>
                  <a:lnTo>
                    <a:pt x="1994216" y="2587387"/>
                  </a:lnTo>
                  <a:lnTo>
                    <a:pt x="2033985" y="2566101"/>
                  </a:lnTo>
                  <a:lnTo>
                    <a:pt x="2072958" y="2543558"/>
                  </a:lnTo>
                  <a:lnTo>
                    <a:pt x="2111107" y="2519784"/>
                  </a:lnTo>
                  <a:lnTo>
                    <a:pt x="2148407" y="2494808"/>
                  </a:lnTo>
                  <a:lnTo>
                    <a:pt x="2184828" y="2468654"/>
                  </a:lnTo>
                  <a:lnTo>
                    <a:pt x="2220345" y="2441352"/>
                  </a:lnTo>
                  <a:lnTo>
                    <a:pt x="2254931" y="2412928"/>
                  </a:lnTo>
                  <a:lnTo>
                    <a:pt x="2288557" y="2383410"/>
                  </a:lnTo>
                  <a:lnTo>
                    <a:pt x="2321197" y="2352823"/>
                  </a:lnTo>
                  <a:lnTo>
                    <a:pt x="2352824" y="2321196"/>
                  </a:lnTo>
                  <a:lnTo>
                    <a:pt x="2383410" y="2288556"/>
                  </a:lnTo>
                  <a:lnTo>
                    <a:pt x="2412929" y="2254930"/>
                  </a:lnTo>
                  <a:lnTo>
                    <a:pt x="2441353" y="2220345"/>
                  </a:lnTo>
                  <a:lnTo>
                    <a:pt x="2468655" y="2184828"/>
                  </a:lnTo>
                  <a:lnTo>
                    <a:pt x="2494808" y="2148406"/>
                  </a:lnTo>
                  <a:lnTo>
                    <a:pt x="2519785" y="2111107"/>
                  </a:lnTo>
                  <a:lnTo>
                    <a:pt x="2543558" y="2072957"/>
                  </a:lnTo>
                  <a:lnTo>
                    <a:pt x="2566102" y="2033984"/>
                  </a:lnTo>
                  <a:lnTo>
                    <a:pt x="2587387" y="1994215"/>
                  </a:lnTo>
                  <a:lnTo>
                    <a:pt x="2607388" y="1953677"/>
                  </a:lnTo>
                  <a:lnTo>
                    <a:pt x="2626076" y="1912398"/>
                  </a:lnTo>
                  <a:lnTo>
                    <a:pt x="2643426" y="1870403"/>
                  </a:lnTo>
                  <a:lnTo>
                    <a:pt x="2659410" y="1827721"/>
                  </a:lnTo>
                  <a:lnTo>
                    <a:pt x="2674000" y="1784379"/>
                  </a:lnTo>
                  <a:lnTo>
                    <a:pt x="2687169" y="1740404"/>
                  </a:lnTo>
                  <a:lnTo>
                    <a:pt x="2698891" y="1695822"/>
                  </a:lnTo>
                  <a:lnTo>
                    <a:pt x="2709138" y="1650662"/>
                  </a:lnTo>
                  <a:lnTo>
                    <a:pt x="2717883" y="1604950"/>
                  </a:lnTo>
                  <a:lnTo>
                    <a:pt x="2725099" y="1558713"/>
                  </a:lnTo>
                  <a:lnTo>
                    <a:pt x="2730759" y="1511979"/>
                  </a:lnTo>
                  <a:lnTo>
                    <a:pt x="2734835" y="1464775"/>
                  </a:lnTo>
                  <a:lnTo>
                    <a:pt x="2737300" y="1417127"/>
                  </a:lnTo>
                  <a:lnTo>
                    <a:pt x="2738128" y="1369063"/>
                  </a:lnTo>
                  <a:lnTo>
                    <a:pt x="2737300" y="1321000"/>
                  </a:lnTo>
                  <a:lnTo>
                    <a:pt x="2734835" y="1273352"/>
                  </a:lnTo>
                  <a:lnTo>
                    <a:pt x="2730759" y="1226148"/>
                  </a:lnTo>
                  <a:lnTo>
                    <a:pt x="2725099" y="1179413"/>
                  </a:lnTo>
                  <a:lnTo>
                    <a:pt x="2717883" y="1133177"/>
                  </a:lnTo>
                  <a:lnTo>
                    <a:pt x="2709138" y="1087465"/>
                  </a:lnTo>
                  <a:lnTo>
                    <a:pt x="2698891" y="1042304"/>
                  </a:lnTo>
                  <a:lnTo>
                    <a:pt x="2687169" y="997723"/>
                  </a:lnTo>
                  <a:lnTo>
                    <a:pt x="2674000" y="953747"/>
                  </a:lnTo>
                  <a:lnTo>
                    <a:pt x="2659410" y="910405"/>
                  </a:lnTo>
                  <a:lnTo>
                    <a:pt x="2643426" y="867723"/>
                  </a:lnTo>
                  <a:lnTo>
                    <a:pt x="2626076" y="825729"/>
                  </a:lnTo>
                  <a:lnTo>
                    <a:pt x="2607388" y="784449"/>
                  </a:lnTo>
                  <a:lnTo>
                    <a:pt x="2587387" y="743911"/>
                  </a:lnTo>
                  <a:lnTo>
                    <a:pt x="2566102" y="704142"/>
                  </a:lnTo>
                  <a:lnTo>
                    <a:pt x="2543558" y="665170"/>
                  </a:lnTo>
                  <a:lnTo>
                    <a:pt x="2519785" y="627020"/>
                  </a:lnTo>
                  <a:lnTo>
                    <a:pt x="2494808" y="589721"/>
                  </a:lnTo>
                  <a:lnTo>
                    <a:pt x="2468655" y="553299"/>
                  </a:lnTo>
                  <a:lnTo>
                    <a:pt x="2441353" y="517782"/>
                  </a:lnTo>
                  <a:lnTo>
                    <a:pt x="2412929" y="483197"/>
                  </a:lnTo>
                  <a:lnTo>
                    <a:pt x="2383410" y="449571"/>
                  </a:lnTo>
                  <a:lnTo>
                    <a:pt x="2352824" y="416931"/>
                  </a:lnTo>
                  <a:lnTo>
                    <a:pt x="2321197" y="385304"/>
                  </a:lnTo>
                  <a:lnTo>
                    <a:pt x="2288557" y="354717"/>
                  </a:lnTo>
                  <a:lnTo>
                    <a:pt x="2254931" y="325199"/>
                  </a:lnTo>
                  <a:lnTo>
                    <a:pt x="2220345" y="296775"/>
                  </a:lnTo>
                  <a:lnTo>
                    <a:pt x="2184828" y="269473"/>
                  </a:lnTo>
                  <a:lnTo>
                    <a:pt x="2148407" y="243320"/>
                  </a:lnTo>
                  <a:lnTo>
                    <a:pt x="2111107" y="218343"/>
                  </a:lnTo>
                  <a:lnTo>
                    <a:pt x="2072958" y="194569"/>
                  </a:lnTo>
                  <a:lnTo>
                    <a:pt x="2033985" y="172026"/>
                  </a:lnTo>
                  <a:lnTo>
                    <a:pt x="1994216" y="150741"/>
                  </a:lnTo>
                  <a:lnTo>
                    <a:pt x="1953678" y="130740"/>
                  </a:lnTo>
                  <a:lnTo>
                    <a:pt x="1912398" y="112051"/>
                  </a:lnTo>
                  <a:lnTo>
                    <a:pt x="1870404" y="94702"/>
                  </a:lnTo>
                  <a:lnTo>
                    <a:pt x="1827722" y="78718"/>
                  </a:lnTo>
                  <a:lnTo>
                    <a:pt x="1784380" y="64128"/>
                  </a:lnTo>
                  <a:lnTo>
                    <a:pt x="1740405" y="50959"/>
                  </a:lnTo>
                  <a:lnTo>
                    <a:pt x="1695823" y="39237"/>
                  </a:lnTo>
                  <a:lnTo>
                    <a:pt x="1650663" y="28990"/>
                  </a:lnTo>
                  <a:lnTo>
                    <a:pt x="1604951" y="20245"/>
                  </a:lnTo>
                  <a:lnTo>
                    <a:pt x="1558714" y="13029"/>
                  </a:lnTo>
                  <a:lnTo>
                    <a:pt x="1511980" y="7369"/>
                  </a:lnTo>
                  <a:lnTo>
                    <a:pt x="1464776" y="3293"/>
                  </a:lnTo>
                  <a:lnTo>
                    <a:pt x="1417128" y="827"/>
                  </a:lnTo>
                  <a:lnTo>
                    <a:pt x="1369065" y="0"/>
                  </a:lnTo>
                  <a:close/>
                </a:path>
              </a:pathLst>
            </a:custGeom>
            <a:solidFill>
              <a:srgbClr val="99CCFF">
                <a:alpha val="5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43"/>
            <p:cNvSpPr/>
            <p:nvPr/>
          </p:nvSpPr>
          <p:spPr>
            <a:xfrm>
              <a:off x="4967952" y="3160571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 extrusionOk="0">
                  <a:moveTo>
                    <a:pt x="0" y="1369065"/>
                  </a:moveTo>
                  <a:lnTo>
                    <a:pt x="827" y="1321001"/>
                  </a:lnTo>
                  <a:lnTo>
                    <a:pt x="3293" y="1273353"/>
                  </a:lnTo>
                  <a:lnTo>
                    <a:pt x="7369" y="1226149"/>
                  </a:lnTo>
                  <a:lnTo>
                    <a:pt x="13029" y="1179415"/>
                  </a:lnTo>
                  <a:lnTo>
                    <a:pt x="20245" y="1133178"/>
                  </a:lnTo>
                  <a:lnTo>
                    <a:pt x="28990" y="1087466"/>
                  </a:lnTo>
                  <a:lnTo>
                    <a:pt x="39237" y="1042305"/>
                  </a:lnTo>
                  <a:lnTo>
                    <a:pt x="50959" y="997724"/>
                  </a:lnTo>
                  <a:lnTo>
                    <a:pt x="64128" y="953748"/>
                  </a:lnTo>
                  <a:lnTo>
                    <a:pt x="78718" y="910406"/>
                  </a:lnTo>
                  <a:lnTo>
                    <a:pt x="94702" y="867724"/>
                  </a:lnTo>
                  <a:lnTo>
                    <a:pt x="112051" y="825730"/>
                  </a:lnTo>
                  <a:lnTo>
                    <a:pt x="130740" y="784450"/>
                  </a:lnTo>
                  <a:lnTo>
                    <a:pt x="150741" y="743912"/>
                  </a:lnTo>
                  <a:lnTo>
                    <a:pt x="172026" y="704143"/>
                  </a:lnTo>
                  <a:lnTo>
                    <a:pt x="194569" y="665170"/>
                  </a:lnTo>
                  <a:lnTo>
                    <a:pt x="218343" y="627021"/>
                  </a:lnTo>
                  <a:lnTo>
                    <a:pt x="243320" y="589721"/>
                  </a:lnTo>
                  <a:lnTo>
                    <a:pt x="269473" y="553300"/>
                  </a:lnTo>
                  <a:lnTo>
                    <a:pt x="296775" y="517783"/>
                  </a:lnTo>
                  <a:lnTo>
                    <a:pt x="325199" y="483197"/>
                  </a:lnTo>
                  <a:lnTo>
                    <a:pt x="354718" y="449571"/>
                  </a:lnTo>
                  <a:lnTo>
                    <a:pt x="385304" y="416931"/>
                  </a:lnTo>
                  <a:lnTo>
                    <a:pt x="416931" y="385304"/>
                  </a:lnTo>
                  <a:lnTo>
                    <a:pt x="449571" y="354718"/>
                  </a:lnTo>
                  <a:lnTo>
                    <a:pt x="483197" y="325199"/>
                  </a:lnTo>
                  <a:lnTo>
                    <a:pt x="517783" y="296775"/>
                  </a:lnTo>
                  <a:lnTo>
                    <a:pt x="553300" y="269473"/>
                  </a:lnTo>
                  <a:lnTo>
                    <a:pt x="589721" y="243320"/>
                  </a:lnTo>
                  <a:lnTo>
                    <a:pt x="627021" y="218343"/>
                  </a:lnTo>
                  <a:lnTo>
                    <a:pt x="665170" y="194569"/>
                  </a:lnTo>
                  <a:lnTo>
                    <a:pt x="704143" y="172026"/>
                  </a:lnTo>
                  <a:lnTo>
                    <a:pt x="743912" y="150741"/>
                  </a:lnTo>
                  <a:lnTo>
                    <a:pt x="784450" y="130740"/>
                  </a:lnTo>
                  <a:lnTo>
                    <a:pt x="825730" y="112051"/>
                  </a:lnTo>
                  <a:lnTo>
                    <a:pt x="867724" y="94702"/>
                  </a:lnTo>
                  <a:lnTo>
                    <a:pt x="910406" y="78718"/>
                  </a:lnTo>
                  <a:lnTo>
                    <a:pt x="953748" y="64128"/>
                  </a:lnTo>
                  <a:lnTo>
                    <a:pt x="997724" y="50959"/>
                  </a:lnTo>
                  <a:lnTo>
                    <a:pt x="1042305" y="39237"/>
                  </a:lnTo>
                  <a:lnTo>
                    <a:pt x="1087466" y="28990"/>
                  </a:lnTo>
                  <a:lnTo>
                    <a:pt x="1133178" y="20245"/>
                  </a:lnTo>
                  <a:lnTo>
                    <a:pt x="1179415" y="13029"/>
                  </a:lnTo>
                  <a:lnTo>
                    <a:pt x="1226149" y="7369"/>
                  </a:lnTo>
                  <a:lnTo>
                    <a:pt x="1273353" y="3293"/>
                  </a:lnTo>
                  <a:lnTo>
                    <a:pt x="1321001" y="827"/>
                  </a:lnTo>
                  <a:lnTo>
                    <a:pt x="1369065" y="0"/>
                  </a:lnTo>
                  <a:lnTo>
                    <a:pt x="1417128" y="827"/>
                  </a:lnTo>
                  <a:lnTo>
                    <a:pt x="1464776" y="3293"/>
                  </a:lnTo>
                  <a:lnTo>
                    <a:pt x="1511980" y="7369"/>
                  </a:lnTo>
                  <a:lnTo>
                    <a:pt x="1558714" y="13029"/>
                  </a:lnTo>
                  <a:lnTo>
                    <a:pt x="1604951" y="20245"/>
                  </a:lnTo>
                  <a:lnTo>
                    <a:pt x="1650663" y="28990"/>
                  </a:lnTo>
                  <a:lnTo>
                    <a:pt x="1695823" y="39237"/>
                  </a:lnTo>
                  <a:lnTo>
                    <a:pt x="1740405" y="50959"/>
                  </a:lnTo>
                  <a:lnTo>
                    <a:pt x="1784380" y="64128"/>
                  </a:lnTo>
                  <a:lnTo>
                    <a:pt x="1827722" y="78718"/>
                  </a:lnTo>
                  <a:lnTo>
                    <a:pt x="1870404" y="94702"/>
                  </a:lnTo>
                  <a:lnTo>
                    <a:pt x="1912399" y="112051"/>
                  </a:lnTo>
                  <a:lnTo>
                    <a:pt x="1953678" y="130740"/>
                  </a:lnTo>
                  <a:lnTo>
                    <a:pt x="1994216" y="150741"/>
                  </a:lnTo>
                  <a:lnTo>
                    <a:pt x="2033985" y="172026"/>
                  </a:lnTo>
                  <a:lnTo>
                    <a:pt x="2072958" y="194569"/>
                  </a:lnTo>
                  <a:lnTo>
                    <a:pt x="2111108" y="218343"/>
                  </a:lnTo>
                  <a:lnTo>
                    <a:pt x="2148407" y="243320"/>
                  </a:lnTo>
                  <a:lnTo>
                    <a:pt x="2184829" y="269473"/>
                  </a:lnTo>
                  <a:lnTo>
                    <a:pt x="2220346" y="296775"/>
                  </a:lnTo>
                  <a:lnTo>
                    <a:pt x="2254931" y="325199"/>
                  </a:lnTo>
                  <a:lnTo>
                    <a:pt x="2288557" y="354718"/>
                  </a:lnTo>
                  <a:lnTo>
                    <a:pt x="2321197" y="385304"/>
                  </a:lnTo>
                  <a:lnTo>
                    <a:pt x="2352824" y="416931"/>
                  </a:lnTo>
                  <a:lnTo>
                    <a:pt x="2383410" y="449571"/>
                  </a:lnTo>
                  <a:lnTo>
                    <a:pt x="2412929" y="483197"/>
                  </a:lnTo>
                  <a:lnTo>
                    <a:pt x="2441353" y="517783"/>
                  </a:lnTo>
                  <a:lnTo>
                    <a:pt x="2468655" y="553300"/>
                  </a:lnTo>
                  <a:lnTo>
                    <a:pt x="2494808" y="589721"/>
                  </a:lnTo>
                  <a:lnTo>
                    <a:pt x="2519785" y="627021"/>
                  </a:lnTo>
                  <a:lnTo>
                    <a:pt x="2543559" y="665170"/>
                  </a:lnTo>
                  <a:lnTo>
                    <a:pt x="2566102" y="704143"/>
                  </a:lnTo>
                  <a:lnTo>
                    <a:pt x="2587387" y="743912"/>
                  </a:lnTo>
                  <a:lnTo>
                    <a:pt x="2607388" y="784450"/>
                  </a:lnTo>
                  <a:lnTo>
                    <a:pt x="2626077" y="825730"/>
                  </a:lnTo>
                  <a:lnTo>
                    <a:pt x="2643426" y="867724"/>
                  </a:lnTo>
                  <a:lnTo>
                    <a:pt x="2659410" y="910406"/>
                  </a:lnTo>
                  <a:lnTo>
                    <a:pt x="2674000" y="953748"/>
                  </a:lnTo>
                  <a:lnTo>
                    <a:pt x="2687169" y="997724"/>
                  </a:lnTo>
                  <a:lnTo>
                    <a:pt x="2698891" y="1042305"/>
                  </a:lnTo>
                  <a:lnTo>
                    <a:pt x="2709138" y="1087466"/>
                  </a:lnTo>
                  <a:lnTo>
                    <a:pt x="2717883" y="1133178"/>
                  </a:lnTo>
                  <a:lnTo>
                    <a:pt x="2725099" y="1179415"/>
                  </a:lnTo>
                  <a:lnTo>
                    <a:pt x="2730759" y="1226149"/>
                  </a:lnTo>
                  <a:lnTo>
                    <a:pt x="2734835" y="1273353"/>
                  </a:lnTo>
                  <a:lnTo>
                    <a:pt x="2737301" y="1321001"/>
                  </a:lnTo>
                  <a:lnTo>
                    <a:pt x="2738129" y="1369065"/>
                  </a:lnTo>
                  <a:lnTo>
                    <a:pt x="2737301" y="1417128"/>
                  </a:lnTo>
                  <a:lnTo>
                    <a:pt x="2734835" y="1464776"/>
                  </a:lnTo>
                  <a:lnTo>
                    <a:pt x="2730759" y="1511980"/>
                  </a:lnTo>
                  <a:lnTo>
                    <a:pt x="2725099" y="1558714"/>
                  </a:lnTo>
                  <a:lnTo>
                    <a:pt x="2717883" y="1604951"/>
                  </a:lnTo>
                  <a:lnTo>
                    <a:pt x="2709138" y="1650663"/>
                  </a:lnTo>
                  <a:lnTo>
                    <a:pt x="2698891" y="1695823"/>
                  </a:lnTo>
                  <a:lnTo>
                    <a:pt x="2687169" y="1740405"/>
                  </a:lnTo>
                  <a:lnTo>
                    <a:pt x="2674000" y="1784380"/>
                  </a:lnTo>
                  <a:lnTo>
                    <a:pt x="2659410" y="1827722"/>
                  </a:lnTo>
                  <a:lnTo>
                    <a:pt x="2643426" y="1870404"/>
                  </a:lnTo>
                  <a:lnTo>
                    <a:pt x="2626077" y="1912399"/>
                  </a:lnTo>
                  <a:lnTo>
                    <a:pt x="2607388" y="1953678"/>
                  </a:lnTo>
                  <a:lnTo>
                    <a:pt x="2587387" y="1994216"/>
                  </a:lnTo>
                  <a:lnTo>
                    <a:pt x="2566102" y="2033985"/>
                  </a:lnTo>
                  <a:lnTo>
                    <a:pt x="2543559" y="2072958"/>
                  </a:lnTo>
                  <a:lnTo>
                    <a:pt x="2519785" y="2111108"/>
                  </a:lnTo>
                  <a:lnTo>
                    <a:pt x="2494808" y="2148407"/>
                  </a:lnTo>
                  <a:lnTo>
                    <a:pt x="2468655" y="2184829"/>
                  </a:lnTo>
                  <a:lnTo>
                    <a:pt x="2441353" y="2220346"/>
                  </a:lnTo>
                  <a:lnTo>
                    <a:pt x="2412929" y="2254931"/>
                  </a:lnTo>
                  <a:lnTo>
                    <a:pt x="2383410" y="2288557"/>
                  </a:lnTo>
                  <a:lnTo>
                    <a:pt x="2352824" y="2321197"/>
                  </a:lnTo>
                  <a:lnTo>
                    <a:pt x="2321197" y="2352824"/>
                  </a:lnTo>
                  <a:lnTo>
                    <a:pt x="2288557" y="2383410"/>
                  </a:lnTo>
                  <a:lnTo>
                    <a:pt x="2254931" y="2412929"/>
                  </a:lnTo>
                  <a:lnTo>
                    <a:pt x="2220346" y="2441353"/>
                  </a:lnTo>
                  <a:lnTo>
                    <a:pt x="2184829" y="2468655"/>
                  </a:lnTo>
                  <a:lnTo>
                    <a:pt x="2148407" y="2494808"/>
                  </a:lnTo>
                  <a:lnTo>
                    <a:pt x="2111108" y="2519785"/>
                  </a:lnTo>
                  <a:lnTo>
                    <a:pt x="2072958" y="2543559"/>
                  </a:lnTo>
                  <a:lnTo>
                    <a:pt x="2033985" y="2566102"/>
                  </a:lnTo>
                  <a:lnTo>
                    <a:pt x="1994216" y="2587387"/>
                  </a:lnTo>
                  <a:lnTo>
                    <a:pt x="1953678" y="2607388"/>
                  </a:lnTo>
                  <a:lnTo>
                    <a:pt x="1912399" y="2626077"/>
                  </a:lnTo>
                  <a:lnTo>
                    <a:pt x="1870404" y="2643426"/>
                  </a:lnTo>
                  <a:lnTo>
                    <a:pt x="1827722" y="2659410"/>
                  </a:lnTo>
                  <a:lnTo>
                    <a:pt x="1784380" y="2674000"/>
                  </a:lnTo>
                  <a:lnTo>
                    <a:pt x="1740405" y="2687169"/>
                  </a:lnTo>
                  <a:lnTo>
                    <a:pt x="1695823" y="2698891"/>
                  </a:lnTo>
                  <a:lnTo>
                    <a:pt x="1650663" y="2709138"/>
                  </a:lnTo>
                  <a:lnTo>
                    <a:pt x="1604951" y="2717883"/>
                  </a:lnTo>
                  <a:lnTo>
                    <a:pt x="1558714" y="2725099"/>
                  </a:lnTo>
                  <a:lnTo>
                    <a:pt x="1511980" y="2730759"/>
                  </a:lnTo>
                  <a:lnTo>
                    <a:pt x="1464776" y="2734835"/>
                  </a:lnTo>
                  <a:lnTo>
                    <a:pt x="1417128" y="2737301"/>
                  </a:lnTo>
                  <a:lnTo>
                    <a:pt x="1369065" y="2738129"/>
                  </a:lnTo>
                  <a:lnTo>
                    <a:pt x="1321001" y="2737301"/>
                  </a:lnTo>
                  <a:lnTo>
                    <a:pt x="1273353" y="2734835"/>
                  </a:lnTo>
                  <a:lnTo>
                    <a:pt x="1226149" y="2730759"/>
                  </a:lnTo>
                  <a:lnTo>
                    <a:pt x="1179415" y="2725099"/>
                  </a:lnTo>
                  <a:lnTo>
                    <a:pt x="1133178" y="2717883"/>
                  </a:lnTo>
                  <a:lnTo>
                    <a:pt x="1087466" y="2709138"/>
                  </a:lnTo>
                  <a:lnTo>
                    <a:pt x="1042305" y="2698891"/>
                  </a:lnTo>
                  <a:lnTo>
                    <a:pt x="997724" y="2687169"/>
                  </a:lnTo>
                  <a:lnTo>
                    <a:pt x="953748" y="2674000"/>
                  </a:lnTo>
                  <a:lnTo>
                    <a:pt x="910406" y="2659410"/>
                  </a:lnTo>
                  <a:lnTo>
                    <a:pt x="867724" y="2643426"/>
                  </a:lnTo>
                  <a:lnTo>
                    <a:pt x="825730" y="2626077"/>
                  </a:lnTo>
                  <a:lnTo>
                    <a:pt x="784450" y="2607388"/>
                  </a:lnTo>
                  <a:lnTo>
                    <a:pt x="743912" y="2587387"/>
                  </a:lnTo>
                  <a:lnTo>
                    <a:pt x="704143" y="2566102"/>
                  </a:lnTo>
                  <a:lnTo>
                    <a:pt x="665170" y="2543559"/>
                  </a:lnTo>
                  <a:lnTo>
                    <a:pt x="627021" y="2519785"/>
                  </a:lnTo>
                  <a:lnTo>
                    <a:pt x="589721" y="2494808"/>
                  </a:lnTo>
                  <a:lnTo>
                    <a:pt x="553300" y="2468655"/>
                  </a:lnTo>
                  <a:lnTo>
                    <a:pt x="517783" y="2441353"/>
                  </a:lnTo>
                  <a:lnTo>
                    <a:pt x="483197" y="2412929"/>
                  </a:lnTo>
                  <a:lnTo>
                    <a:pt x="449571" y="2383410"/>
                  </a:lnTo>
                  <a:lnTo>
                    <a:pt x="416931" y="2352824"/>
                  </a:lnTo>
                  <a:lnTo>
                    <a:pt x="385304" y="2321197"/>
                  </a:lnTo>
                  <a:lnTo>
                    <a:pt x="354718" y="2288557"/>
                  </a:lnTo>
                  <a:lnTo>
                    <a:pt x="325199" y="2254931"/>
                  </a:lnTo>
                  <a:lnTo>
                    <a:pt x="296775" y="2220346"/>
                  </a:lnTo>
                  <a:lnTo>
                    <a:pt x="269473" y="2184829"/>
                  </a:lnTo>
                  <a:lnTo>
                    <a:pt x="243320" y="2148407"/>
                  </a:lnTo>
                  <a:lnTo>
                    <a:pt x="218343" y="2111108"/>
                  </a:lnTo>
                  <a:lnTo>
                    <a:pt x="194569" y="2072958"/>
                  </a:lnTo>
                  <a:lnTo>
                    <a:pt x="172026" y="2033985"/>
                  </a:lnTo>
                  <a:lnTo>
                    <a:pt x="150741" y="1994216"/>
                  </a:lnTo>
                  <a:lnTo>
                    <a:pt x="130740" y="1953678"/>
                  </a:lnTo>
                  <a:lnTo>
                    <a:pt x="112051" y="1912399"/>
                  </a:lnTo>
                  <a:lnTo>
                    <a:pt x="94702" y="1870404"/>
                  </a:lnTo>
                  <a:lnTo>
                    <a:pt x="78718" y="1827722"/>
                  </a:lnTo>
                  <a:lnTo>
                    <a:pt x="64128" y="1784380"/>
                  </a:lnTo>
                  <a:lnTo>
                    <a:pt x="50959" y="1740405"/>
                  </a:lnTo>
                  <a:lnTo>
                    <a:pt x="39237" y="1695823"/>
                  </a:lnTo>
                  <a:lnTo>
                    <a:pt x="28990" y="1650663"/>
                  </a:lnTo>
                  <a:lnTo>
                    <a:pt x="20245" y="1604951"/>
                  </a:lnTo>
                  <a:lnTo>
                    <a:pt x="13029" y="1558714"/>
                  </a:lnTo>
                  <a:lnTo>
                    <a:pt x="7369" y="1511980"/>
                  </a:lnTo>
                  <a:lnTo>
                    <a:pt x="3293" y="1464776"/>
                  </a:lnTo>
                  <a:lnTo>
                    <a:pt x="827" y="1417128"/>
                  </a:lnTo>
                  <a:lnTo>
                    <a:pt x="0" y="1369065"/>
                  </a:lnTo>
                  <a:close/>
                </a:path>
              </a:pathLst>
            </a:custGeom>
            <a:noFill/>
            <a:ln w="12700" cap="flat" cmpd="sng">
              <a:solidFill>
                <a:srgbClr val="99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76" name="Google Shape;276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60957" y="4453576"/>
              <a:ext cx="152118" cy="1521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43"/>
            <p:cNvSpPr/>
            <p:nvPr/>
          </p:nvSpPr>
          <p:spPr>
            <a:xfrm>
              <a:off x="5728544" y="3845102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 extrusionOk="0">
                  <a:moveTo>
                    <a:pt x="1369063" y="0"/>
                  </a:moveTo>
                  <a:lnTo>
                    <a:pt x="1321000" y="827"/>
                  </a:lnTo>
                  <a:lnTo>
                    <a:pt x="1273352" y="3293"/>
                  </a:lnTo>
                  <a:lnTo>
                    <a:pt x="1226148" y="7369"/>
                  </a:lnTo>
                  <a:lnTo>
                    <a:pt x="1179413" y="13029"/>
                  </a:lnTo>
                  <a:lnTo>
                    <a:pt x="1133177" y="20245"/>
                  </a:lnTo>
                  <a:lnTo>
                    <a:pt x="1087465" y="28990"/>
                  </a:lnTo>
                  <a:lnTo>
                    <a:pt x="1042304" y="39237"/>
                  </a:lnTo>
                  <a:lnTo>
                    <a:pt x="997723" y="50959"/>
                  </a:lnTo>
                  <a:lnTo>
                    <a:pt x="953747" y="64128"/>
                  </a:lnTo>
                  <a:lnTo>
                    <a:pt x="910405" y="78718"/>
                  </a:lnTo>
                  <a:lnTo>
                    <a:pt x="867723" y="94702"/>
                  </a:lnTo>
                  <a:lnTo>
                    <a:pt x="825729" y="112051"/>
                  </a:lnTo>
                  <a:lnTo>
                    <a:pt x="784449" y="130740"/>
                  </a:lnTo>
                  <a:lnTo>
                    <a:pt x="743911" y="150741"/>
                  </a:lnTo>
                  <a:lnTo>
                    <a:pt x="704142" y="172026"/>
                  </a:lnTo>
                  <a:lnTo>
                    <a:pt x="665170" y="194569"/>
                  </a:lnTo>
                  <a:lnTo>
                    <a:pt x="627020" y="218343"/>
                  </a:lnTo>
                  <a:lnTo>
                    <a:pt x="589721" y="243320"/>
                  </a:lnTo>
                  <a:lnTo>
                    <a:pt x="553299" y="269473"/>
                  </a:lnTo>
                  <a:lnTo>
                    <a:pt x="517782" y="296775"/>
                  </a:lnTo>
                  <a:lnTo>
                    <a:pt x="483197" y="325199"/>
                  </a:lnTo>
                  <a:lnTo>
                    <a:pt x="449571" y="354718"/>
                  </a:lnTo>
                  <a:lnTo>
                    <a:pt x="416931" y="385304"/>
                  </a:lnTo>
                  <a:lnTo>
                    <a:pt x="385304" y="416931"/>
                  </a:lnTo>
                  <a:lnTo>
                    <a:pt x="354717" y="449571"/>
                  </a:lnTo>
                  <a:lnTo>
                    <a:pt x="325199" y="483198"/>
                  </a:lnTo>
                  <a:lnTo>
                    <a:pt x="296775" y="517783"/>
                  </a:lnTo>
                  <a:lnTo>
                    <a:pt x="269473" y="553300"/>
                  </a:lnTo>
                  <a:lnTo>
                    <a:pt x="243320" y="589722"/>
                  </a:lnTo>
                  <a:lnTo>
                    <a:pt x="218343" y="627021"/>
                  </a:lnTo>
                  <a:lnTo>
                    <a:pt x="194569" y="665170"/>
                  </a:lnTo>
                  <a:lnTo>
                    <a:pt x="172026" y="704143"/>
                  </a:lnTo>
                  <a:lnTo>
                    <a:pt x="150741" y="743912"/>
                  </a:lnTo>
                  <a:lnTo>
                    <a:pt x="130740" y="784450"/>
                  </a:lnTo>
                  <a:lnTo>
                    <a:pt x="112051" y="825730"/>
                  </a:lnTo>
                  <a:lnTo>
                    <a:pt x="94702" y="867724"/>
                  </a:lnTo>
                  <a:lnTo>
                    <a:pt x="78718" y="910406"/>
                  </a:lnTo>
                  <a:lnTo>
                    <a:pt x="64128" y="953749"/>
                  </a:lnTo>
                  <a:lnTo>
                    <a:pt x="50959" y="997724"/>
                  </a:lnTo>
                  <a:lnTo>
                    <a:pt x="39237" y="1042306"/>
                  </a:lnTo>
                  <a:lnTo>
                    <a:pt x="28990" y="1087466"/>
                  </a:lnTo>
                  <a:lnTo>
                    <a:pt x="20245" y="1133178"/>
                  </a:lnTo>
                  <a:lnTo>
                    <a:pt x="13029" y="1179415"/>
                  </a:lnTo>
                  <a:lnTo>
                    <a:pt x="7369" y="1226149"/>
                  </a:lnTo>
                  <a:lnTo>
                    <a:pt x="3293" y="1273353"/>
                  </a:lnTo>
                  <a:lnTo>
                    <a:pt x="827" y="1321001"/>
                  </a:lnTo>
                  <a:lnTo>
                    <a:pt x="0" y="1369065"/>
                  </a:lnTo>
                  <a:lnTo>
                    <a:pt x="827" y="1417128"/>
                  </a:lnTo>
                  <a:lnTo>
                    <a:pt x="3293" y="1464776"/>
                  </a:lnTo>
                  <a:lnTo>
                    <a:pt x="7369" y="1511980"/>
                  </a:lnTo>
                  <a:lnTo>
                    <a:pt x="13029" y="1558714"/>
                  </a:lnTo>
                  <a:lnTo>
                    <a:pt x="20245" y="1604951"/>
                  </a:lnTo>
                  <a:lnTo>
                    <a:pt x="28990" y="1650663"/>
                  </a:lnTo>
                  <a:lnTo>
                    <a:pt x="39237" y="1695823"/>
                  </a:lnTo>
                  <a:lnTo>
                    <a:pt x="50959" y="1740405"/>
                  </a:lnTo>
                  <a:lnTo>
                    <a:pt x="64128" y="1784380"/>
                  </a:lnTo>
                  <a:lnTo>
                    <a:pt x="78718" y="1827722"/>
                  </a:lnTo>
                  <a:lnTo>
                    <a:pt x="94702" y="1870404"/>
                  </a:lnTo>
                  <a:lnTo>
                    <a:pt x="112051" y="1912399"/>
                  </a:lnTo>
                  <a:lnTo>
                    <a:pt x="130740" y="1953678"/>
                  </a:lnTo>
                  <a:lnTo>
                    <a:pt x="150741" y="1994216"/>
                  </a:lnTo>
                  <a:lnTo>
                    <a:pt x="172026" y="2033985"/>
                  </a:lnTo>
                  <a:lnTo>
                    <a:pt x="194569" y="2072958"/>
                  </a:lnTo>
                  <a:lnTo>
                    <a:pt x="218343" y="2111108"/>
                  </a:lnTo>
                  <a:lnTo>
                    <a:pt x="243320" y="2148407"/>
                  </a:lnTo>
                  <a:lnTo>
                    <a:pt x="269473" y="2184829"/>
                  </a:lnTo>
                  <a:lnTo>
                    <a:pt x="296775" y="2220346"/>
                  </a:lnTo>
                  <a:lnTo>
                    <a:pt x="325199" y="2254931"/>
                  </a:lnTo>
                  <a:lnTo>
                    <a:pt x="354717" y="2288557"/>
                  </a:lnTo>
                  <a:lnTo>
                    <a:pt x="385304" y="2321197"/>
                  </a:lnTo>
                  <a:lnTo>
                    <a:pt x="416931" y="2352824"/>
                  </a:lnTo>
                  <a:lnTo>
                    <a:pt x="449571" y="2383410"/>
                  </a:lnTo>
                  <a:lnTo>
                    <a:pt x="483197" y="2412929"/>
                  </a:lnTo>
                  <a:lnTo>
                    <a:pt x="517782" y="2441353"/>
                  </a:lnTo>
                  <a:lnTo>
                    <a:pt x="553299" y="2468655"/>
                  </a:lnTo>
                  <a:lnTo>
                    <a:pt x="589721" y="2494808"/>
                  </a:lnTo>
                  <a:lnTo>
                    <a:pt x="627020" y="2519785"/>
                  </a:lnTo>
                  <a:lnTo>
                    <a:pt x="665170" y="2543559"/>
                  </a:lnTo>
                  <a:lnTo>
                    <a:pt x="704142" y="2566102"/>
                  </a:lnTo>
                  <a:lnTo>
                    <a:pt x="743911" y="2587387"/>
                  </a:lnTo>
                  <a:lnTo>
                    <a:pt x="784449" y="2607388"/>
                  </a:lnTo>
                  <a:lnTo>
                    <a:pt x="825729" y="2626077"/>
                  </a:lnTo>
                  <a:lnTo>
                    <a:pt x="867723" y="2643426"/>
                  </a:lnTo>
                  <a:lnTo>
                    <a:pt x="910405" y="2659410"/>
                  </a:lnTo>
                  <a:lnTo>
                    <a:pt x="953747" y="2674000"/>
                  </a:lnTo>
                  <a:lnTo>
                    <a:pt x="997723" y="2687169"/>
                  </a:lnTo>
                  <a:lnTo>
                    <a:pt x="1042304" y="2698891"/>
                  </a:lnTo>
                  <a:lnTo>
                    <a:pt x="1087465" y="2709138"/>
                  </a:lnTo>
                  <a:lnTo>
                    <a:pt x="1133177" y="2717883"/>
                  </a:lnTo>
                  <a:lnTo>
                    <a:pt x="1179413" y="2725099"/>
                  </a:lnTo>
                  <a:lnTo>
                    <a:pt x="1226148" y="2730759"/>
                  </a:lnTo>
                  <a:lnTo>
                    <a:pt x="1273352" y="2734835"/>
                  </a:lnTo>
                  <a:lnTo>
                    <a:pt x="1321000" y="2737301"/>
                  </a:lnTo>
                  <a:lnTo>
                    <a:pt x="1369063" y="2738129"/>
                  </a:lnTo>
                  <a:lnTo>
                    <a:pt x="1417127" y="2737301"/>
                  </a:lnTo>
                  <a:lnTo>
                    <a:pt x="1464775" y="2734835"/>
                  </a:lnTo>
                  <a:lnTo>
                    <a:pt x="1511979" y="2730759"/>
                  </a:lnTo>
                  <a:lnTo>
                    <a:pt x="1558713" y="2725099"/>
                  </a:lnTo>
                  <a:lnTo>
                    <a:pt x="1604950" y="2717883"/>
                  </a:lnTo>
                  <a:lnTo>
                    <a:pt x="1650662" y="2709138"/>
                  </a:lnTo>
                  <a:lnTo>
                    <a:pt x="1695822" y="2698891"/>
                  </a:lnTo>
                  <a:lnTo>
                    <a:pt x="1740404" y="2687169"/>
                  </a:lnTo>
                  <a:lnTo>
                    <a:pt x="1784379" y="2674000"/>
                  </a:lnTo>
                  <a:lnTo>
                    <a:pt x="1827722" y="2659410"/>
                  </a:lnTo>
                  <a:lnTo>
                    <a:pt x="1870403" y="2643426"/>
                  </a:lnTo>
                  <a:lnTo>
                    <a:pt x="1912398" y="2626077"/>
                  </a:lnTo>
                  <a:lnTo>
                    <a:pt x="1953678" y="2607388"/>
                  </a:lnTo>
                  <a:lnTo>
                    <a:pt x="1994215" y="2587387"/>
                  </a:lnTo>
                  <a:lnTo>
                    <a:pt x="2033985" y="2566102"/>
                  </a:lnTo>
                  <a:lnTo>
                    <a:pt x="2072957" y="2543559"/>
                  </a:lnTo>
                  <a:lnTo>
                    <a:pt x="2111107" y="2519785"/>
                  </a:lnTo>
                  <a:lnTo>
                    <a:pt x="2148406" y="2494808"/>
                  </a:lnTo>
                  <a:lnTo>
                    <a:pt x="2184828" y="2468655"/>
                  </a:lnTo>
                  <a:lnTo>
                    <a:pt x="2220345" y="2441353"/>
                  </a:lnTo>
                  <a:lnTo>
                    <a:pt x="2254930" y="2412929"/>
                  </a:lnTo>
                  <a:lnTo>
                    <a:pt x="2288557" y="2383410"/>
                  </a:lnTo>
                  <a:lnTo>
                    <a:pt x="2321197" y="2352824"/>
                  </a:lnTo>
                  <a:lnTo>
                    <a:pt x="2352823" y="2321197"/>
                  </a:lnTo>
                  <a:lnTo>
                    <a:pt x="2383410" y="2288557"/>
                  </a:lnTo>
                  <a:lnTo>
                    <a:pt x="2412929" y="2254931"/>
                  </a:lnTo>
                  <a:lnTo>
                    <a:pt x="2441353" y="2220346"/>
                  </a:lnTo>
                  <a:lnTo>
                    <a:pt x="2468655" y="2184829"/>
                  </a:lnTo>
                  <a:lnTo>
                    <a:pt x="2494808" y="2148407"/>
                  </a:lnTo>
                  <a:lnTo>
                    <a:pt x="2519785" y="2111108"/>
                  </a:lnTo>
                  <a:lnTo>
                    <a:pt x="2543558" y="2072958"/>
                  </a:lnTo>
                  <a:lnTo>
                    <a:pt x="2566102" y="2033985"/>
                  </a:lnTo>
                  <a:lnTo>
                    <a:pt x="2587387" y="1994216"/>
                  </a:lnTo>
                  <a:lnTo>
                    <a:pt x="2607388" y="1953678"/>
                  </a:lnTo>
                  <a:lnTo>
                    <a:pt x="2626076" y="1912399"/>
                  </a:lnTo>
                  <a:lnTo>
                    <a:pt x="2643426" y="1870404"/>
                  </a:lnTo>
                  <a:lnTo>
                    <a:pt x="2659410" y="1827722"/>
                  </a:lnTo>
                  <a:lnTo>
                    <a:pt x="2674000" y="1784380"/>
                  </a:lnTo>
                  <a:lnTo>
                    <a:pt x="2687169" y="1740405"/>
                  </a:lnTo>
                  <a:lnTo>
                    <a:pt x="2698891" y="1695823"/>
                  </a:lnTo>
                  <a:lnTo>
                    <a:pt x="2709138" y="1650663"/>
                  </a:lnTo>
                  <a:lnTo>
                    <a:pt x="2717883" y="1604951"/>
                  </a:lnTo>
                  <a:lnTo>
                    <a:pt x="2725099" y="1558714"/>
                  </a:lnTo>
                  <a:lnTo>
                    <a:pt x="2730759" y="1511980"/>
                  </a:lnTo>
                  <a:lnTo>
                    <a:pt x="2734835" y="1464776"/>
                  </a:lnTo>
                  <a:lnTo>
                    <a:pt x="2737300" y="1417128"/>
                  </a:lnTo>
                  <a:lnTo>
                    <a:pt x="2738128" y="1369065"/>
                  </a:lnTo>
                  <a:lnTo>
                    <a:pt x="2737300" y="1321001"/>
                  </a:lnTo>
                  <a:lnTo>
                    <a:pt x="2734835" y="1273353"/>
                  </a:lnTo>
                  <a:lnTo>
                    <a:pt x="2730759" y="1226149"/>
                  </a:lnTo>
                  <a:lnTo>
                    <a:pt x="2725099" y="1179415"/>
                  </a:lnTo>
                  <a:lnTo>
                    <a:pt x="2717883" y="1133178"/>
                  </a:lnTo>
                  <a:lnTo>
                    <a:pt x="2709138" y="1087466"/>
                  </a:lnTo>
                  <a:lnTo>
                    <a:pt x="2698891" y="1042306"/>
                  </a:lnTo>
                  <a:lnTo>
                    <a:pt x="2687169" y="997724"/>
                  </a:lnTo>
                  <a:lnTo>
                    <a:pt x="2674000" y="953749"/>
                  </a:lnTo>
                  <a:lnTo>
                    <a:pt x="2659410" y="910406"/>
                  </a:lnTo>
                  <a:lnTo>
                    <a:pt x="2643426" y="867724"/>
                  </a:lnTo>
                  <a:lnTo>
                    <a:pt x="2626076" y="825730"/>
                  </a:lnTo>
                  <a:lnTo>
                    <a:pt x="2607388" y="784450"/>
                  </a:lnTo>
                  <a:lnTo>
                    <a:pt x="2587387" y="743912"/>
                  </a:lnTo>
                  <a:lnTo>
                    <a:pt x="2566102" y="704143"/>
                  </a:lnTo>
                  <a:lnTo>
                    <a:pt x="2543558" y="665170"/>
                  </a:lnTo>
                  <a:lnTo>
                    <a:pt x="2519785" y="627021"/>
                  </a:lnTo>
                  <a:lnTo>
                    <a:pt x="2494808" y="589722"/>
                  </a:lnTo>
                  <a:lnTo>
                    <a:pt x="2468655" y="553300"/>
                  </a:lnTo>
                  <a:lnTo>
                    <a:pt x="2441353" y="517783"/>
                  </a:lnTo>
                  <a:lnTo>
                    <a:pt x="2412929" y="483198"/>
                  </a:lnTo>
                  <a:lnTo>
                    <a:pt x="2383410" y="449571"/>
                  </a:lnTo>
                  <a:lnTo>
                    <a:pt x="2352823" y="416931"/>
                  </a:lnTo>
                  <a:lnTo>
                    <a:pt x="2321197" y="385304"/>
                  </a:lnTo>
                  <a:lnTo>
                    <a:pt x="2288557" y="354718"/>
                  </a:lnTo>
                  <a:lnTo>
                    <a:pt x="2254930" y="325199"/>
                  </a:lnTo>
                  <a:lnTo>
                    <a:pt x="2220345" y="296775"/>
                  </a:lnTo>
                  <a:lnTo>
                    <a:pt x="2184828" y="269473"/>
                  </a:lnTo>
                  <a:lnTo>
                    <a:pt x="2148406" y="243320"/>
                  </a:lnTo>
                  <a:lnTo>
                    <a:pt x="2111107" y="218343"/>
                  </a:lnTo>
                  <a:lnTo>
                    <a:pt x="2072957" y="194569"/>
                  </a:lnTo>
                  <a:lnTo>
                    <a:pt x="2033985" y="172026"/>
                  </a:lnTo>
                  <a:lnTo>
                    <a:pt x="1994215" y="150741"/>
                  </a:lnTo>
                  <a:lnTo>
                    <a:pt x="1953678" y="130740"/>
                  </a:lnTo>
                  <a:lnTo>
                    <a:pt x="1912398" y="112051"/>
                  </a:lnTo>
                  <a:lnTo>
                    <a:pt x="1870403" y="94702"/>
                  </a:lnTo>
                  <a:lnTo>
                    <a:pt x="1827722" y="78718"/>
                  </a:lnTo>
                  <a:lnTo>
                    <a:pt x="1784379" y="64128"/>
                  </a:lnTo>
                  <a:lnTo>
                    <a:pt x="1740404" y="50959"/>
                  </a:lnTo>
                  <a:lnTo>
                    <a:pt x="1695822" y="39237"/>
                  </a:lnTo>
                  <a:lnTo>
                    <a:pt x="1650662" y="28990"/>
                  </a:lnTo>
                  <a:lnTo>
                    <a:pt x="1604950" y="20245"/>
                  </a:lnTo>
                  <a:lnTo>
                    <a:pt x="1558713" y="13029"/>
                  </a:lnTo>
                  <a:lnTo>
                    <a:pt x="1511979" y="7369"/>
                  </a:lnTo>
                  <a:lnTo>
                    <a:pt x="1464775" y="3293"/>
                  </a:lnTo>
                  <a:lnTo>
                    <a:pt x="1417127" y="827"/>
                  </a:lnTo>
                  <a:lnTo>
                    <a:pt x="1369063" y="0"/>
                  </a:lnTo>
                  <a:close/>
                </a:path>
              </a:pathLst>
            </a:custGeom>
            <a:solidFill>
              <a:srgbClr val="FFC5CF">
                <a:alpha val="5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43"/>
            <p:cNvSpPr/>
            <p:nvPr/>
          </p:nvSpPr>
          <p:spPr>
            <a:xfrm>
              <a:off x="5728544" y="3845102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 extrusionOk="0">
                  <a:moveTo>
                    <a:pt x="0" y="1369065"/>
                  </a:moveTo>
                  <a:lnTo>
                    <a:pt x="827" y="1321001"/>
                  </a:lnTo>
                  <a:lnTo>
                    <a:pt x="3293" y="1273353"/>
                  </a:lnTo>
                  <a:lnTo>
                    <a:pt x="7369" y="1226149"/>
                  </a:lnTo>
                  <a:lnTo>
                    <a:pt x="13029" y="1179415"/>
                  </a:lnTo>
                  <a:lnTo>
                    <a:pt x="20245" y="1133178"/>
                  </a:lnTo>
                  <a:lnTo>
                    <a:pt x="28990" y="1087466"/>
                  </a:lnTo>
                  <a:lnTo>
                    <a:pt x="39237" y="1042305"/>
                  </a:lnTo>
                  <a:lnTo>
                    <a:pt x="50959" y="997724"/>
                  </a:lnTo>
                  <a:lnTo>
                    <a:pt x="64128" y="953748"/>
                  </a:lnTo>
                  <a:lnTo>
                    <a:pt x="78718" y="910406"/>
                  </a:lnTo>
                  <a:lnTo>
                    <a:pt x="94702" y="867724"/>
                  </a:lnTo>
                  <a:lnTo>
                    <a:pt x="112051" y="825730"/>
                  </a:lnTo>
                  <a:lnTo>
                    <a:pt x="130740" y="784450"/>
                  </a:lnTo>
                  <a:lnTo>
                    <a:pt x="150741" y="743912"/>
                  </a:lnTo>
                  <a:lnTo>
                    <a:pt x="172026" y="704143"/>
                  </a:lnTo>
                  <a:lnTo>
                    <a:pt x="194569" y="665170"/>
                  </a:lnTo>
                  <a:lnTo>
                    <a:pt x="218343" y="627021"/>
                  </a:lnTo>
                  <a:lnTo>
                    <a:pt x="243320" y="589721"/>
                  </a:lnTo>
                  <a:lnTo>
                    <a:pt x="269473" y="553300"/>
                  </a:lnTo>
                  <a:lnTo>
                    <a:pt x="296775" y="517783"/>
                  </a:lnTo>
                  <a:lnTo>
                    <a:pt x="325199" y="483197"/>
                  </a:lnTo>
                  <a:lnTo>
                    <a:pt x="354718" y="449571"/>
                  </a:lnTo>
                  <a:lnTo>
                    <a:pt x="385304" y="416931"/>
                  </a:lnTo>
                  <a:lnTo>
                    <a:pt x="416931" y="385304"/>
                  </a:lnTo>
                  <a:lnTo>
                    <a:pt x="449571" y="354718"/>
                  </a:lnTo>
                  <a:lnTo>
                    <a:pt x="483197" y="325199"/>
                  </a:lnTo>
                  <a:lnTo>
                    <a:pt x="517783" y="296775"/>
                  </a:lnTo>
                  <a:lnTo>
                    <a:pt x="553300" y="269473"/>
                  </a:lnTo>
                  <a:lnTo>
                    <a:pt x="589721" y="243320"/>
                  </a:lnTo>
                  <a:lnTo>
                    <a:pt x="627021" y="218343"/>
                  </a:lnTo>
                  <a:lnTo>
                    <a:pt x="665170" y="194569"/>
                  </a:lnTo>
                  <a:lnTo>
                    <a:pt x="704143" y="172026"/>
                  </a:lnTo>
                  <a:lnTo>
                    <a:pt x="743912" y="150741"/>
                  </a:lnTo>
                  <a:lnTo>
                    <a:pt x="784450" y="130740"/>
                  </a:lnTo>
                  <a:lnTo>
                    <a:pt x="825730" y="112051"/>
                  </a:lnTo>
                  <a:lnTo>
                    <a:pt x="867724" y="94702"/>
                  </a:lnTo>
                  <a:lnTo>
                    <a:pt x="910406" y="78718"/>
                  </a:lnTo>
                  <a:lnTo>
                    <a:pt x="953748" y="64128"/>
                  </a:lnTo>
                  <a:lnTo>
                    <a:pt x="997724" y="50959"/>
                  </a:lnTo>
                  <a:lnTo>
                    <a:pt x="1042305" y="39237"/>
                  </a:lnTo>
                  <a:lnTo>
                    <a:pt x="1087466" y="28990"/>
                  </a:lnTo>
                  <a:lnTo>
                    <a:pt x="1133178" y="20245"/>
                  </a:lnTo>
                  <a:lnTo>
                    <a:pt x="1179415" y="13029"/>
                  </a:lnTo>
                  <a:lnTo>
                    <a:pt x="1226149" y="7369"/>
                  </a:lnTo>
                  <a:lnTo>
                    <a:pt x="1273353" y="3293"/>
                  </a:lnTo>
                  <a:lnTo>
                    <a:pt x="1321001" y="827"/>
                  </a:lnTo>
                  <a:lnTo>
                    <a:pt x="1369065" y="0"/>
                  </a:lnTo>
                  <a:lnTo>
                    <a:pt x="1417128" y="827"/>
                  </a:lnTo>
                  <a:lnTo>
                    <a:pt x="1464776" y="3293"/>
                  </a:lnTo>
                  <a:lnTo>
                    <a:pt x="1511980" y="7369"/>
                  </a:lnTo>
                  <a:lnTo>
                    <a:pt x="1558714" y="13029"/>
                  </a:lnTo>
                  <a:lnTo>
                    <a:pt x="1604951" y="20245"/>
                  </a:lnTo>
                  <a:lnTo>
                    <a:pt x="1650663" y="28990"/>
                  </a:lnTo>
                  <a:lnTo>
                    <a:pt x="1695823" y="39237"/>
                  </a:lnTo>
                  <a:lnTo>
                    <a:pt x="1740405" y="50959"/>
                  </a:lnTo>
                  <a:lnTo>
                    <a:pt x="1784380" y="64128"/>
                  </a:lnTo>
                  <a:lnTo>
                    <a:pt x="1827722" y="78718"/>
                  </a:lnTo>
                  <a:lnTo>
                    <a:pt x="1870404" y="94702"/>
                  </a:lnTo>
                  <a:lnTo>
                    <a:pt x="1912399" y="112051"/>
                  </a:lnTo>
                  <a:lnTo>
                    <a:pt x="1953678" y="130740"/>
                  </a:lnTo>
                  <a:lnTo>
                    <a:pt x="1994216" y="150741"/>
                  </a:lnTo>
                  <a:lnTo>
                    <a:pt x="2033985" y="172026"/>
                  </a:lnTo>
                  <a:lnTo>
                    <a:pt x="2072958" y="194569"/>
                  </a:lnTo>
                  <a:lnTo>
                    <a:pt x="2111108" y="218343"/>
                  </a:lnTo>
                  <a:lnTo>
                    <a:pt x="2148407" y="243320"/>
                  </a:lnTo>
                  <a:lnTo>
                    <a:pt x="2184829" y="269473"/>
                  </a:lnTo>
                  <a:lnTo>
                    <a:pt x="2220346" y="296775"/>
                  </a:lnTo>
                  <a:lnTo>
                    <a:pt x="2254931" y="325199"/>
                  </a:lnTo>
                  <a:lnTo>
                    <a:pt x="2288557" y="354718"/>
                  </a:lnTo>
                  <a:lnTo>
                    <a:pt x="2321197" y="385304"/>
                  </a:lnTo>
                  <a:lnTo>
                    <a:pt x="2352824" y="416931"/>
                  </a:lnTo>
                  <a:lnTo>
                    <a:pt x="2383410" y="449571"/>
                  </a:lnTo>
                  <a:lnTo>
                    <a:pt x="2412929" y="483197"/>
                  </a:lnTo>
                  <a:lnTo>
                    <a:pt x="2441353" y="517783"/>
                  </a:lnTo>
                  <a:lnTo>
                    <a:pt x="2468655" y="553300"/>
                  </a:lnTo>
                  <a:lnTo>
                    <a:pt x="2494808" y="589721"/>
                  </a:lnTo>
                  <a:lnTo>
                    <a:pt x="2519785" y="627021"/>
                  </a:lnTo>
                  <a:lnTo>
                    <a:pt x="2543559" y="665170"/>
                  </a:lnTo>
                  <a:lnTo>
                    <a:pt x="2566102" y="704143"/>
                  </a:lnTo>
                  <a:lnTo>
                    <a:pt x="2587387" y="743912"/>
                  </a:lnTo>
                  <a:lnTo>
                    <a:pt x="2607388" y="784450"/>
                  </a:lnTo>
                  <a:lnTo>
                    <a:pt x="2626077" y="825730"/>
                  </a:lnTo>
                  <a:lnTo>
                    <a:pt x="2643426" y="867724"/>
                  </a:lnTo>
                  <a:lnTo>
                    <a:pt x="2659410" y="910406"/>
                  </a:lnTo>
                  <a:lnTo>
                    <a:pt x="2674000" y="953748"/>
                  </a:lnTo>
                  <a:lnTo>
                    <a:pt x="2687169" y="997724"/>
                  </a:lnTo>
                  <a:lnTo>
                    <a:pt x="2698891" y="1042305"/>
                  </a:lnTo>
                  <a:lnTo>
                    <a:pt x="2709138" y="1087466"/>
                  </a:lnTo>
                  <a:lnTo>
                    <a:pt x="2717883" y="1133178"/>
                  </a:lnTo>
                  <a:lnTo>
                    <a:pt x="2725099" y="1179415"/>
                  </a:lnTo>
                  <a:lnTo>
                    <a:pt x="2730759" y="1226149"/>
                  </a:lnTo>
                  <a:lnTo>
                    <a:pt x="2734835" y="1273353"/>
                  </a:lnTo>
                  <a:lnTo>
                    <a:pt x="2737301" y="1321001"/>
                  </a:lnTo>
                  <a:lnTo>
                    <a:pt x="2738129" y="1369065"/>
                  </a:lnTo>
                  <a:lnTo>
                    <a:pt x="2737301" y="1417128"/>
                  </a:lnTo>
                  <a:lnTo>
                    <a:pt x="2734835" y="1464776"/>
                  </a:lnTo>
                  <a:lnTo>
                    <a:pt x="2730759" y="1511980"/>
                  </a:lnTo>
                  <a:lnTo>
                    <a:pt x="2725099" y="1558714"/>
                  </a:lnTo>
                  <a:lnTo>
                    <a:pt x="2717883" y="1604951"/>
                  </a:lnTo>
                  <a:lnTo>
                    <a:pt x="2709138" y="1650663"/>
                  </a:lnTo>
                  <a:lnTo>
                    <a:pt x="2698891" y="1695823"/>
                  </a:lnTo>
                  <a:lnTo>
                    <a:pt x="2687169" y="1740405"/>
                  </a:lnTo>
                  <a:lnTo>
                    <a:pt x="2674000" y="1784380"/>
                  </a:lnTo>
                  <a:lnTo>
                    <a:pt x="2659410" y="1827722"/>
                  </a:lnTo>
                  <a:lnTo>
                    <a:pt x="2643426" y="1870404"/>
                  </a:lnTo>
                  <a:lnTo>
                    <a:pt x="2626077" y="1912399"/>
                  </a:lnTo>
                  <a:lnTo>
                    <a:pt x="2607388" y="1953678"/>
                  </a:lnTo>
                  <a:lnTo>
                    <a:pt x="2587387" y="1994216"/>
                  </a:lnTo>
                  <a:lnTo>
                    <a:pt x="2566102" y="2033985"/>
                  </a:lnTo>
                  <a:lnTo>
                    <a:pt x="2543559" y="2072958"/>
                  </a:lnTo>
                  <a:lnTo>
                    <a:pt x="2519785" y="2111108"/>
                  </a:lnTo>
                  <a:lnTo>
                    <a:pt x="2494808" y="2148407"/>
                  </a:lnTo>
                  <a:lnTo>
                    <a:pt x="2468655" y="2184829"/>
                  </a:lnTo>
                  <a:lnTo>
                    <a:pt x="2441353" y="2220346"/>
                  </a:lnTo>
                  <a:lnTo>
                    <a:pt x="2412929" y="2254931"/>
                  </a:lnTo>
                  <a:lnTo>
                    <a:pt x="2383410" y="2288557"/>
                  </a:lnTo>
                  <a:lnTo>
                    <a:pt x="2352824" y="2321197"/>
                  </a:lnTo>
                  <a:lnTo>
                    <a:pt x="2321197" y="2352824"/>
                  </a:lnTo>
                  <a:lnTo>
                    <a:pt x="2288557" y="2383410"/>
                  </a:lnTo>
                  <a:lnTo>
                    <a:pt x="2254931" y="2412929"/>
                  </a:lnTo>
                  <a:lnTo>
                    <a:pt x="2220346" y="2441353"/>
                  </a:lnTo>
                  <a:lnTo>
                    <a:pt x="2184829" y="2468655"/>
                  </a:lnTo>
                  <a:lnTo>
                    <a:pt x="2148407" y="2494808"/>
                  </a:lnTo>
                  <a:lnTo>
                    <a:pt x="2111108" y="2519785"/>
                  </a:lnTo>
                  <a:lnTo>
                    <a:pt x="2072958" y="2543559"/>
                  </a:lnTo>
                  <a:lnTo>
                    <a:pt x="2033985" y="2566102"/>
                  </a:lnTo>
                  <a:lnTo>
                    <a:pt x="1994216" y="2587387"/>
                  </a:lnTo>
                  <a:lnTo>
                    <a:pt x="1953678" y="2607388"/>
                  </a:lnTo>
                  <a:lnTo>
                    <a:pt x="1912399" y="2626077"/>
                  </a:lnTo>
                  <a:lnTo>
                    <a:pt x="1870404" y="2643426"/>
                  </a:lnTo>
                  <a:lnTo>
                    <a:pt x="1827722" y="2659410"/>
                  </a:lnTo>
                  <a:lnTo>
                    <a:pt x="1784380" y="2674000"/>
                  </a:lnTo>
                  <a:lnTo>
                    <a:pt x="1740405" y="2687169"/>
                  </a:lnTo>
                  <a:lnTo>
                    <a:pt x="1695823" y="2698891"/>
                  </a:lnTo>
                  <a:lnTo>
                    <a:pt x="1650663" y="2709138"/>
                  </a:lnTo>
                  <a:lnTo>
                    <a:pt x="1604951" y="2717883"/>
                  </a:lnTo>
                  <a:lnTo>
                    <a:pt x="1558714" y="2725099"/>
                  </a:lnTo>
                  <a:lnTo>
                    <a:pt x="1511980" y="2730759"/>
                  </a:lnTo>
                  <a:lnTo>
                    <a:pt x="1464776" y="2734835"/>
                  </a:lnTo>
                  <a:lnTo>
                    <a:pt x="1417128" y="2737301"/>
                  </a:lnTo>
                  <a:lnTo>
                    <a:pt x="1369065" y="2738129"/>
                  </a:lnTo>
                  <a:lnTo>
                    <a:pt x="1321001" y="2737301"/>
                  </a:lnTo>
                  <a:lnTo>
                    <a:pt x="1273353" y="2734835"/>
                  </a:lnTo>
                  <a:lnTo>
                    <a:pt x="1226149" y="2730759"/>
                  </a:lnTo>
                  <a:lnTo>
                    <a:pt x="1179415" y="2725099"/>
                  </a:lnTo>
                  <a:lnTo>
                    <a:pt x="1133178" y="2717883"/>
                  </a:lnTo>
                  <a:lnTo>
                    <a:pt x="1087466" y="2709138"/>
                  </a:lnTo>
                  <a:lnTo>
                    <a:pt x="1042305" y="2698891"/>
                  </a:lnTo>
                  <a:lnTo>
                    <a:pt x="997724" y="2687169"/>
                  </a:lnTo>
                  <a:lnTo>
                    <a:pt x="953748" y="2674000"/>
                  </a:lnTo>
                  <a:lnTo>
                    <a:pt x="910406" y="2659410"/>
                  </a:lnTo>
                  <a:lnTo>
                    <a:pt x="867724" y="2643426"/>
                  </a:lnTo>
                  <a:lnTo>
                    <a:pt x="825730" y="2626077"/>
                  </a:lnTo>
                  <a:lnTo>
                    <a:pt x="784450" y="2607388"/>
                  </a:lnTo>
                  <a:lnTo>
                    <a:pt x="743912" y="2587387"/>
                  </a:lnTo>
                  <a:lnTo>
                    <a:pt x="704143" y="2566102"/>
                  </a:lnTo>
                  <a:lnTo>
                    <a:pt x="665170" y="2543559"/>
                  </a:lnTo>
                  <a:lnTo>
                    <a:pt x="627021" y="2519785"/>
                  </a:lnTo>
                  <a:lnTo>
                    <a:pt x="589721" y="2494808"/>
                  </a:lnTo>
                  <a:lnTo>
                    <a:pt x="553300" y="2468655"/>
                  </a:lnTo>
                  <a:lnTo>
                    <a:pt x="517783" y="2441353"/>
                  </a:lnTo>
                  <a:lnTo>
                    <a:pt x="483197" y="2412929"/>
                  </a:lnTo>
                  <a:lnTo>
                    <a:pt x="449571" y="2383410"/>
                  </a:lnTo>
                  <a:lnTo>
                    <a:pt x="416931" y="2352824"/>
                  </a:lnTo>
                  <a:lnTo>
                    <a:pt x="385304" y="2321197"/>
                  </a:lnTo>
                  <a:lnTo>
                    <a:pt x="354718" y="2288557"/>
                  </a:lnTo>
                  <a:lnTo>
                    <a:pt x="325199" y="2254931"/>
                  </a:lnTo>
                  <a:lnTo>
                    <a:pt x="296775" y="2220346"/>
                  </a:lnTo>
                  <a:lnTo>
                    <a:pt x="269473" y="2184829"/>
                  </a:lnTo>
                  <a:lnTo>
                    <a:pt x="243320" y="2148407"/>
                  </a:lnTo>
                  <a:lnTo>
                    <a:pt x="218343" y="2111108"/>
                  </a:lnTo>
                  <a:lnTo>
                    <a:pt x="194569" y="2072958"/>
                  </a:lnTo>
                  <a:lnTo>
                    <a:pt x="172026" y="2033985"/>
                  </a:lnTo>
                  <a:lnTo>
                    <a:pt x="150741" y="1994216"/>
                  </a:lnTo>
                  <a:lnTo>
                    <a:pt x="130740" y="1953678"/>
                  </a:lnTo>
                  <a:lnTo>
                    <a:pt x="112051" y="1912399"/>
                  </a:lnTo>
                  <a:lnTo>
                    <a:pt x="94702" y="1870404"/>
                  </a:lnTo>
                  <a:lnTo>
                    <a:pt x="78718" y="1827722"/>
                  </a:lnTo>
                  <a:lnTo>
                    <a:pt x="64128" y="1784380"/>
                  </a:lnTo>
                  <a:lnTo>
                    <a:pt x="50959" y="1740405"/>
                  </a:lnTo>
                  <a:lnTo>
                    <a:pt x="39237" y="1695823"/>
                  </a:lnTo>
                  <a:lnTo>
                    <a:pt x="28990" y="1650663"/>
                  </a:lnTo>
                  <a:lnTo>
                    <a:pt x="20245" y="1604951"/>
                  </a:lnTo>
                  <a:lnTo>
                    <a:pt x="13029" y="1558714"/>
                  </a:lnTo>
                  <a:lnTo>
                    <a:pt x="7369" y="1511980"/>
                  </a:lnTo>
                  <a:lnTo>
                    <a:pt x="3293" y="1464776"/>
                  </a:lnTo>
                  <a:lnTo>
                    <a:pt x="827" y="1417128"/>
                  </a:lnTo>
                  <a:lnTo>
                    <a:pt x="0" y="1369065"/>
                  </a:lnTo>
                  <a:close/>
                </a:path>
              </a:pathLst>
            </a:custGeom>
            <a:noFill/>
            <a:ln w="12700" cap="flat" cmpd="sng">
              <a:solidFill>
                <a:srgbClr val="FFC5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79" name="Google Shape;279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21547" y="5138107"/>
              <a:ext cx="152118" cy="1521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43"/>
          <p:cNvSpPr txBox="1"/>
          <p:nvPr/>
        </p:nvSpPr>
        <p:spPr>
          <a:xfrm>
            <a:off x="4999995" y="1776476"/>
            <a:ext cx="68326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8188502" y="1736852"/>
            <a:ext cx="5505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2" name="Google Shape;282;p43"/>
          <p:cNvGrpSpPr/>
          <p:nvPr/>
        </p:nvGrpSpPr>
        <p:grpSpPr>
          <a:xfrm>
            <a:off x="5099807" y="1764287"/>
            <a:ext cx="2899459" cy="1047650"/>
            <a:chOff x="5099807" y="1764287"/>
            <a:chExt cx="2899459" cy="1047650"/>
          </a:xfrm>
        </p:grpSpPr>
        <p:sp>
          <p:nvSpPr>
            <p:cNvPr id="283" name="Google Shape;283;p43"/>
            <p:cNvSpPr/>
            <p:nvPr/>
          </p:nvSpPr>
          <p:spPr>
            <a:xfrm>
              <a:off x="5247928" y="1840095"/>
              <a:ext cx="2675890" cy="872490"/>
            </a:xfrm>
            <a:custGeom>
              <a:avLst/>
              <a:gdLst/>
              <a:ahLst/>
              <a:cxnLst/>
              <a:rect l="l" t="t" r="r" b="b"/>
              <a:pathLst>
                <a:path w="2675890" h="872489" extrusionOk="0">
                  <a:moveTo>
                    <a:pt x="0" y="872455"/>
                  </a:moveTo>
                  <a:lnTo>
                    <a:pt x="2675533" y="0"/>
                  </a:lnTo>
                </a:path>
              </a:pathLst>
            </a:custGeom>
            <a:noFill/>
            <a:ln w="507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84" name="Google Shape;284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99807" y="2660323"/>
              <a:ext cx="151614" cy="1516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4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47652" y="1764287"/>
              <a:ext cx="151614" cy="151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43"/>
          <p:cNvSpPr txBox="1"/>
          <p:nvPr/>
        </p:nvSpPr>
        <p:spPr>
          <a:xfrm>
            <a:off x="6937289" y="1398523"/>
            <a:ext cx="82105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Cathy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43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525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88" name="Google Shape;288;p43"/>
          <p:cNvSpPr txBox="1"/>
          <p:nvPr/>
        </p:nvSpPr>
        <p:spPr>
          <a:xfrm>
            <a:off x="5325706" y="2703067"/>
            <a:ext cx="51689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4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CSMA: Carrier Sense, Multiple Access</a:t>
            </a:r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3838" lvl="0" indent="-223838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/>
              <a:t>Multiple access: channel is shared medium</a:t>
            </a:r>
            <a:endParaRPr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/>
              <a:t>Station: wireless host or access point</a:t>
            </a:r>
            <a:endParaRPr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/>
              <a:t>Multiple stations may want to transmit at same time</a:t>
            </a:r>
            <a:endParaRPr/>
          </a:p>
          <a:p>
            <a:pPr marL="223838" lvl="0" indent="-223838" algn="l" rtl="0"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/>
              <a:t>Carrier sense: sense channel before sending</a:t>
            </a:r>
            <a:endParaRPr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/>
              <a:t>Station doesn’t send when channel is busy</a:t>
            </a:r>
            <a:endParaRPr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/>
              <a:t>To prevent collisions with ongoing transfers</a:t>
            </a:r>
            <a:endParaRPr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/>
              <a:t>But, detecting ongoing transfers isn’t always possible</a:t>
            </a:r>
            <a:endParaRPr/>
          </a:p>
        </p:txBody>
      </p:sp>
      <p:grpSp>
        <p:nvGrpSpPr>
          <p:cNvPr id="297" name="Google Shape;297;p44"/>
          <p:cNvGrpSpPr/>
          <p:nvPr/>
        </p:nvGrpSpPr>
        <p:grpSpPr>
          <a:xfrm>
            <a:off x="1395413" y="4619625"/>
            <a:ext cx="6056312" cy="2006600"/>
            <a:chOff x="440" y="1326"/>
            <a:chExt cx="5164" cy="1464"/>
          </a:xfrm>
        </p:grpSpPr>
        <p:grpSp>
          <p:nvGrpSpPr>
            <p:cNvPr id="298" name="Google Shape;298;p44"/>
            <p:cNvGrpSpPr/>
            <p:nvPr/>
          </p:nvGrpSpPr>
          <p:grpSpPr>
            <a:xfrm>
              <a:off x="440" y="1520"/>
              <a:ext cx="2086" cy="1018"/>
              <a:chOff x="759" y="2008"/>
              <a:chExt cx="2086" cy="1018"/>
            </a:xfrm>
          </p:grpSpPr>
          <p:grpSp>
            <p:nvGrpSpPr>
              <p:cNvPr id="299" name="Google Shape;299;p44"/>
              <p:cNvGrpSpPr/>
              <p:nvPr/>
            </p:nvGrpSpPr>
            <p:grpSpPr>
              <a:xfrm>
                <a:off x="1529" y="2018"/>
                <a:ext cx="535" cy="466"/>
                <a:chOff x="2870" y="1518"/>
                <a:chExt cx="292" cy="320"/>
              </a:xfrm>
            </p:grpSpPr>
            <p:pic>
              <p:nvPicPr>
                <p:cNvPr id="300" name="Google Shape;300;p4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870" y="1518"/>
                  <a:ext cx="272" cy="2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1" name="Google Shape;301;p4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913" y="1602"/>
                  <a:ext cx="249" cy="23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02" name="Google Shape;302;p44"/>
              <p:cNvSpPr/>
              <p:nvPr/>
            </p:nvSpPr>
            <p:spPr>
              <a:xfrm>
                <a:off x="759" y="2008"/>
                <a:ext cx="1273" cy="684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684" extrusionOk="0">
                    <a:moveTo>
                      <a:pt x="9" y="675"/>
                    </a:moveTo>
                    <a:lnTo>
                      <a:pt x="316" y="0"/>
                    </a:lnTo>
                    <a:lnTo>
                      <a:pt x="461" y="228"/>
                    </a:lnTo>
                    <a:lnTo>
                      <a:pt x="510" y="119"/>
                    </a:lnTo>
                    <a:lnTo>
                      <a:pt x="631" y="467"/>
                    </a:lnTo>
                    <a:lnTo>
                      <a:pt x="667" y="391"/>
                    </a:lnTo>
                    <a:lnTo>
                      <a:pt x="739" y="464"/>
                    </a:lnTo>
                    <a:lnTo>
                      <a:pt x="1058" y="57"/>
                    </a:lnTo>
                    <a:lnTo>
                      <a:pt x="1273" y="684"/>
                    </a:lnTo>
                    <a:lnTo>
                      <a:pt x="0" y="674"/>
                    </a:lnTo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00CC66"/>
                  </a:gs>
                </a:gsLst>
                <a:lin ang="5400000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/>
                  <a:buNone/>
                </a:pPr>
                <a:endParaRPr sz="20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grpSp>
            <p:nvGrpSpPr>
              <p:cNvPr id="303" name="Google Shape;303;p44"/>
              <p:cNvGrpSpPr/>
              <p:nvPr/>
            </p:nvGrpSpPr>
            <p:grpSpPr>
              <a:xfrm>
                <a:off x="1053" y="2587"/>
                <a:ext cx="482" cy="439"/>
                <a:chOff x="2870" y="1518"/>
                <a:chExt cx="292" cy="320"/>
              </a:xfrm>
            </p:grpSpPr>
            <p:pic>
              <p:nvPicPr>
                <p:cNvPr id="304" name="Google Shape;304;p4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870" y="1518"/>
                  <a:ext cx="272" cy="2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5" name="Google Shape;305;p4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913" y="1602"/>
                  <a:ext cx="249" cy="23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06" name="Google Shape;306;p44"/>
              <p:cNvGrpSpPr/>
              <p:nvPr/>
            </p:nvGrpSpPr>
            <p:grpSpPr>
              <a:xfrm>
                <a:off x="2124" y="2391"/>
                <a:ext cx="482" cy="439"/>
                <a:chOff x="2870" y="1518"/>
                <a:chExt cx="292" cy="320"/>
              </a:xfrm>
            </p:grpSpPr>
            <p:pic>
              <p:nvPicPr>
                <p:cNvPr id="307" name="Google Shape;307;p4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870" y="1518"/>
                  <a:ext cx="272" cy="2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8" name="Google Shape;308;p4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913" y="1602"/>
                  <a:ext cx="249" cy="23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309" name="Google Shape;309;p44"/>
              <p:cNvCxnSpPr/>
              <p:nvPr/>
            </p:nvCxnSpPr>
            <p:spPr>
              <a:xfrm rot="10800000" flipH="1">
                <a:off x="1561" y="2773"/>
                <a:ext cx="629" cy="10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0" name="Google Shape;310;p44"/>
              <p:cNvCxnSpPr/>
              <p:nvPr/>
            </p:nvCxnSpPr>
            <p:spPr>
              <a:xfrm>
                <a:off x="1985" y="2471"/>
                <a:ext cx="257" cy="203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11" name="Google Shape;311;p44"/>
              <p:cNvSpPr txBox="1"/>
              <p:nvPr/>
            </p:nvSpPr>
            <p:spPr>
              <a:xfrm>
                <a:off x="1005" y="2705"/>
                <a:ext cx="300" cy="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</a:t>
                </a:r>
                <a:endParaRPr/>
              </a:p>
            </p:txBody>
          </p:sp>
          <p:sp>
            <p:nvSpPr>
              <p:cNvPr id="312" name="Google Shape;312;p44"/>
              <p:cNvSpPr txBox="1"/>
              <p:nvPr/>
            </p:nvSpPr>
            <p:spPr>
              <a:xfrm>
                <a:off x="2565" y="2562"/>
                <a:ext cx="280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B</a:t>
                </a:r>
                <a:endParaRPr/>
              </a:p>
            </p:txBody>
          </p:sp>
          <p:sp>
            <p:nvSpPr>
              <p:cNvPr id="313" name="Google Shape;313;p44"/>
              <p:cNvSpPr txBox="1"/>
              <p:nvPr/>
            </p:nvSpPr>
            <p:spPr>
              <a:xfrm>
                <a:off x="2014" y="2118"/>
                <a:ext cx="274" cy="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C</a:t>
                </a:r>
                <a:endParaRPr/>
              </a:p>
            </p:txBody>
          </p:sp>
        </p:grpSp>
        <p:grpSp>
          <p:nvGrpSpPr>
            <p:cNvPr id="314" name="Google Shape;314;p44"/>
            <p:cNvGrpSpPr/>
            <p:nvPr/>
          </p:nvGrpSpPr>
          <p:grpSpPr>
            <a:xfrm>
              <a:off x="3114" y="1326"/>
              <a:ext cx="2490" cy="1464"/>
              <a:chOff x="3264" y="1698"/>
              <a:chExt cx="2490" cy="1464"/>
            </a:xfrm>
          </p:grpSpPr>
          <p:grpSp>
            <p:nvGrpSpPr>
              <p:cNvPr id="315" name="Google Shape;315;p44"/>
              <p:cNvGrpSpPr/>
              <p:nvPr/>
            </p:nvGrpSpPr>
            <p:grpSpPr>
              <a:xfrm>
                <a:off x="3264" y="1698"/>
                <a:ext cx="2221" cy="455"/>
                <a:chOff x="3256" y="1911"/>
                <a:chExt cx="2221" cy="455"/>
              </a:xfrm>
            </p:grpSpPr>
            <p:grpSp>
              <p:nvGrpSpPr>
                <p:cNvPr id="316" name="Google Shape;316;p44"/>
                <p:cNvGrpSpPr/>
                <p:nvPr/>
              </p:nvGrpSpPr>
              <p:grpSpPr>
                <a:xfrm>
                  <a:off x="3303" y="1911"/>
                  <a:ext cx="482" cy="439"/>
                  <a:chOff x="2870" y="1518"/>
                  <a:chExt cx="292" cy="320"/>
                </a:xfrm>
              </p:grpSpPr>
              <p:pic>
                <p:nvPicPr>
                  <p:cNvPr id="317" name="Google Shape;317;p4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2870" y="1518"/>
                    <a:ext cx="272" cy="2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8" name="Google Shape;318;p44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913" y="1602"/>
                    <a:ext cx="249" cy="2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19" name="Google Shape;319;p44"/>
                <p:cNvGrpSpPr/>
                <p:nvPr/>
              </p:nvGrpSpPr>
              <p:grpSpPr>
                <a:xfrm>
                  <a:off x="4037" y="1919"/>
                  <a:ext cx="482" cy="439"/>
                  <a:chOff x="2870" y="1518"/>
                  <a:chExt cx="292" cy="320"/>
                </a:xfrm>
              </p:grpSpPr>
              <p:pic>
                <p:nvPicPr>
                  <p:cNvPr id="320" name="Google Shape;320;p4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2870" y="1518"/>
                    <a:ext cx="272" cy="2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1" name="Google Shape;321;p44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913" y="1602"/>
                    <a:ext cx="249" cy="2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322" name="Google Shape;322;p44"/>
                <p:cNvSpPr txBox="1"/>
                <p:nvPr/>
              </p:nvSpPr>
              <p:spPr>
                <a:xfrm>
                  <a:off x="3256" y="2030"/>
                  <a:ext cx="299" cy="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0000"/>
                    </a:buClr>
                    <a:buSzPts val="1800"/>
                    <a:buFont typeface="Comic Sans MS"/>
                    <a:buNone/>
                  </a:pPr>
                  <a:r>
                    <a:rPr lang="en-US" sz="1800" b="0" i="0" u="none" strike="noStrike" cap="none">
                      <a:solidFill>
                        <a:srgbClr val="FF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A</a:t>
                  </a:r>
                  <a:endParaRPr/>
                </a:p>
              </p:txBody>
            </p:sp>
            <p:sp>
              <p:nvSpPr>
                <p:cNvPr id="323" name="Google Shape;323;p44"/>
                <p:cNvSpPr txBox="1"/>
                <p:nvPr/>
              </p:nvSpPr>
              <p:spPr>
                <a:xfrm>
                  <a:off x="4459" y="2027"/>
                  <a:ext cx="207" cy="2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omic Sans MS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B</a:t>
                  </a:r>
                  <a:endParaRPr/>
                </a:p>
              </p:txBody>
            </p:sp>
            <p:sp>
              <p:nvSpPr>
                <p:cNvPr id="324" name="Google Shape;324;p44"/>
                <p:cNvSpPr txBox="1"/>
                <p:nvPr/>
              </p:nvSpPr>
              <p:spPr>
                <a:xfrm>
                  <a:off x="5203" y="2053"/>
                  <a:ext cx="274" cy="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omic Sans MS"/>
                    <a:buNone/>
                  </a:pPr>
                  <a:r>
                    <a:rPr lang="en-US" sz="1800" b="0" i="0" u="none" strike="noStrike" cap="non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C</a:t>
                  </a:r>
                  <a:endParaRPr/>
                </a:p>
              </p:txBody>
            </p:sp>
            <p:grpSp>
              <p:nvGrpSpPr>
                <p:cNvPr id="325" name="Google Shape;325;p44"/>
                <p:cNvGrpSpPr/>
                <p:nvPr/>
              </p:nvGrpSpPr>
              <p:grpSpPr>
                <a:xfrm>
                  <a:off x="4726" y="1927"/>
                  <a:ext cx="482" cy="439"/>
                  <a:chOff x="2870" y="1518"/>
                  <a:chExt cx="292" cy="320"/>
                </a:xfrm>
              </p:grpSpPr>
              <p:pic>
                <p:nvPicPr>
                  <p:cNvPr id="326" name="Google Shape;326;p44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2870" y="1518"/>
                    <a:ext cx="272" cy="2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7" name="Google Shape;327;p44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913" y="1602"/>
                    <a:ext cx="249" cy="2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328" name="Google Shape;328;p44"/>
              <p:cNvSpPr txBox="1"/>
              <p:nvPr/>
            </p:nvSpPr>
            <p:spPr>
              <a:xfrm>
                <a:off x="3310" y="2339"/>
                <a:ext cx="809" cy="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400"/>
                  <a:buFont typeface="Comic Sans MS"/>
                  <a:buNone/>
                </a:pPr>
                <a:r>
                  <a:rPr lang="en-US" sz="1400" b="0" i="0" u="none" strike="noStrike" cap="none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A’s signal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400"/>
                  <a:buFont typeface="Comic Sans MS"/>
                  <a:buNone/>
                </a:pPr>
                <a:r>
                  <a:rPr lang="en-US" sz="1400" b="0" i="0" u="none" strike="noStrike" cap="none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strength</a:t>
                </a:r>
                <a:endParaRPr/>
              </a:p>
            </p:txBody>
          </p:sp>
          <p:cxnSp>
            <p:nvCxnSpPr>
              <p:cNvPr id="329" name="Google Shape;329;p44"/>
              <p:cNvCxnSpPr/>
              <p:nvPr/>
            </p:nvCxnSpPr>
            <p:spPr>
              <a:xfrm>
                <a:off x="3349" y="2985"/>
                <a:ext cx="2056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44"/>
              <p:cNvCxnSpPr/>
              <p:nvPr/>
            </p:nvCxnSpPr>
            <p:spPr>
              <a:xfrm>
                <a:off x="3315" y="2242"/>
                <a:ext cx="0" cy="71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1" name="Google Shape;331;p44"/>
              <p:cNvSpPr/>
              <p:nvPr/>
            </p:nvSpPr>
            <p:spPr>
              <a:xfrm>
                <a:off x="3367" y="2277"/>
                <a:ext cx="1887" cy="681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81" extrusionOk="0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/>
                  <a:buNone/>
                </a:pPr>
                <a:endParaRPr sz="20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332" name="Google Shape;332;p44"/>
              <p:cNvSpPr txBox="1"/>
              <p:nvPr/>
            </p:nvSpPr>
            <p:spPr>
              <a:xfrm>
                <a:off x="4159" y="2962"/>
                <a:ext cx="493" cy="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omic Sans MS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space</a:t>
                </a:r>
                <a:endParaRPr/>
              </a:p>
            </p:txBody>
          </p:sp>
          <p:sp>
            <p:nvSpPr>
              <p:cNvPr id="333" name="Google Shape;333;p44"/>
              <p:cNvSpPr/>
              <p:nvPr/>
            </p:nvSpPr>
            <p:spPr>
              <a:xfrm flipH="1">
                <a:off x="3427" y="2258"/>
                <a:ext cx="1887" cy="681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81" extrusionOk="0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/>
                  <a:buNone/>
                </a:pPr>
                <a:endParaRPr sz="20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334" name="Google Shape;334;p44"/>
              <p:cNvSpPr txBox="1"/>
              <p:nvPr/>
            </p:nvSpPr>
            <p:spPr>
              <a:xfrm>
                <a:off x="4964" y="2293"/>
                <a:ext cx="790" cy="3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66"/>
                  </a:buClr>
                  <a:buSzPts val="1400"/>
                  <a:buFont typeface="Comic Sans MS"/>
                  <a:buNone/>
                </a:pPr>
                <a:r>
                  <a:rPr lang="en-US" sz="1400" b="0" i="0" u="none" strike="noStrike" cap="none">
                    <a:solidFill>
                      <a:srgbClr val="000066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C’s signal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66"/>
                  </a:buClr>
                  <a:buSzPts val="1400"/>
                  <a:buFont typeface="Comic Sans MS"/>
                  <a:buNone/>
                </a:pPr>
                <a:r>
                  <a:rPr lang="en-US" sz="1400" b="0" i="0" u="none" strike="noStrike" cap="none">
                    <a:solidFill>
                      <a:srgbClr val="000066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strength</a:t>
                </a:r>
                <a:endParaRPr/>
              </a:p>
            </p:txBody>
          </p:sp>
          <p:cxnSp>
            <p:nvCxnSpPr>
              <p:cNvPr id="335" name="Google Shape;335;p44"/>
              <p:cNvCxnSpPr/>
              <p:nvPr/>
            </p:nvCxnSpPr>
            <p:spPr>
              <a:xfrm flipH="1">
                <a:off x="3554" y="2171"/>
                <a:ext cx="17" cy="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44"/>
              <p:cNvCxnSpPr/>
              <p:nvPr/>
            </p:nvCxnSpPr>
            <p:spPr>
              <a:xfrm>
                <a:off x="4323" y="2214"/>
                <a:ext cx="0" cy="7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44"/>
              <p:cNvCxnSpPr/>
              <p:nvPr/>
            </p:nvCxnSpPr>
            <p:spPr>
              <a:xfrm>
                <a:off x="5004" y="2204"/>
                <a:ext cx="0" cy="74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F32B6E8F-31BE-35B9-7796-240FD7BCC50E}"/>
              </a:ext>
            </a:extLst>
          </p:cNvPr>
          <p:cNvSpPr txBox="1">
            <a:spLocks/>
          </p:cNvSpPr>
          <p:nvPr/>
        </p:nvSpPr>
        <p:spPr>
          <a:xfrm>
            <a:off x="304800" y="317951"/>
            <a:ext cx="7540752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>
            <a:spLocks noGrp="1"/>
          </p:cNvSpPr>
          <p:nvPr>
            <p:ph type="sldNum" idx="12"/>
          </p:nvPr>
        </p:nvSpPr>
        <p:spPr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45"/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Collision Avoidance &amp; Collision Detection </a:t>
            </a:r>
            <a:endParaRPr/>
          </a:p>
        </p:txBody>
      </p:sp>
      <p:sp>
        <p:nvSpPr>
          <p:cNvPr id="345" name="Google Shape;345;p4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3838" lvl="0" indent="-223838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dirty="0"/>
              <a:t>Collision detection </a:t>
            </a:r>
            <a:r>
              <a:rPr lang="en-US" dirty="0">
                <a:solidFill>
                  <a:srgbClr val="C00000"/>
                </a:solidFill>
              </a:rPr>
              <a:t>in wired Ethernet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rgbClr val="FF0000"/>
              </a:buClr>
              <a:buSzPts val="2400"/>
              <a:buChar char="–"/>
            </a:pPr>
            <a:r>
              <a:rPr lang="en-US" dirty="0">
                <a:solidFill>
                  <a:srgbClr val="FF0000"/>
                </a:solidFill>
              </a:rPr>
              <a:t>Station listens (receives) while transmitting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Detects collision with other transmission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Aborts transmission and tries sending again</a:t>
            </a:r>
            <a:endParaRPr dirty="0"/>
          </a:p>
          <a:p>
            <a:pPr marL="223838" lvl="0" indent="-223838" algn="l" rtl="0">
              <a:spcBef>
                <a:spcPts val="14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Problem #1 in Wireless: </a:t>
            </a:r>
            <a:r>
              <a:rPr lang="en-US" dirty="0"/>
              <a:t>cannot detect all collisions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Hidden terminal problem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Fading</a:t>
            </a:r>
            <a:endParaRPr dirty="0"/>
          </a:p>
          <a:p>
            <a:pPr marL="223838" lvl="0" indent="-223838" algn="l" rtl="0">
              <a:spcBef>
                <a:spcPts val="14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Problem #2 in Wireless: </a:t>
            </a:r>
            <a:r>
              <a:rPr lang="en-US" dirty="0"/>
              <a:t>listening while sending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Strength of received signal is much smaller</a:t>
            </a:r>
            <a:endParaRPr dirty="0"/>
          </a:p>
          <a:p>
            <a:pPr marL="563563" lvl="1" indent="-223837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–"/>
            </a:pPr>
            <a:r>
              <a:rPr lang="en-US" dirty="0"/>
              <a:t>Expensive to build hardware that detects collisions</a:t>
            </a:r>
            <a:endParaRPr dirty="0"/>
          </a:p>
          <a:p>
            <a:pPr marL="223838" lvl="0" indent="-223838" algn="l" rtl="0"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dirty="0"/>
              <a:t>So, 802.11 does </a:t>
            </a:r>
            <a:r>
              <a:rPr lang="en-US" i="1" dirty="0"/>
              <a:t>not</a:t>
            </a:r>
            <a:r>
              <a:rPr lang="en-US" dirty="0"/>
              <a:t> do collision detection</a:t>
            </a:r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6DFB83F-D656-328B-6D55-75EDE60A95EA}"/>
              </a:ext>
            </a:extLst>
          </p:cNvPr>
          <p:cNvSpPr txBox="1">
            <a:spLocks/>
          </p:cNvSpPr>
          <p:nvPr/>
        </p:nvSpPr>
        <p:spPr>
          <a:xfrm>
            <a:off x="231648" y="370840"/>
            <a:ext cx="8025384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7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Channel Access through CA: Collision Avoidance, Not Detection </a:t>
            </a:r>
            <a:endParaRPr/>
          </a:p>
        </p:txBody>
      </p:sp>
      <p:sp>
        <p:nvSpPr>
          <p:cNvPr id="361" name="Google Shape;361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Listen to medium and wait until it is free</a:t>
            </a:r>
            <a:br>
              <a:rPr lang="en-US"/>
            </a:br>
            <a:r>
              <a:rPr lang="en-US"/>
              <a:t>(no one else is talking)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Wait a random backoff time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b="1">
                <a:solidFill>
                  <a:srgbClr val="FF0000"/>
                </a:solidFill>
              </a:rPr>
              <a:t>Advantage:</a:t>
            </a:r>
            <a:r>
              <a:rPr lang="en-US"/>
              <a:t> Simple to implement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b="1">
                <a:solidFill>
                  <a:srgbClr val="FF0000"/>
                </a:solidFill>
              </a:rPr>
              <a:t>Disadvantage:</a:t>
            </a:r>
            <a:r>
              <a:rPr lang="en-US"/>
              <a:t> Cannot recover from a collision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5F3E73E-4F2C-2A6B-0D2F-F38E75652ADB}"/>
              </a:ext>
            </a:extLst>
          </p:cNvPr>
          <p:cNvSpPr txBox="1">
            <a:spLocks/>
          </p:cNvSpPr>
          <p:nvPr/>
        </p:nvSpPr>
        <p:spPr>
          <a:xfrm>
            <a:off x="152400" y="137160"/>
            <a:ext cx="8680704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Interference</a:t>
            </a:r>
            <a:endParaRPr/>
          </a:p>
        </p:txBody>
      </p:sp>
      <p:sp>
        <p:nvSpPr>
          <p:cNvPr id="369" name="Google Shape;369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Two transmitting stations interfere with each other at the receiver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Receiver gets garbage</a:t>
            </a:r>
            <a:endParaRPr/>
          </a:p>
        </p:txBody>
      </p:sp>
      <p:sp>
        <p:nvSpPr>
          <p:cNvPr id="370" name="Google Shape;370;p48"/>
          <p:cNvSpPr/>
          <p:nvPr/>
        </p:nvSpPr>
        <p:spPr>
          <a:xfrm>
            <a:off x="2514600" y="3810000"/>
            <a:ext cx="609600" cy="533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8"/>
          <p:cNvCxnSpPr/>
          <p:nvPr/>
        </p:nvCxnSpPr>
        <p:spPr>
          <a:xfrm>
            <a:off x="2971800" y="4419600"/>
            <a:ext cx="91440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Google Shape;372;p48"/>
          <p:cNvCxnSpPr/>
          <p:nvPr/>
        </p:nvCxnSpPr>
        <p:spPr>
          <a:xfrm flipH="1">
            <a:off x="4191000" y="4419600"/>
            <a:ext cx="114300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3" name="Google Shape;373;p48"/>
          <p:cNvSpPr/>
          <p:nvPr/>
        </p:nvSpPr>
        <p:spPr>
          <a:xfrm>
            <a:off x="5334000" y="3886200"/>
            <a:ext cx="609600" cy="533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3733800" y="5486400"/>
            <a:ext cx="609600" cy="533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2727325" y="39624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2667000" y="3886200"/>
            <a:ext cx="228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7" name="Google Shape;377;p48"/>
          <p:cNvSpPr txBox="1"/>
          <p:nvPr/>
        </p:nvSpPr>
        <p:spPr>
          <a:xfrm>
            <a:off x="5486400" y="3962400"/>
            <a:ext cx="228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8" name="Google Shape;378;p48"/>
          <p:cNvSpPr txBox="1"/>
          <p:nvPr/>
        </p:nvSpPr>
        <p:spPr>
          <a:xfrm>
            <a:off x="3886200" y="5576888"/>
            <a:ext cx="228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379" name="Google Shape;37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4275" y="4543425"/>
            <a:ext cx="674688" cy="674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4638" y="24145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9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Collision Detection and CSMA-CD</a:t>
            </a:r>
            <a:endParaRPr/>
          </a:p>
        </p:txBody>
      </p:sp>
      <p:sp>
        <p:nvSpPr>
          <p:cNvPr id="388" name="Google Shape;388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Procedure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dirty="0"/>
              <a:t>Listen to medium and wait until it is free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dirty="0"/>
              <a:t>Start talking, but listen to see if someone else starts talking too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dirty="0"/>
              <a:t>If collision, stop; start talking after a random backoff time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/>
              <a:t>Used for hub-based Ethernet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Advantage:</a:t>
            </a:r>
            <a:r>
              <a:rPr lang="en-US" sz="2400" dirty="0"/>
              <a:t> More efficient than basic CSMA</a:t>
            </a:r>
            <a:endParaRPr dirty="0"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Disadvantage: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Requires ability to detect collisions by transmitting station. 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Char char="–"/>
            </a:pPr>
            <a:r>
              <a:rPr lang="en-US" sz="2000" dirty="0">
                <a:solidFill>
                  <a:srgbClr val="00B050"/>
                </a:solidFill>
              </a:rPr>
              <a:t>Require additional hardware antenna for concurrent receiving while transmitting 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dirty="0"/>
              <a:t>Radios are full duplex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lang="en-US" sz="2000" dirty="0">
                <a:solidFill>
                  <a:srgbClr val="C00000"/>
                </a:solidFill>
              </a:rPr>
              <a:t>More difficult in wireless scenario due to significant signal attenuation  </a:t>
            </a:r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228600" y="514033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0"/>
          <p:cNvSpPr txBox="1">
            <a:spLocks noGrp="1"/>
          </p:cNvSpPr>
          <p:nvPr>
            <p:ph type="title"/>
          </p:nvPr>
        </p:nvSpPr>
        <p:spPr>
          <a:xfrm>
            <a:off x="381000" y="130175"/>
            <a:ext cx="8458200" cy="88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Collision Detection in </a:t>
            </a: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Wired Network</a:t>
            </a:r>
            <a:endParaRPr/>
          </a:p>
        </p:txBody>
      </p:sp>
      <p:sp>
        <p:nvSpPr>
          <p:cNvPr id="396" name="Google Shape;396;p50"/>
          <p:cNvSpPr txBox="1"/>
          <p:nvPr/>
        </p:nvSpPr>
        <p:spPr>
          <a:xfrm>
            <a:off x="4408488" y="2530475"/>
            <a:ext cx="350837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97" name="Google Shape;397;p50"/>
          <p:cNvSpPr txBox="1"/>
          <p:nvPr/>
        </p:nvSpPr>
        <p:spPr>
          <a:xfrm>
            <a:off x="6318250" y="2527300"/>
            <a:ext cx="32861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98" name="Google Shape;398;p50"/>
          <p:cNvSpPr txBox="1"/>
          <p:nvPr/>
        </p:nvSpPr>
        <p:spPr>
          <a:xfrm>
            <a:off x="7499350" y="2570163"/>
            <a:ext cx="350837" cy="3698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99" name="Google Shape;399;p50"/>
          <p:cNvSpPr txBox="1"/>
          <p:nvPr/>
        </p:nvSpPr>
        <p:spPr>
          <a:xfrm>
            <a:off x="3865563" y="3035300"/>
            <a:ext cx="958850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A’s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C’s signal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400" name="Google Shape;400;p50"/>
          <p:cNvCxnSpPr/>
          <p:nvPr/>
        </p:nvCxnSpPr>
        <p:spPr>
          <a:xfrm>
            <a:off x="4344988" y="3962400"/>
            <a:ext cx="399732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1" name="Google Shape;401;p50"/>
          <p:cNvCxnSpPr/>
          <p:nvPr/>
        </p:nvCxnSpPr>
        <p:spPr>
          <a:xfrm>
            <a:off x="4746625" y="3076575"/>
            <a:ext cx="0" cy="1138238"/>
          </a:xfrm>
          <a:prstGeom prst="straightConnector1">
            <a:avLst/>
          </a:prstGeom>
          <a:noFill/>
          <a:ln w="19050" cap="flat" cmpd="sng">
            <a:solidFill>
              <a:srgbClr val="7030A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02" name="Google Shape;402;p50"/>
          <p:cNvSpPr txBox="1"/>
          <p:nvPr/>
        </p:nvSpPr>
        <p:spPr>
          <a:xfrm>
            <a:off x="5306251" y="3552937"/>
            <a:ext cx="1457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Covered Media</a:t>
            </a:r>
            <a:endParaRPr/>
          </a:p>
        </p:txBody>
      </p:sp>
      <p:sp>
        <p:nvSpPr>
          <p:cNvPr id="403" name="Google Shape;403;p50"/>
          <p:cNvSpPr txBox="1"/>
          <p:nvPr/>
        </p:nvSpPr>
        <p:spPr>
          <a:xfrm>
            <a:off x="7172325" y="3063875"/>
            <a:ext cx="1577975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C’ s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A’ s signal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404" name="Google Shape;404;p50"/>
          <p:cNvCxnSpPr/>
          <p:nvPr/>
        </p:nvCxnSpPr>
        <p:spPr>
          <a:xfrm flipH="1">
            <a:off x="4881563" y="3122613"/>
            <a:ext cx="26987" cy="12636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50"/>
          <p:cNvCxnSpPr/>
          <p:nvPr/>
        </p:nvCxnSpPr>
        <p:spPr>
          <a:xfrm>
            <a:off x="6089650" y="3162300"/>
            <a:ext cx="0" cy="12080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50"/>
          <p:cNvCxnSpPr/>
          <p:nvPr/>
        </p:nvCxnSpPr>
        <p:spPr>
          <a:xfrm>
            <a:off x="7170738" y="3146425"/>
            <a:ext cx="0" cy="118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07" name="Google Shape;407;p50"/>
          <p:cNvGrpSpPr/>
          <p:nvPr/>
        </p:nvGrpSpPr>
        <p:grpSpPr>
          <a:xfrm>
            <a:off x="4595813" y="2392363"/>
            <a:ext cx="627062" cy="642937"/>
            <a:chOff x="313" y="1497"/>
            <a:chExt cx="1152" cy="1014"/>
          </a:xfrm>
        </p:grpSpPr>
        <p:pic>
          <p:nvPicPr>
            <p:cNvPr id="408" name="Google Shape;408;p50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50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50"/>
          <p:cNvGrpSpPr/>
          <p:nvPr/>
        </p:nvGrpSpPr>
        <p:grpSpPr>
          <a:xfrm>
            <a:off x="5784850" y="2432050"/>
            <a:ext cx="627063" cy="644525"/>
            <a:chOff x="313" y="1497"/>
            <a:chExt cx="1152" cy="1014"/>
          </a:xfrm>
        </p:grpSpPr>
        <p:pic>
          <p:nvPicPr>
            <p:cNvPr id="411" name="Google Shape;411;p50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50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50"/>
          <p:cNvGrpSpPr/>
          <p:nvPr/>
        </p:nvGrpSpPr>
        <p:grpSpPr>
          <a:xfrm>
            <a:off x="6861175" y="2362200"/>
            <a:ext cx="627063" cy="642938"/>
            <a:chOff x="313" y="1497"/>
            <a:chExt cx="1152" cy="1014"/>
          </a:xfrm>
        </p:grpSpPr>
        <p:pic>
          <p:nvPicPr>
            <p:cNvPr id="414" name="Google Shape;414;p50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50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6" name="Google Shape;416;p50"/>
          <p:cNvSpPr/>
          <p:nvPr/>
        </p:nvSpPr>
        <p:spPr>
          <a:xfrm>
            <a:off x="187325" y="1824038"/>
            <a:ext cx="3995738" cy="1138237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Signal State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Receiver (node B) and Transmitter (Node A) are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almost Identical.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‘Fate sharing” of the link’</a:t>
            </a:r>
            <a:endParaRPr sz="1800" b="1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0"/>
          <p:cNvSpPr/>
          <p:nvPr/>
        </p:nvSpPr>
        <p:spPr>
          <a:xfrm>
            <a:off x="585788" y="4475163"/>
            <a:ext cx="7437437" cy="1752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Hence,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Collision Detection at Transmitter (Node A) is Feasible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by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sensing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(receiving) the </a:t>
            </a:r>
            <a:r>
              <a:rPr lang="en-US" sz="18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signal strength available now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additional receiving antenna while transmission is going on.</a:t>
            </a:r>
            <a:endParaRPr/>
          </a:p>
        </p:txBody>
      </p:sp>
      <p:sp>
        <p:nvSpPr>
          <p:cNvPr id="418" name="Google Shape;418;p50"/>
          <p:cNvSpPr/>
          <p:nvPr/>
        </p:nvSpPr>
        <p:spPr>
          <a:xfrm>
            <a:off x="5199063" y="1246188"/>
            <a:ext cx="3324225" cy="9144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Collision experienced at Receiver (node B)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both node A and C are transmitting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50"/>
          <p:cNvCxnSpPr/>
          <p:nvPr/>
        </p:nvCxnSpPr>
        <p:spPr>
          <a:xfrm>
            <a:off x="4344988" y="3063875"/>
            <a:ext cx="399732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381000" y="260034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51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Wireless Link Characteristics</a:t>
            </a:r>
            <a:endParaRPr/>
          </a:p>
        </p:txBody>
      </p:sp>
      <p:sp>
        <p:nvSpPr>
          <p:cNvPr id="427" name="Google Shape;427;p51"/>
          <p:cNvSpPr txBox="1">
            <a:spLocks noGrp="1"/>
          </p:cNvSpPr>
          <p:nvPr>
            <p:ph type="body" idx="1"/>
          </p:nvPr>
        </p:nvSpPr>
        <p:spPr>
          <a:xfrm>
            <a:off x="533400" y="1439863"/>
            <a:ext cx="7772400" cy="519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Differences from wired link ….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FF0000"/>
                </a:solidFill>
              </a:rPr>
              <a:t>decreased signal strength:</a:t>
            </a:r>
            <a:r>
              <a:rPr lang="en-US"/>
              <a:t> radio signal attenuates as it propagates through matter (path loss)</a:t>
            </a: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457200" lvl="1" indent="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FF0000"/>
                </a:solidFill>
              </a:rPr>
              <a:t>interference from other sources:</a:t>
            </a:r>
            <a:r>
              <a:rPr lang="en-US"/>
              <a:t> standardized wireless network frequencies (e.g., 2.4 GHz) shared by other devices (e.g., phone); devices (motors, microwaves) interfere as well</a:t>
            </a:r>
            <a:endParaRPr/>
          </a:p>
          <a:p>
            <a:pPr marL="742950" lvl="1" indent="-1333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428" name="Google Shape;428;p51"/>
          <p:cNvSpPr txBox="1"/>
          <p:nvPr/>
        </p:nvSpPr>
        <p:spPr>
          <a:xfrm>
            <a:off x="1282700" y="914400"/>
            <a:ext cx="62103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Wireless is a broadcast medium!</a:t>
            </a:r>
            <a:endParaRPr/>
          </a:p>
        </p:txBody>
      </p:sp>
      <p:grpSp>
        <p:nvGrpSpPr>
          <p:cNvPr id="429" name="Google Shape;429;p51"/>
          <p:cNvGrpSpPr/>
          <p:nvPr/>
        </p:nvGrpSpPr>
        <p:grpSpPr>
          <a:xfrm>
            <a:off x="1566863" y="2895600"/>
            <a:ext cx="3716337" cy="1563688"/>
            <a:chOff x="1566291" y="3609086"/>
            <a:chExt cx="3716338" cy="1563690"/>
          </a:xfrm>
        </p:grpSpPr>
        <p:cxnSp>
          <p:nvCxnSpPr>
            <p:cNvPr id="430" name="Google Shape;430;p51"/>
            <p:cNvCxnSpPr/>
            <p:nvPr/>
          </p:nvCxnSpPr>
          <p:spPr>
            <a:xfrm>
              <a:off x="2018729" y="4855274"/>
              <a:ext cx="326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51"/>
            <p:cNvCxnSpPr/>
            <p:nvPr/>
          </p:nvCxnSpPr>
          <p:spPr>
            <a:xfrm>
              <a:off x="1964754" y="3675761"/>
              <a:ext cx="0" cy="113823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2" name="Google Shape;432;p51"/>
            <p:cNvSpPr/>
            <p:nvPr/>
          </p:nvSpPr>
          <p:spPr>
            <a:xfrm>
              <a:off x="2047304" y="3731324"/>
              <a:ext cx="2995612" cy="1081087"/>
            </a:xfrm>
            <a:custGeom>
              <a:avLst/>
              <a:gdLst/>
              <a:ahLst/>
              <a:cxnLst/>
              <a:rect l="l" t="t" r="r" b="b"/>
              <a:pathLst>
                <a:path w="1887" h="681" extrusionOk="0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1"/>
            <p:cNvSpPr txBox="1"/>
            <p:nvPr/>
          </p:nvSpPr>
          <p:spPr>
            <a:xfrm>
              <a:off x="3303016" y="4898138"/>
              <a:ext cx="579438" cy="2746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omic Sans MS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space</a:t>
              </a:r>
              <a:endParaRPr/>
            </a:p>
          </p:txBody>
        </p:sp>
        <p:sp>
          <p:nvSpPr>
            <p:cNvPr id="434" name="Google Shape;434;p51"/>
            <p:cNvSpPr txBox="1"/>
            <p:nvPr/>
          </p:nvSpPr>
          <p:spPr>
            <a:xfrm rot="-5400000">
              <a:off x="1042416" y="4132961"/>
              <a:ext cx="1323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omic Sans MS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Signal Strength</a:t>
              </a:r>
              <a:endParaRPr/>
            </a:p>
          </p:txBody>
        </p:sp>
      </p:grpSp>
      <p:sp>
        <p:nvSpPr>
          <p:cNvPr id="435" name="Google Shape;435;p51"/>
          <p:cNvSpPr txBox="1"/>
          <p:nvPr/>
        </p:nvSpPr>
        <p:spPr>
          <a:xfrm>
            <a:off x="471488" y="6007100"/>
            <a:ext cx="81930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…. make communication across (even a point to point) wireless link much more “difficult” 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316088" y="19177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5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Wireless Link Characteristics: </a:t>
            </a:r>
            <a:r>
              <a:rPr lang="en-US" sz="3200" dirty="0"/>
              <a:t>Attenuation &amp;  Propagation range</a:t>
            </a:r>
            <a:endParaRPr sz="3600" dirty="0"/>
          </a:p>
        </p:txBody>
      </p:sp>
      <p:pic>
        <p:nvPicPr>
          <p:cNvPr id="442" name="Google Shape;44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47813"/>
            <a:ext cx="8382000" cy="47005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487680" y="152400"/>
            <a:ext cx="8534400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3"/>
          <p:cNvSpPr txBox="1">
            <a:spLocks noGrp="1"/>
          </p:cNvSpPr>
          <p:nvPr>
            <p:ph type="title"/>
          </p:nvPr>
        </p:nvSpPr>
        <p:spPr>
          <a:xfrm>
            <a:off x="381000" y="130175"/>
            <a:ext cx="8458200" cy="88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Collision Detection in </a:t>
            </a:r>
            <a:r>
              <a:rPr lang="en-US" sz="3200" dirty="0">
                <a:latin typeface="Gill Sans"/>
                <a:ea typeface="Gill Sans"/>
                <a:cs typeface="Gill Sans"/>
                <a:sym typeface="Gill Sans"/>
              </a:rPr>
              <a:t>Wireless Network</a:t>
            </a:r>
            <a:endParaRPr sz="3600" dirty="0"/>
          </a:p>
        </p:txBody>
      </p:sp>
      <p:sp>
        <p:nvSpPr>
          <p:cNvPr id="450" name="Google Shape;450;p53"/>
          <p:cNvSpPr txBox="1"/>
          <p:nvPr/>
        </p:nvSpPr>
        <p:spPr>
          <a:xfrm>
            <a:off x="4408488" y="2530475"/>
            <a:ext cx="350837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51" name="Google Shape;451;p53"/>
          <p:cNvSpPr txBox="1"/>
          <p:nvPr/>
        </p:nvSpPr>
        <p:spPr>
          <a:xfrm>
            <a:off x="6318250" y="2527300"/>
            <a:ext cx="32861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52" name="Google Shape;452;p53"/>
          <p:cNvSpPr txBox="1"/>
          <p:nvPr/>
        </p:nvSpPr>
        <p:spPr>
          <a:xfrm>
            <a:off x="7499350" y="2570163"/>
            <a:ext cx="350837" cy="3698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53" name="Google Shape;453;p53"/>
          <p:cNvSpPr txBox="1"/>
          <p:nvPr/>
        </p:nvSpPr>
        <p:spPr>
          <a:xfrm>
            <a:off x="3865563" y="3035300"/>
            <a:ext cx="958850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A’s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C’s signal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454" name="Google Shape;454;p53"/>
          <p:cNvCxnSpPr/>
          <p:nvPr/>
        </p:nvCxnSpPr>
        <p:spPr>
          <a:xfrm>
            <a:off x="4746625" y="3076575"/>
            <a:ext cx="0" cy="1138238"/>
          </a:xfrm>
          <a:prstGeom prst="straightConnector1">
            <a:avLst/>
          </a:prstGeom>
          <a:noFill/>
          <a:ln w="19050" cap="flat" cmpd="sng">
            <a:solidFill>
              <a:srgbClr val="7030A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55" name="Google Shape;455;p53"/>
          <p:cNvSpPr txBox="1"/>
          <p:nvPr/>
        </p:nvSpPr>
        <p:spPr>
          <a:xfrm>
            <a:off x="5353445" y="3886200"/>
            <a:ext cx="158075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Wireless Media</a:t>
            </a:r>
            <a:endParaRPr/>
          </a:p>
        </p:txBody>
      </p:sp>
      <p:sp>
        <p:nvSpPr>
          <p:cNvPr id="456" name="Google Shape;456;p53"/>
          <p:cNvSpPr txBox="1"/>
          <p:nvPr/>
        </p:nvSpPr>
        <p:spPr>
          <a:xfrm>
            <a:off x="7172325" y="3063875"/>
            <a:ext cx="1577975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C’ s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A’ s signal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</p:txBody>
      </p:sp>
      <p:cxnSp>
        <p:nvCxnSpPr>
          <p:cNvPr id="457" name="Google Shape;457;p53"/>
          <p:cNvCxnSpPr/>
          <p:nvPr/>
        </p:nvCxnSpPr>
        <p:spPr>
          <a:xfrm flipH="1">
            <a:off x="4881563" y="3122613"/>
            <a:ext cx="26987" cy="12636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53"/>
          <p:cNvCxnSpPr/>
          <p:nvPr/>
        </p:nvCxnSpPr>
        <p:spPr>
          <a:xfrm>
            <a:off x="6089650" y="3162300"/>
            <a:ext cx="0" cy="12080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3"/>
          <p:cNvCxnSpPr/>
          <p:nvPr/>
        </p:nvCxnSpPr>
        <p:spPr>
          <a:xfrm>
            <a:off x="7170738" y="3146425"/>
            <a:ext cx="0" cy="118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460" name="Google Shape;460;p53"/>
          <p:cNvGrpSpPr/>
          <p:nvPr/>
        </p:nvGrpSpPr>
        <p:grpSpPr>
          <a:xfrm>
            <a:off x="4595813" y="2392363"/>
            <a:ext cx="627062" cy="642937"/>
            <a:chOff x="313" y="1497"/>
            <a:chExt cx="1152" cy="1014"/>
          </a:xfrm>
        </p:grpSpPr>
        <p:pic>
          <p:nvPicPr>
            <p:cNvPr id="461" name="Google Shape;461;p53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53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" name="Google Shape;463;p53"/>
          <p:cNvGrpSpPr/>
          <p:nvPr/>
        </p:nvGrpSpPr>
        <p:grpSpPr>
          <a:xfrm>
            <a:off x="5784850" y="2432050"/>
            <a:ext cx="627063" cy="644525"/>
            <a:chOff x="313" y="1497"/>
            <a:chExt cx="1152" cy="1014"/>
          </a:xfrm>
        </p:grpSpPr>
        <p:pic>
          <p:nvPicPr>
            <p:cNvPr id="464" name="Google Shape;464;p53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53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6" name="Google Shape;466;p53"/>
          <p:cNvGrpSpPr/>
          <p:nvPr/>
        </p:nvGrpSpPr>
        <p:grpSpPr>
          <a:xfrm>
            <a:off x="6861175" y="2362200"/>
            <a:ext cx="627063" cy="642938"/>
            <a:chOff x="313" y="1497"/>
            <a:chExt cx="1152" cy="1014"/>
          </a:xfrm>
        </p:grpSpPr>
        <p:pic>
          <p:nvPicPr>
            <p:cNvPr id="467" name="Google Shape;467;p53" descr="laptop_stylized_sma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53" descr="antenna_styliz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9" name="Google Shape;469;p53"/>
          <p:cNvSpPr/>
          <p:nvPr/>
        </p:nvSpPr>
        <p:spPr>
          <a:xfrm>
            <a:off x="187325" y="1824038"/>
            <a:ext cx="3995738" cy="1138237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Signal State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Receiver (node B) and Transmitter (Node A) are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 Identical.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8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Fate sharing” of the link’</a:t>
            </a:r>
            <a:endParaRPr sz="1800" b="1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3"/>
          <p:cNvSpPr/>
          <p:nvPr/>
        </p:nvSpPr>
        <p:spPr>
          <a:xfrm>
            <a:off x="381000" y="4530725"/>
            <a:ext cx="7642225" cy="1752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Hence,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Collision Detection at Transmitter (Node A) is NOT Feasible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by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sensing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(receiving) the </a:t>
            </a:r>
            <a:r>
              <a:rPr lang="en-US" sz="18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signal strength available now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additional receiving antenna while transmission is going on.</a:t>
            </a:r>
            <a:endParaRPr/>
          </a:p>
        </p:txBody>
      </p:sp>
      <p:sp>
        <p:nvSpPr>
          <p:cNvPr id="471" name="Google Shape;471;p53"/>
          <p:cNvSpPr/>
          <p:nvPr/>
        </p:nvSpPr>
        <p:spPr>
          <a:xfrm>
            <a:off x="5199063" y="1246188"/>
            <a:ext cx="3324225" cy="9144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Collision experienced at Receiver (node B)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both node A and C are transmitting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3"/>
          <p:cNvSpPr/>
          <p:nvPr/>
        </p:nvSpPr>
        <p:spPr>
          <a:xfrm>
            <a:off x="4808538" y="3098800"/>
            <a:ext cx="2995612" cy="1081088"/>
          </a:xfrm>
          <a:custGeom>
            <a:avLst/>
            <a:gdLst/>
            <a:ahLst/>
            <a:cxnLst/>
            <a:rect l="l" t="t" r="r" b="b"/>
            <a:pathLst>
              <a:path w="1887" h="681" extrusionOk="0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3"/>
          <p:cNvSpPr/>
          <p:nvPr/>
        </p:nvSpPr>
        <p:spPr>
          <a:xfrm flipH="1">
            <a:off x="4310063" y="3094038"/>
            <a:ext cx="2995612" cy="1081087"/>
          </a:xfrm>
          <a:custGeom>
            <a:avLst/>
            <a:gdLst/>
            <a:ahLst/>
            <a:cxnLst/>
            <a:rect l="l" t="t" r="r" b="b"/>
            <a:pathLst>
              <a:path w="1887" h="681" extrusionOk="0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304800" y="14652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4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Failure to Detect Collision in Wireless</a:t>
            </a:r>
            <a:endParaRPr sz="3600" dirty="0"/>
          </a:p>
        </p:txBody>
      </p:sp>
      <p:sp>
        <p:nvSpPr>
          <p:cNvPr id="481" name="Google Shape;481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/>
              <a:t>No “fate sharing” of the link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dirty="0"/>
              <a:t>High loss rates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dirty="0"/>
              <a:t>Variable channel conditions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/>
              <a:t>Transmit signal is stronger than received signal</a:t>
            </a:r>
            <a:endParaRPr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/>
              <a:t>Hence, Cannot take advantage of detecting multiple transmission by simultaneously transmit and receive</a:t>
            </a:r>
            <a:endParaRPr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/>
              <a:t>Hence, Radios are not full duplex</a:t>
            </a:r>
            <a:endParaRPr dirty="0"/>
          </a:p>
          <a:p>
            <a:pPr marL="742950" lvl="1" indent="-133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  <a:p>
            <a:pPr marL="742950" lvl="1" indent="-133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338313" y="472917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5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5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991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Solution: Link-Layer Acknowledgments</a:t>
            </a:r>
            <a:endParaRPr/>
          </a:p>
        </p:txBody>
      </p:sp>
      <p:sp>
        <p:nvSpPr>
          <p:cNvPr id="489" name="Google Shape;489;p55"/>
          <p:cNvSpPr txBox="1">
            <a:spLocks noGrp="1"/>
          </p:cNvSpPr>
          <p:nvPr>
            <p:ph type="body" idx="1"/>
          </p:nvPr>
        </p:nvSpPr>
        <p:spPr>
          <a:xfrm>
            <a:off x="657225" y="15525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Absence of ACK from receiver signals packet loss to sender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Sender interprets packet loss as being caused by collision</a:t>
            </a:r>
            <a:endParaRPr/>
          </a:p>
        </p:txBody>
      </p:sp>
      <p:sp>
        <p:nvSpPr>
          <p:cNvPr id="490" name="Google Shape;490;p55"/>
          <p:cNvSpPr txBox="1"/>
          <p:nvPr/>
        </p:nvSpPr>
        <p:spPr>
          <a:xfrm>
            <a:off x="1295400" y="5583238"/>
            <a:ext cx="6553200" cy="396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 not handle hidden terminal cases.</a:t>
            </a:r>
            <a:endParaRPr/>
          </a:p>
        </p:txBody>
      </p:sp>
      <p:sp>
        <p:nvSpPr>
          <p:cNvPr id="491" name="Google Shape;491;p55"/>
          <p:cNvSpPr/>
          <p:nvPr/>
        </p:nvSpPr>
        <p:spPr>
          <a:xfrm>
            <a:off x="2000250" y="3816350"/>
            <a:ext cx="514350" cy="433388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DIFS</a:t>
            </a:r>
            <a:endParaRPr/>
          </a:p>
        </p:txBody>
      </p:sp>
      <p:sp>
        <p:nvSpPr>
          <p:cNvPr id="492" name="Google Shape;492;p55"/>
          <p:cNvSpPr/>
          <p:nvPr/>
        </p:nvSpPr>
        <p:spPr>
          <a:xfrm>
            <a:off x="3543300" y="3816350"/>
            <a:ext cx="2228850" cy="4429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Transmission</a:t>
            </a:r>
            <a:endParaRPr/>
          </a:p>
        </p:txBody>
      </p:sp>
      <p:sp>
        <p:nvSpPr>
          <p:cNvPr id="493" name="Google Shape;493;p55"/>
          <p:cNvSpPr/>
          <p:nvPr/>
        </p:nvSpPr>
        <p:spPr>
          <a:xfrm>
            <a:off x="2628900" y="3816350"/>
            <a:ext cx="800100" cy="433388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Backoff</a:t>
            </a:r>
            <a:endParaRPr/>
          </a:p>
        </p:txBody>
      </p:sp>
      <p:cxnSp>
        <p:nvCxnSpPr>
          <p:cNvPr id="494" name="Google Shape;494;p55"/>
          <p:cNvCxnSpPr/>
          <p:nvPr/>
        </p:nvCxnSpPr>
        <p:spPr>
          <a:xfrm>
            <a:off x="1771650" y="4330700"/>
            <a:ext cx="60007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5" name="Google Shape;495;p55"/>
          <p:cNvSpPr/>
          <p:nvPr/>
        </p:nvSpPr>
        <p:spPr>
          <a:xfrm>
            <a:off x="6229350" y="4433888"/>
            <a:ext cx="1314450" cy="442912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</a:t>
            </a:r>
            <a:b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/>
          </a:p>
        </p:txBody>
      </p:sp>
      <p:sp>
        <p:nvSpPr>
          <p:cNvPr id="496" name="Google Shape;496;p55"/>
          <p:cNvSpPr/>
          <p:nvPr/>
        </p:nvSpPr>
        <p:spPr>
          <a:xfrm>
            <a:off x="5829300" y="4433888"/>
            <a:ext cx="342900" cy="433387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SIFS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242309" y="488632"/>
            <a:ext cx="8644516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6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Carrier Sense Multiple Access</a:t>
            </a:r>
            <a:br>
              <a:rPr lang="en-US" sz="3600"/>
            </a:br>
            <a:r>
              <a:rPr lang="en-US" sz="3600"/>
              <a:t>with Collision </a:t>
            </a:r>
            <a:r>
              <a:rPr lang="en-US" sz="3600" i="1"/>
              <a:t>Avoidance</a:t>
            </a:r>
            <a:r>
              <a:rPr lang="en-US" sz="3600"/>
              <a:t> (CSMA-CA)</a:t>
            </a:r>
            <a:endParaRPr/>
          </a:p>
        </p:txBody>
      </p:sp>
      <p:sp>
        <p:nvSpPr>
          <p:cNvPr id="504" name="Google Shape;504;p5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Similar to CSMA but </a:t>
            </a:r>
            <a:r>
              <a:rPr lang="en-US" i="1"/>
              <a:t>control</a:t>
            </a:r>
            <a:r>
              <a:rPr lang="en-US"/>
              <a:t> frames are exchanged instead of data packets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b="1"/>
              <a:t>RTS:</a:t>
            </a:r>
            <a:r>
              <a:rPr lang="en-US"/>
              <a:t> request to send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b="1"/>
              <a:t>CTS:</a:t>
            </a:r>
            <a:r>
              <a:rPr lang="en-US"/>
              <a:t> clear to send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b="1"/>
              <a:t>DATA:</a:t>
            </a:r>
            <a:r>
              <a:rPr lang="en-US"/>
              <a:t> actual packet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b="1"/>
              <a:t>ACK:</a:t>
            </a:r>
            <a:r>
              <a:rPr lang="en-US"/>
              <a:t> acknowledgement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7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Carrier Sense Multiple Access</a:t>
            </a:r>
            <a:br>
              <a:rPr lang="en-US" sz="3600" dirty="0"/>
            </a:br>
            <a:r>
              <a:rPr lang="en-US" sz="3600" dirty="0"/>
              <a:t>with Collision </a:t>
            </a:r>
            <a:r>
              <a:rPr lang="en-US" sz="3600" i="1" dirty="0"/>
              <a:t>Avoidance</a:t>
            </a:r>
            <a:r>
              <a:rPr lang="en-US" sz="3600" dirty="0"/>
              <a:t> (CSMA-CA)</a:t>
            </a:r>
            <a:endParaRPr dirty="0"/>
          </a:p>
        </p:txBody>
      </p:sp>
      <p:sp>
        <p:nvSpPr>
          <p:cNvPr id="512" name="Google Shape;512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Small control frames lessen the cost of collisions (when data is large)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RTS + CTS provide “virtual carrier sense”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protects against hidden terminal</a:t>
            </a:r>
            <a:endParaRPr/>
          </a:p>
        </p:txBody>
      </p:sp>
      <p:sp>
        <p:nvSpPr>
          <p:cNvPr id="513" name="Google Shape;513;p57"/>
          <p:cNvSpPr/>
          <p:nvPr/>
        </p:nvSpPr>
        <p:spPr>
          <a:xfrm>
            <a:off x="2819400" y="60198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7"/>
          <p:cNvSpPr/>
          <p:nvPr/>
        </p:nvSpPr>
        <p:spPr>
          <a:xfrm>
            <a:off x="44196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7"/>
          <p:cNvSpPr/>
          <p:nvPr/>
        </p:nvSpPr>
        <p:spPr>
          <a:xfrm>
            <a:off x="6019800" y="60198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57"/>
          <p:cNvCxnSpPr/>
          <p:nvPr/>
        </p:nvCxnSpPr>
        <p:spPr>
          <a:xfrm rot="10800000" flipH="1">
            <a:off x="2971800" y="4572000"/>
            <a:ext cx="1447800" cy="144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p57"/>
          <p:cNvCxnSpPr/>
          <p:nvPr/>
        </p:nvCxnSpPr>
        <p:spPr>
          <a:xfrm rot="10800000">
            <a:off x="4572000" y="4572000"/>
            <a:ext cx="1447800" cy="144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57"/>
          <p:cNvSpPr/>
          <p:nvPr/>
        </p:nvSpPr>
        <p:spPr>
          <a:xfrm>
            <a:off x="4343400" y="5410200"/>
            <a:ext cx="304800" cy="1143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7"/>
          <p:cNvSpPr txBox="1"/>
          <p:nvPr/>
        </p:nvSpPr>
        <p:spPr>
          <a:xfrm>
            <a:off x="2270125" y="5899150"/>
            <a:ext cx="3397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520" name="Google Shape;520;p57"/>
          <p:cNvSpPr txBox="1"/>
          <p:nvPr/>
        </p:nvSpPr>
        <p:spPr>
          <a:xfrm>
            <a:off x="6384925" y="5899150"/>
            <a:ext cx="34131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8BA4DE0-93FA-13CB-2C5D-7ECFC0A5C363}"/>
              </a:ext>
            </a:extLst>
          </p:cNvPr>
          <p:cNvSpPr txBox="1">
            <a:spLocks/>
          </p:cNvSpPr>
          <p:nvPr/>
        </p:nvSpPr>
        <p:spPr>
          <a:xfrm>
            <a:off x="152400" y="13716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8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Virtual Carrier Sense</a:t>
            </a:r>
            <a:endParaRPr/>
          </a:p>
        </p:txBody>
      </p:sp>
      <p:sp>
        <p:nvSpPr>
          <p:cNvPr id="528" name="Google Shape;528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Provided by RTS &amp; CTS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Prevents hidden terminal collisions </a:t>
            </a:r>
            <a:endParaRPr/>
          </a:p>
        </p:txBody>
      </p:sp>
      <p:sp>
        <p:nvSpPr>
          <p:cNvPr id="529" name="Google Shape;529;p58"/>
          <p:cNvSpPr/>
          <p:nvPr/>
        </p:nvSpPr>
        <p:spPr>
          <a:xfrm>
            <a:off x="38862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8"/>
          <p:cNvSpPr/>
          <p:nvPr/>
        </p:nvSpPr>
        <p:spPr>
          <a:xfrm>
            <a:off x="3200400" y="4876800"/>
            <a:ext cx="1524000" cy="1524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8"/>
          <p:cNvSpPr/>
          <p:nvPr/>
        </p:nvSpPr>
        <p:spPr>
          <a:xfrm>
            <a:off x="45720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58"/>
          <p:cNvSpPr/>
          <p:nvPr/>
        </p:nvSpPr>
        <p:spPr>
          <a:xfrm>
            <a:off x="3886200" y="4876800"/>
            <a:ext cx="1524000" cy="1524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8"/>
          <p:cNvSpPr/>
          <p:nvPr/>
        </p:nvSpPr>
        <p:spPr>
          <a:xfrm>
            <a:off x="52578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58"/>
          <p:cNvCxnSpPr/>
          <p:nvPr/>
        </p:nvCxnSpPr>
        <p:spPr>
          <a:xfrm>
            <a:off x="4038600" y="56388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5" name="Google Shape;535;p58"/>
          <p:cNvSpPr txBox="1"/>
          <p:nvPr/>
        </p:nvSpPr>
        <p:spPr>
          <a:xfrm>
            <a:off x="3794125" y="5729288"/>
            <a:ext cx="3397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536" name="Google Shape;536;p58"/>
          <p:cNvSpPr txBox="1"/>
          <p:nvPr/>
        </p:nvSpPr>
        <p:spPr>
          <a:xfrm>
            <a:off x="4495800" y="5715000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537" name="Google Shape;537;p58"/>
          <p:cNvSpPr txBox="1"/>
          <p:nvPr/>
        </p:nvSpPr>
        <p:spPr>
          <a:xfrm>
            <a:off x="5181600" y="5729288"/>
            <a:ext cx="344488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538" name="Google Shape;538;p58"/>
          <p:cNvSpPr txBox="1"/>
          <p:nvPr/>
        </p:nvSpPr>
        <p:spPr>
          <a:xfrm>
            <a:off x="3627438" y="4572000"/>
            <a:ext cx="6397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RTS</a:t>
            </a:r>
            <a:endParaRPr/>
          </a:p>
        </p:txBody>
      </p:sp>
      <p:sp>
        <p:nvSpPr>
          <p:cNvPr id="539" name="Google Shape;539;p58"/>
          <p:cNvSpPr txBox="1"/>
          <p:nvPr/>
        </p:nvSpPr>
        <p:spPr>
          <a:xfrm>
            <a:off x="4343400" y="4572000"/>
            <a:ext cx="6397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CTS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C9D8813-1DEC-C4B0-2273-8947333B8622}"/>
              </a:ext>
            </a:extLst>
          </p:cNvPr>
          <p:cNvSpPr txBox="1">
            <a:spLocks/>
          </p:cNvSpPr>
          <p:nvPr/>
        </p:nvSpPr>
        <p:spPr>
          <a:xfrm>
            <a:off x="92956" y="52832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9"/>
          <p:cNvSpPr txBox="1">
            <a:spLocks noGrp="1"/>
          </p:cNvSpPr>
          <p:nvPr>
            <p:ph type="sldNum" idx="12"/>
          </p:nvPr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9"/>
          <p:cNvSpPr txBox="1">
            <a:spLocks noGrp="1"/>
          </p:cNvSpPr>
          <p:nvPr>
            <p:ph type="title"/>
          </p:nvPr>
        </p:nvSpPr>
        <p:spPr>
          <a:xfrm>
            <a:off x="152400" y="290513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Hidden Terminal Revisited</a:t>
            </a:r>
            <a:endParaRPr/>
          </a:p>
        </p:txBody>
      </p:sp>
      <p:sp>
        <p:nvSpPr>
          <p:cNvPr id="547" name="Google Shape;547;p5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RTS transmission by </a:t>
            </a:r>
            <a:r>
              <a:rPr lang="en-US" sz="2000" b="1" i="1">
                <a:solidFill>
                  <a:srgbClr val="C00000"/>
                </a:solidFill>
              </a:rPr>
              <a:t>node A</a:t>
            </a:r>
            <a:r>
              <a:rPr lang="en-US" sz="2000" i="1"/>
              <a:t>, retrains all the </a:t>
            </a:r>
            <a:r>
              <a:rPr lang="en-US" sz="2000" b="1" i="1">
                <a:solidFill>
                  <a:srgbClr val="C00000"/>
                </a:solidFill>
              </a:rPr>
              <a:t>neighbors of A </a:t>
            </a:r>
            <a:r>
              <a:rPr lang="en-US" sz="2000" i="1"/>
              <a:t>from transmission during A-&gt;B transmission.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RTS transmission by </a:t>
            </a:r>
            <a:r>
              <a:rPr lang="en-US" sz="2000" b="1" i="1">
                <a:solidFill>
                  <a:srgbClr val="00B050"/>
                </a:solidFill>
              </a:rPr>
              <a:t>node B</a:t>
            </a:r>
            <a:r>
              <a:rPr lang="en-US" sz="2000" i="1"/>
              <a:t>, retrains all the </a:t>
            </a:r>
            <a:r>
              <a:rPr lang="en-US" sz="2000" b="1" i="1">
                <a:solidFill>
                  <a:srgbClr val="00B050"/>
                </a:solidFill>
              </a:rPr>
              <a:t>neighbors of B </a:t>
            </a:r>
            <a:r>
              <a:rPr lang="en-US" sz="2000" i="1"/>
              <a:t>from transmission during A-&gt;B transmission.</a:t>
            </a:r>
            <a:endParaRPr/>
          </a:p>
        </p:txBody>
      </p:sp>
      <p:sp>
        <p:nvSpPr>
          <p:cNvPr id="548" name="Google Shape;548;p59"/>
          <p:cNvSpPr/>
          <p:nvPr/>
        </p:nvSpPr>
        <p:spPr>
          <a:xfrm>
            <a:off x="3581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9"/>
          <p:cNvSpPr/>
          <p:nvPr/>
        </p:nvSpPr>
        <p:spPr>
          <a:xfrm>
            <a:off x="2133600" y="2743200"/>
            <a:ext cx="3048000" cy="3048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9"/>
          <p:cNvSpPr/>
          <p:nvPr/>
        </p:nvSpPr>
        <p:spPr>
          <a:xfrm>
            <a:off x="2895600" y="3505200"/>
            <a:ext cx="1524000" cy="1524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9"/>
          <p:cNvSpPr/>
          <p:nvPr/>
        </p:nvSpPr>
        <p:spPr>
          <a:xfrm>
            <a:off x="4267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9"/>
          <p:cNvSpPr/>
          <p:nvPr/>
        </p:nvSpPr>
        <p:spPr>
          <a:xfrm>
            <a:off x="3581400" y="3505200"/>
            <a:ext cx="1524000" cy="1524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9"/>
          <p:cNvSpPr/>
          <p:nvPr/>
        </p:nvSpPr>
        <p:spPr>
          <a:xfrm>
            <a:off x="4953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59"/>
          <p:cNvCxnSpPr/>
          <p:nvPr/>
        </p:nvCxnSpPr>
        <p:spPr>
          <a:xfrm>
            <a:off x="3733800" y="4267200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Google Shape;555;p59"/>
          <p:cNvSpPr txBox="1"/>
          <p:nvPr/>
        </p:nvSpPr>
        <p:spPr>
          <a:xfrm>
            <a:off x="3489325" y="4357688"/>
            <a:ext cx="3397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556" name="Google Shape;556;p59"/>
          <p:cNvSpPr txBox="1"/>
          <p:nvPr/>
        </p:nvSpPr>
        <p:spPr>
          <a:xfrm>
            <a:off x="4191000" y="4343400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557" name="Google Shape;557;p59"/>
          <p:cNvSpPr txBox="1"/>
          <p:nvPr/>
        </p:nvSpPr>
        <p:spPr>
          <a:xfrm>
            <a:off x="4876800" y="4357688"/>
            <a:ext cx="344488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/>
          </a:p>
        </p:txBody>
      </p:sp>
      <p:sp>
        <p:nvSpPr>
          <p:cNvPr id="558" name="Google Shape;558;p59"/>
          <p:cNvSpPr txBox="1"/>
          <p:nvPr/>
        </p:nvSpPr>
        <p:spPr>
          <a:xfrm>
            <a:off x="3322638" y="3200400"/>
            <a:ext cx="6397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RTS</a:t>
            </a:r>
            <a:endParaRPr/>
          </a:p>
        </p:txBody>
      </p:sp>
      <p:sp>
        <p:nvSpPr>
          <p:cNvPr id="559" name="Google Shape;559;p59"/>
          <p:cNvSpPr txBox="1"/>
          <p:nvPr/>
        </p:nvSpPr>
        <p:spPr>
          <a:xfrm>
            <a:off x="4038600" y="3200400"/>
            <a:ext cx="6397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CTS</a:t>
            </a: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22C23A8-58A1-E557-C491-623B611919CA}"/>
              </a:ext>
            </a:extLst>
          </p:cNvPr>
          <p:cNvSpPr txBox="1">
            <a:spLocks/>
          </p:cNvSpPr>
          <p:nvPr/>
        </p:nvSpPr>
        <p:spPr>
          <a:xfrm>
            <a:off x="92956" y="44704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>
            <a:spLocks noGrp="1"/>
          </p:cNvSpPr>
          <p:nvPr>
            <p:ph type="title"/>
          </p:nvPr>
        </p:nvSpPr>
        <p:spPr>
          <a:xfrm>
            <a:off x="771329" y="3141980"/>
            <a:ext cx="7856855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737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Understanding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Medium Access: The Problem</a:t>
            </a:r>
            <a:endParaRPr/>
          </a:p>
        </p:txBody>
      </p:sp>
      <p:sp>
        <p:nvSpPr>
          <p:cNvPr id="565" name="Google Shape;565;p60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525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1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737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Medium access: The Problem</a:t>
            </a:r>
            <a:endParaRPr dirty="0"/>
          </a:p>
        </p:txBody>
      </p:sp>
      <p:sp>
        <p:nvSpPr>
          <p:cNvPr id="571" name="Google Shape;571;p61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525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572" name="Google Shape;572;p61"/>
          <p:cNvSpPr txBox="1"/>
          <p:nvPr/>
        </p:nvSpPr>
        <p:spPr>
          <a:xfrm>
            <a:off x="175700" y="3644900"/>
            <a:ext cx="8637270" cy="274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Receiver must hear ≤1 strong transmission at a time, else </a:t>
            </a:r>
            <a:r>
              <a:rPr lang="en-US" sz="24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(transmissions are lost)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Two questions: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983614" lvl="1" indent="-51434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should the shared medium be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divided?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983614" lvl="1" indent="-514349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Who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gets to use each such unit of division, and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when?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medium access control </a:t>
            </a:r>
            <a:r>
              <a:rPr lang="en-US" sz="24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(MAC) </a:t>
            </a:r>
            <a:r>
              <a:rPr lang="en-US" sz="2400" b="1" i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protocol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specifies the above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3" name="Google Shape;573;p61"/>
          <p:cNvGraphicFramePr/>
          <p:nvPr/>
        </p:nvGraphicFramePr>
        <p:xfrm>
          <a:off x="821658" y="1657910"/>
          <a:ext cx="6667500" cy="1640175"/>
        </p:xfrm>
        <a:graphic>
          <a:graphicData uri="http://schemas.openxmlformats.org/drawingml/2006/table">
            <a:tbl>
              <a:tblPr firstRow="1" bandRow="1">
                <a:noFill/>
                <a:tableStyleId>{107B94AD-8495-42C7-BC96-5A0394A12AFC}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4" name="Google Shape;574;p61"/>
          <p:cNvSpPr txBox="1"/>
          <p:nvPr/>
        </p:nvSpPr>
        <p:spPr>
          <a:xfrm>
            <a:off x="7899286" y="1751076"/>
            <a:ext cx="93218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2925" baseline="300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925" baseline="30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5" name="Google Shape;575;p61"/>
          <p:cNvSpPr txBox="1"/>
          <p:nvPr/>
        </p:nvSpPr>
        <p:spPr>
          <a:xfrm rot="-5400000">
            <a:off x="-499562" y="2325562"/>
            <a:ext cx="163068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78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Frequency </a:t>
            </a:r>
            <a:r>
              <a:rPr lang="en-US" sz="2925" baseline="300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925" baseline="30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00E4CF5-0650-E679-0D74-7C4C97E901B5}"/>
              </a:ext>
            </a:extLst>
          </p:cNvPr>
          <p:cNvSpPr txBox="1">
            <a:spLocks/>
          </p:cNvSpPr>
          <p:nvPr/>
        </p:nvSpPr>
        <p:spPr>
          <a:xfrm>
            <a:off x="183786" y="46131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2"/>
          <p:cNvSpPr txBox="1"/>
          <p:nvPr/>
        </p:nvSpPr>
        <p:spPr>
          <a:xfrm>
            <a:off x="175700" y="1368044"/>
            <a:ext cx="8190230" cy="332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AutoNum type="arabicPeriod"/>
            </a:pPr>
            <a:r>
              <a:rPr lang="en-US" sz="3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How does channel access differ between wireless and wired networks?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AutoNum type="arabicPeriod"/>
            </a:pPr>
            <a:r>
              <a:rPr lang="en-US" sz="3000" b="1">
                <a:latin typeface="Arial"/>
                <a:ea typeface="Arial"/>
                <a:cs typeface="Arial"/>
                <a:sym typeface="Arial"/>
              </a:rPr>
              <a:t>Medium access control: Provisioned protocols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000"/>
              <a:buFont typeface="Arial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AutoNum type="arabicPeriod"/>
            </a:pPr>
            <a:r>
              <a:rPr lang="en-US" sz="3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Contention-based medium access control</a:t>
            </a:r>
            <a:endParaRPr/>
          </a:p>
        </p:txBody>
      </p:sp>
      <p:sp>
        <p:nvSpPr>
          <p:cNvPr id="581" name="Google Shape;581;p62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582" name="Google Shape;582;p62"/>
          <p:cNvSpPr txBox="1">
            <a:spLocks noGrp="1"/>
          </p:cNvSpPr>
          <p:nvPr>
            <p:ph type="title"/>
          </p:nvPr>
        </p:nvSpPr>
        <p:spPr>
          <a:xfrm>
            <a:off x="3896798" y="593850"/>
            <a:ext cx="2150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3"/>
          <p:cNvSpPr txBox="1">
            <a:spLocks noGrp="1"/>
          </p:cNvSpPr>
          <p:nvPr>
            <p:ph type="title"/>
          </p:nvPr>
        </p:nvSpPr>
        <p:spPr>
          <a:xfrm>
            <a:off x="679350" y="593850"/>
            <a:ext cx="8190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TDMA: Time Division Multiple Access</a:t>
            </a:r>
            <a:endParaRPr/>
          </a:p>
        </p:txBody>
      </p:sp>
      <p:sp>
        <p:nvSpPr>
          <p:cNvPr id="588" name="Google Shape;588;p63"/>
          <p:cNvSpPr txBox="1"/>
          <p:nvPr/>
        </p:nvSpPr>
        <p:spPr>
          <a:xfrm>
            <a:off x="198701" y="1480820"/>
            <a:ext cx="8335645" cy="335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Channel time is divided into 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fixed-period, repeating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rounds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7500"/>
              </a:lnSpc>
              <a:spcBef>
                <a:spcPts val="172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Each user gets a fixed-length </a:t>
            </a:r>
            <a:r>
              <a:rPr lang="en-US" sz="2400" b="1" i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slot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(packet time) in each round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54380" lvl="1" indent="-284480" algn="l" rtl="0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Send across all frequencies during this slot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284480" marR="3668395" lvl="1" indent="-28448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Unused slots are wasted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Out-of-band: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Mechanism for allocating/de-allocating slots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 i="1">
                <a:latin typeface="Arial"/>
                <a:ea typeface="Arial"/>
                <a:cs typeface="Arial"/>
                <a:sym typeface="Arial"/>
              </a:rPr>
              <a:t>e.g.: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six stations, only 1, 3, and 4 have data to send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marR="3663950" lvl="0" indent="0" algn="ctr" rtl="0">
              <a:lnSpc>
                <a:spcPct val="100000"/>
              </a:lnSpc>
              <a:spcBef>
                <a:spcPts val="2045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6-slot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3"/>
          <p:cNvSpPr/>
          <p:nvPr/>
        </p:nvSpPr>
        <p:spPr>
          <a:xfrm>
            <a:off x="3085858" y="4810509"/>
            <a:ext cx="1263650" cy="171450"/>
          </a:xfrm>
          <a:custGeom>
            <a:avLst/>
            <a:gdLst/>
            <a:ahLst/>
            <a:cxnLst/>
            <a:rect l="l" t="t" r="r" b="b"/>
            <a:pathLst>
              <a:path w="1263650" h="171450" extrusionOk="0">
                <a:moveTo>
                  <a:pt x="1187768" y="85573"/>
                </a:moveTo>
                <a:lnTo>
                  <a:pt x="1101675" y="135793"/>
                </a:lnTo>
                <a:lnTo>
                  <a:pt x="1096024" y="140822"/>
                </a:lnTo>
                <a:lnTo>
                  <a:pt x="1092851" y="147399"/>
                </a:lnTo>
                <a:lnTo>
                  <a:pt x="1092375" y="154687"/>
                </a:lnTo>
                <a:lnTo>
                  <a:pt x="1094818" y="161847"/>
                </a:lnTo>
                <a:lnTo>
                  <a:pt x="1099848" y="167497"/>
                </a:lnTo>
                <a:lnTo>
                  <a:pt x="1106426" y="170670"/>
                </a:lnTo>
                <a:lnTo>
                  <a:pt x="1113713" y="171145"/>
                </a:lnTo>
                <a:lnTo>
                  <a:pt x="1120872" y="168702"/>
                </a:lnTo>
                <a:lnTo>
                  <a:pt x="1230724" y="104623"/>
                </a:lnTo>
                <a:lnTo>
                  <a:pt x="1225572" y="104623"/>
                </a:lnTo>
                <a:lnTo>
                  <a:pt x="1225572" y="102027"/>
                </a:lnTo>
                <a:lnTo>
                  <a:pt x="1215975" y="102027"/>
                </a:lnTo>
                <a:lnTo>
                  <a:pt x="1187768" y="85573"/>
                </a:lnTo>
                <a:close/>
              </a:path>
              <a:path w="1263650" h="171450" extrusionOk="0">
                <a:moveTo>
                  <a:pt x="1155111" y="66523"/>
                </a:moveTo>
                <a:lnTo>
                  <a:pt x="0" y="66523"/>
                </a:lnTo>
                <a:lnTo>
                  <a:pt x="0" y="104623"/>
                </a:lnTo>
                <a:lnTo>
                  <a:pt x="1155109" y="104623"/>
                </a:lnTo>
                <a:lnTo>
                  <a:pt x="1187766" y="85573"/>
                </a:lnTo>
                <a:lnTo>
                  <a:pt x="1155111" y="66523"/>
                </a:lnTo>
                <a:close/>
              </a:path>
              <a:path w="1263650" h="171450" extrusionOk="0">
                <a:moveTo>
                  <a:pt x="1230724" y="66523"/>
                </a:moveTo>
                <a:lnTo>
                  <a:pt x="1225572" y="66523"/>
                </a:lnTo>
                <a:lnTo>
                  <a:pt x="1225572" y="104623"/>
                </a:lnTo>
                <a:lnTo>
                  <a:pt x="1230724" y="104623"/>
                </a:lnTo>
                <a:lnTo>
                  <a:pt x="1263382" y="85573"/>
                </a:lnTo>
                <a:lnTo>
                  <a:pt x="1230724" y="66523"/>
                </a:lnTo>
                <a:close/>
              </a:path>
              <a:path w="1263650" h="171450" extrusionOk="0">
                <a:moveTo>
                  <a:pt x="1215975" y="69118"/>
                </a:moveTo>
                <a:lnTo>
                  <a:pt x="1187768" y="85573"/>
                </a:lnTo>
                <a:lnTo>
                  <a:pt x="1215975" y="102027"/>
                </a:lnTo>
                <a:lnTo>
                  <a:pt x="1215975" y="69118"/>
                </a:lnTo>
                <a:close/>
              </a:path>
              <a:path w="1263650" h="171450" extrusionOk="0">
                <a:moveTo>
                  <a:pt x="1225572" y="69118"/>
                </a:moveTo>
                <a:lnTo>
                  <a:pt x="1215975" y="69118"/>
                </a:lnTo>
                <a:lnTo>
                  <a:pt x="1215975" y="102027"/>
                </a:lnTo>
                <a:lnTo>
                  <a:pt x="1225572" y="102027"/>
                </a:lnTo>
                <a:lnTo>
                  <a:pt x="1225572" y="69118"/>
                </a:lnTo>
                <a:close/>
              </a:path>
              <a:path w="1263650" h="171450" extrusionOk="0">
                <a:moveTo>
                  <a:pt x="1113713" y="0"/>
                </a:moveTo>
                <a:lnTo>
                  <a:pt x="1106426" y="475"/>
                </a:lnTo>
                <a:lnTo>
                  <a:pt x="1099848" y="3648"/>
                </a:lnTo>
                <a:lnTo>
                  <a:pt x="1094818" y="9298"/>
                </a:lnTo>
                <a:lnTo>
                  <a:pt x="1092375" y="16458"/>
                </a:lnTo>
                <a:lnTo>
                  <a:pt x="1092851" y="23745"/>
                </a:lnTo>
                <a:lnTo>
                  <a:pt x="1096024" y="30323"/>
                </a:lnTo>
                <a:lnTo>
                  <a:pt x="1101675" y="35352"/>
                </a:lnTo>
                <a:lnTo>
                  <a:pt x="1187768" y="85573"/>
                </a:lnTo>
                <a:lnTo>
                  <a:pt x="1215975" y="69118"/>
                </a:lnTo>
                <a:lnTo>
                  <a:pt x="1225572" y="69118"/>
                </a:lnTo>
                <a:lnTo>
                  <a:pt x="1225572" y="66523"/>
                </a:lnTo>
                <a:lnTo>
                  <a:pt x="1230724" y="66523"/>
                </a:lnTo>
                <a:lnTo>
                  <a:pt x="1120872" y="2443"/>
                </a:lnTo>
                <a:lnTo>
                  <a:pt x="111371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0" name="Google Shape;590;p63"/>
          <p:cNvSpPr/>
          <p:nvPr/>
        </p:nvSpPr>
        <p:spPr>
          <a:xfrm>
            <a:off x="729514" y="4803319"/>
            <a:ext cx="1263650" cy="171450"/>
          </a:xfrm>
          <a:custGeom>
            <a:avLst/>
            <a:gdLst/>
            <a:ahLst/>
            <a:cxnLst/>
            <a:rect l="l" t="t" r="r" b="b"/>
            <a:pathLst>
              <a:path w="1263650" h="171450" extrusionOk="0">
                <a:moveTo>
                  <a:pt x="149667" y="0"/>
                </a:moveTo>
                <a:lnTo>
                  <a:pt x="142508" y="2443"/>
                </a:lnTo>
                <a:lnTo>
                  <a:pt x="0" y="85573"/>
                </a:lnTo>
                <a:lnTo>
                  <a:pt x="142508" y="168702"/>
                </a:lnTo>
                <a:lnTo>
                  <a:pt x="149667" y="171146"/>
                </a:lnTo>
                <a:lnTo>
                  <a:pt x="156955" y="170671"/>
                </a:lnTo>
                <a:lnTo>
                  <a:pt x="163532" y="167497"/>
                </a:lnTo>
                <a:lnTo>
                  <a:pt x="168562" y="161847"/>
                </a:lnTo>
                <a:lnTo>
                  <a:pt x="171005" y="154687"/>
                </a:lnTo>
                <a:lnTo>
                  <a:pt x="170530" y="147399"/>
                </a:lnTo>
                <a:lnTo>
                  <a:pt x="167356" y="140822"/>
                </a:lnTo>
                <a:lnTo>
                  <a:pt x="161705" y="135793"/>
                </a:lnTo>
                <a:lnTo>
                  <a:pt x="108272" y="104623"/>
                </a:lnTo>
                <a:lnTo>
                  <a:pt x="37808" y="104623"/>
                </a:lnTo>
                <a:lnTo>
                  <a:pt x="37808" y="66523"/>
                </a:lnTo>
                <a:lnTo>
                  <a:pt x="108271" y="66523"/>
                </a:lnTo>
                <a:lnTo>
                  <a:pt x="161705" y="35352"/>
                </a:lnTo>
                <a:lnTo>
                  <a:pt x="167356" y="30323"/>
                </a:lnTo>
                <a:lnTo>
                  <a:pt x="170530" y="23746"/>
                </a:lnTo>
                <a:lnTo>
                  <a:pt x="171005" y="16459"/>
                </a:lnTo>
                <a:lnTo>
                  <a:pt x="168562" y="9299"/>
                </a:lnTo>
                <a:lnTo>
                  <a:pt x="163532" y="3648"/>
                </a:lnTo>
                <a:lnTo>
                  <a:pt x="156955" y="475"/>
                </a:lnTo>
                <a:lnTo>
                  <a:pt x="149667" y="0"/>
                </a:lnTo>
                <a:close/>
              </a:path>
              <a:path w="1263650" h="171450" extrusionOk="0">
                <a:moveTo>
                  <a:pt x="108271" y="66523"/>
                </a:moveTo>
                <a:lnTo>
                  <a:pt x="37808" y="66523"/>
                </a:lnTo>
                <a:lnTo>
                  <a:pt x="37808" y="104623"/>
                </a:lnTo>
                <a:lnTo>
                  <a:pt x="108272" y="104623"/>
                </a:lnTo>
                <a:lnTo>
                  <a:pt x="103824" y="102028"/>
                </a:lnTo>
                <a:lnTo>
                  <a:pt x="47405" y="102028"/>
                </a:lnTo>
                <a:lnTo>
                  <a:pt x="47405" y="69118"/>
                </a:lnTo>
                <a:lnTo>
                  <a:pt x="103823" y="69118"/>
                </a:lnTo>
                <a:lnTo>
                  <a:pt x="108271" y="66523"/>
                </a:lnTo>
                <a:close/>
              </a:path>
              <a:path w="1263650" h="171450" extrusionOk="0">
                <a:moveTo>
                  <a:pt x="1263380" y="66523"/>
                </a:moveTo>
                <a:lnTo>
                  <a:pt x="108271" y="66523"/>
                </a:lnTo>
                <a:lnTo>
                  <a:pt x="75615" y="85573"/>
                </a:lnTo>
                <a:lnTo>
                  <a:pt x="108272" y="104623"/>
                </a:lnTo>
                <a:lnTo>
                  <a:pt x="1263380" y="104623"/>
                </a:lnTo>
                <a:lnTo>
                  <a:pt x="1263380" y="66523"/>
                </a:lnTo>
                <a:close/>
              </a:path>
              <a:path w="1263650" h="171450" extrusionOk="0">
                <a:moveTo>
                  <a:pt x="47405" y="69118"/>
                </a:moveTo>
                <a:lnTo>
                  <a:pt x="47405" y="102028"/>
                </a:lnTo>
                <a:lnTo>
                  <a:pt x="75614" y="85573"/>
                </a:lnTo>
                <a:lnTo>
                  <a:pt x="47405" y="69118"/>
                </a:lnTo>
                <a:close/>
              </a:path>
              <a:path w="1263650" h="171450" extrusionOk="0">
                <a:moveTo>
                  <a:pt x="75615" y="85573"/>
                </a:moveTo>
                <a:lnTo>
                  <a:pt x="47405" y="102028"/>
                </a:lnTo>
                <a:lnTo>
                  <a:pt x="103824" y="102028"/>
                </a:lnTo>
                <a:lnTo>
                  <a:pt x="75615" y="85573"/>
                </a:lnTo>
                <a:close/>
              </a:path>
              <a:path w="1263650" h="171450" extrusionOk="0">
                <a:moveTo>
                  <a:pt x="103823" y="69118"/>
                </a:moveTo>
                <a:lnTo>
                  <a:pt x="47405" y="69118"/>
                </a:lnTo>
                <a:lnTo>
                  <a:pt x="75615" y="85573"/>
                </a:lnTo>
                <a:lnTo>
                  <a:pt x="103823" y="691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aphicFrame>
        <p:nvGraphicFramePr>
          <p:cNvPr id="591" name="Google Shape;591;p63"/>
          <p:cNvGraphicFramePr/>
          <p:nvPr/>
        </p:nvGraphicFramePr>
        <p:xfrm>
          <a:off x="429494" y="4738031"/>
          <a:ext cx="7778125" cy="948319"/>
        </p:xfrm>
        <a:graphic>
          <a:graphicData uri="http://schemas.openxmlformats.org/drawingml/2006/table">
            <a:tbl>
              <a:tblPr firstRow="1" bandRow="1">
                <a:noFill/>
                <a:tableStyleId>{107B94AD-8495-42C7-BC96-5A0394A12AFC}</a:tableStyleId>
              </a:tblPr>
              <a:tblGrid>
                <a:gridCol w="28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8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4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7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62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381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gridSpan="6">
                  <a:txBody>
                    <a:bodyPr/>
                    <a:lstStyle/>
                    <a:p>
                      <a:pPr marL="0" marR="889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7950" marB="0">
                    <a:lnL w="3810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571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" marR="0" lvl="0" indent="0" algn="ctr" rtl="0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20" marR="0" lvl="0" indent="0" algn="ctr" rtl="0">
                        <a:lnSpc>
                          <a:spcPct val="1104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844" marR="0" lvl="0" indent="0" algn="ctr" rtl="0">
                        <a:lnSpc>
                          <a:spcPct val="105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334" marR="0" lvl="0" indent="0" algn="ctr" rtl="0">
                        <a:lnSpc>
                          <a:spcPct val="10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985" lvl="0" indent="0" algn="ctr" rtl="0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2" name="Google Shape;592;p63"/>
          <p:cNvSpPr/>
          <p:nvPr/>
        </p:nvSpPr>
        <p:spPr>
          <a:xfrm>
            <a:off x="7400887" y="6223775"/>
            <a:ext cx="801370" cy="200025"/>
          </a:xfrm>
          <a:custGeom>
            <a:avLst/>
            <a:gdLst/>
            <a:ahLst/>
            <a:cxnLst/>
            <a:rect l="l" t="t" r="r" b="b"/>
            <a:pathLst>
              <a:path w="801370" h="200025" extrusionOk="0">
                <a:moveTo>
                  <a:pt x="674750" y="122155"/>
                </a:moveTo>
                <a:lnTo>
                  <a:pt x="612338" y="158397"/>
                </a:lnTo>
                <a:lnTo>
                  <a:pt x="605734" y="164251"/>
                </a:lnTo>
                <a:lnTo>
                  <a:pt x="602016" y="171918"/>
                </a:lnTo>
                <a:lnTo>
                  <a:pt x="601445" y="180419"/>
                </a:lnTo>
                <a:lnTo>
                  <a:pt x="604278" y="188777"/>
                </a:lnTo>
                <a:lnTo>
                  <a:pt x="610132" y="195381"/>
                </a:lnTo>
                <a:lnTo>
                  <a:pt x="617799" y="199098"/>
                </a:lnTo>
                <a:lnTo>
                  <a:pt x="626300" y="199670"/>
                </a:lnTo>
                <a:lnTo>
                  <a:pt x="634658" y="196836"/>
                </a:lnTo>
                <a:lnTo>
                  <a:pt x="762987" y="122318"/>
                </a:lnTo>
                <a:lnTo>
                  <a:pt x="674750" y="122155"/>
                </a:lnTo>
                <a:close/>
              </a:path>
              <a:path w="801370" h="200025" extrusionOk="0">
                <a:moveTo>
                  <a:pt x="712893" y="100006"/>
                </a:moveTo>
                <a:lnTo>
                  <a:pt x="674750" y="122155"/>
                </a:lnTo>
                <a:lnTo>
                  <a:pt x="756956" y="122318"/>
                </a:lnTo>
                <a:lnTo>
                  <a:pt x="756962" y="119269"/>
                </a:lnTo>
                <a:lnTo>
                  <a:pt x="745765" y="119269"/>
                </a:lnTo>
                <a:lnTo>
                  <a:pt x="712893" y="100006"/>
                </a:lnTo>
                <a:close/>
              </a:path>
              <a:path w="801370" h="200025" extrusionOk="0">
                <a:moveTo>
                  <a:pt x="626696" y="0"/>
                </a:moveTo>
                <a:lnTo>
                  <a:pt x="618193" y="537"/>
                </a:lnTo>
                <a:lnTo>
                  <a:pt x="610512" y="4224"/>
                </a:lnTo>
                <a:lnTo>
                  <a:pt x="604631" y="10805"/>
                </a:lnTo>
                <a:lnTo>
                  <a:pt x="601764" y="19152"/>
                </a:lnTo>
                <a:lnTo>
                  <a:pt x="602302" y="27655"/>
                </a:lnTo>
                <a:lnTo>
                  <a:pt x="605989" y="35336"/>
                </a:lnTo>
                <a:lnTo>
                  <a:pt x="612570" y="41217"/>
                </a:lnTo>
                <a:lnTo>
                  <a:pt x="674838" y="77705"/>
                </a:lnTo>
                <a:lnTo>
                  <a:pt x="757045" y="77868"/>
                </a:lnTo>
                <a:lnTo>
                  <a:pt x="756956" y="122318"/>
                </a:lnTo>
                <a:lnTo>
                  <a:pt x="762987" y="122318"/>
                </a:lnTo>
                <a:lnTo>
                  <a:pt x="801110" y="100181"/>
                </a:lnTo>
                <a:lnTo>
                  <a:pt x="635043" y="2866"/>
                </a:lnTo>
                <a:lnTo>
                  <a:pt x="626696" y="0"/>
                </a:lnTo>
                <a:close/>
              </a:path>
              <a:path w="801370" h="200025" extrusionOk="0">
                <a:moveTo>
                  <a:pt x="87" y="76368"/>
                </a:moveTo>
                <a:lnTo>
                  <a:pt x="0" y="120818"/>
                </a:lnTo>
                <a:lnTo>
                  <a:pt x="674750" y="122155"/>
                </a:lnTo>
                <a:lnTo>
                  <a:pt x="712893" y="100006"/>
                </a:lnTo>
                <a:lnTo>
                  <a:pt x="674838" y="77705"/>
                </a:lnTo>
                <a:lnTo>
                  <a:pt x="87" y="76368"/>
                </a:lnTo>
                <a:close/>
              </a:path>
              <a:path w="801370" h="200025" extrusionOk="0">
                <a:moveTo>
                  <a:pt x="745841" y="80874"/>
                </a:moveTo>
                <a:lnTo>
                  <a:pt x="712893" y="100006"/>
                </a:lnTo>
                <a:lnTo>
                  <a:pt x="745765" y="119269"/>
                </a:lnTo>
                <a:lnTo>
                  <a:pt x="745841" y="80874"/>
                </a:lnTo>
                <a:close/>
              </a:path>
              <a:path w="801370" h="200025" extrusionOk="0">
                <a:moveTo>
                  <a:pt x="757039" y="80874"/>
                </a:moveTo>
                <a:lnTo>
                  <a:pt x="745841" y="80874"/>
                </a:lnTo>
                <a:lnTo>
                  <a:pt x="745765" y="119269"/>
                </a:lnTo>
                <a:lnTo>
                  <a:pt x="756962" y="119269"/>
                </a:lnTo>
                <a:lnTo>
                  <a:pt x="757039" y="80874"/>
                </a:lnTo>
                <a:close/>
              </a:path>
              <a:path w="801370" h="200025" extrusionOk="0">
                <a:moveTo>
                  <a:pt x="674838" y="77705"/>
                </a:moveTo>
                <a:lnTo>
                  <a:pt x="712893" y="100006"/>
                </a:lnTo>
                <a:lnTo>
                  <a:pt x="745841" y="80874"/>
                </a:lnTo>
                <a:lnTo>
                  <a:pt x="757039" y="80874"/>
                </a:lnTo>
                <a:lnTo>
                  <a:pt x="757045" y="77868"/>
                </a:lnTo>
                <a:lnTo>
                  <a:pt x="674838" y="777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3" name="Google Shape;593;p63"/>
          <p:cNvSpPr txBox="1"/>
          <p:nvPr/>
        </p:nvSpPr>
        <p:spPr>
          <a:xfrm>
            <a:off x="6645974" y="6110732"/>
            <a:ext cx="6921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Time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3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4"/>
          <p:cNvSpPr txBox="1">
            <a:spLocks noGrp="1"/>
          </p:cNvSpPr>
          <p:nvPr>
            <p:ph type="title"/>
          </p:nvPr>
        </p:nvSpPr>
        <p:spPr>
          <a:xfrm>
            <a:off x="604625" y="268075"/>
            <a:ext cx="82344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FDMA: Frequency Division Multiple Access</a:t>
            </a:r>
            <a:endParaRPr sz="3200"/>
          </a:p>
        </p:txBody>
      </p:sp>
      <p:sp>
        <p:nvSpPr>
          <p:cNvPr id="600" name="Google Shape;600;p64"/>
          <p:cNvSpPr txBox="1"/>
          <p:nvPr/>
        </p:nvSpPr>
        <p:spPr>
          <a:xfrm>
            <a:off x="204901" y="1303328"/>
            <a:ext cx="8438400" cy="25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Channel’s frequency range (for all time) divided into frequency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560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latin typeface="Arial"/>
                <a:ea typeface="Arial"/>
                <a:cs typeface="Arial"/>
                <a:sym typeface="Arial"/>
              </a:rPr>
              <a:t>bands</a:t>
            </a:r>
            <a:endParaRPr sz="2400"/>
          </a:p>
          <a:p>
            <a:pPr marL="35560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-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Each user gets a fixed frequency band (</a:t>
            </a:r>
            <a:r>
              <a:rPr lang="en-US" sz="24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unused frequency slots are wasted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75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 i="1">
                <a:latin typeface="Arial"/>
                <a:ea typeface="Arial"/>
                <a:cs typeface="Arial"/>
                <a:sym typeface="Arial"/>
              </a:rPr>
              <a:t>e.g.: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six stations, only #1, #3, and #4 have data to send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1" name="Google Shape;601;p64"/>
          <p:cNvGraphicFramePr/>
          <p:nvPr/>
        </p:nvGraphicFramePr>
        <p:xfrm>
          <a:off x="3173832" y="3932868"/>
          <a:ext cx="626750" cy="2248525"/>
        </p:xfrm>
        <a:graphic>
          <a:graphicData uri="http://schemas.openxmlformats.org/drawingml/2006/table">
            <a:tbl>
              <a:tblPr firstRow="1" bandRow="1">
                <a:noFill/>
                <a:tableStyleId>{107B94AD-8495-42C7-BC96-5A0394A12AFC}</a:tableStyleId>
              </a:tblPr>
              <a:tblGrid>
                <a:gridCol w="62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2" name="Google Shape;602;p64"/>
          <p:cNvGrpSpPr/>
          <p:nvPr/>
        </p:nvGrpSpPr>
        <p:grpSpPr>
          <a:xfrm>
            <a:off x="3902493" y="4096381"/>
            <a:ext cx="2228850" cy="157164"/>
            <a:chOff x="3902493" y="4096381"/>
            <a:chExt cx="2228850" cy="157164"/>
          </a:xfrm>
        </p:grpSpPr>
        <p:sp>
          <p:nvSpPr>
            <p:cNvPr id="603" name="Google Shape;603;p64"/>
            <p:cNvSpPr/>
            <p:nvPr/>
          </p:nvSpPr>
          <p:spPr>
            <a:xfrm>
              <a:off x="3902493" y="4177345"/>
              <a:ext cx="2228850" cy="76200"/>
            </a:xfrm>
            <a:custGeom>
              <a:avLst/>
              <a:gdLst/>
              <a:ahLst/>
              <a:cxnLst/>
              <a:rect l="l" t="t" r="r" b="b"/>
              <a:pathLst>
                <a:path w="2228850" h="76200" extrusionOk="0">
                  <a:moveTo>
                    <a:pt x="2152650" y="0"/>
                  </a:moveTo>
                  <a:lnTo>
                    <a:pt x="2152650" y="76200"/>
                  </a:lnTo>
                  <a:lnTo>
                    <a:pt x="2209800" y="47625"/>
                  </a:lnTo>
                  <a:lnTo>
                    <a:pt x="2165350" y="47625"/>
                  </a:lnTo>
                  <a:lnTo>
                    <a:pt x="2165350" y="28575"/>
                  </a:lnTo>
                  <a:lnTo>
                    <a:pt x="2209800" y="28575"/>
                  </a:lnTo>
                  <a:lnTo>
                    <a:pt x="2152650" y="0"/>
                  </a:lnTo>
                  <a:close/>
                </a:path>
                <a:path w="2228850" h="76200" extrusionOk="0">
                  <a:moveTo>
                    <a:pt x="2152650" y="28575"/>
                  </a:moveTo>
                  <a:lnTo>
                    <a:pt x="1" y="28575"/>
                  </a:lnTo>
                  <a:lnTo>
                    <a:pt x="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228850" h="76200" extrusionOk="0">
                  <a:moveTo>
                    <a:pt x="2209800" y="28575"/>
                  </a:moveTo>
                  <a:lnTo>
                    <a:pt x="2165350" y="28575"/>
                  </a:lnTo>
                  <a:lnTo>
                    <a:pt x="2165350" y="47625"/>
                  </a:lnTo>
                  <a:lnTo>
                    <a:pt x="2209800" y="47625"/>
                  </a:lnTo>
                  <a:lnTo>
                    <a:pt x="2228850" y="38100"/>
                  </a:lnTo>
                  <a:lnTo>
                    <a:pt x="2209800" y="285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4" name="Google Shape;604;p64"/>
            <p:cNvSpPr/>
            <p:nvPr/>
          </p:nvSpPr>
          <p:spPr>
            <a:xfrm>
              <a:off x="4050132" y="4096381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1728787" y="0"/>
                  </a:moveTo>
                  <a:lnTo>
                    <a:pt x="0" y="4762"/>
                  </a:lnTo>
                  <a:lnTo>
                    <a:pt x="0" y="114299"/>
                  </a:lnTo>
                  <a:lnTo>
                    <a:pt x="1728787" y="114299"/>
                  </a:lnTo>
                  <a:lnTo>
                    <a:pt x="1728787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5" name="Google Shape;605;p64"/>
            <p:cNvSpPr/>
            <p:nvPr/>
          </p:nvSpPr>
          <p:spPr>
            <a:xfrm>
              <a:off x="4050132" y="4096381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0" y="114300"/>
                  </a:moveTo>
                  <a:lnTo>
                    <a:pt x="0" y="4762"/>
                  </a:lnTo>
                  <a:lnTo>
                    <a:pt x="1728787" y="0"/>
                  </a:lnTo>
                  <a:lnTo>
                    <a:pt x="1728787" y="11430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06" name="Google Shape;606;p64"/>
          <p:cNvSpPr/>
          <p:nvPr/>
        </p:nvSpPr>
        <p:spPr>
          <a:xfrm>
            <a:off x="3950118" y="4580570"/>
            <a:ext cx="2228850" cy="76200"/>
          </a:xfrm>
          <a:custGeom>
            <a:avLst/>
            <a:gdLst/>
            <a:ahLst/>
            <a:cxnLst/>
            <a:rect l="l" t="t" r="r" b="b"/>
            <a:pathLst>
              <a:path w="2228850" h="76200" extrusionOk="0">
                <a:moveTo>
                  <a:pt x="2152650" y="0"/>
                </a:moveTo>
                <a:lnTo>
                  <a:pt x="2152650" y="76200"/>
                </a:lnTo>
                <a:lnTo>
                  <a:pt x="2209800" y="47625"/>
                </a:lnTo>
                <a:lnTo>
                  <a:pt x="2165350" y="47625"/>
                </a:lnTo>
                <a:lnTo>
                  <a:pt x="2165350" y="28575"/>
                </a:lnTo>
                <a:lnTo>
                  <a:pt x="2209800" y="28575"/>
                </a:lnTo>
                <a:lnTo>
                  <a:pt x="2152650" y="0"/>
                </a:lnTo>
                <a:close/>
              </a:path>
              <a:path w="2228850" h="76200" extrusionOk="0">
                <a:moveTo>
                  <a:pt x="2152650" y="28575"/>
                </a:moveTo>
                <a:lnTo>
                  <a:pt x="1" y="28575"/>
                </a:lnTo>
                <a:lnTo>
                  <a:pt x="0" y="47625"/>
                </a:lnTo>
                <a:lnTo>
                  <a:pt x="2152650" y="47625"/>
                </a:lnTo>
                <a:lnTo>
                  <a:pt x="2152650" y="28575"/>
                </a:lnTo>
                <a:close/>
              </a:path>
              <a:path w="2228850" h="76200" extrusionOk="0">
                <a:moveTo>
                  <a:pt x="2209800" y="28575"/>
                </a:moveTo>
                <a:lnTo>
                  <a:pt x="2165350" y="28575"/>
                </a:lnTo>
                <a:lnTo>
                  <a:pt x="2165350" y="47625"/>
                </a:lnTo>
                <a:lnTo>
                  <a:pt x="2209800" y="47625"/>
                </a:lnTo>
                <a:lnTo>
                  <a:pt x="2228850" y="38100"/>
                </a:lnTo>
                <a:lnTo>
                  <a:pt x="2209800" y="285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07" name="Google Shape;607;p64"/>
          <p:cNvGrpSpPr/>
          <p:nvPr/>
        </p:nvGrpSpPr>
        <p:grpSpPr>
          <a:xfrm>
            <a:off x="3950118" y="4898068"/>
            <a:ext cx="2228850" cy="157164"/>
            <a:chOff x="3950118" y="4898068"/>
            <a:chExt cx="2228850" cy="157164"/>
          </a:xfrm>
        </p:grpSpPr>
        <p:sp>
          <p:nvSpPr>
            <p:cNvPr id="608" name="Google Shape;608;p64"/>
            <p:cNvSpPr/>
            <p:nvPr/>
          </p:nvSpPr>
          <p:spPr>
            <a:xfrm>
              <a:off x="3950118" y="4979032"/>
              <a:ext cx="2228850" cy="76200"/>
            </a:xfrm>
            <a:custGeom>
              <a:avLst/>
              <a:gdLst/>
              <a:ahLst/>
              <a:cxnLst/>
              <a:rect l="l" t="t" r="r" b="b"/>
              <a:pathLst>
                <a:path w="2228850" h="76200" extrusionOk="0">
                  <a:moveTo>
                    <a:pt x="2152650" y="0"/>
                  </a:moveTo>
                  <a:lnTo>
                    <a:pt x="2152650" y="76200"/>
                  </a:lnTo>
                  <a:lnTo>
                    <a:pt x="2209800" y="47625"/>
                  </a:lnTo>
                  <a:lnTo>
                    <a:pt x="2165350" y="47625"/>
                  </a:lnTo>
                  <a:lnTo>
                    <a:pt x="2165350" y="28575"/>
                  </a:lnTo>
                  <a:lnTo>
                    <a:pt x="2209800" y="28575"/>
                  </a:lnTo>
                  <a:lnTo>
                    <a:pt x="2152650" y="0"/>
                  </a:lnTo>
                  <a:close/>
                </a:path>
                <a:path w="2228850" h="76200" extrusionOk="0">
                  <a:moveTo>
                    <a:pt x="2152650" y="28575"/>
                  </a:moveTo>
                  <a:lnTo>
                    <a:pt x="1" y="28575"/>
                  </a:lnTo>
                  <a:lnTo>
                    <a:pt x="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228850" h="76200" extrusionOk="0">
                  <a:moveTo>
                    <a:pt x="2209800" y="28575"/>
                  </a:moveTo>
                  <a:lnTo>
                    <a:pt x="2165350" y="28575"/>
                  </a:lnTo>
                  <a:lnTo>
                    <a:pt x="2165350" y="47625"/>
                  </a:lnTo>
                  <a:lnTo>
                    <a:pt x="2209800" y="47625"/>
                  </a:lnTo>
                  <a:lnTo>
                    <a:pt x="2228850" y="38100"/>
                  </a:lnTo>
                  <a:lnTo>
                    <a:pt x="2209800" y="285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9" name="Google Shape;609;p64"/>
            <p:cNvSpPr/>
            <p:nvPr/>
          </p:nvSpPr>
          <p:spPr>
            <a:xfrm>
              <a:off x="4097757" y="4898068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1728787" y="0"/>
                  </a:moveTo>
                  <a:lnTo>
                    <a:pt x="0" y="4762"/>
                  </a:lnTo>
                  <a:lnTo>
                    <a:pt x="0" y="114299"/>
                  </a:lnTo>
                  <a:lnTo>
                    <a:pt x="1728787" y="114299"/>
                  </a:lnTo>
                  <a:lnTo>
                    <a:pt x="1728787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0" name="Google Shape;610;p64"/>
            <p:cNvSpPr/>
            <p:nvPr/>
          </p:nvSpPr>
          <p:spPr>
            <a:xfrm>
              <a:off x="4097757" y="4898068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0" y="114300"/>
                  </a:moveTo>
                  <a:lnTo>
                    <a:pt x="0" y="4762"/>
                  </a:lnTo>
                  <a:lnTo>
                    <a:pt x="1728787" y="0"/>
                  </a:lnTo>
                  <a:lnTo>
                    <a:pt x="1728787" y="11430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11" name="Google Shape;611;p64"/>
          <p:cNvGrpSpPr/>
          <p:nvPr/>
        </p:nvGrpSpPr>
        <p:grpSpPr>
          <a:xfrm>
            <a:off x="3967583" y="5302881"/>
            <a:ext cx="2228850" cy="157164"/>
            <a:chOff x="3967583" y="5302881"/>
            <a:chExt cx="2228850" cy="157164"/>
          </a:xfrm>
        </p:grpSpPr>
        <p:sp>
          <p:nvSpPr>
            <p:cNvPr id="612" name="Google Shape;612;p64"/>
            <p:cNvSpPr/>
            <p:nvPr/>
          </p:nvSpPr>
          <p:spPr>
            <a:xfrm>
              <a:off x="3967583" y="5383845"/>
              <a:ext cx="2228850" cy="76200"/>
            </a:xfrm>
            <a:custGeom>
              <a:avLst/>
              <a:gdLst/>
              <a:ahLst/>
              <a:cxnLst/>
              <a:rect l="l" t="t" r="r" b="b"/>
              <a:pathLst>
                <a:path w="2228850" h="76200" extrusionOk="0">
                  <a:moveTo>
                    <a:pt x="2152650" y="0"/>
                  </a:moveTo>
                  <a:lnTo>
                    <a:pt x="2152650" y="76200"/>
                  </a:lnTo>
                  <a:lnTo>
                    <a:pt x="2209800" y="47625"/>
                  </a:lnTo>
                  <a:lnTo>
                    <a:pt x="2165350" y="47625"/>
                  </a:lnTo>
                  <a:lnTo>
                    <a:pt x="2165350" y="28575"/>
                  </a:lnTo>
                  <a:lnTo>
                    <a:pt x="2209800" y="28575"/>
                  </a:lnTo>
                  <a:lnTo>
                    <a:pt x="2152650" y="0"/>
                  </a:lnTo>
                  <a:close/>
                </a:path>
                <a:path w="2228850" h="76200" extrusionOk="0">
                  <a:moveTo>
                    <a:pt x="21526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228850" h="76200" extrusionOk="0">
                  <a:moveTo>
                    <a:pt x="2209800" y="28575"/>
                  </a:moveTo>
                  <a:lnTo>
                    <a:pt x="2165350" y="28575"/>
                  </a:lnTo>
                  <a:lnTo>
                    <a:pt x="2165350" y="47625"/>
                  </a:lnTo>
                  <a:lnTo>
                    <a:pt x="2209800" y="47625"/>
                  </a:lnTo>
                  <a:lnTo>
                    <a:pt x="2228850" y="38100"/>
                  </a:lnTo>
                  <a:lnTo>
                    <a:pt x="2209800" y="285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3" name="Google Shape;613;p64"/>
            <p:cNvSpPr/>
            <p:nvPr/>
          </p:nvSpPr>
          <p:spPr>
            <a:xfrm>
              <a:off x="4115221" y="5302881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1728787" y="0"/>
                  </a:moveTo>
                  <a:lnTo>
                    <a:pt x="0" y="4762"/>
                  </a:lnTo>
                  <a:lnTo>
                    <a:pt x="0" y="114299"/>
                  </a:lnTo>
                  <a:lnTo>
                    <a:pt x="1728787" y="114299"/>
                  </a:lnTo>
                  <a:lnTo>
                    <a:pt x="1728787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4" name="Google Shape;614;p64"/>
            <p:cNvSpPr/>
            <p:nvPr/>
          </p:nvSpPr>
          <p:spPr>
            <a:xfrm>
              <a:off x="4115221" y="5302881"/>
              <a:ext cx="1729105" cy="114300"/>
            </a:xfrm>
            <a:custGeom>
              <a:avLst/>
              <a:gdLst/>
              <a:ahLst/>
              <a:cxnLst/>
              <a:rect l="l" t="t" r="r" b="b"/>
              <a:pathLst>
                <a:path w="1729104" h="114300" extrusionOk="0">
                  <a:moveTo>
                    <a:pt x="0" y="114300"/>
                  </a:moveTo>
                  <a:lnTo>
                    <a:pt x="0" y="4762"/>
                  </a:lnTo>
                  <a:lnTo>
                    <a:pt x="1728788" y="0"/>
                  </a:lnTo>
                  <a:lnTo>
                    <a:pt x="1728788" y="11430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5" name="Google Shape;615;p64"/>
          <p:cNvSpPr/>
          <p:nvPr/>
        </p:nvSpPr>
        <p:spPr>
          <a:xfrm>
            <a:off x="3997743" y="5790245"/>
            <a:ext cx="2228850" cy="76200"/>
          </a:xfrm>
          <a:custGeom>
            <a:avLst/>
            <a:gdLst/>
            <a:ahLst/>
            <a:cxnLst/>
            <a:rect l="l" t="t" r="r" b="b"/>
            <a:pathLst>
              <a:path w="2228850" h="76200" extrusionOk="0">
                <a:moveTo>
                  <a:pt x="2152650" y="0"/>
                </a:moveTo>
                <a:lnTo>
                  <a:pt x="2152650" y="76200"/>
                </a:lnTo>
                <a:lnTo>
                  <a:pt x="2209800" y="47625"/>
                </a:lnTo>
                <a:lnTo>
                  <a:pt x="2165350" y="47625"/>
                </a:lnTo>
                <a:lnTo>
                  <a:pt x="2165350" y="28575"/>
                </a:lnTo>
                <a:lnTo>
                  <a:pt x="2209800" y="28575"/>
                </a:lnTo>
                <a:lnTo>
                  <a:pt x="2152650" y="0"/>
                </a:lnTo>
                <a:close/>
              </a:path>
              <a:path w="2228850" h="76200" extrusionOk="0">
                <a:moveTo>
                  <a:pt x="215265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2152650" y="47625"/>
                </a:lnTo>
                <a:lnTo>
                  <a:pt x="2152650" y="28575"/>
                </a:lnTo>
                <a:close/>
              </a:path>
              <a:path w="2228850" h="76200" extrusionOk="0">
                <a:moveTo>
                  <a:pt x="2209800" y="28575"/>
                </a:moveTo>
                <a:lnTo>
                  <a:pt x="2165350" y="28575"/>
                </a:lnTo>
                <a:lnTo>
                  <a:pt x="2165350" y="47625"/>
                </a:lnTo>
                <a:lnTo>
                  <a:pt x="2209800" y="47625"/>
                </a:lnTo>
                <a:lnTo>
                  <a:pt x="2228850" y="38100"/>
                </a:lnTo>
                <a:lnTo>
                  <a:pt x="2209800" y="285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6" name="Google Shape;616;p64"/>
          <p:cNvSpPr/>
          <p:nvPr/>
        </p:nvSpPr>
        <p:spPr>
          <a:xfrm>
            <a:off x="4004095" y="6120444"/>
            <a:ext cx="2228850" cy="76200"/>
          </a:xfrm>
          <a:custGeom>
            <a:avLst/>
            <a:gdLst/>
            <a:ahLst/>
            <a:cxnLst/>
            <a:rect l="l" t="t" r="r" b="b"/>
            <a:pathLst>
              <a:path w="2228850" h="76200" extrusionOk="0">
                <a:moveTo>
                  <a:pt x="2152650" y="0"/>
                </a:moveTo>
                <a:lnTo>
                  <a:pt x="2152650" y="76200"/>
                </a:lnTo>
                <a:lnTo>
                  <a:pt x="2209800" y="47625"/>
                </a:lnTo>
                <a:lnTo>
                  <a:pt x="2165348" y="47625"/>
                </a:lnTo>
                <a:lnTo>
                  <a:pt x="2165348" y="28575"/>
                </a:lnTo>
                <a:lnTo>
                  <a:pt x="2209800" y="28575"/>
                </a:lnTo>
                <a:lnTo>
                  <a:pt x="2152650" y="0"/>
                </a:lnTo>
                <a:close/>
              </a:path>
              <a:path w="2228850" h="76200" extrusionOk="0">
                <a:moveTo>
                  <a:pt x="215265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2152650" y="47625"/>
                </a:lnTo>
                <a:lnTo>
                  <a:pt x="2152650" y="28575"/>
                </a:lnTo>
                <a:close/>
              </a:path>
              <a:path w="2228850" h="76200" extrusionOk="0">
                <a:moveTo>
                  <a:pt x="2209800" y="28575"/>
                </a:moveTo>
                <a:lnTo>
                  <a:pt x="2165348" y="28575"/>
                </a:lnTo>
                <a:lnTo>
                  <a:pt x="2165348" y="47625"/>
                </a:lnTo>
                <a:lnTo>
                  <a:pt x="2209800" y="47625"/>
                </a:lnTo>
                <a:lnTo>
                  <a:pt x="2228850" y="38100"/>
                </a:lnTo>
                <a:lnTo>
                  <a:pt x="2209800" y="285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17" name="Google Shape;617;p64"/>
          <p:cNvSpPr txBox="1"/>
          <p:nvPr/>
        </p:nvSpPr>
        <p:spPr>
          <a:xfrm rot="-5400000">
            <a:off x="1574052" y="4914839"/>
            <a:ext cx="237744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78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frequency bands </a:t>
            </a:r>
            <a:r>
              <a:rPr lang="en-US" sz="2925" baseline="300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925" baseline="30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8" name="Google Shape;618;p64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619" name="Google Shape;619;p64"/>
          <p:cNvSpPr txBox="1"/>
          <p:nvPr/>
        </p:nvSpPr>
        <p:spPr>
          <a:xfrm rot="60000">
            <a:off x="6507691" y="5826500"/>
            <a:ext cx="877663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195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19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 txBox="1"/>
          <p:nvPr/>
        </p:nvSpPr>
        <p:spPr>
          <a:xfrm>
            <a:off x="175700" y="1395476"/>
            <a:ext cx="8684260" cy="456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Advantages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526415" marR="530225" lvl="0" indent="-514350" algn="l" rtl="0">
              <a:lnSpc>
                <a:spcPct val="95833"/>
              </a:lnSpc>
              <a:spcBef>
                <a:spcPts val="509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Users are </a:t>
            </a:r>
            <a:r>
              <a:rPr lang="en-US" sz="24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guaranteed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to be able to send bits, 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continuously (FDMA) </a:t>
            </a:r>
            <a:r>
              <a:rPr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or periodically (TDMA)</a:t>
            </a:r>
            <a:endParaRPr sz="24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lvl="1" indent="-3422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Disadvantages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526415" marR="1031239" lvl="0" indent="-51435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Unused time slots or frequency bands </a:t>
            </a: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reduce channel utilization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526415" marR="508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An out-of-band mechanism is needed to allocate slots or bands (which </a:t>
            </a: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requires another channel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US" sz="1800"/>
              <a:t>Slot assignment in TDMA isn’t automatic—it requires coordination over a separate signaling channel.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526415" lvl="0" indent="-51371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Guard bands or guard times </a:t>
            </a: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reduce channel utilization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5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65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TDMA and FDMA: Considerations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6"/>
          <p:cNvSpPr txBox="1">
            <a:spLocks noGrp="1"/>
          </p:cNvSpPr>
          <p:nvPr>
            <p:ph type="title"/>
          </p:nvPr>
        </p:nvSpPr>
        <p:spPr>
          <a:xfrm>
            <a:off x="611725" y="593850"/>
            <a:ext cx="842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CDMA: Code Division Multiple Access</a:t>
            </a:r>
            <a:endParaRPr/>
          </a:p>
        </p:txBody>
      </p:sp>
      <p:sp>
        <p:nvSpPr>
          <p:cNvPr id="632" name="Google Shape;632;p66"/>
          <p:cNvSpPr txBox="1"/>
          <p:nvPr/>
        </p:nvSpPr>
        <p:spPr>
          <a:xfrm>
            <a:off x="175700" y="1381252"/>
            <a:ext cx="8471535" cy="7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675" rIns="0" bIns="0" anchor="t" anchorCtr="0">
            <a:spAutoFit/>
          </a:bodyPr>
          <a:lstStyle/>
          <a:p>
            <a:pPr marL="354965" marR="5080" lvl="0" indent="-342900" algn="l" rtl="0">
              <a:lnSpc>
                <a:spcPct val="779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All users transmit over the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same frequencies,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at the same time: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66"/>
          <p:cNvSpPr txBox="1"/>
          <p:nvPr/>
        </p:nvSpPr>
        <p:spPr>
          <a:xfrm>
            <a:off x="175700" y="5127244"/>
            <a:ext cx="707517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700" rIns="0" bIns="0" anchor="t" anchorCtr="0">
            <a:spAutoFit/>
          </a:bodyPr>
          <a:lstStyle/>
          <a:p>
            <a:pPr marL="354965" marR="5080" lvl="0" indent="-342900" algn="l" rtl="0">
              <a:lnSpc>
                <a:spcPct val="96785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Allows multiple users to coexist and transmit simultaneously with </a:t>
            </a:r>
            <a:r>
              <a:rPr lang="en-US" sz="28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no interference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6443" y="2274350"/>
            <a:ext cx="2985081" cy="252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6"/>
          <p:cNvSpPr txBox="1"/>
          <p:nvPr/>
        </p:nvSpPr>
        <p:spPr>
          <a:xfrm>
            <a:off x="3792403" y="3711955"/>
            <a:ext cx="117284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2451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Alice (CDMA)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66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637" name="Google Shape;637;p66"/>
          <p:cNvSpPr txBox="1"/>
          <p:nvPr/>
        </p:nvSpPr>
        <p:spPr>
          <a:xfrm>
            <a:off x="2816664" y="3711955"/>
            <a:ext cx="82105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Cathy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66"/>
          <p:cNvSpPr txBox="1"/>
          <p:nvPr/>
        </p:nvSpPr>
        <p:spPr>
          <a:xfrm>
            <a:off x="4912582" y="3278123"/>
            <a:ext cx="7308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Okay!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6"/>
          <p:cNvSpPr txBox="1"/>
          <p:nvPr/>
        </p:nvSpPr>
        <p:spPr>
          <a:xfrm>
            <a:off x="5313653" y="4035044"/>
            <a:ext cx="5505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7"/>
          <p:cNvSpPr txBox="1">
            <a:spLocks noGrp="1"/>
          </p:cNvSpPr>
          <p:nvPr>
            <p:ph type="body" idx="1"/>
          </p:nvPr>
        </p:nvSpPr>
        <p:spPr>
          <a:xfrm>
            <a:off x="175700" y="1357884"/>
            <a:ext cx="8524240" cy="354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AutoNum type="arabicPeriod"/>
            </a:pPr>
            <a:r>
              <a:rPr lang="en-US"/>
              <a:t>How does channel access differ between wireless and wired networks?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endParaRPr/>
          </a:p>
          <a:p>
            <a:pPr marL="526415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AutoNum type="arabicPeriod"/>
            </a:pPr>
            <a:r>
              <a:rPr lang="en-US"/>
              <a:t>Medium access control: Provisioned protocols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endParaRPr/>
          </a:p>
          <a:p>
            <a:pPr marL="526415" lvl="0" indent="-51371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Contention-based medium access control</a:t>
            </a:r>
            <a:endParaRPr/>
          </a:p>
        </p:txBody>
      </p:sp>
      <p:sp>
        <p:nvSpPr>
          <p:cNvPr id="1023" name="Google Shape;1023;p77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024" name="Google Shape;1024;p77"/>
          <p:cNvSpPr txBox="1">
            <a:spLocks noGrp="1"/>
          </p:cNvSpPr>
          <p:nvPr>
            <p:ph type="title"/>
          </p:nvPr>
        </p:nvSpPr>
        <p:spPr>
          <a:xfrm>
            <a:off x="3896796" y="593850"/>
            <a:ext cx="2865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Idea:</a:t>
            </a:r>
            <a:r>
              <a:rPr spc="-204" dirty="0"/>
              <a:t> </a:t>
            </a:r>
            <a:r>
              <a:rPr spc="-70" dirty="0"/>
              <a:t>Use</a:t>
            </a:r>
            <a:r>
              <a:rPr spc="-195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spc="-90" dirty="0"/>
              <a:t>single,</a:t>
            </a:r>
            <a:r>
              <a:rPr spc="-195" dirty="0"/>
              <a:t> </a:t>
            </a:r>
            <a:r>
              <a:rPr spc="-90" dirty="0"/>
              <a:t>shared</a:t>
            </a:r>
            <a:r>
              <a:rPr spc="-195" dirty="0"/>
              <a:t> </a:t>
            </a:r>
            <a:r>
              <a:rPr spc="-85" dirty="0"/>
              <a:t>channel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ts val="16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sz="1400" b="1" i="0" u="none" strike="noStrike" kern="0" cap="none" spc="-25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700" y="1395476"/>
            <a:ext cx="7872095" cy="4093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900" defTabSz="914400" eaLnBrk="1" fontAlgn="auto" latinLnBrk="0" hangingPunct="1">
              <a:lnSpc>
                <a:spcPts val="283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469265" algn="l"/>
              </a:tabLst>
              <a:defRPr/>
            </a:pP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Spread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transmission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whole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100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MHz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spectrum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753745" marR="0" lvl="1" indent="-284480" defTabSz="914400" eaLnBrk="1" fontAlgn="auto" latinLnBrk="0" hangingPunct="1">
              <a:lnSpc>
                <a:spcPts val="2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–"/>
              <a:tabLst>
                <a:tab pos="753745" algn="l"/>
              </a:tabLst>
              <a:defRPr/>
            </a:pP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Remove</a:t>
            </a:r>
            <a:r>
              <a:rPr kumimoji="0" sz="2400" b="1" i="0" u="none" strike="noStrike" kern="0" cap="none" spc="-10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constraints</a:t>
            </a:r>
            <a:r>
              <a:rPr kumimoji="0" sz="2400" b="1" i="0" u="none" strike="noStrike" kern="0" cap="none" spc="-9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assoc.</a:t>
            </a:r>
            <a:r>
              <a:rPr kumimoji="0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w/one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channel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endParaRPr kumimoji="0" lang="en-US" sz="2400" b="0" i="0" u="none" strike="noStrike" kern="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153795" marR="0" lvl="2" indent="-22732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53795" algn="l"/>
              </a:tabLst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No need for strict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one-channel-per-user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allocations.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</a:endParaRPr>
          </a:p>
          <a:p>
            <a:pPr marL="1153795" marR="0" lvl="2" indent="-22732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53795" algn="l"/>
              </a:tabLst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</a:rPr>
              <a:t>Users can dynamically access any part of the shared channel, making it more efficient and flexible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753745" marR="0" lvl="1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–"/>
              <a:tabLst>
                <a:tab pos="753745" algn="l"/>
              </a:tabLst>
              <a:defRPr/>
            </a:pP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Robust</a:t>
            </a:r>
            <a:r>
              <a:rPr kumimoji="0" sz="2400" b="1" i="0" u="none" strike="noStrike" kern="0" cap="none" spc="-9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1" i="0" u="none" strike="noStrike" kern="0" cap="none" spc="-9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multi-</a:t>
            </a: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path</a:t>
            </a:r>
            <a:r>
              <a:rPr kumimoji="0" sz="2400" b="1" i="0" u="none" strike="noStrike" kern="0" cap="none" spc="-9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fading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153795" marR="0" lvl="2" indent="-22732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3795" algn="l"/>
              </a:tabLst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</a:rPr>
              <a:t>In wireless environments, signals reflect and arrive along multiple paths</a:t>
            </a:r>
          </a:p>
          <a:p>
            <a:pPr marL="1153795" marR="0" lvl="2" indent="-22732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3795" algn="l"/>
              </a:tabLst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</a:rPr>
              <a:t>Spreading the signal across many frequencies ensures that even if some parts are lost, others may arrive intact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</a:endParaRPr>
          </a:p>
          <a:p>
            <a:pPr marL="753745" marR="0" lvl="1" indent="-2844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–"/>
              <a:tabLst>
                <a:tab pos="753745" algn="l"/>
              </a:tabLst>
              <a:defRPr/>
            </a:pP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Supports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7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peer-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to-</a:t>
            </a: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peer</a:t>
            </a:r>
            <a:r>
              <a:rPr kumimoji="0" sz="2400" b="1" i="0" u="none" strike="noStrike" kern="0" cap="none" spc="-7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/>
                <a:cs typeface="Arial"/>
              </a:rPr>
              <a:t>communication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Tx/>
              <a:buFont typeface="Arial MT"/>
              <a:buChar char="–"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9900"/>
              </a:buClr>
              <a:buSzTx/>
              <a:buFont typeface="Arial MT"/>
              <a:buChar char="–"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2400" b="1" i="0" u="none" strike="noStrike" kern="0" cap="none" spc="-1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Collisions:</a:t>
            </a:r>
            <a:r>
              <a:rPr kumimoji="0" sz="2400" b="1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Receiver</a:t>
            </a:r>
            <a:r>
              <a:rPr kumimoji="0" sz="2400" b="0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2400" b="0" i="0" u="none" strike="noStrike" kern="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hear</a:t>
            </a:r>
            <a:r>
              <a:rPr kumimoji="0" sz="2400" b="0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≤1</a:t>
            </a:r>
            <a:r>
              <a:rPr kumimoji="0" sz="2400" b="0" i="0" u="none" strike="noStrike" kern="0" cap="none" spc="-2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strong</a:t>
            </a:r>
            <a:r>
              <a:rPr kumimoji="0" sz="2400" b="0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transmission</a:t>
            </a:r>
            <a:r>
              <a:rPr kumimoji="0" sz="2400" b="0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2400" b="0" i="0" u="none" strike="noStrike" kern="0" cap="none" spc="-2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2400" b="0" i="0" u="none" strike="noStrike" kern="0" cap="none" spc="-25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700" y="5406644"/>
            <a:ext cx="1545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24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9074" y="5458899"/>
            <a:ext cx="3238500" cy="330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deference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Ethernet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899" y="5775452"/>
            <a:ext cx="8146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–</a:t>
            </a:r>
            <a:r>
              <a:rPr kumimoji="0" sz="24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Listen</a:t>
            </a:r>
            <a:r>
              <a:rPr kumimoji="0" sz="24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2400" b="1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carrier</a:t>
            </a:r>
            <a:r>
              <a:rPr kumimoji="0" sz="2400" b="1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sense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24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CS)</a:t>
            </a:r>
            <a:r>
              <a:rPr kumimoji="0" sz="24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before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sending,</a:t>
            </a:r>
            <a:r>
              <a:rPr kumimoji="0" sz="24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1" i="0" u="none" strike="noStrike" kern="0" cap="none" spc="-4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defer</a:t>
            </a:r>
            <a:r>
              <a:rPr kumimoji="0" sz="2400" b="1" i="0" u="none" strike="noStrike" kern="0" cap="none" spc="-10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ongoing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B11A8AA-C8CE-FFA2-A751-BF946D260985}"/>
              </a:ext>
            </a:extLst>
          </p:cNvPr>
          <p:cNvSpPr txBox="1">
            <a:spLocks/>
          </p:cNvSpPr>
          <p:nvPr/>
        </p:nvSpPr>
        <p:spPr>
          <a:xfrm>
            <a:off x="175700" y="471931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3353" y="4834425"/>
            <a:ext cx="898580" cy="748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7969" y="5449478"/>
            <a:ext cx="877115" cy="636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1" name="Google Shape;1041;p79"/>
          <p:cNvGrpSpPr/>
          <p:nvPr/>
        </p:nvGrpSpPr>
        <p:grpSpPr>
          <a:xfrm>
            <a:off x="2563092" y="4287295"/>
            <a:ext cx="2991980" cy="2319461"/>
            <a:chOff x="2563092" y="4287295"/>
            <a:chExt cx="2991980" cy="2319461"/>
          </a:xfrm>
        </p:grpSpPr>
        <p:pic>
          <p:nvPicPr>
            <p:cNvPr id="1042" name="Google Shape;1042;p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84332" y="4287295"/>
              <a:ext cx="271542" cy="59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p7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584332" y="4287295"/>
              <a:ext cx="1046614" cy="95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59404" y="4638427"/>
              <a:ext cx="271542" cy="5993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7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90510" y="5116965"/>
              <a:ext cx="323836" cy="572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p7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490510" y="4698210"/>
              <a:ext cx="1064562" cy="99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7" name="Google Shape;1047;p7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31235" y="4698210"/>
              <a:ext cx="323837" cy="572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63092" y="5355033"/>
              <a:ext cx="898580" cy="748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7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707707" y="5970086"/>
              <a:ext cx="877115" cy="636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64071" y="4807903"/>
              <a:ext cx="271542" cy="59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7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664071" y="4807904"/>
              <a:ext cx="1046614" cy="95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2" name="Google Shape;1052;p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39143" y="5159036"/>
              <a:ext cx="271542" cy="5993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3" name="Google Shape;1053;p7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70249" y="5637574"/>
              <a:ext cx="323836" cy="572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4" name="Google Shape;1054;p7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570249" y="5218818"/>
              <a:ext cx="1064563" cy="991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5" name="Google Shape;1055;p7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310975" y="5218818"/>
              <a:ext cx="323837" cy="572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6" name="Google Shape;1056;p79"/>
          <p:cNvSpPr txBox="1">
            <a:spLocks noGrp="1"/>
          </p:cNvSpPr>
          <p:nvPr>
            <p:ph type="title"/>
          </p:nvPr>
        </p:nvSpPr>
        <p:spPr>
          <a:xfrm>
            <a:off x="205351" y="593850"/>
            <a:ext cx="7818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Concurrency versus Taking Turns</a:t>
            </a:r>
            <a:endParaRPr/>
          </a:p>
        </p:txBody>
      </p:sp>
      <p:sp>
        <p:nvSpPr>
          <p:cNvPr id="1057" name="Google Shape;1057;p79"/>
          <p:cNvSpPr/>
          <p:nvPr/>
        </p:nvSpPr>
        <p:spPr>
          <a:xfrm>
            <a:off x="6178036" y="1445699"/>
            <a:ext cx="1781175" cy="330200"/>
          </a:xfrm>
          <a:custGeom>
            <a:avLst/>
            <a:gdLst/>
            <a:ahLst/>
            <a:cxnLst/>
            <a:rect l="l" t="t" r="r" b="b"/>
            <a:pathLst>
              <a:path w="1781175" h="330200" extrusionOk="0">
                <a:moveTo>
                  <a:pt x="1781175" y="0"/>
                </a:moveTo>
                <a:lnTo>
                  <a:pt x="0" y="0"/>
                </a:lnTo>
                <a:lnTo>
                  <a:pt x="0" y="330200"/>
                </a:lnTo>
                <a:lnTo>
                  <a:pt x="1781175" y="330200"/>
                </a:lnTo>
                <a:lnTo>
                  <a:pt x="1781175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8" name="Google Shape;1058;p79"/>
          <p:cNvSpPr txBox="1"/>
          <p:nvPr/>
        </p:nvSpPr>
        <p:spPr>
          <a:xfrm>
            <a:off x="175700" y="1395476"/>
            <a:ext cx="789813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Far-apart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links should </a:t>
            </a:r>
            <a:r>
              <a:rPr lang="en-US" sz="24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send concurrently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i="1">
                <a:latin typeface="Arial"/>
                <a:ea typeface="Arial"/>
                <a:cs typeface="Arial"/>
                <a:sym typeface="Arial"/>
              </a:rPr>
              <a:t>spatial reuse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79"/>
          <p:cNvSpPr txBox="1"/>
          <p:nvPr/>
        </p:nvSpPr>
        <p:spPr>
          <a:xfrm>
            <a:off x="175700" y="3577844"/>
            <a:ext cx="448500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Nearby links should </a:t>
            </a:r>
            <a:r>
              <a:rPr lang="en-US" sz="24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take turns: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0" name="Google Shape;1060;p79"/>
          <p:cNvGrpSpPr/>
          <p:nvPr/>
        </p:nvGrpSpPr>
        <p:grpSpPr>
          <a:xfrm>
            <a:off x="762000" y="1866929"/>
            <a:ext cx="2064123" cy="1571105"/>
            <a:chOff x="762000" y="1866929"/>
            <a:chExt cx="2064123" cy="1571105"/>
          </a:xfrm>
        </p:grpSpPr>
        <p:pic>
          <p:nvPicPr>
            <p:cNvPr id="1061" name="Google Shape;1061;p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2000" y="2414059"/>
              <a:ext cx="898580" cy="748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2" name="Google Shape;1062;p7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99019" y="2801364"/>
              <a:ext cx="877115" cy="636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3" name="Google Shape;1063;p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2979" y="1866929"/>
              <a:ext cx="271541" cy="59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7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2979" y="1866929"/>
              <a:ext cx="1046613" cy="95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638052" y="2218061"/>
              <a:ext cx="271541" cy="5993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6" name="Google Shape;1066;p7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61559" y="2468851"/>
              <a:ext cx="323838" cy="572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7" name="Google Shape;1067;p7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761559" y="2050097"/>
              <a:ext cx="1064563" cy="99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8" name="Google Shape;1068;p7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502286" y="2050097"/>
              <a:ext cx="323837" cy="5728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79"/>
          <p:cNvGrpSpPr/>
          <p:nvPr/>
        </p:nvGrpSpPr>
        <p:grpSpPr>
          <a:xfrm>
            <a:off x="5883219" y="1811618"/>
            <a:ext cx="2098643" cy="1854164"/>
            <a:chOff x="5883219" y="1811618"/>
            <a:chExt cx="2098643" cy="1854164"/>
          </a:xfrm>
        </p:grpSpPr>
        <p:pic>
          <p:nvPicPr>
            <p:cNvPr id="1070" name="Google Shape;1070;p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83219" y="2414059"/>
              <a:ext cx="898580" cy="748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1" name="Google Shape;1071;p7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71484" y="3029112"/>
              <a:ext cx="877115" cy="636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2" name="Google Shape;1072;p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95261" y="1811618"/>
              <a:ext cx="271542" cy="599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3" name="Google Shape;1073;p7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95261" y="1811618"/>
              <a:ext cx="1046614" cy="95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4" name="Google Shape;1074;p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970334" y="2162750"/>
              <a:ext cx="271542" cy="5993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5" name="Google Shape;1075;p7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917298" y="2685103"/>
              <a:ext cx="323836" cy="572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6" name="Google Shape;1076;p7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917298" y="2266347"/>
              <a:ext cx="1064563" cy="99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7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7658025" y="2266347"/>
              <a:ext cx="323837" cy="572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8" name="Google Shape;1078;p79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18F93BB-2B6F-B385-E6BE-5721FA4D0BBE}"/>
              </a:ext>
            </a:extLst>
          </p:cNvPr>
          <p:cNvSpPr txBox="1">
            <a:spLocks/>
          </p:cNvSpPr>
          <p:nvPr/>
        </p:nvSpPr>
        <p:spPr>
          <a:xfrm>
            <a:off x="136731" y="490779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0"/>
          <p:cNvSpPr txBox="1">
            <a:spLocks noGrp="1"/>
          </p:cNvSpPr>
          <p:nvPr>
            <p:ph type="title"/>
          </p:nvPr>
        </p:nvSpPr>
        <p:spPr>
          <a:xfrm>
            <a:off x="1741799" y="593850"/>
            <a:ext cx="6594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Does CS Work Well?</a:t>
            </a:r>
            <a:endParaRPr/>
          </a:p>
        </p:txBody>
      </p:sp>
      <p:sp>
        <p:nvSpPr>
          <p:cNvPr id="1084" name="Google Shape;1084;p80"/>
          <p:cNvSpPr txBox="1"/>
          <p:nvPr/>
        </p:nvSpPr>
        <p:spPr>
          <a:xfrm>
            <a:off x="175700" y="1395476"/>
            <a:ext cx="7665720" cy="74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Two transmission pairs are </a:t>
            </a:r>
            <a:r>
              <a:rPr lang="en-US" sz="24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far away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from each other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69265" lvl="0" indent="0" algn="l" rtl="0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Neither sender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carrier-senses the other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80"/>
          <p:cNvSpPr txBox="1"/>
          <p:nvPr/>
        </p:nvSpPr>
        <p:spPr>
          <a:xfrm>
            <a:off x="2033813" y="3574795"/>
            <a:ext cx="7493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6" name="Google Shape;1086;p80"/>
          <p:cNvGrpSpPr/>
          <p:nvPr/>
        </p:nvGrpSpPr>
        <p:grpSpPr>
          <a:xfrm>
            <a:off x="1728216" y="3048000"/>
            <a:ext cx="1703832" cy="1700783"/>
            <a:chOff x="1728216" y="3048000"/>
            <a:chExt cx="1703832" cy="1700783"/>
          </a:xfrm>
        </p:grpSpPr>
        <p:pic>
          <p:nvPicPr>
            <p:cNvPr id="1087" name="Google Shape;1087;p8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28216" y="3048000"/>
              <a:ext cx="1703832" cy="17007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80"/>
            <p:cNvSpPr/>
            <p:nvPr/>
          </p:nvSpPr>
          <p:spPr>
            <a:xfrm>
              <a:off x="1784385" y="3081110"/>
              <a:ext cx="1591310" cy="1588770"/>
            </a:xfrm>
            <a:custGeom>
              <a:avLst/>
              <a:gdLst/>
              <a:ahLst/>
              <a:cxnLst/>
              <a:rect l="l" t="t" r="r" b="b"/>
              <a:pathLst>
                <a:path w="1591310" h="1588770" extrusionOk="0">
                  <a:moveTo>
                    <a:pt x="0" y="794203"/>
                  </a:moveTo>
                  <a:lnTo>
                    <a:pt x="1451" y="745822"/>
                  </a:lnTo>
                  <a:lnTo>
                    <a:pt x="5751" y="698208"/>
                  </a:lnTo>
                  <a:lnTo>
                    <a:pt x="12817" y="651444"/>
                  </a:lnTo>
                  <a:lnTo>
                    <a:pt x="22563" y="605612"/>
                  </a:lnTo>
                  <a:lnTo>
                    <a:pt x="34909" y="560797"/>
                  </a:lnTo>
                  <a:lnTo>
                    <a:pt x="49770" y="517080"/>
                  </a:lnTo>
                  <a:lnTo>
                    <a:pt x="67063" y="474545"/>
                  </a:lnTo>
                  <a:lnTo>
                    <a:pt x="86705" y="433275"/>
                  </a:lnTo>
                  <a:lnTo>
                    <a:pt x="108612" y="393353"/>
                  </a:lnTo>
                  <a:lnTo>
                    <a:pt x="132703" y="354863"/>
                  </a:lnTo>
                  <a:lnTo>
                    <a:pt x="158892" y="317887"/>
                  </a:lnTo>
                  <a:lnTo>
                    <a:pt x="187098" y="282508"/>
                  </a:lnTo>
                  <a:lnTo>
                    <a:pt x="217236" y="248809"/>
                  </a:lnTo>
                  <a:lnTo>
                    <a:pt x="249224" y="216875"/>
                  </a:lnTo>
                  <a:lnTo>
                    <a:pt x="282979" y="186786"/>
                  </a:lnTo>
                  <a:lnTo>
                    <a:pt x="318417" y="158628"/>
                  </a:lnTo>
                  <a:lnTo>
                    <a:pt x="355455" y="132482"/>
                  </a:lnTo>
                  <a:lnTo>
                    <a:pt x="394009" y="108432"/>
                  </a:lnTo>
                  <a:lnTo>
                    <a:pt x="433998" y="86560"/>
                  </a:lnTo>
                  <a:lnTo>
                    <a:pt x="475336" y="66951"/>
                  </a:lnTo>
                  <a:lnTo>
                    <a:pt x="517942" y="49687"/>
                  </a:lnTo>
                  <a:lnTo>
                    <a:pt x="561732" y="34851"/>
                  </a:lnTo>
                  <a:lnTo>
                    <a:pt x="606622" y="22526"/>
                  </a:lnTo>
                  <a:lnTo>
                    <a:pt x="652530" y="12795"/>
                  </a:lnTo>
                  <a:lnTo>
                    <a:pt x="699373" y="5742"/>
                  </a:lnTo>
                  <a:lnTo>
                    <a:pt x="747066" y="1449"/>
                  </a:lnTo>
                  <a:lnTo>
                    <a:pt x="795528" y="0"/>
                  </a:lnTo>
                  <a:lnTo>
                    <a:pt x="843989" y="1449"/>
                  </a:lnTo>
                  <a:lnTo>
                    <a:pt x="891682" y="5742"/>
                  </a:lnTo>
                  <a:lnTo>
                    <a:pt x="938525" y="12795"/>
                  </a:lnTo>
                  <a:lnTo>
                    <a:pt x="984433" y="22526"/>
                  </a:lnTo>
                  <a:lnTo>
                    <a:pt x="1029323" y="34851"/>
                  </a:lnTo>
                  <a:lnTo>
                    <a:pt x="1073113" y="49687"/>
                  </a:lnTo>
                  <a:lnTo>
                    <a:pt x="1115719" y="66951"/>
                  </a:lnTo>
                  <a:lnTo>
                    <a:pt x="1157057" y="86560"/>
                  </a:lnTo>
                  <a:lnTo>
                    <a:pt x="1197046" y="108432"/>
                  </a:lnTo>
                  <a:lnTo>
                    <a:pt x="1235600" y="132482"/>
                  </a:lnTo>
                  <a:lnTo>
                    <a:pt x="1272638" y="158628"/>
                  </a:lnTo>
                  <a:lnTo>
                    <a:pt x="1308076" y="186786"/>
                  </a:lnTo>
                  <a:lnTo>
                    <a:pt x="1341831" y="216875"/>
                  </a:lnTo>
                  <a:lnTo>
                    <a:pt x="1373819" y="248809"/>
                  </a:lnTo>
                  <a:lnTo>
                    <a:pt x="1403957" y="282508"/>
                  </a:lnTo>
                  <a:lnTo>
                    <a:pt x="1432163" y="317887"/>
                  </a:lnTo>
                  <a:lnTo>
                    <a:pt x="1458352" y="354863"/>
                  </a:lnTo>
                  <a:lnTo>
                    <a:pt x="1482443" y="393353"/>
                  </a:lnTo>
                  <a:lnTo>
                    <a:pt x="1504350" y="433275"/>
                  </a:lnTo>
                  <a:lnTo>
                    <a:pt x="1523992" y="474545"/>
                  </a:lnTo>
                  <a:lnTo>
                    <a:pt x="1541285" y="517080"/>
                  </a:lnTo>
                  <a:lnTo>
                    <a:pt x="1556146" y="560797"/>
                  </a:lnTo>
                  <a:lnTo>
                    <a:pt x="1568492" y="605612"/>
                  </a:lnTo>
                  <a:lnTo>
                    <a:pt x="1578239" y="651444"/>
                  </a:lnTo>
                  <a:lnTo>
                    <a:pt x="1585304" y="698208"/>
                  </a:lnTo>
                  <a:lnTo>
                    <a:pt x="1589604" y="745822"/>
                  </a:lnTo>
                  <a:lnTo>
                    <a:pt x="1591056" y="794203"/>
                  </a:lnTo>
                  <a:lnTo>
                    <a:pt x="1589604" y="842584"/>
                  </a:lnTo>
                  <a:lnTo>
                    <a:pt x="1585304" y="890198"/>
                  </a:lnTo>
                  <a:lnTo>
                    <a:pt x="1578239" y="936962"/>
                  </a:lnTo>
                  <a:lnTo>
                    <a:pt x="1568492" y="982794"/>
                  </a:lnTo>
                  <a:lnTo>
                    <a:pt x="1556146" y="1027609"/>
                  </a:lnTo>
                  <a:lnTo>
                    <a:pt x="1541285" y="1071326"/>
                  </a:lnTo>
                  <a:lnTo>
                    <a:pt x="1523992" y="1113861"/>
                  </a:lnTo>
                  <a:lnTo>
                    <a:pt x="1504350" y="1155131"/>
                  </a:lnTo>
                  <a:lnTo>
                    <a:pt x="1482443" y="1195053"/>
                  </a:lnTo>
                  <a:lnTo>
                    <a:pt x="1458352" y="1233543"/>
                  </a:lnTo>
                  <a:lnTo>
                    <a:pt x="1432163" y="1270519"/>
                  </a:lnTo>
                  <a:lnTo>
                    <a:pt x="1403957" y="1305898"/>
                  </a:lnTo>
                  <a:lnTo>
                    <a:pt x="1373819" y="1339597"/>
                  </a:lnTo>
                  <a:lnTo>
                    <a:pt x="1341831" y="1371532"/>
                  </a:lnTo>
                  <a:lnTo>
                    <a:pt x="1308076" y="1401620"/>
                  </a:lnTo>
                  <a:lnTo>
                    <a:pt x="1272638" y="1429778"/>
                  </a:lnTo>
                  <a:lnTo>
                    <a:pt x="1235600" y="1455924"/>
                  </a:lnTo>
                  <a:lnTo>
                    <a:pt x="1197046" y="1479974"/>
                  </a:lnTo>
                  <a:lnTo>
                    <a:pt x="1157057" y="1501846"/>
                  </a:lnTo>
                  <a:lnTo>
                    <a:pt x="1115719" y="1521455"/>
                  </a:lnTo>
                  <a:lnTo>
                    <a:pt x="1073113" y="1538719"/>
                  </a:lnTo>
                  <a:lnTo>
                    <a:pt x="1029323" y="1553555"/>
                  </a:lnTo>
                  <a:lnTo>
                    <a:pt x="984433" y="1565880"/>
                  </a:lnTo>
                  <a:lnTo>
                    <a:pt x="938525" y="1575611"/>
                  </a:lnTo>
                  <a:lnTo>
                    <a:pt x="891682" y="1582664"/>
                  </a:lnTo>
                  <a:lnTo>
                    <a:pt x="843989" y="1586957"/>
                  </a:lnTo>
                  <a:lnTo>
                    <a:pt x="795528" y="1588407"/>
                  </a:lnTo>
                  <a:lnTo>
                    <a:pt x="747066" y="1586957"/>
                  </a:lnTo>
                  <a:lnTo>
                    <a:pt x="699373" y="1582664"/>
                  </a:lnTo>
                  <a:lnTo>
                    <a:pt x="652530" y="1575611"/>
                  </a:lnTo>
                  <a:lnTo>
                    <a:pt x="606622" y="1565880"/>
                  </a:lnTo>
                  <a:lnTo>
                    <a:pt x="561732" y="1553555"/>
                  </a:lnTo>
                  <a:lnTo>
                    <a:pt x="517942" y="1538719"/>
                  </a:lnTo>
                  <a:lnTo>
                    <a:pt x="475336" y="1521455"/>
                  </a:lnTo>
                  <a:lnTo>
                    <a:pt x="433998" y="1501846"/>
                  </a:lnTo>
                  <a:lnTo>
                    <a:pt x="394009" y="1479974"/>
                  </a:lnTo>
                  <a:lnTo>
                    <a:pt x="355455" y="1455924"/>
                  </a:lnTo>
                  <a:lnTo>
                    <a:pt x="318417" y="1429778"/>
                  </a:lnTo>
                  <a:lnTo>
                    <a:pt x="282979" y="1401620"/>
                  </a:lnTo>
                  <a:lnTo>
                    <a:pt x="249224" y="1371532"/>
                  </a:lnTo>
                  <a:lnTo>
                    <a:pt x="217236" y="1339597"/>
                  </a:lnTo>
                  <a:lnTo>
                    <a:pt x="187098" y="1305898"/>
                  </a:lnTo>
                  <a:lnTo>
                    <a:pt x="158892" y="1270519"/>
                  </a:lnTo>
                  <a:lnTo>
                    <a:pt x="132703" y="1233543"/>
                  </a:lnTo>
                  <a:lnTo>
                    <a:pt x="108612" y="1195053"/>
                  </a:lnTo>
                  <a:lnTo>
                    <a:pt x="86705" y="1155131"/>
                  </a:lnTo>
                  <a:lnTo>
                    <a:pt x="67063" y="1113861"/>
                  </a:lnTo>
                  <a:lnTo>
                    <a:pt x="49770" y="1071326"/>
                  </a:lnTo>
                  <a:lnTo>
                    <a:pt x="34909" y="1027609"/>
                  </a:lnTo>
                  <a:lnTo>
                    <a:pt x="22563" y="982794"/>
                  </a:lnTo>
                  <a:lnTo>
                    <a:pt x="12817" y="936962"/>
                  </a:lnTo>
                  <a:lnTo>
                    <a:pt x="5751" y="890198"/>
                  </a:lnTo>
                  <a:lnTo>
                    <a:pt x="1451" y="842584"/>
                  </a:lnTo>
                  <a:lnTo>
                    <a:pt x="0" y="794203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89" name="Google Shape;1089;p80"/>
          <p:cNvSpPr txBox="1"/>
          <p:nvPr/>
        </p:nvSpPr>
        <p:spPr>
          <a:xfrm>
            <a:off x="5966714" y="3574795"/>
            <a:ext cx="7493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baseline="-25000">
                <a:solidFill>
                  <a:srgbClr val="604A7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6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0" name="Google Shape;1090;p80"/>
          <p:cNvGrpSpPr/>
          <p:nvPr/>
        </p:nvGrpSpPr>
        <p:grpSpPr>
          <a:xfrm>
            <a:off x="5660135" y="3048000"/>
            <a:ext cx="1703832" cy="1700783"/>
            <a:chOff x="5660135" y="3048000"/>
            <a:chExt cx="1703832" cy="1700783"/>
          </a:xfrm>
        </p:grpSpPr>
        <p:pic>
          <p:nvPicPr>
            <p:cNvPr id="1091" name="Google Shape;1091;p8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0135" y="3048000"/>
              <a:ext cx="1703832" cy="17007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80"/>
            <p:cNvSpPr/>
            <p:nvPr/>
          </p:nvSpPr>
          <p:spPr>
            <a:xfrm>
              <a:off x="5717285" y="3081110"/>
              <a:ext cx="1591310" cy="1588770"/>
            </a:xfrm>
            <a:custGeom>
              <a:avLst/>
              <a:gdLst/>
              <a:ahLst/>
              <a:cxnLst/>
              <a:rect l="l" t="t" r="r" b="b"/>
              <a:pathLst>
                <a:path w="1591309" h="1588770" extrusionOk="0">
                  <a:moveTo>
                    <a:pt x="0" y="794203"/>
                  </a:moveTo>
                  <a:lnTo>
                    <a:pt x="1451" y="745822"/>
                  </a:lnTo>
                  <a:lnTo>
                    <a:pt x="5751" y="698208"/>
                  </a:lnTo>
                  <a:lnTo>
                    <a:pt x="12817" y="651444"/>
                  </a:lnTo>
                  <a:lnTo>
                    <a:pt x="22563" y="605612"/>
                  </a:lnTo>
                  <a:lnTo>
                    <a:pt x="34909" y="560797"/>
                  </a:lnTo>
                  <a:lnTo>
                    <a:pt x="49770" y="517080"/>
                  </a:lnTo>
                  <a:lnTo>
                    <a:pt x="67063" y="474545"/>
                  </a:lnTo>
                  <a:lnTo>
                    <a:pt x="86705" y="433275"/>
                  </a:lnTo>
                  <a:lnTo>
                    <a:pt x="108612" y="393353"/>
                  </a:lnTo>
                  <a:lnTo>
                    <a:pt x="132703" y="354863"/>
                  </a:lnTo>
                  <a:lnTo>
                    <a:pt x="158892" y="317887"/>
                  </a:lnTo>
                  <a:lnTo>
                    <a:pt x="187098" y="282508"/>
                  </a:lnTo>
                  <a:lnTo>
                    <a:pt x="217236" y="248809"/>
                  </a:lnTo>
                  <a:lnTo>
                    <a:pt x="249224" y="216875"/>
                  </a:lnTo>
                  <a:lnTo>
                    <a:pt x="282979" y="186786"/>
                  </a:lnTo>
                  <a:lnTo>
                    <a:pt x="318417" y="158628"/>
                  </a:lnTo>
                  <a:lnTo>
                    <a:pt x="355455" y="132482"/>
                  </a:lnTo>
                  <a:lnTo>
                    <a:pt x="394009" y="108432"/>
                  </a:lnTo>
                  <a:lnTo>
                    <a:pt x="433998" y="86560"/>
                  </a:lnTo>
                  <a:lnTo>
                    <a:pt x="475336" y="66951"/>
                  </a:lnTo>
                  <a:lnTo>
                    <a:pt x="517942" y="49687"/>
                  </a:lnTo>
                  <a:lnTo>
                    <a:pt x="561732" y="34851"/>
                  </a:lnTo>
                  <a:lnTo>
                    <a:pt x="606622" y="22526"/>
                  </a:lnTo>
                  <a:lnTo>
                    <a:pt x="652530" y="12795"/>
                  </a:lnTo>
                  <a:lnTo>
                    <a:pt x="699373" y="5742"/>
                  </a:lnTo>
                  <a:lnTo>
                    <a:pt x="747066" y="1449"/>
                  </a:lnTo>
                  <a:lnTo>
                    <a:pt x="795528" y="0"/>
                  </a:lnTo>
                  <a:lnTo>
                    <a:pt x="843989" y="1449"/>
                  </a:lnTo>
                  <a:lnTo>
                    <a:pt x="891682" y="5742"/>
                  </a:lnTo>
                  <a:lnTo>
                    <a:pt x="938525" y="12795"/>
                  </a:lnTo>
                  <a:lnTo>
                    <a:pt x="984433" y="22526"/>
                  </a:lnTo>
                  <a:lnTo>
                    <a:pt x="1029323" y="34851"/>
                  </a:lnTo>
                  <a:lnTo>
                    <a:pt x="1073113" y="49687"/>
                  </a:lnTo>
                  <a:lnTo>
                    <a:pt x="1115719" y="66951"/>
                  </a:lnTo>
                  <a:lnTo>
                    <a:pt x="1157057" y="86560"/>
                  </a:lnTo>
                  <a:lnTo>
                    <a:pt x="1197046" y="108432"/>
                  </a:lnTo>
                  <a:lnTo>
                    <a:pt x="1235600" y="132482"/>
                  </a:lnTo>
                  <a:lnTo>
                    <a:pt x="1272638" y="158628"/>
                  </a:lnTo>
                  <a:lnTo>
                    <a:pt x="1308076" y="186786"/>
                  </a:lnTo>
                  <a:lnTo>
                    <a:pt x="1341831" y="216875"/>
                  </a:lnTo>
                  <a:lnTo>
                    <a:pt x="1373819" y="248809"/>
                  </a:lnTo>
                  <a:lnTo>
                    <a:pt x="1403957" y="282508"/>
                  </a:lnTo>
                  <a:lnTo>
                    <a:pt x="1432163" y="317887"/>
                  </a:lnTo>
                  <a:lnTo>
                    <a:pt x="1458352" y="354863"/>
                  </a:lnTo>
                  <a:lnTo>
                    <a:pt x="1482443" y="393353"/>
                  </a:lnTo>
                  <a:lnTo>
                    <a:pt x="1504350" y="433275"/>
                  </a:lnTo>
                  <a:lnTo>
                    <a:pt x="1523992" y="474545"/>
                  </a:lnTo>
                  <a:lnTo>
                    <a:pt x="1541285" y="517080"/>
                  </a:lnTo>
                  <a:lnTo>
                    <a:pt x="1556146" y="560797"/>
                  </a:lnTo>
                  <a:lnTo>
                    <a:pt x="1568492" y="605612"/>
                  </a:lnTo>
                  <a:lnTo>
                    <a:pt x="1578239" y="651444"/>
                  </a:lnTo>
                  <a:lnTo>
                    <a:pt x="1585304" y="698208"/>
                  </a:lnTo>
                  <a:lnTo>
                    <a:pt x="1589604" y="745822"/>
                  </a:lnTo>
                  <a:lnTo>
                    <a:pt x="1591056" y="794203"/>
                  </a:lnTo>
                  <a:lnTo>
                    <a:pt x="1589604" y="842584"/>
                  </a:lnTo>
                  <a:lnTo>
                    <a:pt x="1585304" y="890198"/>
                  </a:lnTo>
                  <a:lnTo>
                    <a:pt x="1578239" y="936962"/>
                  </a:lnTo>
                  <a:lnTo>
                    <a:pt x="1568492" y="982794"/>
                  </a:lnTo>
                  <a:lnTo>
                    <a:pt x="1556146" y="1027609"/>
                  </a:lnTo>
                  <a:lnTo>
                    <a:pt x="1541285" y="1071326"/>
                  </a:lnTo>
                  <a:lnTo>
                    <a:pt x="1523992" y="1113861"/>
                  </a:lnTo>
                  <a:lnTo>
                    <a:pt x="1504350" y="1155131"/>
                  </a:lnTo>
                  <a:lnTo>
                    <a:pt x="1482443" y="1195053"/>
                  </a:lnTo>
                  <a:lnTo>
                    <a:pt x="1458352" y="1233543"/>
                  </a:lnTo>
                  <a:lnTo>
                    <a:pt x="1432163" y="1270519"/>
                  </a:lnTo>
                  <a:lnTo>
                    <a:pt x="1403957" y="1305898"/>
                  </a:lnTo>
                  <a:lnTo>
                    <a:pt x="1373819" y="1339597"/>
                  </a:lnTo>
                  <a:lnTo>
                    <a:pt x="1341831" y="1371532"/>
                  </a:lnTo>
                  <a:lnTo>
                    <a:pt x="1308076" y="1401620"/>
                  </a:lnTo>
                  <a:lnTo>
                    <a:pt x="1272638" y="1429778"/>
                  </a:lnTo>
                  <a:lnTo>
                    <a:pt x="1235600" y="1455924"/>
                  </a:lnTo>
                  <a:lnTo>
                    <a:pt x="1197046" y="1479974"/>
                  </a:lnTo>
                  <a:lnTo>
                    <a:pt x="1157057" y="1501846"/>
                  </a:lnTo>
                  <a:lnTo>
                    <a:pt x="1115719" y="1521455"/>
                  </a:lnTo>
                  <a:lnTo>
                    <a:pt x="1073113" y="1538719"/>
                  </a:lnTo>
                  <a:lnTo>
                    <a:pt x="1029323" y="1553555"/>
                  </a:lnTo>
                  <a:lnTo>
                    <a:pt x="984433" y="1565880"/>
                  </a:lnTo>
                  <a:lnTo>
                    <a:pt x="938525" y="1575611"/>
                  </a:lnTo>
                  <a:lnTo>
                    <a:pt x="891682" y="1582664"/>
                  </a:lnTo>
                  <a:lnTo>
                    <a:pt x="843989" y="1586957"/>
                  </a:lnTo>
                  <a:lnTo>
                    <a:pt x="795528" y="1588407"/>
                  </a:lnTo>
                  <a:lnTo>
                    <a:pt x="747066" y="1586957"/>
                  </a:lnTo>
                  <a:lnTo>
                    <a:pt x="699373" y="1582664"/>
                  </a:lnTo>
                  <a:lnTo>
                    <a:pt x="652530" y="1575611"/>
                  </a:lnTo>
                  <a:lnTo>
                    <a:pt x="606622" y="1565880"/>
                  </a:lnTo>
                  <a:lnTo>
                    <a:pt x="561732" y="1553555"/>
                  </a:lnTo>
                  <a:lnTo>
                    <a:pt x="517942" y="1538719"/>
                  </a:lnTo>
                  <a:lnTo>
                    <a:pt x="475336" y="1521455"/>
                  </a:lnTo>
                  <a:lnTo>
                    <a:pt x="433998" y="1501846"/>
                  </a:lnTo>
                  <a:lnTo>
                    <a:pt x="394009" y="1479974"/>
                  </a:lnTo>
                  <a:lnTo>
                    <a:pt x="355455" y="1455924"/>
                  </a:lnTo>
                  <a:lnTo>
                    <a:pt x="318417" y="1429778"/>
                  </a:lnTo>
                  <a:lnTo>
                    <a:pt x="282979" y="1401620"/>
                  </a:lnTo>
                  <a:lnTo>
                    <a:pt x="249224" y="1371532"/>
                  </a:lnTo>
                  <a:lnTo>
                    <a:pt x="217236" y="1339597"/>
                  </a:lnTo>
                  <a:lnTo>
                    <a:pt x="187098" y="1305898"/>
                  </a:lnTo>
                  <a:lnTo>
                    <a:pt x="158892" y="1270519"/>
                  </a:lnTo>
                  <a:lnTo>
                    <a:pt x="132703" y="1233543"/>
                  </a:lnTo>
                  <a:lnTo>
                    <a:pt x="108612" y="1195053"/>
                  </a:lnTo>
                  <a:lnTo>
                    <a:pt x="86705" y="1155131"/>
                  </a:lnTo>
                  <a:lnTo>
                    <a:pt x="67063" y="1113861"/>
                  </a:lnTo>
                  <a:lnTo>
                    <a:pt x="49770" y="1071326"/>
                  </a:lnTo>
                  <a:lnTo>
                    <a:pt x="34909" y="1027609"/>
                  </a:lnTo>
                  <a:lnTo>
                    <a:pt x="22563" y="982794"/>
                  </a:lnTo>
                  <a:lnTo>
                    <a:pt x="12817" y="936962"/>
                  </a:lnTo>
                  <a:lnTo>
                    <a:pt x="5751" y="890198"/>
                  </a:lnTo>
                  <a:lnTo>
                    <a:pt x="1451" y="842584"/>
                  </a:lnTo>
                  <a:lnTo>
                    <a:pt x="0" y="794203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93" name="Google Shape;1093;p80"/>
          <p:cNvSpPr txBox="1"/>
          <p:nvPr/>
        </p:nvSpPr>
        <p:spPr>
          <a:xfrm>
            <a:off x="1378522" y="5750052"/>
            <a:ext cx="631063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B transmits to A, </a:t>
            </a:r>
            <a:r>
              <a:rPr lang="en-US" sz="26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D transmits to C.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80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1EA8573-E882-D2E7-BAE0-644873474E6E}"/>
              </a:ext>
            </a:extLst>
          </p:cNvPr>
          <p:cNvSpPr txBox="1">
            <a:spLocks/>
          </p:cNvSpPr>
          <p:nvPr/>
        </p:nvSpPr>
        <p:spPr>
          <a:xfrm>
            <a:off x="175700" y="452674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1"/>
          <p:cNvSpPr txBox="1">
            <a:spLocks noGrp="1"/>
          </p:cNvSpPr>
          <p:nvPr>
            <p:ph type="title"/>
          </p:nvPr>
        </p:nvSpPr>
        <p:spPr>
          <a:xfrm>
            <a:off x="1741799" y="593850"/>
            <a:ext cx="6870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Does CS Work Well?</a:t>
            </a:r>
            <a:endParaRPr/>
          </a:p>
        </p:txBody>
      </p:sp>
      <p:grpSp>
        <p:nvGrpSpPr>
          <p:cNvPr id="1100" name="Google Shape;1100;p81"/>
          <p:cNvGrpSpPr/>
          <p:nvPr/>
        </p:nvGrpSpPr>
        <p:grpSpPr>
          <a:xfrm>
            <a:off x="3297935" y="3465576"/>
            <a:ext cx="2237232" cy="1798320"/>
            <a:chOff x="3297935" y="3465576"/>
            <a:chExt cx="2237232" cy="1798320"/>
          </a:xfrm>
        </p:grpSpPr>
        <p:pic>
          <p:nvPicPr>
            <p:cNvPr id="1101" name="Google Shape;1101;p8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97935" y="3465576"/>
              <a:ext cx="1703832" cy="1700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2" name="Google Shape;1102;p81"/>
            <p:cNvSpPr/>
            <p:nvPr/>
          </p:nvSpPr>
          <p:spPr>
            <a:xfrm>
              <a:off x="3355084" y="3499044"/>
              <a:ext cx="1591310" cy="1588770"/>
            </a:xfrm>
            <a:custGeom>
              <a:avLst/>
              <a:gdLst/>
              <a:ahLst/>
              <a:cxnLst/>
              <a:rect l="l" t="t" r="r" b="b"/>
              <a:pathLst>
                <a:path w="1591310" h="1588770" extrusionOk="0">
                  <a:moveTo>
                    <a:pt x="0" y="794203"/>
                  </a:moveTo>
                  <a:lnTo>
                    <a:pt x="1451" y="745822"/>
                  </a:lnTo>
                  <a:lnTo>
                    <a:pt x="5751" y="698208"/>
                  </a:lnTo>
                  <a:lnTo>
                    <a:pt x="12817" y="651444"/>
                  </a:lnTo>
                  <a:lnTo>
                    <a:pt x="22563" y="605612"/>
                  </a:lnTo>
                  <a:lnTo>
                    <a:pt x="34909" y="560797"/>
                  </a:lnTo>
                  <a:lnTo>
                    <a:pt x="49770" y="517080"/>
                  </a:lnTo>
                  <a:lnTo>
                    <a:pt x="67063" y="474545"/>
                  </a:lnTo>
                  <a:lnTo>
                    <a:pt x="86705" y="433275"/>
                  </a:lnTo>
                  <a:lnTo>
                    <a:pt x="108612" y="393353"/>
                  </a:lnTo>
                  <a:lnTo>
                    <a:pt x="132703" y="354863"/>
                  </a:lnTo>
                  <a:lnTo>
                    <a:pt x="158892" y="317887"/>
                  </a:lnTo>
                  <a:lnTo>
                    <a:pt x="187098" y="282508"/>
                  </a:lnTo>
                  <a:lnTo>
                    <a:pt x="217236" y="248809"/>
                  </a:lnTo>
                  <a:lnTo>
                    <a:pt x="249224" y="216875"/>
                  </a:lnTo>
                  <a:lnTo>
                    <a:pt x="282979" y="186786"/>
                  </a:lnTo>
                  <a:lnTo>
                    <a:pt x="318417" y="158628"/>
                  </a:lnTo>
                  <a:lnTo>
                    <a:pt x="355455" y="132482"/>
                  </a:lnTo>
                  <a:lnTo>
                    <a:pt x="394009" y="108432"/>
                  </a:lnTo>
                  <a:lnTo>
                    <a:pt x="433998" y="86560"/>
                  </a:lnTo>
                  <a:lnTo>
                    <a:pt x="475336" y="66951"/>
                  </a:lnTo>
                  <a:lnTo>
                    <a:pt x="517942" y="49687"/>
                  </a:lnTo>
                  <a:lnTo>
                    <a:pt x="561732" y="34851"/>
                  </a:lnTo>
                  <a:lnTo>
                    <a:pt x="606622" y="22526"/>
                  </a:lnTo>
                  <a:lnTo>
                    <a:pt x="652530" y="12795"/>
                  </a:lnTo>
                  <a:lnTo>
                    <a:pt x="699373" y="5742"/>
                  </a:lnTo>
                  <a:lnTo>
                    <a:pt x="747066" y="1449"/>
                  </a:lnTo>
                  <a:lnTo>
                    <a:pt x="795528" y="0"/>
                  </a:lnTo>
                  <a:lnTo>
                    <a:pt x="843989" y="1449"/>
                  </a:lnTo>
                  <a:lnTo>
                    <a:pt x="891682" y="5742"/>
                  </a:lnTo>
                  <a:lnTo>
                    <a:pt x="938525" y="12795"/>
                  </a:lnTo>
                  <a:lnTo>
                    <a:pt x="984433" y="22526"/>
                  </a:lnTo>
                  <a:lnTo>
                    <a:pt x="1029323" y="34851"/>
                  </a:lnTo>
                  <a:lnTo>
                    <a:pt x="1073113" y="49687"/>
                  </a:lnTo>
                  <a:lnTo>
                    <a:pt x="1115719" y="66951"/>
                  </a:lnTo>
                  <a:lnTo>
                    <a:pt x="1157057" y="86560"/>
                  </a:lnTo>
                  <a:lnTo>
                    <a:pt x="1197046" y="108432"/>
                  </a:lnTo>
                  <a:lnTo>
                    <a:pt x="1235600" y="132482"/>
                  </a:lnTo>
                  <a:lnTo>
                    <a:pt x="1272638" y="158628"/>
                  </a:lnTo>
                  <a:lnTo>
                    <a:pt x="1308076" y="186786"/>
                  </a:lnTo>
                  <a:lnTo>
                    <a:pt x="1341831" y="216875"/>
                  </a:lnTo>
                  <a:lnTo>
                    <a:pt x="1373819" y="248809"/>
                  </a:lnTo>
                  <a:lnTo>
                    <a:pt x="1403957" y="282508"/>
                  </a:lnTo>
                  <a:lnTo>
                    <a:pt x="1432163" y="317887"/>
                  </a:lnTo>
                  <a:lnTo>
                    <a:pt x="1458352" y="354863"/>
                  </a:lnTo>
                  <a:lnTo>
                    <a:pt x="1482443" y="393353"/>
                  </a:lnTo>
                  <a:lnTo>
                    <a:pt x="1504350" y="433275"/>
                  </a:lnTo>
                  <a:lnTo>
                    <a:pt x="1523992" y="474545"/>
                  </a:lnTo>
                  <a:lnTo>
                    <a:pt x="1541285" y="517080"/>
                  </a:lnTo>
                  <a:lnTo>
                    <a:pt x="1556146" y="560797"/>
                  </a:lnTo>
                  <a:lnTo>
                    <a:pt x="1568492" y="605612"/>
                  </a:lnTo>
                  <a:lnTo>
                    <a:pt x="1578239" y="651444"/>
                  </a:lnTo>
                  <a:lnTo>
                    <a:pt x="1585304" y="698208"/>
                  </a:lnTo>
                  <a:lnTo>
                    <a:pt x="1589604" y="745822"/>
                  </a:lnTo>
                  <a:lnTo>
                    <a:pt x="1591056" y="794203"/>
                  </a:lnTo>
                  <a:lnTo>
                    <a:pt x="1589604" y="842584"/>
                  </a:lnTo>
                  <a:lnTo>
                    <a:pt x="1585304" y="890198"/>
                  </a:lnTo>
                  <a:lnTo>
                    <a:pt x="1578239" y="936962"/>
                  </a:lnTo>
                  <a:lnTo>
                    <a:pt x="1568492" y="982794"/>
                  </a:lnTo>
                  <a:lnTo>
                    <a:pt x="1556146" y="1027609"/>
                  </a:lnTo>
                  <a:lnTo>
                    <a:pt x="1541285" y="1071326"/>
                  </a:lnTo>
                  <a:lnTo>
                    <a:pt x="1523992" y="1113861"/>
                  </a:lnTo>
                  <a:lnTo>
                    <a:pt x="1504350" y="1155131"/>
                  </a:lnTo>
                  <a:lnTo>
                    <a:pt x="1482443" y="1195053"/>
                  </a:lnTo>
                  <a:lnTo>
                    <a:pt x="1458352" y="1233543"/>
                  </a:lnTo>
                  <a:lnTo>
                    <a:pt x="1432163" y="1270519"/>
                  </a:lnTo>
                  <a:lnTo>
                    <a:pt x="1403957" y="1305898"/>
                  </a:lnTo>
                  <a:lnTo>
                    <a:pt x="1373819" y="1339597"/>
                  </a:lnTo>
                  <a:lnTo>
                    <a:pt x="1341831" y="1371532"/>
                  </a:lnTo>
                  <a:lnTo>
                    <a:pt x="1308076" y="1401620"/>
                  </a:lnTo>
                  <a:lnTo>
                    <a:pt x="1272638" y="1429778"/>
                  </a:lnTo>
                  <a:lnTo>
                    <a:pt x="1235600" y="1455924"/>
                  </a:lnTo>
                  <a:lnTo>
                    <a:pt x="1197046" y="1479974"/>
                  </a:lnTo>
                  <a:lnTo>
                    <a:pt x="1157057" y="1501846"/>
                  </a:lnTo>
                  <a:lnTo>
                    <a:pt x="1115719" y="1521455"/>
                  </a:lnTo>
                  <a:lnTo>
                    <a:pt x="1073113" y="1538719"/>
                  </a:lnTo>
                  <a:lnTo>
                    <a:pt x="1029323" y="1553555"/>
                  </a:lnTo>
                  <a:lnTo>
                    <a:pt x="984433" y="1565880"/>
                  </a:lnTo>
                  <a:lnTo>
                    <a:pt x="938525" y="1575611"/>
                  </a:lnTo>
                  <a:lnTo>
                    <a:pt x="891682" y="1582664"/>
                  </a:lnTo>
                  <a:lnTo>
                    <a:pt x="843989" y="1586957"/>
                  </a:lnTo>
                  <a:lnTo>
                    <a:pt x="795528" y="1588407"/>
                  </a:lnTo>
                  <a:lnTo>
                    <a:pt x="747066" y="1586957"/>
                  </a:lnTo>
                  <a:lnTo>
                    <a:pt x="699373" y="1582664"/>
                  </a:lnTo>
                  <a:lnTo>
                    <a:pt x="652530" y="1575611"/>
                  </a:lnTo>
                  <a:lnTo>
                    <a:pt x="606622" y="1565880"/>
                  </a:lnTo>
                  <a:lnTo>
                    <a:pt x="561732" y="1553555"/>
                  </a:lnTo>
                  <a:lnTo>
                    <a:pt x="517942" y="1538719"/>
                  </a:lnTo>
                  <a:lnTo>
                    <a:pt x="475336" y="1521455"/>
                  </a:lnTo>
                  <a:lnTo>
                    <a:pt x="433998" y="1501846"/>
                  </a:lnTo>
                  <a:lnTo>
                    <a:pt x="394009" y="1479974"/>
                  </a:lnTo>
                  <a:lnTo>
                    <a:pt x="355455" y="1455924"/>
                  </a:lnTo>
                  <a:lnTo>
                    <a:pt x="318417" y="1429778"/>
                  </a:lnTo>
                  <a:lnTo>
                    <a:pt x="282979" y="1401620"/>
                  </a:lnTo>
                  <a:lnTo>
                    <a:pt x="249224" y="1371532"/>
                  </a:lnTo>
                  <a:lnTo>
                    <a:pt x="217236" y="1339597"/>
                  </a:lnTo>
                  <a:lnTo>
                    <a:pt x="187098" y="1305898"/>
                  </a:lnTo>
                  <a:lnTo>
                    <a:pt x="158892" y="1270519"/>
                  </a:lnTo>
                  <a:lnTo>
                    <a:pt x="132703" y="1233543"/>
                  </a:lnTo>
                  <a:lnTo>
                    <a:pt x="108612" y="1195053"/>
                  </a:lnTo>
                  <a:lnTo>
                    <a:pt x="86705" y="1155131"/>
                  </a:lnTo>
                  <a:lnTo>
                    <a:pt x="67063" y="1113861"/>
                  </a:lnTo>
                  <a:lnTo>
                    <a:pt x="49770" y="1071326"/>
                  </a:lnTo>
                  <a:lnTo>
                    <a:pt x="34909" y="1027609"/>
                  </a:lnTo>
                  <a:lnTo>
                    <a:pt x="22563" y="982794"/>
                  </a:lnTo>
                  <a:lnTo>
                    <a:pt x="12817" y="936962"/>
                  </a:lnTo>
                  <a:lnTo>
                    <a:pt x="5751" y="890198"/>
                  </a:lnTo>
                  <a:lnTo>
                    <a:pt x="1451" y="842584"/>
                  </a:lnTo>
                  <a:lnTo>
                    <a:pt x="0" y="794203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103" name="Google Shape;1103;p8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31335" y="3563112"/>
              <a:ext cx="1703832" cy="1700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4" name="Google Shape;1104;p81"/>
            <p:cNvSpPr/>
            <p:nvPr/>
          </p:nvSpPr>
          <p:spPr>
            <a:xfrm>
              <a:off x="3888484" y="3596563"/>
              <a:ext cx="1591310" cy="1588770"/>
            </a:xfrm>
            <a:custGeom>
              <a:avLst/>
              <a:gdLst/>
              <a:ahLst/>
              <a:cxnLst/>
              <a:rect l="l" t="t" r="r" b="b"/>
              <a:pathLst>
                <a:path w="1591310" h="1588770" extrusionOk="0">
                  <a:moveTo>
                    <a:pt x="0" y="794203"/>
                  </a:moveTo>
                  <a:lnTo>
                    <a:pt x="1451" y="745822"/>
                  </a:lnTo>
                  <a:lnTo>
                    <a:pt x="5751" y="698208"/>
                  </a:lnTo>
                  <a:lnTo>
                    <a:pt x="12817" y="651444"/>
                  </a:lnTo>
                  <a:lnTo>
                    <a:pt x="22563" y="605612"/>
                  </a:lnTo>
                  <a:lnTo>
                    <a:pt x="34909" y="560797"/>
                  </a:lnTo>
                  <a:lnTo>
                    <a:pt x="49770" y="517080"/>
                  </a:lnTo>
                  <a:lnTo>
                    <a:pt x="67063" y="474545"/>
                  </a:lnTo>
                  <a:lnTo>
                    <a:pt x="86705" y="433275"/>
                  </a:lnTo>
                  <a:lnTo>
                    <a:pt x="108612" y="393353"/>
                  </a:lnTo>
                  <a:lnTo>
                    <a:pt x="132703" y="354863"/>
                  </a:lnTo>
                  <a:lnTo>
                    <a:pt x="158892" y="317887"/>
                  </a:lnTo>
                  <a:lnTo>
                    <a:pt x="187098" y="282508"/>
                  </a:lnTo>
                  <a:lnTo>
                    <a:pt x="217236" y="248809"/>
                  </a:lnTo>
                  <a:lnTo>
                    <a:pt x="249224" y="216875"/>
                  </a:lnTo>
                  <a:lnTo>
                    <a:pt x="282979" y="186786"/>
                  </a:lnTo>
                  <a:lnTo>
                    <a:pt x="318417" y="158628"/>
                  </a:lnTo>
                  <a:lnTo>
                    <a:pt x="355455" y="132482"/>
                  </a:lnTo>
                  <a:lnTo>
                    <a:pt x="394009" y="108432"/>
                  </a:lnTo>
                  <a:lnTo>
                    <a:pt x="433998" y="86560"/>
                  </a:lnTo>
                  <a:lnTo>
                    <a:pt x="475336" y="66951"/>
                  </a:lnTo>
                  <a:lnTo>
                    <a:pt x="517942" y="49687"/>
                  </a:lnTo>
                  <a:lnTo>
                    <a:pt x="561732" y="34851"/>
                  </a:lnTo>
                  <a:lnTo>
                    <a:pt x="606622" y="22526"/>
                  </a:lnTo>
                  <a:lnTo>
                    <a:pt x="652530" y="12795"/>
                  </a:lnTo>
                  <a:lnTo>
                    <a:pt x="699373" y="5742"/>
                  </a:lnTo>
                  <a:lnTo>
                    <a:pt x="747066" y="1449"/>
                  </a:lnTo>
                  <a:lnTo>
                    <a:pt x="795528" y="0"/>
                  </a:lnTo>
                  <a:lnTo>
                    <a:pt x="843989" y="1449"/>
                  </a:lnTo>
                  <a:lnTo>
                    <a:pt x="891682" y="5742"/>
                  </a:lnTo>
                  <a:lnTo>
                    <a:pt x="938525" y="12795"/>
                  </a:lnTo>
                  <a:lnTo>
                    <a:pt x="984433" y="22526"/>
                  </a:lnTo>
                  <a:lnTo>
                    <a:pt x="1029323" y="34851"/>
                  </a:lnTo>
                  <a:lnTo>
                    <a:pt x="1073113" y="49687"/>
                  </a:lnTo>
                  <a:lnTo>
                    <a:pt x="1115719" y="66951"/>
                  </a:lnTo>
                  <a:lnTo>
                    <a:pt x="1157057" y="86560"/>
                  </a:lnTo>
                  <a:lnTo>
                    <a:pt x="1197046" y="108432"/>
                  </a:lnTo>
                  <a:lnTo>
                    <a:pt x="1235600" y="132482"/>
                  </a:lnTo>
                  <a:lnTo>
                    <a:pt x="1272638" y="158628"/>
                  </a:lnTo>
                  <a:lnTo>
                    <a:pt x="1308076" y="186786"/>
                  </a:lnTo>
                  <a:lnTo>
                    <a:pt x="1341831" y="216875"/>
                  </a:lnTo>
                  <a:lnTo>
                    <a:pt x="1373819" y="248809"/>
                  </a:lnTo>
                  <a:lnTo>
                    <a:pt x="1403957" y="282508"/>
                  </a:lnTo>
                  <a:lnTo>
                    <a:pt x="1432163" y="317887"/>
                  </a:lnTo>
                  <a:lnTo>
                    <a:pt x="1458352" y="354863"/>
                  </a:lnTo>
                  <a:lnTo>
                    <a:pt x="1482443" y="393353"/>
                  </a:lnTo>
                  <a:lnTo>
                    <a:pt x="1504350" y="433275"/>
                  </a:lnTo>
                  <a:lnTo>
                    <a:pt x="1523992" y="474545"/>
                  </a:lnTo>
                  <a:lnTo>
                    <a:pt x="1541285" y="517080"/>
                  </a:lnTo>
                  <a:lnTo>
                    <a:pt x="1556146" y="560797"/>
                  </a:lnTo>
                  <a:lnTo>
                    <a:pt x="1568492" y="605612"/>
                  </a:lnTo>
                  <a:lnTo>
                    <a:pt x="1578239" y="651444"/>
                  </a:lnTo>
                  <a:lnTo>
                    <a:pt x="1585304" y="698208"/>
                  </a:lnTo>
                  <a:lnTo>
                    <a:pt x="1589604" y="745822"/>
                  </a:lnTo>
                  <a:lnTo>
                    <a:pt x="1591056" y="794203"/>
                  </a:lnTo>
                  <a:lnTo>
                    <a:pt x="1589604" y="842584"/>
                  </a:lnTo>
                  <a:lnTo>
                    <a:pt x="1585304" y="890198"/>
                  </a:lnTo>
                  <a:lnTo>
                    <a:pt x="1578239" y="936962"/>
                  </a:lnTo>
                  <a:lnTo>
                    <a:pt x="1568492" y="982794"/>
                  </a:lnTo>
                  <a:lnTo>
                    <a:pt x="1556146" y="1027609"/>
                  </a:lnTo>
                  <a:lnTo>
                    <a:pt x="1541285" y="1071326"/>
                  </a:lnTo>
                  <a:lnTo>
                    <a:pt x="1523992" y="1113861"/>
                  </a:lnTo>
                  <a:lnTo>
                    <a:pt x="1504350" y="1155131"/>
                  </a:lnTo>
                  <a:lnTo>
                    <a:pt x="1482443" y="1195053"/>
                  </a:lnTo>
                  <a:lnTo>
                    <a:pt x="1458352" y="1233543"/>
                  </a:lnTo>
                  <a:lnTo>
                    <a:pt x="1432163" y="1270519"/>
                  </a:lnTo>
                  <a:lnTo>
                    <a:pt x="1403957" y="1305898"/>
                  </a:lnTo>
                  <a:lnTo>
                    <a:pt x="1373819" y="1339597"/>
                  </a:lnTo>
                  <a:lnTo>
                    <a:pt x="1341831" y="1371532"/>
                  </a:lnTo>
                  <a:lnTo>
                    <a:pt x="1308076" y="1401620"/>
                  </a:lnTo>
                  <a:lnTo>
                    <a:pt x="1272638" y="1429778"/>
                  </a:lnTo>
                  <a:lnTo>
                    <a:pt x="1235600" y="1455924"/>
                  </a:lnTo>
                  <a:lnTo>
                    <a:pt x="1197046" y="1479974"/>
                  </a:lnTo>
                  <a:lnTo>
                    <a:pt x="1157057" y="1501846"/>
                  </a:lnTo>
                  <a:lnTo>
                    <a:pt x="1115719" y="1521455"/>
                  </a:lnTo>
                  <a:lnTo>
                    <a:pt x="1073113" y="1538719"/>
                  </a:lnTo>
                  <a:lnTo>
                    <a:pt x="1029323" y="1553555"/>
                  </a:lnTo>
                  <a:lnTo>
                    <a:pt x="984433" y="1565880"/>
                  </a:lnTo>
                  <a:lnTo>
                    <a:pt x="938525" y="1575611"/>
                  </a:lnTo>
                  <a:lnTo>
                    <a:pt x="891682" y="1582664"/>
                  </a:lnTo>
                  <a:lnTo>
                    <a:pt x="843989" y="1586957"/>
                  </a:lnTo>
                  <a:lnTo>
                    <a:pt x="795528" y="1588407"/>
                  </a:lnTo>
                  <a:lnTo>
                    <a:pt x="747066" y="1586957"/>
                  </a:lnTo>
                  <a:lnTo>
                    <a:pt x="699373" y="1582664"/>
                  </a:lnTo>
                  <a:lnTo>
                    <a:pt x="652530" y="1575611"/>
                  </a:lnTo>
                  <a:lnTo>
                    <a:pt x="606622" y="1565880"/>
                  </a:lnTo>
                  <a:lnTo>
                    <a:pt x="561732" y="1553555"/>
                  </a:lnTo>
                  <a:lnTo>
                    <a:pt x="517942" y="1538719"/>
                  </a:lnTo>
                  <a:lnTo>
                    <a:pt x="475336" y="1521455"/>
                  </a:lnTo>
                  <a:lnTo>
                    <a:pt x="433998" y="1501846"/>
                  </a:lnTo>
                  <a:lnTo>
                    <a:pt x="394009" y="1479974"/>
                  </a:lnTo>
                  <a:lnTo>
                    <a:pt x="355455" y="1455924"/>
                  </a:lnTo>
                  <a:lnTo>
                    <a:pt x="318417" y="1429778"/>
                  </a:lnTo>
                  <a:lnTo>
                    <a:pt x="282979" y="1401620"/>
                  </a:lnTo>
                  <a:lnTo>
                    <a:pt x="249224" y="1371532"/>
                  </a:lnTo>
                  <a:lnTo>
                    <a:pt x="217236" y="1339597"/>
                  </a:lnTo>
                  <a:lnTo>
                    <a:pt x="187098" y="1305898"/>
                  </a:lnTo>
                  <a:lnTo>
                    <a:pt x="158892" y="1270519"/>
                  </a:lnTo>
                  <a:lnTo>
                    <a:pt x="132703" y="1233543"/>
                  </a:lnTo>
                  <a:lnTo>
                    <a:pt x="108612" y="1195053"/>
                  </a:lnTo>
                  <a:lnTo>
                    <a:pt x="86705" y="1155131"/>
                  </a:lnTo>
                  <a:lnTo>
                    <a:pt x="67063" y="1113861"/>
                  </a:lnTo>
                  <a:lnTo>
                    <a:pt x="49770" y="1071326"/>
                  </a:lnTo>
                  <a:lnTo>
                    <a:pt x="34909" y="1027609"/>
                  </a:lnTo>
                  <a:lnTo>
                    <a:pt x="22563" y="982794"/>
                  </a:lnTo>
                  <a:lnTo>
                    <a:pt x="12817" y="936962"/>
                  </a:lnTo>
                  <a:lnTo>
                    <a:pt x="5751" y="890198"/>
                  </a:lnTo>
                  <a:lnTo>
                    <a:pt x="1451" y="842584"/>
                  </a:lnTo>
                  <a:lnTo>
                    <a:pt x="0" y="794203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05" name="Google Shape;1105;p81"/>
          <p:cNvSpPr txBox="1"/>
          <p:nvPr/>
        </p:nvSpPr>
        <p:spPr>
          <a:xfrm>
            <a:off x="418205" y="4412995"/>
            <a:ext cx="8043545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1898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4A7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780"/>
              </a:spcBef>
              <a:spcAft>
                <a:spcPts val="0"/>
              </a:spcAft>
              <a:buNone/>
            </a:pP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B transmits to A, D transmits to C, </a:t>
            </a:r>
            <a:r>
              <a:rPr lang="en-US" sz="28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taking turns.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6" name="Google Shape;1106;p81"/>
          <p:cNvGrpSpPr/>
          <p:nvPr/>
        </p:nvGrpSpPr>
        <p:grpSpPr>
          <a:xfrm>
            <a:off x="1675032" y="2655445"/>
            <a:ext cx="5528310" cy="865505"/>
            <a:chOff x="1675032" y="2655445"/>
            <a:chExt cx="5528310" cy="865505"/>
          </a:xfrm>
        </p:grpSpPr>
        <p:sp>
          <p:nvSpPr>
            <p:cNvPr id="1107" name="Google Shape;1107;p81"/>
            <p:cNvSpPr/>
            <p:nvPr/>
          </p:nvSpPr>
          <p:spPr>
            <a:xfrm>
              <a:off x="1675032" y="2655445"/>
              <a:ext cx="5528310" cy="865505"/>
            </a:xfrm>
            <a:custGeom>
              <a:avLst/>
              <a:gdLst/>
              <a:ahLst/>
              <a:cxnLst/>
              <a:rect l="l" t="t" r="r" b="b"/>
              <a:pathLst>
                <a:path w="5528309" h="865504" extrusionOk="0">
                  <a:moveTo>
                    <a:pt x="5383956" y="0"/>
                  </a:moveTo>
                  <a:lnTo>
                    <a:pt x="144157" y="0"/>
                  </a:lnTo>
                  <a:lnTo>
                    <a:pt x="98592" y="7349"/>
                  </a:lnTo>
                  <a:lnTo>
                    <a:pt x="59019" y="27814"/>
                  </a:lnTo>
                  <a:lnTo>
                    <a:pt x="27814" y="59020"/>
                  </a:lnTo>
                  <a:lnTo>
                    <a:pt x="7349" y="98593"/>
                  </a:lnTo>
                  <a:lnTo>
                    <a:pt x="0" y="144158"/>
                  </a:lnTo>
                  <a:lnTo>
                    <a:pt x="0" y="720760"/>
                  </a:lnTo>
                  <a:lnTo>
                    <a:pt x="7349" y="766325"/>
                  </a:lnTo>
                  <a:lnTo>
                    <a:pt x="27814" y="805898"/>
                  </a:lnTo>
                  <a:lnTo>
                    <a:pt x="59019" y="837104"/>
                  </a:lnTo>
                  <a:lnTo>
                    <a:pt x="98592" y="857569"/>
                  </a:lnTo>
                  <a:lnTo>
                    <a:pt x="144157" y="864918"/>
                  </a:lnTo>
                  <a:lnTo>
                    <a:pt x="5383956" y="864918"/>
                  </a:lnTo>
                  <a:lnTo>
                    <a:pt x="5429521" y="857569"/>
                  </a:lnTo>
                  <a:lnTo>
                    <a:pt x="5469094" y="837104"/>
                  </a:lnTo>
                  <a:lnTo>
                    <a:pt x="5500300" y="805898"/>
                  </a:lnTo>
                  <a:lnTo>
                    <a:pt x="5520765" y="766325"/>
                  </a:lnTo>
                  <a:lnTo>
                    <a:pt x="5528114" y="720760"/>
                  </a:lnTo>
                  <a:lnTo>
                    <a:pt x="5528114" y="144158"/>
                  </a:lnTo>
                  <a:lnTo>
                    <a:pt x="5520765" y="98593"/>
                  </a:lnTo>
                  <a:lnTo>
                    <a:pt x="5500300" y="59020"/>
                  </a:lnTo>
                  <a:lnTo>
                    <a:pt x="5469094" y="27814"/>
                  </a:lnTo>
                  <a:lnTo>
                    <a:pt x="5429521" y="7349"/>
                  </a:lnTo>
                  <a:lnTo>
                    <a:pt x="5383956" y="0"/>
                  </a:ln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8" name="Google Shape;1108;p81"/>
            <p:cNvSpPr/>
            <p:nvPr/>
          </p:nvSpPr>
          <p:spPr>
            <a:xfrm>
              <a:off x="1675032" y="2655445"/>
              <a:ext cx="5528310" cy="865505"/>
            </a:xfrm>
            <a:custGeom>
              <a:avLst/>
              <a:gdLst/>
              <a:ahLst/>
              <a:cxnLst/>
              <a:rect l="l" t="t" r="r" b="b"/>
              <a:pathLst>
                <a:path w="5528309" h="865504" extrusionOk="0">
                  <a:moveTo>
                    <a:pt x="0" y="144158"/>
                  </a:moveTo>
                  <a:lnTo>
                    <a:pt x="7349" y="98592"/>
                  </a:lnTo>
                  <a:lnTo>
                    <a:pt x="27814" y="59020"/>
                  </a:lnTo>
                  <a:lnTo>
                    <a:pt x="59020" y="27814"/>
                  </a:lnTo>
                  <a:lnTo>
                    <a:pt x="98592" y="7349"/>
                  </a:lnTo>
                  <a:lnTo>
                    <a:pt x="144157" y="0"/>
                  </a:lnTo>
                  <a:lnTo>
                    <a:pt x="5383957" y="0"/>
                  </a:lnTo>
                  <a:lnTo>
                    <a:pt x="5429522" y="7349"/>
                  </a:lnTo>
                  <a:lnTo>
                    <a:pt x="5469094" y="27814"/>
                  </a:lnTo>
                  <a:lnTo>
                    <a:pt x="5500300" y="59020"/>
                  </a:lnTo>
                  <a:lnTo>
                    <a:pt x="5520765" y="98592"/>
                  </a:lnTo>
                  <a:lnTo>
                    <a:pt x="5528115" y="144158"/>
                  </a:lnTo>
                  <a:lnTo>
                    <a:pt x="5528115" y="720759"/>
                  </a:lnTo>
                  <a:lnTo>
                    <a:pt x="5520765" y="766325"/>
                  </a:lnTo>
                  <a:lnTo>
                    <a:pt x="5500300" y="805897"/>
                  </a:lnTo>
                  <a:lnTo>
                    <a:pt x="5469094" y="837103"/>
                  </a:lnTo>
                  <a:lnTo>
                    <a:pt x="5429522" y="857568"/>
                  </a:lnTo>
                  <a:lnTo>
                    <a:pt x="5383957" y="864918"/>
                  </a:lnTo>
                  <a:lnTo>
                    <a:pt x="144157" y="864918"/>
                  </a:lnTo>
                  <a:lnTo>
                    <a:pt x="98592" y="857568"/>
                  </a:lnTo>
                  <a:lnTo>
                    <a:pt x="59020" y="837103"/>
                  </a:lnTo>
                  <a:lnTo>
                    <a:pt x="27814" y="805897"/>
                  </a:lnTo>
                  <a:lnTo>
                    <a:pt x="7349" y="766325"/>
                  </a:lnTo>
                  <a:lnTo>
                    <a:pt x="0" y="720759"/>
                  </a:lnTo>
                  <a:lnTo>
                    <a:pt x="0" y="144158"/>
                  </a:lnTo>
                  <a:close/>
                </a:path>
              </a:pathLst>
            </a:cu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09" name="Google Shape;1109;p81"/>
          <p:cNvSpPr txBox="1"/>
          <p:nvPr/>
        </p:nvSpPr>
        <p:spPr>
          <a:xfrm>
            <a:off x="163000" y="1395476"/>
            <a:ext cx="7955915" cy="3171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67665" lvl="0" indent="-342265" algn="l" rtl="0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Both transmitters </a:t>
            </a:r>
            <a:r>
              <a:rPr lang="en-US" sz="24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can carrier sense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each other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67715" marR="17780" lvl="0" indent="-285750" algn="l" rtl="0">
              <a:lnSpc>
                <a:spcPct val="95833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Carrier sense uses </a:t>
            </a:r>
            <a:r>
              <a:rPr lang="en-US" sz="2400" b="1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thresholded correlation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value to determine if medium occupied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2106930" marR="1505585" lvl="0" indent="130175" algn="l" rtl="0">
              <a:lnSpc>
                <a:spcPct val="771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But what about cases in between these extremes?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2095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	</a:t>
            </a:r>
            <a:r>
              <a:rPr lang="en-US" sz="5400" b="1" baseline="-25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540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81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B2DF2C6-DEC6-21E4-5B33-7DD2A3EBF4DC}"/>
              </a:ext>
            </a:extLst>
          </p:cNvPr>
          <p:cNvSpPr txBox="1">
            <a:spLocks/>
          </p:cNvSpPr>
          <p:nvPr/>
        </p:nvSpPr>
        <p:spPr>
          <a:xfrm>
            <a:off x="163000" y="447802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2"/>
          <p:cNvSpPr txBox="1">
            <a:spLocks noGrp="1"/>
          </p:cNvSpPr>
          <p:nvPr>
            <p:ph type="title"/>
          </p:nvPr>
        </p:nvSpPr>
        <p:spPr>
          <a:xfrm>
            <a:off x="1464274" y="232100"/>
            <a:ext cx="6558300" cy="16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Hidden Terminal Problem</a:t>
            </a:r>
            <a:endParaRPr/>
          </a:p>
          <a:p>
            <a:pPr marL="25400" lvl="0" indent="0" algn="ctr" rtl="0">
              <a:lnSpc>
                <a:spcPct val="100000"/>
              </a:lnSpc>
              <a:spcBef>
                <a:spcPts val="376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</a:rPr>
              <a:t>A	</a:t>
            </a:r>
            <a:r>
              <a:rPr lang="en-US"/>
              <a:t>B	</a:t>
            </a:r>
            <a:r>
              <a:rPr lang="en-US">
                <a:solidFill>
                  <a:srgbClr val="0000FF"/>
                </a:solidFill>
              </a:rPr>
              <a:t>C</a:t>
            </a:r>
            <a:endParaRPr/>
          </a:p>
        </p:txBody>
      </p:sp>
      <p:sp>
        <p:nvSpPr>
          <p:cNvPr id="1116" name="Google Shape;1116;p82"/>
          <p:cNvSpPr txBox="1"/>
          <p:nvPr/>
        </p:nvSpPr>
        <p:spPr>
          <a:xfrm>
            <a:off x="175700" y="2677668"/>
            <a:ext cx="8060055" cy="193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354965" marR="626745" lvl="0" indent="-342900" algn="l" rtl="0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can’t hear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A,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will transmit while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transmits 	–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Result: </a:t>
            </a:r>
            <a:r>
              <a:rPr lang="en-US" sz="2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Collision at B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SzPts val="2600"/>
              <a:buFont typeface="Arial"/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354965" marR="5080" lvl="0" indent="-342900" algn="l" rtl="0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Carrier Sense insufficient to detect all transmissions on wireless networks!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82"/>
          <p:cNvSpPr txBox="1"/>
          <p:nvPr/>
        </p:nvSpPr>
        <p:spPr>
          <a:xfrm>
            <a:off x="175700" y="4975860"/>
            <a:ext cx="416306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Collisions are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82"/>
          <p:cNvSpPr txBox="1"/>
          <p:nvPr/>
        </p:nvSpPr>
        <p:spPr>
          <a:xfrm>
            <a:off x="4411149" y="5027100"/>
            <a:ext cx="4002404" cy="368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spatially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located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at </a:t>
            </a: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receiver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82"/>
          <p:cNvSpPr/>
          <p:nvPr/>
        </p:nvSpPr>
        <p:spPr>
          <a:xfrm>
            <a:off x="2971800" y="1833563"/>
            <a:ext cx="1295400" cy="142875"/>
          </a:xfrm>
          <a:custGeom>
            <a:avLst/>
            <a:gdLst/>
            <a:ahLst/>
            <a:cxnLst/>
            <a:rect l="l" t="t" r="r" b="b"/>
            <a:pathLst>
              <a:path w="1295400" h="142875" extrusionOk="0">
                <a:moveTo>
                  <a:pt x="1152525" y="0"/>
                </a:moveTo>
                <a:lnTo>
                  <a:pt x="1152525" y="142875"/>
                </a:lnTo>
                <a:lnTo>
                  <a:pt x="1266825" y="85725"/>
                </a:lnTo>
                <a:lnTo>
                  <a:pt x="1166812" y="85725"/>
                </a:lnTo>
                <a:lnTo>
                  <a:pt x="1166812" y="57150"/>
                </a:lnTo>
                <a:lnTo>
                  <a:pt x="1266825" y="57150"/>
                </a:lnTo>
                <a:lnTo>
                  <a:pt x="1152525" y="0"/>
                </a:lnTo>
                <a:close/>
              </a:path>
              <a:path w="1295400" h="142875" extrusionOk="0">
                <a:moveTo>
                  <a:pt x="11525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152525" y="85725"/>
                </a:lnTo>
                <a:lnTo>
                  <a:pt x="1152525" y="57150"/>
                </a:lnTo>
                <a:close/>
              </a:path>
              <a:path w="1295400" h="142875" extrusionOk="0">
                <a:moveTo>
                  <a:pt x="1266825" y="57150"/>
                </a:moveTo>
                <a:lnTo>
                  <a:pt x="1166812" y="57150"/>
                </a:lnTo>
                <a:lnTo>
                  <a:pt x="1166812" y="85725"/>
                </a:lnTo>
                <a:lnTo>
                  <a:pt x="1266825" y="85725"/>
                </a:lnTo>
                <a:lnTo>
                  <a:pt x="1295400" y="71437"/>
                </a:lnTo>
                <a:lnTo>
                  <a:pt x="1266825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20" name="Google Shape;1120;p82"/>
          <p:cNvSpPr/>
          <p:nvPr/>
        </p:nvSpPr>
        <p:spPr>
          <a:xfrm>
            <a:off x="4876800" y="1833563"/>
            <a:ext cx="1295400" cy="142875"/>
          </a:xfrm>
          <a:custGeom>
            <a:avLst/>
            <a:gdLst/>
            <a:ahLst/>
            <a:cxnLst/>
            <a:rect l="l" t="t" r="r" b="b"/>
            <a:pathLst>
              <a:path w="1295400" h="142875" extrusionOk="0">
                <a:moveTo>
                  <a:pt x="142875" y="0"/>
                </a:moveTo>
                <a:lnTo>
                  <a:pt x="0" y="71437"/>
                </a:lnTo>
                <a:lnTo>
                  <a:pt x="142875" y="142875"/>
                </a:lnTo>
                <a:lnTo>
                  <a:pt x="142875" y="85725"/>
                </a:lnTo>
                <a:lnTo>
                  <a:pt x="128587" y="85725"/>
                </a:lnTo>
                <a:lnTo>
                  <a:pt x="128587" y="57150"/>
                </a:lnTo>
                <a:lnTo>
                  <a:pt x="142875" y="57150"/>
                </a:lnTo>
                <a:lnTo>
                  <a:pt x="142875" y="0"/>
                </a:lnTo>
                <a:close/>
              </a:path>
              <a:path w="1295400" h="142875" extrusionOk="0">
                <a:moveTo>
                  <a:pt x="142875" y="57150"/>
                </a:moveTo>
                <a:lnTo>
                  <a:pt x="128587" y="57150"/>
                </a:lnTo>
                <a:lnTo>
                  <a:pt x="128587" y="85725"/>
                </a:lnTo>
                <a:lnTo>
                  <a:pt x="142875" y="85725"/>
                </a:lnTo>
                <a:lnTo>
                  <a:pt x="142875" y="57150"/>
                </a:lnTo>
                <a:close/>
              </a:path>
              <a:path w="1295400" h="142875" extrusionOk="0">
                <a:moveTo>
                  <a:pt x="1295400" y="57150"/>
                </a:moveTo>
                <a:lnTo>
                  <a:pt x="142875" y="57150"/>
                </a:lnTo>
                <a:lnTo>
                  <a:pt x="142875" y="85725"/>
                </a:lnTo>
                <a:lnTo>
                  <a:pt x="1295400" y="85725"/>
                </a:lnTo>
                <a:lnTo>
                  <a:pt x="1295400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121" name="Google Shape;1121;p82"/>
          <p:cNvGrpSpPr/>
          <p:nvPr/>
        </p:nvGrpSpPr>
        <p:grpSpPr>
          <a:xfrm>
            <a:off x="4343400" y="1600200"/>
            <a:ext cx="457200" cy="609600"/>
            <a:chOff x="4343400" y="1600200"/>
            <a:chExt cx="457200" cy="609600"/>
          </a:xfrm>
        </p:grpSpPr>
        <p:sp>
          <p:nvSpPr>
            <p:cNvPr id="1122" name="Google Shape;1122;p82"/>
            <p:cNvSpPr/>
            <p:nvPr/>
          </p:nvSpPr>
          <p:spPr>
            <a:xfrm>
              <a:off x="4343400" y="160020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 extrusionOk="0">
                  <a:moveTo>
                    <a:pt x="0" y="0"/>
                  </a:moveTo>
                  <a:lnTo>
                    <a:pt x="457200" y="609600"/>
                  </a:ln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3" name="Google Shape;1123;p82"/>
            <p:cNvSpPr/>
            <p:nvPr/>
          </p:nvSpPr>
          <p:spPr>
            <a:xfrm>
              <a:off x="4343400" y="160020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 extrusionOk="0">
                  <a:moveTo>
                    <a:pt x="457200" y="0"/>
                  </a:moveTo>
                  <a:lnTo>
                    <a:pt x="0" y="609600"/>
                  </a:ln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24" name="Google Shape;1124;p82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F4F8FEE-00CB-B5F5-45B0-2EA7527D8F34}"/>
              </a:ext>
            </a:extLst>
          </p:cNvPr>
          <p:cNvSpPr txBox="1">
            <a:spLocks/>
          </p:cNvSpPr>
          <p:nvPr/>
        </p:nvSpPr>
        <p:spPr>
          <a:xfrm>
            <a:off x="152400" y="137160"/>
            <a:ext cx="8348487" cy="69596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3"/>
          <p:cNvSpPr txBox="1">
            <a:spLocks noGrp="1"/>
          </p:cNvSpPr>
          <p:nvPr>
            <p:ph type="title"/>
          </p:nvPr>
        </p:nvSpPr>
        <p:spPr>
          <a:xfrm>
            <a:off x="1744149" y="593850"/>
            <a:ext cx="6798600" cy="16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Exposed Terminal Problem</a:t>
            </a:r>
            <a:endParaRPr dirty="0"/>
          </a:p>
          <a:p>
            <a:pPr marL="0" marR="829310" lvl="0" indent="0" algn="ctr" rtl="0">
              <a:lnSpc>
                <a:spcPct val="100000"/>
              </a:lnSpc>
              <a:spcBef>
                <a:spcPts val="3765"/>
              </a:spcBef>
              <a:spcAft>
                <a:spcPts val="0"/>
              </a:spcAft>
              <a:buNone/>
            </a:pPr>
            <a:r>
              <a:rPr lang="en-US" dirty="0"/>
              <a:t>A	</a:t>
            </a:r>
            <a:r>
              <a:rPr lang="en-US" dirty="0">
                <a:solidFill>
                  <a:srgbClr val="008000"/>
                </a:solidFill>
              </a:rPr>
              <a:t>B	</a:t>
            </a:r>
            <a:r>
              <a:rPr lang="en-US" dirty="0">
                <a:solidFill>
                  <a:srgbClr val="0000FF"/>
                </a:solidFill>
              </a:rPr>
              <a:t>C</a:t>
            </a:r>
            <a:endParaRPr dirty="0"/>
          </a:p>
        </p:txBody>
      </p:sp>
      <p:sp>
        <p:nvSpPr>
          <p:cNvPr id="1130" name="Google Shape;1130;p83"/>
          <p:cNvSpPr txBox="1"/>
          <p:nvPr/>
        </p:nvSpPr>
        <p:spPr>
          <a:xfrm>
            <a:off x="175700" y="2411475"/>
            <a:ext cx="8244840" cy="237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If C transmits, does it cause a collision at A?	</a:t>
            </a:r>
            <a:r>
              <a:rPr lang="en-US" sz="28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No!</a:t>
            </a:r>
            <a:endParaRPr sz="2800"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2800"/>
              <a:buFont typeface="Arial"/>
              <a:buNone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Yet C cannot transmit while B transmits to A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Same insight: </a:t>
            </a:r>
            <a:r>
              <a:rPr lang="en-US" sz="2800" b="1" dirty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Collisions spatially located at receiver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83"/>
          <p:cNvSpPr/>
          <p:nvPr/>
        </p:nvSpPr>
        <p:spPr>
          <a:xfrm>
            <a:off x="3773885" y="1597765"/>
            <a:ext cx="838200" cy="142875"/>
          </a:xfrm>
          <a:custGeom>
            <a:avLst/>
            <a:gdLst/>
            <a:ahLst/>
            <a:cxnLst/>
            <a:rect l="l" t="t" r="r" b="b"/>
            <a:pathLst>
              <a:path w="838200" h="142875" extrusionOk="0">
                <a:moveTo>
                  <a:pt x="142875" y="0"/>
                </a:moveTo>
                <a:lnTo>
                  <a:pt x="0" y="71437"/>
                </a:lnTo>
                <a:lnTo>
                  <a:pt x="142875" y="142875"/>
                </a:lnTo>
                <a:lnTo>
                  <a:pt x="142875" y="85725"/>
                </a:lnTo>
                <a:lnTo>
                  <a:pt x="128587" y="85725"/>
                </a:lnTo>
                <a:lnTo>
                  <a:pt x="128587" y="57150"/>
                </a:lnTo>
                <a:lnTo>
                  <a:pt x="142875" y="57150"/>
                </a:lnTo>
                <a:lnTo>
                  <a:pt x="142875" y="0"/>
                </a:lnTo>
                <a:close/>
              </a:path>
              <a:path w="838200" h="142875" extrusionOk="0">
                <a:moveTo>
                  <a:pt x="142875" y="57150"/>
                </a:moveTo>
                <a:lnTo>
                  <a:pt x="128587" y="57150"/>
                </a:lnTo>
                <a:lnTo>
                  <a:pt x="128587" y="85725"/>
                </a:lnTo>
                <a:lnTo>
                  <a:pt x="142875" y="85725"/>
                </a:lnTo>
                <a:lnTo>
                  <a:pt x="142875" y="57150"/>
                </a:lnTo>
                <a:close/>
              </a:path>
              <a:path w="838200" h="142875" extrusionOk="0">
                <a:moveTo>
                  <a:pt x="838200" y="57150"/>
                </a:moveTo>
                <a:lnTo>
                  <a:pt x="142875" y="57150"/>
                </a:lnTo>
                <a:lnTo>
                  <a:pt x="142875" y="85725"/>
                </a:lnTo>
                <a:lnTo>
                  <a:pt x="838200" y="85725"/>
                </a:lnTo>
                <a:lnTo>
                  <a:pt x="838200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132" name="Google Shape;1132;p83"/>
          <p:cNvSpPr/>
          <p:nvPr/>
        </p:nvSpPr>
        <p:spPr>
          <a:xfrm>
            <a:off x="5791200" y="1833563"/>
            <a:ext cx="838200" cy="142875"/>
          </a:xfrm>
          <a:custGeom>
            <a:avLst/>
            <a:gdLst/>
            <a:ahLst/>
            <a:cxnLst/>
            <a:rect l="l" t="t" r="r" b="b"/>
            <a:pathLst>
              <a:path w="838200" h="142875" extrusionOk="0">
                <a:moveTo>
                  <a:pt x="695325" y="0"/>
                </a:moveTo>
                <a:lnTo>
                  <a:pt x="695325" y="142875"/>
                </a:lnTo>
                <a:lnTo>
                  <a:pt x="809625" y="85725"/>
                </a:lnTo>
                <a:lnTo>
                  <a:pt x="709612" y="85725"/>
                </a:lnTo>
                <a:lnTo>
                  <a:pt x="709612" y="57150"/>
                </a:lnTo>
                <a:lnTo>
                  <a:pt x="809625" y="57150"/>
                </a:lnTo>
                <a:lnTo>
                  <a:pt x="695325" y="0"/>
                </a:lnTo>
                <a:close/>
              </a:path>
              <a:path w="838200" h="142875" extrusionOk="0">
                <a:moveTo>
                  <a:pt x="6953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695325" y="85725"/>
                </a:lnTo>
                <a:lnTo>
                  <a:pt x="695325" y="57150"/>
                </a:lnTo>
                <a:close/>
              </a:path>
              <a:path w="838200" h="142875" extrusionOk="0">
                <a:moveTo>
                  <a:pt x="809625" y="57150"/>
                </a:moveTo>
                <a:lnTo>
                  <a:pt x="709612" y="57150"/>
                </a:lnTo>
                <a:lnTo>
                  <a:pt x="709612" y="85725"/>
                </a:lnTo>
                <a:lnTo>
                  <a:pt x="809625" y="85725"/>
                </a:lnTo>
                <a:lnTo>
                  <a:pt x="838200" y="71437"/>
                </a:lnTo>
                <a:lnTo>
                  <a:pt x="809625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3" name="Google Shape;1133;p83"/>
          <p:cNvSpPr/>
          <p:nvPr/>
        </p:nvSpPr>
        <p:spPr>
          <a:xfrm>
            <a:off x="5786316" y="1429490"/>
            <a:ext cx="843280" cy="336550"/>
          </a:xfrm>
          <a:custGeom>
            <a:avLst/>
            <a:gdLst/>
            <a:ahLst/>
            <a:cxnLst/>
            <a:rect l="l" t="t" r="r" b="b"/>
            <a:pathLst>
              <a:path w="843279" h="336550" extrusionOk="0">
                <a:moveTo>
                  <a:pt x="703927" y="53709"/>
                </a:moveTo>
                <a:lnTo>
                  <a:pt x="0" y="309681"/>
                </a:lnTo>
                <a:lnTo>
                  <a:pt x="9766" y="336537"/>
                </a:lnTo>
                <a:lnTo>
                  <a:pt x="713692" y="80563"/>
                </a:lnTo>
                <a:lnTo>
                  <a:pt x="703927" y="53709"/>
                </a:lnTo>
                <a:close/>
              </a:path>
              <a:path w="843279" h="336550" extrusionOk="0">
                <a:moveTo>
                  <a:pt x="814172" y="48826"/>
                </a:moveTo>
                <a:lnTo>
                  <a:pt x="717354" y="48826"/>
                </a:lnTo>
                <a:lnTo>
                  <a:pt x="727119" y="75680"/>
                </a:lnTo>
                <a:lnTo>
                  <a:pt x="713692" y="80563"/>
                </a:lnTo>
                <a:lnTo>
                  <a:pt x="733223" y="134272"/>
                </a:lnTo>
                <a:lnTo>
                  <a:pt x="814172" y="48826"/>
                </a:lnTo>
                <a:close/>
              </a:path>
              <a:path w="843279" h="336550" extrusionOk="0">
                <a:moveTo>
                  <a:pt x="717354" y="48826"/>
                </a:moveTo>
                <a:lnTo>
                  <a:pt x="703927" y="53709"/>
                </a:lnTo>
                <a:lnTo>
                  <a:pt x="713692" y="80563"/>
                </a:lnTo>
                <a:lnTo>
                  <a:pt x="727119" y="75680"/>
                </a:lnTo>
                <a:lnTo>
                  <a:pt x="717354" y="48826"/>
                </a:lnTo>
                <a:close/>
              </a:path>
              <a:path w="843279" h="336550" extrusionOk="0">
                <a:moveTo>
                  <a:pt x="684396" y="0"/>
                </a:moveTo>
                <a:lnTo>
                  <a:pt x="703927" y="53709"/>
                </a:lnTo>
                <a:lnTo>
                  <a:pt x="717354" y="48826"/>
                </a:lnTo>
                <a:lnTo>
                  <a:pt x="814172" y="48826"/>
                </a:lnTo>
                <a:lnTo>
                  <a:pt x="843083" y="18309"/>
                </a:lnTo>
                <a:lnTo>
                  <a:pt x="684396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4" name="Google Shape;1134;p83"/>
          <p:cNvSpPr/>
          <p:nvPr/>
        </p:nvSpPr>
        <p:spPr>
          <a:xfrm>
            <a:off x="5786316" y="2043972"/>
            <a:ext cx="843280" cy="336550"/>
          </a:xfrm>
          <a:custGeom>
            <a:avLst/>
            <a:gdLst/>
            <a:ahLst/>
            <a:cxnLst/>
            <a:rect l="l" t="t" r="r" b="b"/>
            <a:pathLst>
              <a:path w="843279" h="336550" extrusionOk="0">
                <a:moveTo>
                  <a:pt x="703927" y="282828"/>
                </a:moveTo>
                <a:lnTo>
                  <a:pt x="684396" y="336537"/>
                </a:lnTo>
                <a:lnTo>
                  <a:pt x="843083" y="318227"/>
                </a:lnTo>
                <a:lnTo>
                  <a:pt x="814172" y="287710"/>
                </a:lnTo>
                <a:lnTo>
                  <a:pt x="717354" y="287710"/>
                </a:lnTo>
                <a:lnTo>
                  <a:pt x="703927" y="282828"/>
                </a:lnTo>
                <a:close/>
              </a:path>
              <a:path w="843279" h="336550" extrusionOk="0">
                <a:moveTo>
                  <a:pt x="713692" y="255974"/>
                </a:moveTo>
                <a:lnTo>
                  <a:pt x="703927" y="282828"/>
                </a:lnTo>
                <a:lnTo>
                  <a:pt x="717354" y="287710"/>
                </a:lnTo>
                <a:lnTo>
                  <a:pt x="727119" y="260856"/>
                </a:lnTo>
                <a:lnTo>
                  <a:pt x="713692" y="255974"/>
                </a:lnTo>
                <a:close/>
              </a:path>
              <a:path w="843279" h="336550" extrusionOk="0">
                <a:moveTo>
                  <a:pt x="733223" y="202264"/>
                </a:moveTo>
                <a:lnTo>
                  <a:pt x="713692" y="255974"/>
                </a:lnTo>
                <a:lnTo>
                  <a:pt x="727119" y="260856"/>
                </a:lnTo>
                <a:lnTo>
                  <a:pt x="717354" y="287710"/>
                </a:lnTo>
                <a:lnTo>
                  <a:pt x="814172" y="287710"/>
                </a:lnTo>
                <a:lnTo>
                  <a:pt x="733223" y="202264"/>
                </a:lnTo>
                <a:close/>
              </a:path>
              <a:path w="843279" h="336550" extrusionOk="0">
                <a:moveTo>
                  <a:pt x="9766" y="0"/>
                </a:moveTo>
                <a:lnTo>
                  <a:pt x="0" y="26855"/>
                </a:lnTo>
                <a:lnTo>
                  <a:pt x="703927" y="282828"/>
                </a:lnTo>
                <a:lnTo>
                  <a:pt x="713692" y="255974"/>
                </a:lnTo>
                <a:lnTo>
                  <a:pt x="9766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5" name="Google Shape;1135;p83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33C49B4-E987-FE44-BC8E-1BBE41E2C5A1}"/>
              </a:ext>
            </a:extLst>
          </p:cNvPr>
          <p:cNvSpPr txBox="1">
            <a:spLocks/>
          </p:cNvSpPr>
          <p:nvPr/>
        </p:nvSpPr>
        <p:spPr>
          <a:xfrm>
            <a:off x="194262" y="550958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4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83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RTS/CTS</a:t>
            </a:r>
            <a:endParaRPr/>
          </a:p>
        </p:txBody>
      </p:sp>
      <p:sp>
        <p:nvSpPr>
          <p:cNvPr id="1141" name="Google Shape;1141;p84"/>
          <p:cNvSpPr txBox="1"/>
          <p:nvPr/>
        </p:nvSpPr>
        <p:spPr>
          <a:xfrm>
            <a:off x="1" y="1353630"/>
            <a:ext cx="8929808" cy="271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Exchange of two short messages: </a:t>
            </a:r>
            <a:r>
              <a:rPr lang="en-US" sz="2400" b="1" i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Request to Send </a:t>
            </a:r>
            <a:r>
              <a:rPr lang="en-US" sz="2400" b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(RTS)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and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354965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Clear to Send </a:t>
            </a:r>
            <a:r>
              <a:rPr lang="en-US" sz="2400" b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(CTS)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Algorithm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983614" lvl="1" indent="-514349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A sends an </a:t>
            </a:r>
            <a:r>
              <a:rPr lang="en-US" sz="2400" b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RTS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(tells B to prepare) with message length </a:t>
            </a:r>
            <a:r>
              <a:rPr lang="en-US" sz="2400" b="1" i="1" dirty="0">
                <a:latin typeface="Arial"/>
                <a:ea typeface="Arial"/>
                <a:cs typeface="Arial"/>
                <a:sym typeface="Arial"/>
              </a:rPr>
              <a:t>k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983614" lvl="1" indent="-514349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B replies an </a:t>
            </a:r>
            <a:r>
              <a:rPr lang="en-US" sz="2400" b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CTS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(echoes message length)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983614" lvl="1" indent="-514349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A sends its </a:t>
            </a:r>
            <a:r>
              <a:rPr lang="en-US" sz="2400" b="1" dirty="0">
                <a:solidFill>
                  <a:srgbClr val="E46C0A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84"/>
          <p:cNvSpPr txBox="1"/>
          <p:nvPr/>
        </p:nvSpPr>
        <p:spPr>
          <a:xfrm>
            <a:off x="1958232" y="516585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84"/>
          <p:cNvSpPr txBox="1"/>
          <p:nvPr/>
        </p:nvSpPr>
        <p:spPr>
          <a:xfrm>
            <a:off x="6149232" y="516585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84"/>
          <p:cNvSpPr txBox="1"/>
          <p:nvPr/>
        </p:nvSpPr>
        <p:spPr>
          <a:xfrm>
            <a:off x="1857425" y="4632452"/>
            <a:ext cx="22415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 “RTS, 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84"/>
          <p:cNvSpPr/>
          <p:nvPr/>
        </p:nvSpPr>
        <p:spPr>
          <a:xfrm>
            <a:off x="2326532" y="4998393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609725" y="0"/>
                </a:moveTo>
                <a:lnTo>
                  <a:pt x="1609725" y="142875"/>
                </a:lnTo>
                <a:lnTo>
                  <a:pt x="1724025" y="85725"/>
                </a:lnTo>
                <a:lnTo>
                  <a:pt x="1624013" y="85725"/>
                </a:lnTo>
                <a:lnTo>
                  <a:pt x="1624013" y="57150"/>
                </a:lnTo>
                <a:lnTo>
                  <a:pt x="1724025" y="57150"/>
                </a:lnTo>
                <a:lnTo>
                  <a:pt x="1609725" y="0"/>
                </a:lnTo>
                <a:close/>
              </a:path>
              <a:path w="1752600" h="142875" extrusionOk="0">
                <a:moveTo>
                  <a:pt x="16097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609725" y="85725"/>
                </a:lnTo>
                <a:lnTo>
                  <a:pt x="1609725" y="57150"/>
                </a:lnTo>
                <a:close/>
              </a:path>
              <a:path w="1752600" h="142875" extrusionOk="0">
                <a:moveTo>
                  <a:pt x="1724025" y="57150"/>
                </a:moveTo>
                <a:lnTo>
                  <a:pt x="1624013" y="57150"/>
                </a:lnTo>
                <a:lnTo>
                  <a:pt x="1624013" y="85725"/>
                </a:lnTo>
                <a:lnTo>
                  <a:pt x="1724025" y="85725"/>
                </a:lnTo>
                <a:lnTo>
                  <a:pt x="1752600" y="71437"/>
                </a:lnTo>
                <a:lnTo>
                  <a:pt x="1724025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46" name="Google Shape;1146;p84"/>
          <p:cNvSpPr/>
          <p:nvPr/>
        </p:nvSpPr>
        <p:spPr>
          <a:xfrm>
            <a:off x="2326532" y="5684193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42875" y="0"/>
                </a:moveTo>
                <a:lnTo>
                  <a:pt x="0" y="71437"/>
                </a:lnTo>
                <a:lnTo>
                  <a:pt x="142875" y="142875"/>
                </a:lnTo>
                <a:lnTo>
                  <a:pt x="142875" y="85725"/>
                </a:lnTo>
                <a:lnTo>
                  <a:pt x="128584" y="85725"/>
                </a:lnTo>
                <a:lnTo>
                  <a:pt x="128584" y="57150"/>
                </a:lnTo>
                <a:lnTo>
                  <a:pt x="142875" y="57150"/>
                </a:lnTo>
                <a:lnTo>
                  <a:pt x="142875" y="0"/>
                </a:lnTo>
                <a:close/>
              </a:path>
              <a:path w="1752600" h="142875" extrusionOk="0">
                <a:moveTo>
                  <a:pt x="142875" y="57150"/>
                </a:moveTo>
                <a:lnTo>
                  <a:pt x="128584" y="57150"/>
                </a:lnTo>
                <a:lnTo>
                  <a:pt x="128584" y="85725"/>
                </a:lnTo>
                <a:lnTo>
                  <a:pt x="142875" y="85725"/>
                </a:lnTo>
                <a:lnTo>
                  <a:pt x="142875" y="57150"/>
                </a:lnTo>
                <a:close/>
              </a:path>
              <a:path w="1752600" h="142875" extrusionOk="0">
                <a:moveTo>
                  <a:pt x="1752600" y="57150"/>
                </a:moveTo>
                <a:lnTo>
                  <a:pt x="142875" y="57150"/>
                </a:lnTo>
                <a:lnTo>
                  <a:pt x="142875" y="85725"/>
                </a:lnTo>
                <a:lnTo>
                  <a:pt x="1752600" y="85725"/>
                </a:lnTo>
                <a:lnTo>
                  <a:pt x="1752600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47" name="Google Shape;1147;p84"/>
          <p:cNvSpPr/>
          <p:nvPr/>
        </p:nvSpPr>
        <p:spPr>
          <a:xfrm>
            <a:off x="4383932" y="5684193"/>
            <a:ext cx="1905000" cy="142875"/>
          </a:xfrm>
          <a:custGeom>
            <a:avLst/>
            <a:gdLst/>
            <a:ahLst/>
            <a:cxnLst/>
            <a:rect l="l" t="t" r="r" b="b"/>
            <a:pathLst>
              <a:path w="1905000" h="142875" extrusionOk="0">
                <a:moveTo>
                  <a:pt x="1762125" y="0"/>
                </a:moveTo>
                <a:lnTo>
                  <a:pt x="1762125" y="142875"/>
                </a:lnTo>
                <a:lnTo>
                  <a:pt x="1876425" y="85725"/>
                </a:lnTo>
                <a:lnTo>
                  <a:pt x="1776413" y="85725"/>
                </a:lnTo>
                <a:lnTo>
                  <a:pt x="1776413" y="57150"/>
                </a:lnTo>
                <a:lnTo>
                  <a:pt x="1876424" y="57150"/>
                </a:lnTo>
                <a:lnTo>
                  <a:pt x="1762125" y="0"/>
                </a:lnTo>
                <a:close/>
              </a:path>
              <a:path w="1905000" h="142875" extrusionOk="0">
                <a:moveTo>
                  <a:pt x="17621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762125" y="85725"/>
                </a:lnTo>
                <a:lnTo>
                  <a:pt x="1762125" y="57150"/>
                </a:lnTo>
                <a:close/>
              </a:path>
              <a:path w="1905000" h="142875" extrusionOk="0">
                <a:moveTo>
                  <a:pt x="1876424" y="57150"/>
                </a:moveTo>
                <a:lnTo>
                  <a:pt x="1776413" y="57150"/>
                </a:lnTo>
                <a:lnTo>
                  <a:pt x="1776413" y="85725"/>
                </a:lnTo>
                <a:lnTo>
                  <a:pt x="1876425" y="85725"/>
                </a:lnTo>
                <a:lnTo>
                  <a:pt x="1905000" y="71437"/>
                </a:lnTo>
                <a:lnTo>
                  <a:pt x="1876424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48" name="Google Shape;1148;p84"/>
          <p:cNvSpPr txBox="1"/>
          <p:nvPr/>
        </p:nvSpPr>
        <p:spPr>
          <a:xfrm>
            <a:off x="2570213" y="4780280"/>
            <a:ext cx="2835275" cy="13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57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3. “Data” </a:t>
            </a:r>
            <a:r>
              <a:rPr lang="en-US" sz="5400" b="1" baseline="-250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5400" baseline="-25000" dirty="0">
              <a:latin typeface="Arial"/>
              <a:ea typeface="Arial"/>
              <a:cs typeface="Arial"/>
              <a:sym typeface="Arial"/>
            </a:endParaRPr>
          </a:p>
          <a:p>
            <a:pPr marL="581025" lvl="0" indent="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“CTS, k bits”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84"/>
          <p:cNvSpPr/>
          <p:nvPr/>
        </p:nvSpPr>
        <p:spPr>
          <a:xfrm>
            <a:off x="2326532" y="5150793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609725" y="0"/>
                </a:moveTo>
                <a:lnTo>
                  <a:pt x="1609725" y="142875"/>
                </a:lnTo>
                <a:lnTo>
                  <a:pt x="1724025" y="85725"/>
                </a:lnTo>
                <a:lnTo>
                  <a:pt x="1624013" y="85725"/>
                </a:lnTo>
                <a:lnTo>
                  <a:pt x="1624013" y="57150"/>
                </a:lnTo>
                <a:lnTo>
                  <a:pt x="1724025" y="57150"/>
                </a:lnTo>
                <a:lnTo>
                  <a:pt x="1609725" y="0"/>
                </a:lnTo>
                <a:close/>
              </a:path>
              <a:path w="1752600" h="142875" extrusionOk="0">
                <a:moveTo>
                  <a:pt x="16097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609725" y="85725"/>
                </a:lnTo>
                <a:lnTo>
                  <a:pt x="1609725" y="57150"/>
                </a:lnTo>
                <a:close/>
              </a:path>
              <a:path w="1752600" h="142875" extrusionOk="0">
                <a:moveTo>
                  <a:pt x="1724025" y="57150"/>
                </a:moveTo>
                <a:lnTo>
                  <a:pt x="1624013" y="57150"/>
                </a:lnTo>
                <a:lnTo>
                  <a:pt x="1624013" y="85725"/>
                </a:lnTo>
                <a:lnTo>
                  <a:pt x="1724025" y="85725"/>
                </a:lnTo>
                <a:lnTo>
                  <a:pt x="1752600" y="71437"/>
                </a:lnTo>
                <a:lnTo>
                  <a:pt x="1724025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50" name="Google Shape;1150;p84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A05ADCC-BB1A-FDB5-9EA5-2805A6EC0466}"/>
              </a:ext>
            </a:extLst>
          </p:cNvPr>
          <p:cNvSpPr txBox="1">
            <a:spLocks/>
          </p:cNvSpPr>
          <p:nvPr/>
        </p:nvSpPr>
        <p:spPr>
          <a:xfrm>
            <a:off x="290661" y="515430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5"/>
          <p:cNvSpPr txBox="1">
            <a:spLocks noGrp="1"/>
          </p:cNvSpPr>
          <p:nvPr>
            <p:ph type="title"/>
          </p:nvPr>
        </p:nvSpPr>
        <p:spPr>
          <a:xfrm>
            <a:off x="2717800" y="593850"/>
            <a:ext cx="5361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Deference to CTS</a:t>
            </a:r>
            <a:endParaRPr/>
          </a:p>
        </p:txBody>
      </p:sp>
      <p:sp>
        <p:nvSpPr>
          <p:cNvPr id="1156" name="Google Shape;1156;p85"/>
          <p:cNvSpPr txBox="1"/>
          <p:nvPr/>
        </p:nvSpPr>
        <p:spPr>
          <a:xfrm>
            <a:off x="198702" y="1466596"/>
            <a:ext cx="8731106" cy="167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72484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Hear CTS </a:t>
            </a:r>
            <a:r>
              <a:rPr lang="en-US" sz="4125" baseline="30000" dirty="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4125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Defer for 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length of expected data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354965" lvl="0" indent="0" algn="l" rtl="0">
              <a:lnSpc>
                <a:spcPct val="106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transmission time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469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 b="1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Solves hidden terminal </a:t>
            </a: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problem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85"/>
          <p:cNvSpPr txBox="1"/>
          <p:nvPr/>
        </p:nvSpPr>
        <p:spPr>
          <a:xfrm>
            <a:off x="1882269" y="428193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85"/>
          <p:cNvSpPr txBox="1"/>
          <p:nvPr/>
        </p:nvSpPr>
        <p:spPr>
          <a:xfrm>
            <a:off x="6073268" y="428193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85"/>
          <p:cNvSpPr txBox="1"/>
          <p:nvPr/>
        </p:nvSpPr>
        <p:spPr>
          <a:xfrm>
            <a:off x="1781463" y="3748532"/>
            <a:ext cx="22415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 “RTS, 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85"/>
          <p:cNvSpPr/>
          <p:nvPr/>
        </p:nvSpPr>
        <p:spPr>
          <a:xfrm>
            <a:off x="2250569" y="4114417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609725" y="0"/>
                </a:moveTo>
                <a:lnTo>
                  <a:pt x="1609725" y="142875"/>
                </a:lnTo>
                <a:lnTo>
                  <a:pt x="1724027" y="85725"/>
                </a:lnTo>
                <a:lnTo>
                  <a:pt x="1624013" y="85725"/>
                </a:lnTo>
                <a:lnTo>
                  <a:pt x="1624013" y="57150"/>
                </a:lnTo>
                <a:lnTo>
                  <a:pt x="1724022" y="57150"/>
                </a:lnTo>
                <a:lnTo>
                  <a:pt x="1609725" y="0"/>
                </a:lnTo>
                <a:close/>
              </a:path>
              <a:path w="1752600" h="142875" extrusionOk="0">
                <a:moveTo>
                  <a:pt x="16097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609725" y="85725"/>
                </a:lnTo>
                <a:lnTo>
                  <a:pt x="1609725" y="57150"/>
                </a:lnTo>
                <a:close/>
              </a:path>
              <a:path w="1752600" h="142875" extrusionOk="0">
                <a:moveTo>
                  <a:pt x="1724022" y="57150"/>
                </a:moveTo>
                <a:lnTo>
                  <a:pt x="1624013" y="57150"/>
                </a:lnTo>
                <a:lnTo>
                  <a:pt x="1624013" y="85725"/>
                </a:lnTo>
                <a:lnTo>
                  <a:pt x="1724027" y="85725"/>
                </a:lnTo>
                <a:lnTo>
                  <a:pt x="1752600" y="71438"/>
                </a:lnTo>
                <a:lnTo>
                  <a:pt x="1724022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1" name="Google Shape;1161;p85"/>
          <p:cNvSpPr/>
          <p:nvPr/>
        </p:nvSpPr>
        <p:spPr>
          <a:xfrm>
            <a:off x="2250568" y="4800217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42875" y="0"/>
                </a:moveTo>
                <a:lnTo>
                  <a:pt x="0" y="71438"/>
                </a:lnTo>
                <a:lnTo>
                  <a:pt x="142875" y="142875"/>
                </a:lnTo>
                <a:lnTo>
                  <a:pt x="142875" y="85725"/>
                </a:lnTo>
                <a:lnTo>
                  <a:pt x="128586" y="85725"/>
                </a:lnTo>
                <a:lnTo>
                  <a:pt x="128586" y="57150"/>
                </a:lnTo>
                <a:lnTo>
                  <a:pt x="142875" y="57150"/>
                </a:lnTo>
                <a:lnTo>
                  <a:pt x="142875" y="0"/>
                </a:lnTo>
                <a:close/>
              </a:path>
              <a:path w="1752600" h="142875" extrusionOk="0">
                <a:moveTo>
                  <a:pt x="142875" y="57150"/>
                </a:moveTo>
                <a:lnTo>
                  <a:pt x="128586" y="57150"/>
                </a:lnTo>
                <a:lnTo>
                  <a:pt x="128586" y="85725"/>
                </a:lnTo>
                <a:lnTo>
                  <a:pt x="142875" y="85725"/>
                </a:lnTo>
                <a:lnTo>
                  <a:pt x="142875" y="57150"/>
                </a:lnTo>
                <a:close/>
              </a:path>
              <a:path w="1752600" h="142875" extrusionOk="0">
                <a:moveTo>
                  <a:pt x="1752600" y="57150"/>
                </a:moveTo>
                <a:lnTo>
                  <a:pt x="142875" y="57150"/>
                </a:lnTo>
                <a:lnTo>
                  <a:pt x="142875" y="85725"/>
                </a:lnTo>
                <a:lnTo>
                  <a:pt x="1752600" y="85725"/>
                </a:lnTo>
                <a:lnTo>
                  <a:pt x="1752600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2" name="Google Shape;1162;p85"/>
          <p:cNvSpPr/>
          <p:nvPr/>
        </p:nvSpPr>
        <p:spPr>
          <a:xfrm>
            <a:off x="4307968" y="4800217"/>
            <a:ext cx="1905000" cy="142875"/>
          </a:xfrm>
          <a:custGeom>
            <a:avLst/>
            <a:gdLst/>
            <a:ahLst/>
            <a:cxnLst/>
            <a:rect l="l" t="t" r="r" b="b"/>
            <a:pathLst>
              <a:path w="1905000" h="142875" extrusionOk="0">
                <a:moveTo>
                  <a:pt x="1762125" y="0"/>
                </a:moveTo>
                <a:lnTo>
                  <a:pt x="1762125" y="142875"/>
                </a:lnTo>
                <a:lnTo>
                  <a:pt x="1876427" y="85725"/>
                </a:lnTo>
                <a:lnTo>
                  <a:pt x="1776415" y="85725"/>
                </a:lnTo>
                <a:lnTo>
                  <a:pt x="1776415" y="57150"/>
                </a:lnTo>
                <a:lnTo>
                  <a:pt x="1876422" y="57150"/>
                </a:lnTo>
                <a:lnTo>
                  <a:pt x="1762125" y="0"/>
                </a:lnTo>
                <a:close/>
              </a:path>
              <a:path w="1905000" h="142875" extrusionOk="0">
                <a:moveTo>
                  <a:pt x="17621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762125" y="85725"/>
                </a:lnTo>
                <a:lnTo>
                  <a:pt x="1762125" y="57150"/>
                </a:lnTo>
                <a:close/>
              </a:path>
              <a:path w="1905000" h="142875" extrusionOk="0">
                <a:moveTo>
                  <a:pt x="1876422" y="57150"/>
                </a:moveTo>
                <a:lnTo>
                  <a:pt x="1776415" y="57150"/>
                </a:lnTo>
                <a:lnTo>
                  <a:pt x="1776415" y="85725"/>
                </a:lnTo>
                <a:lnTo>
                  <a:pt x="1876427" y="85725"/>
                </a:lnTo>
                <a:lnTo>
                  <a:pt x="1905000" y="71438"/>
                </a:lnTo>
                <a:lnTo>
                  <a:pt x="1876422" y="5715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3" name="Google Shape;1163;p85"/>
          <p:cNvSpPr txBox="1"/>
          <p:nvPr/>
        </p:nvSpPr>
        <p:spPr>
          <a:xfrm>
            <a:off x="2494250" y="3896359"/>
            <a:ext cx="2835275" cy="132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57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3. “Data” </a:t>
            </a:r>
            <a:r>
              <a:rPr lang="en-US" sz="5400" b="1" baseline="-25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5400" baseline="-25000">
              <a:latin typeface="Arial"/>
              <a:ea typeface="Arial"/>
              <a:cs typeface="Arial"/>
              <a:sym typeface="Arial"/>
            </a:endParaRPr>
          </a:p>
          <a:p>
            <a:pPr marL="580390" lvl="0" indent="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“CTS, 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5"/>
          <p:cNvSpPr txBox="1"/>
          <p:nvPr/>
        </p:nvSpPr>
        <p:spPr>
          <a:xfrm>
            <a:off x="6453475" y="4053332"/>
            <a:ext cx="94106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defers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85"/>
          <p:cNvSpPr/>
          <p:nvPr/>
        </p:nvSpPr>
        <p:spPr>
          <a:xfrm>
            <a:off x="2250569" y="4266817"/>
            <a:ext cx="1752600" cy="142875"/>
          </a:xfrm>
          <a:custGeom>
            <a:avLst/>
            <a:gdLst/>
            <a:ahLst/>
            <a:cxnLst/>
            <a:rect l="l" t="t" r="r" b="b"/>
            <a:pathLst>
              <a:path w="1752600" h="142875" extrusionOk="0">
                <a:moveTo>
                  <a:pt x="1609725" y="0"/>
                </a:moveTo>
                <a:lnTo>
                  <a:pt x="1609725" y="142875"/>
                </a:lnTo>
                <a:lnTo>
                  <a:pt x="1724027" y="85725"/>
                </a:lnTo>
                <a:lnTo>
                  <a:pt x="1624013" y="85725"/>
                </a:lnTo>
                <a:lnTo>
                  <a:pt x="1624013" y="57150"/>
                </a:lnTo>
                <a:lnTo>
                  <a:pt x="1724022" y="57150"/>
                </a:lnTo>
                <a:lnTo>
                  <a:pt x="1609725" y="0"/>
                </a:lnTo>
                <a:close/>
              </a:path>
              <a:path w="1752600" h="142875" extrusionOk="0">
                <a:moveTo>
                  <a:pt x="160972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1609725" y="85725"/>
                </a:lnTo>
                <a:lnTo>
                  <a:pt x="1609725" y="57150"/>
                </a:lnTo>
                <a:close/>
              </a:path>
              <a:path w="1752600" h="142875" extrusionOk="0">
                <a:moveTo>
                  <a:pt x="1724022" y="57150"/>
                </a:moveTo>
                <a:lnTo>
                  <a:pt x="1624013" y="57150"/>
                </a:lnTo>
                <a:lnTo>
                  <a:pt x="1624013" y="85725"/>
                </a:lnTo>
                <a:lnTo>
                  <a:pt x="1724027" y="85725"/>
                </a:lnTo>
                <a:lnTo>
                  <a:pt x="1752600" y="71438"/>
                </a:lnTo>
                <a:lnTo>
                  <a:pt x="1724022" y="5715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6" name="Google Shape;1166;p85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F75917B-4EF7-CF91-AD29-8A60E046E1C8}"/>
              </a:ext>
            </a:extLst>
          </p:cNvPr>
          <p:cNvSpPr txBox="1">
            <a:spLocks/>
          </p:cNvSpPr>
          <p:nvPr/>
        </p:nvSpPr>
        <p:spPr>
          <a:xfrm>
            <a:off x="247155" y="466725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6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911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Deference to RTS, but not CS</a:t>
            </a:r>
            <a:endParaRPr dirty="0"/>
          </a:p>
        </p:txBody>
      </p:sp>
      <p:sp>
        <p:nvSpPr>
          <p:cNvPr id="1172" name="Google Shape;1172;p86"/>
          <p:cNvSpPr txBox="1"/>
          <p:nvPr/>
        </p:nvSpPr>
        <p:spPr>
          <a:xfrm>
            <a:off x="198702" y="1467612"/>
            <a:ext cx="6487795" cy="41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Hear -&gt;</a:t>
            </a:r>
            <a:r>
              <a:rPr lang="en-US" sz="26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RTS</a:t>
            </a: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 ,-&gt; </a:t>
            </a:r>
            <a:r>
              <a:rPr lang="en-US" sz="3825" b="1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lang="en-US" sz="26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CTS </a:t>
            </a:r>
            <a:r>
              <a:rPr lang="en-US" sz="3825" b="1" baseline="30000" dirty="0">
                <a:solidFill>
                  <a:srgbClr val="FF0000"/>
                </a:solidFill>
                <a:latin typeface="Noto Sans Symbols"/>
                <a:ea typeface="Noto Sans Symbols"/>
                <a:sym typeface="Noto Sans Symbols"/>
              </a:rPr>
              <a:t>,</a:t>
            </a:r>
            <a:r>
              <a:rPr lang="en-US" sz="3825" baseline="30000" dirty="0">
                <a:latin typeface="Noto Sans Symbols"/>
                <a:ea typeface="Noto Sans Symbols"/>
                <a:cs typeface="Noto Sans Symbols"/>
                <a:sym typeface="Noto Sans Symbols"/>
              </a:rPr>
              <a:t> -&gt;</a:t>
            </a:r>
            <a:r>
              <a:rPr lang="en-US" sz="26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86"/>
          <p:cNvSpPr txBox="1"/>
          <p:nvPr/>
        </p:nvSpPr>
        <p:spPr>
          <a:xfrm>
            <a:off x="1372773" y="2362200"/>
            <a:ext cx="351790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So terminals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86"/>
          <p:cNvSpPr txBox="1"/>
          <p:nvPr/>
        </p:nvSpPr>
        <p:spPr>
          <a:xfrm>
            <a:off x="3783276" y="2396492"/>
            <a:ext cx="647700" cy="368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86"/>
          <p:cNvSpPr txBox="1"/>
          <p:nvPr/>
        </p:nvSpPr>
        <p:spPr>
          <a:xfrm>
            <a:off x="4572000" y="2390330"/>
            <a:ext cx="4031615" cy="41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 transmit to D !</a:t>
            </a:r>
            <a:endParaRPr sz="2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86"/>
          <p:cNvSpPr txBox="1"/>
          <p:nvPr/>
        </p:nvSpPr>
        <p:spPr>
          <a:xfrm>
            <a:off x="1473579" y="4925059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86"/>
          <p:cNvSpPr txBox="1"/>
          <p:nvPr/>
        </p:nvSpPr>
        <p:spPr>
          <a:xfrm>
            <a:off x="4812886" y="4925059"/>
            <a:ext cx="2058670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9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86"/>
          <p:cNvSpPr txBox="1"/>
          <p:nvPr/>
        </p:nvSpPr>
        <p:spPr>
          <a:xfrm>
            <a:off x="1372773" y="4391659"/>
            <a:ext cx="22415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 “RTS, 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86"/>
          <p:cNvSpPr/>
          <p:nvPr/>
        </p:nvSpPr>
        <p:spPr>
          <a:xfrm>
            <a:off x="1841879" y="4785343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0" name="Google Shape;1180;p86"/>
          <p:cNvSpPr/>
          <p:nvPr/>
        </p:nvSpPr>
        <p:spPr>
          <a:xfrm>
            <a:off x="1841879" y="5471143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1666875" y="0"/>
                </a:moveTo>
                <a:lnTo>
                  <a:pt x="1666875" y="85725"/>
                </a:lnTo>
                <a:lnTo>
                  <a:pt x="1724022" y="57151"/>
                </a:lnTo>
                <a:lnTo>
                  <a:pt x="1681165" y="57151"/>
                </a:lnTo>
                <a:lnTo>
                  <a:pt x="1681165" y="28576"/>
                </a:lnTo>
                <a:lnTo>
                  <a:pt x="1724027" y="28576"/>
                </a:lnTo>
                <a:lnTo>
                  <a:pt x="1666875" y="0"/>
                </a:lnTo>
                <a:close/>
              </a:path>
              <a:path w="1752600" h="85725" extrusionOk="0">
                <a:moveTo>
                  <a:pt x="1666875" y="28576"/>
                </a:moveTo>
                <a:lnTo>
                  <a:pt x="0" y="28576"/>
                </a:lnTo>
                <a:lnTo>
                  <a:pt x="0" y="57151"/>
                </a:lnTo>
                <a:lnTo>
                  <a:pt x="1666875" y="57151"/>
                </a:lnTo>
                <a:lnTo>
                  <a:pt x="1666875" y="28576"/>
                </a:lnTo>
                <a:close/>
              </a:path>
              <a:path w="1752600" h="85725" extrusionOk="0">
                <a:moveTo>
                  <a:pt x="1724027" y="28576"/>
                </a:moveTo>
                <a:lnTo>
                  <a:pt x="1681165" y="28576"/>
                </a:lnTo>
                <a:lnTo>
                  <a:pt x="1681165" y="57151"/>
                </a:lnTo>
                <a:lnTo>
                  <a:pt x="1724022" y="57151"/>
                </a:lnTo>
                <a:lnTo>
                  <a:pt x="1752600" y="42862"/>
                </a:lnTo>
                <a:lnTo>
                  <a:pt x="1724027" y="2857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1" name="Google Shape;1181;p86"/>
          <p:cNvSpPr txBox="1"/>
          <p:nvPr/>
        </p:nvSpPr>
        <p:spPr>
          <a:xfrm>
            <a:off x="1872077" y="4772659"/>
            <a:ext cx="2211352" cy="121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3. “Data” </a:t>
            </a:r>
            <a:r>
              <a:rPr lang="en-US" sz="5400" b="1" baseline="-250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5400" baseline="-25000">
              <a:latin typeface="Arial"/>
              <a:ea typeface="Arial"/>
              <a:cs typeface="Arial"/>
              <a:sym typeface="Arial"/>
            </a:endParaRPr>
          </a:p>
          <a:p>
            <a:pPr marL="40005" lvl="0" indent="0" algn="l" rtl="0">
              <a:lnSpc>
                <a:spcPct val="100000"/>
              </a:lnSpc>
              <a:spcBef>
                <a:spcPts val="223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“CTS,k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86"/>
          <p:cNvSpPr/>
          <p:nvPr/>
        </p:nvSpPr>
        <p:spPr>
          <a:xfrm>
            <a:off x="1841879" y="4937743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3" name="Google Shape;1183;p86"/>
          <p:cNvSpPr txBox="1"/>
          <p:nvPr/>
        </p:nvSpPr>
        <p:spPr>
          <a:xfrm>
            <a:off x="7417179" y="4925059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86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185" name="Google Shape;1185;p86"/>
          <p:cNvSpPr/>
          <p:nvPr/>
        </p:nvSpPr>
        <p:spPr>
          <a:xfrm rot="10800000">
            <a:off x="3733800" y="4782818"/>
            <a:ext cx="2058670" cy="85726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6" name="Google Shape;1186;p86"/>
          <p:cNvSpPr/>
          <p:nvPr/>
        </p:nvSpPr>
        <p:spPr>
          <a:xfrm rot="10800000">
            <a:off x="3733799" y="4943473"/>
            <a:ext cx="2058670" cy="85726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7" name="Google Shape;1187;p86"/>
          <p:cNvSpPr/>
          <p:nvPr/>
        </p:nvSpPr>
        <p:spPr>
          <a:xfrm rot="10800000">
            <a:off x="0" y="5483224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1666875" y="0"/>
                </a:moveTo>
                <a:lnTo>
                  <a:pt x="1666875" y="85725"/>
                </a:lnTo>
                <a:lnTo>
                  <a:pt x="1724022" y="57151"/>
                </a:lnTo>
                <a:lnTo>
                  <a:pt x="1681165" y="57151"/>
                </a:lnTo>
                <a:lnTo>
                  <a:pt x="1681165" y="28576"/>
                </a:lnTo>
                <a:lnTo>
                  <a:pt x="1724027" y="28576"/>
                </a:lnTo>
                <a:lnTo>
                  <a:pt x="1666875" y="0"/>
                </a:lnTo>
                <a:close/>
              </a:path>
              <a:path w="1752600" h="85725" extrusionOk="0">
                <a:moveTo>
                  <a:pt x="1666875" y="28576"/>
                </a:moveTo>
                <a:lnTo>
                  <a:pt x="0" y="28576"/>
                </a:lnTo>
                <a:lnTo>
                  <a:pt x="0" y="57151"/>
                </a:lnTo>
                <a:lnTo>
                  <a:pt x="1666875" y="57151"/>
                </a:lnTo>
                <a:lnTo>
                  <a:pt x="1666875" y="28576"/>
                </a:lnTo>
                <a:close/>
              </a:path>
              <a:path w="1752600" h="85725" extrusionOk="0">
                <a:moveTo>
                  <a:pt x="1724027" y="28576"/>
                </a:moveTo>
                <a:lnTo>
                  <a:pt x="1681165" y="28576"/>
                </a:lnTo>
                <a:lnTo>
                  <a:pt x="1681165" y="57151"/>
                </a:lnTo>
                <a:lnTo>
                  <a:pt x="1724022" y="57151"/>
                </a:lnTo>
                <a:lnTo>
                  <a:pt x="1752600" y="42862"/>
                </a:lnTo>
                <a:lnTo>
                  <a:pt x="1724027" y="2857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8" name="Google Shape;1188;p86"/>
          <p:cNvSpPr txBox="1"/>
          <p:nvPr/>
        </p:nvSpPr>
        <p:spPr>
          <a:xfrm>
            <a:off x="1426791" y="3135481"/>
            <a:ext cx="5583609" cy="41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9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Pts val="2600"/>
              <a:buFont typeface="Arial"/>
              <a:buChar char="•"/>
            </a:pPr>
            <a:r>
              <a:rPr lang="en-US" sz="2600" b="1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But Could transmit to D !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A0199EB-75B2-6573-A512-0E5BDD5E571C}"/>
              </a:ext>
            </a:extLst>
          </p:cNvPr>
          <p:cNvSpPr txBox="1">
            <a:spLocks/>
          </p:cNvSpPr>
          <p:nvPr/>
        </p:nvSpPr>
        <p:spPr>
          <a:xfrm>
            <a:off x="183786" y="514351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7"/>
          <p:cNvSpPr txBox="1"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911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Deference to RTS, but not CS</a:t>
            </a:r>
            <a:endParaRPr/>
          </a:p>
        </p:txBody>
      </p:sp>
      <p:sp>
        <p:nvSpPr>
          <p:cNvPr id="1194" name="Google Shape;1194;p87"/>
          <p:cNvSpPr txBox="1"/>
          <p:nvPr/>
        </p:nvSpPr>
        <p:spPr>
          <a:xfrm>
            <a:off x="788502" y="1458520"/>
            <a:ext cx="15282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Arial"/>
                <a:ea typeface="Arial"/>
                <a:cs typeface="Arial"/>
                <a:sym typeface="Arial"/>
              </a:rPr>
              <a:t>exposed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87"/>
          <p:cNvSpPr txBox="1"/>
          <p:nvPr/>
        </p:nvSpPr>
        <p:spPr>
          <a:xfrm>
            <a:off x="-187243" y="1460449"/>
            <a:ext cx="41127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dirty="0">
                <a:latin typeface="Arial"/>
                <a:ea typeface="Arial"/>
                <a:cs typeface="Arial"/>
                <a:sym typeface="Arial"/>
              </a:rPr>
              <a:t>So	                  terminals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87"/>
          <p:cNvSpPr txBox="1"/>
          <p:nvPr/>
        </p:nvSpPr>
        <p:spPr>
          <a:xfrm>
            <a:off x="4426457" y="1455835"/>
            <a:ext cx="10020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B, 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87"/>
          <p:cNvSpPr txBox="1"/>
          <p:nvPr/>
        </p:nvSpPr>
        <p:spPr>
          <a:xfrm>
            <a:off x="5428457" y="1437080"/>
            <a:ext cx="403161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can transmit concurrently: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87"/>
          <p:cNvSpPr txBox="1">
            <a:spLocks noGrp="1"/>
          </p:cNvSpPr>
          <p:nvPr>
            <p:ph type="sldNum" idx="12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199" name="Google Shape;1199;p87"/>
          <p:cNvSpPr txBox="1"/>
          <p:nvPr/>
        </p:nvSpPr>
        <p:spPr>
          <a:xfrm>
            <a:off x="611726" y="3845561"/>
            <a:ext cx="807507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1" dirty="0"/>
              <a:t>✅ Common Solutions: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1" dirty="0"/>
              <a:t>1. RTS/CTS Mechanism (Request to Send / Clear to Send)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Node B sends an RTS to A.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A replies with a CTS.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Node C hears </a:t>
            </a:r>
            <a:r>
              <a:rPr lang="en-US" sz="1800" b="1" dirty="0"/>
              <a:t>RTS from B</a:t>
            </a:r>
            <a:r>
              <a:rPr lang="en-US" sz="1800" dirty="0"/>
              <a:t> but </a:t>
            </a:r>
            <a:r>
              <a:rPr lang="en-US" sz="1800" b="1" dirty="0"/>
              <a:t>does not hear CTS from A</a:t>
            </a:r>
            <a:r>
              <a:rPr lang="en-US" sz="1800" dirty="0"/>
              <a:t> (because A is out of C’s range).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➤ </a:t>
            </a:r>
            <a:r>
              <a:rPr lang="en-US" sz="1800" b="1" dirty="0"/>
              <a:t>C knows it won’t interfere with A</a:t>
            </a:r>
            <a:r>
              <a:rPr lang="en-US" sz="1800" dirty="0"/>
              <a:t> and can proceed with its own transmission safely.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✅ </a:t>
            </a:r>
            <a:r>
              <a:rPr lang="en-US" sz="1800" b="1" dirty="0"/>
              <a:t>Insight:</a:t>
            </a:r>
            <a:r>
              <a:rPr lang="en-US" sz="1800" dirty="0"/>
              <a:t> RTS/CTS provides </a:t>
            </a:r>
            <a:r>
              <a:rPr lang="en-US" sz="1800" b="1" dirty="0"/>
              <a:t>receiver-based collision control</a:t>
            </a:r>
            <a:r>
              <a:rPr lang="en-US" sz="1800" dirty="0"/>
              <a:t>, not just sender-based carrier sensing.</a:t>
            </a:r>
            <a:endParaRPr dirty="0"/>
          </a:p>
        </p:txBody>
      </p:sp>
      <p:sp>
        <p:nvSpPr>
          <p:cNvPr id="1200" name="Google Shape;1200;p87"/>
          <p:cNvSpPr txBox="1"/>
          <p:nvPr/>
        </p:nvSpPr>
        <p:spPr>
          <a:xfrm>
            <a:off x="2138902" y="259926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87"/>
          <p:cNvSpPr txBox="1"/>
          <p:nvPr/>
        </p:nvSpPr>
        <p:spPr>
          <a:xfrm>
            <a:off x="5478209" y="2599262"/>
            <a:ext cx="2058670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19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87"/>
          <p:cNvSpPr txBox="1"/>
          <p:nvPr/>
        </p:nvSpPr>
        <p:spPr>
          <a:xfrm>
            <a:off x="2038096" y="2065862"/>
            <a:ext cx="22415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 “RTS, 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87"/>
          <p:cNvSpPr/>
          <p:nvPr/>
        </p:nvSpPr>
        <p:spPr>
          <a:xfrm>
            <a:off x="2507202" y="2459546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4" name="Google Shape;1204;p87"/>
          <p:cNvSpPr/>
          <p:nvPr/>
        </p:nvSpPr>
        <p:spPr>
          <a:xfrm>
            <a:off x="2507202" y="3145346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1666875" y="0"/>
                </a:moveTo>
                <a:lnTo>
                  <a:pt x="1666875" y="85725"/>
                </a:lnTo>
                <a:lnTo>
                  <a:pt x="1724022" y="57151"/>
                </a:lnTo>
                <a:lnTo>
                  <a:pt x="1681165" y="57151"/>
                </a:lnTo>
                <a:lnTo>
                  <a:pt x="1681165" y="28576"/>
                </a:lnTo>
                <a:lnTo>
                  <a:pt x="1724027" y="28576"/>
                </a:lnTo>
                <a:lnTo>
                  <a:pt x="1666875" y="0"/>
                </a:lnTo>
                <a:close/>
              </a:path>
              <a:path w="1752600" h="85725" extrusionOk="0">
                <a:moveTo>
                  <a:pt x="1666875" y="28576"/>
                </a:moveTo>
                <a:lnTo>
                  <a:pt x="0" y="28576"/>
                </a:lnTo>
                <a:lnTo>
                  <a:pt x="0" y="57151"/>
                </a:lnTo>
                <a:lnTo>
                  <a:pt x="1666875" y="57151"/>
                </a:lnTo>
                <a:lnTo>
                  <a:pt x="1666875" y="28576"/>
                </a:lnTo>
                <a:close/>
              </a:path>
              <a:path w="1752600" h="85725" extrusionOk="0">
                <a:moveTo>
                  <a:pt x="1724027" y="28576"/>
                </a:moveTo>
                <a:lnTo>
                  <a:pt x="1681165" y="28576"/>
                </a:lnTo>
                <a:lnTo>
                  <a:pt x="1681165" y="57151"/>
                </a:lnTo>
                <a:lnTo>
                  <a:pt x="1724022" y="57151"/>
                </a:lnTo>
                <a:lnTo>
                  <a:pt x="1752600" y="42862"/>
                </a:lnTo>
                <a:lnTo>
                  <a:pt x="1724027" y="2857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5" name="Google Shape;1205;p87"/>
          <p:cNvSpPr txBox="1"/>
          <p:nvPr/>
        </p:nvSpPr>
        <p:spPr>
          <a:xfrm>
            <a:off x="2537400" y="2446862"/>
            <a:ext cx="2211352" cy="121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3. “Data” </a:t>
            </a:r>
            <a:r>
              <a:rPr lang="en-US" sz="5400" b="1" baseline="-250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5400" baseline="-25000">
              <a:latin typeface="Arial"/>
              <a:ea typeface="Arial"/>
              <a:cs typeface="Arial"/>
              <a:sym typeface="Arial"/>
            </a:endParaRPr>
          </a:p>
          <a:p>
            <a:pPr marL="40005" lvl="0" indent="0" algn="l" rtl="0">
              <a:lnSpc>
                <a:spcPct val="100000"/>
              </a:lnSpc>
              <a:spcBef>
                <a:spcPts val="223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2. “CTS,k bits”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87"/>
          <p:cNvSpPr/>
          <p:nvPr/>
        </p:nvSpPr>
        <p:spPr>
          <a:xfrm>
            <a:off x="2507202" y="2611946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7" name="Google Shape;1207;p87"/>
          <p:cNvSpPr txBox="1"/>
          <p:nvPr/>
        </p:nvSpPr>
        <p:spPr>
          <a:xfrm>
            <a:off x="8082502" y="2599262"/>
            <a:ext cx="3556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87"/>
          <p:cNvSpPr/>
          <p:nvPr/>
        </p:nvSpPr>
        <p:spPr>
          <a:xfrm rot="10800000">
            <a:off x="4399123" y="2457021"/>
            <a:ext cx="2058670" cy="85726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9" name="Google Shape;1209;p87"/>
          <p:cNvSpPr/>
          <p:nvPr/>
        </p:nvSpPr>
        <p:spPr>
          <a:xfrm rot="10800000">
            <a:off x="4399122" y="2617676"/>
            <a:ext cx="2058670" cy="85726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1"/>
                </a:lnTo>
                <a:lnTo>
                  <a:pt x="71434" y="57151"/>
                </a:lnTo>
                <a:lnTo>
                  <a:pt x="71434" y="28576"/>
                </a:lnTo>
                <a:lnTo>
                  <a:pt x="85725" y="28576"/>
                </a:lnTo>
                <a:lnTo>
                  <a:pt x="85725" y="0"/>
                </a:lnTo>
                <a:close/>
              </a:path>
              <a:path w="1752600" h="85725" extrusionOk="0">
                <a:moveTo>
                  <a:pt x="85725" y="28576"/>
                </a:moveTo>
                <a:lnTo>
                  <a:pt x="71434" y="28576"/>
                </a:lnTo>
                <a:lnTo>
                  <a:pt x="71434" y="57151"/>
                </a:lnTo>
                <a:lnTo>
                  <a:pt x="85725" y="57151"/>
                </a:lnTo>
                <a:lnTo>
                  <a:pt x="85725" y="28576"/>
                </a:lnTo>
                <a:close/>
              </a:path>
              <a:path w="1752600" h="85725" extrusionOk="0">
                <a:moveTo>
                  <a:pt x="1752600" y="28576"/>
                </a:moveTo>
                <a:lnTo>
                  <a:pt x="85725" y="28576"/>
                </a:lnTo>
                <a:lnTo>
                  <a:pt x="85725" y="57151"/>
                </a:lnTo>
                <a:lnTo>
                  <a:pt x="1752600" y="57151"/>
                </a:lnTo>
                <a:lnTo>
                  <a:pt x="1752600" y="28576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10" name="Google Shape;1210;p87"/>
          <p:cNvSpPr/>
          <p:nvPr/>
        </p:nvSpPr>
        <p:spPr>
          <a:xfrm rot="10800000">
            <a:off x="599534" y="3143029"/>
            <a:ext cx="1752600" cy="85725"/>
          </a:xfrm>
          <a:custGeom>
            <a:avLst/>
            <a:gdLst/>
            <a:ahLst/>
            <a:cxnLst/>
            <a:rect l="l" t="t" r="r" b="b"/>
            <a:pathLst>
              <a:path w="1752600" h="85725" extrusionOk="0">
                <a:moveTo>
                  <a:pt x="1666875" y="0"/>
                </a:moveTo>
                <a:lnTo>
                  <a:pt x="1666875" y="85725"/>
                </a:lnTo>
                <a:lnTo>
                  <a:pt x="1724022" y="57151"/>
                </a:lnTo>
                <a:lnTo>
                  <a:pt x="1681165" y="57151"/>
                </a:lnTo>
                <a:lnTo>
                  <a:pt x="1681165" y="28576"/>
                </a:lnTo>
                <a:lnTo>
                  <a:pt x="1724027" y="28576"/>
                </a:lnTo>
                <a:lnTo>
                  <a:pt x="1666875" y="0"/>
                </a:lnTo>
                <a:close/>
              </a:path>
              <a:path w="1752600" h="85725" extrusionOk="0">
                <a:moveTo>
                  <a:pt x="1666875" y="28576"/>
                </a:moveTo>
                <a:lnTo>
                  <a:pt x="0" y="28576"/>
                </a:lnTo>
                <a:lnTo>
                  <a:pt x="0" y="57151"/>
                </a:lnTo>
                <a:lnTo>
                  <a:pt x="1666875" y="57151"/>
                </a:lnTo>
                <a:lnTo>
                  <a:pt x="1666875" y="28576"/>
                </a:lnTo>
                <a:close/>
              </a:path>
              <a:path w="1752600" h="85725" extrusionOk="0">
                <a:moveTo>
                  <a:pt x="1724027" y="28576"/>
                </a:moveTo>
                <a:lnTo>
                  <a:pt x="1681165" y="28576"/>
                </a:lnTo>
                <a:lnTo>
                  <a:pt x="1681165" y="57151"/>
                </a:lnTo>
                <a:lnTo>
                  <a:pt x="1724022" y="57151"/>
                </a:lnTo>
                <a:lnTo>
                  <a:pt x="1752600" y="42862"/>
                </a:lnTo>
                <a:lnTo>
                  <a:pt x="1724027" y="2857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2F4C7CF-C463-FD31-935D-CA9851FB78CF}"/>
              </a:ext>
            </a:extLst>
          </p:cNvPr>
          <p:cNvSpPr txBox="1">
            <a:spLocks/>
          </p:cNvSpPr>
          <p:nvPr/>
        </p:nvSpPr>
        <p:spPr>
          <a:xfrm>
            <a:off x="338312" y="487992"/>
            <a:ext cx="8348487" cy="69596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endParaRPr lang="en-US" sz="4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s426">
  <a:themeElements>
    <a:clrScheme name="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47A00"/>
      </a:accent1>
      <a:accent2>
        <a:srgbClr val="000066"/>
      </a:accent2>
      <a:accent3>
        <a:srgbClr val="FFFFFF"/>
      </a:accent3>
      <a:accent4>
        <a:srgbClr val="000000"/>
      </a:accent4>
      <a:accent5>
        <a:srgbClr val="F8BEAA"/>
      </a:accent5>
      <a:accent6>
        <a:srgbClr val="00005C"/>
      </a:accent6>
      <a:hlink>
        <a:srgbClr val="A50021"/>
      </a:hlink>
      <a:folHlink>
        <a:srgbClr val="008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1947</Words>
  <Application>Microsoft Office PowerPoint</Application>
  <PresentationFormat>On-screen Show (4:3)</PresentationFormat>
  <Paragraphs>386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Gill Sans</vt:lpstr>
      <vt:lpstr>Calibri</vt:lpstr>
      <vt:lpstr>Aharoni</vt:lpstr>
      <vt:lpstr>Arial</vt:lpstr>
      <vt:lpstr>Arial MT</vt:lpstr>
      <vt:lpstr>Times New Roman</vt:lpstr>
      <vt:lpstr>Helvetica Neue</vt:lpstr>
      <vt:lpstr>Comic Sans MS</vt:lpstr>
      <vt:lpstr>Noto Sans Symbols</vt:lpstr>
      <vt:lpstr>Verdana</vt:lpstr>
      <vt:lpstr>1_Office Theme</vt:lpstr>
      <vt:lpstr>Office Theme</vt:lpstr>
      <vt:lpstr>cs426</vt:lpstr>
      <vt:lpstr>1_Default Design</vt:lpstr>
      <vt:lpstr>2_Office Theme</vt:lpstr>
      <vt:lpstr>CSE 4615:: Wireless Networks</vt:lpstr>
      <vt:lpstr>Today</vt:lpstr>
      <vt:lpstr>Wireless is a shared medium</vt:lpstr>
      <vt:lpstr>CSMA: Carrier Sense, Multiple Access</vt:lpstr>
      <vt:lpstr>Collision Avoidance &amp; Collision Detection </vt:lpstr>
      <vt:lpstr>Channel Access through CA: Collision Avoidance, Not Detection </vt:lpstr>
      <vt:lpstr>Wireless Interference</vt:lpstr>
      <vt:lpstr>Collision Detection and CSMA-CD</vt:lpstr>
      <vt:lpstr>Collision Detection in Wired Network</vt:lpstr>
      <vt:lpstr>Wireless Link Characteristics</vt:lpstr>
      <vt:lpstr>Wireless Link Characteristics: Attenuation &amp;  Propagation range</vt:lpstr>
      <vt:lpstr>Collision Detection in Wireless Network</vt:lpstr>
      <vt:lpstr>Failure to Detect Collision in Wireless</vt:lpstr>
      <vt:lpstr>Solution: Link-Layer Acknowledgments</vt:lpstr>
      <vt:lpstr>Carrier Sense Multiple Access with Collision Avoidance (CSMA-CA)</vt:lpstr>
      <vt:lpstr>Carrier Sense Multiple Access with Collision Avoidance (CSMA-CA)</vt:lpstr>
      <vt:lpstr>Virtual Carrier Sense</vt:lpstr>
      <vt:lpstr>Hidden Terminal Revisited</vt:lpstr>
      <vt:lpstr>Understanding  Medium Access: The Problem</vt:lpstr>
      <vt:lpstr>Medium access: The Problem</vt:lpstr>
      <vt:lpstr>Today</vt:lpstr>
      <vt:lpstr>TDMA: Time Division Multiple Access</vt:lpstr>
      <vt:lpstr>FDMA: Frequency Division Multiple Access</vt:lpstr>
      <vt:lpstr>TDMA and FDMA: Considerations</vt:lpstr>
      <vt:lpstr>CDMA: Code Division Multiple Access</vt:lpstr>
      <vt:lpstr>Today</vt:lpstr>
      <vt:lpstr>Idea: Use a single, shared channel</vt:lpstr>
      <vt:lpstr>Concurrency versus Taking Turns</vt:lpstr>
      <vt:lpstr>When Does CS Work Well?</vt:lpstr>
      <vt:lpstr>When Does CS Work Well?</vt:lpstr>
      <vt:lpstr>Hidden Terminal Problem A B C</vt:lpstr>
      <vt:lpstr>Exposed Terminal Problem A B C</vt:lpstr>
      <vt:lpstr>RTS/CTS</vt:lpstr>
      <vt:lpstr>Deference to CTS</vt:lpstr>
      <vt:lpstr>Deference to RTS, but not CS</vt:lpstr>
      <vt:lpstr>Deference to RTS, but not 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Ashraful Alam Khan, Assistant Professor, CSE</cp:lastModifiedBy>
  <cp:revision>7</cp:revision>
  <dcterms:modified xsi:type="dcterms:W3CDTF">2025-06-27T12:27:17Z</dcterms:modified>
</cp:coreProperties>
</file>